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notesMasterIdLst>
    <p:notesMasterId r:id="rId30"/>
  </p:notesMasterIdLst>
  <p:sldIdLst>
    <p:sldId id="372" r:id="rId2"/>
    <p:sldId id="376" r:id="rId3"/>
    <p:sldId id="319" r:id="rId4"/>
    <p:sldId id="387" r:id="rId5"/>
    <p:sldId id="396" r:id="rId6"/>
    <p:sldId id="399" r:id="rId7"/>
    <p:sldId id="398" r:id="rId8"/>
    <p:sldId id="397" r:id="rId9"/>
    <p:sldId id="400" r:id="rId10"/>
    <p:sldId id="401" r:id="rId11"/>
    <p:sldId id="388" r:id="rId12"/>
    <p:sldId id="389" r:id="rId13"/>
    <p:sldId id="402" r:id="rId14"/>
    <p:sldId id="403" r:id="rId15"/>
    <p:sldId id="404" r:id="rId16"/>
    <p:sldId id="390" r:id="rId17"/>
    <p:sldId id="391" r:id="rId18"/>
    <p:sldId id="405" r:id="rId19"/>
    <p:sldId id="392" r:id="rId20"/>
    <p:sldId id="393" r:id="rId21"/>
    <p:sldId id="406" r:id="rId22"/>
    <p:sldId id="394" r:id="rId23"/>
    <p:sldId id="395" r:id="rId24"/>
    <p:sldId id="407" r:id="rId25"/>
    <p:sldId id="408" r:id="rId26"/>
    <p:sldId id="409" r:id="rId27"/>
    <p:sldId id="410" r:id="rId28"/>
    <p:sldId id="411" r:id="rId29"/>
  </p:sldIdLst>
  <p:sldSz cx="12192000" cy="6858000"/>
  <p:notesSz cx="6858000" cy="9144000"/>
  <p:embeddedFontLst>
    <p:embeddedFont>
      <p:font typeface="Roboto Condensed" panose="02000000000000000000" pitchFamily="2" charset="0"/>
      <p:regular r:id="rId31"/>
      <p:bold r:id="rId32"/>
      <p:italic r:id="rId33"/>
      <p:boldItalic r:id="rId34"/>
    </p:embeddedFont>
    <p:embeddedFont>
      <p:font typeface="Wingdings 2" panose="05020102010507070707" pitchFamily="18" charset="2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Webdings" panose="05030102010509060703" pitchFamily="18" charset="2"/>
      <p:regular r:id="rId40"/>
    </p:embeddedFont>
    <p:embeddedFont>
      <p:font typeface="Wingdings 3" panose="05040102010807070707" pitchFamily="18" charset="2"/>
      <p:regular r:id="rId41"/>
    </p:embeddedFont>
    <p:embeddedFont>
      <p:font typeface="Cambria Math" panose="02040503050406030204" pitchFamily="18" charset="0"/>
      <p:regular r:id="rId42"/>
    </p:embeddedFont>
    <p:embeddedFont>
      <p:font typeface="Segoe UI Black" panose="020B0A02040204020203" pitchFamily="34" charset="0"/>
      <p:bold r:id="rId43"/>
      <p:boldItalic r:id="rId44"/>
    </p:embeddedFont>
    <p:embeddedFont>
      <p:font typeface="Roboto Condensed Light" panose="02000000000000000000" pitchFamily="2" charset="0"/>
      <p:regular r:id="rId45"/>
      <p: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jGrP9knARhzRdIbWFv0lcQ==" hashData="iqOxOthZ7+lUjlQZohGuxlroe/OLRY9bDRnzpySm5GWDQdrjKuOOpbExKZeEWtcapnDy88vmB91rIH83LoaLr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A1"/>
    <a:srgbClr val="0972C6"/>
    <a:srgbClr val="03A9F5"/>
    <a:srgbClr val="607D8B"/>
    <a:srgbClr val="301B92"/>
    <a:srgbClr val="673BB7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72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09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5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802A992-B18A-47D4-8497-02E7586DF58D}"/>
              </a:ext>
            </a:extLst>
          </p:cNvPr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6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8DD61FEC-075B-4EDD-97CA-36E6F72630F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23" y="6087939"/>
            <a:ext cx="2554142" cy="58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9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461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5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580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6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11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2448" y="-5287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 smtClean="0"/>
              <a:t>dixita.kagathara@darshan.ac.in</a:t>
            </a:r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r>
              <a:rPr lang="en-US" dirty="0" smtClean="0"/>
              <a:t>+91 - 97277 47317 (CE Department)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 </a:t>
            </a:r>
            <a:r>
              <a:rPr lang="en-US" dirty="0" err="1" smtClean="0"/>
              <a:t>Kagathara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Compiler Design (CD)</a:t>
            </a:r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Hexagon 3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E47A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</p:spTree>
    <p:extLst>
      <p:ext uri="{BB962C8B-B14F-4D97-AF65-F5344CB8AC3E}">
        <p14:creationId xmlns:p14="http://schemas.microsoft.com/office/powerpoint/2010/main" val="277898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Syntax Analysis (II)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13" r:id="rId9"/>
    <p:sldLayoutId id="2147483716" r:id="rId10"/>
    <p:sldLayoutId id="2147483718" r:id="rId11"/>
    <p:sldLayoutId id="2147483670" r:id="rId12"/>
    <p:sldLayoutId id="2147483687" r:id="rId13"/>
    <p:sldLayoutId id="2147483688" r:id="rId14"/>
    <p:sldLayoutId id="2147483672" r:id="rId15"/>
    <p:sldLayoutId id="2147483689" r:id="rId16"/>
    <p:sldLayoutId id="2147483690" r:id="rId17"/>
    <p:sldLayoutId id="2147483673" r:id="rId1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</a:t>
            </a:r>
            <a:r>
              <a:rPr lang="en-US" dirty="0" smtClean="0"/>
              <a:t> 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800" b="0" dirty="0" smtClean="0"/>
              <a:t>Syntax Analysis (II)</a:t>
            </a: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ixita.kagathara@darshan.ac.in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</a:t>
            </a:r>
            <a:r>
              <a:rPr lang="en-US" dirty="0" smtClean="0"/>
              <a:t>47317 (CE Department)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B. </a:t>
            </a:r>
            <a:r>
              <a:rPr lang="en-US" dirty="0" err="1" smtClean="0"/>
              <a:t>Kagathara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FF5B8673-7BA1-4EA7-991A-5F4DCD3054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Compiler Design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(CD)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3170701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4320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79767" y="195312"/>
            <a:ext cx="7668994" cy="854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Topics to be covered </a:t>
            </a:r>
            <a:endParaRPr lang="en-US" sz="36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Syntax </a:t>
            </a:r>
            <a:r>
              <a:rPr lang="en-US" sz="2400" dirty="0"/>
              <a:t>directed </a:t>
            </a:r>
            <a:r>
              <a:rPr lang="en-US" sz="2400" dirty="0" smtClean="0"/>
              <a:t>definitions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Synthesized attributes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Inherited attribute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Dependency graph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Evaluation </a:t>
            </a:r>
            <a:r>
              <a:rPr lang="en-US" sz="2400" dirty="0"/>
              <a:t>order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Construction of syntax tree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Bottom up evaluation of S-attributed definitions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L-Attributed definitions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Translation scheme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directed definitions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0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directed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Syntax directed definition is a generalization of context free grammar in which </a:t>
            </a:r>
            <a:r>
              <a:rPr lang="en-US" dirty="0">
                <a:solidFill>
                  <a:srgbClr val="C00000"/>
                </a:solidFill>
              </a:rPr>
              <a:t>each grammar symbol has an associated set of attributes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The attributes can be a number, type, memory location, return type etc….</a:t>
            </a:r>
          </a:p>
          <a:p>
            <a:pPr lvl="0"/>
            <a:r>
              <a:rPr lang="en-US" dirty="0"/>
              <a:t>Types of attributes are: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Synthesized attribute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Inherited attribute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51520" y="4375571"/>
            <a:ext cx="12954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>
                <a:solidFill>
                  <a:srgbClr val="C00000"/>
                </a:solidFill>
              </a:rPr>
              <a:t>E.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3077" y="4363515"/>
            <a:ext cx="12954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rgbClr val="C00000"/>
                </a:solidFill>
              </a:rPr>
              <a:t>V</a:t>
            </a:r>
            <a:r>
              <a:rPr lang="en-US" sz="3000" dirty="0" smtClean="0">
                <a:solidFill>
                  <a:srgbClr val="C00000"/>
                </a:solidFill>
              </a:rPr>
              <a:t>alue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7575" y="4369543"/>
            <a:ext cx="12954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rgbClr val="C00000"/>
                </a:solidFill>
              </a:rPr>
              <a:t>T</a:t>
            </a:r>
            <a:r>
              <a:rPr lang="en-US" sz="3000" dirty="0" smtClean="0">
                <a:solidFill>
                  <a:srgbClr val="C00000"/>
                </a:solidFill>
              </a:rPr>
              <a:t>ype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7410" y="4365271"/>
            <a:ext cx="35433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>
                <a:solidFill>
                  <a:srgbClr val="C00000"/>
                </a:solidFill>
              </a:rPr>
              <a:t>Memory location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96738" y="4381600"/>
            <a:ext cx="35433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>
                <a:solidFill>
                  <a:srgbClr val="C00000"/>
                </a:solidFill>
              </a:rPr>
              <a:t>Return Type</a:t>
            </a:r>
            <a:endParaRPr lang="en-US" sz="3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8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Synthesized attributes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100" dirty="0"/>
              <a:t>Value of synthesized attribute at a node can be computed from the value of attributes at the </a:t>
            </a:r>
            <a:r>
              <a:rPr lang="en-US" sz="2100" dirty="0">
                <a:solidFill>
                  <a:srgbClr val="C00000"/>
                </a:solidFill>
              </a:rPr>
              <a:t>children of that node </a:t>
            </a:r>
            <a:r>
              <a:rPr lang="en-US" sz="2100" dirty="0"/>
              <a:t>in the parse tree.</a:t>
            </a:r>
          </a:p>
          <a:p>
            <a:pPr>
              <a:lnSpc>
                <a:spcPct val="100000"/>
              </a:lnSpc>
            </a:pPr>
            <a:r>
              <a:rPr lang="en-US" sz="2100" dirty="0"/>
              <a:t>A syntax directed definition that uses synthesized attribute exclusively is said to be </a:t>
            </a:r>
            <a:r>
              <a:rPr lang="en-US" sz="2100" dirty="0">
                <a:solidFill>
                  <a:srgbClr val="C00000"/>
                </a:solidFill>
              </a:rPr>
              <a:t>S-attribute definition</a:t>
            </a:r>
            <a:r>
              <a:rPr lang="en-US" sz="21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2100" dirty="0"/>
              <a:t>Example: Syntax directed definition of simple desk calculator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1648813"/>
              </p:ext>
            </p:extLst>
          </p:nvPr>
        </p:nvGraphicFramePr>
        <p:xfrm>
          <a:off x="3728434" y="2644009"/>
          <a:ext cx="5029200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088023"/>
                <a:gridCol w="2941177"/>
              </a:tblGrid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Production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effectLst/>
                        </a:rPr>
                        <a:t>Semantic </a:t>
                      </a:r>
                      <a:r>
                        <a:rPr lang="en-US" sz="1800" baseline="0" dirty="0" smtClean="0">
                          <a:effectLst/>
                        </a:rPr>
                        <a:t>rules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L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err="1" smtClean="0">
                          <a:effectLst/>
                        </a:rPr>
                        <a:t>E</a:t>
                      </a:r>
                      <a:r>
                        <a:rPr lang="en-US" sz="1800" baseline="-25000" dirty="0" err="1" smtClean="0">
                          <a:effectLst/>
                        </a:rPr>
                        <a:t>n</a:t>
                      </a:r>
                      <a:endParaRPr lang="en-US" sz="1800" baseline="-25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Print (</a:t>
                      </a:r>
                      <a:r>
                        <a:rPr lang="en-US" sz="1800" baseline="0" dirty="0" err="1">
                          <a:effectLst/>
                        </a:rPr>
                        <a:t>E.val</a:t>
                      </a:r>
                      <a:r>
                        <a:rPr lang="en-US" sz="1800" baseline="0" dirty="0">
                          <a:effectLst/>
                        </a:rPr>
                        <a:t>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E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+T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E.val</a:t>
                      </a:r>
                      <a:r>
                        <a:rPr lang="en-US" sz="1800" baseline="0" dirty="0" smtClean="0">
                          <a:effectLst/>
                        </a:rPr>
                        <a:t> = E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.val + </a:t>
                      </a: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E.val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*F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r>
                        <a:rPr lang="en-US" sz="1800" baseline="0" dirty="0" smtClean="0">
                          <a:effectLst/>
                        </a:rPr>
                        <a:t> = T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.val * </a:t>
                      </a: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(</a:t>
                      </a:r>
                      <a:r>
                        <a:rPr lang="en-US" sz="1800" baseline="0" dirty="0">
                          <a:effectLst/>
                        </a:rPr>
                        <a:t>E)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E.val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digit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 smtClean="0">
                          <a:effectLst/>
                        </a:rPr>
                        <a:t>digit.lexval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11791" y="317832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08991" y="362591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19350" y="411922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11791" y="46085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28120" y="5069193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184392" y="551677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08991" y="60342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9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Synthesized attributes </a:t>
            </a:r>
            <a:endParaRPr lang="en-US" dirty="0"/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873759" y="1336461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2682582" y="1926735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=19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3775913" y="1718104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863557" y="2638730"/>
            <a:ext cx="561975" cy="257175"/>
          </a:xfrm>
          <a:prstGeom prst="rect">
            <a:avLst/>
          </a:prstGeom>
          <a:solidFill>
            <a:srgbClr val="FFFFFF"/>
          </a:solidFill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45" name="AutoShape 7"/>
          <p:cNvCxnSpPr>
            <a:cxnSpLocks noChangeShapeType="1"/>
          </p:cNvCxnSpPr>
          <p:nvPr/>
        </p:nvCxnSpPr>
        <p:spPr bwMode="auto">
          <a:xfrm>
            <a:off x="3158832" y="1718104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8"/>
          <p:cNvCxnSpPr>
            <a:cxnSpLocks noChangeShapeType="1"/>
          </p:cNvCxnSpPr>
          <p:nvPr/>
        </p:nvCxnSpPr>
        <p:spPr bwMode="auto">
          <a:xfrm>
            <a:off x="3144546" y="233592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9"/>
          <p:cNvCxnSpPr>
            <a:cxnSpLocks noChangeShapeType="1"/>
          </p:cNvCxnSpPr>
          <p:nvPr/>
        </p:nvCxnSpPr>
        <p:spPr bwMode="auto">
          <a:xfrm>
            <a:off x="3154746" y="1724145"/>
            <a:ext cx="676275" cy="18097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10"/>
          <p:cNvCxnSpPr>
            <a:cxnSpLocks noChangeShapeType="1"/>
          </p:cNvCxnSpPr>
          <p:nvPr/>
        </p:nvCxnSpPr>
        <p:spPr bwMode="auto">
          <a:xfrm>
            <a:off x="3144084" y="2328522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11"/>
          <p:cNvCxnSpPr>
            <a:cxnSpLocks noChangeShapeType="1"/>
          </p:cNvCxnSpPr>
          <p:nvPr/>
        </p:nvCxnSpPr>
        <p:spPr bwMode="auto">
          <a:xfrm flipH="1">
            <a:off x="1896771" y="2330705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1290327" y="3410430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=15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365846" y="2797430"/>
            <a:ext cx="1123979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=15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2" name="Rectangle 15"/>
          <p:cNvSpPr>
            <a:spLocks noChangeArrowheads="1"/>
          </p:cNvSpPr>
          <p:nvPr/>
        </p:nvSpPr>
        <p:spPr bwMode="auto">
          <a:xfrm>
            <a:off x="1687749" y="4191032"/>
            <a:ext cx="457201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3" name="AutoShape 16"/>
          <p:cNvCxnSpPr>
            <a:cxnSpLocks noChangeShapeType="1"/>
          </p:cNvCxnSpPr>
          <p:nvPr/>
        </p:nvCxnSpPr>
        <p:spPr bwMode="auto">
          <a:xfrm>
            <a:off x="1916349" y="317366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AutoShape 17"/>
          <p:cNvCxnSpPr>
            <a:cxnSpLocks noChangeShapeType="1"/>
          </p:cNvCxnSpPr>
          <p:nvPr/>
        </p:nvCxnSpPr>
        <p:spPr bwMode="auto">
          <a:xfrm>
            <a:off x="1922501" y="380213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AutoShape 18"/>
          <p:cNvCxnSpPr>
            <a:cxnSpLocks noChangeShapeType="1"/>
            <a:stCxn id="50" idx="2"/>
            <a:endCxn id="58" idx="0"/>
          </p:cNvCxnSpPr>
          <p:nvPr/>
        </p:nvCxnSpPr>
        <p:spPr bwMode="auto">
          <a:xfrm flipH="1">
            <a:off x="1097163" y="3802138"/>
            <a:ext cx="827782" cy="51806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AutoShape 19"/>
          <p:cNvCxnSpPr>
            <a:cxnSpLocks noChangeShapeType="1"/>
          </p:cNvCxnSpPr>
          <p:nvPr/>
        </p:nvCxnSpPr>
        <p:spPr bwMode="auto">
          <a:xfrm>
            <a:off x="1924945" y="3816886"/>
            <a:ext cx="729863" cy="51575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Rectangle 21"/>
          <p:cNvSpPr>
            <a:spLocks noChangeArrowheads="1"/>
          </p:cNvSpPr>
          <p:nvPr/>
        </p:nvSpPr>
        <p:spPr bwMode="auto">
          <a:xfrm>
            <a:off x="-106457" y="4959450"/>
            <a:ext cx="2286061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=3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8" name="Rectangle 22"/>
          <p:cNvSpPr>
            <a:spLocks noChangeArrowheads="1"/>
          </p:cNvSpPr>
          <p:nvPr/>
        </p:nvSpPr>
        <p:spPr bwMode="auto">
          <a:xfrm>
            <a:off x="538775" y="4320199"/>
            <a:ext cx="1116775" cy="28098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=3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5651948"/>
            <a:ext cx="2247961" cy="32108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digit.lexval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=3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0" name="AutoShape 24"/>
          <p:cNvCxnSpPr>
            <a:cxnSpLocks noChangeShapeType="1"/>
          </p:cNvCxnSpPr>
          <p:nvPr/>
        </p:nvCxnSpPr>
        <p:spPr bwMode="auto">
          <a:xfrm>
            <a:off x="1106134" y="46518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AutoShape 25"/>
          <p:cNvCxnSpPr>
            <a:cxnSpLocks noChangeShapeType="1"/>
          </p:cNvCxnSpPr>
          <p:nvPr/>
        </p:nvCxnSpPr>
        <p:spPr bwMode="auto">
          <a:xfrm>
            <a:off x="1106134" y="53757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Rectangle 31"/>
          <p:cNvSpPr>
            <a:spLocks noChangeArrowheads="1"/>
          </p:cNvSpPr>
          <p:nvPr/>
        </p:nvSpPr>
        <p:spPr bwMode="auto">
          <a:xfrm>
            <a:off x="3831021" y="3377578"/>
            <a:ext cx="938213" cy="3270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3" name="Rectangle 32"/>
          <p:cNvSpPr>
            <a:spLocks noChangeArrowheads="1"/>
          </p:cNvSpPr>
          <p:nvPr/>
        </p:nvSpPr>
        <p:spPr bwMode="auto">
          <a:xfrm>
            <a:off x="3724564" y="2736592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4" name="Rectangle 33"/>
          <p:cNvSpPr>
            <a:spLocks noChangeArrowheads="1"/>
          </p:cNvSpPr>
          <p:nvPr/>
        </p:nvSpPr>
        <p:spPr bwMode="auto">
          <a:xfrm>
            <a:off x="3589762" y="4127163"/>
            <a:ext cx="1676400" cy="4813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AutoShape 34"/>
          <p:cNvCxnSpPr>
            <a:cxnSpLocks noChangeShapeType="1"/>
          </p:cNvCxnSpPr>
          <p:nvPr/>
        </p:nvCxnSpPr>
        <p:spPr bwMode="auto">
          <a:xfrm>
            <a:off x="4348336" y="31013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35"/>
          <p:cNvCxnSpPr>
            <a:cxnSpLocks noChangeShapeType="1"/>
          </p:cNvCxnSpPr>
          <p:nvPr/>
        </p:nvCxnSpPr>
        <p:spPr bwMode="auto">
          <a:xfrm>
            <a:off x="4337888" y="3816886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2069709" y="4317894"/>
            <a:ext cx="122919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F.val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=5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8" name="Rectangle 28"/>
          <p:cNvSpPr>
            <a:spLocks noChangeArrowheads="1"/>
          </p:cNvSpPr>
          <p:nvPr/>
        </p:nvSpPr>
        <p:spPr bwMode="auto">
          <a:xfrm>
            <a:off x="2015832" y="5041794"/>
            <a:ext cx="16573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digit.lexval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=5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9" name="AutoShape 29"/>
          <p:cNvCxnSpPr>
            <a:cxnSpLocks noChangeShapeType="1"/>
          </p:cNvCxnSpPr>
          <p:nvPr/>
        </p:nvCxnSpPr>
        <p:spPr bwMode="auto">
          <a:xfrm>
            <a:off x="2684304" y="47417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70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307334"/>
              </p:ext>
            </p:extLst>
          </p:nvPr>
        </p:nvGraphicFramePr>
        <p:xfrm>
          <a:off x="8635724" y="1118048"/>
          <a:ext cx="3365464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283716"/>
                <a:gridCol w="2081748"/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Production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effectLst/>
                        </a:rPr>
                        <a:t>Semantic </a:t>
                      </a:r>
                      <a:r>
                        <a:rPr lang="en-US" sz="1800" baseline="0" dirty="0" smtClean="0">
                          <a:effectLst/>
                        </a:rPr>
                        <a:t>rules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L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err="1" smtClean="0">
                          <a:effectLst/>
                        </a:rPr>
                        <a:t>E</a:t>
                      </a:r>
                      <a:r>
                        <a:rPr lang="en-US" sz="1800" baseline="-25000" dirty="0" err="1" smtClean="0">
                          <a:effectLst/>
                        </a:rPr>
                        <a:t>n</a:t>
                      </a:r>
                      <a:endParaRPr lang="en-US" sz="1800" baseline="-25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Print (</a:t>
                      </a:r>
                      <a:r>
                        <a:rPr lang="en-US" sz="1800" baseline="0" dirty="0" err="1">
                          <a:effectLst/>
                        </a:rPr>
                        <a:t>E.val</a:t>
                      </a:r>
                      <a:r>
                        <a:rPr lang="en-US" sz="1800" baseline="0" dirty="0">
                          <a:effectLst/>
                        </a:rPr>
                        <a:t>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E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+T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E.Val</a:t>
                      </a:r>
                      <a:r>
                        <a:rPr lang="en-US" sz="1800" baseline="0" dirty="0" smtClean="0">
                          <a:effectLst/>
                        </a:rPr>
                        <a:t> = E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.val + </a:t>
                      </a: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E.Val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*F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r>
                        <a:rPr lang="en-US" sz="1800" baseline="0" dirty="0" smtClean="0">
                          <a:effectLst/>
                        </a:rPr>
                        <a:t> = T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.val * </a:t>
                      </a: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T.Val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(</a:t>
                      </a:r>
                      <a:r>
                        <a:rPr lang="en-US" sz="1800" baseline="0" dirty="0">
                          <a:effectLst/>
                        </a:rPr>
                        <a:t>E)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r>
                        <a:rPr lang="en-US" sz="1800" baseline="0" dirty="0" smtClean="0">
                          <a:effectLst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</a:rPr>
                        <a:t>E.val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digit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effectLst/>
                        </a:rPr>
                        <a:t>F.Val</a:t>
                      </a:r>
                      <a:r>
                        <a:rPr lang="en-US" sz="1800" baseline="0" dirty="0" smtClean="0">
                          <a:effectLst/>
                        </a:rPr>
                        <a:t> = digit . </a:t>
                      </a:r>
                      <a:r>
                        <a:rPr lang="en-US" sz="1800" baseline="0" dirty="0" err="1" smtClean="0">
                          <a:effectLst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71" name="Rectangle 70"/>
          <p:cNvSpPr/>
          <p:nvPr/>
        </p:nvSpPr>
        <p:spPr>
          <a:xfrm>
            <a:off x="1313167" y="6005666"/>
            <a:ext cx="3329470" cy="306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+mj-lt"/>
              </a:rPr>
              <a:t>Annotated parse tree for 3*5+4n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2" name="Oval Callout 71"/>
          <p:cNvSpPr/>
          <p:nvPr/>
        </p:nvSpPr>
        <p:spPr>
          <a:xfrm>
            <a:off x="4769234" y="5128435"/>
            <a:ext cx="4247807" cy="1282806"/>
          </a:xfrm>
          <a:prstGeom prst="wedgeEllipseCallout">
            <a:avLst>
              <a:gd name="adj1" fmla="val -67941"/>
              <a:gd name="adj2" fmla="val -90245"/>
            </a:avLst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parse tree showing the value of the attributes at each </a:t>
            </a:r>
            <a:r>
              <a:rPr lang="en-US" dirty="0" smtClean="0">
                <a:solidFill>
                  <a:schemeClr val="tx1"/>
                </a:solidFill>
              </a:rPr>
              <a:t>node is called Annotated parse tree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ight Brace 72"/>
          <p:cNvSpPr/>
          <p:nvPr/>
        </p:nvSpPr>
        <p:spPr>
          <a:xfrm>
            <a:off x="4922210" y="1106074"/>
            <a:ext cx="609706" cy="5206094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531916" y="3101353"/>
            <a:ext cx="2997265" cy="123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process of computing the attribute values at the node is called </a:t>
            </a:r>
            <a:r>
              <a:rPr lang="en-US" dirty="0">
                <a:solidFill>
                  <a:srgbClr val="C00000"/>
                </a:solidFill>
              </a:rPr>
              <a:t>annotating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dirty="0">
                <a:solidFill>
                  <a:srgbClr val="C00000"/>
                </a:solidFill>
              </a:rPr>
              <a:t>decorating the parse tree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5950" y="849584"/>
            <a:ext cx="19960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dirty="0">
                <a:solidFill>
                  <a:srgbClr val="0E47A1"/>
                </a:solidFill>
              </a:rPr>
              <a:t>String: 3*5+4n;</a:t>
            </a:r>
          </a:p>
        </p:txBody>
      </p:sp>
    </p:spTree>
    <p:extLst>
      <p:ext uri="{BB962C8B-B14F-4D97-AF65-F5344CB8AC3E}">
        <p14:creationId xmlns:p14="http://schemas.microsoft.com/office/powerpoint/2010/main" val="378880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50" grpId="0" animBg="1"/>
      <p:bldP spid="51" grpId="0" animBg="1"/>
      <p:bldP spid="52" grpId="0" animBg="1"/>
      <p:bldP spid="57" grpId="0" animBg="1"/>
      <p:bldP spid="58" grpId="0" animBg="1"/>
      <p:bldP spid="59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71" grpId="0"/>
      <p:bldP spid="72" grpId="0" animBg="1"/>
      <p:bldP spid="72" grpId="1" animBg="1"/>
      <p:bldP spid="73" grpId="0" animBg="1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Draw Annotated Parse tree for following: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/>
              <a:t>7+3*2n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/>
              <a:t>(3+4)*(5+6)n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3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Syntax directed definition to translates arithmetic expressions from </a:t>
            </a:r>
            <a:r>
              <a:rPr lang="en-US" sz="2500" dirty="0">
                <a:solidFill>
                  <a:schemeClr val="tx1"/>
                </a:solidFill>
              </a:rPr>
              <a:t>infix to 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9257766"/>
              </p:ext>
            </p:extLst>
          </p:nvPr>
        </p:nvGraphicFramePr>
        <p:xfrm>
          <a:off x="3529584" y="1124712"/>
          <a:ext cx="5638800" cy="4953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203220"/>
                <a:gridCol w="3435580"/>
              </a:tblGrid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Production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Semantic </a:t>
                      </a:r>
                      <a:r>
                        <a:rPr lang="en-US" sz="1800" dirty="0" smtClean="0">
                          <a:effectLst/>
                        </a:rPr>
                        <a:t>rules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Print(E.val)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E+T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E.val</a:t>
                      </a:r>
                      <a:r>
                        <a:rPr lang="en-US" sz="1800" dirty="0">
                          <a:effectLst/>
                        </a:rPr>
                        <a:t>=’+’ </a:t>
                      </a:r>
                      <a:r>
                        <a:rPr lang="en-US" sz="1800" dirty="0" err="1">
                          <a:effectLst/>
                        </a:rPr>
                        <a:t>E.val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E-T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E.val</a:t>
                      </a:r>
                      <a:r>
                        <a:rPr lang="en-US" sz="1800" dirty="0">
                          <a:effectLst/>
                        </a:rPr>
                        <a:t>=’-‘ </a:t>
                      </a:r>
                      <a:r>
                        <a:rPr lang="en-US" sz="1800" dirty="0" err="1">
                          <a:effectLst/>
                        </a:rPr>
                        <a:t>E.val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E.val</a:t>
                      </a:r>
                      <a:r>
                        <a:rPr lang="en-US" sz="1800" dirty="0">
                          <a:effectLst/>
                        </a:rPr>
                        <a:t>= </a:t>
                      </a:r>
                      <a:r>
                        <a:rPr lang="en-US" sz="1800" dirty="0" err="1">
                          <a:effectLst/>
                        </a:rPr>
                        <a:t>T.val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T*F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T.val</a:t>
                      </a:r>
                      <a:r>
                        <a:rPr lang="en-US" sz="1800" dirty="0">
                          <a:effectLst/>
                        </a:rPr>
                        <a:t>=’*’ </a:t>
                      </a:r>
                      <a:r>
                        <a:rPr lang="en-US" sz="1800" dirty="0" err="1">
                          <a:effectLst/>
                        </a:rPr>
                        <a:t>T.val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T/F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T.val</a:t>
                      </a:r>
                      <a:r>
                        <a:rPr lang="en-US" sz="1800" dirty="0">
                          <a:effectLst/>
                        </a:rPr>
                        <a:t>=’/’ </a:t>
                      </a:r>
                      <a:r>
                        <a:rPr lang="en-US" sz="1800" dirty="0" err="1">
                          <a:effectLst/>
                        </a:rPr>
                        <a:t>T.val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F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T.val</a:t>
                      </a:r>
                      <a:r>
                        <a:rPr lang="en-US" sz="1800" dirty="0">
                          <a:effectLst/>
                        </a:rPr>
                        <a:t>= </a:t>
                      </a:r>
                      <a:r>
                        <a:rPr lang="en-US" sz="1800" dirty="0" err="1">
                          <a:effectLst/>
                        </a:rPr>
                        <a:t>F.val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F^P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F.val</a:t>
                      </a:r>
                      <a:r>
                        <a:rPr lang="en-US" sz="1800" dirty="0">
                          <a:effectLst/>
                        </a:rPr>
                        <a:t>=’^’ </a:t>
                      </a:r>
                      <a:r>
                        <a:rPr lang="en-US" sz="1800" dirty="0" err="1">
                          <a:effectLst/>
                        </a:rPr>
                        <a:t>F.val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P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F.val</a:t>
                      </a:r>
                      <a:r>
                        <a:rPr lang="en-US" sz="1800" dirty="0">
                          <a:effectLst/>
                        </a:rPr>
                        <a:t>= </a:t>
                      </a:r>
                      <a:r>
                        <a:rPr lang="en-US" sz="1800" dirty="0" err="1">
                          <a:effectLst/>
                        </a:rPr>
                        <a:t>P.val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</a:t>
                      </a:r>
                      <a:r>
                        <a:rPr lang="en-US" sz="18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effectLst/>
                        </a:rPr>
                        <a:t>(E)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P.val</a:t>
                      </a:r>
                      <a:r>
                        <a:rPr lang="en-US" sz="1800" dirty="0">
                          <a:effectLst/>
                        </a:rPr>
                        <a:t>= </a:t>
                      </a:r>
                      <a:r>
                        <a:rPr lang="en-US" sz="1800" dirty="0" err="1">
                          <a:effectLst/>
                        </a:rPr>
                        <a:t>E.val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P</a:t>
                      </a:r>
                      <a:r>
                        <a:rPr lang="en-US" sz="1800" dirty="0" err="1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 err="1">
                          <a:effectLst/>
                        </a:rPr>
                        <a:t>digit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P.val</a:t>
                      </a:r>
                      <a:r>
                        <a:rPr lang="en-US" sz="1800" dirty="0">
                          <a:effectLst/>
                        </a:rPr>
                        <a:t>=</a:t>
                      </a:r>
                      <a:r>
                        <a:rPr lang="en-US" sz="1800" dirty="0" err="1">
                          <a:effectLst/>
                        </a:rPr>
                        <a:t>digit.lexval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5584" y="158191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803787" y="1995297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06737" y="240868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7887" y="2822067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00837" y="323545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6087" y="3648837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89037" y="406222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987" y="4475607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94939" y="488899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794937" y="5302377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7889" y="571575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5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Inherited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inherited value at a node in a parse tree is computed from the value of attributes at the </a:t>
            </a:r>
            <a:r>
              <a:rPr lang="en-US" dirty="0">
                <a:solidFill>
                  <a:srgbClr val="C00000"/>
                </a:solidFill>
              </a:rPr>
              <a:t>parent and/or siblings </a:t>
            </a:r>
            <a:r>
              <a:rPr lang="en-US" dirty="0"/>
              <a:t>of the node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0"/>
            <a:r>
              <a:rPr lang="en-US" dirty="0"/>
              <a:t>Symbol T is associated with a </a:t>
            </a:r>
            <a:r>
              <a:rPr lang="en-US" dirty="0">
                <a:solidFill>
                  <a:srgbClr val="C00000"/>
                </a:solidFill>
              </a:rPr>
              <a:t>synthesized attribute type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Symbol L is associated with an </a:t>
            </a:r>
            <a:r>
              <a:rPr lang="en-US" dirty="0">
                <a:solidFill>
                  <a:srgbClr val="C00000"/>
                </a:solidFill>
              </a:rPr>
              <a:t>inherited attribute in</a:t>
            </a:r>
            <a:r>
              <a:rPr lang="en-US" i="1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60267"/>
              </p:ext>
            </p:extLst>
          </p:nvPr>
        </p:nvGraphicFramePr>
        <p:xfrm>
          <a:off x="3909060" y="2002536"/>
          <a:ext cx="4800600" cy="24384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9218"/>
                <a:gridCol w="3471382"/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Semantic </a:t>
                      </a:r>
                      <a:r>
                        <a:rPr lang="en-US" sz="1800" dirty="0" smtClean="0">
                          <a:effectLst/>
                        </a:rPr>
                        <a:t>rules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 → T 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L.in = </a:t>
                      </a:r>
                      <a:r>
                        <a:rPr lang="en-US" sz="1800" dirty="0" err="1">
                          <a:effectLst/>
                        </a:rPr>
                        <a:t>T.type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 → </a:t>
                      </a: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	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T.type</a:t>
                      </a:r>
                      <a:r>
                        <a:rPr lang="en-US" sz="1800" dirty="0">
                          <a:effectLst/>
                        </a:rPr>
                        <a:t> = integer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 → real	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T.type</a:t>
                      </a:r>
                      <a:r>
                        <a:rPr lang="en-US" sz="1800" dirty="0">
                          <a:effectLst/>
                        </a:rPr>
                        <a:t> = real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 → L</a:t>
                      </a:r>
                      <a:r>
                        <a:rPr lang="en-US" sz="1800" baseline="-250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 , id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</a:t>
                      </a:r>
                      <a:r>
                        <a:rPr lang="en-US" sz="1800" baseline="-250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.in = L.in,   </a:t>
                      </a:r>
                      <a:r>
                        <a:rPr lang="en-US" sz="1800" dirty="0" err="1">
                          <a:effectLst/>
                        </a:rPr>
                        <a:t>addtype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id.entry,L.in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 → id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addtype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id.entry,L.in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18760" y="24597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04012" y="2855484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04012" y="32979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04012" y="3693684"/>
            <a:ext cx="3138948" cy="319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81889" y="408943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04160" y="4517136"/>
            <a:ext cx="6828503" cy="442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Syntax directed definition with inherited attribute L.in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Inherited attribute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863445"/>
            <a:ext cx="7184019" cy="508155"/>
          </a:xfrm>
        </p:spPr>
        <p:txBody>
          <a:bodyPr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b="1" dirty="0" smtClean="0">
                <a:solidFill>
                  <a:srgbClr val="0E47A1"/>
                </a:solidFill>
              </a:rPr>
              <a:t>Example: </a:t>
            </a:r>
            <a:r>
              <a:rPr lang="en-US" altLang="en-US" b="1" dirty="0">
                <a:solidFill>
                  <a:srgbClr val="0E47A1"/>
                </a:solidFill>
              </a:rPr>
              <a:t>Pass data types to all </a:t>
            </a:r>
            <a:r>
              <a:rPr lang="en-US" altLang="en-US" b="1" dirty="0" smtClean="0">
                <a:solidFill>
                  <a:srgbClr val="0E47A1"/>
                </a:solidFill>
              </a:rPr>
              <a:t>identifier real </a:t>
            </a:r>
            <a:r>
              <a:rPr lang="en-US" altLang="en-US" b="1" dirty="0">
                <a:solidFill>
                  <a:srgbClr val="0E47A1"/>
                </a:solidFill>
              </a:rPr>
              <a:t>id1,id2,id3</a:t>
            </a:r>
          </a:p>
          <a:p>
            <a:endParaRPr lang="en-US" dirty="0">
              <a:solidFill>
                <a:srgbClr val="0E47A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455948"/>
              </p:ext>
            </p:extLst>
          </p:nvPr>
        </p:nvGraphicFramePr>
        <p:xfrm>
          <a:off x="336874" y="2036952"/>
          <a:ext cx="3854012" cy="267169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231329"/>
                <a:gridCol w="2622683"/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Semantic </a:t>
                      </a:r>
                      <a:r>
                        <a:rPr lang="en-US" sz="1800" dirty="0" smtClean="0">
                          <a:effectLst/>
                        </a:rPr>
                        <a:t>rules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 → T 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L.in = </a:t>
                      </a:r>
                      <a:r>
                        <a:rPr lang="en-US" sz="1800" dirty="0" err="1">
                          <a:effectLst/>
                        </a:rPr>
                        <a:t>T.type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 → </a:t>
                      </a: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	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T.type</a:t>
                      </a:r>
                      <a:r>
                        <a:rPr lang="en-US" sz="1800" dirty="0">
                          <a:effectLst/>
                        </a:rPr>
                        <a:t> = integer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 → real	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T.type</a:t>
                      </a:r>
                      <a:r>
                        <a:rPr lang="en-US" sz="1800" dirty="0">
                          <a:effectLst/>
                        </a:rPr>
                        <a:t> = real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 → L</a:t>
                      </a:r>
                      <a:r>
                        <a:rPr lang="en-US" sz="1800" baseline="-250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 , id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</a:t>
                      </a:r>
                      <a:r>
                        <a:rPr lang="en-US" sz="1800" baseline="-250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.in = L.in,   </a:t>
                      </a:r>
                      <a:r>
                        <a:rPr lang="en-US" sz="1800" dirty="0" err="1">
                          <a:effectLst/>
                        </a:rPr>
                        <a:t>addtype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id.entry,L.in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 → id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addtype</a:t>
                      </a:r>
                      <a:r>
                        <a:rPr lang="en-US" sz="1800" dirty="0">
                          <a:effectLst/>
                        </a:rPr>
                        <a:t>(</a:t>
                      </a:r>
                      <a:r>
                        <a:rPr lang="en-US" sz="1800" dirty="0" err="1">
                          <a:effectLst/>
                        </a:rPr>
                        <a:t>id.entry,L.in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43985" y="1630637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8" name="AutoShape 10"/>
          <p:cNvCxnSpPr>
            <a:cxnSpLocks noChangeShapeType="1"/>
          </p:cNvCxnSpPr>
          <p:nvPr/>
        </p:nvCxnSpPr>
        <p:spPr bwMode="auto">
          <a:xfrm>
            <a:off x="7631895" y="2034769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1"/>
          <p:cNvCxnSpPr>
            <a:cxnSpLocks noChangeShapeType="1"/>
          </p:cNvCxnSpPr>
          <p:nvPr/>
        </p:nvCxnSpPr>
        <p:spPr bwMode="auto">
          <a:xfrm flipH="1">
            <a:off x="6384582" y="2036952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6051473" y="2530613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1" name="Rectangle 32"/>
          <p:cNvSpPr>
            <a:spLocks noChangeArrowheads="1"/>
          </p:cNvSpPr>
          <p:nvPr/>
        </p:nvSpPr>
        <p:spPr bwMode="auto">
          <a:xfrm>
            <a:off x="8400808" y="2443020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815558" y="3121596"/>
            <a:ext cx="1105757" cy="39733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E47A1"/>
              </a:solidFill>
              <a:effectLst/>
              <a:latin typeface="+mj-lt"/>
            </a:endParaRPr>
          </a:p>
        </p:txBody>
      </p:sp>
      <p:cxnSp>
        <p:nvCxnSpPr>
          <p:cNvPr id="13" name="AutoShape 16"/>
          <p:cNvCxnSpPr>
            <a:cxnSpLocks noChangeShapeType="1"/>
          </p:cNvCxnSpPr>
          <p:nvPr/>
        </p:nvCxnSpPr>
        <p:spPr bwMode="auto">
          <a:xfrm>
            <a:off x="6278102" y="29290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5846203" y="2522617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5" name="Rectangle 32"/>
          <p:cNvSpPr>
            <a:spLocks noChangeArrowheads="1"/>
          </p:cNvSpPr>
          <p:nvPr/>
        </p:nvSpPr>
        <p:spPr bwMode="auto">
          <a:xfrm>
            <a:off x="8757388" y="246268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6" name="Curved Connector 15"/>
          <p:cNvCxnSpPr/>
          <p:nvPr/>
        </p:nvCxnSpPr>
        <p:spPr>
          <a:xfrm rot="5400000" flipH="1" flipV="1">
            <a:off x="6238044" y="2977468"/>
            <a:ext cx="600129" cy="288255"/>
          </a:xfrm>
          <a:prstGeom prst="curvedConnector4">
            <a:avLst>
              <a:gd name="adj1" fmla="val -16952"/>
              <a:gd name="adj2" fmla="val 189538"/>
            </a:avLst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406527" y="2670517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utoShape 10"/>
          <p:cNvCxnSpPr>
            <a:cxnSpLocks noChangeShapeType="1"/>
          </p:cNvCxnSpPr>
          <p:nvPr/>
        </p:nvCxnSpPr>
        <p:spPr bwMode="auto">
          <a:xfrm>
            <a:off x="8966851" y="2925513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1"/>
          <p:cNvCxnSpPr>
            <a:cxnSpLocks noChangeShapeType="1"/>
          </p:cNvCxnSpPr>
          <p:nvPr/>
        </p:nvCxnSpPr>
        <p:spPr bwMode="auto">
          <a:xfrm flipH="1">
            <a:off x="7719538" y="2927696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8332233" y="318454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1" name="AutoShape 16"/>
          <p:cNvCxnSpPr>
            <a:cxnSpLocks noChangeShapeType="1"/>
          </p:cNvCxnSpPr>
          <p:nvPr/>
        </p:nvCxnSpPr>
        <p:spPr bwMode="auto">
          <a:xfrm>
            <a:off x="8958255" y="294778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7064394" y="3394421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7193422" y="340164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24" name="Rectangle 32"/>
          <p:cNvSpPr>
            <a:spLocks noChangeArrowheads="1"/>
          </p:cNvSpPr>
          <p:nvPr/>
        </p:nvSpPr>
        <p:spPr bwMode="auto">
          <a:xfrm>
            <a:off x="9940286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</a:t>
            </a:r>
          </a:p>
        </p:txBody>
      </p:sp>
      <p:cxnSp>
        <p:nvCxnSpPr>
          <p:cNvPr id="25" name="AutoShape 10"/>
          <p:cNvCxnSpPr>
            <a:cxnSpLocks noChangeShapeType="1"/>
          </p:cNvCxnSpPr>
          <p:nvPr/>
        </p:nvCxnSpPr>
        <p:spPr bwMode="auto">
          <a:xfrm>
            <a:off x="7719538" y="3874285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1"/>
          <p:cNvCxnSpPr>
            <a:cxnSpLocks noChangeShapeType="1"/>
          </p:cNvCxnSpPr>
          <p:nvPr/>
        </p:nvCxnSpPr>
        <p:spPr bwMode="auto">
          <a:xfrm flipH="1">
            <a:off x="6472225" y="3876468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7084920" y="413332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8" name="AutoShape 16"/>
          <p:cNvCxnSpPr>
            <a:cxnSpLocks noChangeShapeType="1"/>
          </p:cNvCxnSpPr>
          <p:nvPr/>
        </p:nvCxnSpPr>
        <p:spPr bwMode="auto">
          <a:xfrm>
            <a:off x="7725690" y="386706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32"/>
          <p:cNvSpPr>
            <a:spLocks noChangeArrowheads="1"/>
          </p:cNvSpPr>
          <p:nvPr/>
        </p:nvSpPr>
        <p:spPr bwMode="auto">
          <a:xfrm>
            <a:off x="5905878" y="437384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30" name="Rectangle 32"/>
          <p:cNvSpPr>
            <a:spLocks noChangeArrowheads="1"/>
          </p:cNvSpPr>
          <p:nvPr/>
        </p:nvSpPr>
        <p:spPr bwMode="auto">
          <a:xfrm>
            <a:off x="5991360" y="435103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8586342" y="430660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</p:txBody>
      </p:sp>
      <p:sp>
        <p:nvSpPr>
          <p:cNvPr id="32" name="Rectangle 13"/>
          <p:cNvSpPr>
            <a:spLocks noChangeArrowheads="1"/>
          </p:cNvSpPr>
          <p:nvPr/>
        </p:nvSpPr>
        <p:spPr bwMode="auto">
          <a:xfrm>
            <a:off x="5846203" y="503102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3" name="AutoShape 16"/>
          <p:cNvCxnSpPr>
            <a:cxnSpLocks noChangeShapeType="1"/>
          </p:cNvCxnSpPr>
          <p:nvPr/>
        </p:nvCxnSpPr>
        <p:spPr bwMode="auto">
          <a:xfrm>
            <a:off x="6472225" y="479426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Curved Connector 33"/>
          <p:cNvCxnSpPr>
            <a:endCxn id="22" idx="0"/>
          </p:cNvCxnSpPr>
          <p:nvPr/>
        </p:nvCxnSpPr>
        <p:spPr>
          <a:xfrm rot="10800000" flipV="1">
            <a:off x="7663218" y="2790881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503325" y="3605135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0800000" flipV="1">
            <a:off x="6238297" y="3770303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209208" y="455395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5400000" flipH="1" flipV="1">
            <a:off x="6647620" y="4794018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2"/>
          <p:cNvSpPr>
            <a:spLocks noChangeArrowheads="1"/>
          </p:cNvSpPr>
          <p:nvPr/>
        </p:nvSpPr>
        <p:spPr bwMode="auto">
          <a:xfrm>
            <a:off x="10021957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8666371" y="4294206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6247555" y="5038460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3815" y="5849782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rgbClr val="0E47A1"/>
                </a:solidFill>
                <a:latin typeface="+mj-lt"/>
              </a:rPr>
              <a:t>D</a:t>
            </a:r>
            <a:r>
              <a:rPr lang="en-US" sz="2200" dirty="0" smtClean="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TL</a:t>
            </a:r>
            <a:endParaRPr lang="en-US" sz="2200" dirty="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128272" y="5848244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 dirty="0">
                <a:solidFill>
                  <a:srgbClr val="0E47A1"/>
                </a:solidFill>
                <a:latin typeface="+mj-lt"/>
              </a:rPr>
              <a:t>L → L</a:t>
            </a:r>
            <a:r>
              <a:rPr lang="en-US" sz="2200" baseline="-25000" dirty="0">
                <a:solidFill>
                  <a:srgbClr val="0E47A1"/>
                </a:solidFill>
                <a:latin typeface="+mj-lt"/>
              </a:rPr>
              <a:t>1</a:t>
            </a:r>
            <a:r>
              <a:rPr lang="en-US" sz="2200" dirty="0">
                <a:solidFill>
                  <a:srgbClr val="0E47A1"/>
                </a:solidFill>
                <a:latin typeface="+mj-lt"/>
              </a:rPr>
              <a:t> , id</a:t>
            </a:r>
            <a:endParaRPr lang="en-US" sz="2200" dirty="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138182" y="5849013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 dirty="0">
                <a:solidFill>
                  <a:srgbClr val="0E47A1"/>
                </a:solidFill>
                <a:latin typeface="+mj-lt"/>
              </a:rPr>
              <a:t>L → </a:t>
            </a:r>
            <a:r>
              <a:rPr lang="en-US" sz="2200" dirty="0" smtClean="0">
                <a:solidFill>
                  <a:srgbClr val="0E47A1"/>
                </a:solidFill>
                <a:latin typeface="+mj-lt"/>
              </a:rPr>
              <a:t> </a:t>
            </a:r>
            <a:r>
              <a:rPr lang="en-US" sz="2200" dirty="0">
                <a:solidFill>
                  <a:srgbClr val="0E47A1"/>
                </a:solidFill>
                <a:latin typeface="+mj-lt"/>
              </a:rPr>
              <a:t>id</a:t>
            </a:r>
            <a:endParaRPr lang="en-US" sz="2200" dirty="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1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1" grpId="1" animBg="1"/>
      <p:bldP spid="12" grpId="0" animBg="1"/>
      <p:bldP spid="14" grpId="0" animBg="1"/>
      <p:bldP spid="14" grpId="1" animBg="1"/>
      <p:bldP spid="15" grpId="0" animBg="1"/>
      <p:bldP spid="20" grpId="0" animBg="1"/>
      <p:bldP spid="22" grpId="0" animBg="1"/>
      <p:bldP spid="22" grpId="1" animBg="1"/>
      <p:bldP spid="23" grpId="0" animBg="1"/>
      <p:bldP spid="24" grpId="0" animBg="1"/>
      <p:bldP spid="27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39" grpId="0" animBg="1"/>
      <p:bldP spid="40" grpId="0" animBg="1"/>
      <p:bldP spid="41" grpId="0" animBg="1"/>
      <p:bldP spid="42" grpId="0"/>
      <p:bldP spid="42" grpId="1"/>
      <p:bldP spid="43" grpId="0"/>
      <p:bldP spid="43" grpId="1"/>
      <p:bldP spid="44" grpId="0"/>
      <p:bldP spid="4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directed graph that represents the interdependencies between synthesized and inherited attribute at nodes in the parse tree is called dependency graph.</a:t>
            </a:r>
          </a:p>
          <a:p>
            <a:pPr lvl="0"/>
            <a:r>
              <a:rPr lang="en-US" dirty="0"/>
              <a:t>For the rule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C00000"/>
                </a:solidFill>
              </a:rPr>
              <a:t>YZ </a:t>
            </a:r>
            <a:r>
              <a:rPr lang="en-US" dirty="0"/>
              <a:t>the semantic action is </a:t>
            </a:r>
            <a:r>
              <a:rPr lang="en-US" dirty="0" smtClean="0"/>
              <a:t>given by </a:t>
            </a:r>
            <a:r>
              <a:rPr lang="en-US" dirty="0" err="1" smtClean="0">
                <a:solidFill>
                  <a:srgbClr val="0E47A1"/>
                </a:solidFill>
              </a:rPr>
              <a:t>X.x</a:t>
            </a:r>
            <a:r>
              <a:rPr lang="en-US" dirty="0" smtClean="0">
                <a:solidFill>
                  <a:srgbClr val="0E47A1"/>
                </a:solidFill>
              </a:rPr>
              <a:t>=f(</a:t>
            </a:r>
            <a:r>
              <a:rPr lang="en-US" dirty="0" err="1" smtClean="0">
                <a:solidFill>
                  <a:srgbClr val="0E47A1"/>
                </a:solidFill>
              </a:rPr>
              <a:t>Y.y</a:t>
            </a:r>
            <a:r>
              <a:rPr lang="en-US" dirty="0" smtClean="0">
                <a:solidFill>
                  <a:srgbClr val="0E47A1"/>
                </a:solidFill>
              </a:rPr>
              <a:t>, </a:t>
            </a:r>
            <a:r>
              <a:rPr lang="en-US" dirty="0" err="1" smtClean="0">
                <a:solidFill>
                  <a:srgbClr val="0E47A1"/>
                </a:solidFill>
              </a:rPr>
              <a:t>Z.z</a:t>
            </a:r>
            <a:r>
              <a:rPr lang="en-US" dirty="0" smtClean="0">
                <a:solidFill>
                  <a:srgbClr val="0E47A1"/>
                </a:solidFill>
              </a:rPr>
              <a:t>) </a:t>
            </a:r>
            <a:r>
              <a:rPr lang="en-US" dirty="0"/>
              <a:t>then synthesized attribute </a:t>
            </a:r>
            <a:r>
              <a:rPr lang="en-US" dirty="0" err="1">
                <a:solidFill>
                  <a:srgbClr val="0E47A1"/>
                </a:solidFill>
              </a:rPr>
              <a:t>X.x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depends on </a:t>
            </a:r>
            <a:r>
              <a:rPr lang="en-US" dirty="0"/>
              <a:t>attributes </a:t>
            </a:r>
            <a:r>
              <a:rPr lang="en-US" dirty="0" err="1">
                <a:solidFill>
                  <a:srgbClr val="0E47A1"/>
                </a:solidFill>
              </a:rPr>
              <a:t>Y.y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0E47A1"/>
                </a:solidFill>
              </a:rPr>
              <a:t>Z.z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The basic idea behind dependency graphs is for a compiler to look for various kinds of dependency among statements to </a:t>
            </a:r>
            <a:r>
              <a:rPr lang="en-US" dirty="0">
                <a:solidFill>
                  <a:srgbClr val="C00000"/>
                </a:solidFill>
              </a:rPr>
              <a:t>prevent their execution in wrong order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5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 : Dependency </a:t>
            </a:r>
            <a:r>
              <a:rPr lang="en-US" dirty="0"/>
              <a:t>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for</a:t>
            </a:r>
            <a:r>
              <a:rPr lang="en-US" i="1" dirty="0"/>
              <a:t> each node n in the parse tree </a:t>
            </a:r>
            <a:r>
              <a:rPr lang="en-US" b="1" i="1" dirty="0"/>
              <a:t>do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b="1" i="1" dirty="0"/>
              <a:t>for</a:t>
            </a:r>
            <a:r>
              <a:rPr lang="en-US" i="1" dirty="0"/>
              <a:t> each attribute a of the grammar symbol at n </a:t>
            </a:r>
            <a:r>
              <a:rPr lang="en-US" b="1" i="1" dirty="0"/>
              <a:t>do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	Construct a node in the dependency graph for a;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for</a:t>
            </a:r>
            <a:r>
              <a:rPr lang="en-US" i="1" dirty="0"/>
              <a:t> each node n in the parse tree </a:t>
            </a:r>
            <a:r>
              <a:rPr lang="en-US" b="1" i="1" dirty="0"/>
              <a:t>do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	for</a:t>
            </a:r>
            <a:r>
              <a:rPr lang="en-US" i="1" dirty="0"/>
              <a:t> each semantic rule b=f(c</a:t>
            </a:r>
            <a:r>
              <a:rPr lang="en-US" i="1" baseline="-25000" dirty="0"/>
              <a:t>1</a:t>
            </a:r>
            <a:r>
              <a:rPr lang="en-US" i="1" dirty="0"/>
              <a:t>,c</a:t>
            </a:r>
            <a:r>
              <a:rPr lang="en-US" i="1" baseline="-25000" dirty="0"/>
              <a:t>2</a:t>
            </a:r>
            <a:r>
              <a:rPr lang="en-US" i="1" dirty="0"/>
              <a:t>,…..,</a:t>
            </a:r>
            <a:r>
              <a:rPr lang="en-US" i="1" dirty="0" err="1"/>
              <a:t>c</a:t>
            </a:r>
            <a:r>
              <a:rPr lang="en-US" i="1" baseline="-25000" dirty="0" err="1"/>
              <a:t>k</a:t>
            </a:r>
            <a:r>
              <a:rPr lang="en-US" i="1" dirty="0"/>
              <a:t>)</a:t>
            </a:r>
            <a:endParaRPr lang="en-US" dirty="0"/>
          </a:p>
          <a:p>
            <a:pPr marL="0" indent="0" defTabSz="804863">
              <a:buNone/>
            </a:pPr>
            <a:r>
              <a:rPr lang="en-US" b="1" i="1" dirty="0"/>
              <a:t>		</a:t>
            </a:r>
            <a:r>
              <a:rPr lang="en-US" i="1" dirty="0"/>
              <a:t>associated with the production used at n </a:t>
            </a:r>
            <a:r>
              <a:rPr lang="en-US" b="1" i="1" dirty="0"/>
              <a:t>do</a:t>
            </a:r>
            <a:endParaRPr lang="en-US" dirty="0"/>
          </a:p>
          <a:p>
            <a:pPr marL="0" indent="0" defTabSz="1371600">
              <a:buNone/>
            </a:pPr>
            <a:r>
              <a:rPr lang="en-US" i="1" dirty="0"/>
              <a:t>	</a:t>
            </a:r>
            <a:r>
              <a:rPr lang="en-US" b="1" i="1" dirty="0"/>
              <a:t>for </a:t>
            </a:r>
            <a:r>
              <a:rPr lang="en-US" i="1" dirty="0" err="1"/>
              <a:t>i</a:t>
            </a:r>
            <a:r>
              <a:rPr lang="en-US" i="1" dirty="0"/>
              <a:t>=1 to k </a:t>
            </a:r>
            <a:r>
              <a:rPr lang="en-US" b="1" i="1" dirty="0"/>
              <a:t>do</a:t>
            </a:r>
            <a:endParaRPr lang="en-US" dirty="0"/>
          </a:p>
          <a:p>
            <a:pPr marL="0" indent="0" defTabSz="804863">
              <a:buNone/>
            </a:pPr>
            <a:r>
              <a:rPr lang="en-US" i="1" dirty="0"/>
              <a:t>		construct an edge from the node for C</a:t>
            </a:r>
            <a:r>
              <a:rPr lang="en-US" i="1" baseline="-25000" dirty="0"/>
              <a:t>i</a:t>
            </a:r>
            <a:r>
              <a:rPr lang="en-US" i="1" dirty="0"/>
              <a:t> to the node for b;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0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Dependency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5"/>
            <a:ext cx="1368436" cy="98364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</a:t>
            </a:r>
            <a:r>
              <a:rPr lang="en-US" baseline="-25000" dirty="0"/>
              <a:t>1</a:t>
            </a:r>
            <a:r>
              <a:rPr lang="en-US" dirty="0"/>
              <a:t>+E</a:t>
            </a:r>
            <a:r>
              <a:rPr lang="en-US" baseline="-25000" dirty="0"/>
              <a:t>2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364434"/>
              </p:ext>
            </p:extLst>
          </p:nvPr>
        </p:nvGraphicFramePr>
        <p:xfrm>
          <a:off x="7525511" y="1075944"/>
          <a:ext cx="3581400" cy="1088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502"/>
                <a:gridCol w="2139898"/>
              </a:tblGrid>
              <a:tr h="3627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Production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Semantic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rules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+E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aseline="-25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E.val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 = E</a:t>
                      </a:r>
                      <a:r>
                        <a:rPr lang="en-US" sz="1800" baseline="-2500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.val+E</a:t>
                      </a:r>
                      <a:r>
                        <a:rPr lang="en-US" sz="1800" baseline="-2500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.val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979100" y="2982992"/>
            <a:ext cx="152400" cy="1524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Oval 5"/>
          <p:cNvSpPr/>
          <p:nvPr/>
        </p:nvSpPr>
        <p:spPr>
          <a:xfrm>
            <a:off x="4912300" y="4022579"/>
            <a:ext cx="152400" cy="1524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Oval 6"/>
          <p:cNvSpPr/>
          <p:nvPr/>
        </p:nvSpPr>
        <p:spPr>
          <a:xfrm>
            <a:off x="7170332" y="4019530"/>
            <a:ext cx="152400" cy="1524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" name="Straight Arrow Connector 7"/>
          <p:cNvCxnSpPr>
            <a:endCxn id="5" idx="4"/>
          </p:cNvCxnSpPr>
          <p:nvPr/>
        </p:nvCxnSpPr>
        <p:spPr>
          <a:xfrm flipV="1">
            <a:off x="5039332" y="3135392"/>
            <a:ext cx="1015968" cy="90823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6053679" y="3143541"/>
            <a:ext cx="1141071" cy="914025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7682" y="2682541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  <a:latin typeface="+mj-lt"/>
              </a:rPr>
              <a:t>val</a:t>
            </a:r>
            <a:endParaRPr lang="en-US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2727" y="4174979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  <a:latin typeface="+mj-lt"/>
              </a:rPr>
              <a:t>val</a:t>
            </a:r>
            <a:endParaRPr lang="en-US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79119" y="4174979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  <a:latin typeface="+mj-lt"/>
              </a:rPr>
              <a:t>val</a:t>
            </a:r>
            <a:endParaRPr lang="en-US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31223" y="2911141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j-lt"/>
              </a:rPr>
              <a:t>E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88223" y="3932023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j-lt"/>
              </a:rPr>
              <a:t>E</a:t>
            </a:r>
            <a:r>
              <a:rPr lang="en-US" b="1" baseline="-25000" dirty="0" smtClean="0">
                <a:solidFill>
                  <a:schemeClr val="tx1"/>
                </a:solidFill>
                <a:latin typeface="+mj-lt"/>
              </a:rPr>
              <a:t>1</a:t>
            </a:r>
            <a:endParaRPr lang="en-US" b="1" baseline="-25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36415" y="3968697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j-lt"/>
              </a:rPr>
              <a:t>E</a:t>
            </a:r>
            <a:r>
              <a:rPr lang="en-US" b="1" baseline="-25000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4534380" y="3151442"/>
            <a:ext cx="1016004" cy="823844"/>
          </a:xfrm>
          <a:prstGeom prst="line">
            <a:avLst/>
          </a:prstGeom>
          <a:ln w="25400"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679643" y="3200159"/>
            <a:ext cx="969280" cy="798034"/>
          </a:xfrm>
          <a:prstGeom prst="line">
            <a:avLst/>
          </a:prstGeom>
          <a:ln w="25400"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2"/>
          </p:cNvCxnSpPr>
          <p:nvPr/>
        </p:nvCxnSpPr>
        <p:spPr>
          <a:xfrm>
            <a:off x="5602723" y="3215941"/>
            <a:ext cx="0" cy="905156"/>
          </a:xfrm>
          <a:prstGeom prst="line">
            <a:avLst/>
          </a:prstGeom>
          <a:ln w="25400"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31223" y="4105368"/>
            <a:ext cx="1143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j-lt"/>
              </a:rPr>
              <a:t>+</a:t>
            </a:r>
            <a:endParaRPr lang="en-US" b="1" baseline="-2500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990087" y="4709557"/>
                <a:ext cx="5486399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en-US" b="1" dirty="0" smtClean="0">
                    <a:solidFill>
                      <a:srgbClr val="0E47A1"/>
                    </a:solidFill>
                    <a:latin typeface="+mj-lt"/>
                  </a:rPr>
                  <a:t> is synthesized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baseline="-25000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en-US" b="1" dirty="0" smtClean="0">
                    <a:solidFill>
                      <a:srgbClr val="0E47A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baseline="-25000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𝒗𝒂𝒍</m:t>
                    </m:r>
                  </m:oMath>
                </a14:m>
                <a:endParaRPr lang="en-US" b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87" y="4709557"/>
                <a:ext cx="5486399" cy="533400"/>
              </a:xfrm>
              <a:prstGeom prst="rect">
                <a:avLst/>
              </a:prstGeom>
              <a:blipFill rotWithShape="0">
                <a:blip r:embed="rId2"/>
                <a:stretch>
                  <a:fillRect b="-34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279193" y="2351131"/>
            <a:ext cx="1342640" cy="44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+mj-lt"/>
              </a:rPr>
              <a:t>Parse tree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039428" y="2722513"/>
            <a:ext cx="914400" cy="9144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776275" y="2445291"/>
            <a:ext cx="2444923" cy="44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+mj-lt"/>
              </a:rPr>
              <a:t>Dependency graph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677518" y="2887198"/>
            <a:ext cx="724951" cy="73250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61865" y="5812074"/>
            <a:ext cx="9538716" cy="5558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 smtClean="0">
                <a:solidFill>
                  <a:schemeClr val="tx1"/>
                </a:solidFill>
              </a:rPr>
              <a:t>The edges to </a:t>
            </a:r>
            <a:r>
              <a:rPr lang="en-US" sz="2000" dirty="0" err="1" smtClean="0">
                <a:solidFill>
                  <a:schemeClr val="tx1"/>
                </a:solidFill>
              </a:rPr>
              <a:t>E.val</a:t>
            </a:r>
            <a:r>
              <a:rPr lang="en-US" sz="2000" dirty="0" smtClean="0">
                <a:solidFill>
                  <a:schemeClr val="tx1"/>
                </a:solidFill>
              </a:rPr>
              <a:t> from E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r>
              <a:rPr lang="en-US" sz="2000" dirty="0" smtClean="0">
                <a:solidFill>
                  <a:schemeClr val="tx1"/>
                </a:solidFill>
              </a:rPr>
              <a:t>.val and E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r>
              <a:rPr lang="en-US" sz="2000" dirty="0" smtClean="0">
                <a:solidFill>
                  <a:schemeClr val="tx1"/>
                </a:solidFill>
              </a:rPr>
              <a:t>.val shows that </a:t>
            </a:r>
            <a:r>
              <a:rPr lang="en-US" sz="2000" dirty="0" err="1" smtClean="0">
                <a:solidFill>
                  <a:schemeClr val="tx1"/>
                </a:solidFill>
              </a:rPr>
              <a:t>E.val</a:t>
            </a:r>
            <a:r>
              <a:rPr lang="en-US" sz="2000" dirty="0" smtClean="0">
                <a:solidFill>
                  <a:schemeClr val="tx1"/>
                </a:solidFill>
              </a:rPr>
              <a:t> is depends on E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r>
              <a:rPr lang="en-US" sz="2000" dirty="0" smtClean="0">
                <a:solidFill>
                  <a:schemeClr val="tx1"/>
                </a:solidFill>
              </a:rPr>
              <a:t>.val and E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r>
              <a:rPr lang="en-US" sz="2000" dirty="0" smtClean="0">
                <a:solidFill>
                  <a:schemeClr val="tx1"/>
                </a:solidFill>
              </a:rPr>
              <a:t>.val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04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10" grpId="0"/>
      <p:bldP spid="11" grpId="0"/>
      <p:bldP spid="12" grpId="0"/>
      <p:bldP spid="13" grpId="0"/>
      <p:bldP spid="15" grpId="0"/>
      <p:bldP spid="19" grpId="0"/>
      <p:bldP spid="20" grpId="0"/>
      <p:bldP spid="21" grpId="0"/>
      <p:bldP spid="23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1288913"/>
              </a:xfrm>
            </p:spPr>
            <p:txBody>
              <a:bodyPr/>
              <a:lstStyle/>
              <a:p>
                <a:r>
                  <a:rPr lang="en-US" dirty="0"/>
                  <a:t>A topological sort of a directed acyclic graph is any ordering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,………..,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the nodes of the graph such that edges go from nodes earlier in the ordering to later nodes.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an edge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then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appears before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in the ordering.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1288913"/>
              </a:xfrm>
              <a:blipFill rotWithShape="0">
                <a:blip r:embed="rId2"/>
                <a:stretch>
                  <a:fillRect l="-716" t="-6161" r="-818" b="-4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026603" y="256435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" name="AutoShape 10"/>
          <p:cNvCxnSpPr>
            <a:cxnSpLocks noChangeShapeType="1"/>
          </p:cNvCxnSpPr>
          <p:nvPr/>
        </p:nvCxnSpPr>
        <p:spPr bwMode="auto">
          <a:xfrm>
            <a:off x="5514513" y="296848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1"/>
          <p:cNvCxnSpPr>
            <a:cxnSpLocks noChangeShapeType="1"/>
          </p:cNvCxnSpPr>
          <p:nvPr/>
        </p:nvCxnSpPr>
        <p:spPr bwMode="auto">
          <a:xfrm flipH="1">
            <a:off x="4267200" y="297066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934091" y="3464328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534698" y="405531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9" name="AutoShape 16"/>
          <p:cNvCxnSpPr>
            <a:cxnSpLocks noChangeShapeType="1"/>
          </p:cNvCxnSpPr>
          <p:nvPr/>
        </p:nvCxnSpPr>
        <p:spPr bwMode="auto">
          <a:xfrm>
            <a:off x="4160720" y="386279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32"/>
          <p:cNvSpPr>
            <a:spLocks noChangeArrowheads="1"/>
          </p:cNvSpPr>
          <p:nvPr/>
        </p:nvSpPr>
        <p:spPr bwMode="auto">
          <a:xfrm>
            <a:off x="6640006" y="339640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1" name="AutoShape 10"/>
          <p:cNvCxnSpPr>
            <a:cxnSpLocks noChangeShapeType="1"/>
          </p:cNvCxnSpPr>
          <p:nvPr/>
        </p:nvCxnSpPr>
        <p:spPr bwMode="auto">
          <a:xfrm>
            <a:off x="6849469" y="3859228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1"/>
          <p:cNvCxnSpPr>
            <a:cxnSpLocks noChangeShapeType="1"/>
          </p:cNvCxnSpPr>
          <p:nvPr/>
        </p:nvCxnSpPr>
        <p:spPr bwMode="auto">
          <a:xfrm flipH="1">
            <a:off x="5602156" y="3861411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214851" y="4118264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4" name="AutoShape 16"/>
          <p:cNvCxnSpPr>
            <a:cxnSpLocks noChangeShapeType="1"/>
          </p:cNvCxnSpPr>
          <p:nvPr/>
        </p:nvCxnSpPr>
        <p:spPr bwMode="auto">
          <a:xfrm>
            <a:off x="6840873" y="388150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/>
          <p:cNvSpPr>
            <a:spLocks noChangeArrowheads="1"/>
          </p:cNvSpPr>
          <p:nvPr/>
        </p:nvSpPr>
        <p:spPr bwMode="auto">
          <a:xfrm>
            <a:off x="5076040" y="433535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6" name="AutoShape 10"/>
          <p:cNvCxnSpPr>
            <a:cxnSpLocks noChangeShapeType="1"/>
          </p:cNvCxnSpPr>
          <p:nvPr/>
        </p:nvCxnSpPr>
        <p:spPr bwMode="auto">
          <a:xfrm>
            <a:off x="5602156" y="480800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1"/>
          <p:cNvCxnSpPr>
            <a:cxnSpLocks noChangeShapeType="1"/>
          </p:cNvCxnSpPr>
          <p:nvPr/>
        </p:nvCxnSpPr>
        <p:spPr bwMode="auto">
          <a:xfrm flipH="1">
            <a:off x="4354843" y="481018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6"/>
          <p:cNvCxnSpPr>
            <a:cxnSpLocks noChangeShapeType="1"/>
          </p:cNvCxnSpPr>
          <p:nvPr/>
        </p:nvCxnSpPr>
        <p:spPr bwMode="auto">
          <a:xfrm>
            <a:off x="5608308" y="48007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32"/>
          <p:cNvSpPr>
            <a:spLocks noChangeArrowheads="1"/>
          </p:cNvSpPr>
          <p:nvPr/>
        </p:nvSpPr>
        <p:spPr bwMode="auto">
          <a:xfrm>
            <a:off x="3873978" y="528474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20" name="AutoShape 16"/>
          <p:cNvCxnSpPr>
            <a:cxnSpLocks noChangeShapeType="1"/>
          </p:cNvCxnSpPr>
          <p:nvPr/>
        </p:nvCxnSpPr>
        <p:spPr bwMode="auto">
          <a:xfrm>
            <a:off x="4354843" y="572798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7904575" y="4293477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6548989" y="522792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4130173" y="5972175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id1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173266" y="3595521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10800000" flipV="1">
            <a:off x="5429957" y="3715885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270064" y="453013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/>
          <p:nvPr/>
        </p:nvCxnSpPr>
        <p:spPr>
          <a:xfrm rot="10800000" flipV="1">
            <a:off x="4005036" y="4695307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975947" y="5527950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/>
          <p:nvPr/>
        </p:nvCxnSpPr>
        <p:spPr>
          <a:xfrm rot="5400000" flipH="1" flipV="1">
            <a:off x="4414359" y="5719022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4967538" y="5100328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534698" y="346432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1</a:t>
            </a:r>
            <a:endParaRPr lang="en-US" dirty="0">
              <a:latin typeface="+mj-lt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754155" y="3386506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4799736" y="411480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3</a:t>
            </a:r>
            <a:endParaRPr lang="en-US" dirty="0">
              <a:latin typeface="+mj-lt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475600" y="4226620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3541612" y="5327574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5</a:t>
            </a:r>
            <a:endParaRPr lang="en-US" dirty="0">
              <a:latin typeface="+mj-lt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095165" y="5239147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6</a:t>
            </a:r>
            <a:endParaRPr lang="en-US" dirty="0">
              <a:latin typeface="+mj-lt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701825" y="6027742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7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65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0" grpId="0" animBg="1"/>
      <p:bldP spid="13" grpId="0" animBg="1"/>
      <p:bldP spid="15" grpId="0" animBg="1"/>
      <p:bldP spid="19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syntax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syntax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functions are used to create the nodes of the syntax tree.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b="1" dirty="0" err="1">
                <a:solidFill>
                  <a:srgbClr val="C00000"/>
                </a:solidFill>
              </a:rPr>
              <a:t>Mknode</a:t>
            </a:r>
            <a:r>
              <a:rPr lang="en-US" sz="2400" b="1" dirty="0">
                <a:solidFill>
                  <a:srgbClr val="C00000"/>
                </a:solidFill>
              </a:rPr>
              <a:t> (</a:t>
            </a:r>
            <a:r>
              <a:rPr lang="en-US" sz="2400" b="1" dirty="0" err="1">
                <a:solidFill>
                  <a:srgbClr val="C00000"/>
                </a:solidFill>
              </a:rPr>
              <a:t>op,left,right</a:t>
            </a:r>
            <a:r>
              <a:rPr lang="en-US" sz="2400" b="1" dirty="0">
                <a:solidFill>
                  <a:srgbClr val="C00000"/>
                </a:solidFill>
              </a:rPr>
              <a:t>): </a:t>
            </a:r>
            <a:r>
              <a:rPr lang="en-US" sz="2400" dirty="0"/>
              <a:t>creates an operator node with label </a:t>
            </a:r>
            <a:r>
              <a:rPr lang="en-US" sz="2400" dirty="0">
                <a:solidFill>
                  <a:srgbClr val="0E47A1"/>
                </a:solidFill>
              </a:rPr>
              <a:t>op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and two fields containing </a:t>
            </a:r>
            <a:r>
              <a:rPr lang="en-US" sz="2400" dirty="0">
                <a:solidFill>
                  <a:srgbClr val="0E47A1"/>
                </a:solidFill>
              </a:rPr>
              <a:t>pointers to left and right</a:t>
            </a:r>
            <a:r>
              <a:rPr lang="en-US" sz="2400" dirty="0"/>
              <a:t>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b="1" dirty="0" err="1">
                <a:solidFill>
                  <a:srgbClr val="C00000"/>
                </a:solidFill>
              </a:rPr>
              <a:t>Mkleaf</a:t>
            </a:r>
            <a:r>
              <a:rPr lang="en-US" sz="2400" b="1" dirty="0">
                <a:solidFill>
                  <a:srgbClr val="C00000"/>
                </a:solidFill>
              </a:rPr>
              <a:t> (id, entry): </a:t>
            </a:r>
            <a:r>
              <a:rPr lang="en-US" sz="2400" dirty="0"/>
              <a:t>creates an identifier node with label </a:t>
            </a:r>
            <a:r>
              <a:rPr lang="en-US" sz="2400" dirty="0">
                <a:solidFill>
                  <a:srgbClr val="0E47A1"/>
                </a:solidFill>
              </a:rPr>
              <a:t>id </a:t>
            </a:r>
            <a:r>
              <a:rPr lang="en-US" sz="2400" dirty="0"/>
              <a:t>and a field containing entry, a pointer to the symbol table </a:t>
            </a:r>
            <a:r>
              <a:rPr lang="en-US" sz="2400" dirty="0">
                <a:solidFill>
                  <a:srgbClr val="0E47A1"/>
                </a:solidFill>
              </a:rPr>
              <a:t>entry</a:t>
            </a:r>
            <a:r>
              <a:rPr lang="en-US" sz="2400" dirty="0"/>
              <a:t> for the identifier.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b="1" dirty="0" err="1">
                <a:solidFill>
                  <a:srgbClr val="C00000"/>
                </a:solidFill>
              </a:rPr>
              <a:t>Mkleaf</a:t>
            </a:r>
            <a:r>
              <a:rPr lang="en-US" sz="2400" b="1" dirty="0">
                <a:solidFill>
                  <a:srgbClr val="C00000"/>
                </a:solidFill>
              </a:rPr>
              <a:t> (</a:t>
            </a:r>
            <a:r>
              <a:rPr lang="en-US" sz="2400" b="1" dirty="0" err="1">
                <a:solidFill>
                  <a:srgbClr val="C00000"/>
                </a:solidFill>
              </a:rPr>
              <a:t>num</a:t>
            </a:r>
            <a:r>
              <a:rPr lang="en-US" sz="2400" b="1" dirty="0">
                <a:solidFill>
                  <a:srgbClr val="C00000"/>
                </a:solidFill>
              </a:rPr>
              <a:t>, </a:t>
            </a:r>
            <a:r>
              <a:rPr lang="en-US" sz="2400" b="1" dirty="0" err="1">
                <a:solidFill>
                  <a:srgbClr val="C00000"/>
                </a:solidFill>
              </a:rPr>
              <a:t>val</a:t>
            </a:r>
            <a:r>
              <a:rPr lang="en-US" sz="2400" b="1" dirty="0">
                <a:solidFill>
                  <a:srgbClr val="C00000"/>
                </a:solidFill>
              </a:rPr>
              <a:t>): </a:t>
            </a:r>
            <a:r>
              <a:rPr lang="en-US" sz="2400" dirty="0"/>
              <a:t>creates a number node with label </a:t>
            </a:r>
            <a:r>
              <a:rPr lang="en-US" sz="2400" dirty="0" err="1">
                <a:solidFill>
                  <a:srgbClr val="0E47A1"/>
                </a:solidFill>
              </a:rPr>
              <a:t>num</a:t>
            </a:r>
            <a:r>
              <a:rPr lang="en-US" sz="2400" dirty="0"/>
              <a:t> and a field containing </a:t>
            </a:r>
            <a:r>
              <a:rPr lang="en-US" sz="2400" dirty="0" err="1">
                <a:solidFill>
                  <a:srgbClr val="0E47A1"/>
                </a:solidFill>
              </a:rPr>
              <a:t>val</a:t>
            </a:r>
            <a:r>
              <a:rPr lang="en-US" sz="2400" dirty="0"/>
              <a:t>, the value of the number.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62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syntax tree for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241099" cy="559056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Example:</a:t>
            </a:r>
            <a:r>
              <a:rPr lang="en-US" dirty="0" smtClean="0"/>
              <a:t> construct </a:t>
            </a:r>
            <a:r>
              <a:rPr lang="en-US" dirty="0"/>
              <a:t>syntax tree for </a:t>
            </a:r>
            <a:r>
              <a:rPr lang="en-US" dirty="0" smtClean="0"/>
              <a:t>a-4+c</a:t>
            </a:r>
          </a:p>
          <a:p>
            <a:pPr marL="0" indent="0">
              <a:buNone/>
            </a:pPr>
            <a:r>
              <a:rPr lang="en-US" dirty="0"/>
              <a:t>P1: </a:t>
            </a:r>
            <a:r>
              <a:rPr lang="en-US" dirty="0" err="1"/>
              <a:t>mkleaf</a:t>
            </a:r>
            <a:r>
              <a:rPr lang="en-US" dirty="0"/>
              <a:t>(id, entry for a);</a:t>
            </a:r>
          </a:p>
          <a:p>
            <a:pPr marL="0" indent="0">
              <a:buNone/>
            </a:pPr>
            <a:r>
              <a:rPr lang="en-US" dirty="0"/>
              <a:t>P2: </a:t>
            </a:r>
            <a:r>
              <a:rPr lang="en-US" dirty="0" err="1"/>
              <a:t>mkleaf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, 4);</a:t>
            </a:r>
          </a:p>
          <a:p>
            <a:pPr marL="0" indent="0">
              <a:buNone/>
            </a:pPr>
            <a:r>
              <a:rPr lang="en-US" dirty="0"/>
              <a:t>P3: </a:t>
            </a:r>
            <a:r>
              <a:rPr lang="en-US" dirty="0" err="1"/>
              <a:t>mknode</a:t>
            </a:r>
            <a:r>
              <a:rPr lang="en-US" dirty="0"/>
              <a:t>(‘-‘,p1,p2);</a:t>
            </a:r>
          </a:p>
          <a:p>
            <a:pPr marL="0" indent="0">
              <a:buNone/>
            </a:pPr>
            <a:r>
              <a:rPr lang="en-US" dirty="0"/>
              <a:t>P4: </a:t>
            </a:r>
            <a:r>
              <a:rPr lang="en-US" dirty="0" err="1"/>
              <a:t>mkleaf</a:t>
            </a:r>
            <a:r>
              <a:rPr lang="en-US" dirty="0"/>
              <a:t>(id, entry for c);</a:t>
            </a:r>
          </a:p>
          <a:p>
            <a:pPr marL="0" indent="0">
              <a:buNone/>
            </a:pPr>
            <a:r>
              <a:rPr lang="en-US" dirty="0"/>
              <a:t>P5: </a:t>
            </a:r>
            <a:r>
              <a:rPr lang="en-US" dirty="0" err="1"/>
              <a:t>mknode</a:t>
            </a:r>
            <a:r>
              <a:rPr lang="en-US" dirty="0"/>
              <a:t>(‘+’,p3,p4);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48194"/>
              </p:ext>
            </p:extLst>
          </p:nvPr>
        </p:nvGraphicFramePr>
        <p:xfrm>
          <a:off x="6428018" y="4312920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046037"/>
              </p:ext>
            </p:extLst>
          </p:nvPr>
        </p:nvGraphicFramePr>
        <p:xfrm>
          <a:off x="8961668" y="4308004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Num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265002"/>
              </p:ext>
            </p:extLst>
          </p:nvPr>
        </p:nvGraphicFramePr>
        <p:xfrm>
          <a:off x="10009418" y="2867783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67710"/>
              </p:ext>
            </p:extLst>
          </p:nvPr>
        </p:nvGraphicFramePr>
        <p:xfrm>
          <a:off x="7799618" y="2877902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/>
                <a:gridCol w="438199"/>
                <a:gridCol w="4571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5520992" y="4226888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203355" y="4178382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43749" y="2745945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285518" y="275995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P4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21783" y="133374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P5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30213"/>
              </p:ext>
            </p:extLst>
          </p:nvPr>
        </p:nvGraphicFramePr>
        <p:xfrm>
          <a:off x="8994714" y="1455584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/>
                <a:gridCol w="438199"/>
                <a:gridCol w="4571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>
            <a:off x="7453349" y="4534146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68746" y="4972173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Entry for 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1076218" y="3111050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091615" y="3549077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Entry for 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8" name="Straight Arrow Connector 17"/>
          <p:cNvCxnSpPr>
            <a:endCxn id="4" idx="0"/>
          </p:cNvCxnSpPr>
          <p:nvPr/>
        </p:nvCxnSpPr>
        <p:spPr>
          <a:xfrm flipH="1">
            <a:off x="7113818" y="3238623"/>
            <a:ext cx="1324134" cy="107429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784221" y="3248742"/>
            <a:ext cx="1137629" cy="106993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7" idx="0"/>
          </p:cNvCxnSpPr>
          <p:nvPr/>
        </p:nvCxnSpPr>
        <p:spPr>
          <a:xfrm flipH="1">
            <a:off x="8426583" y="1830316"/>
            <a:ext cx="1136377" cy="104758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0009418" y="1823311"/>
            <a:ext cx="1086163" cy="106237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50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up evaluation of </a:t>
            </a:r>
            <a:br>
              <a:rPr lang="en-US" dirty="0"/>
            </a:br>
            <a:r>
              <a:rPr lang="en-US" dirty="0"/>
              <a:t>S-attributed definitions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10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Bottom up evaluation of S-attributed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446684"/>
          </a:xfrm>
        </p:spPr>
        <p:txBody>
          <a:bodyPr/>
          <a:lstStyle/>
          <a:p>
            <a:r>
              <a:rPr lang="en-US" dirty="0"/>
              <a:t>S-attributed definition is one such class of syntax directed definition with synthesized attributes only.</a:t>
            </a:r>
          </a:p>
          <a:p>
            <a:r>
              <a:rPr lang="en-US" dirty="0"/>
              <a:t>Synthesized attributes can be evaluated using bottom up parser only.</a:t>
            </a:r>
          </a:p>
          <a:p>
            <a:pPr marL="0" indent="0">
              <a:buNone/>
            </a:pPr>
            <a:r>
              <a:rPr lang="en-US" b="1" dirty="0"/>
              <a:t>Synthesized attributes on the parser stack</a:t>
            </a:r>
          </a:p>
          <a:p>
            <a:r>
              <a:rPr lang="en-US" dirty="0"/>
              <a:t>Consider the production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XYZ </a:t>
            </a:r>
            <a:r>
              <a:rPr lang="en-US" dirty="0">
                <a:sym typeface="Wingdings" panose="05000000000000000000" pitchFamily="2" charset="2"/>
              </a:rPr>
              <a:t>and associated semantic action is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A.a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=f(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X.x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Y.y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Z.z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914528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/>
                    <a:gridCol w="82594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State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Value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914528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/>
                    <a:gridCol w="82594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State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Value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787" t="-106557" r="-1094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4118" t="-106557" r="-2206" b="-20327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787" t="-206557" r="-1094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4118" t="-206557" r="-2206" b="-10327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787" t="-306557" r="-1094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4118" t="-306557" r="-2206" b="-327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2033016" y="51846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11221" y="4956048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05075" y="5422681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 reduction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267290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/>
                    <a:gridCol w="82594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State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Value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267290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/>
                    <a:gridCol w="82594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State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Value </a:t>
                          </a:r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81" t="-106557" r="-10781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4853" t="-106557" r="-1471" b="-203279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7113840" y="43464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83561" y="4131273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85899" y="5404902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 reduction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033016" y="4808729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329576" y="4580129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top-1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023874" y="4437525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04105" y="4208925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dirty="0" smtClean="0">
                <a:solidFill>
                  <a:srgbClr val="C00000"/>
                </a:solidFill>
              </a:rPr>
              <a:t>op-2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221224" y="4625485"/>
            <a:ext cx="1892616" cy="183244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1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Bottom up evaluation of S-attributed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4461234"/>
              </p:ext>
            </p:extLst>
          </p:nvPr>
        </p:nvGraphicFramePr>
        <p:xfrm>
          <a:off x="1472311" y="1009106"/>
          <a:ext cx="3971216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146556"/>
                <a:gridCol w="2824660"/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Production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effectLst/>
                        </a:rPr>
                        <a:t>Semantic </a:t>
                      </a:r>
                      <a:r>
                        <a:rPr lang="en-US" sz="1800" baseline="0" dirty="0" smtClean="0">
                          <a:effectLst/>
                        </a:rPr>
                        <a:t>rules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L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err="1" smtClean="0">
                          <a:effectLst/>
                        </a:rPr>
                        <a:t>E</a:t>
                      </a:r>
                      <a:r>
                        <a:rPr lang="en-US" sz="1800" baseline="-25000" dirty="0" err="1" smtClean="0">
                          <a:effectLst/>
                        </a:rPr>
                        <a:t>n</a:t>
                      </a:r>
                      <a:endParaRPr lang="en-US" sz="1800" baseline="-25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Print (</a:t>
                      </a:r>
                      <a:r>
                        <a:rPr lang="en-US" sz="1800" baseline="0" dirty="0" err="1" smtClean="0">
                          <a:effectLst/>
                        </a:rPr>
                        <a:t>val</a:t>
                      </a:r>
                      <a:r>
                        <a:rPr lang="en-US" sz="1800" baseline="0" dirty="0" smtClean="0">
                          <a:effectLst/>
                        </a:rPr>
                        <a:t>[top])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E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+T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[top]=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[top-2] + 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E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T</a:t>
                      </a:r>
                      <a:r>
                        <a:rPr lang="en-US" sz="1800" baseline="-25000" dirty="0" smtClean="0">
                          <a:effectLst/>
                        </a:rPr>
                        <a:t>1</a:t>
                      </a:r>
                      <a:r>
                        <a:rPr lang="en-US" sz="1800" baseline="0" dirty="0" smtClean="0">
                          <a:effectLst/>
                        </a:rPr>
                        <a:t>*F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[top]=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[top-2] * 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T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F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(</a:t>
                      </a:r>
                      <a:r>
                        <a:rPr lang="en-US" sz="1800" baseline="0" dirty="0">
                          <a:effectLst/>
                        </a:rPr>
                        <a:t>E)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[top]=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[top-2] - </a:t>
                      </a:r>
                      <a:r>
                        <a:rPr lang="en-US" sz="18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</a:rPr>
                        <a:t>F </a:t>
                      </a:r>
                      <a:r>
                        <a:rPr lang="en-US" sz="180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smtClean="0">
                          <a:effectLst/>
                        </a:rPr>
                        <a:t>digit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540083"/>
              </p:ext>
            </p:extLst>
          </p:nvPr>
        </p:nvGraphicFramePr>
        <p:xfrm>
          <a:off x="5779008" y="10091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aseline="0" dirty="0" smtClean="0">
                          <a:effectLst/>
                        </a:rPr>
                        <a:t>Input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aseline="0" dirty="0" smtClean="0">
                          <a:effectLst/>
                        </a:rPr>
                        <a:t>State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Val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Production Used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82956"/>
              </p:ext>
            </p:extLst>
          </p:nvPr>
        </p:nvGraphicFramePr>
        <p:xfrm>
          <a:off x="5779008" y="14053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3*5</a:t>
                      </a:r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04986"/>
              </p:ext>
            </p:extLst>
          </p:nvPr>
        </p:nvGraphicFramePr>
        <p:xfrm>
          <a:off x="5779008" y="18015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*5</a:t>
                      </a:r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124629"/>
              </p:ext>
            </p:extLst>
          </p:nvPr>
        </p:nvGraphicFramePr>
        <p:xfrm>
          <a:off x="5779008" y="21978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*5</a:t>
                      </a:r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 smtClean="0"/>
                        <a:t>F</a:t>
                      </a:r>
                      <a:r>
                        <a:rPr lang="en-US" sz="2000" b="0" dirty="0" err="1" smtClean="0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01396"/>
              </p:ext>
            </p:extLst>
          </p:nvPr>
        </p:nvGraphicFramePr>
        <p:xfrm>
          <a:off x="5779008" y="25940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*5</a:t>
                      </a:r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T</a:t>
                      </a:r>
                      <a:r>
                        <a:rPr lang="en-US" sz="2000" b="0" dirty="0" smtClean="0">
                          <a:sym typeface="Wingdings" panose="05000000000000000000" pitchFamily="2" charset="2"/>
                        </a:rPr>
                        <a:t>F</a:t>
                      </a:r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60164"/>
              </p:ext>
            </p:extLst>
          </p:nvPr>
        </p:nvGraphicFramePr>
        <p:xfrm>
          <a:off x="5779008" y="29903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5</a:t>
                      </a:r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T*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50827"/>
              </p:ext>
            </p:extLst>
          </p:nvPr>
        </p:nvGraphicFramePr>
        <p:xfrm>
          <a:off x="5779008" y="33865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T*5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451579"/>
              </p:ext>
            </p:extLst>
          </p:nvPr>
        </p:nvGraphicFramePr>
        <p:xfrm>
          <a:off x="5779008" y="37827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T*F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 smtClean="0"/>
                        <a:t>F</a:t>
                      </a:r>
                      <a:r>
                        <a:rPr lang="en-US" sz="2000" b="0" dirty="0" err="1" smtClean="0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293292"/>
              </p:ext>
            </p:extLst>
          </p:nvPr>
        </p:nvGraphicFramePr>
        <p:xfrm>
          <a:off x="5779008" y="41790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T</a:t>
                      </a:r>
                      <a:r>
                        <a:rPr lang="en-US" sz="2000" b="0" dirty="0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sz="2000" b="0" baseline="-25000" dirty="0" smtClean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2000" b="0" dirty="0" smtClean="0">
                          <a:sym typeface="Wingdings" panose="05000000000000000000" pitchFamily="2" charset="2"/>
                        </a:rPr>
                        <a:t>*F</a:t>
                      </a:r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67416"/>
              </p:ext>
            </p:extLst>
          </p:nvPr>
        </p:nvGraphicFramePr>
        <p:xfrm>
          <a:off x="5779008" y="45752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E</a:t>
                      </a:r>
                      <a:r>
                        <a:rPr lang="en-US" sz="2000" b="0" dirty="0" smtClean="0">
                          <a:sym typeface="Wingdings" panose="05000000000000000000" pitchFamily="2" charset="2"/>
                        </a:rPr>
                        <a:t>T</a:t>
                      </a:r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17532"/>
              </p:ext>
            </p:extLst>
          </p:nvPr>
        </p:nvGraphicFramePr>
        <p:xfrm>
          <a:off x="5779008" y="49715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baseline="0" dirty="0" smtClean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err="1" smtClean="0">
                          <a:effectLst/>
                        </a:rPr>
                        <a:t>E</a:t>
                      </a:r>
                      <a:r>
                        <a:rPr lang="en-US" sz="2000" b="1" baseline="0" dirty="0" err="1" smtClean="0">
                          <a:effectLst/>
                        </a:rPr>
                        <a:t>n</a:t>
                      </a:r>
                      <a:endParaRPr lang="en-US" sz="2000" b="1" baseline="0" dirty="0" smtClean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97466"/>
              </p:ext>
            </p:extLst>
          </p:nvPr>
        </p:nvGraphicFramePr>
        <p:xfrm>
          <a:off x="5779008" y="53677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/>
                <a:gridCol w="853910"/>
                <a:gridCol w="622030"/>
                <a:gridCol w="202821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 baseline="0" dirty="0" smtClean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 smtClean="0">
                          <a:effectLst/>
                        </a:rPr>
                        <a:t>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dirty="0" smtClean="0">
                          <a:effectLst/>
                        </a:rPr>
                        <a:t>L </a:t>
                      </a:r>
                      <a:r>
                        <a:rPr lang="en-US" sz="2000" b="0" baseline="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000" b="0" baseline="0" dirty="0" err="1" smtClean="0">
                          <a:effectLst/>
                        </a:rPr>
                        <a:t>E</a:t>
                      </a:r>
                      <a:r>
                        <a:rPr lang="en-US" sz="2000" b="0" baseline="-25000" dirty="0" err="1" smtClean="0">
                          <a:effectLst/>
                        </a:rPr>
                        <a:t>n</a:t>
                      </a:r>
                      <a:endParaRPr lang="en-US" sz="2000" b="0" baseline="-250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769608" y="185329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556102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95361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674608" y="224245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58722" y="224953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545216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984475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674608" y="263869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758722" y="264577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545216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984475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753279" y="305561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539773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79032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785937" y="34338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572431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011690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647394" y="3821977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731508" y="3829054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518002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957261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8696379" y="4210050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780493" y="421712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566987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006246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723593" y="4603022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807707" y="46100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594201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033460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6791378" y="503899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7577872" y="502974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723592" y="540856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807706" y="541564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594200" y="540639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033460" y="1723753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118502" y="2835729"/>
            <a:ext cx="964748" cy="23621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183818" y="3235369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530143" y="4915989"/>
            <a:ext cx="3742680" cy="897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E47A1"/>
                </a:solidFill>
              </a:rPr>
              <a:t>Implementation of a desk calculator with bottom  up parser </a:t>
            </a:r>
            <a:endParaRPr lang="en-US" b="1" dirty="0">
              <a:solidFill>
                <a:srgbClr val="0E47A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103165" y="5789571"/>
            <a:ext cx="3742680" cy="46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E47A1"/>
                </a:solidFill>
              </a:rPr>
              <a:t>Move made by translator</a:t>
            </a:r>
            <a:endParaRPr lang="en-US" b="1" dirty="0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83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4" grpId="0"/>
      <p:bldP spid="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L-Attributed definitions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0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L-Attributed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syntax directed definition is L-attributed if each inherited attribute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1&lt;=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on the right side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depends only on: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sz="2400" dirty="0"/>
                  <a:t>The attributes of the symbols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i="1" baseline="-25000" dirty="0"/>
                  <a:t>j</a:t>
                </a:r>
                <a:r>
                  <a:rPr lang="en-US" sz="2400" i="1" baseline="-10000" dirty="0"/>
                  <a:t>-</a:t>
                </a:r>
                <a:r>
                  <a:rPr lang="en-US" sz="2400" i="1" baseline="-25000" dirty="0"/>
                  <a:t>1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the left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in the production and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sz="2400" dirty="0"/>
                  <a:t>The inherited attribute of A.</a:t>
                </a:r>
              </a:p>
              <a:p>
                <a:r>
                  <a:rPr lang="en-US" dirty="0" smtClean="0"/>
                  <a:t>Example: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Above syntax directed definition is </a:t>
                </a:r>
                <a:r>
                  <a:rPr lang="en-US" i="1" dirty="0">
                    <a:solidFill>
                      <a:srgbClr val="C00000"/>
                    </a:solidFill>
                  </a:rPr>
                  <a:t>not L-attributed </a:t>
                </a:r>
                <a:r>
                  <a:rPr lang="en-US" dirty="0"/>
                  <a:t>because the inherited attribute </a:t>
                </a:r>
                <a:r>
                  <a:rPr lang="en-US" dirty="0" err="1"/>
                  <a:t>Q.i</a:t>
                </a:r>
                <a:r>
                  <a:rPr lang="en-US" dirty="0"/>
                  <a:t> of the grammar symbol Q depends on the attribute R.s of the grammar symbol to its right.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16" t="-1418" r="-818" b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05296"/>
              </p:ext>
            </p:extLst>
          </p:nvPr>
        </p:nvGraphicFramePr>
        <p:xfrm>
          <a:off x="6047232" y="2367280"/>
          <a:ext cx="3757865" cy="27340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78344"/>
                <a:gridCol w="2279521"/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E47A1"/>
                          </a:solidFill>
                          <a:effectLst/>
                        </a:rPr>
                        <a:t>Production</a:t>
                      </a:r>
                      <a:endParaRPr lang="en-US" sz="2200" dirty="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E47A1"/>
                          </a:solidFill>
                          <a:effectLst/>
                        </a:rPr>
                        <a:t>Semantic Rules</a:t>
                      </a:r>
                      <a:endParaRPr lang="en-US" sz="2200" dirty="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</a:rPr>
                        <a:t>A</a:t>
                      </a:r>
                      <a:r>
                        <a:rPr lang="en-US" sz="220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dirty="0" smtClean="0">
                          <a:effectLst/>
                        </a:rPr>
                        <a:t>LM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L.i</a:t>
                      </a:r>
                      <a:r>
                        <a:rPr lang="en-US" sz="2200" dirty="0">
                          <a:effectLst/>
                        </a:rPr>
                        <a:t>:=l(</a:t>
                      </a:r>
                      <a:r>
                        <a:rPr lang="en-US" sz="2200" dirty="0" err="1">
                          <a:effectLst/>
                        </a:rPr>
                        <a:t>A.i</a:t>
                      </a:r>
                      <a:r>
                        <a:rPr lang="en-US" sz="2200" dirty="0">
                          <a:effectLst/>
                        </a:rPr>
                        <a:t>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M.i</a:t>
                      </a:r>
                      <a:r>
                        <a:rPr lang="en-US" sz="2200" dirty="0">
                          <a:effectLst/>
                        </a:rPr>
                        <a:t>=m(L.s)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A.s=f(M.s)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</a:rPr>
                        <a:t>A</a:t>
                      </a:r>
                      <a:r>
                        <a:rPr lang="en-US" sz="2200" dirty="0" smtClean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dirty="0" smtClean="0">
                          <a:effectLst/>
                        </a:rPr>
                        <a:t>QR</a:t>
                      </a:r>
                      <a:endParaRPr lang="en-US" sz="22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 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R.i</a:t>
                      </a:r>
                      <a:r>
                        <a:rPr lang="en-US" sz="2200" dirty="0">
                          <a:effectLst/>
                        </a:rPr>
                        <a:t>=r(</a:t>
                      </a:r>
                      <a:r>
                        <a:rPr lang="en-US" sz="2200" dirty="0" err="1">
                          <a:effectLst/>
                        </a:rPr>
                        <a:t>A.i</a:t>
                      </a:r>
                      <a:r>
                        <a:rPr lang="en-US" sz="2200" dirty="0">
                          <a:effectLst/>
                        </a:rPr>
                        <a:t>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Q.i</a:t>
                      </a:r>
                      <a:r>
                        <a:rPr lang="en-US" sz="2200" dirty="0">
                          <a:effectLst/>
                        </a:rPr>
                        <a:t>=q(R.s</a:t>
                      </a:r>
                      <a:r>
                        <a:rPr lang="en-US" sz="2200" dirty="0" smtClean="0">
                          <a:effectLst/>
                        </a:rPr>
                        <a:t>)</a:t>
                      </a:r>
                      <a:r>
                        <a:rPr lang="en-US" sz="2400" b="1" baseline="0" dirty="0" smtClean="0">
                          <a:solidFill>
                            <a:srgbClr val="FF0000"/>
                          </a:solidFill>
                          <a:effectLst/>
                          <a:sym typeface="Webdings" panose="05030102010509060703" pitchFamily="18" charset="2"/>
                        </a:rPr>
                        <a:t>  </a:t>
                      </a:r>
                      <a:r>
                        <a:rPr lang="en-US" sz="2200" dirty="0" smtClean="0">
                          <a:effectLst/>
                        </a:rPr>
                        <a:t>A.s=f(Q.s</a:t>
                      </a:r>
                      <a:r>
                        <a:rPr lang="en-US" sz="2200" dirty="0">
                          <a:effectLst/>
                        </a:rPr>
                        <a:t>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cxnSp>
        <p:nvCxnSpPr>
          <p:cNvPr id="5" name="Curved Connector 4"/>
          <p:cNvCxnSpPr/>
          <p:nvPr/>
        </p:nvCxnSpPr>
        <p:spPr>
          <a:xfrm rot="27000000" flipV="1">
            <a:off x="3630220" y="3553883"/>
            <a:ext cx="12700" cy="68580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/>
          <p:cNvCxnSpPr/>
          <p:nvPr/>
        </p:nvCxnSpPr>
        <p:spPr>
          <a:xfrm rot="27000000" flipV="1">
            <a:off x="3720443" y="3479937"/>
            <a:ext cx="12700" cy="86868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/>
          <p:cNvCxnSpPr/>
          <p:nvPr/>
        </p:nvCxnSpPr>
        <p:spPr>
          <a:xfrm rot="27000000" flipV="1">
            <a:off x="3811882" y="3408367"/>
            <a:ext cx="12700" cy="10515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/>
          <p:nvPr/>
        </p:nvCxnSpPr>
        <p:spPr>
          <a:xfrm rot="16200000" flipV="1">
            <a:off x="4193869" y="3251501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/>
          <p:nvPr/>
        </p:nvCxnSpPr>
        <p:spPr>
          <a:xfrm rot="16200000" flipV="1">
            <a:off x="4273757" y="3362402"/>
            <a:ext cx="12700" cy="32004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rot="5400000" flipV="1">
            <a:off x="4166831" y="3685964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96747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>
                <a:solidFill>
                  <a:srgbClr val="0E47A1"/>
                </a:solidFill>
              </a:rPr>
              <a:t>L- Attributed</a:t>
            </a:r>
            <a:r>
              <a:rPr lang="en-US" sz="3200" b="1" dirty="0" smtClean="0">
                <a:solidFill>
                  <a:srgbClr val="0E47A1"/>
                </a:solidFill>
                <a:sym typeface="Webdings" panose="05030102010509060703" pitchFamily="18" charset="2"/>
              </a:rPr>
              <a:t></a:t>
            </a:r>
            <a:r>
              <a:rPr lang="en-US" sz="2600" b="1" dirty="0" smtClean="0">
                <a:solidFill>
                  <a:srgbClr val="0E47A1"/>
                </a:solidFill>
              </a:rPr>
              <a:t> </a:t>
            </a:r>
            <a:endParaRPr lang="en-US" sz="2600" b="1" dirty="0">
              <a:solidFill>
                <a:srgbClr val="0E47A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02792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>
                <a:solidFill>
                  <a:srgbClr val="C00000"/>
                </a:solidFill>
              </a:rPr>
              <a:t>Not L- Attributed</a:t>
            </a:r>
            <a:r>
              <a:rPr lang="en-US" sz="3200" b="1" dirty="0">
                <a:solidFill>
                  <a:srgbClr val="C00000"/>
                </a:solidFill>
                <a:sym typeface="Webdings" panose="05030102010509060703" pitchFamily="18" charset="2"/>
              </a:rPr>
              <a:t>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4864" y="3389376"/>
            <a:ext cx="2057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A</a:t>
            </a:r>
            <a:r>
              <a:rPr lang="en-US" sz="36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 smtClean="0">
                <a:solidFill>
                  <a:schemeClr val="tx1"/>
                </a:solidFill>
                <a:sym typeface="Wingdings" panose="05000000000000000000" pitchFamily="2" charset="2"/>
              </a:rPr>
              <a:t>XYZ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71232" y="4347318"/>
            <a:ext cx="1219200" cy="304800"/>
          </a:xfrm>
          <a:prstGeom prst="rect">
            <a:avLst/>
          </a:prstGeom>
          <a:solidFill>
            <a:srgbClr val="0972C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6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1" grpId="3"/>
      <p:bldP spid="12" grpId="0"/>
      <p:bldP spid="12" grpId="1"/>
      <p:bldP spid="13" grpId="0"/>
      <p:bldP spid="13" grpId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scheme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1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Translation Scheme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165755"/>
          </a:xfrm>
        </p:spPr>
        <p:txBody>
          <a:bodyPr/>
          <a:lstStyle/>
          <a:p>
            <a:r>
              <a:rPr lang="en-US" dirty="0"/>
              <a:t>Translation scheme is a context free grammar in which attributes are associated with the grammar symbols and semantic actions enclosed between braces { } are inserted within the right sides of productions.</a:t>
            </a:r>
          </a:p>
          <a:p>
            <a:r>
              <a:rPr lang="en-US" dirty="0"/>
              <a:t>Attributes are used to evaluate the expression along the process of parsing.</a:t>
            </a:r>
          </a:p>
          <a:p>
            <a:r>
              <a:rPr lang="en-US" dirty="0"/>
              <a:t>During the process of parsing the evaluation of attribute takes place by consulting the semantic action enclosed in { }.</a:t>
            </a:r>
          </a:p>
          <a:p>
            <a:r>
              <a:rPr lang="en-US" dirty="0"/>
              <a:t>A translation scheme generates the output by executing the semantic actions in an ordered manner.</a:t>
            </a:r>
          </a:p>
          <a:p>
            <a:r>
              <a:rPr lang="en-US" dirty="0"/>
              <a:t>This process uses the depth first traversal.</a:t>
            </a:r>
          </a:p>
        </p:txBody>
      </p:sp>
    </p:spTree>
    <p:extLst>
      <p:ext uri="{BB962C8B-B14F-4D97-AF65-F5344CB8AC3E}">
        <p14:creationId xmlns:p14="http://schemas.microsoft.com/office/powerpoint/2010/main" val="314883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Translation </a:t>
            </a:r>
            <a:r>
              <a:rPr lang="en-US" dirty="0" smtClean="0"/>
              <a:t>scheme (</a:t>
            </a:r>
            <a:r>
              <a:rPr lang="en-US" dirty="0">
                <a:solidFill>
                  <a:schemeClr val="tx1"/>
                </a:solidFill>
              </a:rPr>
              <a:t>Infix to postfix notation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79213" y="860878"/>
                <a:ext cx="5850140" cy="136548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E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chemeClr val="tx1"/>
                    </a:solidFill>
                  </a:rPr>
                  <a:t>TR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R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b="1" i="1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addop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𝑎𝑑𝑑𝑜𝑝</m:t>
                            </m:r>
                            <m:r>
                              <a:rPr lang="en-US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.</m:t>
                            </m:r>
                            <m:r>
                              <a:rPr lang="en-US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𝑙𝑒𝑥𝑒𝑚𝑒</m:t>
                            </m:r>
                          </m:e>
                        </m:d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R1 |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T </a:t>
                </a:r>
                <a:r>
                  <a:rPr lang="en-US" b="1" i="1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num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𝑛𝑢𝑚</m:t>
                            </m:r>
                            <m:r>
                              <a:rPr lang="en-US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.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𝑣𝑎𝑙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9213" y="860878"/>
                <a:ext cx="5850140" cy="1365485"/>
              </a:xfrm>
              <a:blipFill rotWithShape="0">
                <a:blip r:embed="rId2"/>
                <a:stretch>
                  <a:fillRect l="-1668" t="-6250" b="-8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-96478" y="883123"/>
            <a:ext cx="2313317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String: 9-5+2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78478" y="153762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" name="AutoShape 10"/>
          <p:cNvCxnSpPr>
            <a:cxnSpLocks noChangeShapeType="1"/>
          </p:cNvCxnSpPr>
          <p:nvPr/>
        </p:nvCxnSpPr>
        <p:spPr bwMode="auto">
          <a:xfrm>
            <a:off x="3066388" y="194175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1"/>
          <p:cNvCxnSpPr>
            <a:cxnSpLocks noChangeShapeType="1"/>
          </p:cNvCxnSpPr>
          <p:nvPr/>
        </p:nvCxnSpPr>
        <p:spPr bwMode="auto">
          <a:xfrm flipH="1">
            <a:off x="1819075" y="194393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1324940" y="2429602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3648028" y="235297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0" name="AutoShape 10"/>
          <p:cNvCxnSpPr>
            <a:cxnSpLocks noChangeShapeType="1"/>
            <a:endCxn id="13" idx="0"/>
          </p:cNvCxnSpPr>
          <p:nvPr/>
        </p:nvCxnSpPr>
        <p:spPr bwMode="auto">
          <a:xfrm>
            <a:off x="4319796" y="2702462"/>
            <a:ext cx="2054188" cy="601843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/>
          <p:cNvCxnSpPr>
            <a:cxnSpLocks noChangeShapeType="1"/>
            <a:endCxn id="12" idx="0"/>
          </p:cNvCxnSpPr>
          <p:nvPr/>
        </p:nvCxnSpPr>
        <p:spPr bwMode="auto">
          <a:xfrm flipH="1">
            <a:off x="3016498" y="2704645"/>
            <a:ext cx="1303761" cy="48566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2578348" y="319031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+mj-lt"/>
              </a:rPr>
              <a:t>-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5775161" y="330430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4" name="AutoShape 10"/>
          <p:cNvCxnSpPr>
            <a:cxnSpLocks noChangeShapeType="1"/>
          </p:cNvCxnSpPr>
          <p:nvPr/>
        </p:nvCxnSpPr>
        <p:spPr bwMode="auto">
          <a:xfrm>
            <a:off x="7678478" y="4434633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/>
          <p:cNvSpPr>
            <a:spLocks noChangeArrowheads="1"/>
          </p:cNvSpPr>
          <p:nvPr/>
        </p:nvSpPr>
        <p:spPr bwMode="auto">
          <a:xfrm>
            <a:off x="7079655" y="515088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mbria Math" panose="02040503050406030204" pitchFamily="18" charset="0"/>
              </a:rPr>
              <a:t>𝜖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1236504" y="2781604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777500" y="2781604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58608" y="3327999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496406" y="3339162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{Print(9)}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0" name="AutoShape 11"/>
          <p:cNvCxnSpPr>
            <a:cxnSpLocks noChangeShapeType="1"/>
          </p:cNvCxnSpPr>
          <p:nvPr/>
        </p:nvCxnSpPr>
        <p:spPr bwMode="auto">
          <a:xfrm flipH="1">
            <a:off x="3533688" y="2699406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3097590" y="330898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2" name="AutoShape 10"/>
          <p:cNvCxnSpPr>
            <a:cxnSpLocks noChangeShapeType="1"/>
          </p:cNvCxnSpPr>
          <p:nvPr/>
        </p:nvCxnSpPr>
        <p:spPr bwMode="auto">
          <a:xfrm>
            <a:off x="4320258" y="2702461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4121835" y="3330311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{Print(-)}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3025175" y="3644025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566171" y="3644025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2547279" y="419042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3285077" y="4201583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{Print(5)}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8" name="AutoShape 10"/>
          <p:cNvCxnSpPr>
            <a:cxnSpLocks noChangeShapeType="1"/>
          </p:cNvCxnSpPr>
          <p:nvPr/>
        </p:nvCxnSpPr>
        <p:spPr bwMode="auto">
          <a:xfrm>
            <a:off x="6473433" y="369217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1"/>
          <p:cNvCxnSpPr>
            <a:cxnSpLocks noChangeShapeType="1"/>
          </p:cNvCxnSpPr>
          <p:nvPr/>
        </p:nvCxnSpPr>
        <p:spPr bwMode="auto">
          <a:xfrm flipH="1">
            <a:off x="5226120" y="369435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4731985" y="418001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 smtClean="0">
                <a:latin typeface="+mj-lt"/>
              </a:rPr>
              <a:t>+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7055073" y="410339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32" name="AutoShape 11"/>
          <p:cNvCxnSpPr>
            <a:cxnSpLocks noChangeShapeType="1"/>
          </p:cNvCxnSpPr>
          <p:nvPr/>
        </p:nvCxnSpPr>
        <p:spPr bwMode="auto">
          <a:xfrm flipH="1">
            <a:off x="5687325" y="3689114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5251227" y="429868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4" name="AutoShape 10"/>
          <p:cNvCxnSpPr>
            <a:cxnSpLocks noChangeShapeType="1"/>
          </p:cNvCxnSpPr>
          <p:nvPr/>
        </p:nvCxnSpPr>
        <p:spPr bwMode="auto">
          <a:xfrm>
            <a:off x="6473895" y="3692169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6275472" y="4320019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{Print(+)}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5178812" y="4633733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719808" y="4633733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4700916" y="518012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5438714" y="5150545"/>
            <a:ext cx="1062965" cy="421527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{Print(2)}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670775" y="5773952"/>
            <a:ext cx="2155768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C00000"/>
                </a:solidFill>
              </a:rPr>
              <a:t>Postfix=95-2+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96406" y="5597422"/>
            <a:ext cx="3987068" cy="893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E47A1"/>
                </a:solidFill>
              </a:rPr>
              <a:t>Now, Perform Depth first traversal</a:t>
            </a:r>
            <a:endParaRPr lang="en-US" sz="2000" b="1" dirty="0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2" grpId="0" animBg="1"/>
      <p:bldP spid="13" grpId="0" animBg="1"/>
      <p:bldP spid="15" grpId="0" animBg="1"/>
      <p:bldP spid="18" grpId="0" animBg="1"/>
      <p:bldP spid="19" grpId="0" animBg="1"/>
      <p:bldP spid="21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3" grpId="0" animBg="1"/>
      <p:bldP spid="35" grpId="0" animBg="1"/>
      <p:bldP spid="38" grpId="0" animBg="1"/>
      <p:bldP spid="39" grpId="0" animBg="1"/>
      <p:bldP spid="40" grpId="0"/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E47A1"/>
                </a:solidFill>
              </a:rPr>
              <a:t>Books: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E47A1"/>
                </a:solidFill>
              </a:rPr>
              <a:t>Compilers Principles, Techniques and Tools,</a:t>
            </a:r>
            <a:r>
              <a:rPr lang="en-US" sz="3000" b="1" dirty="0" smtClean="0">
                <a:solidFill>
                  <a:srgbClr val="0E47A1"/>
                </a:solidFill>
              </a:rPr>
              <a:t> </a:t>
            </a:r>
            <a:r>
              <a:rPr lang="en-US" b="1" dirty="0">
                <a:solidFill>
                  <a:srgbClr val="0E47A1"/>
                </a:solidFill>
              </a:rPr>
              <a:t>PEARSON Education </a:t>
            </a:r>
            <a:r>
              <a:rPr lang="en-US" b="1" dirty="0" smtClean="0">
                <a:solidFill>
                  <a:srgbClr val="0E47A1"/>
                </a:solidFill>
              </a:rPr>
              <a:t>(Second Edition)</a:t>
            </a:r>
          </a:p>
          <a:p>
            <a:pPr marL="0" indent="0">
              <a:buNone/>
            </a:pPr>
            <a:r>
              <a:rPr lang="en-US" dirty="0" smtClean="0"/>
              <a:t>	Authors: Alfred V. </a:t>
            </a:r>
            <a:r>
              <a:rPr lang="en-US" dirty="0" err="1" smtClean="0"/>
              <a:t>Aho</a:t>
            </a:r>
            <a:r>
              <a:rPr lang="en-US" dirty="0" smtClean="0"/>
              <a:t>, Monica S. Lam, Ravi </a:t>
            </a:r>
            <a:r>
              <a:rPr lang="en-US" dirty="0" err="1" smtClean="0"/>
              <a:t>Sethi</a:t>
            </a:r>
            <a:r>
              <a:rPr lang="en-US" dirty="0" smtClean="0"/>
              <a:t>, Jeffrey D. Ullman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800" b="1" dirty="0">
                <a:solidFill>
                  <a:srgbClr val="0E47A1"/>
                </a:solidFill>
              </a:rPr>
              <a:t>Compiler Design, PEARSON </a:t>
            </a:r>
            <a:r>
              <a:rPr lang="en-US" b="1" dirty="0">
                <a:solidFill>
                  <a:srgbClr val="0E47A1"/>
                </a:solidFill>
              </a:rPr>
              <a:t>(for Gujarat Technological University)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Authors</a:t>
            </a:r>
            <a:r>
              <a:rPr lang="en-US" dirty="0"/>
              <a:t>: Alfred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smtClean="0"/>
              <a:t>Ravi </a:t>
            </a:r>
            <a:r>
              <a:rPr lang="en-US" dirty="0" err="1"/>
              <a:t>Sethi</a:t>
            </a:r>
            <a:r>
              <a:rPr lang="en-US" dirty="0"/>
              <a:t>, Jeffrey D. Ullman</a:t>
            </a:r>
          </a:p>
        </p:txBody>
      </p:sp>
    </p:spTree>
    <p:extLst>
      <p:ext uri="{BB962C8B-B14F-4D97-AF65-F5344CB8AC3E}">
        <p14:creationId xmlns:p14="http://schemas.microsoft.com/office/powerpoint/2010/main" val="352401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77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deo Lecture 16x9 Light Template (2)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 (2)</Template>
  <TotalTime>3534</TotalTime>
  <Words>1526</Words>
  <Application>Microsoft Office PowerPoint</Application>
  <PresentationFormat>Widescreen</PresentationFormat>
  <Paragraphs>407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Roboto Condensed</vt:lpstr>
      <vt:lpstr>Wingdings 2</vt:lpstr>
      <vt:lpstr>Calibri</vt:lpstr>
      <vt:lpstr>Webdings</vt:lpstr>
      <vt:lpstr>Times New Roman</vt:lpstr>
      <vt:lpstr>Wingdings</vt:lpstr>
      <vt:lpstr>Wingdings 3</vt:lpstr>
      <vt:lpstr>Arial</vt:lpstr>
      <vt:lpstr>Cambria Math</vt:lpstr>
      <vt:lpstr>Segoe UI Black</vt:lpstr>
      <vt:lpstr>Roboto Condensed Light</vt:lpstr>
      <vt:lpstr>VIdeo Lecture 16x9 Light Template (2)</vt:lpstr>
      <vt:lpstr>Unit – 3 Syntax Analysis (II)</vt:lpstr>
      <vt:lpstr>PowerPoint Presentation</vt:lpstr>
      <vt:lpstr>Syntax directed definitions</vt:lpstr>
      <vt:lpstr>Syntax directed definitions</vt:lpstr>
      <vt:lpstr>Synthesized attributes </vt:lpstr>
      <vt:lpstr>Example: Synthesized attributes </vt:lpstr>
      <vt:lpstr>Exercise</vt:lpstr>
      <vt:lpstr>Syntax directed definition to translates arithmetic expressions from infix to prefix notation</vt:lpstr>
      <vt:lpstr>Inherited attribute</vt:lpstr>
      <vt:lpstr>Example: Inherited attribute</vt:lpstr>
      <vt:lpstr>Dependency graph</vt:lpstr>
      <vt:lpstr>Dependency graph</vt:lpstr>
      <vt:lpstr>Algorithm : Dependency graph</vt:lpstr>
      <vt:lpstr>Example: Dependency graph</vt:lpstr>
      <vt:lpstr>Evaluation order</vt:lpstr>
      <vt:lpstr>Construction of syntax tree</vt:lpstr>
      <vt:lpstr>Construction of syntax tree</vt:lpstr>
      <vt:lpstr>Construction of syntax tree for expressions</vt:lpstr>
      <vt:lpstr>Bottom up evaluation of  S-attributed definitions</vt:lpstr>
      <vt:lpstr>Bottom up evaluation of S-attributed definitions</vt:lpstr>
      <vt:lpstr>Bottom up evaluation of S-attributed definitions</vt:lpstr>
      <vt:lpstr>L-Attributed definitions</vt:lpstr>
      <vt:lpstr>L-Attributed definitions</vt:lpstr>
      <vt:lpstr>Translation scheme</vt:lpstr>
      <vt:lpstr>Translation Scheme</vt:lpstr>
      <vt:lpstr>Example: Translation scheme (Infix to postfix notation)</vt:lpstr>
      <vt:lpstr>References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umesh patel</cp:lastModifiedBy>
  <cp:revision>313</cp:revision>
  <dcterms:created xsi:type="dcterms:W3CDTF">2020-05-01T05:09:15Z</dcterms:created>
  <dcterms:modified xsi:type="dcterms:W3CDTF">2021-09-14T12:14:34Z</dcterms:modified>
</cp:coreProperties>
</file>