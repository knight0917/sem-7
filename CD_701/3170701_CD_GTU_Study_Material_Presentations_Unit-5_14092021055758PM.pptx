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1"/>
  </p:sldMasterIdLst>
  <p:notesMasterIdLst>
    <p:notesMasterId r:id="rId17"/>
  </p:notesMasterIdLst>
  <p:sldIdLst>
    <p:sldId id="372" r:id="rId2"/>
    <p:sldId id="376" r:id="rId3"/>
    <p:sldId id="319" r:id="rId4"/>
    <p:sldId id="387" r:id="rId5"/>
    <p:sldId id="388" r:id="rId6"/>
    <p:sldId id="389" r:id="rId7"/>
    <p:sldId id="390" r:id="rId8"/>
    <p:sldId id="381" r:id="rId9"/>
    <p:sldId id="391" r:id="rId10"/>
    <p:sldId id="392" r:id="rId11"/>
    <p:sldId id="393" r:id="rId12"/>
    <p:sldId id="394" r:id="rId13"/>
    <p:sldId id="395" r:id="rId14"/>
    <p:sldId id="396" r:id="rId15"/>
    <p:sldId id="377" r:id="rId16"/>
  </p:sldIdLst>
  <p:sldSz cx="12192000" cy="6858000"/>
  <p:notesSz cx="6858000" cy="9144000"/>
  <p:embeddedFontLst>
    <p:embeddedFont>
      <p:font typeface="Roboto Condensed" panose="02000000000000000000" pitchFamily="2" charset="0"/>
      <p:regular r:id="rId18"/>
      <p:bold r:id="rId19"/>
      <p:italic r:id="rId20"/>
      <p:boldItalic r:id="rId21"/>
    </p:embeddedFont>
    <p:embeddedFont>
      <p:font typeface="Wingdings 2" panose="05020102010507070707" pitchFamily="18" charset="2"/>
      <p:regular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Wingdings 3" panose="05040102010807070707" pitchFamily="18" charset="2"/>
      <p:regular r:id="rId27"/>
    </p:embeddedFont>
    <p:embeddedFont>
      <p:font typeface="Segoe UI Black" panose="020B0A02040204020203" pitchFamily="34" charset="0"/>
      <p:bold r:id="rId28"/>
      <p:boldItalic r:id="rId29"/>
    </p:embeddedFont>
    <p:embeddedFont>
      <p:font typeface="Roboto Condensed Light" panose="02000000000000000000" pitchFamily="2" charset="0"/>
      <p:regular r:id="rId30"/>
      <p:italic r:id="rId31"/>
    </p:embeddedFont>
    <p:embeddedFont>
      <p:font typeface="Palatino Linotype" panose="02040502050505030304" pitchFamily="18" charset="0"/>
      <p:regular r:id="rId32"/>
      <p:bold r:id="rId33"/>
      <p:italic r:id="rId34"/>
      <p:boldItalic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3/C5pIflzQRyIPt95GF45w==" hashData="EYKnZp4w3k+3nTDppNJC2q+6pOTrOo5fMG/aL/oGXFxGZQTiQSgQyeIaFxQViJzjX0+5CPW8ap4tZdkL646nWg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7A1"/>
    <a:srgbClr val="03A9F5"/>
    <a:srgbClr val="0972C6"/>
    <a:srgbClr val="607D8B"/>
    <a:srgbClr val="301B92"/>
    <a:srgbClr val="673BB7"/>
    <a:srgbClr val="ED524F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62" autoAdjust="0"/>
    <p:restoredTop sz="94660"/>
  </p:normalViewPr>
  <p:slideViewPr>
    <p:cSldViewPr snapToGrid="0">
      <p:cViewPr varScale="1">
        <p:scale>
          <a:sx n="71" d="100"/>
          <a:sy n="71" d="100"/>
        </p:scale>
        <p:origin x="7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tableStyles" Target="tableStyle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1.wdp"/></Relationships>
</file>

<file path=ppt/slideLayouts/_rels/slideLayout1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72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09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85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="" xmlns:a16="http://schemas.microsoft.com/office/drawing/2014/main" id="{910DC0DC-3FC7-402D-8C9F-62D3ACC8DC86}"/>
              </a:ext>
            </a:extLst>
          </p:cNvPr>
          <p:cNvSpPr>
            <a:spLocks/>
          </p:cNvSpPr>
          <p:nvPr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2802A992-B18A-47D4-8497-02E7586DF58D}"/>
              </a:ext>
            </a:extLst>
          </p:cNvPr>
          <p:cNvGrpSpPr/>
          <p:nvPr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6" name="Freeform 17">
            <a:extLst>
              <a:ext uri="{FF2B5EF4-FFF2-40B4-BE49-F238E27FC236}">
                <a16:creationId xmlns=""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8DD61FEC-075B-4EDD-97CA-36E6F72630F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223" y="6087939"/>
            <a:ext cx="2554142" cy="58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9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461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57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8580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6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611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84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2448" y="-52871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 smtClean="0"/>
              <a:t>dixita.kagathara@darshan.ac.in</a:t>
            </a:r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r>
              <a:rPr lang="en-US" dirty="0" smtClean="0"/>
              <a:t>+91 - 97277 47317 (CE Department)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 </a:t>
            </a:r>
            <a:r>
              <a:rPr lang="en-US" dirty="0" err="1" smtClean="0"/>
              <a:t>Kagathara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Compiler Design (CD)</a:t>
            </a:r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1" name="Hexagon 3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E47A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</p:spTree>
    <p:extLst>
      <p:ext uri="{BB962C8B-B14F-4D97-AF65-F5344CB8AC3E}">
        <p14:creationId xmlns:p14="http://schemas.microsoft.com/office/powerpoint/2010/main" val="277898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5 – Intermediate Code Generation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13" r:id="rId9"/>
    <p:sldLayoutId id="2147483716" r:id="rId10"/>
    <p:sldLayoutId id="2147483718" r:id="rId11"/>
    <p:sldLayoutId id="2147483670" r:id="rId12"/>
    <p:sldLayoutId id="2147483687" r:id="rId13"/>
    <p:sldLayoutId id="2147483688" r:id="rId14"/>
    <p:sldLayoutId id="2147483672" r:id="rId15"/>
    <p:sldLayoutId id="2147483689" r:id="rId16"/>
    <p:sldLayoutId id="2147483690" r:id="rId17"/>
    <p:sldLayoutId id="2147483673" r:id="rId1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559489" y="1122364"/>
            <a:ext cx="7618595" cy="2578780"/>
          </a:xfrm>
        </p:spPr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</a:t>
            </a:r>
            <a:r>
              <a:rPr lang="en-US" dirty="0" smtClean="0"/>
              <a:t> </a:t>
            </a: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5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800" b="0" dirty="0" smtClean="0"/>
              <a:t>Intermediate </a:t>
            </a:r>
            <a:r>
              <a:rPr lang="en-US" sz="4800" b="0" dirty="0"/>
              <a:t>C</a:t>
            </a:r>
            <a:r>
              <a:rPr lang="en-US" sz="4800" b="0" dirty="0" smtClean="0"/>
              <a:t>ode Generation</a:t>
            </a:r>
            <a:endParaRPr lang="en-US" sz="4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ixita.kagathara@darshan.ac.in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+91 - 97277 </a:t>
            </a:r>
            <a:r>
              <a:rPr lang="en-US" dirty="0" smtClean="0"/>
              <a:t>47317 (CE Department)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=""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</a:t>
            </a:r>
            <a:r>
              <a:rPr lang="en-US" dirty="0" smtClean="0"/>
              <a:t>Department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B. </a:t>
            </a:r>
            <a:r>
              <a:rPr lang="en-US" dirty="0" err="1" smtClean="0"/>
              <a:t>Kagathara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FF5B8673-7BA1-4EA7-991A-5F4DCD3054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Compiler Design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(CD)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GTU # 3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170701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43203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=""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=""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=""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49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79767" y="195312"/>
            <a:ext cx="7668994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Topics to be covered </a:t>
            </a:r>
            <a:endParaRPr lang="en-US" sz="36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Different intermediate forms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Different representation of Three Address code 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390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 intermediate forms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0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Different intermediate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/>
            <a:r>
              <a:rPr lang="en-US" b="1" dirty="0" smtClean="0"/>
              <a:t>Different forms of intermediate code are:</a:t>
            </a:r>
            <a:endParaRPr lang="en-US" b="1" dirty="0"/>
          </a:p>
          <a:p>
            <a:pPr marL="914400" indent="-457200" algn="just">
              <a:buFont typeface="+mj-lt"/>
              <a:buAutoNum type="arabicPeriod"/>
            </a:pPr>
            <a:endParaRPr lang="en-US" dirty="0" smtClean="0">
              <a:solidFill>
                <a:srgbClr val="0E47A1"/>
              </a:solidFill>
            </a:endParaRP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E47A1"/>
                </a:solidFill>
              </a:rPr>
              <a:t>Abstract syntax tree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E47A1"/>
                </a:solidFill>
              </a:rPr>
              <a:t>Postfix notation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400" dirty="0">
                <a:solidFill>
                  <a:srgbClr val="0E47A1"/>
                </a:solidFill>
              </a:rPr>
              <a:t>Three address code</a:t>
            </a:r>
          </a:p>
          <a:p>
            <a:pPr marL="0" indent="0" algn="just">
              <a:buNone/>
            </a:pP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210300" y="175260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288140" y="1531691"/>
            <a:ext cx="11545839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570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syntax tree &amp;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syntax tree depicts the natural hierarchical structure of a source program. </a:t>
            </a:r>
          </a:p>
          <a:p>
            <a:pPr lvl="0"/>
            <a:r>
              <a:rPr lang="en-US" dirty="0"/>
              <a:t>A DAG (Directed Acyclic Graph) gives the same information but in a more </a:t>
            </a:r>
            <a:r>
              <a:rPr lang="en-US" dirty="0">
                <a:solidFill>
                  <a:srgbClr val="C00000"/>
                </a:solidFill>
              </a:rPr>
              <a:t>compact </a:t>
            </a:r>
            <a:r>
              <a:rPr lang="en-US" dirty="0"/>
              <a:t>way because </a:t>
            </a:r>
            <a:r>
              <a:rPr lang="en-US" dirty="0">
                <a:solidFill>
                  <a:srgbClr val="C00000"/>
                </a:solidFill>
              </a:rPr>
              <a:t>common sub-expressions </a:t>
            </a:r>
            <a:r>
              <a:rPr lang="en-US" dirty="0"/>
              <a:t>are identified.</a:t>
            </a:r>
          </a:p>
          <a:p>
            <a:pPr lvl="0"/>
            <a:r>
              <a:rPr lang="en-US" dirty="0"/>
              <a:t>Ex: </a:t>
            </a:r>
            <a:r>
              <a:rPr lang="en-US" dirty="0" smtClean="0"/>
              <a:t>a = b * -</a:t>
            </a:r>
            <a:r>
              <a:rPr lang="en-US" dirty="0" err="1"/>
              <a:t>c+b</a:t>
            </a:r>
            <a:r>
              <a:rPr lang="en-US" dirty="0"/>
              <a:t>*-c </a:t>
            </a:r>
          </a:p>
          <a:p>
            <a:endParaRPr lang="en-US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887937" y="3337550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AutoShape 10"/>
          <p:cNvCxnSpPr>
            <a:cxnSpLocks noChangeShapeType="1"/>
          </p:cNvCxnSpPr>
          <p:nvPr/>
        </p:nvCxnSpPr>
        <p:spPr bwMode="auto">
          <a:xfrm>
            <a:off x="2461737" y="3627241"/>
            <a:ext cx="684870" cy="541431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1"/>
          <p:cNvCxnSpPr>
            <a:cxnSpLocks noChangeShapeType="1"/>
          </p:cNvCxnSpPr>
          <p:nvPr/>
        </p:nvCxnSpPr>
        <p:spPr bwMode="auto">
          <a:xfrm flipH="1">
            <a:off x="1664935" y="3636296"/>
            <a:ext cx="672871" cy="520484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1112662" y="4232980"/>
            <a:ext cx="876300" cy="31647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*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AutoShape 10"/>
          <p:cNvCxnSpPr>
            <a:cxnSpLocks noChangeShapeType="1"/>
          </p:cNvCxnSpPr>
          <p:nvPr/>
        </p:nvCxnSpPr>
        <p:spPr bwMode="auto">
          <a:xfrm>
            <a:off x="2109029" y="5410200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32"/>
          <p:cNvSpPr>
            <a:spLocks noChangeArrowheads="1"/>
          </p:cNvSpPr>
          <p:nvPr/>
        </p:nvSpPr>
        <p:spPr bwMode="auto">
          <a:xfrm>
            <a:off x="1510206" y="5967412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latin typeface="+mj-lt"/>
              </a:rPr>
              <a:t>c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022590" y="4511020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620415" y="4511020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4"/>
          <p:cNvSpPr>
            <a:spLocks noChangeArrowheads="1"/>
          </p:cNvSpPr>
          <p:nvPr/>
        </p:nvSpPr>
        <p:spPr bwMode="auto">
          <a:xfrm>
            <a:off x="566595" y="5088929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1568150" y="5028636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/>
              <a:t>u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effectLst/>
              </a:rPr>
              <a:t>minus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14"/>
          <p:cNvSpPr>
            <a:spLocks noChangeArrowheads="1"/>
          </p:cNvSpPr>
          <p:nvPr/>
        </p:nvSpPr>
        <p:spPr bwMode="auto">
          <a:xfrm>
            <a:off x="2810581" y="4235792"/>
            <a:ext cx="876300" cy="304606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cxnSp>
        <p:nvCxnSpPr>
          <p:cNvPr id="15" name="AutoShape 10"/>
          <p:cNvCxnSpPr>
            <a:cxnSpLocks noChangeShapeType="1"/>
          </p:cNvCxnSpPr>
          <p:nvPr/>
        </p:nvCxnSpPr>
        <p:spPr bwMode="auto">
          <a:xfrm>
            <a:off x="3806948" y="5401145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32"/>
          <p:cNvSpPr>
            <a:spLocks noChangeArrowheads="1"/>
          </p:cNvSpPr>
          <p:nvPr/>
        </p:nvSpPr>
        <p:spPr bwMode="auto">
          <a:xfrm>
            <a:off x="3208125" y="5958357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2720509" y="4501965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318334" y="4501965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2264514" y="5079874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3266069" y="5019581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/>
              <a:t>uminus</a:t>
            </a:r>
            <a:r>
              <a:rPr lang="en-US" altLang="en-US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cxnSp>
        <p:nvCxnSpPr>
          <p:cNvPr id="21" name="AutoShape 11"/>
          <p:cNvCxnSpPr>
            <a:cxnSpLocks noChangeShapeType="1"/>
          </p:cNvCxnSpPr>
          <p:nvPr/>
        </p:nvCxnSpPr>
        <p:spPr bwMode="auto">
          <a:xfrm flipH="1">
            <a:off x="2508736" y="3167795"/>
            <a:ext cx="446594" cy="33740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0"/>
          <p:cNvCxnSpPr>
            <a:cxnSpLocks noChangeShapeType="1"/>
          </p:cNvCxnSpPr>
          <p:nvPr/>
        </p:nvCxnSpPr>
        <p:spPr bwMode="auto">
          <a:xfrm>
            <a:off x="3149164" y="3167795"/>
            <a:ext cx="453187" cy="42644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22"/>
          <p:cNvSpPr>
            <a:spLocks noChangeArrowheads="1"/>
          </p:cNvSpPr>
          <p:nvPr/>
        </p:nvSpPr>
        <p:spPr bwMode="auto">
          <a:xfrm>
            <a:off x="2550009" y="2845228"/>
            <a:ext cx="1038225" cy="26983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/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Rectangle 23"/>
          <p:cNvSpPr>
            <a:spLocks noChangeArrowheads="1"/>
          </p:cNvSpPr>
          <p:nvPr/>
        </p:nvSpPr>
        <p:spPr bwMode="auto">
          <a:xfrm>
            <a:off x="3119073" y="3546576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+mj-lt"/>
              </a:rPr>
              <a:t>a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25" name="Rectangle 14"/>
          <p:cNvSpPr>
            <a:spLocks noChangeArrowheads="1"/>
          </p:cNvSpPr>
          <p:nvPr/>
        </p:nvSpPr>
        <p:spPr bwMode="auto">
          <a:xfrm>
            <a:off x="6452041" y="4180596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cxnSp>
        <p:nvCxnSpPr>
          <p:cNvPr id="26" name="AutoShape 10"/>
          <p:cNvCxnSpPr>
            <a:cxnSpLocks noChangeShapeType="1"/>
          </p:cNvCxnSpPr>
          <p:nvPr/>
        </p:nvCxnSpPr>
        <p:spPr bwMode="auto">
          <a:xfrm>
            <a:off x="7448408" y="5422124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2"/>
          <p:cNvSpPr>
            <a:spLocks noChangeArrowheads="1"/>
          </p:cNvSpPr>
          <p:nvPr/>
        </p:nvSpPr>
        <p:spPr bwMode="auto">
          <a:xfrm>
            <a:off x="6849585" y="5979336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c</a:t>
            </a:r>
          </a:p>
        </p:txBody>
      </p:sp>
      <p:cxnSp>
        <p:nvCxnSpPr>
          <p:cNvPr id="28" name="Straight Connector 27"/>
          <p:cNvCxnSpPr/>
          <p:nvPr/>
        </p:nvCxnSpPr>
        <p:spPr>
          <a:xfrm flipH="1">
            <a:off x="6361969" y="4522944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6959794" y="4522944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4"/>
          <p:cNvSpPr>
            <a:spLocks noChangeArrowheads="1"/>
          </p:cNvSpPr>
          <p:nvPr/>
        </p:nvSpPr>
        <p:spPr bwMode="auto">
          <a:xfrm>
            <a:off x="5905974" y="5100853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6907529" y="5040560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err="1"/>
              <a:t>uminus</a:t>
            </a:r>
            <a:r>
              <a:rPr lang="en-US" altLang="en-US" dirty="0"/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</p:txBody>
      </p: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6379705" y="346475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+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33" name="AutoShape 11"/>
          <p:cNvCxnSpPr>
            <a:cxnSpLocks noChangeShapeType="1"/>
          </p:cNvCxnSpPr>
          <p:nvPr/>
        </p:nvCxnSpPr>
        <p:spPr bwMode="auto">
          <a:xfrm flipH="1">
            <a:off x="6918199" y="3192649"/>
            <a:ext cx="446594" cy="33740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10"/>
          <p:cNvCxnSpPr>
            <a:cxnSpLocks noChangeShapeType="1"/>
          </p:cNvCxnSpPr>
          <p:nvPr/>
        </p:nvCxnSpPr>
        <p:spPr bwMode="auto">
          <a:xfrm>
            <a:off x="7558627" y="3192649"/>
            <a:ext cx="453187" cy="42644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34"/>
          <p:cNvSpPr>
            <a:spLocks noChangeArrowheads="1"/>
          </p:cNvSpPr>
          <p:nvPr/>
        </p:nvSpPr>
        <p:spPr bwMode="auto">
          <a:xfrm>
            <a:off x="6959472" y="2870082"/>
            <a:ext cx="1038225" cy="26983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/>
              <a:t>=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Rectangle 35"/>
          <p:cNvSpPr>
            <a:spLocks noChangeArrowheads="1"/>
          </p:cNvSpPr>
          <p:nvPr/>
        </p:nvSpPr>
        <p:spPr bwMode="auto">
          <a:xfrm>
            <a:off x="7459671" y="3594242"/>
            <a:ext cx="1197646" cy="36375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 smtClean="0">
                <a:latin typeface="+mj-lt"/>
              </a:rPr>
              <a:t>a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cxnSp>
        <p:nvCxnSpPr>
          <p:cNvPr id="37" name="Curved Connector 36"/>
          <p:cNvCxnSpPr/>
          <p:nvPr/>
        </p:nvCxnSpPr>
        <p:spPr>
          <a:xfrm rot="32400000" flipV="1">
            <a:off x="6763012" y="3623339"/>
            <a:ext cx="12700" cy="8229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rot="43200000" flipV="1">
            <a:off x="6996799" y="3647157"/>
            <a:ext cx="12700" cy="8229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/>
          <p:cNvSpPr/>
          <p:nvPr/>
        </p:nvSpPr>
        <p:spPr>
          <a:xfrm>
            <a:off x="862236" y="4215765"/>
            <a:ext cx="1637187" cy="21945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598850" y="4209214"/>
            <a:ext cx="1637187" cy="21945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>
            <a:off x="4405771" y="5209971"/>
            <a:ext cx="1500203" cy="139388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779932" y="6028969"/>
            <a:ext cx="2176997" cy="417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E47A1"/>
                </a:solidFill>
              </a:rPr>
              <a:t>Syntax Tree</a:t>
            </a:r>
            <a:endParaRPr lang="en-US" b="1" dirty="0">
              <a:solidFill>
                <a:srgbClr val="0E47A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7209323" y="6028969"/>
            <a:ext cx="2176997" cy="417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0E47A1"/>
                </a:solidFill>
              </a:rPr>
              <a:t>DAG</a:t>
            </a:r>
            <a:endParaRPr lang="en-US" b="1" dirty="0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79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2" grpId="0" animBg="1"/>
      <p:bldP spid="13" grpId="0" animBg="1"/>
      <p:bldP spid="14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2" grpId="0"/>
      <p:bldP spid="4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Postfix Notation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Postfix notation is a linearization of a syntax tree.</a:t>
            </a:r>
          </a:p>
          <a:p>
            <a:pPr lvl="0"/>
            <a:r>
              <a:rPr lang="en-US" dirty="0"/>
              <a:t>In postfix notation the operands occurs first and then operators are arranged.</a:t>
            </a:r>
          </a:p>
          <a:p>
            <a:r>
              <a:rPr lang="en-US" dirty="0"/>
              <a:t>Ex: </a:t>
            </a:r>
            <a:r>
              <a:rPr lang="en-US" b="1" dirty="0">
                <a:solidFill>
                  <a:srgbClr val="0E47A1"/>
                </a:solidFill>
              </a:rPr>
              <a:t>(A + B) * (C + D</a:t>
            </a:r>
            <a:r>
              <a:rPr lang="en-US" b="1" dirty="0" smtClean="0">
                <a:solidFill>
                  <a:srgbClr val="0E47A1"/>
                </a:solidFill>
              </a:rPr>
              <a:t>)</a:t>
            </a:r>
          </a:p>
          <a:p>
            <a:endParaRPr lang="en-US" b="1" dirty="0">
              <a:solidFill>
                <a:srgbClr val="0E47A1"/>
              </a:solidFill>
            </a:endParaRPr>
          </a:p>
          <a:p>
            <a:endParaRPr lang="en-US" b="1" dirty="0" smtClean="0">
              <a:solidFill>
                <a:srgbClr val="0E47A1"/>
              </a:solidFill>
            </a:endParaRPr>
          </a:p>
          <a:p>
            <a:endParaRPr lang="en-US" b="1" dirty="0">
              <a:solidFill>
                <a:srgbClr val="0E47A1"/>
              </a:solidFill>
            </a:endParaRPr>
          </a:p>
          <a:p>
            <a:r>
              <a:rPr lang="en-US" dirty="0"/>
              <a:t>Ex: </a:t>
            </a:r>
            <a:r>
              <a:rPr lang="en-US" b="1" dirty="0">
                <a:solidFill>
                  <a:srgbClr val="0E47A1"/>
                </a:solidFill>
              </a:rPr>
              <a:t>(A + B) * </a:t>
            </a:r>
            <a:r>
              <a:rPr lang="en-US" b="1" dirty="0" smtClean="0">
                <a:solidFill>
                  <a:srgbClr val="0E47A1"/>
                </a:solidFill>
              </a:rPr>
              <a:t>C</a:t>
            </a:r>
            <a:endParaRPr lang="en-US" b="1" dirty="0">
              <a:solidFill>
                <a:srgbClr val="0E47A1"/>
              </a:solidFill>
            </a:endParaRPr>
          </a:p>
          <a:p>
            <a:endParaRPr lang="en-US" b="1" dirty="0">
              <a:solidFill>
                <a:srgbClr val="0E47A1"/>
              </a:solidFill>
            </a:endParaRPr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Ex: </a:t>
            </a:r>
            <a:r>
              <a:rPr lang="en-US" b="1" dirty="0" smtClean="0">
                <a:solidFill>
                  <a:srgbClr val="0E47A1"/>
                </a:solidFill>
              </a:rPr>
              <a:t>(A * B) </a:t>
            </a:r>
            <a:r>
              <a:rPr lang="en-US" b="1" dirty="0">
                <a:solidFill>
                  <a:srgbClr val="0E47A1"/>
                </a:solidFill>
              </a:rPr>
              <a:t>+ </a:t>
            </a:r>
            <a:r>
              <a:rPr lang="en-US" b="1" dirty="0" smtClean="0">
                <a:solidFill>
                  <a:srgbClr val="0E47A1"/>
                </a:solidFill>
              </a:rPr>
              <a:t>(C </a:t>
            </a:r>
            <a:r>
              <a:rPr lang="en-US" b="1" dirty="0">
                <a:solidFill>
                  <a:srgbClr val="0E47A1"/>
                </a:solidFill>
              </a:rPr>
              <a:t>* </a:t>
            </a:r>
            <a:r>
              <a:rPr lang="en-US" b="1" dirty="0" smtClean="0">
                <a:solidFill>
                  <a:srgbClr val="0E47A1"/>
                </a:solidFill>
              </a:rPr>
              <a:t>D)</a:t>
            </a:r>
            <a:endParaRPr lang="en-US" b="1" dirty="0">
              <a:solidFill>
                <a:srgbClr val="0E47A1"/>
              </a:solidFill>
            </a:endParaRP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322320" y="2476356"/>
            <a:ext cx="49530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E47A1"/>
                </a:solidFill>
              </a:rPr>
              <a:t>Postfix notation: </a:t>
            </a:r>
            <a:r>
              <a:rPr lang="en-US" sz="2800" b="1" dirty="0" smtClean="0">
                <a:solidFill>
                  <a:srgbClr val="C00000"/>
                </a:solidFill>
              </a:rPr>
              <a:t>A </a:t>
            </a:r>
            <a:r>
              <a:rPr lang="en-US" sz="2800" b="1" dirty="0">
                <a:solidFill>
                  <a:srgbClr val="C00000"/>
                </a:solidFill>
              </a:rPr>
              <a:t>B + C D + *</a:t>
            </a:r>
          </a:p>
        </p:txBody>
      </p:sp>
      <p:sp>
        <p:nvSpPr>
          <p:cNvPr id="5" name="Rectangle 4"/>
          <p:cNvSpPr/>
          <p:nvPr/>
        </p:nvSpPr>
        <p:spPr>
          <a:xfrm>
            <a:off x="3038985" y="4089268"/>
            <a:ext cx="49530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E47A1"/>
                </a:solidFill>
              </a:rPr>
              <a:t>Postfix notation: </a:t>
            </a:r>
            <a:r>
              <a:rPr lang="en-US" sz="2800" b="1" dirty="0" smtClean="0">
                <a:solidFill>
                  <a:srgbClr val="C00000"/>
                </a:solidFill>
              </a:rPr>
              <a:t>A </a:t>
            </a:r>
            <a:r>
              <a:rPr lang="en-US" sz="2800" b="1" dirty="0">
                <a:solidFill>
                  <a:srgbClr val="C00000"/>
                </a:solidFill>
              </a:rPr>
              <a:t>B + </a:t>
            </a:r>
            <a:r>
              <a:rPr lang="en-US" sz="2800" b="1" dirty="0" smtClean="0">
                <a:solidFill>
                  <a:srgbClr val="C00000"/>
                </a:solidFill>
              </a:rPr>
              <a:t>C </a:t>
            </a:r>
            <a:r>
              <a:rPr lang="en-US" sz="2800" b="1" dirty="0">
                <a:solidFill>
                  <a:srgbClr val="C00000"/>
                </a:solidFill>
              </a:rPr>
              <a:t>*</a:t>
            </a:r>
          </a:p>
        </p:txBody>
      </p:sp>
      <p:sp>
        <p:nvSpPr>
          <p:cNvPr id="6" name="Rectangle 5"/>
          <p:cNvSpPr/>
          <p:nvPr/>
        </p:nvSpPr>
        <p:spPr>
          <a:xfrm>
            <a:off x="3322320" y="5463409"/>
            <a:ext cx="49530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 smtClean="0">
                <a:solidFill>
                  <a:srgbClr val="0E47A1"/>
                </a:solidFill>
              </a:rPr>
              <a:t>Postfix notation: </a:t>
            </a:r>
            <a:r>
              <a:rPr lang="en-US" sz="2800" b="1" dirty="0" smtClean="0">
                <a:solidFill>
                  <a:srgbClr val="C00000"/>
                </a:solidFill>
              </a:rPr>
              <a:t>A B * C D * +</a:t>
            </a:r>
            <a:endParaRPr lang="en-US" sz="28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539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address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Three address code is a sequence of statements of the general form, </a:t>
            </a:r>
          </a:p>
          <a:p>
            <a:pPr marL="0" lvl="0" indent="0" algn="ctr">
              <a:buNone/>
            </a:pPr>
            <a:r>
              <a:rPr lang="en-US" b="1" dirty="0">
                <a:solidFill>
                  <a:srgbClr val="0E47A1"/>
                </a:solidFill>
              </a:rPr>
              <a:t>a:= b op c</a:t>
            </a:r>
          </a:p>
          <a:p>
            <a:pPr lvl="0"/>
            <a:r>
              <a:rPr lang="en-US" dirty="0"/>
              <a:t>Where </a:t>
            </a:r>
            <a:r>
              <a:rPr lang="en-US" dirty="0">
                <a:solidFill>
                  <a:srgbClr val="0E47A1"/>
                </a:solidFill>
              </a:rPr>
              <a:t>a, b </a:t>
            </a:r>
            <a:r>
              <a:rPr lang="en-US" dirty="0"/>
              <a:t>or </a:t>
            </a:r>
            <a:r>
              <a:rPr lang="en-US" dirty="0">
                <a:solidFill>
                  <a:srgbClr val="0E47A1"/>
                </a:solidFill>
              </a:rPr>
              <a:t>c</a:t>
            </a:r>
            <a:r>
              <a:rPr lang="en-US" dirty="0"/>
              <a:t> are the operands that can be names or constants and </a:t>
            </a:r>
            <a:r>
              <a:rPr lang="en-US" dirty="0">
                <a:solidFill>
                  <a:srgbClr val="0E47A1"/>
                </a:solidFill>
              </a:rPr>
              <a:t>op</a:t>
            </a:r>
            <a:r>
              <a:rPr lang="en-US" dirty="0"/>
              <a:t> stands for any operator.</a:t>
            </a:r>
          </a:p>
          <a:p>
            <a:r>
              <a:rPr lang="en-US" dirty="0">
                <a:solidFill>
                  <a:srgbClr val="0E47A1"/>
                </a:solidFill>
              </a:rPr>
              <a:t>Example: a = b + c + d </a:t>
            </a:r>
          </a:p>
          <a:p>
            <a:pPr marL="0" lvl="0" indent="0"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t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en-US" dirty="0" err="1">
                <a:solidFill>
                  <a:srgbClr val="C00000"/>
                </a:solidFill>
              </a:rPr>
              <a:t>b+c</a:t>
            </a:r>
            <a:r>
              <a:rPr lang="en-US" dirty="0">
                <a:solidFill>
                  <a:srgbClr val="C00000"/>
                </a:solidFill>
              </a:rPr>
              <a:t>	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t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=t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+d</a:t>
            </a:r>
          </a:p>
          <a:p>
            <a:pPr marL="0" indent="0">
              <a:buNone/>
            </a:pPr>
            <a:r>
              <a:rPr lang="en-US" dirty="0">
                <a:solidFill>
                  <a:srgbClr val="C00000"/>
                </a:solidFill>
              </a:rPr>
              <a:t>		a= t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  <a:p>
            <a:pPr lvl="0"/>
            <a:r>
              <a:rPr lang="en-US" dirty="0"/>
              <a:t>Here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r>
              <a:rPr lang="en-US" dirty="0"/>
              <a:t> are the temporary names generated by the compiler. </a:t>
            </a:r>
          </a:p>
          <a:p>
            <a:pPr lvl="0"/>
            <a:r>
              <a:rPr lang="en-US" dirty="0"/>
              <a:t>There are </a:t>
            </a:r>
            <a:r>
              <a:rPr lang="en-US" dirty="0">
                <a:solidFill>
                  <a:srgbClr val="0E47A1"/>
                </a:solidFill>
              </a:rPr>
              <a:t>at most three addresses allowed </a:t>
            </a:r>
            <a:r>
              <a:rPr lang="en-US" dirty="0"/>
              <a:t>(two for operands and one for result). Hence, this representation is called three-address code.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5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Representation of Three Address Code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2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Representation of Three Address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There are three types of representation used for three address </a:t>
            </a:r>
            <a:r>
              <a:rPr lang="en-US" dirty="0" smtClean="0"/>
              <a:t>code:</a:t>
            </a:r>
            <a:endParaRPr lang="en-US" dirty="0"/>
          </a:p>
          <a:p>
            <a:pPr marL="857250" lvl="1" indent="-457200">
              <a:buFont typeface="+mj-lt"/>
              <a:buAutoNum type="arabicPeriod"/>
            </a:pPr>
            <a:r>
              <a:rPr lang="en-US" sz="2600" dirty="0">
                <a:solidFill>
                  <a:srgbClr val="0E47A1"/>
                </a:solidFill>
              </a:rPr>
              <a:t>Quadruples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dirty="0">
                <a:solidFill>
                  <a:srgbClr val="0E47A1"/>
                </a:solidFill>
              </a:rPr>
              <a:t>Triples </a:t>
            </a:r>
          </a:p>
          <a:p>
            <a:pPr marL="857250" lvl="1" indent="-457200">
              <a:buFont typeface="+mj-lt"/>
              <a:buAutoNum type="arabicPeriod"/>
            </a:pPr>
            <a:r>
              <a:rPr lang="en-US" sz="2600" dirty="0">
                <a:solidFill>
                  <a:srgbClr val="0E47A1"/>
                </a:solidFill>
              </a:rPr>
              <a:t>Indirect triples  </a:t>
            </a:r>
          </a:p>
          <a:p>
            <a:r>
              <a:rPr lang="en-US" dirty="0"/>
              <a:t>Ex:	</a:t>
            </a:r>
            <a:r>
              <a:rPr lang="en-US" dirty="0">
                <a:solidFill>
                  <a:srgbClr val="C00000"/>
                </a:solidFill>
              </a:rPr>
              <a:t>x= -a*b + -a*b</a:t>
            </a: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1</a:t>
            </a:r>
            <a:r>
              <a:rPr lang="en-US" dirty="0"/>
              <a:t>= - a</a:t>
            </a:r>
            <a:endParaRPr lang="en-US" sz="20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2</a:t>
            </a:r>
            <a:r>
              <a:rPr lang="en-US" dirty="0"/>
              <a:t> = t</a:t>
            </a:r>
            <a:r>
              <a:rPr lang="en-US" baseline="-25000" dirty="0"/>
              <a:t>1</a:t>
            </a:r>
            <a:r>
              <a:rPr lang="en-US" dirty="0"/>
              <a:t> * b</a:t>
            </a: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3</a:t>
            </a:r>
            <a:r>
              <a:rPr lang="en-US" dirty="0"/>
              <a:t>= - a</a:t>
            </a: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4</a:t>
            </a:r>
            <a:r>
              <a:rPr lang="en-US" dirty="0"/>
              <a:t> = t</a:t>
            </a:r>
            <a:r>
              <a:rPr lang="en-US" baseline="-25000" dirty="0"/>
              <a:t>3</a:t>
            </a:r>
            <a:r>
              <a:rPr lang="en-US" dirty="0"/>
              <a:t> * b</a:t>
            </a:r>
            <a:endParaRPr lang="en-US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en-US" dirty="0"/>
              <a:t>	t</a:t>
            </a:r>
            <a:r>
              <a:rPr lang="en-US" baseline="-25000" dirty="0"/>
              <a:t>5</a:t>
            </a:r>
            <a:r>
              <a:rPr lang="en-US" dirty="0"/>
              <a:t> = t</a:t>
            </a:r>
            <a:r>
              <a:rPr lang="en-US" baseline="-25000" dirty="0"/>
              <a:t>2</a:t>
            </a:r>
            <a:r>
              <a:rPr lang="en-US" dirty="0"/>
              <a:t> + t</a:t>
            </a:r>
            <a:r>
              <a:rPr lang="en-US" baseline="-25000" dirty="0"/>
              <a:t>4</a:t>
            </a:r>
            <a:endParaRPr lang="en-US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0" indent="0">
              <a:buNone/>
            </a:pPr>
            <a:r>
              <a:rPr lang="en-US" dirty="0"/>
              <a:t>	x= t</a:t>
            </a:r>
            <a:r>
              <a:rPr lang="en-US" baseline="-25000" dirty="0"/>
              <a:t>5</a:t>
            </a:r>
            <a:endParaRPr lang="en-US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endParaRPr lang="en-US" dirty="0"/>
          </a:p>
        </p:txBody>
      </p:sp>
      <p:sp>
        <p:nvSpPr>
          <p:cNvPr id="4" name="Right Brace 3"/>
          <p:cNvSpPr/>
          <p:nvPr/>
        </p:nvSpPr>
        <p:spPr>
          <a:xfrm>
            <a:off x="2107018" y="3097618"/>
            <a:ext cx="1066800" cy="2667000"/>
          </a:xfrm>
          <a:prstGeom prst="rightBrac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06393" y="4126318"/>
            <a:ext cx="2590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Three Address Code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1991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Quadruple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quadruple is a structure with at the most four fields such as op, arg1, arg2 and result.</a:t>
            </a:r>
          </a:p>
          <a:p>
            <a:pPr lvl="0"/>
            <a:r>
              <a:rPr lang="en-US" dirty="0"/>
              <a:t>The op field is used to represent the internal code for operator.</a:t>
            </a:r>
          </a:p>
          <a:p>
            <a:pPr lvl="0"/>
            <a:r>
              <a:rPr lang="en-US" dirty="0"/>
              <a:t>The arg1 and arg2 represent the two operands. </a:t>
            </a:r>
          </a:p>
          <a:p>
            <a:r>
              <a:rPr lang="en-US" dirty="0"/>
              <a:t>And result field is used to store the result of an expression.</a:t>
            </a:r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7200" y="3699240"/>
            <a:ext cx="26670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n-US" sz="2000" dirty="0" smtClean="0">
                <a:solidFill>
                  <a:srgbClr val="0E47A1"/>
                </a:solidFill>
              </a:rPr>
              <a:t>x</a:t>
            </a:r>
            <a:r>
              <a:rPr lang="en-US" sz="2000" dirty="0">
                <a:solidFill>
                  <a:srgbClr val="0E47A1"/>
                </a:solidFill>
              </a:rPr>
              <a:t>= -a*b + -a*b</a:t>
            </a:r>
          </a:p>
          <a:p>
            <a:r>
              <a:rPr lang="en-US" sz="2000" dirty="0"/>
              <a:t>	t</a:t>
            </a:r>
            <a:r>
              <a:rPr lang="en-US" sz="2000" baseline="-25000" dirty="0"/>
              <a:t>1</a:t>
            </a:r>
            <a:r>
              <a:rPr lang="en-US" sz="2000" dirty="0"/>
              <a:t>= - a</a:t>
            </a:r>
            <a:endParaRPr lang="en-US" sz="20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en-US" sz="2000" dirty="0"/>
              <a:t>	t</a:t>
            </a:r>
            <a:r>
              <a:rPr lang="en-US" sz="2000" baseline="-25000" dirty="0"/>
              <a:t>2</a:t>
            </a:r>
            <a:r>
              <a:rPr lang="en-US" sz="2000" dirty="0"/>
              <a:t> = t</a:t>
            </a:r>
            <a:r>
              <a:rPr lang="en-US" sz="2000" baseline="-25000" dirty="0"/>
              <a:t>1</a:t>
            </a:r>
            <a:r>
              <a:rPr lang="en-US" sz="2000" dirty="0"/>
              <a:t> * b</a:t>
            </a:r>
          </a:p>
          <a:p>
            <a:r>
              <a:rPr lang="en-US" sz="2000" dirty="0"/>
              <a:t>	t</a:t>
            </a:r>
            <a:r>
              <a:rPr lang="en-US" sz="2000" baseline="-25000" dirty="0"/>
              <a:t>3</a:t>
            </a:r>
            <a:r>
              <a:rPr lang="en-US" sz="2000" dirty="0"/>
              <a:t>= - a</a:t>
            </a:r>
          </a:p>
          <a:p>
            <a:r>
              <a:rPr lang="en-US" sz="2000" dirty="0"/>
              <a:t>	t</a:t>
            </a:r>
            <a:r>
              <a:rPr lang="en-US" sz="2000" baseline="-25000" dirty="0"/>
              <a:t>4</a:t>
            </a:r>
            <a:r>
              <a:rPr lang="en-US" sz="2000" dirty="0"/>
              <a:t> = t</a:t>
            </a:r>
            <a:r>
              <a:rPr lang="en-US" sz="2000" baseline="-25000" dirty="0"/>
              <a:t>3</a:t>
            </a:r>
            <a:r>
              <a:rPr lang="en-US" sz="2000" dirty="0"/>
              <a:t> * b</a:t>
            </a:r>
            <a:endParaRPr lang="en-US" sz="20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en-US" sz="2000" dirty="0"/>
              <a:t>	t</a:t>
            </a:r>
            <a:r>
              <a:rPr lang="en-US" sz="2000" baseline="-25000" dirty="0"/>
              <a:t>5</a:t>
            </a:r>
            <a:r>
              <a:rPr lang="en-US" sz="2000" dirty="0"/>
              <a:t> = t</a:t>
            </a:r>
            <a:r>
              <a:rPr lang="en-US" sz="2000" baseline="-25000" dirty="0"/>
              <a:t>2</a:t>
            </a:r>
            <a:r>
              <a:rPr lang="en-US" sz="2000" dirty="0"/>
              <a:t> + t</a:t>
            </a:r>
            <a:r>
              <a:rPr lang="en-US" sz="2000" baseline="-25000" dirty="0"/>
              <a:t>4</a:t>
            </a:r>
            <a:endParaRPr lang="en-US" sz="20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en-US" sz="2000" dirty="0"/>
              <a:t>	x= t</a:t>
            </a:r>
            <a:r>
              <a:rPr lang="en-US" sz="2000" baseline="-25000" dirty="0"/>
              <a:t>5</a:t>
            </a:r>
            <a:endParaRPr lang="en-US" sz="20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7894172"/>
              </p:ext>
            </p:extLst>
          </p:nvPr>
        </p:nvGraphicFramePr>
        <p:xfrm>
          <a:off x="4281078" y="356658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Arg1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Arg2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56365717"/>
              </p:ext>
            </p:extLst>
          </p:nvPr>
        </p:nvGraphicFramePr>
        <p:xfrm>
          <a:off x="4281078" y="393234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1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2601410"/>
              </p:ext>
            </p:extLst>
          </p:nvPr>
        </p:nvGraphicFramePr>
        <p:xfrm>
          <a:off x="4281078" y="429810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1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2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5728025"/>
              </p:ext>
            </p:extLst>
          </p:nvPr>
        </p:nvGraphicFramePr>
        <p:xfrm>
          <a:off x="4281077" y="466958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3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35527"/>
              </p:ext>
            </p:extLst>
          </p:nvPr>
        </p:nvGraphicFramePr>
        <p:xfrm>
          <a:off x="4281077" y="503534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3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4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66448181"/>
              </p:ext>
            </p:extLst>
          </p:nvPr>
        </p:nvGraphicFramePr>
        <p:xfrm>
          <a:off x="4281077" y="540110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+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2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4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5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9121795"/>
              </p:ext>
            </p:extLst>
          </p:nvPr>
        </p:nvGraphicFramePr>
        <p:xfrm>
          <a:off x="4281077" y="576686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=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5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x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85907" y="3118883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Quadruple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947794" y="3966635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977620" y="3946867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558701" y="3970679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4924051" y="4332395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5953877" y="4312627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7534958" y="4336439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6811580" y="4340790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/>
          <p:cNvSpPr/>
          <p:nvPr/>
        </p:nvSpPr>
        <p:spPr>
          <a:xfrm>
            <a:off x="4924051" y="4704735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5953877" y="4684967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534958" y="4708779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4923982" y="5070469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6021769" y="5065616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7577753" y="5074513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6854375" y="5078864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4881187" y="5437759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5996741" y="5417991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563534" y="5441803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797292" y="5446154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909762" y="5803519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996740" y="5783751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563533" y="5807563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/>
          <p:cNvCxnSpPr/>
          <p:nvPr/>
        </p:nvCxnSpPr>
        <p:spPr>
          <a:xfrm>
            <a:off x="170993" y="2892659"/>
            <a:ext cx="11545839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0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9274" y="880212"/>
            <a:ext cx="11929641" cy="5590565"/>
          </a:xfrm>
        </p:spPr>
        <p:txBody>
          <a:bodyPr/>
          <a:lstStyle/>
          <a:p>
            <a:pPr lvl="0"/>
            <a:r>
              <a:rPr lang="en-US" dirty="0"/>
              <a:t>To avoid entering temporary names into the symbol table, we might refer a temporary value by the position of the statement that computes it.</a:t>
            </a:r>
          </a:p>
          <a:p>
            <a:pPr lvl="0"/>
            <a:r>
              <a:rPr lang="en-US" dirty="0"/>
              <a:t>If we do so, three address statements can be represented by records with only three fields: op, arg1 and arg2.</a:t>
            </a:r>
          </a:p>
          <a:p>
            <a:endParaRPr lang="en-US" dirty="0"/>
          </a:p>
        </p:txBody>
      </p:sp>
      <p:graphicFrame>
        <p:nvGraphicFramePr>
          <p:cNvPr id="4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05589720"/>
              </p:ext>
            </p:extLst>
          </p:nvPr>
        </p:nvGraphicFramePr>
        <p:xfrm>
          <a:off x="6204097" y="349411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Arg1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Arg2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0501847"/>
              </p:ext>
            </p:extLst>
          </p:nvPr>
        </p:nvGraphicFramePr>
        <p:xfrm>
          <a:off x="979640" y="3564915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Arg1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Arg2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Result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88543355"/>
              </p:ext>
            </p:extLst>
          </p:nvPr>
        </p:nvGraphicFramePr>
        <p:xfrm>
          <a:off x="979640" y="3930675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1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5874821"/>
              </p:ext>
            </p:extLst>
          </p:nvPr>
        </p:nvGraphicFramePr>
        <p:xfrm>
          <a:off x="979640" y="4296435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1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2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68435630"/>
              </p:ext>
            </p:extLst>
          </p:nvPr>
        </p:nvGraphicFramePr>
        <p:xfrm>
          <a:off x="979639" y="4667909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3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40086"/>
              </p:ext>
            </p:extLst>
          </p:nvPr>
        </p:nvGraphicFramePr>
        <p:xfrm>
          <a:off x="979639" y="5033669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3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4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7563539"/>
              </p:ext>
            </p:extLst>
          </p:nvPr>
        </p:nvGraphicFramePr>
        <p:xfrm>
          <a:off x="979639" y="5399429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+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2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4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5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09668"/>
              </p:ext>
            </p:extLst>
          </p:nvPr>
        </p:nvGraphicFramePr>
        <p:xfrm>
          <a:off x="979639" y="5765189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815149"/>
                <a:gridCol w="762000"/>
                <a:gridCol w="1526477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=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t</a:t>
                      </a:r>
                      <a:r>
                        <a:rPr lang="en-US" b="0" baseline="-25000" dirty="0" smtClean="0"/>
                        <a:t>5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x</a:t>
                      </a:r>
                      <a:endParaRPr lang="en-US" b="0" baseline="-2500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89335548"/>
              </p:ext>
            </p:extLst>
          </p:nvPr>
        </p:nvGraphicFramePr>
        <p:xfrm>
          <a:off x="6204096" y="386495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2252897"/>
              </p:ext>
            </p:extLst>
          </p:nvPr>
        </p:nvGraphicFramePr>
        <p:xfrm>
          <a:off x="6204096" y="423579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4925175"/>
              </p:ext>
            </p:extLst>
          </p:nvPr>
        </p:nvGraphicFramePr>
        <p:xfrm>
          <a:off x="6204096" y="460663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38398373"/>
              </p:ext>
            </p:extLst>
          </p:nvPr>
        </p:nvGraphicFramePr>
        <p:xfrm>
          <a:off x="6204096" y="497747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6028900"/>
              </p:ext>
            </p:extLst>
          </p:nvPr>
        </p:nvGraphicFramePr>
        <p:xfrm>
          <a:off x="6204096" y="534831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+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3976434"/>
              </p:ext>
            </p:extLst>
          </p:nvPr>
        </p:nvGraphicFramePr>
        <p:xfrm>
          <a:off x="6204095" y="5719151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=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x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1723827" y="3088597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Quadruple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924446" y="3071512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Triple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870849" y="3906742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7886388" y="388697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6859379" y="4287550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7900676" y="4267782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8610065" y="4245513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6870849" y="4659314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886388" y="4639546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6859379" y="5042435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900676" y="5022667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8610065" y="5000398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6875613" y="5411482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7934016" y="539171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643405" y="5369445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6870849" y="5779477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929252" y="5759709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638641" y="5737440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/>
          <p:cNvCxnSpPr/>
          <p:nvPr/>
        </p:nvCxnSpPr>
        <p:spPr>
          <a:xfrm>
            <a:off x="170993" y="2892659"/>
            <a:ext cx="11545839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223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Indirect Triple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In the indirect triple representation the listing of triples has been done. And listing pointers are used instead of using statement.</a:t>
            </a:r>
          </a:p>
          <a:p>
            <a:pPr lvl="0"/>
            <a:r>
              <a:rPr lang="en-US" dirty="0"/>
              <a:t>This implementation is called indirect triples.</a:t>
            </a:r>
          </a:p>
          <a:p>
            <a:endParaRPr lang="en-US" dirty="0"/>
          </a:p>
        </p:txBody>
      </p:sp>
      <p:graphicFrame>
        <p:nvGraphicFramePr>
          <p:cNvPr id="4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2953218"/>
              </p:ext>
            </p:extLst>
          </p:nvPr>
        </p:nvGraphicFramePr>
        <p:xfrm>
          <a:off x="6204098" y="353664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Arg1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Arg2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3682798"/>
              </p:ext>
            </p:extLst>
          </p:nvPr>
        </p:nvGraphicFramePr>
        <p:xfrm>
          <a:off x="4194348" y="392179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(14)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4475011"/>
              </p:ext>
            </p:extLst>
          </p:nvPr>
        </p:nvGraphicFramePr>
        <p:xfrm>
          <a:off x="6204097" y="390748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4548725"/>
              </p:ext>
            </p:extLst>
          </p:nvPr>
        </p:nvGraphicFramePr>
        <p:xfrm>
          <a:off x="6204097" y="427832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8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57391909"/>
              </p:ext>
            </p:extLst>
          </p:nvPr>
        </p:nvGraphicFramePr>
        <p:xfrm>
          <a:off x="6204097" y="464916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11943349"/>
              </p:ext>
            </p:extLst>
          </p:nvPr>
        </p:nvGraphicFramePr>
        <p:xfrm>
          <a:off x="6204097" y="502000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(16)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0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43110168"/>
              </p:ext>
            </p:extLst>
          </p:nvPr>
        </p:nvGraphicFramePr>
        <p:xfrm>
          <a:off x="6204097" y="539084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+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(17)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1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1041920"/>
              </p:ext>
            </p:extLst>
          </p:nvPr>
        </p:nvGraphicFramePr>
        <p:xfrm>
          <a:off x="6204096" y="576168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=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x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(18)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29419456"/>
              </p:ext>
            </p:extLst>
          </p:nvPr>
        </p:nvGraphicFramePr>
        <p:xfrm>
          <a:off x="4194348" y="355603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Statement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3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77421315"/>
              </p:ext>
            </p:extLst>
          </p:nvPr>
        </p:nvGraphicFramePr>
        <p:xfrm>
          <a:off x="4194340" y="428755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(15)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1784949"/>
              </p:ext>
            </p:extLst>
          </p:nvPr>
        </p:nvGraphicFramePr>
        <p:xfrm>
          <a:off x="4194341" y="465331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(16)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54794101"/>
              </p:ext>
            </p:extLst>
          </p:nvPr>
        </p:nvGraphicFramePr>
        <p:xfrm>
          <a:off x="4194340" y="501907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(17)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6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9386965"/>
              </p:ext>
            </p:extLst>
          </p:nvPr>
        </p:nvGraphicFramePr>
        <p:xfrm>
          <a:off x="4194332" y="538483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(18)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7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1514304"/>
              </p:ext>
            </p:extLst>
          </p:nvPr>
        </p:nvGraphicFramePr>
        <p:xfrm>
          <a:off x="4194333" y="575059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/>
                <a:gridCol w="1219200"/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 dirty="0" smtClean="0"/>
                        <a:t>(19)</a:t>
                      </a:r>
                      <a:endParaRPr lang="en-US" b="0" baseline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8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86300498"/>
              </p:ext>
            </p:extLst>
          </p:nvPr>
        </p:nvGraphicFramePr>
        <p:xfrm>
          <a:off x="955830" y="355095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Operator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Arg1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Arg2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19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86262343"/>
              </p:ext>
            </p:extLst>
          </p:nvPr>
        </p:nvGraphicFramePr>
        <p:xfrm>
          <a:off x="955829" y="392179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0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0781765"/>
              </p:ext>
            </p:extLst>
          </p:nvPr>
        </p:nvGraphicFramePr>
        <p:xfrm>
          <a:off x="955829" y="429263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(0)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1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60616152"/>
              </p:ext>
            </p:extLst>
          </p:nvPr>
        </p:nvGraphicFramePr>
        <p:xfrm>
          <a:off x="955829" y="466347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 smtClean="0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2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46403718"/>
              </p:ext>
            </p:extLst>
          </p:nvPr>
        </p:nvGraphicFramePr>
        <p:xfrm>
          <a:off x="955829" y="503431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*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(2)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b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3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84916322"/>
              </p:ext>
            </p:extLst>
          </p:nvPr>
        </p:nvGraphicFramePr>
        <p:xfrm>
          <a:off x="955829" y="540515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+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(1)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(3)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Content Placeholder 1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18409"/>
              </p:ext>
            </p:extLst>
          </p:nvPr>
        </p:nvGraphicFramePr>
        <p:xfrm>
          <a:off x="955828" y="577599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/>
                <a:gridCol w="1092708"/>
                <a:gridCol w="675513"/>
                <a:gridCol w="67551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(5)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=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x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(4)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4756298" y="3032127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Indirect Triple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79598" y="3027047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rgbClr val="C00000"/>
                </a:solidFill>
              </a:rPr>
              <a:t>Triple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900677" y="431031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900677" y="505199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/>
          <p:cNvSpPr/>
          <p:nvPr/>
        </p:nvSpPr>
        <p:spPr>
          <a:xfrm>
            <a:off x="7900677" y="5419935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8579806" y="5428488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8579806" y="5795870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97362" y="2616212"/>
            <a:ext cx="11545839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213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Write quadruple, triple and indirect triple for following: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-(a*b)+(</a:t>
            </a:r>
            <a:r>
              <a:rPr lang="en-US" dirty="0" err="1">
                <a:solidFill>
                  <a:srgbClr val="0E47A1"/>
                </a:solidFill>
              </a:rPr>
              <a:t>c+d</a:t>
            </a:r>
            <a:r>
              <a:rPr lang="en-US" dirty="0">
                <a:solidFill>
                  <a:srgbClr val="0E47A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a*-(</a:t>
            </a:r>
            <a:r>
              <a:rPr lang="en-US" dirty="0" err="1">
                <a:solidFill>
                  <a:srgbClr val="0E47A1"/>
                </a:solidFill>
              </a:rPr>
              <a:t>b+c</a:t>
            </a:r>
            <a:r>
              <a:rPr lang="en-US" dirty="0">
                <a:solidFill>
                  <a:srgbClr val="0E47A1"/>
                </a:solidFill>
              </a:rPr>
              <a:t>)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x=(</a:t>
            </a:r>
            <a:r>
              <a:rPr lang="en-US" dirty="0" err="1">
                <a:solidFill>
                  <a:srgbClr val="0E47A1"/>
                </a:solidFill>
              </a:rPr>
              <a:t>a+b</a:t>
            </a:r>
            <a:r>
              <a:rPr lang="en-US" dirty="0">
                <a:solidFill>
                  <a:srgbClr val="0E47A1"/>
                </a:solidFill>
              </a:rPr>
              <a:t>*c)^(d*e)+f*</a:t>
            </a:r>
            <a:r>
              <a:rPr lang="en-US" dirty="0" err="1">
                <a:solidFill>
                  <a:srgbClr val="0E47A1"/>
                </a:solidFill>
              </a:rPr>
              <a:t>g^h</a:t>
            </a:r>
            <a:endParaRPr lang="en-US" dirty="0">
              <a:solidFill>
                <a:srgbClr val="0E47A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rgbClr val="0E47A1"/>
                </a:solidFill>
              </a:rPr>
              <a:t>g+a</a:t>
            </a:r>
            <a:r>
              <a:rPr lang="en-US" dirty="0">
                <a:solidFill>
                  <a:srgbClr val="0E47A1"/>
                </a:solidFill>
              </a:rPr>
              <a:t>*(b-c)+(x-y)*d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0488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E47A1"/>
                </a:solidFill>
              </a:rPr>
              <a:t>Books: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0E47A1"/>
                </a:solidFill>
              </a:rPr>
              <a:t>Compilers Principles, Techniques and Tools,</a:t>
            </a:r>
            <a:r>
              <a:rPr lang="en-US" sz="3000" b="1" dirty="0" smtClean="0">
                <a:solidFill>
                  <a:srgbClr val="0E47A1"/>
                </a:solidFill>
              </a:rPr>
              <a:t> </a:t>
            </a:r>
            <a:r>
              <a:rPr lang="en-US" b="1" dirty="0">
                <a:solidFill>
                  <a:srgbClr val="0E47A1"/>
                </a:solidFill>
              </a:rPr>
              <a:t>PEARSON Education </a:t>
            </a:r>
            <a:r>
              <a:rPr lang="en-US" b="1" dirty="0" smtClean="0">
                <a:solidFill>
                  <a:srgbClr val="0E47A1"/>
                </a:solidFill>
              </a:rPr>
              <a:t>(Second Edition)</a:t>
            </a:r>
          </a:p>
          <a:p>
            <a:pPr marL="0" indent="0">
              <a:buNone/>
            </a:pPr>
            <a:r>
              <a:rPr lang="en-US" dirty="0" smtClean="0"/>
              <a:t>	Authors: Alfred V. </a:t>
            </a:r>
            <a:r>
              <a:rPr lang="en-US" dirty="0" err="1" smtClean="0"/>
              <a:t>Aho</a:t>
            </a:r>
            <a:r>
              <a:rPr lang="en-US" dirty="0" smtClean="0"/>
              <a:t>, Monica S. Lam, Ravi </a:t>
            </a:r>
            <a:r>
              <a:rPr lang="en-US" dirty="0" err="1" smtClean="0"/>
              <a:t>Sethi</a:t>
            </a:r>
            <a:r>
              <a:rPr lang="en-US" dirty="0" smtClean="0"/>
              <a:t>, Jeffrey D. Ullman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800" b="1" dirty="0">
                <a:solidFill>
                  <a:srgbClr val="0E47A1"/>
                </a:solidFill>
              </a:rPr>
              <a:t>Compiler Design, PEARSON </a:t>
            </a:r>
            <a:r>
              <a:rPr lang="en-US" b="1" dirty="0">
                <a:solidFill>
                  <a:srgbClr val="0E47A1"/>
                </a:solidFill>
              </a:rPr>
              <a:t>(for Gujarat Technological University)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Authors</a:t>
            </a:r>
            <a:r>
              <a:rPr lang="en-US" dirty="0"/>
              <a:t>: Alfred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smtClean="0"/>
              <a:t>Ravi </a:t>
            </a:r>
            <a:r>
              <a:rPr lang="en-US" dirty="0" err="1"/>
              <a:t>Sethi</a:t>
            </a:r>
            <a:r>
              <a:rPr lang="en-US" dirty="0"/>
              <a:t>, Jeffrey D. Ullman</a:t>
            </a:r>
          </a:p>
        </p:txBody>
      </p:sp>
    </p:spTree>
    <p:extLst>
      <p:ext uri="{BB962C8B-B14F-4D97-AF65-F5344CB8AC3E}">
        <p14:creationId xmlns:p14="http://schemas.microsoft.com/office/powerpoint/2010/main" val="99234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6425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deo Lecture 16x9 Light Template (2)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 (2)</Template>
  <TotalTime>3564</TotalTime>
  <Words>783</Words>
  <Application>Microsoft Office PowerPoint</Application>
  <PresentationFormat>Widescreen</PresentationFormat>
  <Paragraphs>276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Roboto Condensed</vt:lpstr>
      <vt:lpstr>Wingdings 2</vt:lpstr>
      <vt:lpstr>Calibri</vt:lpstr>
      <vt:lpstr>Wingdings</vt:lpstr>
      <vt:lpstr>Wingdings 3</vt:lpstr>
      <vt:lpstr>Arial</vt:lpstr>
      <vt:lpstr>Segoe UI Black</vt:lpstr>
      <vt:lpstr>Roboto Condensed Light</vt:lpstr>
      <vt:lpstr>Palatino Linotype</vt:lpstr>
      <vt:lpstr>VIdeo Lecture 16x9 Light Template (2)</vt:lpstr>
      <vt:lpstr>Unit – 5 Intermediate Code Generation</vt:lpstr>
      <vt:lpstr>PowerPoint Presentation</vt:lpstr>
      <vt:lpstr>Different intermediate forms</vt:lpstr>
      <vt:lpstr>Different intermediate forms</vt:lpstr>
      <vt:lpstr>Abstract syntax tree &amp; DAG</vt:lpstr>
      <vt:lpstr>Postfix Notation</vt:lpstr>
      <vt:lpstr>Three address code</vt:lpstr>
      <vt:lpstr>Different Representation of Three Address Code</vt:lpstr>
      <vt:lpstr>Different Representation of Three Address Code</vt:lpstr>
      <vt:lpstr>Quadruple</vt:lpstr>
      <vt:lpstr>Triple</vt:lpstr>
      <vt:lpstr>Indirect Triple</vt:lpstr>
      <vt:lpstr>Exercise</vt:lpstr>
      <vt:lpstr>References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umesh patel</cp:lastModifiedBy>
  <cp:revision>313</cp:revision>
  <dcterms:created xsi:type="dcterms:W3CDTF">2020-05-01T05:09:15Z</dcterms:created>
  <dcterms:modified xsi:type="dcterms:W3CDTF">2021-09-14T12:17:05Z</dcterms:modified>
</cp:coreProperties>
</file>