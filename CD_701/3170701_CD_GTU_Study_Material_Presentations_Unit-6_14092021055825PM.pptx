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94" r:id="rId1"/>
  </p:sldMasterIdLst>
  <p:notesMasterIdLst>
    <p:notesMasterId r:id="rId31"/>
  </p:notesMasterIdLst>
  <p:sldIdLst>
    <p:sldId id="520" r:id="rId2"/>
    <p:sldId id="523" r:id="rId3"/>
    <p:sldId id="319" r:id="rId4"/>
    <p:sldId id="492" r:id="rId5"/>
    <p:sldId id="496" r:id="rId6"/>
    <p:sldId id="497" r:id="rId7"/>
    <p:sldId id="498" r:id="rId8"/>
    <p:sldId id="499" r:id="rId9"/>
    <p:sldId id="500" r:id="rId10"/>
    <p:sldId id="489" r:id="rId11"/>
    <p:sldId id="503" r:id="rId12"/>
    <p:sldId id="501" r:id="rId13"/>
    <p:sldId id="502" r:id="rId14"/>
    <p:sldId id="504" r:id="rId15"/>
    <p:sldId id="506" r:id="rId16"/>
    <p:sldId id="507" r:id="rId17"/>
    <p:sldId id="494" r:id="rId18"/>
    <p:sldId id="508" r:id="rId19"/>
    <p:sldId id="510" r:id="rId20"/>
    <p:sldId id="511" r:id="rId21"/>
    <p:sldId id="519" r:id="rId22"/>
    <p:sldId id="513" r:id="rId23"/>
    <p:sldId id="514" r:id="rId24"/>
    <p:sldId id="515" r:id="rId25"/>
    <p:sldId id="516" r:id="rId26"/>
    <p:sldId id="517" r:id="rId27"/>
    <p:sldId id="518" r:id="rId28"/>
    <p:sldId id="521" r:id="rId29"/>
    <p:sldId id="522" r:id="rId30"/>
  </p:sldIdLst>
  <p:sldSz cx="12192000" cy="6858000"/>
  <p:notesSz cx="6858000" cy="9144000"/>
  <p:embeddedFontLst>
    <p:embeddedFont>
      <p:font typeface="Roboto Condensed" panose="02000000000000000000" pitchFamily="2" charset="0"/>
      <p:regular r:id="rId32"/>
      <p:bold r:id="rId33"/>
      <p:italic r:id="rId34"/>
      <p:boldItalic r:id="rId35"/>
    </p:embeddedFont>
    <p:embeddedFont>
      <p:font typeface="Wingdings 2" panose="05020102010507070707" pitchFamily="18" charset="2"/>
      <p:regular r:id="rId36"/>
    </p:embeddedFont>
    <p:embeddedFont>
      <p:font typeface="Calibri" panose="020F0502020204030204" pitchFamily="34" charset="0"/>
      <p:regular r:id="rId37"/>
      <p:bold r:id="rId38"/>
      <p:italic r:id="rId39"/>
      <p:boldItalic r:id="rId40"/>
    </p:embeddedFont>
    <p:embeddedFont>
      <p:font typeface="Wingdings 3" panose="05040102010807070707" pitchFamily="18" charset="2"/>
      <p:regular r:id="rId41"/>
    </p:embeddedFont>
    <p:embeddedFont>
      <p:font typeface="Segoe UI Black" panose="020B0A02040204020203" pitchFamily="34" charset="0"/>
      <p:bold r:id="rId42"/>
      <p:boldItalic r:id="rId43"/>
    </p:embeddedFont>
    <p:embeddedFont>
      <p:font typeface="Roboto Condensed Light" panose="02000000000000000000" pitchFamily="2" charset="0"/>
      <p:regular r:id="rId44"/>
      <p:italic r:id="rId4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5JwiEYZ4WFvv8ojTMkledA==" hashData="kn3lhGaTNHja6L78Ie/SlHB+RIL8aKTzrsxmotg4tpnlnHQOJIqynRnKoTEjR6WHjXyBrX1bH+h4SsnMofulaw=="/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7A1"/>
    <a:srgbClr val="03A9F5"/>
    <a:srgbClr val="0972C6"/>
    <a:srgbClr val="607D8B"/>
    <a:srgbClr val="301B92"/>
    <a:srgbClr val="673BB7"/>
    <a:srgbClr val="ED524F"/>
    <a:srgbClr val="B71B1C"/>
    <a:srgbClr val="F54337"/>
    <a:srgbClr val="D81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53" autoAdjust="0"/>
    <p:restoredTop sz="94660"/>
  </p:normalViewPr>
  <p:slideViewPr>
    <p:cSldViewPr snapToGrid="0">
      <p:cViewPr varScale="1">
        <p:scale>
          <a:sx n="71" d="100"/>
          <a:sy n="71" d="100"/>
        </p:scale>
        <p:origin x="52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font" Target="fonts/font1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font" Target="fonts/font1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microsoft.com/office/2007/relationships/hdphoto" Target="../media/hdphoto2.wdp"/></Relationships>
</file>

<file path=ppt/slideLayouts/_rels/slideLayout10.xml.rels><?xml version="1.0" encoding="UTF-8" standalone="yes"?>
<Relationships xmlns="http://schemas.openxmlformats.org/package/2006/relationships"><Relationship Id="rId8" Type="http://schemas.microsoft.com/office/2007/relationships/hdphoto" Target="../media/hdphoto2.wdp"/><Relationship Id="rId3" Type="http://schemas.openxmlformats.org/officeDocument/2006/relationships/image" Target="../media/image3.png"/><Relationship Id="rId7" Type="http://schemas.openxmlformats.org/officeDocument/2006/relationships/image" Target="../media/image9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9" Type="http://schemas.openxmlformats.org/officeDocument/2006/relationships/image" Target="../media/image10.jpe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3.png"/><Relationship Id="rId7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10" Type="http://schemas.openxmlformats.org/officeDocument/2006/relationships/image" Target="../media/image10.jpeg"/><Relationship Id="rId4" Type="http://schemas.openxmlformats.org/officeDocument/2006/relationships/image" Target="../media/image6.png"/><Relationship Id="rId9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7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Run-time Environments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8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099724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7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Run-time Environments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8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610964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5" name="Picture 14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1" name="Rectangle 20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7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Run-time Environments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8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29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cxnSp>
        <p:nvCxnSpPr>
          <p:cNvPr id="30" name="Straight Connector 2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60851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="" xmlns:a16="http://schemas.microsoft.com/office/drawing/2014/main" id="{910DC0DC-3FC7-402D-8C9F-62D3ACC8DC86}"/>
              </a:ext>
            </a:extLst>
          </p:cNvPr>
          <p:cNvSpPr>
            <a:spLocks/>
          </p:cNvSpPr>
          <p:nvPr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="" xmlns:a16="http://schemas.microsoft.com/office/drawing/2014/main" id="{2802A992-B18A-47D4-8497-02E7586DF58D}"/>
              </a:ext>
            </a:extLst>
          </p:cNvPr>
          <p:cNvGrpSpPr/>
          <p:nvPr/>
        </p:nvGrpSpPr>
        <p:grpSpPr>
          <a:xfrm>
            <a:off x="9437223" y="6087939"/>
            <a:ext cx="2554143" cy="587454"/>
            <a:chOff x="131177" y="5775962"/>
            <a:chExt cx="2530239" cy="581956"/>
          </a:xfrm>
        </p:grpSpPr>
        <p:pic>
          <p:nvPicPr>
            <p:cNvPr id="13" name="Picture 12">
              <a:extLst>
                <a:ext uri="{FF2B5EF4-FFF2-40B4-BE49-F238E27FC236}">
                  <a16:creationId xmlns="" xmlns:a16="http://schemas.microsoft.com/office/drawing/2014/main" id="{8DD61FEC-075B-4EDD-97CA-36E6F72630F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="" xmlns:a16="http://schemas.microsoft.com/office/drawing/2014/main" id="{CB550E12-AA95-4B1B-A8D2-ED01E515FC43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16" name="Freeform 17">
            <a:extLst>
              <a:ext uri="{FF2B5EF4-FFF2-40B4-BE49-F238E27FC236}">
                <a16:creationId xmlns=""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="" xmlns:a16="http://schemas.microsoft.com/office/drawing/2014/main" id="{8DD61FEC-075B-4EDD-97CA-36E6F72630F4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7223" y="6087939"/>
            <a:ext cx="2554142" cy="58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9094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E191CF5-3D57-422B-B2EB-FF235E30DB22}"/>
              </a:ext>
            </a:extLst>
          </p:cNvPr>
          <p:cNvGrpSpPr/>
          <p:nvPr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Run-time Environments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=""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5646169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913602D2-CAF0-4790-95E8-87990761ED0C}"/>
              </a:ext>
            </a:extLst>
          </p:cNvPr>
          <p:cNvGrpSpPr/>
          <p:nvPr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Run-time Environments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=""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2957955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 R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Dhamsaniya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#3130006 (PS)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Basic Probability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15C60ED7-12D4-496E-AF73-0995BE8C12FD}"/>
              </a:ext>
            </a:extLst>
          </p:cNvPr>
          <p:cNvGrpSpPr/>
          <p:nvPr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4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9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Run-time Environments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0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Group 22">
            <a:extLst>
              <a:ext uri="{FF2B5EF4-FFF2-40B4-BE49-F238E27FC236}">
                <a16:creationId xmlns=""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24" name="Picture 23">
              <a:extLst>
                <a:ext uri="{FF2B5EF4-FFF2-40B4-BE49-F238E27FC236}">
                  <a16:creationId xmlns=""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25" name="Rectangle 24">
              <a:extLst>
                <a:ext uri="{FF2B5EF4-FFF2-40B4-BE49-F238E27FC236}">
                  <a16:creationId xmlns=""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3985807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566660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>
            <a:spLocks/>
          </p:cNvSpPr>
          <p:nvPr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>
            <a:spLocks/>
          </p:cNvSpPr>
          <p:nvPr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pic>
        <p:nvPicPr>
          <p:cNvPr id="31" name="Picture 30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35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36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7" name="Picture 36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8" name="Picture 37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sp>
        <p:nvSpPr>
          <p:cNvPr id="39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41" name="Picture 40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43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44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pic>
        <p:nvPicPr>
          <p:cNvPr id="46" name="Picture 45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47" name="Picture 46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pic>
        <p:nvPicPr>
          <p:cNvPr id="48" name="Picture 47" descr="User icon Royalty Free Vector Image - VectorStock">
            <a:extLst>
              <a:ext uri="{FF2B5EF4-FFF2-40B4-BE49-F238E27FC236}">
                <a16:creationId xmlns=""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361196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12448" y="-52871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77050">
                <a:srgbClr val="0690E0"/>
              </a:gs>
              <a:gs pos="10000">
                <a:srgbClr val="0E47A1"/>
              </a:gs>
              <a:gs pos="49425">
                <a:srgbClr val="0972C6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 smtClean="0"/>
              <a:t>dixita.kagathara@darshan.ac.in</a:t>
            </a:r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r>
              <a:rPr lang="en-US" dirty="0" smtClean="0"/>
              <a:t>+91 - 97277 47317 (CE Department)</a:t>
            </a:r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dirty="0" smtClean="0"/>
              <a:t>Computer Engineering Department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Prof. </a:t>
            </a:r>
            <a:r>
              <a:rPr lang="en-US" dirty="0" err="1" smtClean="0"/>
              <a:t>Dixita</a:t>
            </a:r>
            <a:r>
              <a:rPr lang="en-US" dirty="0" smtClean="0"/>
              <a:t> B </a:t>
            </a:r>
            <a:r>
              <a:rPr lang="en-US" dirty="0" err="1" smtClean="0"/>
              <a:t>Kagathara</a:t>
            </a:r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 smtClean="0"/>
              <a:t>Compiler Design (CD)</a:t>
            </a:r>
            <a:endParaRPr lang="en-US" dirty="0"/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sp>
        <p:nvSpPr>
          <p:cNvPr id="31" name="Hexagon 30"/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rgbClr val="0E47A1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 33"/>
          <p:cNvSpPr/>
          <p:nvPr userDrawn="1"/>
        </p:nvSpPr>
        <p:spPr>
          <a:xfrm>
            <a:off x="7678346" y="2221532"/>
            <a:ext cx="4513654" cy="1951692"/>
          </a:xfrm>
          <a:prstGeom prst="rect">
            <a:avLst/>
          </a:prstGeom>
          <a:solidFill>
            <a:srgbClr val="0972C6"/>
          </a:solidFill>
          <a:ln w="9525">
            <a:solidFill>
              <a:srgbClr val="0E47A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/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solidFill>
            <a:srgbClr val="0972C6"/>
          </a:solidFill>
          <a:ln w="9525">
            <a:solidFill>
              <a:srgbClr val="0E47A1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 smtClean="0"/>
              <a:t>Thank</a:t>
            </a:r>
          </a:p>
          <a:p>
            <a:pPr algn="ctr"/>
            <a:r>
              <a:rPr lang="en-US" sz="6000" b="1" i="1" dirty="0" smtClean="0"/>
              <a:t>You</a:t>
            </a:r>
            <a:endParaRPr lang="en-US" sz="6000" b="1" i="1" dirty="0"/>
          </a:p>
        </p:txBody>
      </p:sp>
    </p:spTree>
    <p:extLst>
      <p:ext uri="{BB962C8B-B14F-4D97-AF65-F5344CB8AC3E}">
        <p14:creationId xmlns:p14="http://schemas.microsoft.com/office/powerpoint/2010/main" val="277898943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8611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Run-time Environments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Run-time Environments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="" xmlns:a16="http://schemas.microsoft.com/office/drawing/2014/main" id="{2967F7A9-F404-4412-B868-8EB67A41E2A4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6" name="Picture 15">
              <a:extLst>
                <a:ext uri="{FF2B5EF4-FFF2-40B4-BE49-F238E27FC236}">
                  <a16:creationId xmlns="" xmlns:a16="http://schemas.microsoft.com/office/drawing/2014/main" id="{23F8D339-A0AA-4150-B7E8-C84E7F2AB7D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5" name="Rectangle 4">
              <a:extLst>
                <a:ext uri="{FF2B5EF4-FFF2-40B4-BE49-F238E27FC236}">
                  <a16:creationId xmlns="" xmlns:a16="http://schemas.microsoft.com/office/drawing/2014/main" id="{6112BAB0-1CB8-413D-970D-4F482F1A0EDB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ectangle: Rounded Corners 16">
            <a:extLst>
              <a:ext uri="{FF2B5EF4-FFF2-40B4-BE49-F238E27FC236}">
                <a16:creationId xmlns=""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=""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=""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Run-time Environments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3" name="Slide Number Placeholder 3">
            <a:extLst>
              <a:ext uri="{FF2B5EF4-FFF2-40B4-BE49-F238E27FC236}">
                <a16:creationId xmlns=""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=""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=""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90565"/>
          </a:xfrm>
        </p:spPr>
        <p:txBody>
          <a:bodyPr>
            <a:noAutofit/>
          </a:bodyPr>
          <a:lstStyle>
            <a:lvl1pPr marL="265113" indent="-265113" algn="just">
              <a:buClr>
                <a:srgbClr val="0E47A1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rgbClr val="0E47A1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rgbClr val="0E47A1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rgbClr val="0E47A1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=""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=""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Run-time Environments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FE191CF5-3D57-422B-B2EB-FF235E30DB22}"/>
              </a:ext>
            </a:extLst>
          </p:cNvPr>
          <p:cNvGrpSpPr/>
          <p:nvPr userDrawn="1"/>
        </p:nvGrpSpPr>
        <p:grpSpPr>
          <a:xfrm>
            <a:off x="9576895" y="991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C9B183D5-5DE8-48E7-85E7-60CE9D0FD2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62445F4B-50F2-4CA0-A5C5-6D690A29F3F2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Run-time Environments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913602D2-CAF0-4790-95E8-87990761ED0C}"/>
              </a:ext>
            </a:extLst>
          </p:cNvPr>
          <p:cNvGrpSpPr/>
          <p:nvPr userDrawn="1"/>
        </p:nvGrpSpPr>
        <p:grpSpPr>
          <a:xfrm>
            <a:off x="95768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A378A2C8-EF9C-479C-ACF0-D9819B46DF5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61DE4F58-7D48-453D-89E1-B25767150977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=""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=""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Dixita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B </a:t>
            </a:r>
            <a:r>
              <a:rPr lang="en-US" dirty="0" err="1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Kagathara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=""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#3170701 (CD)   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 smtClean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6 – Run-time Environments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8" name="Slide Number Placeholder 3">
            <a:extLst>
              <a:ext uri="{FF2B5EF4-FFF2-40B4-BE49-F238E27FC236}">
                <a16:creationId xmlns=""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=""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="" xmlns:a16="http://schemas.microsoft.com/office/drawing/2014/main" id="{15C60ED7-12D4-496E-AF73-0995BE8C12FD}"/>
              </a:ext>
            </a:extLst>
          </p:cNvPr>
          <p:cNvGrpSpPr/>
          <p:nvPr userDrawn="1"/>
        </p:nvGrpSpPr>
        <p:grpSpPr>
          <a:xfrm>
            <a:off x="128095" y="5890392"/>
            <a:ext cx="2554143" cy="587454"/>
            <a:chOff x="131177" y="5775962"/>
            <a:chExt cx="2530239" cy="581956"/>
          </a:xfrm>
        </p:grpSpPr>
        <p:pic>
          <p:nvPicPr>
            <p:cNvPr id="12" name="Picture 11">
              <a:extLst>
                <a:ext uri="{FF2B5EF4-FFF2-40B4-BE49-F238E27FC236}">
                  <a16:creationId xmlns="" xmlns:a16="http://schemas.microsoft.com/office/drawing/2014/main" id="{30CB04CE-0025-4B1F-B962-A759D179D84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1177" y="5775962"/>
              <a:ext cx="2530238" cy="581955"/>
            </a:xfrm>
            <a:prstGeom prst="rect">
              <a:avLst/>
            </a:prstGeom>
          </p:spPr>
        </p:pic>
        <p:sp>
          <p:nvSpPr>
            <p:cNvPr id="13" name="Rectangle 12">
              <a:extLst>
                <a:ext uri="{FF2B5EF4-FFF2-40B4-BE49-F238E27FC236}">
                  <a16:creationId xmlns="" xmlns:a16="http://schemas.microsoft.com/office/drawing/2014/main" id="{43F480CB-A4AF-424E-90DB-5B677403441A}"/>
                </a:ext>
              </a:extLst>
            </p:cNvPr>
            <p:cNvSpPr/>
            <p:nvPr userDrawn="1"/>
          </p:nvSpPr>
          <p:spPr>
            <a:xfrm>
              <a:off x="131178" y="5775962"/>
              <a:ext cx="2530238" cy="581956"/>
            </a:xfrm>
            <a:prstGeom prst="rect">
              <a:avLst/>
            </a:prstGeom>
            <a:solidFill>
              <a:schemeClr val="bg1"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=""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=""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77050">
                <a:srgbClr val="0690E0"/>
              </a:gs>
              <a:gs pos="10000">
                <a:srgbClr val="0E47A1"/>
              </a:gs>
              <a:gs pos="49425">
                <a:srgbClr val="0972C6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=""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=""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=""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=""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=""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=""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=""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=""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=""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=""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=""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=""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=""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=""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=""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65904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=""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9/14/2021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2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13" r:id="rId9"/>
    <p:sldLayoutId id="2147483718" r:id="rId10"/>
    <p:sldLayoutId id="2147483670" r:id="rId11"/>
    <p:sldLayoutId id="2147483687" r:id="rId12"/>
    <p:sldLayoutId id="2147483688" r:id="rId13"/>
    <p:sldLayoutId id="2147483672" r:id="rId14"/>
    <p:sldLayoutId id="2147483689" r:id="rId15"/>
    <p:sldLayoutId id="2147483690" r:id="rId16"/>
    <p:sldLayoutId id="2147483673" r:id="rId17"/>
    <p:sldLayoutId id="2147483719" r:id="rId18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</a:t>
            </a:r>
            <a:r>
              <a:rPr lang="en-US" dirty="0" smtClean="0"/>
              <a:t> </a:t>
            </a:r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– </a:t>
            </a:r>
            <a:r>
              <a:rPr lang="en-US" sz="4800" b="0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6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sz="4800" b="0" dirty="0"/>
              <a:t>Run-Time </a:t>
            </a:r>
            <a:r>
              <a:rPr lang="en-US" sz="4800" b="0" dirty="0" smtClean="0"/>
              <a:t>Environments</a:t>
            </a:r>
            <a:r>
              <a:rPr lang="en-US" sz="4800" b="0" dirty="0"/>
              <a:t/>
            </a:r>
            <a:br>
              <a:rPr lang="en-US" sz="4800" b="0" dirty="0"/>
            </a:br>
            <a:endParaRPr lang="en-US" sz="4800" dirty="0"/>
          </a:p>
        </p:txBody>
      </p:sp>
      <p:sp>
        <p:nvSpPr>
          <p:cNvPr id="16" name="Text Placeholder 15">
            <a:extLst>
              <a:ext uri="{FF2B5EF4-FFF2-40B4-BE49-F238E27FC236}">
                <a16:creationId xmlns="" xmlns:a16="http://schemas.microsoft.com/office/drawing/2014/main" id="{05EEC38D-B69A-4F45-9CFB-3F832F2054F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d</a:t>
            </a:r>
            <a:r>
              <a:rPr lang="en-US" dirty="0" smtClean="0"/>
              <a:t>ixita.kagathara@darshan.ac.in</a:t>
            </a:r>
            <a:endParaRPr lang="en-US" dirty="0"/>
          </a:p>
        </p:txBody>
      </p:sp>
      <p:sp>
        <p:nvSpPr>
          <p:cNvPr id="17" name="Text Placeholder 16">
            <a:extLst>
              <a:ext uri="{FF2B5EF4-FFF2-40B4-BE49-F238E27FC236}">
                <a16:creationId xmlns="" xmlns:a16="http://schemas.microsoft.com/office/drawing/2014/main" id="{3B892750-977A-4A19-B627-46C829D9CDA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+91 - 97277 </a:t>
            </a:r>
            <a:r>
              <a:rPr lang="en-US" dirty="0" smtClean="0"/>
              <a:t>47317 (CE Department)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="" xmlns:a16="http://schemas.microsoft.com/office/drawing/2014/main" id="{DDD3C75D-9CAD-401D-B6F2-D687EEC3CDE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Computer Engineering </a:t>
            </a:r>
            <a:r>
              <a:rPr lang="en-US" dirty="0" smtClean="0"/>
              <a:t>Department</a:t>
            </a:r>
            <a:endParaRPr lang="en-US" dirty="0"/>
          </a:p>
        </p:txBody>
      </p:sp>
      <p:sp>
        <p:nvSpPr>
          <p:cNvPr id="19" name="Text Placeholder 18">
            <a:extLst>
              <a:ext uri="{FF2B5EF4-FFF2-40B4-BE49-F238E27FC236}">
                <a16:creationId xmlns="" xmlns:a16="http://schemas.microsoft.com/office/drawing/2014/main" id="{D6DA44CB-50AE-4D51-AC18-61617625288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</a:t>
            </a:r>
            <a:r>
              <a:rPr lang="en-US" dirty="0" err="1" smtClean="0"/>
              <a:t>Dixita</a:t>
            </a:r>
            <a:r>
              <a:rPr lang="en-US" dirty="0" smtClean="0"/>
              <a:t> B. </a:t>
            </a:r>
            <a:r>
              <a:rPr lang="en-US" dirty="0" err="1" smtClean="0"/>
              <a:t>Kagathara</a:t>
            </a:r>
            <a:endParaRPr lang="en-US" dirty="0"/>
          </a:p>
        </p:txBody>
      </p:sp>
      <p:sp>
        <p:nvSpPr>
          <p:cNvPr id="20" name="Text Placeholder 19">
            <a:extLst>
              <a:ext uri="{FF2B5EF4-FFF2-40B4-BE49-F238E27FC236}">
                <a16:creationId xmlns="" xmlns:a16="http://schemas.microsoft.com/office/drawing/2014/main" id="{FF5B8673-7BA1-4EA7-991A-5F4DCD3054D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 smtClean="0"/>
              <a:t>Compiler Design 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(CD)</a:t>
            </a:r>
          </a:p>
          <a:p>
            <a:r>
              <a:rPr lang="en-US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GTU # 3</a:t>
            </a:r>
            <a:r>
              <a:rPr lang="en-US" dirty="0" smtClean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170701</a:t>
            </a:r>
            <a:endParaRPr lang="en-US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pic>
        <p:nvPicPr>
          <p:cNvPr id="3" name="Picture Placeholder 2"/>
          <p:cNvPicPr>
            <a:picLocks noGrp="1" noChangeAspect="1"/>
          </p:cNvPicPr>
          <p:nvPr>
            <p:ph type="pic" sz="quarter"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8035936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xmlns="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xmlns="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xmlns="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507492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BDA2F9A4-6988-4274-8384-12496EC9D59D}"/>
              </a:ext>
            </a:extLst>
          </p:cNvPr>
          <p:cNvSpPr txBox="1"/>
          <p:nvPr/>
        </p:nvSpPr>
        <p:spPr>
          <a:xfrm>
            <a:off x="1479767" y="195312"/>
            <a:ext cx="7668994" cy="41088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 smtClean="0"/>
              <a:t>Topics to be covered </a:t>
            </a:r>
            <a:endParaRPr lang="en-US" sz="3600" b="1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Source </a:t>
            </a:r>
            <a:r>
              <a:rPr lang="en-US" sz="2400" dirty="0"/>
              <a:t>language issues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/>
              <a:t>Storage </a:t>
            </a:r>
            <a:r>
              <a:rPr lang="en-US" sz="2400" dirty="0" smtClean="0"/>
              <a:t>organization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smtClean="0"/>
              <a:t>Storage allocation strategies</a:t>
            </a:r>
            <a:endParaRPr lang="en-US" sz="2400" dirty="0"/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>
                  <a:lumMod val="50000"/>
                </a:schemeClr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dirty="0" smtClean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  <a:p>
            <a:endParaRPr lang="en-US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0188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6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80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3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80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3300"/>
                            </p:stCondLst>
                            <p:childTnLst>
                              <p:par>
                                <p:cTn id="3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  <p:bldP spid="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Source </a:t>
            </a:r>
            <a:r>
              <a:rPr lang="en-US" dirty="0"/>
              <a:t>language </a:t>
            </a:r>
            <a:r>
              <a:rPr lang="en-US" dirty="0" smtClean="0"/>
              <a:t>issues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5905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Run-Time Environments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As execution proceeds, the same name is the source text can be denote different data objects in the target machine.</a:t>
            </a:r>
          </a:p>
          <a:p>
            <a:r>
              <a:rPr lang="en-US" dirty="0" smtClean="0"/>
              <a:t>Each execution of a procedure is referred to as an activation of the procedure.</a:t>
            </a:r>
          </a:p>
          <a:p>
            <a:r>
              <a:rPr lang="en-US" dirty="0" smtClean="0"/>
              <a:t>If the procedure is recursive, several of its activation may be alive at same time.</a:t>
            </a:r>
          </a:p>
          <a:p>
            <a:pPr marL="0" indent="0">
              <a:buNone/>
            </a:pPr>
            <a:r>
              <a:rPr lang="en-US" dirty="0">
                <a:solidFill>
                  <a:srgbClr val="0E47A1"/>
                </a:solidFill>
              </a:rPr>
              <a:t>Source language </a:t>
            </a:r>
            <a:r>
              <a:rPr lang="en-US" dirty="0" smtClean="0">
                <a:solidFill>
                  <a:srgbClr val="0E47A1"/>
                </a:solidFill>
              </a:rPr>
              <a:t>issues:</a:t>
            </a:r>
            <a:endParaRPr lang="en-US" dirty="0">
              <a:solidFill>
                <a:srgbClr val="0E47A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Procedures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Activation tree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Control stack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The Scope of a declaration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Binding of names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64184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</a:t>
            </a:r>
            <a:r>
              <a:rPr lang="en-US" dirty="0" smtClean="0"/>
              <a:t>rocedures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2356274"/>
          </a:xfrm>
        </p:spPr>
        <p:txBody>
          <a:bodyPr/>
          <a:lstStyle/>
          <a:p>
            <a:r>
              <a:rPr lang="en-US" dirty="0" smtClean="0"/>
              <a:t>A program is made up of procedures.</a:t>
            </a:r>
          </a:p>
          <a:p>
            <a:r>
              <a:rPr lang="en-US" dirty="0" smtClean="0"/>
              <a:t>Procedure: declaration that associate an identifier with a statement.</a:t>
            </a:r>
          </a:p>
          <a:p>
            <a:r>
              <a:rPr lang="en-US" dirty="0" smtClean="0"/>
              <a:t>Identifier: procedure name</a:t>
            </a:r>
          </a:p>
          <a:p>
            <a:r>
              <a:rPr lang="en-US" dirty="0" smtClean="0"/>
              <a:t>Statement: procedure body</a:t>
            </a:r>
          </a:p>
          <a:p>
            <a:r>
              <a:rPr lang="en-US" dirty="0" smtClean="0"/>
              <a:t>Procedure call: procedure name appears within an executable statement.</a:t>
            </a:r>
          </a:p>
          <a:p>
            <a:r>
              <a:rPr lang="en-US" dirty="0" smtClean="0"/>
              <a:t>Example:</a:t>
            </a:r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34365" y="3662236"/>
            <a:ext cx="2624899" cy="2356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1" dirty="0" smtClean="0"/>
              <a:t>main()</a:t>
            </a:r>
          </a:p>
          <a:p>
            <a:pPr marL="0" indent="0">
              <a:buNone/>
            </a:pPr>
            <a:r>
              <a:rPr lang="en-US" sz="1800" i="1" dirty="0" smtClean="0"/>
              <a:t>{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n;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err="1" smtClean="0"/>
              <a:t>readarray</a:t>
            </a:r>
            <a:r>
              <a:rPr lang="en-US" sz="1800" i="1" dirty="0" smtClean="0"/>
              <a:t>();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smtClean="0"/>
              <a:t>quicksort(1, n);</a:t>
            </a:r>
          </a:p>
          <a:p>
            <a:pPr marL="0" indent="0">
              <a:buNone/>
            </a:pPr>
            <a:r>
              <a:rPr lang="en-US" sz="1800" i="1" dirty="0" smtClean="0"/>
              <a:t>}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3279745" y="3660900"/>
            <a:ext cx="3090685" cy="2356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1" dirty="0" smtClean="0"/>
              <a:t>void quicksort(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m, 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n)</a:t>
            </a:r>
          </a:p>
          <a:p>
            <a:pPr marL="0" indent="0">
              <a:buNone/>
            </a:pPr>
            <a:r>
              <a:rPr lang="en-US" sz="1800" i="1" dirty="0" smtClean="0"/>
              <a:t>{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</a:t>
            </a:r>
            <a:r>
              <a:rPr lang="en-US" sz="1800" i="1" dirty="0" err="1" smtClean="0"/>
              <a:t>i</a:t>
            </a:r>
            <a:r>
              <a:rPr lang="en-US" sz="1800" i="1" dirty="0" smtClean="0"/>
              <a:t>=partition(m, n);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smtClean="0"/>
              <a:t>quicksort(m, i-1);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smtClean="0"/>
              <a:t>quicksort(i+1, n);</a:t>
            </a:r>
          </a:p>
          <a:p>
            <a:pPr marL="0" indent="0">
              <a:buNone/>
            </a:pPr>
            <a:r>
              <a:rPr lang="en-US" sz="1800" i="1" dirty="0" smtClean="0"/>
              <a:t>}</a:t>
            </a:r>
            <a:endParaRPr lang="en-US" sz="1800" i="1" dirty="0"/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6754687" y="3660900"/>
            <a:ext cx="3090685" cy="2356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1" dirty="0" smtClean="0"/>
              <a:t>void </a:t>
            </a:r>
            <a:r>
              <a:rPr lang="en-US" sz="1800" i="1" dirty="0" err="1" smtClean="0"/>
              <a:t>readarray</a:t>
            </a:r>
            <a:r>
              <a:rPr lang="en-US" sz="1800" i="1" dirty="0" smtClean="0"/>
              <a:t>()</a:t>
            </a:r>
          </a:p>
          <a:p>
            <a:pPr marL="0" indent="0">
              <a:buNone/>
            </a:pPr>
            <a:r>
              <a:rPr lang="en-US" sz="1800" i="1" dirty="0" smtClean="0"/>
              <a:t>{</a:t>
            </a:r>
          </a:p>
          <a:p>
            <a:pPr marL="0" indent="0">
              <a:buNone/>
            </a:pPr>
            <a:r>
              <a:rPr lang="en-US" sz="1800" i="1" dirty="0" smtClean="0"/>
              <a:t>	………</a:t>
            </a:r>
            <a:r>
              <a:rPr lang="en-US" sz="1800" i="1" dirty="0"/>
              <a:t>	</a:t>
            </a:r>
            <a:endParaRPr lang="en-US" sz="1800" i="1" dirty="0" smtClean="0"/>
          </a:p>
          <a:p>
            <a:pPr marL="0" indent="0">
              <a:buNone/>
            </a:pPr>
            <a:r>
              <a:rPr lang="en-US" sz="1800" i="1" dirty="0" smtClean="0"/>
              <a:t>}</a:t>
            </a:r>
          </a:p>
          <a:p>
            <a:pPr marL="0" indent="0">
              <a:buNone/>
            </a:pPr>
            <a:r>
              <a:rPr lang="en-US" sz="1800" i="1" dirty="0" err="1" smtClean="0"/>
              <a:t>int</a:t>
            </a:r>
            <a:r>
              <a:rPr lang="en-US" sz="1800" i="1" dirty="0" smtClean="0"/>
              <a:t> partition(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y, 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z)</a:t>
            </a:r>
          </a:p>
          <a:p>
            <a:pPr marL="0" indent="0">
              <a:buNone/>
            </a:pPr>
            <a:r>
              <a:rPr lang="en-US" sz="1800" i="1" dirty="0" smtClean="0"/>
              <a:t>{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smtClean="0"/>
              <a:t>……</a:t>
            </a:r>
          </a:p>
          <a:p>
            <a:pPr marL="0" indent="0">
              <a:buNone/>
            </a:pPr>
            <a:r>
              <a:rPr lang="en-US" sz="1800" i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3209158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Activation Tree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1" y="863444"/>
            <a:ext cx="7892358" cy="5590565"/>
          </a:xfrm>
        </p:spPr>
        <p:txBody>
          <a:bodyPr/>
          <a:lstStyle/>
          <a:p>
            <a:r>
              <a:rPr lang="en-US" dirty="0" smtClean="0"/>
              <a:t>If ‘a’ and ‘b’ are two procedures, their activations will be:</a:t>
            </a:r>
          </a:p>
          <a:p>
            <a:pPr lvl="1"/>
            <a:r>
              <a:rPr lang="en-US" dirty="0" smtClean="0"/>
              <a:t>Non-overlapping: when one is called after other</a:t>
            </a:r>
          </a:p>
          <a:p>
            <a:pPr lvl="1"/>
            <a:r>
              <a:rPr lang="en-US" dirty="0" smtClean="0"/>
              <a:t>Nested: nested procedure</a:t>
            </a:r>
          </a:p>
          <a:p>
            <a:pPr lvl="1"/>
            <a:r>
              <a:rPr lang="en-US" dirty="0" smtClean="0"/>
              <a:t>Recursive procedure: new activation begins before an earlier activation of the same procedure has ended.</a:t>
            </a:r>
          </a:p>
          <a:p>
            <a:pPr marL="255588" indent="-342900"/>
            <a:r>
              <a:rPr lang="en-US" sz="2200" dirty="0" smtClean="0"/>
              <a:t>An </a:t>
            </a:r>
            <a:r>
              <a:rPr lang="en-US" sz="2200" dirty="0"/>
              <a:t>activation tree shows the way control enters and </a:t>
            </a:r>
            <a:r>
              <a:rPr lang="en-US" sz="2200" dirty="0" smtClean="0"/>
              <a:t>leaves   activations.</a:t>
            </a:r>
          </a:p>
          <a:p>
            <a:pPr marL="255588" indent="-342900"/>
            <a:endParaRPr lang="en-US" sz="2200" dirty="0" smtClean="0"/>
          </a:p>
          <a:p>
            <a:pPr marL="255588" indent="-342900"/>
            <a:r>
              <a:rPr lang="en-US" sz="2200" dirty="0" smtClean="0"/>
              <a:t>Properties of </a:t>
            </a:r>
            <a:r>
              <a:rPr lang="en-US" sz="2200" dirty="0"/>
              <a:t>activation trees are :-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200" dirty="0" smtClean="0"/>
              <a:t>Each </a:t>
            </a:r>
            <a:r>
              <a:rPr lang="en-US" sz="2200" dirty="0"/>
              <a:t>node represents an activation of a procedure.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200" dirty="0"/>
              <a:t>The root shows the activation of the main function.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200" dirty="0"/>
              <a:t>The node for procedure </a:t>
            </a:r>
            <a:r>
              <a:rPr lang="en-US" sz="2200" dirty="0" smtClean="0"/>
              <a:t>‘a’ </a:t>
            </a:r>
            <a:r>
              <a:rPr lang="en-US" sz="2200" dirty="0"/>
              <a:t>is the parent of node for procedure </a:t>
            </a:r>
            <a:r>
              <a:rPr lang="en-US" sz="2200" dirty="0" smtClean="0"/>
              <a:t>‘b’ </a:t>
            </a:r>
            <a:r>
              <a:rPr lang="en-US" sz="2200" dirty="0"/>
              <a:t>if and only if the control flows from procedure </a:t>
            </a:r>
            <a:r>
              <a:rPr lang="en-US" sz="2200" dirty="0" smtClean="0"/>
              <a:t>a </a:t>
            </a:r>
            <a:r>
              <a:rPr lang="en-US" sz="2200" dirty="0"/>
              <a:t>to procedure </a:t>
            </a:r>
            <a:r>
              <a:rPr lang="en-US" sz="2200" dirty="0" smtClean="0"/>
              <a:t>b.</a:t>
            </a:r>
          </a:p>
          <a:p>
            <a:pPr marL="457200" indent="-457200" fontAlgn="base">
              <a:buFont typeface="+mj-lt"/>
              <a:buAutoNum type="arabicPeriod"/>
            </a:pPr>
            <a:r>
              <a:rPr lang="en-US" sz="2200" dirty="0" smtClean="0"/>
              <a:t>If node ‘a’ is left of the node ‘b’ if and only if the lifetime of a occurs before the lifetime of b.</a:t>
            </a:r>
            <a:endParaRPr lang="en-US" sz="2200" dirty="0"/>
          </a:p>
          <a:p>
            <a:pPr marL="0" indent="-87312">
              <a:buNone/>
            </a:pPr>
            <a:r>
              <a:rPr lang="en-US" dirty="0" smtClean="0"/>
              <a:t> </a:t>
            </a:r>
          </a:p>
        </p:txBody>
      </p:sp>
      <p:sp>
        <p:nvSpPr>
          <p:cNvPr id="5" name="Rectangle 4"/>
          <p:cNvSpPr/>
          <p:nvPr/>
        </p:nvSpPr>
        <p:spPr>
          <a:xfrm>
            <a:off x="8807345" y="2241590"/>
            <a:ext cx="133114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main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7" name="Straight Connector 6"/>
          <p:cNvCxnSpPr>
            <a:stCxn id="5" idx="2"/>
          </p:cNvCxnSpPr>
          <p:nvPr/>
        </p:nvCxnSpPr>
        <p:spPr>
          <a:xfrm flipH="1">
            <a:off x="8853336" y="2596996"/>
            <a:ext cx="619580" cy="203551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>
            <a:stCxn id="5" idx="2"/>
          </p:cNvCxnSpPr>
          <p:nvPr/>
        </p:nvCxnSpPr>
        <p:spPr>
          <a:xfrm>
            <a:off x="9472916" y="2596996"/>
            <a:ext cx="580217" cy="203551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8054255" y="2800547"/>
            <a:ext cx="133114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E47A1"/>
                </a:solidFill>
              </a:rPr>
              <a:t>r</a:t>
            </a:r>
            <a:r>
              <a:rPr lang="en-US" dirty="0" err="1" smtClean="0">
                <a:solidFill>
                  <a:srgbClr val="0E47A1"/>
                </a:solidFill>
              </a:rPr>
              <a:t>eadarray</a:t>
            </a:r>
            <a:r>
              <a:rPr lang="en-US" dirty="0" smtClean="0">
                <a:solidFill>
                  <a:srgbClr val="0E47A1"/>
                </a:solidFill>
              </a:rPr>
              <a:t>()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763024" y="2800547"/>
            <a:ext cx="1563917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quicksort(1,10)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15" name="Straight Connector 14"/>
          <p:cNvCxnSpPr/>
          <p:nvPr/>
        </p:nvCxnSpPr>
        <p:spPr>
          <a:xfrm flipH="1">
            <a:off x="9518906" y="3282506"/>
            <a:ext cx="619580" cy="203551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>
            <a:endCxn id="18" idx="0"/>
          </p:cNvCxnSpPr>
          <p:nvPr/>
        </p:nvCxnSpPr>
        <p:spPr>
          <a:xfrm>
            <a:off x="10138486" y="3282506"/>
            <a:ext cx="0" cy="528361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8076858" y="3414747"/>
            <a:ext cx="1520477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Partition(1,10)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04290" y="3810867"/>
            <a:ext cx="146839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quicksort(1,4)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19" name="Content Placeholder 2"/>
          <p:cNvSpPr txBox="1">
            <a:spLocks/>
          </p:cNvSpPr>
          <p:nvPr/>
        </p:nvSpPr>
        <p:spPr>
          <a:xfrm>
            <a:off x="434365" y="3662236"/>
            <a:ext cx="2624899" cy="2356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1" dirty="0" smtClean="0"/>
              <a:t>main()</a:t>
            </a:r>
          </a:p>
          <a:p>
            <a:pPr marL="0" indent="0">
              <a:buNone/>
            </a:pPr>
            <a:r>
              <a:rPr lang="en-US" sz="1800" i="1" dirty="0" smtClean="0"/>
              <a:t>{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n;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err="1" smtClean="0"/>
              <a:t>readarray</a:t>
            </a:r>
            <a:r>
              <a:rPr lang="en-US" sz="1800" i="1" dirty="0" smtClean="0"/>
              <a:t>();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smtClean="0"/>
              <a:t>quicksort(1, n);</a:t>
            </a:r>
          </a:p>
          <a:p>
            <a:pPr marL="0" indent="0">
              <a:buNone/>
            </a:pPr>
            <a:r>
              <a:rPr lang="en-US" sz="1800" i="1" dirty="0" smtClean="0"/>
              <a:t>}</a:t>
            </a:r>
          </a:p>
        </p:txBody>
      </p:sp>
      <p:sp>
        <p:nvSpPr>
          <p:cNvPr id="20" name="Content Placeholder 2"/>
          <p:cNvSpPr txBox="1">
            <a:spLocks/>
          </p:cNvSpPr>
          <p:nvPr/>
        </p:nvSpPr>
        <p:spPr>
          <a:xfrm>
            <a:off x="3279745" y="3660900"/>
            <a:ext cx="3090685" cy="2356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1" dirty="0" smtClean="0"/>
              <a:t>void quicksort(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m, 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n)</a:t>
            </a:r>
          </a:p>
          <a:p>
            <a:pPr marL="0" indent="0">
              <a:buNone/>
            </a:pPr>
            <a:r>
              <a:rPr lang="en-US" sz="1800" i="1" dirty="0" smtClean="0"/>
              <a:t>{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</a:t>
            </a:r>
            <a:r>
              <a:rPr lang="en-US" sz="1800" i="1" dirty="0" err="1" smtClean="0"/>
              <a:t>i</a:t>
            </a:r>
            <a:r>
              <a:rPr lang="en-US" sz="1800" i="1" dirty="0" smtClean="0"/>
              <a:t>=partition(m, n);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smtClean="0"/>
              <a:t>quicksort(m, i-1);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smtClean="0"/>
              <a:t>quicksort(i+1, n);</a:t>
            </a:r>
          </a:p>
          <a:p>
            <a:pPr marL="0" indent="0">
              <a:buNone/>
            </a:pPr>
            <a:r>
              <a:rPr lang="en-US" sz="1800" i="1" dirty="0" smtClean="0"/>
              <a:t>}</a:t>
            </a:r>
            <a:endParaRPr lang="en-US" sz="1800" i="1" dirty="0"/>
          </a:p>
        </p:txBody>
      </p:sp>
      <p:sp>
        <p:nvSpPr>
          <p:cNvPr id="21" name="Content Placeholder 2"/>
          <p:cNvSpPr txBox="1">
            <a:spLocks/>
          </p:cNvSpPr>
          <p:nvPr/>
        </p:nvSpPr>
        <p:spPr>
          <a:xfrm>
            <a:off x="6754687" y="3660900"/>
            <a:ext cx="3090685" cy="2356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1" dirty="0" smtClean="0"/>
              <a:t>void </a:t>
            </a:r>
            <a:r>
              <a:rPr lang="en-US" sz="1800" i="1" dirty="0" err="1" smtClean="0"/>
              <a:t>readarray</a:t>
            </a:r>
            <a:r>
              <a:rPr lang="en-US" sz="1800" i="1" dirty="0" smtClean="0"/>
              <a:t>()</a:t>
            </a:r>
          </a:p>
          <a:p>
            <a:pPr marL="0" indent="0">
              <a:buNone/>
            </a:pPr>
            <a:r>
              <a:rPr lang="en-US" sz="1800" i="1" dirty="0" smtClean="0"/>
              <a:t>{</a:t>
            </a:r>
          </a:p>
          <a:p>
            <a:pPr marL="0" indent="0">
              <a:buNone/>
            </a:pPr>
            <a:r>
              <a:rPr lang="en-US" sz="1800" i="1" dirty="0" smtClean="0"/>
              <a:t>	………</a:t>
            </a:r>
            <a:r>
              <a:rPr lang="en-US" sz="1800" i="1" dirty="0"/>
              <a:t>	</a:t>
            </a:r>
            <a:endParaRPr lang="en-US" sz="1800" i="1" dirty="0" smtClean="0"/>
          </a:p>
          <a:p>
            <a:pPr marL="0" indent="0">
              <a:buNone/>
            </a:pPr>
            <a:r>
              <a:rPr lang="en-US" sz="1800" i="1" dirty="0" smtClean="0"/>
              <a:t>}</a:t>
            </a:r>
          </a:p>
          <a:p>
            <a:pPr marL="0" indent="0">
              <a:buNone/>
            </a:pPr>
            <a:r>
              <a:rPr lang="en-US" sz="1800" i="1" dirty="0" err="1" smtClean="0"/>
              <a:t>int</a:t>
            </a:r>
            <a:r>
              <a:rPr lang="en-US" sz="1800" i="1" dirty="0" smtClean="0"/>
              <a:t> partition(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y, 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z)</a:t>
            </a:r>
          </a:p>
          <a:p>
            <a:pPr marL="0" indent="0">
              <a:buNone/>
            </a:pPr>
            <a:r>
              <a:rPr lang="en-US" sz="1800" i="1" dirty="0" smtClean="0"/>
              <a:t>{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smtClean="0"/>
              <a:t>……</a:t>
            </a:r>
          </a:p>
          <a:p>
            <a:pPr marL="0" indent="0">
              <a:buNone/>
            </a:pPr>
            <a:r>
              <a:rPr lang="en-US" sz="1800" i="1" dirty="0"/>
              <a:t>}</a:t>
            </a:r>
          </a:p>
        </p:txBody>
      </p:sp>
      <p:cxnSp>
        <p:nvCxnSpPr>
          <p:cNvPr id="22" name="Straight Connector 21"/>
          <p:cNvCxnSpPr/>
          <p:nvPr/>
        </p:nvCxnSpPr>
        <p:spPr>
          <a:xfrm>
            <a:off x="10138486" y="3297608"/>
            <a:ext cx="580217" cy="203551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10628083" y="3429613"/>
            <a:ext cx="1563917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quicksort(6,10)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9453234" y="4247412"/>
            <a:ext cx="619580" cy="203551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/>
          <p:cNvCxnSpPr>
            <a:endCxn id="27" idx="0"/>
          </p:cNvCxnSpPr>
          <p:nvPr/>
        </p:nvCxnSpPr>
        <p:spPr>
          <a:xfrm>
            <a:off x="10072814" y="4247412"/>
            <a:ext cx="0" cy="528361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8011186" y="4379653"/>
            <a:ext cx="1520477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Partition(1,4)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9338618" y="4775773"/>
            <a:ext cx="146839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quicksort(1,2)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>
            <a:off x="10072814" y="4249635"/>
            <a:ext cx="580217" cy="203551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/>
        </p:nvSpPr>
        <p:spPr>
          <a:xfrm>
            <a:off x="10562411" y="4394519"/>
            <a:ext cx="1563917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quicksort(4,4)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30" name="Title 1"/>
          <p:cNvSpPr txBox="1">
            <a:spLocks/>
          </p:cNvSpPr>
          <p:nvPr/>
        </p:nvSpPr>
        <p:spPr>
          <a:xfrm>
            <a:off x="-65672" y="-2753457"/>
            <a:ext cx="12192000" cy="711200"/>
          </a:xfrm>
          <a:prstGeom prst="rect">
            <a:avLst/>
          </a:prstGeom>
          <a:solidFill>
            <a:srgbClr val="C0C0C0">
              <a:alpha val="50000"/>
            </a:srgbClr>
          </a:solidFill>
          <a:ln>
            <a:noFill/>
          </a:ln>
        </p:spPr>
        <p:txBody>
          <a:bodyPr vert="horz" lIns="216000" tIns="108000" rIns="216000" bIns="10800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Activation Tree</a:t>
            </a:r>
            <a:endParaRPr lang="en-US"/>
          </a:p>
        </p:txBody>
      </p:sp>
      <p:sp>
        <p:nvSpPr>
          <p:cNvPr id="31" name="Content Placeholder 2"/>
          <p:cNvSpPr txBox="1">
            <a:spLocks/>
          </p:cNvSpPr>
          <p:nvPr/>
        </p:nvSpPr>
        <p:spPr>
          <a:xfrm>
            <a:off x="163973" y="785946"/>
            <a:ext cx="2624899" cy="2356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1" dirty="0" smtClean="0"/>
              <a:t>main()</a:t>
            </a:r>
          </a:p>
          <a:p>
            <a:pPr marL="0" indent="0">
              <a:buNone/>
            </a:pPr>
            <a:r>
              <a:rPr lang="en-US" sz="1800" i="1" dirty="0" smtClean="0"/>
              <a:t>{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n;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err="1" smtClean="0"/>
              <a:t>readarray</a:t>
            </a:r>
            <a:r>
              <a:rPr lang="en-US" sz="1800" i="1" dirty="0" smtClean="0"/>
              <a:t>();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smtClean="0"/>
              <a:t>quicksort(1, n);</a:t>
            </a:r>
          </a:p>
          <a:p>
            <a:pPr marL="0" indent="0">
              <a:buNone/>
            </a:pPr>
            <a:r>
              <a:rPr lang="en-US" sz="1800" i="1" dirty="0" smtClean="0"/>
              <a:t>}</a:t>
            </a:r>
          </a:p>
        </p:txBody>
      </p:sp>
      <p:sp>
        <p:nvSpPr>
          <p:cNvPr id="32" name="Content Placeholder 2"/>
          <p:cNvSpPr txBox="1">
            <a:spLocks/>
          </p:cNvSpPr>
          <p:nvPr/>
        </p:nvSpPr>
        <p:spPr>
          <a:xfrm>
            <a:off x="2886521" y="784610"/>
            <a:ext cx="3090685" cy="2356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1" dirty="0" smtClean="0"/>
              <a:t>void quicksort(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m, 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n)</a:t>
            </a:r>
          </a:p>
          <a:p>
            <a:pPr marL="0" indent="0">
              <a:buNone/>
            </a:pPr>
            <a:r>
              <a:rPr lang="en-US" sz="1800" i="1" dirty="0" smtClean="0"/>
              <a:t>{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</a:t>
            </a:r>
            <a:r>
              <a:rPr lang="en-US" sz="1800" i="1" dirty="0" err="1" smtClean="0"/>
              <a:t>i</a:t>
            </a:r>
            <a:r>
              <a:rPr lang="en-US" sz="1800" i="1" dirty="0" smtClean="0"/>
              <a:t>=partition(m, n);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smtClean="0"/>
              <a:t>quicksort(m, i-1);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smtClean="0"/>
              <a:t>quicksort(i+1, n);</a:t>
            </a:r>
          </a:p>
          <a:p>
            <a:pPr marL="0" indent="0">
              <a:buNone/>
            </a:pPr>
            <a:r>
              <a:rPr lang="en-US" sz="1800" i="1" dirty="0" smtClean="0"/>
              <a:t>}</a:t>
            </a:r>
            <a:endParaRPr lang="en-US" sz="1800" i="1" dirty="0"/>
          </a:p>
        </p:txBody>
      </p:sp>
      <p:sp>
        <p:nvSpPr>
          <p:cNvPr id="33" name="Content Placeholder 2"/>
          <p:cNvSpPr txBox="1">
            <a:spLocks/>
          </p:cNvSpPr>
          <p:nvPr/>
        </p:nvSpPr>
        <p:spPr>
          <a:xfrm>
            <a:off x="6238631" y="784610"/>
            <a:ext cx="3090685" cy="235627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i="1" dirty="0" smtClean="0"/>
              <a:t>void </a:t>
            </a:r>
            <a:r>
              <a:rPr lang="en-US" sz="1800" i="1" dirty="0" err="1" smtClean="0"/>
              <a:t>readarray</a:t>
            </a:r>
            <a:r>
              <a:rPr lang="en-US" sz="1800" i="1" dirty="0" smtClean="0"/>
              <a:t>()</a:t>
            </a:r>
          </a:p>
          <a:p>
            <a:pPr marL="0" indent="0">
              <a:buNone/>
            </a:pPr>
            <a:r>
              <a:rPr lang="en-US" sz="1800" i="1" dirty="0" smtClean="0"/>
              <a:t>{</a:t>
            </a:r>
          </a:p>
          <a:p>
            <a:pPr marL="0" indent="0">
              <a:buNone/>
            </a:pPr>
            <a:r>
              <a:rPr lang="en-US" sz="1800" i="1" dirty="0" smtClean="0"/>
              <a:t>	………</a:t>
            </a:r>
            <a:r>
              <a:rPr lang="en-US" sz="1800" i="1" dirty="0"/>
              <a:t>	</a:t>
            </a:r>
            <a:endParaRPr lang="en-US" sz="1800" i="1" dirty="0" smtClean="0"/>
          </a:p>
          <a:p>
            <a:pPr marL="0" indent="0">
              <a:buNone/>
            </a:pPr>
            <a:r>
              <a:rPr lang="en-US" sz="1800" i="1" dirty="0" smtClean="0"/>
              <a:t>}</a:t>
            </a:r>
          </a:p>
          <a:p>
            <a:pPr marL="0" indent="0">
              <a:buNone/>
            </a:pPr>
            <a:r>
              <a:rPr lang="en-US" sz="1800" i="1" dirty="0" err="1" smtClean="0"/>
              <a:t>int</a:t>
            </a:r>
            <a:r>
              <a:rPr lang="en-US" sz="1800" i="1" dirty="0" smtClean="0"/>
              <a:t> partition(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y, </a:t>
            </a:r>
            <a:r>
              <a:rPr lang="en-US" sz="1800" i="1" dirty="0" err="1" smtClean="0"/>
              <a:t>int</a:t>
            </a:r>
            <a:r>
              <a:rPr lang="en-US" sz="1800" i="1" dirty="0" smtClean="0"/>
              <a:t> z)</a:t>
            </a:r>
          </a:p>
          <a:p>
            <a:pPr marL="0" indent="0">
              <a:buNone/>
            </a:pPr>
            <a:r>
              <a:rPr lang="en-US" sz="1800" i="1" dirty="0" smtClean="0"/>
              <a:t>{</a:t>
            </a:r>
          </a:p>
          <a:p>
            <a:pPr marL="0" indent="0">
              <a:buNone/>
            </a:pPr>
            <a:r>
              <a:rPr lang="en-US" sz="1800" i="1" dirty="0"/>
              <a:t>	</a:t>
            </a:r>
            <a:r>
              <a:rPr lang="en-US" sz="1800" i="1" dirty="0" smtClean="0"/>
              <a:t>……</a:t>
            </a:r>
          </a:p>
          <a:p>
            <a:pPr marL="0" indent="0">
              <a:buNone/>
            </a:pPr>
            <a:r>
              <a:rPr lang="en-US" sz="1800" i="1" dirty="0"/>
              <a:t>}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338618" y="5186235"/>
            <a:ext cx="1833485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Activation Tree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62894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3" grpId="0"/>
      <p:bldP spid="14" grpId="0"/>
      <p:bldP spid="17" grpId="0"/>
      <p:bldP spid="18" grpId="0"/>
      <p:bldP spid="19" grpId="0"/>
      <p:bldP spid="19" grpId="1"/>
      <p:bldP spid="20" grpId="0"/>
      <p:bldP spid="20" grpId="1"/>
      <p:bldP spid="21" grpId="0"/>
      <p:bldP spid="21" grpId="1"/>
      <p:bldP spid="23" grpId="0"/>
      <p:bldP spid="26" grpId="0"/>
      <p:bldP spid="27" grpId="0"/>
      <p:bldP spid="29" grpId="0"/>
      <p:bldP spid="31" grpId="0"/>
      <p:bldP spid="32" grpId="0"/>
      <p:bldP spid="33" grpId="0"/>
      <p:bldP spid="3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Control stack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Control stack or runtime stack is used to keep track of the live procedure activations </a:t>
            </a:r>
            <a:r>
              <a:rPr lang="en-US" sz="2200" dirty="0" err="1"/>
              <a:t>i.e</a:t>
            </a:r>
            <a:r>
              <a:rPr lang="en-US" sz="2200" dirty="0"/>
              <a:t> the procedures whose execution have not been completed. </a:t>
            </a:r>
            <a:endParaRPr lang="en-US" sz="2200" dirty="0" smtClean="0"/>
          </a:p>
          <a:p>
            <a:r>
              <a:rPr lang="en-US" sz="2200" dirty="0" smtClean="0"/>
              <a:t>A </a:t>
            </a:r>
            <a:r>
              <a:rPr lang="en-US" sz="2200" dirty="0"/>
              <a:t>procedure name is pushed on to the stack when it is called (activation begins) and it is popped when it returns (activation ends). </a:t>
            </a:r>
            <a:endParaRPr lang="en-US" sz="2200" dirty="0" smtClean="0"/>
          </a:p>
          <a:p>
            <a:r>
              <a:rPr lang="en-US" sz="2200" dirty="0" smtClean="0"/>
              <a:t>Information </a:t>
            </a:r>
            <a:r>
              <a:rPr lang="en-US" sz="2200" dirty="0"/>
              <a:t>needed by a single execution of a procedure is managed using an activation record or frame. When a procedure is called, an activation record is pushed into the stack and as soon as </a:t>
            </a:r>
            <a:r>
              <a:rPr lang="en-US" sz="2200" dirty="0" smtClean="0"/>
              <a:t>the </a:t>
            </a:r>
            <a:r>
              <a:rPr lang="en-US" sz="2200" dirty="0"/>
              <a:t>control </a:t>
            </a:r>
            <a:r>
              <a:rPr lang="en-US" sz="2200" dirty="0" smtClean="0"/>
              <a:t>returns </a:t>
            </a:r>
            <a:r>
              <a:rPr lang="en-US" sz="2200" dirty="0"/>
              <a:t>to the caller function the activation record is popped</a:t>
            </a:r>
            <a:r>
              <a:rPr lang="en-US" sz="2200" dirty="0" smtClean="0"/>
              <a:t>.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3375536" y="3306201"/>
            <a:ext cx="133114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main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3421527" y="3661607"/>
            <a:ext cx="619580" cy="203551"/>
          </a:xfrm>
          <a:prstGeom prst="line">
            <a:avLst/>
          </a:prstGeom>
          <a:ln>
            <a:solidFill>
              <a:srgbClr val="0E47A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5" idx="2"/>
          </p:cNvCxnSpPr>
          <p:nvPr/>
        </p:nvCxnSpPr>
        <p:spPr>
          <a:xfrm>
            <a:off x="4041107" y="3661607"/>
            <a:ext cx="580217" cy="203551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2622446" y="3865158"/>
            <a:ext cx="133114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E47A1"/>
                </a:solidFill>
              </a:rPr>
              <a:t>r</a:t>
            </a:r>
            <a:r>
              <a:rPr lang="en-US" dirty="0" err="1" smtClean="0">
                <a:solidFill>
                  <a:srgbClr val="0E47A1"/>
                </a:solidFill>
              </a:rPr>
              <a:t>eadarray</a:t>
            </a:r>
            <a:r>
              <a:rPr lang="en-US" dirty="0" smtClean="0">
                <a:solidFill>
                  <a:srgbClr val="0E47A1"/>
                </a:solidFill>
              </a:rPr>
              <a:t>()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176467" y="3865158"/>
            <a:ext cx="1563917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quicksort(1,10)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10" name="Straight Connector 9"/>
          <p:cNvCxnSpPr/>
          <p:nvPr/>
        </p:nvCxnSpPr>
        <p:spPr>
          <a:xfrm flipH="1">
            <a:off x="4087097" y="4347117"/>
            <a:ext cx="619580" cy="203551"/>
          </a:xfrm>
          <a:prstGeom prst="line">
            <a:avLst/>
          </a:prstGeom>
          <a:ln>
            <a:solidFill>
              <a:srgbClr val="0E47A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endCxn id="13" idx="0"/>
          </p:cNvCxnSpPr>
          <p:nvPr/>
        </p:nvCxnSpPr>
        <p:spPr>
          <a:xfrm>
            <a:off x="4706677" y="4347117"/>
            <a:ext cx="648843" cy="430588"/>
          </a:xfrm>
          <a:prstGeom prst="line">
            <a:avLst/>
          </a:prstGeom>
          <a:ln w="25400">
            <a:solidFill>
              <a:srgbClr val="0E47A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2645049" y="4479358"/>
            <a:ext cx="1520477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Partition(1,10)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621324" y="4777705"/>
            <a:ext cx="146839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quicksort(1,4)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4926967" y="5258113"/>
            <a:ext cx="619580" cy="203551"/>
          </a:xfrm>
          <a:prstGeom prst="line">
            <a:avLst/>
          </a:prstGeom>
          <a:ln>
            <a:solidFill>
              <a:srgbClr val="0E47A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endCxn id="19" idx="0"/>
          </p:cNvCxnSpPr>
          <p:nvPr/>
        </p:nvCxnSpPr>
        <p:spPr>
          <a:xfrm>
            <a:off x="5546547" y="5258113"/>
            <a:ext cx="0" cy="528361"/>
          </a:xfrm>
          <a:prstGeom prst="line">
            <a:avLst/>
          </a:prstGeom>
          <a:ln>
            <a:solidFill>
              <a:srgbClr val="0E47A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484919" y="5390354"/>
            <a:ext cx="1520477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Partition(1,4)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812351" y="5786474"/>
            <a:ext cx="146839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quicksort(1,2)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>
            <a:off x="5546547" y="5260336"/>
            <a:ext cx="580217" cy="203551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6036144" y="5405220"/>
            <a:ext cx="1563917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quicksort(4,4)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906809" y="6250846"/>
            <a:ext cx="1833485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Activation Tree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066912" y="4008039"/>
            <a:ext cx="992681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C00000"/>
                </a:solidFill>
              </a:rPr>
              <a:t>qs</a:t>
            </a:r>
            <a:r>
              <a:rPr lang="en-US" dirty="0" smtClean="0">
                <a:solidFill>
                  <a:srgbClr val="C00000"/>
                </a:solidFill>
              </a:rPr>
              <a:t>(4,4)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066914" y="4248700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C00000"/>
                </a:solidFill>
              </a:rPr>
              <a:t>qs</a:t>
            </a:r>
            <a:r>
              <a:rPr lang="en-US" dirty="0" smtClean="0">
                <a:solidFill>
                  <a:srgbClr val="C00000"/>
                </a:solidFill>
              </a:rPr>
              <a:t>(1,4)</a:t>
            </a:r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5" name="Straight Connector 24"/>
          <p:cNvCxnSpPr/>
          <p:nvPr/>
        </p:nvCxnSpPr>
        <p:spPr>
          <a:xfrm flipH="1">
            <a:off x="8066912" y="3823744"/>
            <a:ext cx="1" cy="184295"/>
          </a:xfrm>
          <a:prstGeom prst="line">
            <a:avLst/>
          </a:prstGeom>
          <a:ln w="127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endCxn id="23" idx="3"/>
          </p:cNvCxnSpPr>
          <p:nvPr/>
        </p:nvCxnSpPr>
        <p:spPr>
          <a:xfrm>
            <a:off x="9059593" y="3823744"/>
            <a:ext cx="0" cy="307679"/>
          </a:xfrm>
          <a:prstGeom prst="line">
            <a:avLst/>
          </a:prstGeom>
          <a:ln w="127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/>
          <p:cNvSpPr/>
          <p:nvPr/>
        </p:nvSpPr>
        <p:spPr>
          <a:xfrm>
            <a:off x="8066912" y="4499596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q</a:t>
            </a:r>
            <a:r>
              <a:rPr lang="en-US" dirty="0" err="1" smtClean="0">
                <a:solidFill>
                  <a:srgbClr val="C00000"/>
                </a:solidFill>
              </a:rPr>
              <a:t>s</a:t>
            </a:r>
            <a:r>
              <a:rPr lang="en-US" dirty="0" smtClean="0">
                <a:solidFill>
                  <a:srgbClr val="C00000"/>
                </a:solidFill>
              </a:rPr>
              <a:t>(1,10)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5" name="Rectangle 34"/>
          <p:cNvSpPr/>
          <p:nvPr/>
        </p:nvSpPr>
        <p:spPr>
          <a:xfrm>
            <a:off x="8066912" y="4751357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main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066740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2" grpId="0"/>
      <p:bldP spid="13" grpId="0"/>
      <p:bldP spid="18" grpId="0"/>
      <p:bldP spid="19" grpId="0"/>
      <p:bldP spid="21" grpId="0"/>
      <p:bldP spid="22" grpId="0"/>
      <p:bldP spid="23" grpId="0" animBg="1"/>
      <p:bldP spid="24" grpId="0" animBg="1"/>
      <p:bldP spid="34" grpId="0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Scope of a declaration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A declaration in a language is a syntactic construct that associate information with a name.</a:t>
            </a:r>
          </a:p>
          <a:p>
            <a:pPr lvl="1"/>
            <a:r>
              <a:rPr lang="en-US" dirty="0" err="1" smtClean="0"/>
              <a:t>Var</a:t>
            </a:r>
            <a:r>
              <a:rPr lang="en-US" dirty="0" smtClean="0"/>
              <a:t> i: integer;</a:t>
            </a:r>
          </a:p>
          <a:p>
            <a:r>
              <a:rPr lang="en-US" dirty="0" smtClean="0"/>
              <a:t>There may be declaration of the same name in different parts of a program.</a:t>
            </a:r>
          </a:p>
          <a:p>
            <a:r>
              <a:rPr lang="en-US" dirty="0" smtClean="0"/>
              <a:t>The scope rules of a language determine which declaration of a name applies when the name appears in the text of a program.</a:t>
            </a:r>
          </a:p>
          <a:p>
            <a:r>
              <a:rPr lang="en-US" dirty="0" smtClean="0"/>
              <a:t>The portion of the program, to which declaration applies is called the scope of the declaration.</a:t>
            </a:r>
          </a:p>
          <a:p>
            <a:r>
              <a:rPr lang="en-US" dirty="0" smtClean="0"/>
              <a:t>An occurrence of a name in a procedure is said to be local to the procedure if it is in the scope of a declaration within the procedure; otherwise the occurrence is said to be nonlocal.</a:t>
            </a:r>
          </a:p>
          <a:p>
            <a:r>
              <a:rPr lang="en-US" dirty="0" smtClean="0"/>
              <a:t>The distinction between local and non local names carries over to any syntactic construct that can have declaration within it.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4513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Binding of names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Environment: function that maps a name to a storage location.</a:t>
            </a:r>
          </a:p>
          <a:p>
            <a:r>
              <a:rPr lang="en-US" dirty="0" smtClean="0"/>
              <a:t>State: function that maps a storage location to the value held there.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When an environment associates storage location s with a name </a:t>
            </a:r>
            <a:r>
              <a:rPr lang="en-US" dirty="0" err="1" smtClean="0"/>
              <a:t>x</a:t>
            </a:r>
            <a:r>
              <a:rPr lang="en-US" dirty="0" err="1" smtClean="0">
                <a:sym typeface="Wingdings" panose="05000000000000000000" pitchFamily="2" charset="2"/>
              </a:rPr>
              <a:t>x</a:t>
            </a:r>
            <a:r>
              <a:rPr lang="en-US" dirty="0" smtClean="0">
                <a:sym typeface="Wingdings" panose="05000000000000000000" pitchFamily="2" charset="2"/>
              </a:rPr>
              <a:t> is bound to s.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2283627" y="3134323"/>
            <a:ext cx="1262130" cy="528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Name 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273394" y="3275000"/>
            <a:ext cx="1262130" cy="528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Storage</a:t>
            </a:r>
          </a:p>
          <a:p>
            <a:pPr algn="ctr"/>
            <a:r>
              <a:rPr lang="en-US" dirty="0" smtClean="0">
                <a:solidFill>
                  <a:srgbClr val="0E47A1"/>
                </a:solidFill>
              </a:rPr>
              <a:t>(l-value)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263161" y="3275000"/>
            <a:ext cx="1262130" cy="528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Value</a:t>
            </a:r>
          </a:p>
          <a:p>
            <a:pPr algn="ctr"/>
            <a:r>
              <a:rPr lang="en-US" dirty="0" smtClean="0">
                <a:solidFill>
                  <a:srgbClr val="0E47A1"/>
                </a:solidFill>
              </a:rPr>
              <a:t>(</a:t>
            </a:r>
            <a:r>
              <a:rPr lang="en-US" dirty="0" err="1" smtClean="0">
                <a:solidFill>
                  <a:srgbClr val="0E47A1"/>
                </a:solidFill>
              </a:rPr>
              <a:t>r-value</a:t>
            </a:r>
            <a:r>
              <a:rPr lang="en-US" dirty="0" smtClean="0">
                <a:solidFill>
                  <a:srgbClr val="0E47A1"/>
                </a:solidFill>
              </a:rPr>
              <a:t>) 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10" name="Curved Down Arrow 9"/>
          <p:cNvSpPr/>
          <p:nvPr/>
        </p:nvSpPr>
        <p:spPr>
          <a:xfrm>
            <a:off x="2914692" y="2633433"/>
            <a:ext cx="2011535" cy="489324"/>
          </a:xfrm>
          <a:prstGeom prst="curvedDown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Down Arrow 10"/>
          <p:cNvSpPr/>
          <p:nvPr/>
        </p:nvSpPr>
        <p:spPr>
          <a:xfrm>
            <a:off x="4991756" y="2619641"/>
            <a:ext cx="2011535" cy="489324"/>
          </a:xfrm>
          <a:prstGeom prst="curvedDown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285911" y="2130762"/>
            <a:ext cx="1331141" cy="528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Environment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5366458" y="2119562"/>
            <a:ext cx="1262130" cy="528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State </a:t>
            </a:r>
            <a:endParaRPr lang="en-US" dirty="0">
              <a:solidFill>
                <a:srgbClr val="0E47A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174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10" grpId="0" animBg="1"/>
      <p:bldP spid="11" grpId="0" animBg="1"/>
      <p:bldP spid="12" grpId="0"/>
      <p:bldP spid="1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Organization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7023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organization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The executing target program runs in it’s own </a:t>
            </a:r>
            <a:r>
              <a:rPr lang="en-US" dirty="0" smtClean="0">
                <a:solidFill>
                  <a:srgbClr val="C00000"/>
                </a:solidFill>
              </a:rPr>
              <a:t>logical address </a:t>
            </a:r>
            <a:r>
              <a:rPr lang="en-US" dirty="0" smtClean="0"/>
              <a:t>space in which each program value has a location.</a:t>
            </a:r>
          </a:p>
          <a:p>
            <a:r>
              <a:rPr lang="en-US" dirty="0" smtClean="0"/>
              <a:t>The management and organization of this logical address space is shared between the </a:t>
            </a:r>
            <a:r>
              <a:rPr lang="en-US" dirty="0" smtClean="0">
                <a:solidFill>
                  <a:srgbClr val="C00000"/>
                </a:solidFill>
              </a:rPr>
              <a:t>compiler, operating system </a:t>
            </a:r>
            <a:r>
              <a:rPr lang="en-US" dirty="0" smtClean="0"/>
              <a:t>and </a:t>
            </a:r>
            <a:r>
              <a:rPr lang="en-US" dirty="0" smtClean="0">
                <a:solidFill>
                  <a:srgbClr val="C00000"/>
                </a:solidFill>
              </a:rPr>
              <a:t>target machine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operating system maps the logical address into the physical address, which are usually spread throughout memory.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32171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Subdivision of Runtime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The compiler demands for a block of memory to operating system.</a:t>
            </a:r>
          </a:p>
          <a:p>
            <a:pPr lvl="0"/>
            <a:r>
              <a:rPr lang="en-US" dirty="0"/>
              <a:t>The compiler utilizes this block of memory executing the compiled program. This block of memory is called </a:t>
            </a:r>
            <a:r>
              <a:rPr lang="en-US" b="1" dirty="0">
                <a:solidFill>
                  <a:srgbClr val="C00000"/>
                </a:solidFill>
              </a:rPr>
              <a:t>run time storage</a:t>
            </a:r>
            <a:r>
              <a:rPr lang="en-US" b="1" dirty="0"/>
              <a:t>.</a:t>
            </a:r>
            <a:endParaRPr lang="en-US" dirty="0"/>
          </a:p>
          <a:p>
            <a:pPr lvl="0"/>
            <a:r>
              <a:rPr lang="en-US" dirty="0"/>
              <a:t>The run time storage is subdivided to hold code and data such as, the generated target code and data objects.</a:t>
            </a:r>
          </a:p>
          <a:p>
            <a:pPr lvl="0"/>
            <a:r>
              <a:rPr lang="en-US" dirty="0"/>
              <a:t>The size of generated code is fixed. Hence the target code occupies the determined area of the memory. 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0442174"/>
              </p:ext>
            </p:extLst>
          </p:nvPr>
        </p:nvGraphicFramePr>
        <p:xfrm>
          <a:off x="5086081" y="3904451"/>
          <a:ext cx="1981200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81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Code area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Static data area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Free 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Heap 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6457681" y="4831551"/>
            <a:ext cx="0" cy="31115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 flipV="1">
            <a:off x="6457681" y="5237949"/>
            <a:ext cx="0" cy="3048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38215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Subdivision of Runtime Memory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Code block consisting of a memory location for code.</a:t>
            </a:r>
          </a:p>
          <a:p>
            <a:r>
              <a:rPr lang="en-US" dirty="0" smtClean="0"/>
              <a:t>The </a:t>
            </a:r>
            <a:r>
              <a:rPr lang="en-US" dirty="0"/>
              <a:t>amount of memory required by the data objects is known at the compiled time and hence data objects also can be placed at the statically determined area of the memory.</a:t>
            </a:r>
          </a:p>
          <a:p>
            <a:pPr lvl="0"/>
            <a:r>
              <a:rPr lang="en-US" dirty="0"/>
              <a:t>Stack is used to manage the active procedure. </a:t>
            </a:r>
          </a:p>
          <a:p>
            <a:pPr lvl="0"/>
            <a:r>
              <a:rPr lang="en-US" dirty="0"/>
              <a:t>Managing of active procedures means when a call occurs then execution of activation is interrupted and information about status of the stack is saved on the stack.</a:t>
            </a:r>
            <a:r>
              <a:rPr lang="en-US" b="1" i="1" dirty="0"/>
              <a:t> </a:t>
            </a:r>
          </a:p>
          <a:p>
            <a:pPr lvl="0"/>
            <a:r>
              <a:rPr lang="en-US" dirty="0"/>
              <a:t>Heap area is the area of run time storage in which the other information is stored. </a:t>
            </a:r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616055"/>
              </p:ext>
            </p:extLst>
          </p:nvPr>
        </p:nvGraphicFramePr>
        <p:xfrm>
          <a:off x="1544391" y="4073635"/>
          <a:ext cx="1981200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81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Code area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Static data area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Heap 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cxnSp>
        <p:nvCxnSpPr>
          <p:cNvPr id="8" name="Straight Arrow Connector 7"/>
          <p:cNvCxnSpPr/>
          <p:nvPr/>
        </p:nvCxnSpPr>
        <p:spPr>
          <a:xfrm>
            <a:off x="2915991" y="5000735"/>
            <a:ext cx="0" cy="31115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flipV="1">
            <a:off x="2915991" y="5407133"/>
            <a:ext cx="0" cy="304800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723791" y="3996693"/>
            <a:ext cx="5561875" cy="528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Memory location for code are determined at compile time 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856101" y="4395206"/>
            <a:ext cx="5785834" cy="528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Location of static data can also be determine at compile time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481170" y="4783851"/>
            <a:ext cx="5785834" cy="528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Data objects allocated at run time (Activation Record)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426578" y="5541860"/>
            <a:ext cx="5785834" cy="52803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Other dynamically allocated data objects at run time</a:t>
            </a:r>
          </a:p>
          <a:p>
            <a:pPr algn="ctr"/>
            <a:r>
              <a:rPr lang="en-US" dirty="0" smtClean="0">
                <a:solidFill>
                  <a:srgbClr val="0E47A1"/>
                </a:solidFill>
              </a:rPr>
              <a:t>(ex: </a:t>
            </a:r>
            <a:r>
              <a:rPr lang="en-US" dirty="0" err="1" smtClean="0">
                <a:solidFill>
                  <a:srgbClr val="0E47A1"/>
                </a:solidFill>
              </a:rPr>
              <a:t>Malloc</a:t>
            </a:r>
            <a:r>
              <a:rPr lang="en-US" dirty="0" smtClean="0">
                <a:solidFill>
                  <a:srgbClr val="0E47A1"/>
                </a:solidFill>
              </a:rPr>
              <a:t> area in C)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16" name="Straight Arrow Connector 15"/>
          <p:cNvCxnSpPr/>
          <p:nvPr/>
        </p:nvCxnSpPr>
        <p:spPr>
          <a:xfrm>
            <a:off x="3513480" y="4251056"/>
            <a:ext cx="384185" cy="0"/>
          </a:xfrm>
          <a:prstGeom prst="straightConnector1">
            <a:avLst/>
          </a:prstGeom>
          <a:ln>
            <a:solidFill>
              <a:srgbClr val="0E4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3513480" y="4649116"/>
            <a:ext cx="384185" cy="0"/>
          </a:xfrm>
          <a:prstGeom prst="straightConnector1">
            <a:avLst/>
          </a:prstGeom>
          <a:ln>
            <a:solidFill>
              <a:srgbClr val="0E4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3513480" y="5033804"/>
            <a:ext cx="384185" cy="0"/>
          </a:xfrm>
          <a:prstGeom prst="straightConnector1">
            <a:avLst/>
          </a:prstGeom>
          <a:ln>
            <a:solidFill>
              <a:srgbClr val="0E4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3527128" y="5704059"/>
            <a:ext cx="384185" cy="0"/>
          </a:xfrm>
          <a:prstGeom prst="straightConnector1">
            <a:avLst/>
          </a:prstGeom>
          <a:ln>
            <a:solidFill>
              <a:srgbClr val="0E4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3622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Activation Record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Control stack is a run time stack which is used to keep track of the live procedure activations i.e. it is used to find out the procedures whose execution have not been completed.</a:t>
            </a:r>
          </a:p>
          <a:p>
            <a:r>
              <a:rPr lang="en-US" dirty="0"/>
              <a:t>When it is called (activation begins) then the procedure name will push on to the stack and when it returns (activation ends) then it will popped.</a:t>
            </a:r>
          </a:p>
          <a:p>
            <a:r>
              <a:rPr lang="en-US" dirty="0"/>
              <a:t>Activation record is used to manage the information needed by a single execution of a procedure.</a:t>
            </a:r>
          </a:p>
          <a:p>
            <a:r>
              <a:rPr lang="en-US" dirty="0" smtClean="0"/>
              <a:t>An activation record is pushed into the stack when a procedure is called and it is popped when the control returns to the caller function.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013658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Activation Record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200" dirty="0"/>
              <a:t>The </a:t>
            </a:r>
            <a:r>
              <a:rPr lang="en-US" sz="2200" dirty="0">
                <a:solidFill>
                  <a:srgbClr val="0E47A1"/>
                </a:solidFill>
              </a:rPr>
              <a:t>execution of a procedure is called its activation</a:t>
            </a:r>
            <a:r>
              <a:rPr lang="en-US" sz="2200" dirty="0"/>
              <a:t>. </a:t>
            </a:r>
          </a:p>
          <a:p>
            <a:r>
              <a:rPr lang="en-US" sz="2200" dirty="0"/>
              <a:t>An activation record contains all the necessary information required to call a procedure.</a:t>
            </a:r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131180" y="1816480"/>
            <a:ext cx="8471907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sz="2200" b="1" dirty="0"/>
              <a:t>Return value:</a:t>
            </a:r>
            <a:r>
              <a:rPr lang="en-US" sz="2200" dirty="0"/>
              <a:t> used by the called procedure to return a value to calling procedure.</a:t>
            </a:r>
          </a:p>
          <a:p>
            <a:pPr fontAlgn="base"/>
            <a:r>
              <a:rPr lang="en-US" sz="2200" b="1" dirty="0"/>
              <a:t>Actual parameters: </a:t>
            </a:r>
            <a:r>
              <a:rPr lang="en-US" sz="2200" dirty="0"/>
              <a:t>This field holds the information about the actual parameters.</a:t>
            </a:r>
          </a:p>
          <a:p>
            <a:pPr fontAlgn="base"/>
            <a:r>
              <a:rPr lang="en-US" sz="2200" b="1" dirty="0"/>
              <a:t>Control link (optional):</a:t>
            </a:r>
            <a:r>
              <a:rPr lang="en-US" sz="2200" dirty="0"/>
              <a:t> points to activation record of caller.</a:t>
            </a:r>
          </a:p>
          <a:p>
            <a:pPr fontAlgn="base"/>
            <a:r>
              <a:rPr lang="en-US" sz="2200" b="1" dirty="0"/>
              <a:t>Access link (optional):</a:t>
            </a:r>
            <a:r>
              <a:rPr lang="en-US" sz="2200" dirty="0"/>
              <a:t> refers to non-local data held in other activation records.</a:t>
            </a:r>
          </a:p>
          <a:p>
            <a:pPr fontAlgn="base"/>
            <a:r>
              <a:rPr lang="en-US" sz="2200" b="1" dirty="0"/>
              <a:t>Machine status:</a:t>
            </a:r>
            <a:r>
              <a:rPr lang="en-US" sz="2200" dirty="0"/>
              <a:t> holds the information about status of machine just before the function call.</a:t>
            </a:r>
          </a:p>
          <a:p>
            <a:pPr fontAlgn="base"/>
            <a:r>
              <a:rPr lang="en-US" sz="2200" b="1" dirty="0"/>
              <a:t>Local variables:</a:t>
            </a:r>
            <a:r>
              <a:rPr lang="en-US" sz="2200" dirty="0"/>
              <a:t> hold the data that is local to the execution of the procedure.</a:t>
            </a:r>
          </a:p>
          <a:p>
            <a:pPr fontAlgn="base"/>
            <a:r>
              <a:rPr lang="en-US" sz="2200" b="1" dirty="0"/>
              <a:t>Temporary values</a:t>
            </a:r>
            <a:r>
              <a:rPr lang="en-US" sz="2200" dirty="0"/>
              <a:t>: stores the values that arise in the evaluation of an expression.</a:t>
            </a:r>
          </a:p>
          <a:p>
            <a:pPr marL="0" indent="0" fontAlgn="base">
              <a:buNone/>
            </a:pPr>
            <a:endParaRPr lang="en-US" sz="2200" b="1" dirty="0" smtClean="0"/>
          </a:p>
          <a:p>
            <a:endParaRPr lang="en-US" sz="2200" dirty="0" smtClean="0"/>
          </a:p>
          <a:p>
            <a:endParaRPr lang="en-US" sz="2200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7781771"/>
              </p:ext>
            </p:extLst>
          </p:nvPr>
        </p:nvGraphicFramePr>
        <p:xfrm>
          <a:off x="9435922" y="2158285"/>
          <a:ext cx="2057400" cy="277368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0574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Return value</a:t>
                      </a:r>
                      <a:endParaRPr lang="en-US" sz="2000" b="0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Actual parameters</a:t>
                      </a:r>
                      <a:endParaRPr lang="en-US" sz="2000" b="0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Control link </a:t>
                      </a:r>
                      <a:endParaRPr lang="en-US" sz="2000" b="0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Access link </a:t>
                      </a:r>
                      <a:endParaRPr lang="en-US" sz="2000" b="0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Machine status</a:t>
                      </a:r>
                      <a:endParaRPr lang="en-US" sz="2000" b="0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Local variable</a:t>
                      </a:r>
                      <a:endParaRPr lang="en-US" sz="2000" b="0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000" b="0" dirty="0" smtClean="0"/>
                        <a:t>Temporary values</a:t>
                      </a:r>
                      <a:endParaRPr lang="en-US" sz="2000" b="0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cxnSp>
        <p:nvCxnSpPr>
          <p:cNvPr id="7" name="Straight Connector 6"/>
          <p:cNvCxnSpPr/>
          <p:nvPr/>
        </p:nvCxnSpPr>
        <p:spPr>
          <a:xfrm>
            <a:off x="245806" y="1751190"/>
            <a:ext cx="11545839" cy="0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7973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Compile-Time Layout of Local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amount of storage </a:t>
            </a:r>
            <a:r>
              <a:rPr lang="en-US" dirty="0"/>
              <a:t>needed for a name is determined </a:t>
            </a:r>
            <a:r>
              <a:rPr lang="en-US" dirty="0">
                <a:solidFill>
                  <a:srgbClr val="C00000"/>
                </a:solidFill>
              </a:rPr>
              <a:t>from its type</a:t>
            </a:r>
            <a:r>
              <a:rPr lang="en-US" dirty="0"/>
              <a:t>. (e.g.: </a:t>
            </a:r>
            <a:r>
              <a:rPr lang="en-US" dirty="0" err="1"/>
              <a:t>int</a:t>
            </a:r>
            <a:r>
              <a:rPr lang="en-US" dirty="0"/>
              <a:t>, char, float…)</a:t>
            </a:r>
          </a:p>
          <a:p>
            <a:pPr lvl="0"/>
            <a:r>
              <a:rPr lang="en-US" dirty="0"/>
              <a:t>Storage for an aggregate, such as an </a:t>
            </a:r>
            <a:r>
              <a:rPr lang="en-US" dirty="0">
                <a:solidFill>
                  <a:srgbClr val="C00000"/>
                </a:solidFill>
              </a:rPr>
              <a:t>array or record</a:t>
            </a:r>
            <a:r>
              <a:rPr lang="en-US" dirty="0"/>
              <a:t>, must be large enough to hold all it’s components.</a:t>
            </a:r>
          </a:p>
          <a:p>
            <a:pPr lvl="0"/>
            <a:r>
              <a:rPr lang="en-US" dirty="0"/>
              <a:t>The field of local data is laid out as the declarations in a procedure are examined at </a:t>
            </a:r>
            <a:r>
              <a:rPr lang="en-US" dirty="0">
                <a:solidFill>
                  <a:srgbClr val="C00000"/>
                </a:solidFill>
              </a:rPr>
              <a:t>compile time.</a:t>
            </a:r>
          </a:p>
          <a:p>
            <a:pPr lvl="0"/>
            <a:r>
              <a:rPr lang="en-US" dirty="0"/>
              <a:t>We keep a </a:t>
            </a:r>
            <a:r>
              <a:rPr lang="en-US" dirty="0">
                <a:solidFill>
                  <a:srgbClr val="C00000"/>
                </a:solidFill>
              </a:rPr>
              <a:t>count</a:t>
            </a:r>
            <a:r>
              <a:rPr lang="en-US" dirty="0"/>
              <a:t> of the memory locations that have been </a:t>
            </a:r>
            <a:r>
              <a:rPr lang="en-US" dirty="0">
                <a:solidFill>
                  <a:srgbClr val="C00000"/>
                </a:solidFill>
              </a:rPr>
              <a:t>allocated for previous declarations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From the count we determine a relative address of the storage for a local with respect to some position such as the beginning of the activation record.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864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Storage </a:t>
            </a:r>
            <a:r>
              <a:rPr lang="en-US" dirty="0"/>
              <a:t>allocation </a:t>
            </a:r>
            <a:r>
              <a:rPr lang="en-US" dirty="0" smtClean="0"/>
              <a:t>strategies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8847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allocation strategies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8807547" cy="5590565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different storage allocation strategies </a:t>
            </a:r>
            <a:r>
              <a:rPr lang="en-US" dirty="0" smtClean="0"/>
              <a:t>are:</a:t>
            </a:r>
            <a:endParaRPr lang="en-US" dirty="0"/>
          </a:p>
          <a:p>
            <a:pPr lvl="0"/>
            <a:r>
              <a:rPr lang="en-US" dirty="0">
                <a:solidFill>
                  <a:srgbClr val="0E47A1"/>
                </a:solidFill>
              </a:rPr>
              <a:t>Static allocation</a:t>
            </a:r>
            <a:r>
              <a:rPr lang="en-US" dirty="0"/>
              <a:t>: lays out storage for all data objects at compile time.</a:t>
            </a:r>
          </a:p>
          <a:p>
            <a:pPr lvl="0"/>
            <a:r>
              <a:rPr lang="en-US" dirty="0">
                <a:solidFill>
                  <a:srgbClr val="0E47A1"/>
                </a:solidFill>
              </a:rPr>
              <a:t>Stack allocation</a:t>
            </a:r>
            <a:r>
              <a:rPr lang="en-US" dirty="0"/>
              <a:t>: manages the run-time storage as a stack.</a:t>
            </a:r>
          </a:p>
          <a:p>
            <a:pPr lvl="0"/>
            <a:r>
              <a:rPr lang="en-US" dirty="0">
                <a:solidFill>
                  <a:srgbClr val="0E47A1"/>
                </a:solidFill>
              </a:rPr>
              <a:t>Heap allocation</a:t>
            </a:r>
            <a:r>
              <a:rPr lang="en-US" dirty="0"/>
              <a:t>: allocates and de-allocates storage as needed at run time from a data area known as heap.</a:t>
            </a:r>
          </a:p>
          <a:p>
            <a:endParaRPr lang="en-US" dirty="0"/>
          </a:p>
          <a:p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1426447"/>
              </p:ext>
            </p:extLst>
          </p:nvPr>
        </p:nvGraphicFramePr>
        <p:xfrm>
          <a:off x="9624701" y="1087840"/>
          <a:ext cx="1981200" cy="18542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9812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Code area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Static data area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Stack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Heap 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cxnSp>
        <p:nvCxnSpPr>
          <p:cNvPr id="6" name="Straight Arrow Connector 5"/>
          <p:cNvCxnSpPr/>
          <p:nvPr/>
        </p:nvCxnSpPr>
        <p:spPr>
          <a:xfrm>
            <a:off x="11037194" y="2047741"/>
            <a:ext cx="0" cy="3219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11037194" y="2446986"/>
            <a:ext cx="0" cy="24469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76852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Static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4350393" cy="5590565"/>
          </a:xfrm>
        </p:spPr>
        <p:txBody>
          <a:bodyPr/>
          <a:lstStyle/>
          <a:p>
            <a:pPr lvl="0"/>
            <a:r>
              <a:rPr lang="en-US" sz="2000" dirty="0"/>
              <a:t>In static allocation, </a:t>
            </a:r>
            <a:r>
              <a:rPr lang="en-US" sz="2000" dirty="0">
                <a:solidFill>
                  <a:srgbClr val="C00000"/>
                </a:solidFill>
              </a:rPr>
              <a:t>names are bound to storage as the program is compiled</a:t>
            </a:r>
            <a:r>
              <a:rPr lang="en-US" sz="2000" dirty="0"/>
              <a:t>, so there is no need for a run-time support package.</a:t>
            </a:r>
          </a:p>
          <a:p>
            <a:pPr lvl="0"/>
            <a:r>
              <a:rPr lang="en-US" sz="2000" dirty="0"/>
              <a:t>Since the bindings do not change at run-time, every time a procedure is activated, its names are bounded to the same storage location.</a:t>
            </a:r>
          </a:p>
          <a:p>
            <a:pPr marL="0" indent="0">
              <a:buNone/>
            </a:pPr>
            <a:r>
              <a:rPr lang="en-US" sz="2000" b="1" dirty="0" smtClean="0">
                <a:solidFill>
                  <a:srgbClr val="0E47A1"/>
                </a:solidFill>
              </a:rPr>
              <a:t>Limitation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Size of data object must be known at compile time.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Recursive procedures are restricted.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 dirty="0" smtClean="0"/>
              <a:t>Data structure can’t be created dynamically.</a:t>
            </a:r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18176" y="863444"/>
            <a:ext cx="3592961" cy="55905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 smtClean="0">
                <a:solidFill>
                  <a:srgbClr val="0E47A1"/>
                </a:solidFill>
              </a:rPr>
              <a:t>Example:</a:t>
            </a:r>
          </a:p>
          <a:p>
            <a:pPr marL="0" indent="0">
              <a:buNone/>
            </a:pP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/>
              <a:t>main()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{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 </a:t>
            </a:r>
            <a:r>
              <a:rPr lang="en-US" sz="1800" dirty="0" err="1"/>
              <a:t>int</a:t>
            </a:r>
            <a:r>
              <a:rPr lang="en-US" sz="1800" dirty="0"/>
              <a:t> </a:t>
            </a:r>
            <a:r>
              <a:rPr lang="en-US" sz="1800" dirty="0" smtClean="0"/>
              <a:t>num1=100, num2=200, </a:t>
            </a:r>
            <a:r>
              <a:rPr lang="en-US" sz="1800" dirty="0"/>
              <a:t>res;</a:t>
            </a:r>
          </a:p>
          <a:p>
            <a:pPr marL="0" indent="0">
              <a:buNone/>
            </a:pPr>
            <a:r>
              <a:rPr lang="en-US" sz="1800" dirty="0"/>
              <a:t>   </a:t>
            </a:r>
            <a:r>
              <a:rPr lang="en-US" sz="1800" dirty="0" smtClean="0"/>
              <a:t>res </a:t>
            </a:r>
            <a:r>
              <a:rPr lang="en-US" sz="1800" dirty="0"/>
              <a:t>= sum(num1, num2);</a:t>
            </a:r>
          </a:p>
          <a:p>
            <a:pPr marL="0" indent="0">
              <a:buNone/>
            </a:pPr>
            <a:r>
              <a:rPr lang="en-US" sz="1800" dirty="0"/>
              <a:t>   </a:t>
            </a:r>
            <a:r>
              <a:rPr lang="en-US" sz="1800" dirty="0" err="1"/>
              <a:t>printf</a:t>
            </a:r>
            <a:r>
              <a:rPr lang="en-US" sz="1800" dirty="0" smtClean="0"/>
              <a:t>(“\n Addition is %d </a:t>
            </a:r>
            <a:r>
              <a:rPr lang="en-US" sz="1800" dirty="0"/>
              <a:t>: </a:t>
            </a:r>
            <a:r>
              <a:rPr lang="en-US" sz="1800" dirty="0" smtClean="0"/>
              <a:t>“,res);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 return (0);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  <a:p>
            <a:pPr marL="0" indent="0">
              <a:buNone/>
            </a:pPr>
            <a:r>
              <a:rPr lang="en-US" sz="1800" dirty="0"/>
              <a:t> 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/>
              <a:t>sum(</a:t>
            </a:r>
            <a:r>
              <a:rPr lang="en-US" sz="1800" dirty="0" err="1"/>
              <a:t>int</a:t>
            </a:r>
            <a:r>
              <a:rPr lang="en-US" sz="1800" dirty="0"/>
              <a:t> num1, </a:t>
            </a:r>
            <a:r>
              <a:rPr lang="en-US" sz="1800" dirty="0" err="1"/>
              <a:t>int</a:t>
            </a:r>
            <a:r>
              <a:rPr lang="en-US" sz="1800" dirty="0"/>
              <a:t> num2) </a:t>
            </a:r>
            <a:endParaRPr lang="en-US" sz="1800" dirty="0" smtClean="0"/>
          </a:p>
          <a:p>
            <a:pPr marL="0" indent="0">
              <a:buNone/>
            </a:pPr>
            <a:r>
              <a:rPr lang="en-US" sz="1800" dirty="0" smtClean="0"/>
              <a:t>{</a:t>
            </a:r>
            <a:endParaRPr lang="en-US" sz="1800" dirty="0"/>
          </a:p>
          <a:p>
            <a:pPr marL="0" indent="0">
              <a:buNone/>
            </a:pPr>
            <a:r>
              <a:rPr lang="en-US" sz="1800" dirty="0"/>
              <a:t>   </a:t>
            </a:r>
            <a:r>
              <a:rPr lang="en-US" sz="1800" dirty="0" err="1"/>
              <a:t>int</a:t>
            </a:r>
            <a:r>
              <a:rPr lang="en-US" sz="1800" dirty="0"/>
              <a:t> num3;</a:t>
            </a:r>
          </a:p>
          <a:p>
            <a:pPr marL="0" indent="0">
              <a:buNone/>
            </a:pPr>
            <a:r>
              <a:rPr lang="en-US" sz="1800" dirty="0"/>
              <a:t>   num3 = num1 + num2;</a:t>
            </a:r>
          </a:p>
          <a:p>
            <a:pPr marL="0" indent="0">
              <a:buNone/>
            </a:pPr>
            <a:r>
              <a:rPr lang="en-US" sz="1800" dirty="0"/>
              <a:t>   return (num3);</a:t>
            </a:r>
          </a:p>
          <a:p>
            <a:pPr marL="0" indent="0">
              <a:buNone/>
            </a:pPr>
            <a:r>
              <a:rPr lang="en-US" sz="1800" dirty="0"/>
              <a:t>}</a:t>
            </a:r>
          </a:p>
          <a:p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2471440"/>
              </p:ext>
            </p:extLst>
          </p:nvPr>
        </p:nvGraphicFramePr>
        <p:xfrm>
          <a:off x="9181716" y="1730027"/>
          <a:ext cx="1505268" cy="3621406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1505268"/>
              </a:tblGrid>
              <a:tr h="401296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Code for main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  <a:tr h="46190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Code for sum</a:t>
                      </a:r>
                    </a:p>
                  </a:txBody>
                  <a:tcPr>
                    <a:noFill/>
                  </a:tcPr>
                </a:tc>
              </a:tr>
              <a:tr h="401295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</a:tr>
              <a:tr h="1304207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ina</a:t>
                      </a:r>
                      <a:r>
                        <a:rPr lang="en-US" dirty="0" smtClean="0"/>
                        <a:t> num1</a:t>
                      </a:r>
                    </a:p>
                    <a:p>
                      <a:pPr algn="ctr"/>
                      <a:r>
                        <a:rPr lang="en-US" dirty="0" err="1" smtClean="0"/>
                        <a:t>int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num</a:t>
                      </a:r>
                      <a:r>
                        <a:rPr lang="en-US" baseline="0" dirty="0" smtClean="0"/>
                        <a:t> 2</a:t>
                      </a:r>
                    </a:p>
                    <a:p>
                      <a:pPr algn="ctr"/>
                      <a:r>
                        <a:rPr lang="en-US" baseline="0" dirty="0" err="1" smtClean="0"/>
                        <a:t>int</a:t>
                      </a:r>
                      <a:r>
                        <a:rPr lang="en-US" baseline="0" dirty="0" smtClean="0"/>
                        <a:t> res</a:t>
                      </a:r>
                      <a:endParaRPr lang="en-US" dirty="0" smtClean="0"/>
                    </a:p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</a:tr>
              <a:tr h="1052702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ina</a:t>
                      </a:r>
                      <a:r>
                        <a:rPr lang="en-US" dirty="0" smtClean="0"/>
                        <a:t> num1</a:t>
                      </a:r>
                    </a:p>
                    <a:p>
                      <a:pPr algn="ctr"/>
                      <a:r>
                        <a:rPr lang="en-US" dirty="0" err="1" smtClean="0"/>
                        <a:t>int</a:t>
                      </a:r>
                      <a:r>
                        <a:rPr lang="en-US" baseline="0" dirty="0" smtClean="0"/>
                        <a:t> </a:t>
                      </a:r>
                      <a:r>
                        <a:rPr lang="en-US" baseline="0" dirty="0" err="1" smtClean="0"/>
                        <a:t>num</a:t>
                      </a:r>
                      <a:r>
                        <a:rPr lang="en-US" baseline="0" dirty="0" smtClean="0"/>
                        <a:t> 2</a:t>
                      </a:r>
                    </a:p>
                    <a:p>
                      <a:pPr algn="ctr"/>
                      <a:r>
                        <a:rPr lang="en-US" baseline="0" dirty="0" err="1" smtClean="0"/>
                        <a:t>int</a:t>
                      </a:r>
                      <a:r>
                        <a:rPr lang="en-US" baseline="0" dirty="0" smtClean="0"/>
                        <a:t> num3</a:t>
                      </a:r>
                      <a:endParaRPr lang="en-US" dirty="0" smtClean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0809646" y="3552695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Activation record for main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9" name="Right Brace 8"/>
          <p:cNvSpPr/>
          <p:nvPr/>
        </p:nvSpPr>
        <p:spPr>
          <a:xfrm>
            <a:off x="10670776" y="3016810"/>
            <a:ext cx="255213" cy="1271854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10722430" y="4745712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Activation record for sum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1" name="Right Brace 10"/>
          <p:cNvSpPr/>
          <p:nvPr/>
        </p:nvSpPr>
        <p:spPr>
          <a:xfrm>
            <a:off x="10686984" y="4288665"/>
            <a:ext cx="177239" cy="1062769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10806486" y="1884912"/>
            <a:ext cx="989641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code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3" name="Right Brace 12"/>
          <p:cNvSpPr/>
          <p:nvPr/>
        </p:nvSpPr>
        <p:spPr>
          <a:xfrm>
            <a:off x="10686984" y="1730029"/>
            <a:ext cx="239005" cy="829733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815319" y="3743652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Static </a:t>
            </a:r>
          </a:p>
          <a:p>
            <a:pPr algn="ctr"/>
            <a:r>
              <a:rPr lang="en-US" i="1" dirty="0" smtClean="0">
                <a:solidFill>
                  <a:schemeClr val="tx1"/>
                </a:solidFill>
              </a:rPr>
              <a:t>data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5" name="Right Brace 14"/>
          <p:cNvSpPr/>
          <p:nvPr/>
        </p:nvSpPr>
        <p:spPr>
          <a:xfrm flipH="1">
            <a:off x="8888904" y="3016810"/>
            <a:ext cx="292812" cy="2334623"/>
          </a:xfrm>
          <a:prstGeom prst="rightBrace">
            <a:avLst>
              <a:gd name="adj1" fmla="val 8333"/>
              <a:gd name="adj2" fmla="val 50000"/>
            </a:avLst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4577658" y="841828"/>
            <a:ext cx="0" cy="554030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8193427" y="890815"/>
            <a:ext cx="0" cy="554030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15670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1" grpId="0" animBg="1"/>
      <p:bldP spid="12" grpId="0"/>
      <p:bldP spid="13" grpId="0" animBg="1"/>
      <p:bldP spid="14" grpId="0"/>
      <p:bldP spid="1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All compilers for languages that use procedures, functions or methods as units of user define actions manage at least part of their run-time memory as a stack.</a:t>
            </a:r>
          </a:p>
          <a:p>
            <a:pPr lvl="0"/>
            <a:r>
              <a:rPr lang="en-US" dirty="0"/>
              <a:t>Each time a procedure is called, </a:t>
            </a:r>
            <a:r>
              <a:rPr lang="en-US" dirty="0">
                <a:solidFill>
                  <a:srgbClr val="C00000"/>
                </a:solidFill>
              </a:rPr>
              <a:t>space for its local variables is pushed onto a stack, and </a:t>
            </a:r>
            <a:r>
              <a:rPr lang="en-US" dirty="0" smtClean="0">
                <a:solidFill>
                  <a:srgbClr val="C00000"/>
                </a:solidFill>
              </a:rPr>
              <a:t>when </a:t>
            </a:r>
            <a:r>
              <a:rPr lang="en-US" dirty="0">
                <a:solidFill>
                  <a:srgbClr val="C00000"/>
                </a:solidFill>
              </a:rPr>
              <a:t>the procedure terminates, the space is popped off the stack</a:t>
            </a:r>
            <a:r>
              <a:rPr lang="en-US" dirty="0" smtClean="0">
                <a:solidFill>
                  <a:srgbClr val="C00000"/>
                </a:solidFill>
              </a:rPr>
              <a:t>.</a:t>
            </a:r>
          </a:p>
          <a:p>
            <a:pPr lvl="0"/>
            <a:r>
              <a:rPr lang="en-US" dirty="0" smtClean="0"/>
              <a:t>Locals are bound to fresh storage in each activations.</a:t>
            </a:r>
          </a:p>
          <a:p>
            <a:pPr lvl="0"/>
            <a:r>
              <a:rPr lang="en-US" dirty="0" smtClean="0"/>
              <a:t>Locals are deleted when the activation ends.</a:t>
            </a:r>
            <a:endParaRPr lang="en-US" dirty="0"/>
          </a:p>
          <a:p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3321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Stack allocation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858603"/>
            <a:ext cx="11929641" cy="5590565"/>
          </a:xfrm>
        </p:spPr>
        <p:txBody>
          <a:bodyPr/>
          <a:lstStyle/>
          <a:p>
            <a:r>
              <a:rPr lang="en-US" sz="1800" dirty="0" smtClean="0"/>
              <a:t>At run time, an activation record can be allocated by incrementing ‘top’ by the size of the record.</a:t>
            </a:r>
          </a:p>
          <a:p>
            <a:r>
              <a:rPr lang="en-US" sz="1800" dirty="0" err="1" smtClean="0"/>
              <a:t>Deallocated</a:t>
            </a:r>
            <a:r>
              <a:rPr lang="en-US" sz="1800" dirty="0" smtClean="0"/>
              <a:t> by decrementing ‘top’ by the size of record.</a:t>
            </a:r>
            <a:endParaRPr lang="en-US" sz="1800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8601942"/>
              </p:ext>
            </p:extLst>
          </p:nvPr>
        </p:nvGraphicFramePr>
        <p:xfrm>
          <a:off x="510908" y="1752445"/>
          <a:ext cx="7659466" cy="4592097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32910"/>
                <a:gridCol w="2473401"/>
                <a:gridCol w="2553155"/>
              </a:tblGrid>
              <a:tr h="37027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Position in activation tree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Activation record on the stack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Remarks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92109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main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Frame for main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921099"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Ra is activated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184219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Frame </a:t>
                      </a:r>
                      <a:r>
                        <a:rPr lang="en-US" dirty="0" err="1" smtClean="0"/>
                        <a:t>ra</a:t>
                      </a:r>
                      <a:r>
                        <a:rPr lang="en-US" dirty="0" smtClean="0"/>
                        <a:t> has been </a:t>
                      </a:r>
                      <a:r>
                        <a:rPr lang="en-US" dirty="0" err="1" smtClean="0"/>
                        <a:t>poped</a:t>
                      </a:r>
                      <a:r>
                        <a:rPr lang="en-US" baseline="0" dirty="0" smtClean="0"/>
                        <a:t> and </a:t>
                      </a:r>
                      <a:r>
                        <a:rPr lang="en-US" baseline="0" dirty="0" err="1" smtClean="0"/>
                        <a:t>qs</a:t>
                      </a:r>
                      <a:r>
                        <a:rPr lang="en-US" baseline="0" dirty="0" smtClean="0"/>
                        <a:t>(1,10) is pushed.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534154" y="3401923"/>
            <a:ext cx="133114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main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580145" y="3757329"/>
            <a:ext cx="619580" cy="203551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81064" y="3960880"/>
            <a:ext cx="133114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0E47A1"/>
                </a:solidFill>
              </a:rPr>
              <a:t>r</a:t>
            </a:r>
            <a:r>
              <a:rPr lang="en-US" dirty="0" err="1" smtClean="0">
                <a:solidFill>
                  <a:srgbClr val="0E47A1"/>
                </a:solidFill>
              </a:rPr>
              <a:t>a</a:t>
            </a:r>
            <a:r>
              <a:rPr lang="en-US" dirty="0" smtClean="0">
                <a:solidFill>
                  <a:srgbClr val="0E47A1"/>
                </a:solidFill>
              </a:rPr>
              <a:t>()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02780" y="4659011"/>
            <a:ext cx="133114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main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11" name="Straight Connector 10"/>
          <p:cNvCxnSpPr>
            <a:stCxn id="10" idx="2"/>
          </p:cNvCxnSpPr>
          <p:nvPr/>
        </p:nvCxnSpPr>
        <p:spPr>
          <a:xfrm flipH="1">
            <a:off x="1248771" y="5014417"/>
            <a:ext cx="619580" cy="203551"/>
          </a:xfrm>
          <a:prstGeom prst="line">
            <a:avLst/>
          </a:prstGeom>
          <a:ln>
            <a:solidFill>
              <a:srgbClr val="0E47A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>
            <a:stCxn id="10" idx="2"/>
          </p:cNvCxnSpPr>
          <p:nvPr/>
        </p:nvCxnSpPr>
        <p:spPr>
          <a:xfrm>
            <a:off x="1868351" y="5014417"/>
            <a:ext cx="580217" cy="203551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449690" y="5217968"/>
            <a:ext cx="133114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E47A1"/>
                </a:solidFill>
              </a:rPr>
              <a:t>ra</a:t>
            </a:r>
            <a:r>
              <a:rPr lang="en-US" dirty="0" smtClean="0">
                <a:solidFill>
                  <a:srgbClr val="0E47A1"/>
                </a:solidFill>
              </a:rPr>
              <a:t>()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1814307" y="5268713"/>
            <a:ext cx="1563917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E47A1"/>
                </a:solidFill>
              </a:rPr>
              <a:t>qs</a:t>
            </a:r>
            <a:r>
              <a:rPr lang="en-US" dirty="0" smtClean="0">
                <a:solidFill>
                  <a:srgbClr val="0E47A1"/>
                </a:solidFill>
              </a:rPr>
              <a:t>(1,10)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3914684" y="2494021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main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914684" y="2745782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C00000"/>
                </a:solidFill>
              </a:rPr>
              <a:t>Int</a:t>
            </a:r>
            <a:r>
              <a:rPr lang="en-US" dirty="0" smtClean="0">
                <a:solidFill>
                  <a:srgbClr val="C00000"/>
                </a:solidFill>
              </a:rPr>
              <a:t> 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903122" y="3407119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main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3903120" y="3658015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C00000"/>
                </a:solidFill>
              </a:rPr>
              <a:t>Int</a:t>
            </a:r>
            <a:r>
              <a:rPr lang="en-US" dirty="0" smtClean="0">
                <a:solidFill>
                  <a:srgbClr val="C00000"/>
                </a:solidFill>
              </a:rPr>
              <a:t> n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3903120" y="3909776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C00000"/>
                </a:solidFill>
              </a:rPr>
              <a:t>ra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3914684" y="4773756"/>
            <a:ext cx="992681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main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14686" y="5014417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Int</a:t>
            </a:r>
            <a:r>
              <a:rPr lang="en-US" dirty="0">
                <a:solidFill>
                  <a:srgbClr val="C00000"/>
                </a:solidFill>
              </a:rPr>
              <a:t> 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14684" y="5265313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q</a:t>
            </a:r>
            <a:r>
              <a:rPr lang="en-US" dirty="0" err="1" smtClean="0">
                <a:solidFill>
                  <a:srgbClr val="C00000"/>
                </a:solidFill>
              </a:rPr>
              <a:t>s</a:t>
            </a:r>
            <a:r>
              <a:rPr lang="en-US" dirty="0" smtClean="0">
                <a:solidFill>
                  <a:srgbClr val="C00000"/>
                </a:solidFill>
              </a:rPr>
              <a:t>(1,10)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3914684" y="5517074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C00000"/>
                </a:solidFill>
              </a:rPr>
              <a:t>Int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3903120" y="4153664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C00000"/>
                </a:solidFill>
              </a:rPr>
              <a:t>Int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9089682" y="1574742"/>
            <a:ext cx="133114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main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35" name="Straight Connector 34"/>
          <p:cNvCxnSpPr>
            <a:stCxn id="34" idx="2"/>
          </p:cNvCxnSpPr>
          <p:nvPr/>
        </p:nvCxnSpPr>
        <p:spPr>
          <a:xfrm flipH="1">
            <a:off x="9135673" y="1930148"/>
            <a:ext cx="619580" cy="203551"/>
          </a:xfrm>
          <a:prstGeom prst="line">
            <a:avLst/>
          </a:prstGeom>
          <a:ln>
            <a:solidFill>
              <a:srgbClr val="0E47A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>
            <a:stCxn id="34" idx="2"/>
          </p:cNvCxnSpPr>
          <p:nvPr/>
        </p:nvCxnSpPr>
        <p:spPr>
          <a:xfrm>
            <a:off x="9755253" y="1930148"/>
            <a:ext cx="529890" cy="227037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Rectangle 36"/>
          <p:cNvSpPr/>
          <p:nvPr/>
        </p:nvSpPr>
        <p:spPr>
          <a:xfrm>
            <a:off x="8336592" y="2133699"/>
            <a:ext cx="133114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E47A1"/>
                </a:solidFill>
              </a:rPr>
              <a:t>ra</a:t>
            </a:r>
            <a:r>
              <a:rPr lang="en-US" dirty="0" smtClean="0">
                <a:solidFill>
                  <a:srgbClr val="0E47A1"/>
                </a:solidFill>
              </a:rPr>
              <a:t>()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9890613" y="2133699"/>
            <a:ext cx="1563917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E47A1"/>
                </a:solidFill>
              </a:rPr>
              <a:t>qs</a:t>
            </a:r>
            <a:r>
              <a:rPr lang="en-US" dirty="0" smtClean="0">
                <a:solidFill>
                  <a:srgbClr val="0E47A1"/>
                </a:solidFill>
              </a:rPr>
              <a:t>(1,10)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39" name="Straight Connector 38"/>
          <p:cNvCxnSpPr/>
          <p:nvPr/>
        </p:nvCxnSpPr>
        <p:spPr>
          <a:xfrm flipH="1">
            <a:off x="9801243" y="2615658"/>
            <a:ext cx="619580" cy="203551"/>
          </a:xfrm>
          <a:prstGeom prst="line">
            <a:avLst/>
          </a:prstGeom>
          <a:ln>
            <a:solidFill>
              <a:srgbClr val="0E47A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>
            <a:endCxn id="42" idx="0"/>
          </p:cNvCxnSpPr>
          <p:nvPr/>
        </p:nvCxnSpPr>
        <p:spPr>
          <a:xfrm>
            <a:off x="10420823" y="2615658"/>
            <a:ext cx="648843" cy="430588"/>
          </a:xfrm>
          <a:prstGeom prst="line">
            <a:avLst/>
          </a:prstGeom>
          <a:ln w="25400">
            <a:solidFill>
              <a:srgbClr val="0E47A1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8359195" y="2747899"/>
            <a:ext cx="1520477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E47A1"/>
                </a:solidFill>
              </a:rPr>
              <a:t>p</a:t>
            </a:r>
            <a:r>
              <a:rPr lang="en-US" dirty="0" smtClean="0">
                <a:solidFill>
                  <a:srgbClr val="0E47A1"/>
                </a:solidFill>
              </a:rPr>
              <a:t>a(1,10)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10335470" y="3046246"/>
            <a:ext cx="146839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E47A1"/>
                </a:solidFill>
              </a:rPr>
              <a:t>qs</a:t>
            </a:r>
            <a:r>
              <a:rPr lang="en-US" dirty="0" smtClean="0">
                <a:solidFill>
                  <a:srgbClr val="0E47A1"/>
                </a:solidFill>
              </a:rPr>
              <a:t>(1,4)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10641113" y="3526654"/>
            <a:ext cx="619580" cy="203551"/>
          </a:xfrm>
          <a:prstGeom prst="line">
            <a:avLst/>
          </a:prstGeom>
          <a:ln>
            <a:solidFill>
              <a:srgbClr val="0E47A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>
            <a:endCxn id="46" idx="0"/>
          </p:cNvCxnSpPr>
          <p:nvPr/>
        </p:nvCxnSpPr>
        <p:spPr>
          <a:xfrm>
            <a:off x="11260693" y="3526654"/>
            <a:ext cx="469462" cy="232952"/>
          </a:xfrm>
          <a:prstGeom prst="line">
            <a:avLst/>
          </a:prstGeom>
          <a:ln>
            <a:solidFill>
              <a:srgbClr val="0E47A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Rectangle 44"/>
          <p:cNvSpPr/>
          <p:nvPr/>
        </p:nvSpPr>
        <p:spPr>
          <a:xfrm>
            <a:off x="9199065" y="3658895"/>
            <a:ext cx="1520477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0E47A1"/>
                </a:solidFill>
              </a:rPr>
              <a:t>p</a:t>
            </a:r>
            <a:r>
              <a:rPr lang="en-US" dirty="0" smtClean="0">
                <a:solidFill>
                  <a:srgbClr val="0E47A1"/>
                </a:solidFill>
              </a:rPr>
              <a:t>a(1,4)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10995959" y="3759606"/>
            <a:ext cx="146839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E47A1"/>
                </a:solidFill>
              </a:rPr>
              <a:t>qs</a:t>
            </a:r>
            <a:r>
              <a:rPr lang="en-US" dirty="0" smtClean="0">
                <a:solidFill>
                  <a:srgbClr val="0E47A1"/>
                </a:solidFill>
              </a:rPr>
              <a:t>(1,2)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49" name="Rectangle 48"/>
          <p:cNvSpPr/>
          <p:nvPr/>
        </p:nvSpPr>
        <p:spPr>
          <a:xfrm>
            <a:off x="9620955" y="4519387"/>
            <a:ext cx="1833485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Activation Tree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59" name="Rectangle 58"/>
          <p:cNvSpPr/>
          <p:nvPr/>
        </p:nvSpPr>
        <p:spPr>
          <a:xfrm>
            <a:off x="8628274" y="4806547"/>
            <a:ext cx="992681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main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8628276" y="5047208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Int</a:t>
            </a:r>
            <a:r>
              <a:rPr lang="en-US" dirty="0">
                <a:solidFill>
                  <a:srgbClr val="C00000"/>
                </a:solidFill>
              </a:rPr>
              <a:t> 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628274" y="5298104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rgbClr val="C00000"/>
                </a:solidFill>
              </a:rPr>
              <a:t>q</a:t>
            </a:r>
            <a:r>
              <a:rPr lang="en-US" dirty="0" err="1" smtClean="0">
                <a:solidFill>
                  <a:srgbClr val="C00000"/>
                </a:solidFill>
              </a:rPr>
              <a:t>s</a:t>
            </a:r>
            <a:r>
              <a:rPr lang="en-US" dirty="0" smtClean="0">
                <a:solidFill>
                  <a:srgbClr val="C00000"/>
                </a:solidFill>
              </a:rPr>
              <a:t>(1,10)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2" name="Rectangle 61"/>
          <p:cNvSpPr/>
          <p:nvPr/>
        </p:nvSpPr>
        <p:spPr>
          <a:xfrm>
            <a:off x="8628274" y="5549865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C00000"/>
                </a:solidFill>
              </a:rPr>
              <a:t>Int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3" name="Rectangle 62"/>
          <p:cNvSpPr/>
          <p:nvPr/>
        </p:nvSpPr>
        <p:spPr>
          <a:xfrm>
            <a:off x="8632913" y="5798206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C00000"/>
                </a:solidFill>
              </a:rPr>
              <a:t>qs</a:t>
            </a:r>
            <a:r>
              <a:rPr lang="en-US" dirty="0" smtClean="0">
                <a:solidFill>
                  <a:srgbClr val="C00000"/>
                </a:solidFill>
              </a:rPr>
              <a:t>(1,4)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64" name="Rectangle 63"/>
          <p:cNvSpPr/>
          <p:nvPr/>
        </p:nvSpPr>
        <p:spPr>
          <a:xfrm>
            <a:off x="8632913" y="6033638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C00000"/>
                </a:solidFill>
              </a:rPr>
              <a:t>Int</a:t>
            </a:r>
            <a:r>
              <a:rPr lang="en-US" dirty="0" smtClean="0">
                <a:solidFill>
                  <a:srgbClr val="C00000"/>
                </a:solidFill>
              </a:rPr>
              <a:t> </a:t>
            </a:r>
            <a:r>
              <a:rPr lang="en-US" dirty="0" err="1" smtClean="0">
                <a:solidFill>
                  <a:srgbClr val="C00000"/>
                </a:solidFill>
              </a:rPr>
              <a:t>i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090082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3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5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8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0" grpId="0"/>
      <p:bldP spid="13" grpId="0"/>
      <p:bldP spid="14" grpId="0"/>
      <p:bldP spid="19" grpId="0" animBg="1"/>
      <p:bldP spid="20" grpId="0" animBg="1"/>
      <p:bldP spid="22" grpId="0" animBg="1"/>
      <p:bldP spid="25" grpId="0" animBg="1"/>
      <p:bldP spid="26" grpId="0" animBg="1"/>
      <p:bldP spid="27" grpId="0" animBg="1"/>
      <p:bldP spid="28" grpId="0" animBg="1"/>
      <p:bldP spid="31" grpId="0" animBg="1"/>
      <p:bldP spid="32" grpId="0" animBg="1"/>
      <p:bldP spid="33" grpId="0" animBg="1"/>
      <p:bldP spid="34" grpId="0"/>
      <p:bldP spid="37" grpId="0"/>
      <p:bldP spid="38" grpId="0"/>
      <p:bldP spid="41" grpId="0"/>
      <p:bldP spid="42" grpId="0"/>
      <p:bldP spid="45" grpId="0"/>
      <p:bldP spid="46" grpId="0"/>
      <p:bldP spid="49" grpId="0"/>
      <p:bldP spid="59" grpId="0" animBg="1"/>
      <p:bldP spid="60" grpId="0" animBg="1"/>
      <p:bldP spid="61" grpId="0" animBg="1"/>
      <p:bldP spid="62" grpId="0" animBg="1"/>
      <p:bldP spid="63" grpId="0" animBg="1"/>
      <p:bldP spid="6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allocation: Calling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543" y="734654"/>
            <a:ext cx="11929641" cy="2610953"/>
          </a:xfrm>
        </p:spPr>
        <p:txBody>
          <a:bodyPr/>
          <a:lstStyle/>
          <a:p>
            <a:pPr lvl="0"/>
            <a:r>
              <a:rPr lang="en-US" dirty="0"/>
              <a:t>Procedures calls are implemented by generating what are known as </a:t>
            </a:r>
            <a:r>
              <a:rPr lang="en-US" dirty="0">
                <a:solidFill>
                  <a:srgbClr val="C00000"/>
                </a:solidFill>
              </a:rPr>
              <a:t>calling sequences in the target code</a:t>
            </a:r>
            <a:r>
              <a:rPr lang="en-US" dirty="0"/>
              <a:t>.</a:t>
            </a:r>
          </a:p>
          <a:p>
            <a:pPr lvl="0"/>
            <a:r>
              <a:rPr lang="en-US" dirty="0"/>
              <a:t>A call sequence </a:t>
            </a:r>
            <a:r>
              <a:rPr lang="en-US" dirty="0">
                <a:solidFill>
                  <a:srgbClr val="C00000"/>
                </a:solidFill>
              </a:rPr>
              <a:t>allocates an activation record</a:t>
            </a:r>
            <a:r>
              <a:rPr lang="en-US" dirty="0">
                <a:solidFill>
                  <a:srgbClr val="FF0000"/>
                </a:solidFill>
              </a:rPr>
              <a:t>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enters the information </a:t>
            </a:r>
            <a:r>
              <a:rPr lang="en-US" dirty="0"/>
              <a:t>into its fields.</a:t>
            </a:r>
          </a:p>
          <a:p>
            <a:pPr lvl="0"/>
            <a:r>
              <a:rPr lang="en-US" dirty="0"/>
              <a:t>A Return sequence restore the state of machine so the calling procedure can continue its execution.</a:t>
            </a:r>
          </a:p>
          <a:p>
            <a:pPr lvl="0"/>
            <a:r>
              <a:rPr lang="en-US" dirty="0"/>
              <a:t>The code is calling sequence of often divided between the calling procedure (caller) and procedure is calls (</a:t>
            </a:r>
            <a:r>
              <a:rPr lang="en-US" dirty="0" err="1"/>
              <a:t>callee</a:t>
            </a:r>
            <a:r>
              <a:rPr lang="en-US" dirty="0"/>
              <a:t>).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3193960" y="3566294"/>
          <a:ext cx="3429000" cy="30036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429000"/>
              </a:tblGrid>
              <a:tr h="365761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Parameter and return value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  <a:tr h="56996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Control link</a:t>
                      </a:r>
                    </a:p>
                    <a:p>
                      <a:pPr algn="ctr"/>
                      <a:r>
                        <a:rPr lang="en-US" dirty="0" smtClean="0"/>
                        <a:t>Links and saved status</a:t>
                      </a:r>
                    </a:p>
                  </a:txBody>
                  <a:tcPr>
                    <a:noFill/>
                  </a:tcPr>
                </a:tc>
              </a:tr>
              <a:tr h="32569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Temporaries and local data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2569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Parameter and returned value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56996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Control link</a:t>
                      </a:r>
                    </a:p>
                    <a:p>
                      <a:pPr algn="ctr"/>
                      <a:r>
                        <a:rPr lang="en-US" dirty="0" smtClean="0"/>
                        <a:t>Links</a:t>
                      </a:r>
                      <a:r>
                        <a:rPr lang="en-US" baseline="0" dirty="0" smtClean="0"/>
                        <a:t> and saved status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62618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Temporaries and local data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2736760" y="5960319"/>
            <a:ext cx="457200" cy="0"/>
          </a:xfrm>
          <a:prstGeom prst="straightConnector1">
            <a:avLst/>
          </a:prstGeom>
          <a:ln w="22225">
            <a:solidFill>
              <a:srgbClr val="0E4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784260" y="5684097"/>
            <a:ext cx="990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>
                <a:solidFill>
                  <a:schemeClr val="tx1"/>
                </a:solidFill>
              </a:rPr>
              <a:t>t</a:t>
            </a:r>
            <a:r>
              <a:rPr lang="en-US" i="1" dirty="0" err="1" smtClean="0">
                <a:solidFill>
                  <a:schemeClr val="tx1"/>
                </a:solidFill>
              </a:rPr>
              <a:t>op_sp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75360" y="4818887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Caller’s responsibility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75360" y="6141297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 smtClean="0">
                <a:solidFill>
                  <a:schemeClr val="tx1"/>
                </a:solidFill>
              </a:rPr>
              <a:t>Callee’s</a:t>
            </a:r>
            <a:r>
              <a:rPr lang="en-US" i="1" dirty="0" smtClean="0">
                <a:solidFill>
                  <a:schemeClr val="tx1"/>
                </a:solidFill>
              </a:rPr>
              <a:t> responsibility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61235" y="3892548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Caller’s activation</a:t>
            </a:r>
          </a:p>
          <a:p>
            <a:pPr algn="ctr"/>
            <a:r>
              <a:rPr lang="en-US" i="1" dirty="0" smtClean="0">
                <a:solidFill>
                  <a:schemeClr val="tx1"/>
                </a:solidFill>
              </a:rPr>
              <a:t>record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08860" y="5788873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 smtClean="0">
                <a:solidFill>
                  <a:schemeClr val="tx1"/>
                </a:solidFill>
              </a:rPr>
              <a:t>Callee’s</a:t>
            </a:r>
            <a:r>
              <a:rPr lang="en-US" i="1" dirty="0" smtClean="0">
                <a:solidFill>
                  <a:schemeClr val="tx1"/>
                </a:solidFill>
              </a:rPr>
              <a:t> activation</a:t>
            </a:r>
          </a:p>
          <a:p>
            <a:pPr algn="ctr"/>
            <a:r>
              <a:rPr lang="en-US" i="1" dirty="0" smtClean="0">
                <a:solidFill>
                  <a:schemeClr val="tx1"/>
                </a:solidFill>
              </a:rPr>
              <a:t>record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1" name="Right Brace 10"/>
          <p:cNvSpPr/>
          <p:nvPr/>
        </p:nvSpPr>
        <p:spPr>
          <a:xfrm>
            <a:off x="9204235" y="3445718"/>
            <a:ext cx="200025" cy="1489036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/>
          <p:cNvSpPr/>
          <p:nvPr/>
        </p:nvSpPr>
        <p:spPr>
          <a:xfrm>
            <a:off x="9218521" y="5019338"/>
            <a:ext cx="200025" cy="1489036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/>
          <p:cNvSpPr/>
          <p:nvPr/>
        </p:nvSpPr>
        <p:spPr>
          <a:xfrm>
            <a:off x="8142197" y="4042032"/>
            <a:ext cx="200025" cy="1489036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>
            <a:off x="8142197" y="5680552"/>
            <a:ext cx="200025" cy="889367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rved Down Arrow 14"/>
          <p:cNvSpPr/>
          <p:nvPr/>
        </p:nvSpPr>
        <p:spPr>
          <a:xfrm rot="16200000">
            <a:off x="2582793" y="4754207"/>
            <a:ext cx="993737" cy="228602"/>
          </a:xfrm>
          <a:prstGeom prst="curvedDown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urved Down Arrow 15"/>
          <p:cNvSpPr/>
          <p:nvPr/>
        </p:nvSpPr>
        <p:spPr>
          <a:xfrm rot="16200000">
            <a:off x="2754242" y="3669985"/>
            <a:ext cx="638177" cy="212688"/>
          </a:xfrm>
          <a:prstGeom prst="curvedDown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11611" y="4437192"/>
            <a:ext cx="1257300" cy="337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Calling procedure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911611" y="5769919"/>
            <a:ext cx="1257300" cy="337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Called procedure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5710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/>
      <p:bldP spid="1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allocation: Calling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The calling sequence and its division between caller and </a:t>
            </a:r>
            <a:r>
              <a:rPr lang="en-US" dirty="0" err="1"/>
              <a:t>callee</a:t>
            </a:r>
            <a:r>
              <a:rPr lang="en-US" dirty="0"/>
              <a:t> are as follows:</a:t>
            </a:r>
          </a:p>
          <a:p>
            <a:pPr lvl="1">
              <a:buFont typeface="+mj-lt"/>
              <a:buAutoNum type="arabicPeriod"/>
            </a:pPr>
            <a:r>
              <a:rPr lang="en-US" sz="2400" dirty="0"/>
              <a:t>The caller </a:t>
            </a:r>
            <a:r>
              <a:rPr lang="en-US" sz="2400" dirty="0" smtClean="0">
                <a:solidFill>
                  <a:srgbClr val="FF0000"/>
                </a:solidFill>
              </a:rPr>
              <a:t>(Calling procedure) </a:t>
            </a:r>
            <a:r>
              <a:rPr lang="en-US" sz="2400" dirty="0" smtClean="0"/>
              <a:t>evaluates </a:t>
            </a:r>
            <a:r>
              <a:rPr lang="en-US" sz="2400" dirty="0"/>
              <a:t>the actual parameters.</a:t>
            </a:r>
          </a:p>
          <a:p>
            <a:pPr lvl="1">
              <a:buFont typeface="+mj-lt"/>
              <a:buAutoNum type="arabicPeriod"/>
            </a:pPr>
            <a:r>
              <a:rPr lang="en-US" sz="2400" dirty="0"/>
              <a:t>The caller stores a return address and the old value of </a:t>
            </a:r>
            <a:r>
              <a:rPr lang="en-US" sz="2400" i="1" dirty="0" err="1"/>
              <a:t>top_sp</a:t>
            </a:r>
            <a:r>
              <a:rPr lang="en-US" sz="2400" dirty="0"/>
              <a:t> into the </a:t>
            </a:r>
            <a:r>
              <a:rPr lang="en-US" sz="2400" dirty="0" err="1"/>
              <a:t>callee’s</a:t>
            </a:r>
            <a:r>
              <a:rPr lang="en-US" sz="2400" dirty="0"/>
              <a:t> activation record. The caller then increments the </a:t>
            </a:r>
            <a:r>
              <a:rPr lang="en-US" sz="2400" i="1" dirty="0" err="1"/>
              <a:t>top_sp</a:t>
            </a:r>
            <a:r>
              <a:rPr lang="en-US" sz="2400" dirty="0"/>
              <a:t> to the respective positions.</a:t>
            </a:r>
          </a:p>
          <a:p>
            <a:pPr lvl="1"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dirty="0" err="1"/>
              <a:t>callee</a:t>
            </a:r>
            <a:r>
              <a:rPr lang="en-US" sz="2400" dirty="0"/>
              <a:t> </a:t>
            </a:r>
            <a:r>
              <a:rPr lang="en-US" sz="2400" dirty="0" smtClean="0">
                <a:solidFill>
                  <a:srgbClr val="FF0000"/>
                </a:solidFill>
              </a:rPr>
              <a:t>(Called procedure) </a:t>
            </a:r>
            <a:r>
              <a:rPr lang="en-US" sz="2400" dirty="0" smtClean="0"/>
              <a:t>saves </a:t>
            </a:r>
            <a:r>
              <a:rPr lang="en-US" sz="2400" dirty="0"/>
              <a:t>the register values and other status information.</a:t>
            </a:r>
          </a:p>
          <a:p>
            <a:pPr lvl="1"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dirty="0" err="1"/>
              <a:t>callee</a:t>
            </a:r>
            <a:r>
              <a:rPr lang="en-US" sz="2400" dirty="0"/>
              <a:t> initializes its local data and begins execution.</a:t>
            </a:r>
          </a:p>
          <a:p>
            <a:endParaRPr lang="en-US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>
            <p:extLst/>
          </p:nvPr>
        </p:nvGraphicFramePr>
        <p:xfrm>
          <a:off x="3193960" y="3566294"/>
          <a:ext cx="3429000" cy="30036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429000"/>
              </a:tblGrid>
              <a:tr h="365761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Parameter and return value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  <a:tr h="56996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Control link</a:t>
                      </a:r>
                    </a:p>
                    <a:p>
                      <a:pPr algn="ctr"/>
                      <a:r>
                        <a:rPr lang="en-US" dirty="0" smtClean="0"/>
                        <a:t>Links and saved status</a:t>
                      </a:r>
                    </a:p>
                  </a:txBody>
                  <a:tcPr>
                    <a:noFill/>
                  </a:tcPr>
                </a:tc>
              </a:tr>
              <a:tr h="32569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Temporaries and local data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2569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Parameter and returned value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56996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Control link</a:t>
                      </a:r>
                    </a:p>
                    <a:p>
                      <a:pPr algn="ctr"/>
                      <a:r>
                        <a:rPr lang="en-US" dirty="0" smtClean="0"/>
                        <a:t>Links</a:t>
                      </a:r>
                      <a:r>
                        <a:rPr lang="en-US" baseline="0" dirty="0" smtClean="0"/>
                        <a:t> and saved status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62618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Temporaries and local data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cxnSp>
        <p:nvCxnSpPr>
          <p:cNvPr id="18" name="Straight Arrow Connector 17"/>
          <p:cNvCxnSpPr/>
          <p:nvPr/>
        </p:nvCxnSpPr>
        <p:spPr>
          <a:xfrm>
            <a:off x="2736760" y="5960319"/>
            <a:ext cx="457200" cy="0"/>
          </a:xfrm>
          <a:prstGeom prst="straightConnector1">
            <a:avLst/>
          </a:prstGeom>
          <a:ln w="22225">
            <a:solidFill>
              <a:srgbClr val="0E4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1784260" y="5684097"/>
            <a:ext cx="990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>
                <a:solidFill>
                  <a:schemeClr val="tx1"/>
                </a:solidFill>
              </a:rPr>
              <a:t>t</a:t>
            </a:r>
            <a:r>
              <a:rPr lang="en-US" i="1" dirty="0" err="1" smtClean="0">
                <a:solidFill>
                  <a:schemeClr val="tx1"/>
                </a:solidFill>
              </a:rPr>
              <a:t>op_sp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775360" y="4818887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Caller’s responsibility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775360" y="6141297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 smtClean="0">
                <a:solidFill>
                  <a:schemeClr val="tx1"/>
                </a:solidFill>
              </a:rPr>
              <a:t>Callee’s</a:t>
            </a:r>
            <a:r>
              <a:rPr lang="en-US" i="1" dirty="0" smtClean="0">
                <a:solidFill>
                  <a:schemeClr val="tx1"/>
                </a:solidFill>
              </a:rPr>
              <a:t> responsibility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8061235" y="3892548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Caller’s activation</a:t>
            </a:r>
          </a:p>
          <a:p>
            <a:pPr algn="ctr"/>
            <a:r>
              <a:rPr lang="en-US" i="1" dirty="0" smtClean="0">
                <a:solidFill>
                  <a:schemeClr val="tx1"/>
                </a:solidFill>
              </a:rPr>
              <a:t>record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8108860" y="5788873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 smtClean="0">
                <a:solidFill>
                  <a:schemeClr val="tx1"/>
                </a:solidFill>
              </a:rPr>
              <a:t>Callee’s</a:t>
            </a:r>
            <a:r>
              <a:rPr lang="en-US" i="1" dirty="0" smtClean="0">
                <a:solidFill>
                  <a:schemeClr val="tx1"/>
                </a:solidFill>
              </a:rPr>
              <a:t> activation</a:t>
            </a:r>
          </a:p>
          <a:p>
            <a:pPr algn="ctr"/>
            <a:r>
              <a:rPr lang="en-US" i="1" dirty="0" smtClean="0">
                <a:solidFill>
                  <a:schemeClr val="tx1"/>
                </a:solidFill>
              </a:rPr>
              <a:t>record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4" name="Right Brace 23"/>
          <p:cNvSpPr/>
          <p:nvPr/>
        </p:nvSpPr>
        <p:spPr>
          <a:xfrm>
            <a:off x="9204235" y="3445718"/>
            <a:ext cx="200025" cy="1489036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Brace 24"/>
          <p:cNvSpPr/>
          <p:nvPr/>
        </p:nvSpPr>
        <p:spPr>
          <a:xfrm>
            <a:off x="9218521" y="5019338"/>
            <a:ext cx="200025" cy="1489036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ight Brace 25"/>
          <p:cNvSpPr/>
          <p:nvPr/>
        </p:nvSpPr>
        <p:spPr>
          <a:xfrm>
            <a:off x="8142197" y="4042032"/>
            <a:ext cx="200025" cy="1489036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ight Brace 26"/>
          <p:cNvSpPr/>
          <p:nvPr/>
        </p:nvSpPr>
        <p:spPr>
          <a:xfrm>
            <a:off x="8142197" y="5680552"/>
            <a:ext cx="200025" cy="889367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Curved Down Arrow 27"/>
          <p:cNvSpPr/>
          <p:nvPr/>
        </p:nvSpPr>
        <p:spPr>
          <a:xfrm rot="16200000">
            <a:off x="2582793" y="4754207"/>
            <a:ext cx="993737" cy="228602"/>
          </a:xfrm>
          <a:prstGeom prst="curvedDown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9" name="Curved Down Arrow 28"/>
          <p:cNvSpPr/>
          <p:nvPr/>
        </p:nvSpPr>
        <p:spPr>
          <a:xfrm rot="16200000">
            <a:off x="2754242" y="3669985"/>
            <a:ext cx="638177" cy="212688"/>
          </a:xfrm>
          <a:prstGeom prst="curvedDown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6911611" y="4437192"/>
            <a:ext cx="1257300" cy="337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Calling procedure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6911611" y="5769919"/>
            <a:ext cx="1257300" cy="337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Called procedure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7995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allocation: Calling Sequences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A suitable, corresponding return sequence is:</a:t>
            </a:r>
          </a:p>
          <a:p>
            <a:pPr lvl="1">
              <a:buFont typeface="+mj-lt"/>
              <a:buAutoNum type="arabicPeriod"/>
            </a:pPr>
            <a:r>
              <a:rPr lang="en-US" sz="2400" dirty="0"/>
              <a:t>The </a:t>
            </a:r>
            <a:r>
              <a:rPr lang="en-US" sz="2400" dirty="0" err="1"/>
              <a:t>callee</a:t>
            </a:r>
            <a:r>
              <a:rPr lang="en-US" sz="2400" dirty="0"/>
              <a:t> places the return value next to the parameters.</a:t>
            </a:r>
          </a:p>
          <a:p>
            <a:pPr lvl="1">
              <a:buFont typeface="+mj-lt"/>
              <a:buAutoNum type="arabicPeriod"/>
            </a:pPr>
            <a:r>
              <a:rPr lang="en-US" sz="2400" dirty="0"/>
              <a:t>Using the information in the machine status field, the </a:t>
            </a:r>
            <a:r>
              <a:rPr lang="en-US" sz="2400" dirty="0" err="1"/>
              <a:t>callee</a:t>
            </a:r>
            <a:r>
              <a:rPr lang="en-US" sz="2400" dirty="0"/>
              <a:t> restores </a:t>
            </a:r>
            <a:r>
              <a:rPr lang="en-US" sz="2400" i="1" dirty="0" err="1"/>
              <a:t>top_sp</a:t>
            </a:r>
            <a:r>
              <a:rPr lang="en-US" sz="2400" i="1" dirty="0"/>
              <a:t> </a:t>
            </a:r>
            <a:r>
              <a:rPr lang="en-US" sz="2400" dirty="0"/>
              <a:t>and other registers, and then branches to the return address that the caller placed in the status field.</a:t>
            </a:r>
          </a:p>
          <a:p>
            <a:pPr lvl="1">
              <a:buFont typeface="+mj-lt"/>
              <a:buAutoNum type="arabicPeriod"/>
            </a:pPr>
            <a:r>
              <a:rPr lang="en-US" sz="2400" dirty="0"/>
              <a:t>Although </a:t>
            </a:r>
            <a:r>
              <a:rPr lang="en-US" sz="2400" i="1" dirty="0" err="1"/>
              <a:t>top_sp</a:t>
            </a:r>
            <a:r>
              <a:rPr lang="en-US" sz="2400" i="1" dirty="0"/>
              <a:t> </a:t>
            </a:r>
            <a:r>
              <a:rPr lang="en-US" sz="2400" dirty="0"/>
              <a:t>has been decremented, the caller knows where the return value is, relative to the current value of </a:t>
            </a:r>
            <a:r>
              <a:rPr lang="en-US" sz="2400" i="1" dirty="0" err="1"/>
              <a:t>top_sp</a:t>
            </a:r>
            <a:r>
              <a:rPr lang="en-US" sz="2400" i="1" dirty="0"/>
              <a:t> </a:t>
            </a:r>
            <a:r>
              <a:rPr lang="en-US" sz="2400" dirty="0"/>
              <a:t>; the caller therefore may use that value.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/>
          </p:nvPr>
        </p:nvGraphicFramePr>
        <p:xfrm>
          <a:off x="3193960" y="3566294"/>
          <a:ext cx="3429000" cy="3003625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429000"/>
              </a:tblGrid>
              <a:tr h="365761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Parameter and return value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  <a:tr h="56996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Control link</a:t>
                      </a:r>
                    </a:p>
                    <a:p>
                      <a:pPr algn="ctr"/>
                      <a:r>
                        <a:rPr lang="en-US" dirty="0" smtClean="0"/>
                        <a:t>Links and saved status</a:t>
                      </a:r>
                    </a:p>
                  </a:txBody>
                  <a:tcPr>
                    <a:noFill/>
                  </a:tcPr>
                </a:tc>
              </a:tr>
              <a:tr h="32569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Temporaries and local data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25695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Parameter and returned value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569966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Control link</a:t>
                      </a:r>
                    </a:p>
                    <a:p>
                      <a:pPr algn="ctr"/>
                      <a:r>
                        <a:rPr lang="en-US" dirty="0" smtClean="0"/>
                        <a:t>Links</a:t>
                      </a:r>
                      <a:r>
                        <a:rPr lang="en-US" baseline="0" dirty="0" smtClean="0"/>
                        <a:t> and saved status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62618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Temporaries and local data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cxnSp>
        <p:nvCxnSpPr>
          <p:cNvPr id="5" name="Straight Arrow Connector 4"/>
          <p:cNvCxnSpPr/>
          <p:nvPr/>
        </p:nvCxnSpPr>
        <p:spPr>
          <a:xfrm>
            <a:off x="2736760" y="5960319"/>
            <a:ext cx="457200" cy="0"/>
          </a:xfrm>
          <a:prstGeom prst="straightConnector1">
            <a:avLst/>
          </a:prstGeom>
          <a:ln w="22225">
            <a:solidFill>
              <a:srgbClr val="0E4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1784260" y="5684097"/>
            <a:ext cx="990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>
                <a:solidFill>
                  <a:schemeClr val="tx1"/>
                </a:solidFill>
              </a:rPr>
              <a:t>t</a:t>
            </a:r>
            <a:r>
              <a:rPr lang="en-US" i="1" dirty="0" err="1" smtClean="0">
                <a:solidFill>
                  <a:schemeClr val="tx1"/>
                </a:solidFill>
              </a:rPr>
              <a:t>op_sp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6775360" y="4818887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Caller’s responsibility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775360" y="6141297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 smtClean="0">
                <a:solidFill>
                  <a:schemeClr val="tx1"/>
                </a:solidFill>
              </a:rPr>
              <a:t>Callee’s</a:t>
            </a:r>
            <a:r>
              <a:rPr lang="en-US" i="1" dirty="0" smtClean="0">
                <a:solidFill>
                  <a:schemeClr val="tx1"/>
                </a:solidFill>
              </a:rPr>
              <a:t> responsibility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8061235" y="3892548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Caller’s activation</a:t>
            </a:r>
          </a:p>
          <a:p>
            <a:pPr algn="ctr"/>
            <a:r>
              <a:rPr lang="en-US" i="1" dirty="0" smtClean="0">
                <a:solidFill>
                  <a:schemeClr val="tx1"/>
                </a:solidFill>
              </a:rPr>
              <a:t>record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08860" y="5788873"/>
            <a:ext cx="14859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 smtClean="0">
                <a:solidFill>
                  <a:schemeClr val="tx1"/>
                </a:solidFill>
              </a:rPr>
              <a:t>Callee’s</a:t>
            </a:r>
            <a:r>
              <a:rPr lang="en-US" i="1" dirty="0" smtClean="0">
                <a:solidFill>
                  <a:schemeClr val="tx1"/>
                </a:solidFill>
              </a:rPr>
              <a:t> activation</a:t>
            </a:r>
          </a:p>
          <a:p>
            <a:pPr algn="ctr"/>
            <a:r>
              <a:rPr lang="en-US" i="1" dirty="0" smtClean="0">
                <a:solidFill>
                  <a:schemeClr val="tx1"/>
                </a:solidFill>
              </a:rPr>
              <a:t>record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1" name="Right Brace 10"/>
          <p:cNvSpPr/>
          <p:nvPr/>
        </p:nvSpPr>
        <p:spPr>
          <a:xfrm>
            <a:off x="9204235" y="3445718"/>
            <a:ext cx="200025" cy="1489036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Brace 11"/>
          <p:cNvSpPr/>
          <p:nvPr/>
        </p:nvSpPr>
        <p:spPr>
          <a:xfrm>
            <a:off x="9218521" y="5019338"/>
            <a:ext cx="200025" cy="1489036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Brace 12"/>
          <p:cNvSpPr/>
          <p:nvPr/>
        </p:nvSpPr>
        <p:spPr>
          <a:xfrm>
            <a:off x="8142197" y="4042032"/>
            <a:ext cx="200025" cy="1489036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Brace 13"/>
          <p:cNvSpPr/>
          <p:nvPr/>
        </p:nvSpPr>
        <p:spPr>
          <a:xfrm>
            <a:off x="8142197" y="5680552"/>
            <a:ext cx="200025" cy="889367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Curved Down Arrow 14"/>
          <p:cNvSpPr/>
          <p:nvPr/>
        </p:nvSpPr>
        <p:spPr>
          <a:xfrm rot="16200000">
            <a:off x="2582793" y="4754207"/>
            <a:ext cx="993737" cy="228602"/>
          </a:xfrm>
          <a:prstGeom prst="curvedDown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Curved Down Arrow 15"/>
          <p:cNvSpPr/>
          <p:nvPr/>
        </p:nvSpPr>
        <p:spPr>
          <a:xfrm rot="16200000">
            <a:off x="2754242" y="3669985"/>
            <a:ext cx="638177" cy="212688"/>
          </a:xfrm>
          <a:prstGeom prst="curvedDown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11611" y="4437192"/>
            <a:ext cx="1257300" cy="337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Calling procedure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6911611" y="5769919"/>
            <a:ext cx="1257300" cy="33708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 smtClean="0">
                <a:solidFill>
                  <a:srgbClr val="FF0000"/>
                </a:solidFill>
              </a:rPr>
              <a:t>Called procedure</a:t>
            </a:r>
            <a:endParaRPr lang="en-US" sz="1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10036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allocation: Variable length data on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The run time memory management system must deal frequently with the allocation of objects, the sizes of which are not known at the compile time, but which are local to a procedure and thus may be allocated on the stack.</a:t>
            </a:r>
          </a:p>
          <a:p>
            <a:pPr lvl="0"/>
            <a:r>
              <a:rPr lang="en-US" dirty="0"/>
              <a:t>The same scheme works for objects of any type if they are local to the procedure called have a size that depends on the parameter of the call.</a:t>
            </a:r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1436673"/>
              </p:ext>
            </p:extLst>
          </p:nvPr>
        </p:nvGraphicFramePr>
        <p:xfrm>
          <a:off x="2477267" y="2840701"/>
          <a:ext cx="2590800" cy="37084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5908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 i="1" dirty="0" smtClean="0"/>
                        <a:t>Control link</a:t>
                      </a:r>
                      <a:endParaRPr lang="en-US" b="0" i="1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Pointer to A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Pointer to B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0" dirty="0" smtClean="0"/>
                        <a:t>Pointer to C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Array A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Array B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Array C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i="1" dirty="0" smtClean="0"/>
                        <a:t>Control link</a:t>
                      </a:r>
                      <a:endParaRPr lang="en-US" i="1" dirty="0"/>
                    </a:p>
                  </a:txBody>
                  <a:tcP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143777" y="5563263"/>
            <a:ext cx="990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>
                <a:solidFill>
                  <a:schemeClr val="tx1"/>
                </a:solidFill>
              </a:rPr>
              <a:t>t</a:t>
            </a:r>
            <a:r>
              <a:rPr lang="en-US" i="1" dirty="0" err="1" smtClean="0">
                <a:solidFill>
                  <a:schemeClr val="tx1"/>
                </a:solidFill>
              </a:rPr>
              <a:t>op_sp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2020067" y="5834719"/>
            <a:ext cx="457200" cy="0"/>
          </a:xfrm>
          <a:prstGeom prst="straightConnector1">
            <a:avLst/>
          </a:prstGeom>
          <a:ln w="22225">
            <a:solidFill>
              <a:srgbClr val="0E4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 6"/>
          <p:cNvSpPr/>
          <p:nvPr/>
        </p:nvSpPr>
        <p:spPr>
          <a:xfrm>
            <a:off x="1319996" y="6225252"/>
            <a:ext cx="990600" cy="381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top</a:t>
            </a:r>
            <a:endParaRPr lang="en-US" i="1" dirty="0">
              <a:solidFill>
                <a:schemeClr val="tx1"/>
              </a:solidFill>
            </a:endParaRPr>
          </a:p>
        </p:txBody>
      </p:sp>
      <p:cxnSp>
        <p:nvCxnSpPr>
          <p:cNvPr id="8" name="Straight Arrow Connector 7"/>
          <p:cNvCxnSpPr/>
          <p:nvPr/>
        </p:nvCxnSpPr>
        <p:spPr>
          <a:xfrm>
            <a:off x="2005790" y="6491943"/>
            <a:ext cx="457200" cy="0"/>
          </a:xfrm>
          <a:prstGeom prst="straightConnector1">
            <a:avLst/>
          </a:prstGeom>
          <a:ln w="22225">
            <a:solidFill>
              <a:srgbClr val="0E4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Curved Left Arrow 8"/>
          <p:cNvSpPr/>
          <p:nvPr/>
        </p:nvSpPr>
        <p:spPr>
          <a:xfrm>
            <a:off x="5091879" y="3348701"/>
            <a:ext cx="304790" cy="1524000"/>
          </a:xfrm>
          <a:prstGeom prst="curvedLeft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Curved Left Arrow 9"/>
          <p:cNvSpPr/>
          <p:nvPr/>
        </p:nvSpPr>
        <p:spPr>
          <a:xfrm>
            <a:off x="5072828" y="3748750"/>
            <a:ext cx="304790" cy="1524000"/>
          </a:xfrm>
          <a:prstGeom prst="curvedLeft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Curved Left Arrow 10"/>
          <p:cNvSpPr/>
          <p:nvPr/>
        </p:nvSpPr>
        <p:spPr>
          <a:xfrm>
            <a:off x="5082344" y="4120222"/>
            <a:ext cx="304790" cy="1524000"/>
          </a:xfrm>
          <a:prstGeom prst="curvedLeft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873334" y="3575939"/>
            <a:ext cx="1485900" cy="374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Activation record for p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3" name="Right Brace 12"/>
          <p:cNvSpPr/>
          <p:nvPr/>
        </p:nvSpPr>
        <p:spPr>
          <a:xfrm>
            <a:off x="5663380" y="2840701"/>
            <a:ext cx="329206" cy="1844793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5873334" y="5053035"/>
            <a:ext cx="1485900" cy="374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Arrays of p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5" name="Right Brace 14"/>
          <p:cNvSpPr/>
          <p:nvPr/>
        </p:nvSpPr>
        <p:spPr>
          <a:xfrm>
            <a:off x="5678444" y="4674688"/>
            <a:ext cx="294487" cy="1120204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5923133" y="5750135"/>
            <a:ext cx="1485900" cy="37431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>
                <a:solidFill>
                  <a:schemeClr val="tx1"/>
                </a:solidFill>
              </a:rPr>
              <a:t>Activation record for </a:t>
            </a:r>
            <a:r>
              <a:rPr lang="en-US" i="1" dirty="0" smtClean="0">
                <a:solidFill>
                  <a:schemeClr val="tx1"/>
                </a:solidFill>
              </a:rPr>
              <a:t>q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17" name="Right Brace 16"/>
          <p:cNvSpPr/>
          <p:nvPr/>
        </p:nvSpPr>
        <p:spPr>
          <a:xfrm>
            <a:off x="5703920" y="5796439"/>
            <a:ext cx="284076" cy="378347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Brace 17"/>
          <p:cNvSpPr/>
          <p:nvPr/>
        </p:nvSpPr>
        <p:spPr>
          <a:xfrm>
            <a:off x="5714967" y="6193920"/>
            <a:ext cx="284076" cy="378347"/>
          </a:xfrm>
          <a:prstGeom prst="rightBrace">
            <a:avLst/>
          </a:prstGeom>
          <a:ln w="22225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5901888" y="6336165"/>
            <a:ext cx="1528390" cy="1591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Arrays of q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911758" y="4164885"/>
            <a:ext cx="2669155" cy="27648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err="1" smtClean="0">
                <a:solidFill>
                  <a:schemeClr val="tx1"/>
                </a:solidFill>
              </a:rPr>
              <a:t>top_sp</a:t>
            </a:r>
            <a:r>
              <a:rPr lang="en-US" i="1" dirty="0" smtClean="0">
                <a:solidFill>
                  <a:schemeClr val="tx1"/>
                </a:solidFill>
              </a:rPr>
              <a:t>: find the local data</a:t>
            </a:r>
            <a:endParaRPr lang="en-US" i="1" dirty="0">
              <a:solidFill>
                <a:schemeClr val="tx1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7829028" y="3826074"/>
            <a:ext cx="4231793" cy="22055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i="1" dirty="0" smtClean="0">
                <a:solidFill>
                  <a:schemeClr val="tx1"/>
                </a:solidFill>
              </a:rPr>
              <a:t>top: position of the next activation record</a:t>
            </a:r>
            <a:endParaRPr lang="en-US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9172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9" grpId="0" animBg="1"/>
      <p:bldP spid="10" grpId="0" animBg="1"/>
      <p:bldP spid="11" grpId="0" animBg="1"/>
      <p:bldP spid="12" grpId="0"/>
      <p:bldP spid="13" grpId="0" animBg="1"/>
      <p:bldP spid="14" grpId="0"/>
      <p:bldP spid="15" grpId="0" animBg="1"/>
      <p:bldP spid="16" grpId="0"/>
      <p:bldP spid="17" grpId="0" animBg="1"/>
      <p:bldP spid="18" grpId="0" animBg="1"/>
      <p:bldP spid="19" grpId="0"/>
      <p:bldP spid="20" grpId="0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Stack allocation: Dangling 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210285"/>
          </a:xfrm>
        </p:spPr>
        <p:txBody>
          <a:bodyPr/>
          <a:lstStyle/>
          <a:p>
            <a:pPr lvl="0"/>
            <a:r>
              <a:rPr lang="en-US" dirty="0" smtClean="0"/>
              <a:t>When there is a reference to storage that has been </a:t>
            </a:r>
            <a:r>
              <a:rPr lang="en-US" dirty="0" err="1" smtClean="0"/>
              <a:t>deallocated</a:t>
            </a:r>
            <a:r>
              <a:rPr lang="en-US" dirty="0" smtClean="0"/>
              <a:t>.</a:t>
            </a:r>
            <a:endParaRPr lang="en-US" dirty="0"/>
          </a:p>
          <a:p>
            <a:pPr lvl="0"/>
            <a:r>
              <a:rPr lang="en-US" dirty="0"/>
              <a:t>It is a logical error to use dangling reference, since, the value of de-allocated storage is undefined according to the semantics of most languages.</a:t>
            </a:r>
          </a:p>
          <a:p>
            <a:endParaRPr lang="en-US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08765" y="2225972"/>
            <a:ext cx="11929641" cy="121028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E47A1"/>
              </a:buClr>
              <a:buFont typeface="Wingdings 3" panose="05040102010807070707" pitchFamily="18" charset="2"/>
              <a:buChar char="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E47A1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dirty="0"/>
              <a:t>m</a:t>
            </a:r>
            <a:r>
              <a:rPr lang="en-US" sz="1800" dirty="0" smtClean="0"/>
              <a:t>ain()</a:t>
            </a:r>
          </a:p>
          <a:p>
            <a:pPr marL="0" indent="0">
              <a:buNone/>
            </a:pPr>
            <a:r>
              <a:rPr lang="en-US" sz="1800" dirty="0" smtClean="0"/>
              <a:t>{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*p;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p=</a:t>
            </a:r>
            <a:r>
              <a:rPr lang="en-US" sz="1800" dirty="0" err="1" smtClean="0"/>
              <a:t>dengle</a:t>
            </a:r>
            <a:r>
              <a:rPr lang="en-US" sz="1800" dirty="0" smtClean="0"/>
              <a:t>();</a:t>
            </a:r>
          </a:p>
          <a:p>
            <a:pPr marL="0" indent="0">
              <a:buNone/>
            </a:pPr>
            <a:r>
              <a:rPr lang="en-US" sz="1800" dirty="0" smtClean="0"/>
              <a:t>}</a:t>
            </a:r>
          </a:p>
          <a:p>
            <a:pPr marL="0" indent="0">
              <a:buNone/>
            </a:pPr>
            <a:r>
              <a:rPr lang="en-US" sz="1800" dirty="0" err="1" smtClean="0"/>
              <a:t>int</a:t>
            </a:r>
            <a:r>
              <a:rPr lang="en-US" sz="1800" dirty="0" smtClean="0"/>
              <a:t> *</a:t>
            </a:r>
            <a:r>
              <a:rPr lang="en-US" sz="1800" dirty="0" err="1" smtClean="0"/>
              <a:t>dengle</a:t>
            </a:r>
            <a:r>
              <a:rPr lang="en-US" sz="1800" dirty="0" smtClean="0"/>
              <a:t>()</a:t>
            </a:r>
          </a:p>
          <a:p>
            <a:pPr marL="0" indent="0">
              <a:buNone/>
            </a:pPr>
            <a:r>
              <a:rPr lang="en-US" sz="1800" dirty="0" smtClean="0"/>
              <a:t>{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err="1" smtClean="0"/>
              <a:t>int</a:t>
            </a:r>
            <a:r>
              <a:rPr lang="en-US" sz="1800" dirty="0" smtClean="0"/>
              <a:t> </a:t>
            </a:r>
            <a:r>
              <a:rPr lang="en-US" sz="1800" dirty="0" err="1" smtClean="0"/>
              <a:t>i</a:t>
            </a:r>
            <a:r>
              <a:rPr lang="en-US" sz="1800" dirty="0" smtClean="0"/>
              <a:t>=10;</a:t>
            </a:r>
          </a:p>
          <a:p>
            <a:pPr marL="0" indent="0">
              <a:buNone/>
            </a:pPr>
            <a:r>
              <a:rPr lang="en-US" sz="1800" dirty="0"/>
              <a:t>	</a:t>
            </a:r>
            <a:r>
              <a:rPr lang="en-US" sz="1800" dirty="0" smtClean="0"/>
              <a:t>return &amp;</a:t>
            </a:r>
            <a:r>
              <a:rPr lang="en-US" sz="1800" dirty="0" err="1" smtClean="0"/>
              <a:t>i</a:t>
            </a:r>
            <a:r>
              <a:rPr lang="en-US" sz="1800" dirty="0" smtClean="0"/>
              <a:t>;</a:t>
            </a:r>
          </a:p>
          <a:p>
            <a:pPr marL="0" indent="0">
              <a:buNone/>
            </a:pPr>
            <a:r>
              <a:rPr lang="en-US" sz="1800" dirty="0" smtClean="0"/>
              <a:t>} 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699613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Heap Allocation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The stack allocation strategy can not be used for following condition: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The values of the local names must be retained when an activation ends.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 smtClean="0"/>
              <a:t>A called activation outlives the called.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endParaRPr lang="en-US" dirty="0" smtClean="0"/>
          </a:p>
          <a:p>
            <a:pPr marL="457200" indent="-457200">
              <a:buFont typeface="+mj-lt"/>
              <a:buAutoNum type="arabicPeriod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r>
              <a:rPr lang="en-US" dirty="0" smtClean="0"/>
              <a:t>Records for the live activations need not be adjacent in a heap.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8294536"/>
              </p:ext>
            </p:extLst>
          </p:nvPr>
        </p:nvGraphicFramePr>
        <p:xfrm>
          <a:off x="777291" y="2299938"/>
          <a:ext cx="7659466" cy="347472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632910"/>
                <a:gridCol w="2473401"/>
                <a:gridCol w="2553155"/>
              </a:tblGrid>
              <a:tr h="370272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Position in activation tree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Activation record on the heap</a:t>
                      </a:r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Remarks</a:t>
                      </a:r>
                      <a:r>
                        <a:rPr lang="en-US" baseline="0" dirty="0" smtClean="0"/>
                        <a:t> 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  <a:tr h="1842198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 smtClean="0"/>
                    </a:p>
                    <a:p>
                      <a:pPr algn="ctr"/>
                      <a:endParaRPr lang="en-US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Retains activation record for </a:t>
                      </a:r>
                      <a:r>
                        <a:rPr lang="en-US" dirty="0" err="1" smtClean="0"/>
                        <a:t>ra</a:t>
                      </a:r>
                      <a:endParaRPr lang="en-US" dirty="0"/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1513023" y="3254754"/>
            <a:ext cx="133114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0E47A1"/>
                </a:solidFill>
              </a:rPr>
              <a:t>main</a:t>
            </a:r>
            <a:endParaRPr lang="en-US" dirty="0">
              <a:solidFill>
                <a:srgbClr val="0E47A1"/>
              </a:solidFill>
            </a:endParaRPr>
          </a:p>
        </p:txBody>
      </p:sp>
      <p:cxnSp>
        <p:nvCxnSpPr>
          <p:cNvPr id="6" name="Straight Connector 5"/>
          <p:cNvCxnSpPr>
            <a:stCxn id="5" idx="2"/>
          </p:cNvCxnSpPr>
          <p:nvPr/>
        </p:nvCxnSpPr>
        <p:spPr>
          <a:xfrm flipH="1">
            <a:off x="1559014" y="3610160"/>
            <a:ext cx="619580" cy="203551"/>
          </a:xfrm>
          <a:prstGeom prst="line">
            <a:avLst/>
          </a:prstGeom>
          <a:ln>
            <a:solidFill>
              <a:srgbClr val="0E47A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5" idx="2"/>
          </p:cNvCxnSpPr>
          <p:nvPr/>
        </p:nvCxnSpPr>
        <p:spPr>
          <a:xfrm>
            <a:off x="2178594" y="3610160"/>
            <a:ext cx="580217" cy="203551"/>
          </a:xfrm>
          <a:prstGeom prst="line">
            <a:avLst/>
          </a:prstGeom>
          <a:ln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759933" y="3813711"/>
            <a:ext cx="1331141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E47A1"/>
                </a:solidFill>
              </a:rPr>
              <a:t>ra</a:t>
            </a:r>
            <a:r>
              <a:rPr lang="en-US" dirty="0" smtClean="0">
                <a:solidFill>
                  <a:srgbClr val="0E47A1"/>
                </a:solidFill>
              </a:rPr>
              <a:t>()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124550" y="3864456"/>
            <a:ext cx="1563917" cy="355406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0E47A1"/>
                </a:solidFill>
              </a:rPr>
              <a:t>qs</a:t>
            </a:r>
            <a:r>
              <a:rPr lang="en-US" dirty="0" smtClean="0">
                <a:solidFill>
                  <a:srgbClr val="0E47A1"/>
                </a:solidFill>
              </a:rPr>
              <a:t>(1,10)</a:t>
            </a:r>
            <a:endParaRPr lang="en-US" dirty="0">
              <a:solidFill>
                <a:srgbClr val="0E47A1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4224927" y="3351570"/>
            <a:ext cx="992681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rgbClr val="C00000"/>
                </a:solidFill>
              </a:rPr>
              <a:t>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224929" y="3610160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Control link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4224927" y="3861056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224926" y="4114407"/>
            <a:ext cx="992681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C00000"/>
                </a:solidFill>
              </a:rPr>
              <a:t>rs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224928" y="4355068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Control link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4224926" y="4605964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4232268" y="4846789"/>
            <a:ext cx="992681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 smtClean="0">
                <a:solidFill>
                  <a:srgbClr val="C00000"/>
                </a:solidFill>
              </a:rPr>
              <a:t>qs</a:t>
            </a:r>
            <a:r>
              <a:rPr lang="en-US" dirty="0" smtClean="0">
                <a:solidFill>
                  <a:srgbClr val="C00000"/>
                </a:solidFill>
              </a:rPr>
              <a:t>(1,10)</a:t>
            </a:r>
            <a:endParaRPr lang="en-US" dirty="0">
              <a:solidFill>
                <a:srgbClr val="C00000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4232270" y="5087450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smtClean="0">
                <a:solidFill>
                  <a:srgbClr val="C00000"/>
                </a:solidFill>
              </a:rPr>
              <a:t>Control link</a:t>
            </a:r>
            <a:endParaRPr lang="en-US" sz="1400" dirty="0">
              <a:solidFill>
                <a:srgbClr val="C00000"/>
              </a:solidFill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4232268" y="5338346"/>
            <a:ext cx="992680" cy="246767"/>
          </a:xfrm>
          <a:prstGeom prst="rect">
            <a:avLst/>
          </a:prstGeom>
          <a:noFill/>
          <a:ln>
            <a:solidFill>
              <a:srgbClr val="0E47A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rgbClr val="C00000"/>
              </a:solidFill>
            </a:endParaRPr>
          </a:p>
        </p:txBody>
      </p:sp>
      <p:cxnSp>
        <p:nvCxnSpPr>
          <p:cNvPr id="29" name="Curved Connector 28"/>
          <p:cNvCxnSpPr/>
          <p:nvPr/>
        </p:nvCxnSpPr>
        <p:spPr>
          <a:xfrm rot="10800000">
            <a:off x="4242334" y="3424567"/>
            <a:ext cx="1" cy="1003498"/>
          </a:xfrm>
          <a:prstGeom prst="curvedConnector3">
            <a:avLst>
              <a:gd name="adj1" fmla="val 22860100000"/>
            </a:avLst>
          </a:prstGeom>
          <a:ln w="15875">
            <a:solidFill>
              <a:srgbClr val="0E4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urved Connector 29"/>
          <p:cNvCxnSpPr/>
          <p:nvPr/>
        </p:nvCxnSpPr>
        <p:spPr>
          <a:xfrm rot="10800000" flipH="1">
            <a:off x="4232269" y="3360545"/>
            <a:ext cx="27469" cy="1816380"/>
          </a:xfrm>
          <a:prstGeom prst="curvedConnector4">
            <a:avLst>
              <a:gd name="adj1" fmla="val -2007095"/>
              <a:gd name="adj2" fmla="val 98802"/>
            </a:avLst>
          </a:prstGeom>
          <a:ln w="15875">
            <a:solidFill>
              <a:srgbClr val="0E47A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8052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9" grpId="0"/>
      <p:bldP spid="10" grpId="0" animBg="1"/>
      <p:bldP spid="11" grpId="0" animBg="1"/>
      <p:bldP spid="12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References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sz="3000" b="1" dirty="0" smtClean="0">
                <a:solidFill>
                  <a:srgbClr val="0E47A1"/>
                </a:solidFill>
              </a:rPr>
              <a:t>Books: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b="1" dirty="0" smtClean="0">
                <a:solidFill>
                  <a:srgbClr val="0E47A1"/>
                </a:solidFill>
              </a:rPr>
              <a:t>Compilers Principles, Techniques and Tools,</a:t>
            </a:r>
            <a:r>
              <a:rPr lang="en-US" sz="3000" b="1" dirty="0" smtClean="0">
                <a:solidFill>
                  <a:srgbClr val="0E47A1"/>
                </a:solidFill>
              </a:rPr>
              <a:t> </a:t>
            </a:r>
            <a:r>
              <a:rPr lang="en-US" b="1" dirty="0">
                <a:solidFill>
                  <a:srgbClr val="0E47A1"/>
                </a:solidFill>
              </a:rPr>
              <a:t>PEARSON Education </a:t>
            </a:r>
            <a:r>
              <a:rPr lang="en-US" b="1" dirty="0" smtClean="0">
                <a:solidFill>
                  <a:srgbClr val="0E47A1"/>
                </a:solidFill>
              </a:rPr>
              <a:t>(Second Edition)</a:t>
            </a:r>
          </a:p>
          <a:p>
            <a:pPr marL="0" indent="0">
              <a:buNone/>
            </a:pPr>
            <a:r>
              <a:rPr lang="en-US" dirty="0" smtClean="0"/>
              <a:t>	Authors: Alfred V. </a:t>
            </a:r>
            <a:r>
              <a:rPr lang="en-US" dirty="0" err="1" smtClean="0"/>
              <a:t>Aho</a:t>
            </a:r>
            <a:r>
              <a:rPr lang="en-US" dirty="0" smtClean="0"/>
              <a:t>, Monica S. Lam, Ravi </a:t>
            </a:r>
            <a:r>
              <a:rPr lang="en-US" dirty="0" err="1" smtClean="0"/>
              <a:t>Sethi</a:t>
            </a:r>
            <a:r>
              <a:rPr lang="en-US" dirty="0" smtClean="0"/>
              <a:t>, Jeffrey D. Ullman</a:t>
            </a:r>
          </a:p>
          <a:p>
            <a:pPr marL="457200" indent="-457200">
              <a:buFont typeface="+mj-lt"/>
              <a:buAutoNum type="arabicPeriod" startAt="2"/>
            </a:pPr>
            <a:r>
              <a:rPr lang="en-US" sz="2800" b="1" dirty="0">
                <a:solidFill>
                  <a:srgbClr val="0E47A1"/>
                </a:solidFill>
              </a:rPr>
              <a:t>Compiler Design, PEARSON </a:t>
            </a:r>
            <a:r>
              <a:rPr lang="en-US" b="1" dirty="0">
                <a:solidFill>
                  <a:srgbClr val="0E47A1"/>
                </a:solidFill>
              </a:rPr>
              <a:t>(for Gujarat Technological University)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 smtClean="0"/>
              <a:t>Authors</a:t>
            </a:r>
            <a:r>
              <a:rPr lang="en-US" dirty="0"/>
              <a:t>: Alfred V. </a:t>
            </a:r>
            <a:r>
              <a:rPr lang="en-US" dirty="0" err="1"/>
              <a:t>Aho</a:t>
            </a:r>
            <a:r>
              <a:rPr lang="en-US" dirty="0"/>
              <a:t>, </a:t>
            </a:r>
            <a:r>
              <a:rPr lang="en-US" dirty="0" smtClean="0"/>
              <a:t>Ravi </a:t>
            </a:r>
            <a:r>
              <a:rPr lang="en-US" dirty="0" err="1"/>
              <a:t>Sethi</a:t>
            </a:r>
            <a:r>
              <a:rPr lang="en-US" dirty="0"/>
              <a:t>, Jeffrey D. Ullman</a:t>
            </a:r>
          </a:p>
        </p:txBody>
      </p:sp>
    </p:spTree>
    <p:extLst>
      <p:ext uri="{BB962C8B-B14F-4D97-AF65-F5344CB8AC3E}">
        <p14:creationId xmlns:p14="http://schemas.microsoft.com/office/powerpoint/2010/main" val="3967685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Thank You 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7625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VIdeo Lecture 16x9 Light Template (2)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VIdeo Lecture 16x9 Light Template (2)</Template>
  <TotalTime>6233</TotalTime>
  <Words>2296</Words>
  <Application>Microsoft Office PowerPoint</Application>
  <PresentationFormat>Widescreen</PresentationFormat>
  <Paragraphs>448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8" baseType="lpstr">
      <vt:lpstr>Roboto Condensed</vt:lpstr>
      <vt:lpstr>Wingdings 2</vt:lpstr>
      <vt:lpstr>Calibri</vt:lpstr>
      <vt:lpstr>Wingdings</vt:lpstr>
      <vt:lpstr>Wingdings 3</vt:lpstr>
      <vt:lpstr>Arial</vt:lpstr>
      <vt:lpstr>Segoe UI Black</vt:lpstr>
      <vt:lpstr>Roboto Condensed Light</vt:lpstr>
      <vt:lpstr>VIdeo Lecture 16x9 Light Template (2)</vt:lpstr>
      <vt:lpstr>Unit – 6 Run-Time Environments </vt:lpstr>
      <vt:lpstr>PowerPoint Presentation</vt:lpstr>
      <vt:lpstr>Source language issues</vt:lpstr>
      <vt:lpstr>Run-Time Environments</vt:lpstr>
      <vt:lpstr>Procedures</vt:lpstr>
      <vt:lpstr>Activation Tree</vt:lpstr>
      <vt:lpstr>Control stack</vt:lpstr>
      <vt:lpstr>Scope of a declaration</vt:lpstr>
      <vt:lpstr>Binding of names</vt:lpstr>
      <vt:lpstr>Storage Organization</vt:lpstr>
      <vt:lpstr>Storage organization</vt:lpstr>
      <vt:lpstr>Subdivision of Runtime Memory</vt:lpstr>
      <vt:lpstr>Subdivision of Runtime Memory</vt:lpstr>
      <vt:lpstr>Activation Record</vt:lpstr>
      <vt:lpstr>Activation Record</vt:lpstr>
      <vt:lpstr>Compile-Time Layout of Local Data</vt:lpstr>
      <vt:lpstr>Storage allocation strategies</vt:lpstr>
      <vt:lpstr>Storage allocation strategies</vt:lpstr>
      <vt:lpstr>Static allocation</vt:lpstr>
      <vt:lpstr>Stack allocation</vt:lpstr>
      <vt:lpstr>Stack allocation</vt:lpstr>
      <vt:lpstr>Stack allocation: Calling Sequences</vt:lpstr>
      <vt:lpstr>Stack allocation: Calling Sequences</vt:lpstr>
      <vt:lpstr>Stack allocation: Calling Sequences</vt:lpstr>
      <vt:lpstr>Stack allocation: Variable length data on stack</vt:lpstr>
      <vt:lpstr>Stack allocation: Dangling Reference</vt:lpstr>
      <vt:lpstr>Heap Allocation</vt:lpstr>
      <vt:lpstr>References</vt:lpstr>
      <vt:lpstr>Thank You 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umesh patel</cp:lastModifiedBy>
  <cp:revision>556</cp:revision>
  <dcterms:created xsi:type="dcterms:W3CDTF">2020-05-01T05:09:15Z</dcterms:created>
  <dcterms:modified xsi:type="dcterms:W3CDTF">2021-09-14T12:17:34Z</dcterms:modified>
</cp:coreProperties>
</file>