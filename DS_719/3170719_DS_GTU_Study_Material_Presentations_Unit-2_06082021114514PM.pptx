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0"/>
  </p:notesMasterIdLst>
  <p:sldIdLst>
    <p:sldId id="283" r:id="rId2"/>
    <p:sldId id="410" r:id="rId3"/>
    <p:sldId id="319" r:id="rId4"/>
    <p:sldId id="490" r:id="rId5"/>
    <p:sldId id="491" r:id="rId6"/>
    <p:sldId id="661" r:id="rId7"/>
    <p:sldId id="662" r:id="rId8"/>
    <p:sldId id="494" r:id="rId9"/>
    <p:sldId id="495" r:id="rId10"/>
    <p:sldId id="496" r:id="rId11"/>
    <p:sldId id="497" r:id="rId12"/>
    <p:sldId id="500" r:id="rId13"/>
    <p:sldId id="677" r:id="rId14"/>
    <p:sldId id="503" r:id="rId15"/>
    <p:sldId id="505" r:id="rId16"/>
    <p:sldId id="506" r:id="rId17"/>
    <p:sldId id="507" r:id="rId18"/>
    <p:sldId id="675" r:id="rId19"/>
    <p:sldId id="508" r:id="rId20"/>
    <p:sldId id="509" r:id="rId21"/>
    <p:sldId id="510" r:id="rId22"/>
    <p:sldId id="512" r:id="rId23"/>
    <p:sldId id="514" r:id="rId24"/>
    <p:sldId id="529" r:id="rId25"/>
    <p:sldId id="532" r:id="rId26"/>
    <p:sldId id="533" r:id="rId27"/>
    <p:sldId id="678" r:id="rId28"/>
    <p:sldId id="522" r:id="rId29"/>
    <p:sldId id="679" r:id="rId30"/>
    <p:sldId id="523" r:id="rId31"/>
    <p:sldId id="525" r:id="rId32"/>
    <p:sldId id="671" r:id="rId33"/>
    <p:sldId id="527" r:id="rId34"/>
    <p:sldId id="528" r:id="rId35"/>
    <p:sldId id="534" r:id="rId36"/>
    <p:sldId id="676" r:id="rId37"/>
    <p:sldId id="535" r:id="rId38"/>
    <p:sldId id="536" r:id="rId39"/>
    <p:sldId id="672" r:id="rId40"/>
    <p:sldId id="538" r:id="rId41"/>
    <p:sldId id="539" r:id="rId42"/>
    <p:sldId id="540" r:id="rId43"/>
    <p:sldId id="541" r:id="rId44"/>
    <p:sldId id="542" r:id="rId45"/>
    <p:sldId id="543" r:id="rId46"/>
    <p:sldId id="551" r:id="rId47"/>
    <p:sldId id="545" r:id="rId48"/>
    <p:sldId id="546" r:id="rId49"/>
    <p:sldId id="547" r:id="rId50"/>
    <p:sldId id="548" r:id="rId51"/>
    <p:sldId id="549" r:id="rId52"/>
    <p:sldId id="550" r:id="rId53"/>
    <p:sldId id="552" r:id="rId54"/>
    <p:sldId id="553" r:id="rId55"/>
    <p:sldId id="554" r:id="rId56"/>
    <p:sldId id="555" r:id="rId57"/>
    <p:sldId id="556" r:id="rId58"/>
    <p:sldId id="557" r:id="rId59"/>
    <p:sldId id="558" r:id="rId60"/>
    <p:sldId id="559" r:id="rId61"/>
    <p:sldId id="680" r:id="rId62"/>
    <p:sldId id="683" r:id="rId63"/>
    <p:sldId id="560" r:id="rId64"/>
    <p:sldId id="561" r:id="rId65"/>
    <p:sldId id="562" r:id="rId66"/>
    <p:sldId id="563" r:id="rId67"/>
    <p:sldId id="564" r:id="rId68"/>
    <p:sldId id="673" r:id="rId69"/>
    <p:sldId id="569" r:id="rId70"/>
    <p:sldId id="570" r:id="rId71"/>
    <p:sldId id="571" r:id="rId72"/>
    <p:sldId id="572" r:id="rId73"/>
    <p:sldId id="573" r:id="rId74"/>
    <p:sldId id="574" r:id="rId75"/>
    <p:sldId id="663" r:id="rId76"/>
    <p:sldId id="576" r:id="rId77"/>
    <p:sldId id="577" r:id="rId78"/>
    <p:sldId id="578" r:id="rId79"/>
    <p:sldId id="579" r:id="rId80"/>
    <p:sldId id="580" r:id="rId81"/>
    <p:sldId id="581" r:id="rId82"/>
    <p:sldId id="684" r:id="rId83"/>
    <p:sldId id="685" r:id="rId84"/>
    <p:sldId id="582" r:id="rId85"/>
    <p:sldId id="589" r:id="rId86"/>
    <p:sldId id="585" r:id="rId87"/>
    <p:sldId id="588" r:id="rId88"/>
    <p:sldId id="587" r:id="rId89"/>
    <p:sldId id="600" r:id="rId90"/>
    <p:sldId id="601" r:id="rId91"/>
    <p:sldId id="590" r:id="rId92"/>
    <p:sldId id="591" r:id="rId93"/>
    <p:sldId id="592" r:id="rId94"/>
    <p:sldId id="593" r:id="rId95"/>
    <p:sldId id="594" r:id="rId96"/>
    <p:sldId id="596" r:id="rId97"/>
    <p:sldId id="598" r:id="rId98"/>
    <p:sldId id="602" r:id="rId99"/>
    <p:sldId id="605" r:id="rId100"/>
    <p:sldId id="603" r:id="rId101"/>
    <p:sldId id="606" r:id="rId102"/>
    <p:sldId id="611" r:id="rId103"/>
    <p:sldId id="608" r:id="rId104"/>
    <p:sldId id="626" r:id="rId105"/>
    <p:sldId id="627" r:id="rId106"/>
    <p:sldId id="610" r:id="rId107"/>
    <p:sldId id="618" r:id="rId108"/>
    <p:sldId id="613" r:id="rId109"/>
    <p:sldId id="615" r:id="rId110"/>
    <p:sldId id="616" r:id="rId111"/>
    <p:sldId id="617" r:id="rId112"/>
    <p:sldId id="619" r:id="rId113"/>
    <p:sldId id="620" r:id="rId114"/>
    <p:sldId id="621" r:id="rId115"/>
    <p:sldId id="622" r:id="rId116"/>
    <p:sldId id="660" r:id="rId117"/>
    <p:sldId id="648" r:id="rId118"/>
    <p:sldId id="649" r:id="rId119"/>
    <p:sldId id="628" r:id="rId120"/>
    <p:sldId id="644" r:id="rId121"/>
    <p:sldId id="645" r:id="rId122"/>
    <p:sldId id="650" r:id="rId123"/>
    <p:sldId id="651" r:id="rId124"/>
    <p:sldId id="665" r:id="rId125"/>
    <p:sldId id="666" r:id="rId126"/>
    <p:sldId id="652" r:id="rId127"/>
    <p:sldId id="655" r:id="rId128"/>
    <p:sldId id="656" r:id="rId129"/>
    <p:sldId id="657" r:id="rId130"/>
    <p:sldId id="664" r:id="rId131"/>
    <p:sldId id="659" r:id="rId132"/>
    <p:sldId id="647" r:id="rId133"/>
    <p:sldId id="629" r:id="rId134"/>
    <p:sldId id="630" r:id="rId135"/>
    <p:sldId id="642" r:id="rId136"/>
    <p:sldId id="667" r:id="rId137"/>
    <p:sldId id="668" r:id="rId138"/>
    <p:sldId id="669" r:id="rId1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u/FgUKQNn5adZA4ZPOM30w==" hashData="cDcCmkZoTbbj6gXljBwG2ZHWw0IRgZfsIciYLlPjG9LhPz9NCRiX81ApZ89y5aKl21c+mX66LXyu1SbzHNRQ6w=="/>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064"/>
    <a:srgbClr val="B71B1C"/>
    <a:srgbClr val="F2F2F2"/>
    <a:srgbClr val="CAE4F6"/>
    <a:srgbClr val="1D558C"/>
    <a:srgbClr val="ED524F"/>
    <a:srgbClr val="00CC99"/>
    <a:srgbClr val="301B92"/>
    <a:srgbClr val="673BB7"/>
    <a:srgbClr val="607D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7" d="100"/>
          <a:sy n="67" d="100"/>
        </p:scale>
        <p:origin x="780" y="60"/>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F6A2BA-40B6-4187-AFF8-F8F9AF80E7F9}" type="doc">
      <dgm:prSet loTypeId="urn:microsoft.com/office/officeart/2005/8/layout/cycle6" loCatId="cycle" qsTypeId="urn:microsoft.com/office/officeart/2005/8/quickstyle/simple1" qsCatId="simple" csTypeId="urn:microsoft.com/office/officeart/2005/8/colors/accent0_1" csCatId="mainScheme" phldr="1"/>
      <dgm:spPr/>
      <dgm:t>
        <a:bodyPr/>
        <a:lstStyle/>
        <a:p>
          <a:endParaRPr lang="en-US"/>
        </a:p>
      </dgm:t>
    </dgm:pt>
    <dgm:pt modelId="{CB7A3099-1224-4ECB-902C-396EC7BA7968}">
      <dgm:prSet phldrT="[Text]" custT="1">
        <dgm:style>
          <a:lnRef idx="2">
            <a:schemeClr val="accent4"/>
          </a:lnRef>
          <a:fillRef idx="1">
            <a:schemeClr val="lt1"/>
          </a:fillRef>
          <a:effectRef idx="0">
            <a:schemeClr val="accent4"/>
          </a:effectRef>
          <a:fontRef idx="minor">
            <a:schemeClr val="dk1"/>
          </a:fontRef>
        </dgm:style>
      </dgm:prSet>
      <dgm:spPr>
        <a:ln w="3175">
          <a:solidFill>
            <a:schemeClr val="tx1"/>
          </a:solidFill>
        </a:ln>
      </dgm:spPr>
      <dgm:t>
        <a:bodyPr/>
        <a:lstStyle/>
        <a:p>
          <a:r>
            <a:rPr lang="en-US" sz="1200" dirty="0">
              <a:solidFill>
                <a:schemeClr val="tx1"/>
              </a:solidFill>
            </a:rPr>
            <a:t>00</a:t>
          </a:r>
        </a:p>
      </dgm:t>
    </dgm:pt>
    <dgm:pt modelId="{46544552-34FE-49BE-BA33-CC66D1619F8A}" type="parTrans" cxnId="{6C05350F-B991-4F58-97D1-AE4044723B42}">
      <dgm:prSet/>
      <dgm:spPr/>
      <dgm:t>
        <a:bodyPr/>
        <a:lstStyle/>
        <a:p>
          <a:endParaRPr lang="en-US" sz="3200"/>
        </a:p>
      </dgm:t>
    </dgm:pt>
    <dgm:pt modelId="{50D7F308-47D9-4906-97CC-2D84909FC247}" type="sibTrans" cxnId="{6C05350F-B991-4F58-97D1-AE4044723B42}">
      <dgm:prSet/>
      <dgm:spPr>
        <a:ln w="3175"/>
      </dgm:spPr>
      <dgm:t>
        <a:bodyPr/>
        <a:lstStyle/>
        <a:p>
          <a:endParaRPr lang="en-US" sz="4400"/>
        </a:p>
      </dgm:t>
    </dgm:pt>
    <dgm:pt modelId="{05255914-D32A-40B4-8C21-212024189328}">
      <dgm:prSet phldrT="[Text]" custT="1">
        <dgm:style>
          <a:lnRef idx="2">
            <a:schemeClr val="accent4">
              <a:shade val="50000"/>
            </a:schemeClr>
          </a:lnRef>
          <a:fillRef idx="1">
            <a:schemeClr val="accent4"/>
          </a:fillRef>
          <a:effectRef idx="0">
            <a:schemeClr val="accent4"/>
          </a:effectRef>
          <a:fontRef idx="minor">
            <a:schemeClr val="lt1"/>
          </a:fontRef>
        </dgm:style>
      </dgm:prSet>
      <dgm:spPr>
        <a:solidFill>
          <a:srgbClr val="1D3064"/>
        </a:solidFill>
        <a:ln>
          <a:noFill/>
        </a:ln>
      </dgm:spPr>
      <dgm:t>
        <a:bodyPr/>
        <a:lstStyle/>
        <a:p>
          <a:r>
            <a:rPr lang="en-US" sz="1200" b="1" dirty="0">
              <a:solidFill>
                <a:schemeClr val="bg1"/>
              </a:solidFill>
            </a:rPr>
            <a:t>01</a:t>
          </a:r>
        </a:p>
      </dgm:t>
    </dgm:pt>
    <dgm:pt modelId="{739FD09D-8045-4F96-B9E7-D3DCBC8AC11E}" type="parTrans" cxnId="{92B7CF88-19DA-4C68-B48A-56C5D09BD078}">
      <dgm:prSet/>
      <dgm:spPr/>
      <dgm:t>
        <a:bodyPr/>
        <a:lstStyle/>
        <a:p>
          <a:endParaRPr lang="en-US" sz="3200"/>
        </a:p>
      </dgm:t>
    </dgm:pt>
    <dgm:pt modelId="{DF2D58BB-B07E-4427-B0B4-7328C7A546CF}" type="sibTrans" cxnId="{92B7CF88-19DA-4C68-B48A-56C5D09BD078}">
      <dgm:prSet/>
      <dgm:spPr>
        <a:ln w="3175"/>
      </dgm:spPr>
      <dgm:t>
        <a:bodyPr/>
        <a:lstStyle/>
        <a:p>
          <a:endParaRPr lang="en-US" sz="4400"/>
        </a:p>
      </dgm:t>
    </dgm:pt>
    <dgm:pt modelId="{CF291975-5B89-42C1-A954-78B0363C5805}">
      <dgm:prSet phldrT="[Text]" custT="1"/>
      <dgm:spPr>
        <a:ln w="3175"/>
      </dgm:spPr>
      <dgm:t>
        <a:bodyPr/>
        <a:lstStyle/>
        <a:p>
          <a:r>
            <a:rPr lang="en-US" sz="1200" dirty="0"/>
            <a:t>02</a:t>
          </a:r>
        </a:p>
      </dgm:t>
    </dgm:pt>
    <dgm:pt modelId="{F3DC7968-B68E-4A83-B115-D21E76300FFF}" type="parTrans" cxnId="{29A30ADC-A6BC-435E-945B-0D4B92AD8430}">
      <dgm:prSet/>
      <dgm:spPr/>
      <dgm:t>
        <a:bodyPr/>
        <a:lstStyle/>
        <a:p>
          <a:endParaRPr lang="en-US" sz="3200"/>
        </a:p>
      </dgm:t>
    </dgm:pt>
    <dgm:pt modelId="{BB5988A9-792F-4F35-BF7A-F0D97FB3530B}" type="sibTrans" cxnId="{29A30ADC-A6BC-435E-945B-0D4B92AD8430}">
      <dgm:prSet/>
      <dgm:spPr>
        <a:ln w="3175"/>
      </dgm:spPr>
      <dgm:t>
        <a:bodyPr/>
        <a:lstStyle/>
        <a:p>
          <a:endParaRPr lang="en-US" sz="4400"/>
        </a:p>
      </dgm:t>
    </dgm:pt>
    <dgm:pt modelId="{0F1EED64-1422-4916-86A1-6EC539D1088A}">
      <dgm:prSet phldrT="[Text]" custT="1"/>
      <dgm:spPr>
        <a:ln w="3175"/>
      </dgm:spPr>
      <dgm:t>
        <a:bodyPr/>
        <a:lstStyle/>
        <a:p>
          <a:r>
            <a:rPr lang="en-US" sz="1200" dirty="0"/>
            <a:t>03</a:t>
          </a:r>
        </a:p>
      </dgm:t>
    </dgm:pt>
    <dgm:pt modelId="{A31802B4-E52B-4F45-9C81-62E72A979B4E}" type="parTrans" cxnId="{F506E86B-8150-47A3-B191-82DF382E8CD4}">
      <dgm:prSet/>
      <dgm:spPr/>
      <dgm:t>
        <a:bodyPr/>
        <a:lstStyle/>
        <a:p>
          <a:endParaRPr lang="en-US" sz="3200"/>
        </a:p>
      </dgm:t>
    </dgm:pt>
    <dgm:pt modelId="{C682A7C4-7A1C-44E3-9B83-DF842E56DA03}" type="sibTrans" cxnId="{F506E86B-8150-47A3-B191-82DF382E8CD4}">
      <dgm:prSet/>
      <dgm:spPr>
        <a:ln w="3175"/>
      </dgm:spPr>
      <dgm:t>
        <a:bodyPr/>
        <a:lstStyle/>
        <a:p>
          <a:endParaRPr lang="en-US" sz="4400"/>
        </a:p>
      </dgm:t>
    </dgm:pt>
    <dgm:pt modelId="{EA111F39-A024-4AB2-977C-8988D99FEE4B}">
      <dgm:prSet phldrT="[Text]" custT="1">
        <dgm:style>
          <a:lnRef idx="2">
            <a:schemeClr val="accent4">
              <a:shade val="50000"/>
            </a:schemeClr>
          </a:lnRef>
          <a:fillRef idx="1">
            <a:schemeClr val="accent4"/>
          </a:fillRef>
          <a:effectRef idx="0">
            <a:schemeClr val="accent4"/>
          </a:effectRef>
          <a:fontRef idx="minor">
            <a:schemeClr val="lt1"/>
          </a:fontRef>
        </dgm:style>
      </dgm:prSet>
      <dgm:spPr>
        <a:solidFill>
          <a:srgbClr val="1D3064"/>
        </a:solidFill>
        <a:ln>
          <a:noFill/>
        </a:ln>
      </dgm:spPr>
      <dgm:t>
        <a:bodyPr/>
        <a:lstStyle/>
        <a:p>
          <a:r>
            <a:rPr lang="en-US" sz="1200" b="1" dirty="0">
              <a:solidFill>
                <a:schemeClr val="bg1"/>
              </a:solidFill>
            </a:rPr>
            <a:t>04</a:t>
          </a:r>
        </a:p>
      </dgm:t>
    </dgm:pt>
    <dgm:pt modelId="{677D4B4F-F54C-408A-B8A9-FB080E0A8B92}" type="parTrans" cxnId="{0ED10D25-2B43-4953-84C0-C0E9E9235DCD}">
      <dgm:prSet/>
      <dgm:spPr/>
      <dgm:t>
        <a:bodyPr/>
        <a:lstStyle/>
        <a:p>
          <a:endParaRPr lang="en-US" sz="3200"/>
        </a:p>
      </dgm:t>
    </dgm:pt>
    <dgm:pt modelId="{AA774F68-286C-419B-8B7D-02F83155FDF4}" type="sibTrans" cxnId="{0ED10D25-2B43-4953-84C0-C0E9E9235DCD}">
      <dgm:prSet/>
      <dgm:spPr>
        <a:ln w="3175"/>
      </dgm:spPr>
      <dgm:t>
        <a:bodyPr/>
        <a:lstStyle/>
        <a:p>
          <a:endParaRPr lang="en-US" sz="4400"/>
        </a:p>
      </dgm:t>
    </dgm:pt>
    <dgm:pt modelId="{B84CDA86-2342-4CD5-A2D0-3EE2D6B77400}">
      <dgm:prSet phldrT="[Text]" custT="1"/>
      <dgm:spPr>
        <a:ln w="3175"/>
      </dgm:spPr>
      <dgm:t>
        <a:bodyPr/>
        <a:lstStyle/>
        <a:p>
          <a:r>
            <a:rPr lang="en-US" sz="1200" dirty="0"/>
            <a:t>05</a:t>
          </a:r>
        </a:p>
      </dgm:t>
    </dgm:pt>
    <dgm:pt modelId="{6D543B5E-EEF0-418E-B140-9726487CF57E}" type="parTrans" cxnId="{A8717369-5DD7-4FC7-8DA8-D37B79527841}">
      <dgm:prSet/>
      <dgm:spPr/>
      <dgm:t>
        <a:bodyPr/>
        <a:lstStyle/>
        <a:p>
          <a:endParaRPr lang="en-US" sz="3200"/>
        </a:p>
      </dgm:t>
    </dgm:pt>
    <dgm:pt modelId="{29F8A4A0-082D-4991-B443-0A8AFA42422B}" type="sibTrans" cxnId="{A8717369-5DD7-4FC7-8DA8-D37B79527841}">
      <dgm:prSet/>
      <dgm:spPr>
        <a:ln w="3175"/>
      </dgm:spPr>
      <dgm:t>
        <a:bodyPr/>
        <a:lstStyle/>
        <a:p>
          <a:endParaRPr lang="en-US" sz="4400"/>
        </a:p>
      </dgm:t>
    </dgm:pt>
    <dgm:pt modelId="{5625A0BA-3784-45B6-97EC-2096A47B399F}">
      <dgm:prSet phldrT="[Text]" custT="1"/>
      <dgm:spPr>
        <a:ln w="3175"/>
      </dgm:spPr>
      <dgm:t>
        <a:bodyPr/>
        <a:lstStyle/>
        <a:p>
          <a:r>
            <a:rPr lang="en-US" sz="1200" dirty="0"/>
            <a:t>06</a:t>
          </a:r>
        </a:p>
      </dgm:t>
    </dgm:pt>
    <dgm:pt modelId="{51144210-2446-443F-A25F-970665996710}" type="parTrans" cxnId="{9546C045-C4C2-4C71-84A9-8821CE74D4A7}">
      <dgm:prSet/>
      <dgm:spPr/>
      <dgm:t>
        <a:bodyPr/>
        <a:lstStyle/>
        <a:p>
          <a:endParaRPr lang="en-US" sz="3200"/>
        </a:p>
      </dgm:t>
    </dgm:pt>
    <dgm:pt modelId="{A6D5980C-35E2-4AB0-8246-6AAB28C06B23}" type="sibTrans" cxnId="{9546C045-C4C2-4C71-84A9-8821CE74D4A7}">
      <dgm:prSet/>
      <dgm:spPr>
        <a:ln w="3175"/>
      </dgm:spPr>
      <dgm:t>
        <a:bodyPr/>
        <a:lstStyle/>
        <a:p>
          <a:endParaRPr lang="en-US" sz="4400"/>
        </a:p>
      </dgm:t>
    </dgm:pt>
    <dgm:pt modelId="{B2DF35EF-9BDC-40A7-BFCA-A1A3E1293144}">
      <dgm:prSet phldrT="[Text]" custT="1"/>
      <dgm:spPr>
        <a:solidFill>
          <a:srgbClr val="1D3064"/>
        </a:solidFill>
        <a:ln w="3175">
          <a:noFill/>
        </a:ln>
      </dgm:spPr>
      <dgm:t>
        <a:bodyPr/>
        <a:lstStyle/>
        <a:p>
          <a:r>
            <a:rPr lang="en-US" sz="1200" dirty="0">
              <a:solidFill>
                <a:schemeClr val="bg1"/>
              </a:solidFill>
            </a:rPr>
            <a:t>07</a:t>
          </a:r>
        </a:p>
      </dgm:t>
    </dgm:pt>
    <dgm:pt modelId="{2769CC40-045F-4640-A563-15B6F6571048}" type="parTrans" cxnId="{C53B7F7A-3F7C-4500-9CAA-E1066ACD9201}">
      <dgm:prSet/>
      <dgm:spPr/>
      <dgm:t>
        <a:bodyPr/>
        <a:lstStyle/>
        <a:p>
          <a:endParaRPr lang="en-US" sz="3200"/>
        </a:p>
      </dgm:t>
    </dgm:pt>
    <dgm:pt modelId="{3515389E-A2D9-4A91-A416-D06FB2BCF4D7}" type="sibTrans" cxnId="{C53B7F7A-3F7C-4500-9CAA-E1066ACD9201}">
      <dgm:prSet/>
      <dgm:spPr>
        <a:ln w="3175"/>
      </dgm:spPr>
      <dgm:t>
        <a:bodyPr/>
        <a:lstStyle/>
        <a:p>
          <a:endParaRPr lang="en-US" sz="4400"/>
        </a:p>
      </dgm:t>
    </dgm:pt>
    <dgm:pt modelId="{868767A5-C3E4-4645-9C8D-69D5627043D3}">
      <dgm:prSet phldrT="[Text]" custT="1"/>
      <dgm:spPr>
        <a:ln w="3175"/>
      </dgm:spPr>
      <dgm:t>
        <a:bodyPr/>
        <a:lstStyle/>
        <a:p>
          <a:r>
            <a:rPr lang="en-US" sz="1200" dirty="0"/>
            <a:t>08</a:t>
          </a:r>
        </a:p>
      </dgm:t>
    </dgm:pt>
    <dgm:pt modelId="{09A882C0-93B2-4C56-BE95-EDAAA5B0FF47}" type="parTrans" cxnId="{D30E7CF0-5B4B-40D3-96D0-383F887793FD}">
      <dgm:prSet/>
      <dgm:spPr/>
      <dgm:t>
        <a:bodyPr/>
        <a:lstStyle/>
        <a:p>
          <a:endParaRPr lang="en-US" sz="3200"/>
        </a:p>
      </dgm:t>
    </dgm:pt>
    <dgm:pt modelId="{BE0F9672-9967-4BB3-945A-82902934D4C9}" type="sibTrans" cxnId="{D30E7CF0-5B4B-40D3-96D0-383F887793FD}">
      <dgm:prSet/>
      <dgm:spPr>
        <a:ln w="3175"/>
      </dgm:spPr>
      <dgm:t>
        <a:bodyPr/>
        <a:lstStyle/>
        <a:p>
          <a:endParaRPr lang="en-US" sz="4400"/>
        </a:p>
      </dgm:t>
    </dgm:pt>
    <dgm:pt modelId="{9281F980-DBAB-4458-BA3E-080893361045}">
      <dgm:prSet phldrT="[Text]" custT="1">
        <dgm:style>
          <a:lnRef idx="2">
            <a:schemeClr val="accent4">
              <a:shade val="50000"/>
            </a:schemeClr>
          </a:lnRef>
          <a:fillRef idx="1">
            <a:schemeClr val="accent4"/>
          </a:fillRef>
          <a:effectRef idx="0">
            <a:schemeClr val="accent4"/>
          </a:effectRef>
          <a:fontRef idx="minor">
            <a:schemeClr val="lt1"/>
          </a:fontRef>
        </dgm:style>
      </dgm:prSet>
      <dgm:spPr>
        <a:noFill/>
        <a:ln>
          <a:solidFill>
            <a:schemeClr val="tx1"/>
          </a:solidFill>
        </a:ln>
      </dgm:spPr>
      <dgm:t>
        <a:bodyPr/>
        <a:lstStyle/>
        <a:p>
          <a:r>
            <a:rPr lang="en-US" sz="1200" b="1" dirty="0">
              <a:solidFill>
                <a:schemeClr val="tx1"/>
              </a:solidFill>
            </a:rPr>
            <a:t>09</a:t>
          </a:r>
        </a:p>
      </dgm:t>
    </dgm:pt>
    <dgm:pt modelId="{FC98046A-08E0-48A4-B812-F4BADECAFB37}" type="parTrans" cxnId="{1F774BA2-9135-42D7-A6A7-1C39E6459835}">
      <dgm:prSet/>
      <dgm:spPr/>
      <dgm:t>
        <a:bodyPr/>
        <a:lstStyle/>
        <a:p>
          <a:endParaRPr lang="en-US" sz="3200"/>
        </a:p>
      </dgm:t>
    </dgm:pt>
    <dgm:pt modelId="{EE9F8E24-F686-4CD7-B40D-889B181D327C}" type="sibTrans" cxnId="{1F774BA2-9135-42D7-A6A7-1C39E6459835}">
      <dgm:prSet/>
      <dgm:spPr>
        <a:ln w="3175"/>
      </dgm:spPr>
      <dgm:t>
        <a:bodyPr/>
        <a:lstStyle/>
        <a:p>
          <a:endParaRPr lang="en-US" sz="4400"/>
        </a:p>
      </dgm:t>
    </dgm:pt>
    <dgm:pt modelId="{A895021A-1FC9-40D9-9A23-C05D673066F3}">
      <dgm:prSet phldrT="[Text]" custT="1"/>
      <dgm:spPr>
        <a:ln w="3175"/>
      </dgm:spPr>
      <dgm:t>
        <a:bodyPr/>
        <a:lstStyle/>
        <a:p>
          <a:r>
            <a:rPr lang="en-US" sz="1200" dirty="0"/>
            <a:t>10</a:t>
          </a:r>
        </a:p>
      </dgm:t>
    </dgm:pt>
    <dgm:pt modelId="{ED7432BF-B985-48B1-B8F2-801A42157DE6}" type="parTrans" cxnId="{3D4E97EA-89D6-4F69-8109-635B0AF236FD}">
      <dgm:prSet/>
      <dgm:spPr/>
      <dgm:t>
        <a:bodyPr/>
        <a:lstStyle/>
        <a:p>
          <a:endParaRPr lang="en-US" sz="3200"/>
        </a:p>
      </dgm:t>
    </dgm:pt>
    <dgm:pt modelId="{C63CE439-C9A4-437A-AA24-C2B1C4D3EC13}" type="sibTrans" cxnId="{3D4E97EA-89D6-4F69-8109-635B0AF236FD}">
      <dgm:prSet/>
      <dgm:spPr>
        <a:ln w="3175"/>
      </dgm:spPr>
      <dgm:t>
        <a:bodyPr/>
        <a:lstStyle/>
        <a:p>
          <a:endParaRPr lang="en-US" sz="4400"/>
        </a:p>
      </dgm:t>
    </dgm:pt>
    <dgm:pt modelId="{EE1F149E-F983-420A-AE26-0CA291A969CC}">
      <dgm:prSet phldrT="[Text]" custT="1">
        <dgm:style>
          <a:lnRef idx="2">
            <a:schemeClr val="accent4">
              <a:shade val="50000"/>
            </a:schemeClr>
          </a:lnRef>
          <a:fillRef idx="1">
            <a:schemeClr val="accent4"/>
          </a:fillRef>
          <a:effectRef idx="0">
            <a:schemeClr val="accent4"/>
          </a:effectRef>
          <a:fontRef idx="minor">
            <a:schemeClr val="lt1"/>
          </a:fontRef>
        </dgm:style>
      </dgm:prSet>
      <dgm:spPr>
        <a:noFill/>
        <a:ln>
          <a:solidFill>
            <a:schemeClr val="tx1"/>
          </a:solidFill>
        </a:ln>
      </dgm:spPr>
      <dgm:t>
        <a:bodyPr/>
        <a:lstStyle/>
        <a:p>
          <a:r>
            <a:rPr lang="en-US" sz="1200" b="1" dirty="0">
              <a:solidFill>
                <a:schemeClr val="tx1"/>
              </a:solidFill>
            </a:rPr>
            <a:t>11</a:t>
          </a:r>
        </a:p>
      </dgm:t>
    </dgm:pt>
    <dgm:pt modelId="{9B36F709-981A-4F1F-96A6-2972426A3A63}" type="parTrans" cxnId="{C4D13FB4-0FD1-48FF-AB4B-035F479BA4E7}">
      <dgm:prSet/>
      <dgm:spPr/>
      <dgm:t>
        <a:bodyPr/>
        <a:lstStyle/>
        <a:p>
          <a:endParaRPr lang="en-US" sz="3200"/>
        </a:p>
      </dgm:t>
    </dgm:pt>
    <dgm:pt modelId="{3FDD498B-C338-4F3C-9707-6A31F5EB9217}" type="sibTrans" cxnId="{C4D13FB4-0FD1-48FF-AB4B-035F479BA4E7}">
      <dgm:prSet/>
      <dgm:spPr>
        <a:ln w="3175"/>
      </dgm:spPr>
      <dgm:t>
        <a:bodyPr/>
        <a:lstStyle/>
        <a:p>
          <a:endParaRPr lang="en-US" sz="4400"/>
        </a:p>
      </dgm:t>
    </dgm:pt>
    <dgm:pt modelId="{3EBDEC13-B94B-424C-B6D8-E23828E29484}">
      <dgm:prSet phldrT="[Text]" custT="1"/>
      <dgm:spPr>
        <a:solidFill>
          <a:srgbClr val="1D3064"/>
        </a:solidFill>
        <a:ln w="3175">
          <a:noFill/>
        </a:ln>
      </dgm:spPr>
      <dgm:t>
        <a:bodyPr/>
        <a:lstStyle/>
        <a:p>
          <a:r>
            <a:rPr lang="en-US" sz="1200" dirty="0">
              <a:solidFill>
                <a:schemeClr val="bg1"/>
              </a:solidFill>
            </a:rPr>
            <a:t>12</a:t>
          </a:r>
        </a:p>
      </dgm:t>
    </dgm:pt>
    <dgm:pt modelId="{4194DC5B-FCB2-47F2-A7AB-F8C802D2C380}" type="parTrans" cxnId="{EBC68FFD-0F35-4FBB-B798-DB0A754358E6}">
      <dgm:prSet/>
      <dgm:spPr/>
      <dgm:t>
        <a:bodyPr/>
        <a:lstStyle/>
        <a:p>
          <a:endParaRPr lang="en-US" sz="3200"/>
        </a:p>
      </dgm:t>
    </dgm:pt>
    <dgm:pt modelId="{910D43BF-2E12-4265-8F31-790375B138D8}" type="sibTrans" cxnId="{EBC68FFD-0F35-4FBB-B798-DB0A754358E6}">
      <dgm:prSet/>
      <dgm:spPr>
        <a:ln w="3175"/>
      </dgm:spPr>
      <dgm:t>
        <a:bodyPr/>
        <a:lstStyle/>
        <a:p>
          <a:endParaRPr lang="en-US" sz="4400"/>
        </a:p>
      </dgm:t>
    </dgm:pt>
    <dgm:pt modelId="{DB1B9677-421A-4935-8C22-9192CE87F0FF}">
      <dgm:prSet phldrT="[Text]" custT="1"/>
      <dgm:spPr>
        <a:ln w="3175"/>
      </dgm:spPr>
      <dgm:t>
        <a:bodyPr/>
        <a:lstStyle/>
        <a:p>
          <a:r>
            <a:rPr lang="en-US" sz="1200" dirty="0"/>
            <a:t>13</a:t>
          </a:r>
        </a:p>
      </dgm:t>
    </dgm:pt>
    <dgm:pt modelId="{C1DA78D6-0CE1-41A2-A0EE-D8D11B345670}" type="parTrans" cxnId="{1A792AAE-2086-4C09-9299-F978E6D076E1}">
      <dgm:prSet/>
      <dgm:spPr/>
      <dgm:t>
        <a:bodyPr/>
        <a:lstStyle/>
        <a:p>
          <a:endParaRPr lang="en-US" sz="3200"/>
        </a:p>
      </dgm:t>
    </dgm:pt>
    <dgm:pt modelId="{8BCD7E9B-E908-4EDF-8514-EDD1DB17AEBC}" type="sibTrans" cxnId="{1A792AAE-2086-4C09-9299-F978E6D076E1}">
      <dgm:prSet/>
      <dgm:spPr>
        <a:ln w="3175"/>
      </dgm:spPr>
      <dgm:t>
        <a:bodyPr/>
        <a:lstStyle/>
        <a:p>
          <a:endParaRPr lang="en-US" sz="4400"/>
        </a:p>
      </dgm:t>
    </dgm:pt>
    <dgm:pt modelId="{939662E8-1580-40AE-9B6C-323E8300E63E}">
      <dgm:prSet phldrT="[Text]" custT="1">
        <dgm:style>
          <a:lnRef idx="2">
            <a:schemeClr val="accent4">
              <a:shade val="50000"/>
            </a:schemeClr>
          </a:lnRef>
          <a:fillRef idx="1">
            <a:schemeClr val="accent4"/>
          </a:fillRef>
          <a:effectRef idx="0">
            <a:schemeClr val="accent4"/>
          </a:effectRef>
          <a:fontRef idx="minor">
            <a:schemeClr val="lt1"/>
          </a:fontRef>
        </dgm:style>
      </dgm:prSet>
      <dgm:spPr>
        <a:noFill/>
        <a:ln>
          <a:solidFill>
            <a:schemeClr val="tx1"/>
          </a:solidFill>
        </a:ln>
      </dgm:spPr>
      <dgm:t>
        <a:bodyPr/>
        <a:lstStyle/>
        <a:p>
          <a:r>
            <a:rPr lang="en-US" sz="1200" b="1" dirty="0">
              <a:solidFill>
                <a:schemeClr val="tx1"/>
              </a:solidFill>
            </a:rPr>
            <a:t>14</a:t>
          </a:r>
        </a:p>
      </dgm:t>
    </dgm:pt>
    <dgm:pt modelId="{A9B8F123-7BAB-41C3-840A-4F646C50888F}" type="parTrans" cxnId="{9576AAAE-58F2-424F-B8E3-B337460ABDE1}">
      <dgm:prSet/>
      <dgm:spPr/>
      <dgm:t>
        <a:bodyPr/>
        <a:lstStyle/>
        <a:p>
          <a:endParaRPr lang="en-US" sz="3200"/>
        </a:p>
      </dgm:t>
    </dgm:pt>
    <dgm:pt modelId="{122F0F2A-9D73-4F96-9BEF-3D5D0F3739CC}" type="sibTrans" cxnId="{9576AAAE-58F2-424F-B8E3-B337460ABDE1}">
      <dgm:prSet/>
      <dgm:spPr>
        <a:ln w="3175"/>
      </dgm:spPr>
      <dgm:t>
        <a:bodyPr/>
        <a:lstStyle/>
        <a:p>
          <a:endParaRPr lang="en-US" sz="4400"/>
        </a:p>
      </dgm:t>
    </dgm:pt>
    <dgm:pt modelId="{A8370C54-57BB-4D77-84F2-21B7BBCB8CD1}">
      <dgm:prSet phldrT="[Text]" custT="1"/>
      <dgm:spPr>
        <a:solidFill>
          <a:srgbClr val="1D3064"/>
        </a:solidFill>
        <a:ln w="3175">
          <a:noFill/>
        </a:ln>
      </dgm:spPr>
      <dgm:t>
        <a:bodyPr/>
        <a:lstStyle/>
        <a:p>
          <a:r>
            <a:rPr lang="en-US" sz="1200" dirty="0">
              <a:solidFill>
                <a:schemeClr val="bg1"/>
              </a:solidFill>
            </a:rPr>
            <a:t>15</a:t>
          </a:r>
        </a:p>
      </dgm:t>
    </dgm:pt>
    <dgm:pt modelId="{2A095022-B111-4BF4-8A3A-F583A99A0136}" type="parTrans" cxnId="{F90BA62E-E794-48A5-8857-5262442DCA4D}">
      <dgm:prSet/>
      <dgm:spPr/>
      <dgm:t>
        <a:bodyPr/>
        <a:lstStyle/>
        <a:p>
          <a:endParaRPr lang="en-US" sz="3200"/>
        </a:p>
      </dgm:t>
    </dgm:pt>
    <dgm:pt modelId="{3D64D77A-FD09-4D3C-876D-C0CB137E62CD}" type="sibTrans" cxnId="{F90BA62E-E794-48A5-8857-5262442DCA4D}">
      <dgm:prSet/>
      <dgm:spPr>
        <a:ln w="3175"/>
      </dgm:spPr>
      <dgm:t>
        <a:bodyPr/>
        <a:lstStyle/>
        <a:p>
          <a:endParaRPr lang="en-US" sz="4400"/>
        </a:p>
      </dgm:t>
    </dgm:pt>
    <dgm:pt modelId="{EFAE7302-6632-4D60-A96D-23F394241DE4}" type="pres">
      <dgm:prSet presAssocID="{B3F6A2BA-40B6-4187-AFF8-F8F9AF80E7F9}" presName="cycle" presStyleCnt="0">
        <dgm:presLayoutVars>
          <dgm:dir/>
          <dgm:resizeHandles val="exact"/>
        </dgm:presLayoutVars>
      </dgm:prSet>
      <dgm:spPr/>
      <dgm:t>
        <a:bodyPr/>
        <a:lstStyle/>
        <a:p>
          <a:endParaRPr lang="en-US"/>
        </a:p>
      </dgm:t>
    </dgm:pt>
    <dgm:pt modelId="{37F6FC54-D545-444E-B19E-55F8864057C9}" type="pres">
      <dgm:prSet presAssocID="{CB7A3099-1224-4ECB-902C-396EC7BA7968}" presName="node" presStyleLbl="node1" presStyleIdx="0" presStyleCnt="16" custScaleX="126252" custScaleY="110804">
        <dgm:presLayoutVars>
          <dgm:bulletEnabled val="1"/>
        </dgm:presLayoutVars>
      </dgm:prSet>
      <dgm:spPr/>
      <dgm:t>
        <a:bodyPr/>
        <a:lstStyle/>
        <a:p>
          <a:endParaRPr lang="en-US"/>
        </a:p>
      </dgm:t>
    </dgm:pt>
    <dgm:pt modelId="{F73F8756-B089-4C69-872B-9C77B1D2E9B9}" type="pres">
      <dgm:prSet presAssocID="{CB7A3099-1224-4ECB-902C-396EC7BA7968}" presName="spNode" presStyleCnt="0"/>
      <dgm:spPr/>
    </dgm:pt>
    <dgm:pt modelId="{990317AE-40E7-4E24-A709-5C1E3D7DF428}" type="pres">
      <dgm:prSet presAssocID="{50D7F308-47D9-4906-97CC-2D84909FC247}" presName="sibTrans" presStyleLbl="sibTrans1D1" presStyleIdx="0" presStyleCnt="16" custScaleX="2000000" custScaleY="2000000"/>
      <dgm:spPr/>
      <dgm:t>
        <a:bodyPr/>
        <a:lstStyle/>
        <a:p>
          <a:endParaRPr lang="en-US"/>
        </a:p>
      </dgm:t>
    </dgm:pt>
    <dgm:pt modelId="{0A74DD1F-BEEA-4E1C-A32C-B77C043FA489}" type="pres">
      <dgm:prSet presAssocID="{05255914-D32A-40B4-8C21-212024189328}" presName="node" presStyleLbl="node1" presStyleIdx="1" presStyleCnt="16" custScaleX="126252" custScaleY="110804">
        <dgm:presLayoutVars>
          <dgm:bulletEnabled val="1"/>
        </dgm:presLayoutVars>
      </dgm:prSet>
      <dgm:spPr/>
      <dgm:t>
        <a:bodyPr/>
        <a:lstStyle/>
        <a:p>
          <a:endParaRPr lang="en-US"/>
        </a:p>
      </dgm:t>
    </dgm:pt>
    <dgm:pt modelId="{33AA3025-9FF4-4436-AD56-351C2AA3B91C}" type="pres">
      <dgm:prSet presAssocID="{05255914-D32A-40B4-8C21-212024189328}" presName="spNode" presStyleCnt="0"/>
      <dgm:spPr/>
    </dgm:pt>
    <dgm:pt modelId="{53232857-986B-4378-8600-83D67A96D1FC}" type="pres">
      <dgm:prSet presAssocID="{DF2D58BB-B07E-4427-B0B4-7328C7A546CF}" presName="sibTrans" presStyleLbl="sibTrans1D1" presStyleIdx="1" presStyleCnt="16" custScaleX="2000000" custScaleY="2000000"/>
      <dgm:spPr/>
      <dgm:t>
        <a:bodyPr/>
        <a:lstStyle/>
        <a:p>
          <a:endParaRPr lang="en-US"/>
        </a:p>
      </dgm:t>
    </dgm:pt>
    <dgm:pt modelId="{B79BDE4E-122F-4949-877A-51460124312E}" type="pres">
      <dgm:prSet presAssocID="{CF291975-5B89-42C1-A954-78B0363C5805}" presName="node" presStyleLbl="node1" presStyleIdx="2" presStyleCnt="16" custScaleX="126252" custScaleY="110804">
        <dgm:presLayoutVars>
          <dgm:bulletEnabled val="1"/>
        </dgm:presLayoutVars>
      </dgm:prSet>
      <dgm:spPr/>
      <dgm:t>
        <a:bodyPr/>
        <a:lstStyle/>
        <a:p>
          <a:endParaRPr lang="en-US"/>
        </a:p>
      </dgm:t>
    </dgm:pt>
    <dgm:pt modelId="{E5A97052-E50B-4364-B8F3-C5BB55C62E43}" type="pres">
      <dgm:prSet presAssocID="{CF291975-5B89-42C1-A954-78B0363C5805}" presName="spNode" presStyleCnt="0"/>
      <dgm:spPr/>
    </dgm:pt>
    <dgm:pt modelId="{C1FBA839-DD16-4EA3-AA23-4F09E108C25C}" type="pres">
      <dgm:prSet presAssocID="{BB5988A9-792F-4F35-BF7A-F0D97FB3530B}" presName="sibTrans" presStyleLbl="sibTrans1D1" presStyleIdx="2" presStyleCnt="16" custScaleX="2000000" custScaleY="2000000"/>
      <dgm:spPr/>
      <dgm:t>
        <a:bodyPr/>
        <a:lstStyle/>
        <a:p>
          <a:endParaRPr lang="en-US"/>
        </a:p>
      </dgm:t>
    </dgm:pt>
    <dgm:pt modelId="{47D8252C-7210-4124-986D-C5A27EC7BB38}" type="pres">
      <dgm:prSet presAssocID="{0F1EED64-1422-4916-86A1-6EC539D1088A}" presName="node" presStyleLbl="node1" presStyleIdx="3" presStyleCnt="16" custScaleX="126252" custScaleY="110804">
        <dgm:presLayoutVars>
          <dgm:bulletEnabled val="1"/>
        </dgm:presLayoutVars>
      </dgm:prSet>
      <dgm:spPr/>
      <dgm:t>
        <a:bodyPr/>
        <a:lstStyle/>
        <a:p>
          <a:endParaRPr lang="en-US"/>
        </a:p>
      </dgm:t>
    </dgm:pt>
    <dgm:pt modelId="{49128025-155A-4115-B8B9-1A751CA1730C}" type="pres">
      <dgm:prSet presAssocID="{0F1EED64-1422-4916-86A1-6EC539D1088A}" presName="spNode" presStyleCnt="0"/>
      <dgm:spPr/>
    </dgm:pt>
    <dgm:pt modelId="{9A5BE75C-4E4D-435D-8920-9E32832F465D}" type="pres">
      <dgm:prSet presAssocID="{C682A7C4-7A1C-44E3-9B83-DF842E56DA03}" presName="sibTrans" presStyleLbl="sibTrans1D1" presStyleIdx="3" presStyleCnt="16" custScaleX="2000000" custScaleY="2000000"/>
      <dgm:spPr/>
      <dgm:t>
        <a:bodyPr/>
        <a:lstStyle/>
        <a:p>
          <a:endParaRPr lang="en-US"/>
        </a:p>
      </dgm:t>
    </dgm:pt>
    <dgm:pt modelId="{E213AD56-109D-4571-A0B0-1181C7025370}" type="pres">
      <dgm:prSet presAssocID="{EA111F39-A024-4AB2-977C-8988D99FEE4B}" presName="node" presStyleLbl="node1" presStyleIdx="4" presStyleCnt="16" custScaleX="126252" custScaleY="110804">
        <dgm:presLayoutVars>
          <dgm:bulletEnabled val="1"/>
        </dgm:presLayoutVars>
      </dgm:prSet>
      <dgm:spPr/>
      <dgm:t>
        <a:bodyPr/>
        <a:lstStyle/>
        <a:p>
          <a:endParaRPr lang="en-US"/>
        </a:p>
      </dgm:t>
    </dgm:pt>
    <dgm:pt modelId="{41190AB1-8428-4DEE-ADF0-BAC788A0917C}" type="pres">
      <dgm:prSet presAssocID="{EA111F39-A024-4AB2-977C-8988D99FEE4B}" presName="spNode" presStyleCnt="0"/>
      <dgm:spPr/>
    </dgm:pt>
    <dgm:pt modelId="{3E6F2280-A61F-493F-991B-F51BCDF11010}" type="pres">
      <dgm:prSet presAssocID="{AA774F68-286C-419B-8B7D-02F83155FDF4}" presName="sibTrans" presStyleLbl="sibTrans1D1" presStyleIdx="4" presStyleCnt="16" custScaleX="2000000" custScaleY="2000000"/>
      <dgm:spPr/>
      <dgm:t>
        <a:bodyPr/>
        <a:lstStyle/>
        <a:p>
          <a:endParaRPr lang="en-US"/>
        </a:p>
      </dgm:t>
    </dgm:pt>
    <dgm:pt modelId="{D0E1629B-81D1-410E-AE41-A68200AAD38A}" type="pres">
      <dgm:prSet presAssocID="{B84CDA86-2342-4CD5-A2D0-3EE2D6B77400}" presName="node" presStyleLbl="node1" presStyleIdx="5" presStyleCnt="16" custScaleX="126252" custScaleY="110804">
        <dgm:presLayoutVars>
          <dgm:bulletEnabled val="1"/>
        </dgm:presLayoutVars>
      </dgm:prSet>
      <dgm:spPr/>
      <dgm:t>
        <a:bodyPr/>
        <a:lstStyle/>
        <a:p>
          <a:endParaRPr lang="en-US"/>
        </a:p>
      </dgm:t>
    </dgm:pt>
    <dgm:pt modelId="{98736DC7-D98D-4E78-942E-3E553CB51665}" type="pres">
      <dgm:prSet presAssocID="{B84CDA86-2342-4CD5-A2D0-3EE2D6B77400}" presName="spNode" presStyleCnt="0"/>
      <dgm:spPr/>
    </dgm:pt>
    <dgm:pt modelId="{896B2AF0-997F-4A3D-95E9-687AEE393215}" type="pres">
      <dgm:prSet presAssocID="{29F8A4A0-082D-4991-B443-0A8AFA42422B}" presName="sibTrans" presStyleLbl="sibTrans1D1" presStyleIdx="5" presStyleCnt="16" custScaleX="2000000" custScaleY="2000000"/>
      <dgm:spPr/>
      <dgm:t>
        <a:bodyPr/>
        <a:lstStyle/>
        <a:p>
          <a:endParaRPr lang="en-US"/>
        </a:p>
      </dgm:t>
    </dgm:pt>
    <dgm:pt modelId="{BC51FB21-3AAD-464F-AB4E-68130F6D9956}" type="pres">
      <dgm:prSet presAssocID="{5625A0BA-3784-45B6-97EC-2096A47B399F}" presName="node" presStyleLbl="node1" presStyleIdx="6" presStyleCnt="16" custScaleX="126252" custScaleY="110804">
        <dgm:presLayoutVars>
          <dgm:bulletEnabled val="1"/>
        </dgm:presLayoutVars>
      </dgm:prSet>
      <dgm:spPr/>
      <dgm:t>
        <a:bodyPr/>
        <a:lstStyle/>
        <a:p>
          <a:endParaRPr lang="en-US"/>
        </a:p>
      </dgm:t>
    </dgm:pt>
    <dgm:pt modelId="{678D2501-9B9B-4053-8341-251711D30C2F}" type="pres">
      <dgm:prSet presAssocID="{5625A0BA-3784-45B6-97EC-2096A47B399F}" presName="spNode" presStyleCnt="0"/>
      <dgm:spPr/>
    </dgm:pt>
    <dgm:pt modelId="{36A25B59-0286-4766-AF4A-4AD99255FB9A}" type="pres">
      <dgm:prSet presAssocID="{A6D5980C-35E2-4AB0-8246-6AAB28C06B23}" presName="sibTrans" presStyleLbl="sibTrans1D1" presStyleIdx="6" presStyleCnt="16" custScaleX="2000000" custScaleY="2000000"/>
      <dgm:spPr/>
      <dgm:t>
        <a:bodyPr/>
        <a:lstStyle/>
        <a:p>
          <a:endParaRPr lang="en-US"/>
        </a:p>
      </dgm:t>
    </dgm:pt>
    <dgm:pt modelId="{4EBAFEA8-38A7-4839-A196-E833865FEC3E}" type="pres">
      <dgm:prSet presAssocID="{B2DF35EF-9BDC-40A7-BFCA-A1A3E1293144}" presName="node" presStyleLbl="node1" presStyleIdx="7" presStyleCnt="16" custScaleX="126252" custScaleY="110804">
        <dgm:presLayoutVars>
          <dgm:bulletEnabled val="1"/>
        </dgm:presLayoutVars>
      </dgm:prSet>
      <dgm:spPr/>
      <dgm:t>
        <a:bodyPr/>
        <a:lstStyle/>
        <a:p>
          <a:endParaRPr lang="en-US"/>
        </a:p>
      </dgm:t>
    </dgm:pt>
    <dgm:pt modelId="{C248C08C-3758-4EEE-8D81-59D26C39B226}" type="pres">
      <dgm:prSet presAssocID="{B2DF35EF-9BDC-40A7-BFCA-A1A3E1293144}" presName="spNode" presStyleCnt="0"/>
      <dgm:spPr/>
    </dgm:pt>
    <dgm:pt modelId="{A95F9BD2-8E6C-4D20-A2D9-24C989631FAC}" type="pres">
      <dgm:prSet presAssocID="{3515389E-A2D9-4A91-A416-D06FB2BCF4D7}" presName="sibTrans" presStyleLbl="sibTrans1D1" presStyleIdx="7" presStyleCnt="16" custScaleX="2000000" custScaleY="2000000"/>
      <dgm:spPr/>
      <dgm:t>
        <a:bodyPr/>
        <a:lstStyle/>
        <a:p>
          <a:endParaRPr lang="en-US"/>
        </a:p>
      </dgm:t>
    </dgm:pt>
    <dgm:pt modelId="{FCDBC8B2-A072-489D-B135-4F76C90ABB73}" type="pres">
      <dgm:prSet presAssocID="{868767A5-C3E4-4645-9C8D-69D5627043D3}" presName="node" presStyleLbl="node1" presStyleIdx="8" presStyleCnt="16" custScaleX="126252" custScaleY="110804">
        <dgm:presLayoutVars>
          <dgm:bulletEnabled val="1"/>
        </dgm:presLayoutVars>
      </dgm:prSet>
      <dgm:spPr/>
      <dgm:t>
        <a:bodyPr/>
        <a:lstStyle/>
        <a:p>
          <a:endParaRPr lang="en-US"/>
        </a:p>
      </dgm:t>
    </dgm:pt>
    <dgm:pt modelId="{1A502533-D656-4694-9BDA-B75F503AD108}" type="pres">
      <dgm:prSet presAssocID="{868767A5-C3E4-4645-9C8D-69D5627043D3}" presName="spNode" presStyleCnt="0"/>
      <dgm:spPr/>
    </dgm:pt>
    <dgm:pt modelId="{BBF115A0-E49F-481D-B9B9-7781A7700C68}" type="pres">
      <dgm:prSet presAssocID="{BE0F9672-9967-4BB3-945A-82902934D4C9}" presName="sibTrans" presStyleLbl="sibTrans1D1" presStyleIdx="8" presStyleCnt="16" custScaleX="2000000" custScaleY="2000000"/>
      <dgm:spPr/>
      <dgm:t>
        <a:bodyPr/>
        <a:lstStyle/>
        <a:p>
          <a:endParaRPr lang="en-US"/>
        </a:p>
      </dgm:t>
    </dgm:pt>
    <dgm:pt modelId="{27377A35-5C63-4153-A1CA-D07A81FEBED6}" type="pres">
      <dgm:prSet presAssocID="{9281F980-DBAB-4458-BA3E-080893361045}" presName="node" presStyleLbl="node1" presStyleIdx="9" presStyleCnt="16" custScaleX="126252" custScaleY="110804">
        <dgm:presLayoutVars>
          <dgm:bulletEnabled val="1"/>
        </dgm:presLayoutVars>
      </dgm:prSet>
      <dgm:spPr/>
      <dgm:t>
        <a:bodyPr/>
        <a:lstStyle/>
        <a:p>
          <a:endParaRPr lang="en-US"/>
        </a:p>
      </dgm:t>
    </dgm:pt>
    <dgm:pt modelId="{166E8CAE-7A6A-441E-B81D-F2A6930AEB34}" type="pres">
      <dgm:prSet presAssocID="{9281F980-DBAB-4458-BA3E-080893361045}" presName="spNode" presStyleCnt="0"/>
      <dgm:spPr/>
    </dgm:pt>
    <dgm:pt modelId="{C75F3799-6FE1-44D4-94E5-D0323DD9642D}" type="pres">
      <dgm:prSet presAssocID="{EE9F8E24-F686-4CD7-B40D-889B181D327C}" presName="sibTrans" presStyleLbl="sibTrans1D1" presStyleIdx="9" presStyleCnt="16" custScaleX="2000000" custScaleY="2000000"/>
      <dgm:spPr/>
      <dgm:t>
        <a:bodyPr/>
        <a:lstStyle/>
        <a:p>
          <a:endParaRPr lang="en-US"/>
        </a:p>
      </dgm:t>
    </dgm:pt>
    <dgm:pt modelId="{ACA3DEE4-4C37-414B-A20E-469C72FF631D}" type="pres">
      <dgm:prSet presAssocID="{A895021A-1FC9-40D9-9A23-C05D673066F3}" presName="node" presStyleLbl="node1" presStyleIdx="10" presStyleCnt="16" custScaleX="126252" custScaleY="110804">
        <dgm:presLayoutVars>
          <dgm:bulletEnabled val="1"/>
        </dgm:presLayoutVars>
      </dgm:prSet>
      <dgm:spPr/>
      <dgm:t>
        <a:bodyPr/>
        <a:lstStyle/>
        <a:p>
          <a:endParaRPr lang="en-US"/>
        </a:p>
      </dgm:t>
    </dgm:pt>
    <dgm:pt modelId="{5E377587-15D8-428C-8F90-BB7C49868333}" type="pres">
      <dgm:prSet presAssocID="{A895021A-1FC9-40D9-9A23-C05D673066F3}" presName="spNode" presStyleCnt="0"/>
      <dgm:spPr/>
    </dgm:pt>
    <dgm:pt modelId="{39826E2A-859D-4D09-B02A-05287C251E70}" type="pres">
      <dgm:prSet presAssocID="{C63CE439-C9A4-437A-AA24-C2B1C4D3EC13}" presName="sibTrans" presStyleLbl="sibTrans1D1" presStyleIdx="10" presStyleCnt="16" custScaleX="2000000" custScaleY="2000000"/>
      <dgm:spPr/>
      <dgm:t>
        <a:bodyPr/>
        <a:lstStyle/>
        <a:p>
          <a:endParaRPr lang="en-US"/>
        </a:p>
      </dgm:t>
    </dgm:pt>
    <dgm:pt modelId="{508270A1-9056-4B9A-B0BC-2D3B1299FC58}" type="pres">
      <dgm:prSet presAssocID="{EE1F149E-F983-420A-AE26-0CA291A969CC}" presName="node" presStyleLbl="node1" presStyleIdx="11" presStyleCnt="16" custScaleX="126252" custScaleY="110804">
        <dgm:presLayoutVars>
          <dgm:bulletEnabled val="1"/>
        </dgm:presLayoutVars>
      </dgm:prSet>
      <dgm:spPr/>
      <dgm:t>
        <a:bodyPr/>
        <a:lstStyle/>
        <a:p>
          <a:endParaRPr lang="en-US"/>
        </a:p>
      </dgm:t>
    </dgm:pt>
    <dgm:pt modelId="{32B48CEE-BE6C-4B73-AA70-08340D7306CA}" type="pres">
      <dgm:prSet presAssocID="{EE1F149E-F983-420A-AE26-0CA291A969CC}" presName="spNode" presStyleCnt="0"/>
      <dgm:spPr/>
    </dgm:pt>
    <dgm:pt modelId="{0186EB4D-19E9-40A6-9853-FE75E1F1C601}" type="pres">
      <dgm:prSet presAssocID="{3FDD498B-C338-4F3C-9707-6A31F5EB9217}" presName="sibTrans" presStyleLbl="sibTrans1D1" presStyleIdx="11" presStyleCnt="16" custScaleX="2000000" custScaleY="2000000"/>
      <dgm:spPr/>
      <dgm:t>
        <a:bodyPr/>
        <a:lstStyle/>
        <a:p>
          <a:endParaRPr lang="en-US"/>
        </a:p>
      </dgm:t>
    </dgm:pt>
    <dgm:pt modelId="{E6415271-4602-49BD-8F77-B2554532B0A0}" type="pres">
      <dgm:prSet presAssocID="{3EBDEC13-B94B-424C-B6D8-E23828E29484}" presName="node" presStyleLbl="node1" presStyleIdx="12" presStyleCnt="16" custScaleX="126252" custScaleY="110804">
        <dgm:presLayoutVars>
          <dgm:bulletEnabled val="1"/>
        </dgm:presLayoutVars>
      </dgm:prSet>
      <dgm:spPr/>
      <dgm:t>
        <a:bodyPr/>
        <a:lstStyle/>
        <a:p>
          <a:endParaRPr lang="en-US"/>
        </a:p>
      </dgm:t>
    </dgm:pt>
    <dgm:pt modelId="{18476B6F-E555-4078-9F4F-FED8900C0811}" type="pres">
      <dgm:prSet presAssocID="{3EBDEC13-B94B-424C-B6D8-E23828E29484}" presName="spNode" presStyleCnt="0"/>
      <dgm:spPr/>
    </dgm:pt>
    <dgm:pt modelId="{0CA37BE1-2CF9-468E-BFF7-47A995E3BB08}" type="pres">
      <dgm:prSet presAssocID="{910D43BF-2E12-4265-8F31-790375B138D8}" presName="sibTrans" presStyleLbl="sibTrans1D1" presStyleIdx="12" presStyleCnt="16" custScaleX="2000000" custScaleY="2000000"/>
      <dgm:spPr/>
      <dgm:t>
        <a:bodyPr/>
        <a:lstStyle/>
        <a:p>
          <a:endParaRPr lang="en-US"/>
        </a:p>
      </dgm:t>
    </dgm:pt>
    <dgm:pt modelId="{C10433AE-724D-434E-B55F-F8FBA5E6691B}" type="pres">
      <dgm:prSet presAssocID="{DB1B9677-421A-4935-8C22-9192CE87F0FF}" presName="node" presStyleLbl="node1" presStyleIdx="13" presStyleCnt="16" custScaleX="126252" custScaleY="110804">
        <dgm:presLayoutVars>
          <dgm:bulletEnabled val="1"/>
        </dgm:presLayoutVars>
      </dgm:prSet>
      <dgm:spPr/>
      <dgm:t>
        <a:bodyPr/>
        <a:lstStyle/>
        <a:p>
          <a:endParaRPr lang="en-US"/>
        </a:p>
      </dgm:t>
    </dgm:pt>
    <dgm:pt modelId="{1BF69A71-2EE3-482B-A6FD-09CDD6717BD2}" type="pres">
      <dgm:prSet presAssocID="{DB1B9677-421A-4935-8C22-9192CE87F0FF}" presName="spNode" presStyleCnt="0"/>
      <dgm:spPr/>
    </dgm:pt>
    <dgm:pt modelId="{6361BE26-1613-4254-AAB5-23BC794B38F0}" type="pres">
      <dgm:prSet presAssocID="{8BCD7E9B-E908-4EDF-8514-EDD1DB17AEBC}" presName="sibTrans" presStyleLbl="sibTrans1D1" presStyleIdx="13" presStyleCnt="16" custScaleX="2000000" custScaleY="2000000"/>
      <dgm:spPr/>
      <dgm:t>
        <a:bodyPr/>
        <a:lstStyle/>
        <a:p>
          <a:endParaRPr lang="en-US"/>
        </a:p>
      </dgm:t>
    </dgm:pt>
    <dgm:pt modelId="{75C04093-B402-44E4-A02F-D9D20B3CFE9D}" type="pres">
      <dgm:prSet presAssocID="{939662E8-1580-40AE-9B6C-323E8300E63E}" presName="node" presStyleLbl="node1" presStyleIdx="14" presStyleCnt="16" custScaleX="126252" custScaleY="110804">
        <dgm:presLayoutVars>
          <dgm:bulletEnabled val="1"/>
        </dgm:presLayoutVars>
      </dgm:prSet>
      <dgm:spPr/>
      <dgm:t>
        <a:bodyPr/>
        <a:lstStyle/>
        <a:p>
          <a:endParaRPr lang="en-US"/>
        </a:p>
      </dgm:t>
    </dgm:pt>
    <dgm:pt modelId="{320450C4-F523-4B16-B2D9-4DF083C0D164}" type="pres">
      <dgm:prSet presAssocID="{939662E8-1580-40AE-9B6C-323E8300E63E}" presName="spNode" presStyleCnt="0"/>
      <dgm:spPr/>
    </dgm:pt>
    <dgm:pt modelId="{76F78CE6-90C8-4B35-9F7E-1F5EB9B22151}" type="pres">
      <dgm:prSet presAssocID="{122F0F2A-9D73-4F96-9BEF-3D5D0F3739CC}" presName="sibTrans" presStyleLbl="sibTrans1D1" presStyleIdx="14" presStyleCnt="16" custScaleX="2000000" custScaleY="2000000"/>
      <dgm:spPr/>
      <dgm:t>
        <a:bodyPr/>
        <a:lstStyle/>
        <a:p>
          <a:endParaRPr lang="en-US"/>
        </a:p>
      </dgm:t>
    </dgm:pt>
    <dgm:pt modelId="{618D29F1-B27A-4177-81E5-AC40E22B797C}" type="pres">
      <dgm:prSet presAssocID="{A8370C54-57BB-4D77-84F2-21B7BBCB8CD1}" presName="node" presStyleLbl="node1" presStyleIdx="15" presStyleCnt="16" custScaleX="126252" custScaleY="110804">
        <dgm:presLayoutVars>
          <dgm:bulletEnabled val="1"/>
        </dgm:presLayoutVars>
      </dgm:prSet>
      <dgm:spPr/>
      <dgm:t>
        <a:bodyPr/>
        <a:lstStyle/>
        <a:p>
          <a:endParaRPr lang="en-US"/>
        </a:p>
      </dgm:t>
    </dgm:pt>
    <dgm:pt modelId="{6DA6B6DF-5C12-40CD-AAE4-BEDED49DD127}" type="pres">
      <dgm:prSet presAssocID="{A8370C54-57BB-4D77-84F2-21B7BBCB8CD1}" presName="spNode" presStyleCnt="0"/>
      <dgm:spPr/>
    </dgm:pt>
    <dgm:pt modelId="{B309ED74-66A5-480C-86D1-D4E840F406AC}" type="pres">
      <dgm:prSet presAssocID="{3D64D77A-FD09-4D3C-876D-C0CB137E62CD}" presName="sibTrans" presStyleLbl="sibTrans1D1" presStyleIdx="15" presStyleCnt="16" custScaleX="2000000" custScaleY="2000000"/>
      <dgm:spPr/>
      <dgm:t>
        <a:bodyPr/>
        <a:lstStyle/>
        <a:p>
          <a:endParaRPr lang="en-US"/>
        </a:p>
      </dgm:t>
    </dgm:pt>
  </dgm:ptLst>
  <dgm:cxnLst>
    <dgm:cxn modelId="{01EDD843-A1BE-4B48-B849-597FCCAA9847}" type="presOf" srcId="{05255914-D32A-40B4-8C21-212024189328}" destId="{0A74DD1F-BEEA-4E1C-A32C-B77C043FA489}" srcOrd="0" destOrd="0" presId="urn:microsoft.com/office/officeart/2005/8/layout/cycle6"/>
    <dgm:cxn modelId="{C10093D3-2431-4B47-9C68-F1C4EBE47445}" type="presOf" srcId="{3FDD498B-C338-4F3C-9707-6A31F5EB9217}" destId="{0186EB4D-19E9-40A6-9853-FE75E1F1C601}" srcOrd="0" destOrd="0" presId="urn:microsoft.com/office/officeart/2005/8/layout/cycle6"/>
    <dgm:cxn modelId="{29A30ADC-A6BC-435E-945B-0D4B92AD8430}" srcId="{B3F6A2BA-40B6-4187-AFF8-F8F9AF80E7F9}" destId="{CF291975-5B89-42C1-A954-78B0363C5805}" srcOrd="2" destOrd="0" parTransId="{F3DC7968-B68E-4A83-B115-D21E76300FFF}" sibTransId="{BB5988A9-792F-4F35-BF7A-F0D97FB3530B}"/>
    <dgm:cxn modelId="{FCA6755D-28E7-46FD-AFF5-1F9FA2314BB1}" type="presOf" srcId="{8BCD7E9B-E908-4EDF-8514-EDD1DB17AEBC}" destId="{6361BE26-1613-4254-AAB5-23BC794B38F0}" srcOrd="0" destOrd="0" presId="urn:microsoft.com/office/officeart/2005/8/layout/cycle6"/>
    <dgm:cxn modelId="{6B96127B-CB0D-4586-885E-BF94211B8AE4}" type="presOf" srcId="{DF2D58BB-B07E-4427-B0B4-7328C7A546CF}" destId="{53232857-986B-4378-8600-83D67A96D1FC}" srcOrd="0" destOrd="0" presId="urn:microsoft.com/office/officeart/2005/8/layout/cycle6"/>
    <dgm:cxn modelId="{A8717369-5DD7-4FC7-8DA8-D37B79527841}" srcId="{B3F6A2BA-40B6-4187-AFF8-F8F9AF80E7F9}" destId="{B84CDA86-2342-4CD5-A2D0-3EE2D6B77400}" srcOrd="5" destOrd="0" parTransId="{6D543B5E-EEF0-418E-B140-9726487CF57E}" sibTransId="{29F8A4A0-082D-4991-B443-0A8AFA42422B}"/>
    <dgm:cxn modelId="{E6969652-0FDA-434A-A8D5-7526E4F782A0}" type="presOf" srcId="{3D64D77A-FD09-4D3C-876D-C0CB137E62CD}" destId="{B309ED74-66A5-480C-86D1-D4E840F406AC}" srcOrd="0" destOrd="0" presId="urn:microsoft.com/office/officeart/2005/8/layout/cycle6"/>
    <dgm:cxn modelId="{FE5B5AE5-D229-407C-8B68-6B4D9ADD1447}" type="presOf" srcId="{910D43BF-2E12-4265-8F31-790375B138D8}" destId="{0CA37BE1-2CF9-468E-BFF7-47A995E3BB08}" srcOrd="0" destOrd="0" presId="urn:microsoft.com/office/officeart/2005/8/layout/cycle6"/>
    <dgm:cxn modelId="{F9995931-9C3D-4A1A-97FF-93A47FE45646}" type="presOf" srcId="{C63CE439-C9A4-437A-AA24-C2B1C4D3EC13}" destId="{39826E2A-859D-4D09-B02A-05287C251E70}" srcOrd="0" destOrd="0" presId="urn:microsoft.com/office/officeart/2005/8/layout/cycle6"/>
    <dgm:cxn modelId="{DA6F5A19-726D-48C2-A265-77E819D4C2EB}" type="presOf" srcId="{CF291975-5B89-42C1-A954-78B0363C5805}" destId="{B79BDE4E-122F-4949-877A-51460124312E}" srcOrd="0" destOrd="0" presId="urn:microsoft.com/office/officeart/2005/8/layout/cycle6"/>
    <dgm:cxn modelId="{308D7D5E-8A98-406C-8138-2E9A4F4C3D6E}" type="presOf" srcId="{B84CDA86-2342-4CD5-A2D0-3EE2D6B77400}" destId="{D0E1629B-81D1-410E-AE41-A68200AAD38A}" srcOrd="0" destOrd="0" presId="urn:microsoft.com/office/officeart/2005/8/layout/cycle6"/>
    <dgm:cxn modelId="{EC56DB2D-BF88-4547-81E8-3409406F0FB0}" type="presOf" srcId="{B3F6A2BA-40B6-4187-AFF8-F8F9AF80E7F9}" destId="{EFAE7302-6632-4D60-A96D-23F394241DE4}" srcOrd="0" destOrd="0" presId="urn:microsoft.com/office/officeart/2005/8/layout/cycle6"/>
    <dgm:cxn modelId="{FC093ECC-7247-4609-A7C5-0098E7276F0F}" type="presOf" srcId="{3515389E-A2D9-4A91-A416-D06FB2BCF4D7}" destId="{A95F9BD2-8E6C-4D20-A2D9-24C989631FAC}" srcOrd="0" destOrd="0" presId="urn:microsoft.com/office/officeart/2005/8/layout/cycle6"/>
    <dgm:cxn modelId="{F83DDC20-4E26-4D61-A1A9-12D338F14BED}" type="presOf" srcId="{A895021A-1FC9-40D9-9A23-C05D673066F3}" destId="{ACA3DEE4-4C37-414B-A20E-469C72FF631D}" srcOrd="0" destOrd="0" presId="urn:microsoft.com/office/officeart/2005/8/layout/cycle6"/>
    <dgm:cxn modelId="{9546C045-C4C2-4C71-84A9-8821CE74D4A7}" srcId="{B3F6A2BA-40B6-4187-AFF8-F8F9AF80E7F9}" destId="{5625A0BA-3784-45B6-97EC-2096A47B399F}" srcOrd="6" destOrd="0" parTransId="{51144210-2446-443F-A25F-970665996710}" sibTransId="{A6D5980C-35E2-4AB0-8246-6AAB28C06B23}"/>
    <dgm:cxn modelId="{DAD69292-A4D8-4732-9C76-415908747013}" type="presOf" srcId="{CB7A3099-1224-4ECB-902C-396EC7BA7968}" destId="{37F6FC54-D545-444E-B19E-55F8864057C9}" srcOrd="0" destOrd="0" presId="urn:microsoft.com/office/officeart/2005/8/layout/cycle6"/>
    <dgm:cxn modelId="{F90BA62E-E794-48A5-8857-5262442DCA4D}" srcId="{B3F6A2BA-40B6-4187-AFF8-F8F9AF80E7F9}" destId="{A8370C54-57BB-4D77-84F2-21B7BBCB8CD1}" srcOrd="15" destOrd="0" parTransId="{2A095022-B111-4BF4-8A3A-F583A99A0136}" sibTransId="{3D64D77A-FD09-4D3C-876D-C0CB137E62CD}"/>
    <dgm:cxn modelId="{8C7E83E1-91C4-4424-89A4-E72A78E485A9}" type="presOf" srcId="{DB1B9677-421A-4935-8C22-9192CE87F0FF}" destId="{C10433AE-724D-434E-B55F-F8FBA5E6691B}" srcOrd="0" destOrd="0" presId="urn:microsoft.com/office/officeart/2005/8/layout/cycle6"/>
    <dgm:cxn modelId="{055A641F-CAAB-421A-9B2A-61D4F9D15A46}" type="presOf" srcId="{EA111F39-A024-4AB2-977C-8988D99FEE4B}" destId="{E213AD56-109D-4571-A0B0-1181C7025370}" srcOrd="0" destOrd="0" presId="urn:microsoft.com/office/officeart/2005/8/layout/cycle6"/>
    <dgm:cxn modelId="{EBC68FFD-0F35-4FBB-B798-DB0A754358E6}" srcId="{B3F6A2BA-40B6-4187-AFF8-F8F9AF80E7F9}" destId="{3EBDEC13-B94B-424C-B6D8-E23828E29484}" srcOrd="12" destOrd="0" parTransId="{4194DC5B-FCB2-47F2-A7AB-F8C802D2C380}" sibTransId="{910D43BF-2E12-4265-8F31-790375B138D8}"/>
    <dgm:cxn modelId="{5F181E5C-0A65-4CBC-9413-057825B616E4}" type="presOf" srcId="{BE0F9672-9967-4BB3-945A-82902934D4C9}" destId="{BBF115A0-E49F-481D-B9B9-7781A7700C68}" srcOrd="0" destOrd="0" presId="urn:microsoft.com/office/officeart/2005/8/layout/cycle6"/>
    <dgm:cxn modelId="{75094B36-EEFD-405B-904C-602C1C0CFC1C}" type="presOf" srcId="{868767A5-C3E4-4645-9C8D-69D5627043D3}" destId="{FCDBC8B2-A072-489D-B135-4F76C90ABB73}" srcOrd="0" destOrd="0" presId="urn:microsoft.com/office/officeart/2005/8/layout/cycle6"/>
    <dgm:cxn modelId="{3736108B-4982-4F0A-BFCF-6F371A5C854A}" type="presOf" srcId="{9281F980-DBAB-4458-BA3E-080893361045}" destId="{27377A35-5C63-4153-A1CA-D07A81FEBED6}" srcOrd="0" destOrd="0" presId="urn:microsoft.com/office/officeart/2005/8/layout/cycle6"/>
    <dgm:cxn modelId="{3D4E97EA-89D6-4F69-8109-635B0AF236FD}" srcId="{B3F6A2BA-40B6-4187-AFF8-F8F9AF80E7F9}" destId="{A895021A-1FC9-40D9-9A23-C05D673066F3}" srcOrd="10" destOrd="0" parTransId="{ED7432BF-B985-48B1-B8F2-801A42157DE6}" sibTransId="{C63CE439-C9A4-437A-AA24-C2B1C4D3EC13}"/>
    <dgm:cxn modelId="{D2518FAB-27A2-49E0-9A1B-AE14D07A36F8}" type="presOf" srcId="{5625A0BA-3784-45B6-97EC-2096A47B399F}" destId="{BC51FB21-3AAD-464F-AB4E-68130F6D9956}" srcOrd="0" destOrd="0" presId="urn:microsoft.com/office/officeart/2005/8/layout/cycle6"/>
    <dgm:cxn modelId="{E2B1179F-FD48-4EB0-BDE4-4C7C50B8465D}" type="presOf" srcId="{122F0F2A-9D73-4F96-9BEF-3D5D0F3739CC}" destId="{76F78CE6-90C8-4B35-9F7E-1F5EB9B22151}" srcOrd="0" destOrd="0" presId="urn:microsoft.com/office/officeart/2005/8/layout/cycle6"/>
    <dgm:cxn modelId="{D30E7CF0-5B4B-40D3-96D0-383F887793FD}" srcId="{B3F6A2BA-40B6-4187-AFF8-F8F9AF80E7F9}" destId="{868767A5-C3E4-4645-9C8D-69D5627043D3}" srcOrd="8" destOrd="0" parTransId="{09A882C0-93B2-4C56-BE95-EDAAA5B0FF47}" sibTransId="{BE0F9672-9967-4BB3-945A-82902934D4C9}"/>
    <dgm:cxn modelId="{92B7CF88-19DA-4C68-B48A-56C5D09BD078}" srcId="{B3F6A2BA-40B6-4187-AFF8-F8F9AF80E7F9}" destId="{05255914-D32A-40B4-8C21-212024189328}" srcOrd="1" destOrd="0" parTransId="{739FD09D-8045-4F96-B9E7-D3DCBC8AC11E}" sibTransId="{DF2D58BB-B07E-4427-B0B4-7328C7A546CF}"/>
    <dgm:cxn modelId="{1F774BA2-9135-42D7-A6A7-1C39E6459835}" srcId="{B3F6A2BA-40B6-4187-AFF8-F8F9AF80E7F9}" destId="{9281F980-DBAB-4458-BA3E-080893361045}" srcOrd="9" destOrd="0" parTransId="{FC98046A-08E0-48A4-B812-F4BADECAFB37}" sibTransId="{EE9F8E24-F686-4CD7-B40D-889B181D327C}"/>
    <dgm:cxn modelId="{C4D13FB4-0FD1-48FF-AB4B-035F479BA4E7}" srcId="{B3F6A2BA-40B6-4187-AFF8-F8F9AF80E7F9}" destId="{EE1F149E-F983-420A-AE26-0CA291A969CC}" srcOrd="11" destOrd="0" parTransId="{9B36F709-981A-4F1F-96A6-2972426A3A63}" sibTransId="{3FDD498B-C338-4F3C-9707-6A31F5EB9217}"/>
    <dgm:cxn modelId="{1A792AAE-2086-4C09-9299-F978E6D076E1}" srcId="{B3F6A2BA-40B6-4187-AFF8-F8F9AF80E7F9}" destId="{DB1B9677-421A-4935-8C22-9192CE87F0FF}" srcOrd="13" destOrd="0" parTransId="{C1DA78D6-0CE1-41A2-A0EE-D8D11B345670}" sibTransId="{8BCD7E9B-E908-4EDF-8514-EDD1DB17AEBC}"/>
    <dgm:cxn modelId="{C194A969-1A2E-474B-A1C8-595E0B005A5B}" type="presOf" srcId="{3EBDEC13-B94B-424C-B6D8-E23828E29484}" destId="{E6415271-4602-49BD-8F77-B2554532B0A0}" srcOrd="0" destOrd="0" presId="urn:microsoft.com/office/officeart/2005/8/layout/cycle6"/>
    <dgm:cxn modelId="{333211B3-FC2B-4025-A201-EAA5AC206C85}" type="presOf" srcId="{BB5988A9-792F-4F35-BF7A-F0D97FB3530B}" destId="{C1FBA839-DD16-4EA3-AA23-4F09E108C25C}" srcOrd="0" destOrd="0" presId="urn:microsoft.com/office/officeart/2005/8/layout/cycle6"/>
    <dgm:cxn modelId="{9730C05C-0FFC-4441-A995-EF76685C552F}" type="presOf" srcId="{939662E8-1580-40AE-9B6C-323E8300E63E}" destId="{75C04093-B402-44E4-A02F-D9D20B3CFE9D}" srcOrd="0" destOrd="0" presId="urn:microsoft.com/office/officeart/2005/8/layout/cycle6"/>
    <dgm:cxn modelId="{C53B7F7A-3F7C-4500-9CAA-E1066ACD9201}" srcId="{B3F6A2BA-40B6-4187-AFF8-F8F9AF80E7F9}" destId="{B2DF35EF-9BDC-40A7-BFCA-A1A3E1293144}" srcOrd="7" destOrd="0" parTransId="{2769CC40-045F-4640-A563-15B6F6571048}" sibTransId="{3515389E-A2D9-4A91-A416-D06FB2BCF4D7}"/>
    <dgm:cxn modelId="{A591B023-1D1E-4E34-B4AC-E1BA49CF4BF1}" type="presOf" srcId="{A6D5980C-35E2-4AB0-8246-6AAB28C06B23}" destId="{36A25B59-0286-4766-AF4A-4AD99255FB9A}" srcOrd="0" destOrd="0" presId="urn:microsoft.com/office/officeart/2005/8/layout/cycle6"/>
    <dgm:cxn modelId="{F506E86B-8150-47A3-B191-82DF382E8CD4}" srcId="{B3F6A2BA-40B6-4187-AFF8-F8F9AF80E7F9}" destId="{0F1EED64-1422-4916-86A1-6EC539D1088A}" srcOrd="3" destOrd="0" parTransId="{A31802B4-E52B-4F45-9C81-62E72A979B4E}" sibTransId="{C682A7C4-7A1C-44E3-9B83-DF842E56DA03}"/>
    <dgm:cxn modelId="{DFA54840-B0AD-4DF0-A608-B4133B710C00}" type="presOf" srcId="{EE1F149E-F983-420A-AE26-0CA291A969CC}" destId="{508270A1-9056-4B9A-B0BC-2D3B1299FC58}" srcOrd="0" destOrd="0" presId="urn:microsoft.com/office/officeart/2005/8/layout/cycle6"/>
    <dgm:cxn modelId="{0ED10D25-2B43-4953-84C0-C0E9E9235DCD}" srcId="{B3F6A2BA-40B6-4187-AFF8-F8F9AF80E7F9}" destId="{EA111F39-A024-4AB2-977C-8988D99FEE4B}" srcOrd="4" destOrd="0" parTransId="{677D4B4F-F54C-408A-B8A9-FB080E0A8B92}" sibTransId="{AA774F68-286C-419B-8B7D-02F83155FDF4}"/>
    <dgm:cxn modelId="{46E7A714-6F58-466C-9B2E-71143AC37220}" type="presOf" srcId="{0F1EED64-1422-4916-86A1-6EC539D1088A}" destId="{47D8252C-7210-4124-986D-C5A27EC7BB38}" srcOrd="0" destOrd="0" presId="urn:microsoft.com/office/officeart/2005/8/layout/cycle6"/>
    <dgm:cxn modelId="{6C05350F-B991-4F58-97D1-AE4044723B42}" srcId="{B3F6A2BA-40B6-4187-AFF8-F8F9AF80E7F9}" destId="{CB7A3099-1224-4ECB-902C-396EC7BA7968}" srcOrd="0" destOrd="0" parTransId="{46544552-34FE-49BE-BA33-CC66D1619F8A}" sibTransId="{50D7F308-47D9-4906-97CC-2D84909FC247}"/>
    <dgm:cxn modelId="{13FFBA05-7DA3-4F6A-B8E7-A5B1B376E210}" type="presOf" srcId="{29F8A4A0-082D-4991-B443-0A8AFA42422B}" destId="{896B2AF0-997F-4A3D-95E9-687AEE393215}" srcOrd="0" destOrd="0" presId="urn:microsoft.com/office/officeart/2005/8/layout/cycle6"/>
    <dgm:cxn modelId="{C9C293EA-938F-4E33-9702-579D6FFADAF3}" type="presOf" srcId="{B2DF35EF-9BDC-40A7-BFCA-A1A3E1293144}" destId="{4EBAFEA8-38A7-4839-A196-E833865FEC3E}" srcOrd="0" destOrd="0" presId="urn:microsoft.com/office/officeart/2005/8/layout/cycle6"/>
    <dgm:cxn modelId="{2F24FBA0-B8BF-435B-AC96-6D8AC4127127}" type="presOf" srcId="{EE9F8E24-F686-4CD7-B40D-889B181D327C}" destId="{C75F3799-6FE1-44D4-94E5-D0323DD9642D}" srcOrd="0" destOrd="0" presId="urn:microsoft.com/office/officeart/2005/8/layout/cycle6"/>
    <dgm:cxn modelId="{E1767F80-B50B-4A4B-9303-E1A4FD076D8F}" type="presOf" srcId="{C682A7C4-7A1C-44E3-9B83-DF842E56DA03}" destId="{9A5BE75C-4E4D-435D-8920-9E32832F465D}" srcOrd="0" destOrd="0" presId="urn:microsoft.com/office/officeart/2005/8/layout/cycle6"/>
    <dgm:cxn modelId="{15DA1C25-68BA-427B-8899-B55BFF66C23D}" type="presOf" srcId="{A8370C54-57BB-4D77-84F2-21B7BBCB8CD1}" destId="{618D29F1-B27A-4177-81E5-AC40E22B797C}" srcOrd="0" destOrd="0" presId="urn:microsoft.com/office/officeart/2005/8/layout/cycle6"/>
    <dgm:cxn modelId="{C2C85F48-69A4-46D7-A684-D51088EB6DFD}" type="presOf" srcId="{AA774F68-286C-419B-8B7D-02F83155FDF4}" destId="{3E6F2280-A61F-493F-991B-F51BCDF11010}" srcOrd="0" destOrd="0" presId="urn:microsoft.com/office/officeart/2005/8/layout/cycle6"/>
    <dgm:cxn modelId="{EA32045E-B7E6-4ECF-A8C3-3D334121FCE5}" type="presOf" srcId="{50D7F308-47D9-4906-97CC-2D84909FC247}" destId="{990317AE-40E7-4E24-A709-5C1E3D7DF428}" srcOrd="0" destOrd="0" presId="urn:microsoft.com/office/officeart/2005/8/layout/cycle6"/>
    <dgm:cxn modelId="{9576AAAE-58F2-424F-B8E3-B337460ABDE1}" srcId="{B3F6A2BA-40B6-4187-AFF8-F8F9AF80E7F9}" destId="{939662E8-1580-40AE-9B6C-323E8300E63E}" srcOrd="14" destOrd="0" parTransId="{A9B8F123-7BAB-41C3-840A-4F646C50888F}" sibTransId="{122F0F2A-9D73-4F96-9BEF-3D5D0F3739CC}"/>
    <dgm:cxn modelId="{8CF98EDA-4A05-4782-BE24-4E69BE09FC55}" type="presParOf" srcId="{EFAE7302-6632-4D60-A96D-23F394241DE4}" destId="{37F6FC54-D545-444E-B19E-55F8864057C9}" srcOrd="0" destOrd="0" presId="urn:microsoft.com/office/officeart/2005/8/layout/cycle6"/>
    <dgm:cxn modelId="{E060DC41-16DF-4691-A37C-368B8DA692BB}" type="presParOf" srcId="{EFAE7302-6632-4D60-A96D-23F394241DE4}" destId="{F73F8756-B089-4C69-872B-9C77B1D2E9B9}" srcOrd="1" destOrd="0" presId="urn:microsoft.com/office/officeart/2005/8/layout/cycle6"/>
    <dgm:cxn modelId="{FD5A6C26-421B-4774-8961-282C43836D85}" type="presParOf" srcId="{EFAE7302-6632-4D60-A96D-23F394241DE4}" destId="{990317AE-40E7-4E24-A709-5C1E3D7DF428}" srcOrd="2" destOrd="0" presId="urn:microsoft.com/office/officeart/2005/8/layout/cycle6"/>
    <dgm:cxn modelId="{ED5FD641-FA10-40FA-8B46-B86729BAA8C5}" type="presParOf" srcId="{EFAE7302-6632-4D60-A96D-23F394241DE4}" destId="{0A74DD1F-BEEA-4E1C-A32C-B77C043FA489}" srcOrd="3" destOrd="0" presId="urn:microsoft.com/office/officeart/2005/8/layout/cycle6"/>
    <dgm:cxn modelId="{262A670C-5469-4E57-8C03-A6B620992E43}" type="presParOf" srcId="{EFAE7302-6632-4D60-A96D-23F394241DE4}" destId="{33AA3025-9FF4-4436-AD56-351C2AA3B91C}" srcOrd="4" destOrd="0" presId="urn:microsoft.com/office/officeart/2005/8/layout/cycle6"/>
    <dgm:cxn modelId="{AE7F4DA3-023A-45E8-966F-116E5F6A4D30}" type="presParOf" srcId="{EFAE7302-6632-4D60-A96D-23F394241DE4}" destId="{53232857-986B-4378-8600-83D67A96D1FC}" srcOrd="5" destOrd="0" presId="urn:microsoft.com/office/officeart/2005/8/layout/cycle6"/>
    <dgm:cxn modelId="{9BDA41B9-FD54-4A35-8193-E2C9EEC06D0C}" type="presParOf" srcId="{EFAE7302-6632-4D60-A96D-23F394241DE4}" destId="{B79BDE4E-122F-4949-877A-51460124312E}" srcOrd="6" destOrd="0" presId="urn:microsoft.com/office/officeart/2005/8/layout/cycle6"/>
    <dgm:cxn modelId="{1738F4FD-3EAE-4C8D-A77D-531ED48B1A0F}" type="presParOf" srcId="{EFAE7302-6632-4D60-A96D-23F394241DE4}" destId="{E5A97052-E50B-4364-B8F3-C5BB55C62E43}" srcOrd="7" destOrd="0" presId="urn:microsoft.com/office/officeart/2005/8/layout/cycle6"/>
    <dgm:cxn modelId="{20901E78-8351-4253-AC89-24CBA3D5DD01}" type="presParOf" srcId="{EFAE7302-6632-4D60-A96D-23F394241DE4}" destId="{C1FBA839-DD16-4EA3-AA23-4F09E108C25C}" srcOrd="8" destOrd="0" presId="urn:microsoft.com/office/officeart/2005/8/layout/cycle6"/>
    <dgm:cxn modelId="{BF3C6F95-FBA1-4A78-BA69-DB00F1AE948E}" type="presParOf" srcId="{EFAE7302-6632-4D60-A96D-23F394241DE4}" destId="{47D8252C-7210-4124-986D-C5A27EC7BB38}" srcOrd="9" destOrd="0" presId="urn:microsoft.com/office/officeart/2005/8/layout/cycle6"/>
    <dgm:cxn modelId="{581E081F-4905-4454-A245-506D01150998}" type="presParOf" srcId="{EFAE7302-6632-4D60-A96D-23F394241DE4}" destId="{49128025-155A-4115-B8B9-1A751CA1730C}" srcOrd="10" destOrd="0" presId="urn:microsoft.com/office/officeart/2005/8/layout/cycle6"/>
    <dgm:cxn modelId="{78C4C8DA-D889-421E-A300-D0B3C9FB3647}" type="presParOf" srcId="{EFAE7302-6632-4D60-A96D-23F394241DE4}" destId="{9A5BE75C-4E4D-435D-8920-9E32832F465D}" srcOrd="11" destOrd="0" presId="urn:microsoft.com/office/officeart/2005/8/layout/cycle6"/>
    <dgm:cxn modelId="{EE1D3FFB-2397-45D3-A4AE-DE4B52C7FF41}" type="presParOf" srcId="{EFAE7302-6632-4D60-A96D-23F394241DE4}" destId="{E213AD56-109D-4571-A0B0-1181C7025370}" srcOrd="12" destOrd="0" presId="urn:microsoft.com/office/officeart/2005/8/layout/cycle6"/>
    <dgm:cxn modelId="{1ACF0830-6542-4A1A-BF35-8E4EDF4580A8}" type="presParOf" srcId="{EFAE7302-6632-4D60-A96D-23F394241DE4}" destId="{41190AB1-8428-4DEE-ADF0-BAC788A0917C}" srcOrd="13" destOrd="0" presId="urn:microsoft.com/office/officeart/2005/8/layout/cycle6"/>
    <dgm:cxn modelId="{396D1EB3-7A7C-4651-A6DA-3E7C013B4226}" type="presParOf" srcId="{EFAE7302-6632-4D60-A96D-23F394241DE4}" destId="{3E6F2280-A61F-493F-991B-F51BCDF11010}" srcOrd="14" destOrd="0" presId="urn:microsoft.com/office/officeart/2005/8/layout/cycle6"/>
    <dgm:cxn modelId="{FAF016FF-90D5-497F-8546-F462BC0114FF}" type="presParOf" srcId="{EFAE7302-6632-4D60-A96D-23F394241DE4}" destId="{D0E1629B-81D1-410E-AE41-A68200AAD38A}" srcOrd="15" destOrd="0" presId="urn:microsoft.com/office/officeart/2005/8/layout/cycle6"/>
    <dgm:cxn modelId="{D0090837-E1E6-4BE6-9510-FBD4664DE94A}" type="presParOf" srcId="{EFAE7302-6632-4D60-A96D-23F394241DE4}" destId="{98736DC7-D98D-4E78-942E-3E553CB51665}" srcOrd="16" destOrd="0" presId="urn:microsoft.com/office/officeart/2005/8/layout/cycle6"/>
    <dgm:cxn modelId="{3383F855-9503-4EB3-8C68-D6A3580A8DFB}" type="presParOf" srcId="{EFAE7302-6632-4D60-A96D-23F394241DE4}" destId="{896B2AF0-997F-4A3D-95E9-687AEE393215}" srcOrd="17" destOrd="0" presId="urn:microsoft.com/office/officeart/2005/8/layout/cycle6"/>
    <dgm:cxn modelId="{3021F4C0-0129-4114-A401-428DB84D67BB}" type="presParOf" srcId="{EFAE7302-6632-4D60-A96D-23F394241DE4}" destId="{BC51FB21-3AAD-464F-AB4E-68130F6D9956}" srcOrd="18" destOrd="0" presId="urn:microsoft.com/office/officeart/2005/8/layout/cycle6"/>
    <dgm:cxn modelId="{CC365281-34DD-4423-95BF-E8FE8F1CDBCE}" type="presParOf" srcId="{EFAE7302-6632-4D60-A96D-23F394241DE4}" destId="{678D2501-9B9B-4053-8341-251711D30C2F}" srcOrd="19" destOrd="0" presId="urn:microsoft.com/office/officeart/2005/8/layout/cycle6"/>
    <dgm:cxn modelId="{C6D8FD19-56B0-4B86-923E-286787B7ABE2}" type="presParOf" srcId="{EFAE7302-6632-4D60-A96D-23F394241DE4}" destId="{36A25B59-0286-4766-AF4A-4AD99255FB9A}" srcOrd="20" destOrd="0" presId="urn:microsoft.com/office/officeart/2005/8/layout/cycle6"/>
    <dgm:cxn modelId="{2972928F-D108-4672-8D77-3238B09210E5}" type="presParOf" srcId="{EFAE7302-6632-4D60-A96D-23F394241DE4}" destId="{4EBAFEA8-38A7-4839-A196-E833865FEC3E}" srcOrd="21" destOrd="0" presId="urn:microsoft.com/office/officeart/2005/8/layout/cycle6"/>
    <dgm:cxn modelId="{51763B53-9809-45D2-AE82-8DCB67E51EBD}" type="presParOf" srcId="{EFAE7302-6632-4D60-A96D-23F394241DE4}" destId="{C248C08C-3758-4EEE-8D81-59D26C39B226}" srcOrd="22" destOrd="0" presId="urn:microsoft.com/office/officeart/2005/8/layout/cycle6"/>
    <dgm:cxn modelId="{DAF3BC8A-534F-4E44-B72A-8BEA8AC52114}" type="presParOf" srcId="{EFAE7302-6632-4D60-A96D-23F394241DE4}" destId="{A95F9BD2-8E6C-4D20-A2D9-24C989631FAC}" srcOrd="23" destOrd="0" presId="urn:microsoft.com/office/officeart/2005/8/layout/cycle6"/>
    <dgm:cxn modelId="{2F962740-6EC2-4080-921F-5CF97ACAD549}" type="presParOf" srcId="{EFAE7302-6632-4D60-A96D-23F394241DE4}" destId="{FCDBC8B2-A072-489D-B135-4F76C90ABB73}" srcOrd="24" destOrd="0" presId="urn:microsoft.com/office/officeart/2005/8/layout/cycle6"/>
    <dgm:cxn modelId="{D6F09ADA-4A2A-47D3-8E13-5D70CA7B4747}" type="presParOf" srcId="{EFAE7302-6632-4D60-A96D-23F394241DE4}" destId="{1A502533-D656-4694-9BDA-B75F503AD108}" srcOrd="25" destOrd="0" presId="urn:microsoft.com/office/officeart/2005/8/layout/cycle6"/>
    <dgm:cxn modelId="{2F71E44F-E370-4AC5-8EED-0BCE6C3737D8}" type="presParOf" srcId="{EFAE7302-6632-4D60-A96D-23F394241DE4}" destId="{BBF115A0-E49F-481D-B9B9-7781A7700C68}" srcOrd="26" destOrd="0" presId="urn:microsoft.com/office/officeart/2005/8/layout/cycle6"/>
    <dgm:cxn modelId="{1B796DD2-0D36-40F4-89C2-2781F1F5DCD7}" type="presParOf" srcId="{EFAE7302-6632-4D60-A96D-23F394241DE4}" destId="{27377A35-5C63-4153-A1CA-D07A81FEBED6}" srcOrd="27" destOrd="0" presId="urn:microsoft.com/office/officeart/2005/8/layout/cycle6"/>
    <dgm:cxn modelId="{F2602A0F-FA36-40DD-AF0C-DA9A5E4D82AB}" type="presParOf" srcId="{EFAE7302-6632-4D60-A96D-23F394241DE4}" destId="{166E8CAE-7A6A-441E-B81D-F2A6930AEB34}" srcOrd="28" destOrd="0" presId="urn:microsoft.com/office/officeart/2005/8/layout/cycle6"/>
    <dgm:cxn modelId="{09028048-B48B-40DB-96E6-F2CC81D9541A}" type="presParOf" srcId="{EFAE7302-6632-4D60-A96D-23F394241DE4}" destId="{C75F3799-6FE1-44D4-94E5-D0323DD9642D}" srcOrd="29" destOrd="0" presId="urn:microsoft.com/office/officeart/2005/8/layout/cycle6"/>
    <dgm:cxn modelId="{766E1D82-3134-4C37-9475-197794BA411C}" type="presParOf" srcId="{EFAE7302-6632-4D60-A96D-23F394241DE4}" destId="{ACA3DEE4-4C37-414B-A20E-469C72FF631D}" srcOrd="30" destOrd="0" presId="urn:microsoft.com/office/officeart/2005/8/layout/cycle6"/>
    <dgm:cxn modelId="{DFB10EF2-9C0A-47A4-BACC-05C3EB8C0CAC}" type="presParOf" srcId="{EFAE7302-6632-4D60-A96D-23F394241DE4}" destId="{5E377587-15D8-428C-8F90-BB7C49868333}" srcOrd="31" destOrd="0" presId="urn:microsoft.com/office/officeart/2005/8/layout/cycle6"/>
    <dgm:cxn modelId="{DBBBA37B-1DE6-4655-B56B-D72F2F00684F}" type="presParOf" srcId="{EFAE7302-6632-4D60-A96D-23F394241DE4}" destId="{39826E2A-859D-4D09-B02A-05287C251E70}" srcOrd="32" destOrd="0" presId="urn:microsoft.com/office/officeart/2005/8/layout/cycle6"/>
    <dgm:cxn modelId="{847FDAC4-8A7B-4506-A80B-5DCA0D46AF66}" type="presParOf" srcId="{EFAE7302-6632-4D60-A96D-23F394241DE4}" destId="{508270A1-9056-4B9A-B0BC-2D3B1299FC58}" srcOrd="33" destOrd="0" presId="urn:microsoft.com/office/officeart/2005/8/layout/cycle6"/>
    <dgm:cxn modelId="{CBCA06F4-076A-423D-8DA3-ACDFD70BC7DB}" type="presParOf" srcId="{EFAE7302-6632-4D60-A96D-23F394241DE4}" destId="{32B48CEE-BE6C-4B73-AA70-08340D7306CA}" srcOrd="34" destOrd="0" presId="urn:microsoft.com/office/officeart/2005/8/layout/cycle6"/>
    <dgm:cxn modelId="{70685DE8-13BA-4406-89B4-9BF7CF6A30D7}" type="presParOf" srcId="{EFAE7302-6632-4D60-A96D-23F394241DE4}" destId="{0186EB4D-19E9-40A6-9853-FE75E1F1C601}" srcOrd="35" destOrd="0" presId="urn:microsoft.com/office/officeart/2005/8/layout/cycle6"/>
    <dgm:cxn modelId="{4A7CCD2F-91EC-4D58-904A-E846F5F1AB78}" type="presParOf" srcId="{EFAE7302-6632-4D60-A96D-23F394241DE4}" destId="{E6415271-4602-49BD-8F77-B2554532B0A0}" srcOrd="36" destOrd="0" presId="urn:microsoft.com/office/officeart/2005/8/layout/cycle6"/>
    <dgm:cxn modelId="{59F88B00-D0C8-4CE5-A489-78097A29A637}" type="presParOf" srcId="{EFAE7302-6632-4D60-A96D-23F394241DE4}" destId="{18476B6F-E555-4078-9F4F-FED8900C0811}" srcOrd="37" destOrd="0" presId="urn:microsoft.com/office/officeart/2005/8/layout/cycle6"/>
    <dgm:cxn modelId="{DB99ABB9-8C56-4413-B6D4-4CBBE3D6386B}" type="presParOf" srcId="{EFAE7302-6632-4D60-A96D-23F394241DE4}" destId="{0CA37BE1-2CF9-468E-BFF7-47A995E3BB08}" srcOrd="38" destOrd="0" presId="urn:microsoft.com/office/officeart/2005/8/layout/cycle6"/>
    <dgm:cxn modelId="{31D10438-3BF2-45E1-9373-32A8053066B2}" type="presParOf" srcId="{EFAE7302-6632-4D60-A96D-23F394241DE4}" destId="{C10433AE-724D-434E-B55F-F8FBA5E6691B}" srcOrd="39" destOrd="0" presId="urn:microsoft.com/office/officeart/2005/8/layout/cycle6"/>
    <dgm:cxn modelId="{3225C499-68CD-4B1F-933A-1E3EC1A5F08E}" type="presParOf" srcId="{EFAE7302-6632-4D60-A96D-23F394241DE4}" destId="{1BF69A71-2EE3-482B-A6FD-09CDD6717BD2}" srcOrd="40" destOrd="0" presId="urn:microsoft.com/office/officeart/2005/8/layout/cycle6"/>
    <dgm:cxn modelId="{6289BFD1-2181-4413-8A15-6EB0CA06E02B}" type="presParOf" srcId="{EFAE7302-6632-4D60-A96D-23F394241DE4}" destId="{6361BE26-1613-4254-AAB5-23BC794B38F0}" srcOrd="41" destOrd="0" presId="urn:microsoft.com/office/officeart/2005/8/layout/cycle6"/>
    <dgm:cxn modelId="{45EF3959-031D-4927-BCFC-8C4BB18A3F87}" type="presParOf" srcId="{EFAE7302-6632-4D60-A96D-23F394241DE4}" destId="{75C04093-B402-44E4-A02F-D9D20B3CFE9D}" srcOrd="42" destOrd="0" presId="urn:microsoft.com/office/officeart/2005/8/layout/cycle6"/>
    <dgm:cxn modelId="{1D655481-B369-48C8-A611-1E46D4CCF8B7}" type="presParOf" srcId="{EFAE7302-6632-4D60-A96D-23F394241DE4}" destId="{320450C4-F523-4B16-B2D9-4DF083C0D164}" srcOrd="43" destOrd="0" presId="urn:microsoft.com/office/officeart/2005/8/layout/cycle6"/>
    <dgm:cxn modelId="{A5B2DA32-9BAC-450A-83CA-EAFA3A91917E}" type="presParOf" srcId="{EFAE7302-6632-4D60-A96D-23F394241DE4}" destId="{76F78CE6-90C8-4B35-9F7E-1F5EB9B22151}" srcOrd="44" destOrd="0" presId="urn:microsoft.com/office/officeart/2005/8/layout/cycle6"/>
    <dgm:cxn modelId="{53BB2BDC-CD77-412F-A5FD-CEAA152E6CCF}" type="presParOf" srcId="{EFAE7302-6632-4D60-A96D-23F394241DE4}" destId="{618D29F1-B27A-4177-81E5-AC40E22B797C}" srcOrd="45" destOrd="0" presId="urn:microsoft.com/office/officeart/2005/8/layout/cycle6"/>
    <dgm:cxn modelId="{FEDAFEC8-0D26-4B6E-948F-5607FF2FE6EC}" type="presParOf" srcId="{EFAE7302-6632-4D60-A96D-23F394241DE4}" destId="{6DA6B6DF-5C12-40CD-AAE4-BEDED49DD127}" srcOrd="46" destOrd="0" presId="urn:microsoft.com/office/officeart/2005/8/layout/cycle6"/>
    <dgm:cxn modelId="{3A561050-85CC-4FA7-9810-506AE44B3B0B}" type="presParOf" srcId="{EFAE7302-6632-4D60-A96D-23F394241DE4}" destId="{B309ED74-66A5-480C-86D1-D4E840F406AC}" srcOrd="47"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F6A2BA-40B6-4187-AFF8-F8F9AF80E7F9}" type="doc">
      <dgm:prSet loTypeId="urn:microsoft.com/office/officeart/2005/8/layout/cycle6" loCatId="cycle" qsTypeId="urn:microsoft.com/office/officeart/2005/8/quickstyle/simple1" qsCatId="simple" csTypeId="urn:microsoft.com/office/officeart/2005/8/colors/accent0_1" csCatId="mainScheme" phldr="1"/>
      <dgm:spPr/>
      <dgm:t>
        <a:bodyPr/>
        <a:lstStyle/>
        <a:p>
          <a:endParaRPr lang="en-US"/>
        </a:p>
      </dgm:t>
    </dgm:pt>
    <dgm:pt modelId="{CB7A3099-1224-4ECB-902C-396EC7BA7968}">
      <dgm:prSet phldrT="[Text]" custT="1">
        <dgm:style>
          <a:lnRef idx="2">
            <a:schemeClr val="accent4"/>
          </a:lnRef>
          <a:fillRef idx="1">
            <a:schemeClr val="lt1"/>
          </a:fillRef>
          <a:effectRef idx="0">
            <a:schemeClr val="accent4"/>
          </a:effectRef>
          <a:fontRef idx="minor">
            <a:schemeClr val="dk1"/>
          </a:fontRef>
        </dgm:style>
      </dgm:prSet>
      <dgm:spPr>
        <a:ln w="3175">
          <a:solidFill>
            <a:schemeClr val="tx1"/>
          </a:solidFill>
        </a:ln>
      </dgm:spPr>
      <dgm:t>
        <a:bodyPr/>
        <a:lstStyle/>
        <a:p>
          <a:r>
            <a:rPr lang="en-US" sz="1200" dirty="0">
              <a:solidFill>
                <a:schemeClr val="tx1"/>
              </a:solidFill>
            </a:rPr>
            <a:t>00</a:t>
          </a:r>
        </a:p>
      </dgm:t>
    </dgm:pt>
    <dgm:pt modelId="{46544552-34FE-49BE-BA33-CC66D1619F8A}" type="parTrans" cxnId="{6C05350F-B991-4F58-97D1-AE4044723B42}">
      <dgm:prSet/>
      <dgm:spPr/>
      <dgm:t>
        <a:bodyPr/>
        <a:lstStyle/>
        <a:p>
          <a:endParaRPr lang="en-US" sz="3200"/>
        </a:p>
      </dgm:t>
    </dgm:pt>
    <dgm:pt modelId="{50D7F308-47D9-4906-97CC-2D84909FC247}" type="sibTrans" cxnId="{6C05350F-B991-4F58-97D1-AE4044723B42}">
      <dgm:prSet/>
      <dgm:spPr>
        <a:ln w="3175"/>
      </dgm:spPr>
      <dgm:t>
        <a:bodyPr/>
        <a:lstStyle/>
        <a:p>
          <a:endParaRPr lang="en-US" sz="4400"/>
        </a:p>
      </dgm:t>
    </dgm:pt>
    <dgm:pt modelId="{05255914-D32A-40B4-8C21-212024189328}">
      <dgm:prSet phldrT="[Text]" custT="1">
        <dgm:style>
          <a:lnRef idx="2">
            <a:schemeClr val="accent4">
              <a:shade val="50000"/>
            </a:schemeClr>
          </a:lnRef>
          <a:fillRef idx="1">
            <a:schemeClr val="accent4"/>
          </a:fillRef>
          <a:effectRef idx="0">
            <a:schemeClr val="accent4"/>
          </a:effectRef>
          <a:fontRef idx="minor">
            <a:schemeClr val="lt1"/>
          </a:fontRef>
        </dgm:style>
      </dgm:prSet>
      <dgm:spPr>
        <a:solidFill>
          <a:srgbClr val="1D3064"/>
        </a:solidFill>
        <a:ln>
          <a:noFill/>
        </a:ln>
      </dgm:spPr>
      <dgm:t>
        <a:bodyPr/>
        <a:lstStyle/>
        <a:p>
          <a:r>
            <a:rPr lang="en-US" sz="1200" b="1" dirty="0">
              <a:solidFill>
                <a:schemeClr val="bg1"/>
              </a:solidFill>
            </a:rPr>
            <a:t>01</a:t>
          </a:r>
        </a:p>
      </dgm:t>
    </dgm:pt>
    <dgm:pt modelId="{739FD09D-8045-4F96-B9E7-D3DCBC8AC11E}" type="parTrans" cxnId="{92B7CF88-19DA-4C68-B48A-56C5D09BD078}">
      <dgm:prSet/>
      <dgm:spPr/>
      <dgm:t>
        <a:bodyPr/>
        <a:lstStyle/>
        <a:p>
          <a:endParaRPr lang="en-US" sz="3200"/>
        </a:p>
      </dgm:t>
    </dgm:pt>
    <dgm:pt modelId="{DF2D58BB-B07E-4427-B0B4-7328C7A546CF}" type="sibTrans" cxnId="{92B7CF88-19DA-4C68-B48A-56C5D09BD078}">
      <dgm:prSet/>
      <dgm:spPr>
        <a:ln w="3175"/>
      </dgm:spPr>
      <dgm:t>
        <a:bodyPr/>
        <a:lstStyle/>
        <a:p>
          <a:endParaRPr lang="en-US" sz="4400"/>
        </a:p>
      </dgm:t>
    </dgm:pt>
    <dgm:pt modelId="{CF291975-5B89-42C1-A954-78B0363C5805}">
      <dgm:prSet phldrT="[Text]" custT="1"/>
      <dgm:spPr>
        <a:ln w="3175"/>
      </dgm:spPr>
      <dgm:t>
        <a:bodyPr/>
        <a:lstStyle/>
        <a:p>
          <a:r>
            <a:rPr lang="en-US" sz="1200" dirty="0"/>
            <a:t>02</a:t>
          </a:r>
        </a:p>
      </dgm:t>
    </dgm:pt>
    <dgm:pt modelId="{F3DC7968-B68E-4A83-B115-D21E76300FFF}" type="parTrans" cxnId="{29A30ADC-A6BC-435E-945B-0D4B92AD8430}">
      <dgm:prSet/>
      <dgm:spPr/>
      <dgm:t>
        <a:bodyPr/>
        <a:lstStyle/>
        <a:p>
          <a:endParaRPr lang="en-US" sz="3200"/>
        </a:p>
      </dgm:t>
    </dgm:pt>
    <dgm:pt modelId="{BB5988A9-792F-4F35-BF7A-F0D97FB3530B}" type="sibTrans" cxnId="{29A30ADC-A6BC-435E-945B-0D4B92AD8430}">
      <dgm:prSet/>
      <dgm:spPr>
        <a:ln w="3175"/>
      </dgm:spPr>
      <dgm:t>
        <a:bodyPr/>
        <a:lstStyle/>
        <a:p>
          <a:endParaRPr lang="en-US" sz="4400"/>
        </a:p>
      </dgm:t>
    </dgm:pt>
    <dgm:pt modelId="{0F1EED64-1422-4916-86A1-6EC539D1088A}">
      <dgm:prSet phldrT="[Text]" custT="1"/>
      <dgm:spPr>
        <a:ln w="3175"/>
      </dgm:spPr>
      <dgm:t>
        <a:bodyPr/>
        <a:lstStyle/>
        <a:p>
          <a:r>
            <a:rPr lang="en-US" sz="1200" dirty="0"/>
            <a:t>03</a:t>
          </a:r>
        </a:p>
      </dgm:t>
    </dgm:pt>
    <dgm:pt modelId="{A31802B4-E52B-4F45-9C81-62E72A979B4E}" type="parTrans" cxnId="{F506E86B-8150-47A3-B191-82DF382E8CD4}">
      <dgm:prSet/>
      <dgm:spPr/>
      <dgm:t>
        <a:bodyPr/>
        <a:lstStyle/>
        <a:p>
          <a:endParaRPr lang="en-US" sz="3200"/>
        </a:p>
      </dgm:t>
    </dgm:pt>
    <dgm:pt modelId="{C682A7C4-7A1C-44E3-9B83-DF842E56DA03}" type="sibTrans" cxnId="{F506E86B-8150-47A3-B191-82DF382E8CD4}">
      <dgm:prSet/>
      <dgm:spPr>
        <a:ln w="3175"/>
      </dgm:spPr>
      <dgm:t>
        <a:bodyPr/>
        <a:lstStyle/>
        <a:p>
          <a:endParaRPr lang="en-US" sz="4400"/>
        </a:p>
      </dgm:t>
    </dgm:pt>
    <dgm:pt modelId="{EA111F39-A024-4AB2-977C-8988D99FEE4B}">
      <dgm:prSet phldrT="[Text]" custT="1">
        <dgm:style>
          <a:lnRef idx="2">
            <a:schemeClr val="accent4">
              <a:shade val="50000"/>
            </a:schemeClr>
          </a:lnRef>
          <a:fillRef idx="1">
            <a:schemeClr val="accent4"/>
          </a:fillRef>
          <a:effectRef idx="0">
            <a:schemeClr val="accent4"/>
          </a:effectRef>
          <a:fontRef idx="minor">
            <a:schemeClr val="lt1"/>
          </a:fontRef>
        </dgm:style>
      </dgm:prSet>
      <dgm:spPr>
        <a:solidFill>
          <a:srgbClr val="1D3064"/>
        </a:solidFill>
        <a:ln>
          <a:noFill/>
        </a:ln>
      </dgm:spPr>
      <dgm:t>
        <a:bodyPr/>
        <a:lstStyle/>
        <a:p>
          <a:r>
            <a:rPr lang="en-US" sz="1200" b="1" dirty="0">
              <a:solidFill>
                <a:schemeClr val="bg1"/>
              </a:solidFill>
            </a:rPr>
            <a:t>04</a:t>
          </a:r>
        </a:p>
      </dgm:t>
    </dgm:pt>
    <dgm:pt modelId="{677D4B4F-F54C-408A-B8A9-FB080E0A8B92}" type="parTrans" cxnId="{0ED10D25-2B43-4953-84C0-C0E9E9235DCD}">
      <dgm:prSet/>
      <dgm:spPr/>
      <dgm:t>
        <a:bodyPr/>
        <a:lstStyle/>
        <a:p>
          <a:endParaRPr lang="en-US" sz="3200"/>
        </a:p>
      </dgm:t>
    </dgm:pt>
    <dgm:pt modelId="{AA774F68-286C-419B-8B7D-02F83155FDF4}" type="sibTrans" cxnId="{0ED10D25-2B43-4953-84C0-C0E9E9235DCD}">
      <dgm:prSet/>
      <dgm:spPr>
        <a:ln w="3175"/>
      </dgm:spPr>
      <dgm:t>
        <a:bodyPr/>
        <a:lstStyle/>
        <a:p>
          <a:endParaRPr lang="en-US" sz="4400"/>
        </a:p>
      </dgm:t>
    </dgm:pt>
    <dgm:pt modelId="{B84CDA86-2342-4CD5-A2D0-3EE2D6B77400}">
      <dgm:prSet phldrT="[Text]" custT="1"/>
      <dgm:spPr>
        <a:ln w="3175"/>
      </dgm:spPr>
      <dgm:t>
        <a:bodyPr/>
        <a:lstStyle/>
        <a:p>
          <a:r>
            <a:rPr lang="en-US" sz="1200" dirty="0"/>
            <a:t>05</a:t>
          </a:r>
        </a:p>
      </dgm:t>
    </dgm:pt>
    <dgm:pt modelId="{6D543B5E-EEF0-418E-B140-9726487CF57E}" type="parTrans" cxnId="{A8717369-5DD7-4FC7-8DA8-D37B79527841}">
      <dgm:prSet/>
      <dgm:spPr/>
      <dgm:t>
        <a:bodyPr/>
        <a:lstStyle/>
        <a:p>
          <a:endParaRPr lang="en-US" sz="3200"/>
        </a:p>
      </dgm:t>
    </dgm:pt>
    <dgm:pt modelId="{29F8A4A0-082D-4991-B443-0A8AFA42422B}" type="sibTrans" cxnId="{A8717369-5DD7-4FC7-8DA8-D37B79527841}">
      <dgm:prSet/>
      <dgm:spPr>
        <a:ln w="3175"/>
      </dgm:spPr>
      <dgm:t>
        <a:bodyPr/>
        <a:lstStyle/>
        <a:p>
          <a:endParaRPr lang="en-US" sz="4400"/>
        </a:p>
      </dgm:t>
    </dgm:pt>
    <dgm:pt modelId="{5625A0BA-3784-45B6-97EC-2096A47B399F}">
      <dgm:prSet phldrT="[Text]" custT="1"/>
      <dgm:spPr>
        <a:ln w="3175"/>
      </dgm:spPr>
      <dgm:t>
        <a:bodyPr/>
        <a:lstStyle/>
        <a:p>
          <a:r>
            <a:rPr lang="en-US" sz="1200" dirty="0"/>
            <a:t>06</a:t>
          </a:r>
        </a:p>
      </dgm:t>
    </dgm:pt>
    <dgm:pt modelId="{51144210-2446-443F-A25F-970665996710}" type="parTrans" cxnId="{9546C045-C4C2-4C71-84A9-8821CE74D4A7}">
      <dgm:prSet/>
      <dgm:spPr/>
      <dgm:t>
        <a:bodyPr/>
        <a:lstStyle/>
        <a:p>
          <a:endParaRPr lang="en-US" sz="3200"/>
        </a:p>
      </dgm:t>
    </dgm:pt>
    <dgm:pt modelId="{A6D5980C-35E2-4AB0-8246-6AAB28C06B23}" type="sibTrans" cxnId="{9546C045-C4C2-4C71-84A9-8821CE74D4A7}">
      <dgm:prSet/>
      <dgm:spPr>
        <a:ln w="3175"/>
      </dgm:spPr>
      <dgm:t>
        <a:bodyPr/>
        <a:lstStyle/>
        <a:p>
          <a:endParaRPr lang="en-US" sz="4400"/>
        </a:p>
      </dgm:t>
    </dgm:pt>
    <dgm:pt modelId="{B2DF35EF-9BDC-40A7-BFCA-A1A3E1293144}">
      <dgm:prSet phldrT="[Text]" custT="1"/>
      <dgm:spPr>
        <a:solidFill>
          <a:srgbClr val="1D3064"/>
        </a:solidFill>
        <a:ln w="3175">
          <a:noFill/>
        </a:ln>
      </dgm:spPr>
      <dgm:t>
        <a:bodyPr/>
        <a:lstStyle/>
        <a:p>
          <a:r>
            <a:rPr lang="en-US" sz="1200" dirty="0">
              <a:solidFill>
                <a:schemeClr val="bg1"/>
              </a:solidFill>
            </a:rPr>
            <a:t>07</a:t>
          </a:r>
        </a:p>
      </dgm:t>
    </dgm:pt>
    <dgm:pt modelId="{2769CC40-045F-4640-A563-15B6F6571048}" type="parTrans" cxnId="{C53B7F7A-3F7C-4500-9CAA-E1066ACD9201}">
      <dgm:prSet/>
      <dgm:spPr/>
      <dgm:t>
        <a:bodyPr/>
        <a:lstStyle/>
        <a:p>
          <a:endParaRPr lang="en-US" sz="3200"/>
        </a:p>
      </dgm:t>
    </dgm:pt>
    <dgm:pt modelId="{3515389E-A2D9-4A91-A416-D06FB2BCF4D7}" type="sibTrans" cxnId="{C53B7F7A-3F7C-4500-9CAA-E1066ACD9201}">
      <dgm:prSet/>
      <dgm:spPr>
        <a:ln w="3175"/>
      </dgm:spPr>
      <dgm:t>
        <a:bodyPr/>
        <a:lstStyle/>
        <a:p>
          <a:endParaRPr lang="en-US" sz="4400"/>
        </a:p>
      </dgm:t>
    </dgm:pt>
    <dgm:pt modelId="{868767A5-C3E4-4645-9C8D-69D5627043D3}">
      <dgm:prSet phldrT="[Text]" custT="1"/>
      <dgm:spPr>
        <a:ln w="3175"/>
      </dgm:spPr>
      <dgm:t>
        <a:bodyPr/>
        <a:lstStyle/>
        <a:p>
          <a:r>
            <a:rPr lang="en-US" sz="1200" dirty="0"/>
            <a:t>08</a:t>
          </a:r>
        </a:p>
      </dgm:t>
    </dgm:pt>
    <dgm:pt modelId="{09A882C0-93B2-4C56-BE95-EDAAA5B0FF47}" type="parTrans" cxnId="{D30E7CF0-5B4B-40D3-96D0-383F887793FD}">
      <dgm:prSet/>
      <dgm:spPr/>
      <dgm:t>
        <a:bodyPr/>
        <a:lstStyle/>
        <a:p>
          <a:endParaRPr lang="en-US" sz="3200"/>
        </a:p>
      </dgm:t>
    </dgm:pt>
    <dgm:pt modelId="{BE0F9672-9967-4BB3-945A-82902934D4C9}" type="sibTrans" cxnId="{D30E7CF0-5B4B-40D3-96D0-383F887793FD}">
      <dgm:prSet/>
      <dgm:spPr>
        <a:ln w="3175"/>
      </dgm:spPr>
      <dgm:t>
        <a:bodyPr/>
        <a:lstStyle/>
        <a:p>
          <a:endParaRPr lang="en-US" sz="4400"/>
        </a:p>
      </dgm:t>
    </dgm:pt>
    <dgm:pt modelId="{9281F980-DBAB-4458-BA3E-080893361045}">
      <dgm:prSet phldrT="[Text]" custT="1">
        <dgm:style>
          <a:lnRef idx="2">
            <a:schemeClr val="accent4">
              <a:shade val="50000"/>
            </a:schemeClr>
          </a:lnRef>
          <a:fillRef idx="1">
            <a:schemeClr val="accent4"/>
          </a:fillRef>
          <a:effectRef idx="0">
            <a:schemeClr val="accent4"/>
          </a:effectRef>
          <a:fontRef idx="minor">
            <a:schemeClr val="lt1"/>
          </a:fontRef>
        </dgm:style>
      </dgm:prSet>
      <dgm:spPr>
        <a:noFill/>
        <a:ln>
          <a:solidFill>
            <a:schemeClr val="tx1"/>
          </a:solidFill>
        </a:ln>
      </dgm:spPr>
      <dgm:t>
        <a:bodyPr/>
        <a:lstStyle/>
        <a:p>
          <a:r>
            <a:rPr lang="en-US" sz="1200" b="1" dirty="0">
              <a:solidFill>
                <a:schemeClr val="tx1"/>
              </a:solidFill>
            </a:rPr>
            <a:t>09</a:t>
          </a:r>
        </a:p>
      </dgm:t>
    </dgm:pt>
    <dgm:pt modelId="{FC98046A-08E0-48A4-B812-F4BADECAFB37}" type="parTrans" cxnId="{1F774BA2-9135-42D7-A6A7-1C39E6459835}">
      <dgm:prSet/>
      <dgm:spPr/>
      <dgm:t>
        <a:bodyPr/>
        <a:lstStyle/>
        <a:p>
          <a:endParaRPr lang="en-US" sz="3200"/>
        </a:p>
      </dgm:t>
    </dgm:pt>
    <dgm:pt modelId="{EE9F8E24-F686-4CD7-B40D-889B181D327C}" type="sibTrans" cxnId="{1F774BA2-9135-42D7-A6A7-1C39E6459835}">
      <dgm:prSet/>
      <dgm:spPr>
        <a:ln w="3175"/>
      </dgm:spPr>
      <dgm:t>
        <a:bodyPr/>
        <a:lstStyle/>
        <a:p>
          <a:endParaRPr lang="en-US" sz="4400"/>
        </a:p>
      </dgm:t>
    </dgm:pt>
    <dgm:pt modelId="{A895021A-1FC9-40D9-9A23-C05D673066F3}">
      <dgm:prSet phldrT="[Text]" custT="1"/>
      <dgm:spPr>
        <a:ln w="3175"/>
      </dgm:spPr>
      <dgm:t>
        <a:bodyPr/>
        <a:lstStyle/>
        <a:p>
          <a:r>
            <a:rPr lang="en-US" sz="1200" dirty="0"/>
            <a:t>10</a:t>
          </a:r>
        </a:p>
      </dgm:t>
    </dgm:pt>
    <dgm:pt modelId="{ED7432BF-B985-48B1-B8F2-801A42157DE6}" type="parTrans" cxnId="{3D4E97EA-89D6-4F69-8109-635B0AF236FD}">
      <dgm:prSet/>
      <dgm:spPr/>
      <dgm:t>
        <a:bodyPr/>
        <a:lstStyle/>
        <a:p>
          <a:endParaRPr lang="en-US" sz="3200"/>
        </a:p>
      </dgm:t>
    </dgm:pt>
    <dgm:pt modelId="{C63CE439-C9A4-437A-AA24-C2B1C4D3EC13}" type="sibTrans" cxnId="{3D4E97EA-89D6-4F69-8109-635B0AF236FD}">
      <dgm:prSet/>
      <dgm:spPr>
        <a:ln w="3175"/>
      </dgm:spPr>
      <dgm:t>
        <a:bodyPr/>
        <a:lstStyle/>
        <a:p>
          <a:endParaRPr lang="en-US" sz="4400"/>
        </a:p>
      </dgm:t>
    </dgm:pt>
    <dgm:pt modelId="{EE1F149E-F983-420A-AE26-0CA291A969CC}">
      <dgm:prSet phldrT="[Text]" custT="1">
        <dgm:style>
          <a:lnRef idx="2">
            <a:schemeClr val="accent4">
              <a:shade val="50000"/>
            </a:schemeClr>
          </a:lnRef>
          <a:fillRef idx="1">
            <a:schemeClr val="accent4"/>
          </a:fillRef>
          <a:effectRef idx="0">
            <a:schemeClr val="accent4"/>
          </a:effectRef>
          <a:fontRef idx="minor">
            <a:schemeClr val="lt1"/>
          </a:fontRef>
        </dgm:style>
      </dgm:prSet>
      <dgm:spPr>
        <a:noFill/>
        <a:ln>
          <a:solidFill>
            <a:schemeClr val="tx1"/>
          </a:solidFill>
        </a:ln>
      </dgm:spPr>
      <dgm:t>
        <a:bodyPr/>
        <a:lstStyle/>
        <a:p>
          <a:r>
            <a:rPr lang="en-US" sz="1200" b="1" dirty="0">
              <a:solidFill>
                <a:schemeClr val="tx1"/>
              </a:solidFill>
            </a:rPr>
            <a:t>11</a:t>
          </a:r>
        </a:p>
      </dgm:t>
    </dgm:pt>
    <dgm:pt modelId="{9B36F709-981A-4F1F-96A6-2972426A3A63}" type="parTrans" cxnId="{C4D13FB4-0FD1-48FF-AB4B-035F479BA4E7}">
      <dgm:prSet/>
      <dgm:spPr/>
      <dgm:t>
        <a:bodyPr/>
        <a:lstStyle/>
        <a:p>
          <a:endParaRPr lang="en-US" sz="3200"/>
        </a:p>
      </dgm:t>
    </dgm:pt>
    <dgm:pt modelId="{3FDD498B-C338-4F3C-9707-6A31F5EB9217}" type="sibTrans" cxnId="{C4D13FB4-0FD1-48FF-AB4B-035F479BA4E7}">
      <dgm:prSet/>
      <dgm:spPr>
        <a:ln w="3175"/>
      </dgm:spPr>
      <dgm:t>
        <a:bodyPr/>
        <a:lstStyle/>
        <a:p>
          <a:endParaRPr lang="en-US" sz="4400"/>
        </a:p>
      </dgm:t>
    </dgm:pt>
    <dgm:pt modelId="{3EBDEC13-B94B-424C-B6D8-E23828E29484}">
      <dgm:prSet phldrT="[Text]" custT="1"/>
      <dgm:spPr>
        <a:solidFill>
          <a:srgbClr val="1D3064"/>
        </a:solidFill>
        <a:ln w="3175">
          <a:noFill/>
        </a:ln>
      </dgm:spPr>
      <dgm:t>
        <a:bodyPr/>
        <a:lstStyle/>
        <a:p>
          <a:r>
            <a:rPr lang="en-US" sz="1200" dirty="0">
              <a:solidFill>
                <a:schemeClr val="bg1"/>
              </a:solidFill>
            </a:rPr>
            <a:t>12</a:t>
          </a:r>
        </a:p>
      </dgm:t>
    </dgm:pt>
    <dgm:pt modelId="{4194DC5B-FCB2-47F2-A7AB-F8C802D2C380}" type="parTrans" cxnId="{EBC68FFD-0F35-4FBB-B798-DB0A754358E6}">
      <dgm:prSet/>
      <dgm:spPr/>
      <dgm:t>
        <a:bodyPr/>
        <a:lstStyle/>
        <a:p>
          <a:endParaRPr lang="en-US" sz="3200"/>
        </a:p>
      </dgm:t>
    </dgm:pt>
    <dgm:pt modelId="{910D43BF-2E12-4265-8F31-790375B138D8}" type="sibTrans" cxnId="{EBC68FFD-0F35-4FBB-B798-DB0A754358E6}">
      <dgm:prSet/>
      <dgm:spPr>
        <a:ln w="3175"/>
      </dgm:spPr>
      <dgm:t>
        <a:bodyPr/>
        <a:lstStyle/>
        <a:p>
          <a:endParaRPr lang="en-US" sz="4400"/>
        </a:p>
      </dgm:t>
    </dgm:pt>
    <dgm:pt modelId="{DB1B9677-421A-4935-8C22-9192CE87F0FF}">
      <dgm:prSet phldrT="[Text]" custT="1"/>
      <dgm:spPr>
        <a:ln w="3175"/>
      </dgm:spPr>
      <dgm:t>
        <a:bodyPr/>
        <a:lstStyle/>
        <a:p>
          <a:r>
            <a:rPr lang="en-US" sz="1200" dirty="0"/>
            <a:t>13</a:t>
          </a:r>
        </a:p>
      </dgm:t>
    </dgm:pt>
    <dgm:pt modelId="{C1DA78D6-0CE1-41A2-A0EE-D8D11B345670}" type="parTrans" cxnId="{1A792AAE-2086-4C09-9299-F978E6D076E1}">
      <dgm:prSet/>
      <dgm:spPr/>
      <dgm:t>
        <a:bodyPr/>
        <a:lstStyle/>
        <a:p>
          <a:endParaRPr lang="en-US" sz="3200"/>
        </a:p>
      </dgm:t>
    </dgm:pt>
    <dgm:pt modelId="{8BCD7E9B-E908-4EDF-8514-EDD1DB17AEBC}" type="sibTrans" cxnId="{1A792AAE-2086-4C09-9299-F978E6D076E1}">
      <dgm:prSet/>
      <dgm:spPr>
        <a:ln w="3175"/>
      </dgm:spPr>
      <dgm:t>
        <a:bodyPr/>
        <a:lstStyle/>
        <a:p>
          <a:endParaRPr lang="en-US" sz="4400"/>
        </a:p>
      </dgm:t>
    </dgm:pt>
    <dgm:pt modelId="{939662E8-1580-40AE-9B6C-323E8300E63E}">
      <dgm:prSet phldrT="[Text]" custT="1">
        <dgm:style>
          <a:lnRef idx="2">
            <a:schemeClr val="accent4">
              <a:shade val="50000"/>
            </a:schemeClr>
          </a:lnRef>
          <a:fillRef idx="1">
            <a:schemeClr val="accent4"/>
          </a:fillRef>
          <a:effectRef idx="0">
            <a:schemeClr val="accent4"/>
          </a:effectRef>
          <a:fontRef idx="minor">
            <a:schemeClr val="lt1"/>
          </a:fontRef>
        </dgm:style>
      </dgm:prSet>
      <dgm:spPr>
        <a:noFill/>
        <a:ln>
          <a:solidFill>
            <a:schemeClr val="tx1"/>
          </a:solidFill>
        </a:ln>
      </dgm:spPr>
      <dgm:t>
        <a:bodyPr/>
        <a:lstStyle/>
        <a:p>
          <a:r>
            <a:rPr lang="en-US" sz="1200" b="1" dirty="0">
              <a:solidFill>
                <a:schemeClr val="tx1"/>
              </a:solidFill>
            </a:rPr>
            <a:t>14</a:t>
          </a:r>
        </a:p>
      </dgm:t>
    </dgm:pt>
    <dgm:pt modelId="{A9B8F123-7BAB-41C3-840A-4F646C50888F}" type="parTrans" cxnId="{9576AAAE-58F2-424F-B8E3-B337460ABDE1}">
      <dgm:prSet/>
      <dgm:spPr/>
      <dgm:t>
        <a:bodyPr/>
        <a:lstStyle/>
        <a:p>
          <a:endParaRPr lang="en-US" sz="3200"/>
        </a:p>
      </dgm:t>
    </dgm:pt>
    <dgm:pt modelId="{122F0F2A-9D73-4F96-9BEF-3D5D0F3739CC}" type="sibTrans" cxnId="{9576AAAE-58F2-424F-B8E3-B337460ABDE1}">
      <dgm:prSet/>
      <dgm:spPr>
        <a:ln w="3175"/>
      </dgm:spPr>
      <dgm:t>
        <a:bodyPr/>
        <a:lstStyle/>
        <a:p>
          <a:endParaRPr lang="en-US" sz="4400"/>
        </a:p>
      </dgm:t>
    </dgm:pt>
    <dgm:pt modelId="{A8370C54-57BB-4D77-84F2-21B7BBCB8CD1}">
      <dgm:prSet phldrT="[Text]" custT="1"/>
      <dgm:spPr>
        <a:solidFill>
          <a:srgbClr val="1D3064"/>
        </a:solidFill>
        <a:ln w="3175">
          <a:noFill/>
        </a:ln>
      </dgm:spPr>
      <dgm:t>
        <a:bodyPr/>
        <a:lstStyle/>
        <a:p>
          <a:r>
            <a:rPr lang="en-US" sz="1200" dirty="0">
              <a:solidFill>
                <a:schemeClr val="bg1"/>
              </a:solidFill>
            </a:rPr>
            <a:t>15</a:t>
          </a:r>
        </a:p>
      </dgm:t>
    </dgm:pt>
    <dgm:pt modelId="{2A095022-B111-4BF4-8A3A-F583A99A0136}" type="parTrans" cxnId="{F90BA62E-E794-48A5-8857-5262442DCA4D}">
      <dgm:prSet/>
      <dgm:spPr/>
      <dgm:t>
        <a:bodyPr/>
        <a:lstStyle/>
        <a:p>
          <a:endParaRPr lang="en-US" sz="3200"/>
        </a:p>
      </dgm:t>
    </dgm:pt>
    <dgm:pt modelId="{3D64D77A-FD09-4D3C-876D-C0CB137E62CD}" type="sibTrans" cxnId="{F90BA62E-E794-48A5-8857-5262442DCA4D}">
      <dgm:prSet/>
      <dgm:spPr>
        <a:ln w="3175"/>
      </dgm:spPr>
      <dgm:t>
        <a:bodyPr/>
        <a:lstStyle/>
        <a:p>
          <a:endParaRPr lang="en-US" sz="4400"/>
        </a:p>
      </dgm:t>
    </dgm:pt>
    <dgm:pt modelId="{EFAE7302-6632-4D60-A96D-23F394241DE4}" type="pres">
      <dgm:prSet presAssocID="{B3F6A2BA-40B6-4187-AFF8-F8F9AF80E7F9}" presName="cycle" presStyleCnt="0">
        <dgm:presLayoutVars>
          <dgm:dir/>
          <dgm:resizeHandles val="exact"/>
        </dgm:presLayoutVars>
      </dgm:prSet>
      <dgm:spPr/>
      <dgm:t>
        <a:bodyPr/>
        <a:lstStyle/>
        <a:p>
          <a:endParaRPr lang="en-US"/>
        </a:p>
      </dgm:t>
    </dgm:pt>
    <dgm:pt modelId="{37F6FC54-D545-444E-B19E-55F8864057C9}" type="pres">
      <dgm:prSet presAssocID="{CB7A3099-1224-4ECB-902C-396EC7BA7968}" presName="node" presStyleLbl="node1" presStyleIdx="0" presStyleCnt="16" custScaleX="126252" custScaleY="110804">
        <dgm:presLayoutVars>
          <dgm:bulletEnabled val="1"/>
        </dgm:presLayoutVars>
      </dgm:prSet>
      <dgm:spPr/>
      <dgm:t>
        <a:bodyPr/>
        <a:lstStyle/>
        <a:p>
          <a:endParaRPr lang="en-US"/>
        </a:p>
      </dgm:t>
    </dgm:pt>
    <dgm:pt modelId="{F73F8756-B089-4C69-872B-9C77B1D2E9B9}" type="pres">
      <dgm:prSet presAssocID="{CB7A3099-1224-4ECB-902C-396EC7BA7968}" presName="spNode" presStyleCnt="0"/>
      <dgm:spPr/>
    </dgm:pt>
    <dgm:pt modelId="{990317AE-40E7-4E24-A709-5C1E3D7DF428}" type="pres">
      <dgm:prSet presAssocID="{50D7F308-47D9-4906-97CC-2D84909FC247}" presName="sibTrans" presStyleLbl="sibTrans1D1" presStyleIdx="0" presStyleCnt="16" custScaleX="2000000" custScaleY="2000000"/>
      <dgm:spPr/>
      <dgm:t>
        <a:bodyPr/>
        <a:lstStyle/>
        <a:p>
          <a:endParaRPr lang="en-US"/>
        </a:p>
      </dgm:t>
    </dgm:pt>
    <dgm:pt modelId="{0A74DD1F-BEEA-4E1C-A32C-B77C043FA489}" type="pres">
      <dgm:prSet presAssocID="{05255914-D32A-40B4-8C21-212024189328}" presName="node" presStyleLbl="node1" presStyleIdx="1" presStyleCnt="16" custScaleX="126252" custScaleY="110804">
        <dgm:presLayoutVars>
          <dgm:bulletEnabled val="1"/>
        </dgm:presLayoutVars>
      </dgm:prSet>
      <dgm:spPr/>
      <dgm:t>
        <a:bodyPr/>
        <a:lstStyle/>
        <a:p>
          <a:endParaRPr lang="en-US"/>
        </a:p>
      </dgm:t>
    </dgm:pt>
    <dgm:pt modelId="{33AA3025-9FF4-4436-AD56-351C2AA3B91C}" type="pres">
      <dgm:prSet presAssocID="{05255914-D32A-40B4-8C21-212024189328}" presName="spNode" presStyleCnt="0"/>
      <dgm:spPr/>
    </dgm:pt>
    <dgm:pt modelId="{53232857-986B-4378-8600-83D67A96D1FC}" type="pres">
      <dgm:prSet presAssocID="{DF2D58BB-B07E-4427-B0B4-7328C7A546CF}" presName="sibTrans" presStyleLbl="sibTrans1D1" presStyleIdx="1" presStyleCnt="16" custScaleX="2000000" custScaleY="2000000"/>
      <dgm:spPr/>
      <dgm:t>
        <a:bodyPr/>
        <a:lstStyle/>
        <a:p>
          <a:endParaRPr lang="en-US"/>
        </a:p>
      </dgm:t>
    </dgm:pt>
    <dgm:pt modelId="{B79BDE4E-122F-4949-877A-51460124312E}" type="pres">
      <dgm:prSet presAssocID="{CF291975-5B89-42C1-A954-78B0363C5805}" presName="node" presStyleLbl="node1" presStyleIdx="2" presStyleCnt="16" custScaleX="126252" custScaleY="110804">
        <dgm:presLayoutVars>
          <dgm:bulletEnabled val="1"/>
        </dgm:presLayoutVars>
      </dgm:prSet>
      <dgm:spPr/>
      <dgm:t>
        <a:bodyPr/>
        <a:lstStyle/>
        <a:p>
          <a:endParaRPr lang="en-US"/>
        </a:p>
      </dgm:t>
    </dgm:pt>
    <dgm:pt modelId="{E5A97052-E50B-4364-B8F3-C5BB55C62E43}" type="pres">
      <dgm:prSet presAssocID="{CF291975-5B89-42C1-A954-78B0363C5805}" presName="spNode" presStyleCnt="0"/>
      <dgm:spPr/>
    </dgm:pt>
    <dgm:pt modelId="{C1FBA839-DD16-4EA3-AA23-4F09E108C25C}" type="pres">
      <dgm:prSet presAssocID="{BB5988A9-792F-4F35-BF7A-F0D97FB3530B}" presName="sibTrans" presStyleLbl="sibTrans1D1" presStyleIdx="2" presStyleCnt="16" custScaleX="2000000" custScaleY="2000000"/>
      <dgm:spPr/>
      <dgm:t>
        <a:bodyPr/>
        <a:lstStyle/>
        <a:p>
          <a:endParaRPr lang="en-US"/>
        </a:p>
      </dgm:t>
    </dgm:pt>
    <dgm:pt modelId="{47D8252C-7210-4124-986D-C5A27EC7BB38}" type="pres">
      <dgm:prSet presAssocID="{0F1EED64-1422-4916-86A1-6EC539D1088A}" presName="node" presStyleLbl="node1" presStyleIdx="3" presStyleCnt="16" custScaleX="126252" custScaleY="110804">
        <dgm:presLayoutVars>
          <dgm:bulletEnabled val="1"/>
        </dgm:presLayoutVars>
      </dgm:prSet>
      <dgm:spPr/>
      <dgm:t>
        <a:bodyPr/>
        <a:lstStyle/>
        <a:p>
          <a:endParaRPr lang="en-US"/>
        </a:p>
      </dgm:t>
    </dgm:pt>
    <dgm:pt modelId="{49128025-155A-4115-B8B9-1A751CA1730C}" type="pres">
      <dgm:prSet presAssocID="{0F1EED64-1422-4916-86A1-6EC539D1088A}" presName="spNode" presStyleCnt="0"/>
      <dgm:spPr/>
    </dgm:pt>
    <dgm:pt modelId="{9A5BE75C-4E4D-435D-8920-9E32832F465D}" type="pres">
      <dgm:prSet presAssocID="{C682A7C4-7A1C-44E3-9B83-DF842E56DA03}" presName="sibTrans" presStyleLbl="sibTrans1D1" presStyleIdx="3" presStyleCnt="16" custScaleX="2000000" custScaleY="2000000"/>
      <dgm:spPr/>
      <dgm:t>
        <a:bodyPr/>
        <a:lstStyle/>
        <a:p>
          <a:endParaRPr lang="en-US"/>
        </a:p>
      </dgm:t>
    </dgm:pt>
    <dgm:pt modelId="{E213AD56-109D-4571-A0B0-1181C7025370}" type="pres">
      <dgm:prSet presAssocID="{EA111F39-A024-4AB2-977C-8988D99FEE4B}" presName="node" presStyleLbl="node1" presStyleIdx="4" presStyleCnt="16" custScaleX="126252" custScaleY="110804">
        <dgm:presLayoutVars>
          <dgm:bulletEnabled val="1"/>
        </dgm:presLayoutVars>
      </dgm:prSet>
      <dgm:spPr/>
      <dgm:t>
        <a:bodyPr/>
        <a:lstStyle/>
        <a:p>
          <a:endParaRPr lang="en-US"/>
        </a:p>
      </dgm:t>
    </dgm:pt>
    <dgm:pt modelId="{41190AB1-8428-4DEE-ADF0-BAC788A0917C}" type="pres">
      <dgm:prSet presAssocID="{EA111F39-A024-4AB2-977C-8988D99FEE4B}" presName="spNode" presStyleCnt="0"/>
      <dgm:spPr/>
    </dgm:pt>
    <dgm:pt modelId="{3E6F2280-A61F-493F-991B-F51BCDF11010}" type="pres">
      <dgm:prSet presAssocID="{AA774F68-286C-419B-8B7D-02F83155FDF4}" presName="sibTrans" presStyleLbl="sibTrans1D1" presStyleIdx="4" presStyleCnt="16" custScaleX="2000000" custScaleY="2000000"/>
      <dgm:spPr/>
      <dgm:t>
        <a:bodyPr/>
        <a:lstStyle/>
        <a:p>
          <a:endParaRPr lang="en-US"/>
        </a:p>
      </dgm:t>
    </dgm:pt>
    <dgm:pt modelId="{D0E1629B-81D1-410E-AE41-A68200AAD38A}" type="pres">
      <dgm:prSet presAssocID="{B84CDA86-2342-4CD5-A2D0-3EE2D6B77400}" presName="node" presStyleLbl="node1" presStyleIdx="5" presStyleCnt="16" custScaleX="126252" custScaleY="110804">
        <dgm:presLayoutVars>
          <dgm:bulletEnabled val="1"/>
        </dgm:presLayoutVars>
      </dgm:prSet>
      <dgm:spPr/>
      <dgm:t>
        <a:bodyPr/>
        <a:lstStyle/>
        <a:p>
          <a:endParaRPr lang="en-US"/>
        </a:p>
      </dgm:t>
    </dgm:pt>
    <dgm:pt modelId="{98736DC7-D98D-4E78-942E-3E553CB51665}" type="pres">
      <dgm:prSet presAssocID="{B84CDA86-2342-4CD5-A2D0-3EE2D6B77400}" presName="spNode" presStyleCnt="0"/>
      <dgm:spPr/>
    </dgm:pt>
    <dgm:pt modelId="{896B2AF0-997F-4A3D-95E9-687AEE393215}" type="pres">
      <dgm:prSet presAssocID="{29F8A4A0-082D-4991-B443-0A8AFA42422B}" presName="sibTrans" presStyleLbl="sibTrans1D1" presStyleIdx="5" presStyleCnt="16" custScaleX="2000000" custScaleY="2000000"/>
      <dgm:spPr/>
      <dgm:t>
        <a:bodyPr/>
        <a:lstStyle/>
        <a:p>
          <a:endParaRPr lang="en-US"/>
        </a:p>
      </dgm:t>
    </dgm:pt>
    <dgm:pt modelId="{BC51FB21-3AAD-464F-AB4E-68130F6D9956}" type="pres">
      <dgm:prSet presAssocID="{5625A0BA-3784-45B6-97EC-2096A47B399F}" presName="node" presStyleLbl="node1" presStyleIdx="6" presStyleCnt="16" custScaleX="126252" custScaleY="110804">
        <dgm:presLayoutVars>
          <dgm:bulletEnabled val="1"/>
        </dgm:presLayoutVars>
      </dgm:prSet>
      <dgm:spPr/>
      <dgm:t>
        <a:bodyPr/>
        <a:lstStyle/>
        <a:p>
          <a:endParaRPr lang="en-US"/>
        </a:p>
      </dgm:t>
    </dgm:pt>
    <dgm:pt modelId="{678D2501-9B9B-4053-8341-251711D30C2F}" type="pres">
      <dgm:prSet presAssocID="{5625A0BA-3784-45B6-97EC-2096A47B399F}" presName="spNode" presStyleCnt="0"/>
      <dgm:spPr/>
    </dgm:pt>
    <dgm:pt modelId="{36A25B59-0286-4766-AF4A-4AD99255FB9A}" type="pres">
      <dgm:prSet presAssocID="{A6D5980C-35E2-4AB0-8246-6AAB28C06B23}" presName="sibTrans" presStyleLbl="sibTrans1D1" presStyleIdx="6" presStyleCnt="16" custScaleX="2000000" custScaleY="2000000"/>
      <dgm:spPr/>
      <dgm:t>
        <a:bodyPr/>
        <a:lstStyle/>
        <a:p>
          <a:endParaRPr lang="en-US"/>
        </a:p>
      </dgm:t>
    </dgm:pt>
    <dgm:pt modelId="{4EBAFEA8-38A7-4839-A196-E833865FEC3E}" type="pres">
      <dgm:prSet presAssocID="{B2DF35EF-9BDC-40A7-BFCA-A1A3E1293144}" presName="node" presStyleLbl="node1" presStyleIdx="7" presStyleCnt="16" custScaleX="126252" custScaleY="110804">
        <dgm:presLayoutVars>
          <dgm:bulletEnabled val="1"/>
        </dgm:presLayoutVars>
      </dgm:prSet>
      <dgm:spPr/>
      <dgm:t>
        <a:bodyPr/>
        <a:lstStyle/>
        <a:p>
          <a:endParaRPr lang="en-US"/>
        </a:p>
      </dgm:t>
    </dgm:pt>
    <dgm:pt modelId="{C248C08C-3758-4EEE-8D81-59D26C39B226}" type="pres">
      <dgm:prSet presAssocID="{B2DF35EF-9BDC-40A7-BFCA-A1A3E1293144}" presName="spNode" presStyleCnt="0"/>
      <dgm:spPr/>
    </dgm:pt>
    <dgm:pt modelId="{A95F9BD2-8E6C-4D20-A2D9-24C989631FAC}" type="pres">
      <dgm:prSet presAssocID="{3515389E-A2D9-4A91-A416-D06FB2BCF4D7}" presName="sibTrans" presStyleLbl="sibTrans1D1" presStyleIdx="7" presStyleCnt="16" custScaleX="2000000" custScaleY="2000000"/>
      <dgm:spPr/>
      <dgm:t>
        <a:bodyPr/>
        <a:lstStyle/>
        <a:p>
          <a:endParaRPr lang="en-US"/>
        </a:p>
      </dgm:t>
    </dgm:pt>
    <dgm:pt modelId="{FCDBC8B2-A072-489D-B135-4F76C90ABB73}" type="pres">
      <dgm:prSet presAssocID="{868767A5-C3E4-4645-9C8D-69D5627043D3}" presName="node" presStyleLbl="node1" presStyleIdx="8" presStyleCnt="16" custScaleX="126252" custScaleY="110804">
        <dgm:presLayoutVars>
          <dgm:bulletEnabled val="1"/>
        </dgm:presLayoutVars>
      </dgm:prSet>
      <dgm:spPr/>
      <dgm:t>
        <a:bodyPr/>
        <a:lstStyle/>
        <a:p>
          <a:endParaRPr lang="en-US"/>
        </a:p>
      </dgm:t>
    </dgm:pt>
    <dgm:pt modelId="{1A502533-D656-4694-9BDA-B75F503AD108}" type="pres">
      <dgm:prSet presAssocID="{868767A5-C3E4-4645-9C8D-69D5627043D3}" presName="spNode" presStyleCnt="0"/>
      <dgm:spPr/>
    </dgm:pt>
    <dgm:pt modelId="{BBF115A0-E49F-481D-B9B9-7781A7700C68}" type="pres">
      <dgm:prSet presAssocID="{BE0F9672-9967-4BB3-945A-82902934D4C9}" presName="sibTrans" presStyleLbl="sibTrans1D1" presStyleIdx="8" presStyleCnt="16" custScaleX="2000000" custScaleY="2000000"/>
      <dgm:spPr/>
      <dgm:t>
        <a:bodyPr/>
        <a:lstStyle/>
        <a:p>
          <a:endParaRPr lang="en-US"/>
        </a:p>
      </dgm:t>
    </dgm:pt>
    <dgm:pt modelId="{27377A35-5C63-4153-A1CA-D07A81FEBED6}" type="pres">
      <dgm:prSet presAssocID="{9281F980-DBAB-4458-BA3E-080893361045}" presName="node" presStyleLbl="node1" presStyleIdx="9" presStyleCnt="16" custScaleX="126252" custScaleY="110804">
        <dgm:presLayoutVars>
          <dgm:bulletEnabled val="1"/>
        </dgm:presLayoutVars>
      </dgm:prSet>
      <dgm:spPr/>
      <dgm:t>
        <a:bodyPr/>
        <a:lstStyle/>
        <a:p>
          <a:endParaRPr lang="en-US"/>
        </a:p>
      </dgm:t>
    </dgm:pt>
    <dgm:pt modelId="{166E8CAE-7A6A-441E-B81D-F2A6930AEB34}" type="pres">
      <dgm:prSet presAssocID="{9281F980-DBAB-4458-BA3E-080893361045}" presName="spNode" presStyleCnt="0"/>
      <dgm:spPr/>
    </dgm:pt>
    <dgm:pt modelId="{C75F3799-6FE1-44D4-94E5-D0323DD9642D}" type="pres">
      <dgm:prSet presAssocID="{EE9F8E24-F686-4CD7-B40D-889B181D327C}" presName="sibTrans" presStyleLbl="sibTrans1D1" presStyleIdx="9" presStyleCnt="16" custScaleX="2000000" custScaleY="2000000"/>
      <dgm:spPr/>
      <dgm:t>
        <a:bodyPr/>
        <a:lstStyle/>
        <a:p>
          <a:endParaRPr lang="en-US"/>
        </a:p>
      </dgm:t>
    </dgm:pt>
    <dgm:pt modelId="{ACA3DEE4-4C37-414B-A20E-469C72FF631D}" type="pres">
      <dgm:prSet presAssocID="{A895021A-1FC9-40D9-9A23-C05D673066F3}" presName="node" presStyleLbl="node1" presStyleIdx="10" presStyleCnt="16" custScaleX="126252" custScaleY="110804">
        <dgm:presLayoutVars>
          <dgm:bulletEnabled val="1"/>
        </dgm:presLayoutVars>
      </dgm:prSet>
      <dgm:spPr/>
      <dgm:t>
        <a:bodyPr/>
        <a:lstStyle/>
        <a:p>
          <a:endParaRPr lang="en-US"/>
        </a:p>
      </dgm:t>
    </dgm:pt>
    <dgm:pt modelId="{5E377587-15D8-428C-8F90-BB7C49868333}" type="pres">
      <dgm:prSet presAssocID="{A895021A-1FC9-40D9-9A23-C05D673066F3}" presName="spNode" presStyleCnt="0"/>
      <dgm:spPr/>
    </dgm:pt>
    <dgm:pt modelId="{39826E2A-859D-4D09-B02A-05287C251E70}" type="pres">
      <dgm:prSet presAssocID="{C63CE439-C9A4-437A-AA24-C2B1C4D3EC13}" presName="sibTrans" presStyleLbl="sibTrans1D1" presStyleIdx="10" presStyleCnt="16" custScaleX="2000000" custScaleY="2000000"/>
      <dgm:spPr/>
      <dgm:t>
        <a:bodyPr/>
        <a:lstStyle/>
        <a:p>
          <a:endParaRPr lang="en-US"/>
        </a:p>
      </dgm:t>
    </dgm:pt>
    <dgm:pt modelId="{508270A1-9056-4B9A-B0BC-2D3B1299FC58}" type="pres">
      <dgm:prSet presAssocID="{EE1F149E-F983-420A-AE26-0CA291A969CC}" presName="node" presStyleLbl="node1" presStyleIdx="11" presStyleCnt="16" custScaleX="126252" custScaleY="110804">
        <dgm:presLayoutVars>
          <dgm:bulletEnabled val="1"/>
        </dgm:presLayoutVars>
      </dgm:prSet>
      <dgm:spPr/>
      <dgm:t>
        <a:bodyPr/>
        <a:lstStyle/>
        <a:p>
          <a:endParaRPr lang="en-US"/>
        </a:p>
      </dgm:t>
    </dgm:pt>
    <dgm:pt modelId="{32B48CEE-BE6C-4B73-AA70-08340D7306CA}" type="pres">
      <dgm:prSet presAssocID="{EE1F149E-F983-420A-AE26-0CA291A969CC}" presName="spNode" presStyleCnt="0"/>
      <dgm:spPr/>
    </dgm:pt>
    <dgm:pt modelId="{0186EB4D-19E9-40A6-9853-FE75E1F1C601}" type="pres">
      <dgm:prSet presAssocID="{3FDD498B-C338-4F3C-9707-6A31F5EB9217}" presName="sibTrans" presStyleLbl="sibTrans1D1" presStyleIdx="11" presStyleCnt="16" custScaleX="2000000" custScaleY="2000000"/>
      <dgm:spPr/>
      <dgm:t>
        <a:bodyPr/>
        <a:lstStyle/>
        <a:p>
          <a:endParaRPr lang="en-US"/>
        </a:p>
      </dgm:t>
    </dgm:pt>
    <dgm:pt modelId="{E6415271-4602-49BD-8F77-B2554532B0A0}" type="pres">
      <dgm:prSet presAssocID="{3EBDEC13-B94B-424C-B6D8-E23828E29484}" presName="node" presStyleLbl="node1" presStyleIdx="12" presStyleCnt="16" custScaleX="126252" custScaleY="110804">
        <dgm:presLayoutVars>
          <dgm:bulletEnabled val="1"/>
        </dgm:presLayoutVars>
      </dgm:prSet>
      <dgm:spPr/>
      <dgm:t>
        <a:bodyPr/>
        <a:lstStyle/>
        <a:p>
          <a:endParaRPr lang="en-US"/>
        </a:p>
      </dgm:t>
    </dgm:pt>
    <dgm:pt modelId="{18476B6F-E555-4078-9F4F-FED8900C0811}" type="pres">
      <dgm:prSet presAssocID="{3EBDEC13-B94B-424C-B6D8-E23828E29484}" presName="spNode" presStyleCnt="0"/>
      <dgm:spPr/>
    </dgm:pt>
    <dgm:pt modelId="{0CA37BE1-2CF9-468E-BFF7-47A995E3BB08}" type="pres">
      <dgm:prSet presAssocID="{910D43BF-2E12-4265-8F31-790375B138D8}" presName="sibTrans" presStyleLbl="sibTrans1D1" presStyleIdx="12" presStyleCnt="16" custScaleX="2000000" custScaleY="2000000"/>
      <dgm:spPr/>
      <dgm:t>
        <a:bodyPr/>
        <a:lstStyle/>
        <a:p>
          <a:endParaRPr lang="en-US"/>
        </a:p>
      </dgm:t>
    </dgm:pt>
    <dgm:pt modelId="{C10433AE-724D-434E-B55F-F8FBA5E6691B}" type="pres">
      <dgm:prSet presAssocID="{DB1B9677-421A-4935-8C22-9192CE87F0FF}" presName="node" presStyleLbl="node1" presStyleIdx="13" presStyleCnt="16" custScaleX="126252" custScaleY="110804">
        <dgm:presLayoutVars>
          <dgm:bulletEnabled val="1"/>
        </dgm:presLayoutVars>
      </dgm:prSet>
      <dgm:spPr/>
      <dgm:t>
        <a:bodyPr/>
        <a:lstStyle/>
        <a:p>
          <a:endParaRPr lang="en-US"/>
        </a:p>
      </dgm:t>
    </dgm:pt>
    <dgm:pt modelId="{1BF69A71-2EE3-482B-A6FD-09CDD6717BD2}" type="pres">
      <dgm:prSet presAssocID="{DB1B9677-421A-4935-8C22-9192CE87F0FF}" presName="spNode" presStyleCnt="0"/>
      <dgm:spPr/>
    </dgm:pt>
    <dgm:pt modelId="{6361BE26-1613-4254-AAB5-23BC794B38F0}" type="pres">
      <dgm:prSet presAssocID="{8BCD7E9B-E908-4EDF-8514-EDD1DB17AEBC}" presName="sibTrans" presStyleLbl="sibTrans1D1" presStyleIdx="13" presStyleCnt="16" custScaleX="2000000" custScaleY="2000000"/>
      <dgm:spPr/>
      <dgm:t>
        <a:bodyPr/>
        <a:lstStyle/>
        <a:p>
          <a:endParaRPr lang="en-US"/>
        </a:p>
      </dgm:t>
    </dgm:pt>
    <dgm:pt modelId="{75C04093-B402-44E4-A02F-D9D20B3CFE9D}" type="pres">
      <dgm:prSet presAssocID="{939662E8-1580-40AE-9B6C-323E8300E63E}" presName="node" presStyleLbl="node1" presStyleIdx="14" presStyleCnt="16" custScaleX="126252" custScaleY="110804">
        <dgm:presLayoutVars>
          <dgm:bulletEnabled val="1"/>
        </dgm:presLayoutVars>
      </dgm:prSet>
      <dgm:spPr/>
      <dgm:t>
        <a:bodyPr/>
        <a:lstStyle/>
        <a:p>
          <a:endParaRPr lang="en-US"/>
        </a:p>
      </dgm:t>
    </dgm:pt>
    <dgm:pt modelId="{320450C4-F523-4B16-B2D9-4DF083C0D164}" type="pres">
      <dgm:prSet presAssocID="{939662E8-1580-40AE-9B6C-323E8300E63E}" presName="spNode" presStyleCnt="0"/>
      <dgm:spPr/>
    </dgm:pt>
    <dgm:pt modelId="{76F78CE6-90C8-4B35-9F7E-1F5EB9B22151}" type="pres">
      <dgm:prSet presAssocID="{122F0F2A-9D73-4F96-9BEF-3D5D0F3739CC}" presName="sibTrans" presStyleLbl="sibTrans1D1" presStyleIdx="14" presStyleCnt="16" custScaleX="2000000" custScaleY="2000000"/>
      <dgm:spPr/>
      <dgm:t>
        <a:bodyPr/>
        <a:lstStyle/>
        <a:p>
          <a:endParaRPr lang="en-US"/>
        </a:p>
      </dgm:t>
    </dgm:pt>
    <dgm:pt modelId="{618D29F1-B27A-4177-81E5-AC40E22B797C}" type="pres">
      <dgm:prSet presAssocID="{A8370C54-57BB-4D77-84F2-21B7BBCB8CD1}" presName="node" presStyleLbl="node1" presStyleIdx="15" presStyleCnt="16" custScaleX="126252" custScaleY="110804">
        <dgm:presLayoutVars>
          <dgm:bulletEnabled val="1"/>
        </dgm:presLayoutVars>
      </dgm:prSet>
      <dgm:spPr/>
      <dgm:t>
        <a:bodyPr/>
        <a:lstStyle/>
        <a:p>
          <a:endParaRPr lang="en-US"/>
        </a:p>
      </dgm:t>
    </dgm:pt>
    <dgm:pt modelId="{6DA6B6DF-5C12-40CD-AAE4-BEDED49DD127}" type="pres">
      <dgm:prSet presAssocID="{A8370C54-57BB-4D77-84F2-21B7BBCB8CD1}" presName="spNode" presStyleCnt="0"/>
      <dgm:spPr/>
    </dgm:pt>
    <dgm:pt modelId="{B309ED74-66A5-480C-86D1-D4E840F406AC}" type="pres">
      <dgm:prSet presAssocID="{3D64D77A-FD09-4D3C-876D-C0CB137E62CD}" presName="sibTrans" presStyleLbl="sibTrans1D1" presStyleIdx="15" presStyleCnt="16" custScaleX="2000000" custScaleY="2000000"/>
      <dgm:spPr/>
      <dgm:t>
        <a:bodyPr/>
        <a:lstStyle/>
        <a:p>
          <a:endParaRPr lang="en-US"/>
        </a:p>
      </dgm:t>
    </dgm:pt>
  </dgm:ptLst>
  <dgm:cxnLst>
    <dgm:cxn modelId="{CEEDD234-049F-404C-8E2C-C16DE5D8A121}" type="presOf" srcId="{BE0F9672-9967-4BB3-945A-82902934D4C9}" destId="{BBF115A0-E49F-481D-B9B9-7781A7700C68}" srcOrd="0" destOrd="0" presId="urn:microsoft.com/office/officeart/2005/8/layout/cycle6"/>
    <dgm:cxn modelId="{A430F917-8E76-48EB-ABB9-6327B5CFCFAE}" type="presOf" srcId="{EA111F39-A024-4AB2-977C-8988D99FEE4B}" destId="{E213AD56-109D-4571-A0B0-1181C7025370}" srcOrd="0" destOrd="0" presId="urn:microsoft.com/office/officeart/2005/8/layout/cycle6"/>
    <dgm:cxn modelId="{7DD1536C-33BB-4428-895A-3F3DEA8D06B9}" type="presOf" srcId="{122F0F2A-9D73-4F96-9BEF-3D5D0F3739CC}" destId="{76F78CE6-90C8-4B35-9F7E-1F5EB9B22151}" srcOrd="0" destOrd="0" presId="urn:microsoft.com/office/officeart/2005/8/layout/cycle6"/>
    <dgm:cxn modelId="{A1D8844B-94B7-4C30-A010-B312EF8B52E3}" type="presOf" srcId="{DB1B9677-421A-4935-8C22-9192CE87F0FF}" destId="{C10433AE-724D-434E-B55F-F8FBA5E6691B}" srcOrd="0" destOrd="0" presId="urn:microsoft.com/office/officeart/2005/8/layout/cycle6"/>
    <dgm:cxn modelId="{C0BA607C-CC77-4645-9B4E-F4AB0420698F}" type="presOf" srcId="{CB7A3099-1224-4ECB-902C-396EC7BA7968}" destId="{37F6FC54-D545-444E-B19E-55F8864057C9}" srcOrd="0" destOrd="0" presId="urn:microsoft.com/office/officeart/2005/8/layout/cycle6"/>
    <dgm:cxn modelId="{9546C045-C4C2-4C71-84A9-8821CE74D4A7}" srcId="{B3F6A2BA-40B6-4187-AFF8-F8F9AF80E7F9}" destId="{5625A0BA-3784-45B6-97EC-2096A47B399F}" srcOrd="6" destOrd="0" parTransId="{51144210-2446-443F-A25F-970665996710}" sibTransId="{A6D5980C-35E2-4AB0-8246-6AAB28C06B23}"/>
    <dgm:cxn modelId="{1A792AAE-2086-4C09-9299-F978E6D076E1}" srcId="{B3F6A2BA-40B6-4187-AFF8-F8F9AF80E7F9}" destId="{DB1B9677-421A-4935-8C22-9192CE87F0FF}" srcOrd="13" destOrd="0" parTransId="{C1DA78D6-0CE1-41A2-A0EE-D8D11B345670}" sibTransId="{8BCD7E9B-E908-4EDF-8514-EDD1DB17AEBC}"/>
    <dgm:cxn modelId="{73F3FECB-F22F-48EB-B05C-9B707179BD9B}" type="presOf" srcId="{868767A5-C3E4-4645-9C8D-69D5627043D3}" destId="{FCDBC8B2-A072-489D-B135-4F76C90ABB73}" srcOrd="0" destOrd="0" presId="urn:microsoft.com/office/officeart/2005/8/layout/cycle6"/>
    <dgm:cxn modelId="{93900E09-A20B-4409-B87E-4C9F1C5B07F3}" type="presOf" srcId="{50D7F308-47D9-4906-97CC-2D84909FC247}" destId="{990317AE-40E7-4E24-A709-5C1E3D7DF428}" srcOrd="0" destOrd="0" presId="urn:microsoft.com/office/officeart/2005/8/layout/cycle6"/>
    <dgm:cxn modelId="{9576AAAE-58F2-424F-B8E3-B337460ABDE1}" srcId="{B3F6A2BA-40B6-4187-AFF8-F8F9AF80E7F9}" destId="{939662E8-1580-40AE-9B6C-323E8300E63E}" srcOrd="14" destOrd="0" parTransId="{A9B8F123-7BAB-41C3-840A-4F646C50888F}" sibTransId="{122F0F2A-9D73-4F96-9BEF-3D5D0F3739CC}"/>
    <dgm:cxn modelId="{333E6191-9D34-4EAB-A658-B204E36E172A}" type="presOf" srcId="{B2DF35EF-9BDC-40A7-BFCA-A1A3E1293144}" destId="{4EBAFEA8-38A7-4839-A196-E833865FEC3E}" srcOrd="0" destOrd="0" presId="urn:microsoft.com/office/officeart/2005/8/layout/cycle6"/>
    <dgm:cxn modelId="{F90BA62E-E794-48A5-8857-5262442DCA4D}" srcId="{B3F6A2BA-40B6-4187-AFF8-F8F9AF80E7F9}" destId="{A8370C54-57BB-4D77-84F2-21B7BBCB8CD1}" srcOrd="15" destOrd="0" parTransId="{2A095022-B111-4BF4-8A3A-F583A99A0136}" sibTransId="{3D64D77A-FD09-4D3C-876D-C0CB137E62CD}"/>
    <dgm:cxn modelId="{368D3F3D-4900-4DEA-B92F-AEADDB9E5F97}" type="presOf" srcId="{BB5988A9-792F-4F35-BF7A-F0D97FB3530B}" destId="{C1FBA839-DD16-4EA3-AA23-4F09E108C25C}" srcOrd="0" destOrd="0" presId="urn:microsoft.com/office/officeart/2005/8/layout/cycle6"/>
    <dgm:cxn modelId="{E1A6B0FE-6BE6-44DE-BDF0-5CC234CCF65C}" type="presOf" srcId="{EE9F8E24-F686-4CD7-B40D-889B181D327C}" destId="{C75F3799-6FE1-44D4-94E5-D0323DD9642D}" srcOrd="0" destOrd="0" presId="urn:microsoft.com/office/officeart/2005/8/layout/cycle6"/>
    <dgm:cxn modelId="{6BF49003-E624-4BB7-AA19-B35005D777B2}" type="presOf" srcId="{910D43BF-2E12-4265-8F31-790375B138D8}" destId="{0CA37BE1-2CF9-468E-BFF7-47A995E3BB08}" srcOrd="0" destOrd="0" presId="urn:microsoft.com/office/officeart/2005/8/layout/cycle6"/>
    <dgm:cxn modelId="{6C05350F-B991-4F58-97D1-AE4044723B42}" srcId="{B3F6A2BA-40B6-4187-AFF8-F8F9AF80E7F9}" destId="{CB7A3099-1224-4ECB-902C-396EC7BA7968}" srcOrd="0" destOrd="0" parTransId="{46544552-34FE-49BE-BA33-CC66D1619F8A}" sibTransId="{50D7F308-47D9-4906-97CC-2D84909FC247}"/>
    <dgm:cxn modelId="{1F39ADA5-93D6-4520-8BBA-AE28E6303BFF}" type="presOf" srcId="{9281F980-DBAB-4458-BA3E-080893361045}" destId="{27377A35-5C63-4153-A1CA-D07A81FEBED6}" srcOrd="0" destOrd="0" presId="urn:microsoft.com/office/officeart/2005/8/layout/cycle6"/>
    <dgm:cxn modelId="{7BCF0178-C6DE-4B6D-8A9B-C509C387F511}" type="presOf" srcId="{CF291975-5B89-42C1-A954-78B0363C5805}" destId="{B79BDE4E-122F-4949-877A-51460124312E}" srcOrd="0" destOrd="0" presId="urn:microsoft.com/office/officeart/2005/8/layout/cycle6"/>
    <dgm:cxn modelId="{6B932A35-93F4-4CFD-8FF1-AFB7E8954EF0}" type="presOf" srcId="{3515389E-A2D9-4A91-A416-D06FB2BCF4D7}" destId="{A95F9BD2-8E6C-4D20-A2D9-24C989631FAC}" srcOrd="0" destOrd="0" presId="urn:microsoft.com/office/officeart/2005/8/layout/cycle6"/>
    <dgm:cxn modelId="{92B7CF88-19DA-4C68-B48A-56C5D09BD078}" srcId="{B3F6A2BA-40B6-4187-AFF8-F8F9AF80E7F9}" destId="{05255914-D32A-40B4-8C21-212024189328}" srcOrd="1" destOrd="0" parTransId="{739FD09D-8045-4F96-B9E7-D3DCBC8AC11E}" sibTransId="{DF2D58BB-B07E-4427-B0B4-7328C7A546CF}"/>
    <dgm:cxn modelId="{C4D13FB4-0FD1-48FF-AB4B-035F479BA4E7}" srcId="{B3F6A2BA-40B6-4187-AFF8-F8F9AF80E7F9}" destId="{EE1F149E-F983-420A-AE26-0CA291A969CC}" srcOrd="11" destOrd="0" parTransId="{9B36F709-981A-4F1F-96A6-2972426A3A63}" sibTransId="{3FDD498B-C338-4F3C-9707-6A31F5EB9217}"/>
    <dgm:cxn modelId="{3D4E97EA-89D6-4F69-8109-635B0AF236FD}" srcId="{B3F6A2BA-40B6-4187-AFF8-F8F9AF80E7F9}" destId="{A895021A-1FC9-40D9-9A23-C05D673066F3}" srcOrd="10" destOrd="0" parTransId="{ED7432BF-B985-48B1-B8F2-801A42157DE6}" sibTransId="{C63CE439-C9A4-437A-AA24-C2B1C4D3EC13}"/>
    <dgm:cxn modelId="{D30E7CF0-5B4B-40D3-96D0-383F887793FD}" srcId="{B3F6A2BA-40B6-4187-AFF8-F8F9AF80E7F9}" destId="{868767A5-C3E4-4645-9C8D-69D5627043D3}" srcOrd="8" destOrd="0" parTransId="{09A882C0-93B2-4C56-BE95-EDAAA5B0FF47}" sibTransId="{BE0F9672-9967-4BB3-945A-82902934D4C9}"/>
    <dgm:cxn modelId="{4CE0A0E7-F100-4381-A1C5-7CA71B3886B2}" type="presOf" srcId="{29F8A4A0-082D-4991-B443-0A8AFA42422B}" destId="{896B2AF0-997F-4A3D-95E9-687AEE393215}" srcOrd="0" destOrd="0" presId="urn:microsoft.com/office/officeart/2005/8/layout/cycle6"/>
    <dgm:cxn modelId="{EC5B2F35-F149-4AA4-8D80-EB1DBE9047CA}" type="presOf" srcId="{C63CE439-C9A4-437A-AA24-C2B1C4D3EC13}" destId="{39826E2A-859D-4D09-B02A-05287C251E70}" srcOrd="0" destOrd="0" presId="urn:microsoft.com/office/officeart/2005/8/layout/cycle6"/>
    <dgm:cxn modelId="{0ED10D25-2B43-4953-84C0-C0E9E9235DCD}" srcId="{B3F6A2BA-40B6-4187-AFF8-F8F9AF80E7F9}" destId="{EA111F39-A024-4AB2-977C-8988D99FEE4B}" srcOrd="4" destOrd="0" parTransId="{677D4B4F-F54C-408A-B8A9-FB080E0A8B92}" sibTransId="{AA774F68-286C-419B-8B7D-02F83155FDF4}"/>
    <dgm:cxn modelId="{EBC68FFD-0F35-4FBB-B798-DB0A754358E6}" srcId="{B3F6A2BA-40B6-4187-AFF8-F8F9AF80E7F9}" destId="{3EBDEC13-B94B-424C-B6D8-E23828E29484}" srcOrd="12" destOrd="0" parTransId="{4194DC5B-FCB2-47F2-A7AB-F8C802D2C380}" sibTransId="{910D43BF-2E12-4265-8F31-790375B138D8}"/>
    <dgm:cxn modelId="{EA1B8366-0F5B-4C11-9FA0-DE9FD6924E6E}" type="presOf" srcId="{8BCD7E9B-E908-4EDF-8514-EDD1DB17AEBC}" destId="{6361BE26-1613-4254-AAB5-23BC794B38F0}" srcOrd="0" destOrd="0" presId="urn:microsoft.com/office/officeart/2005/8/layout/cycle6"/>
    <dgm:cxn modelId="{29A30ADC-A6BC-435E-945B-0D4B92AD8430}" srcId="{B3F6A2BA-40B6-4187-AFF8-F8F9AF80E7F9}" destId="{CF291975-5B89-42C1-A954-78B0363C5805}" srcOrd="2" destOrd="0" parTransId="{F3DC7968-B68E-4A83-B115-D21E76300FFF}" sibTransId="{BB5988A9-792F-4F35-BF7A-F0D97FB3530B}"/>
    <dgm:cxn modelId="{92CB3F9F-C63E-46F9-8E58-EBF8BEE72413}" type="presOf" srcId="{3EBDEC13-B94B-424C-B6D8-E23828E29484}" destId="{E6415271-4602-49BD-8F77-B2554532B0A0}" srcOrd="0" destOrd="0" presId="urn:microsoft.com/office/officeart/2005/8/layout/cycle6"/>
    <dgm:cxn modelId="{FD830EC1-E624-4C9F-A639-959EE62964E8}" type="presOf" srcId="{A6D5980C-35E2-4AB0-8246-6AAB28C06B23}" destId="{36A25B59-0286-4766-AF4A-4AD99255FB9A}" srcOrd="0" destOrd="0" presId="urn:microsoft.com/office/officeart/2005/8/layout/cycle6"/>
    <dgm:cxn modelId="{4A8735A1-E759-4EE3-9A28-FA8C816242DA}" type="presOf" srcId="{05255914-D32A-40B4-8C21-212024189328}" destId="{0A74DD1F-BEEA-4E1C-A32C-B77C043FA489}" srcOrd="0" destOrd="0" presId="urn:microsoft.com/office/officeart/2005/8/layout/cycle6"/>
    <dgm:cxn modelId="{AA1D65EF-A89A-4AF2-B65D-43687323B6F4}" type="presOf" srcId="{C682A7C4-7A1C-44E3-9B83-DF842E56DA03}" destId="{9A5BE75C-4E4D-435D-8920-9E32832F465D}" srcOrd="0" destOrd="0" presId="urn:microsoft.com/office/officeart/2005/8/layout/cycle6"/>
    <dgm:cxn modelId="{09673297-5FF9-4798-AF53-A57D6C836667}" type="presOf" srcId="{0F1EED64-1422-4916-86A1-6EC539D1088A}" destId="{47D8252C-7210-4124-986D-C5A27EC7BB38}" srcOrd="0" destOrd="0" presId="urn:microsoft.com/office/officeart/2005/8/layout/cycle6"/>
    <dgm:cxn modelId="{DED6826C-7B10-42D3-B3E8-737A03FD890B}" type="presOf" srcId="{3FDD498B-C338-4F3C-9707-6A31F5EB9217}" destId="{0186EB4D-19E9-40A6-9853-FE75E1F1C601}" srcOrd="0" destOrd="0" presId="urn:microsoft.com/office/officeart/2005/8/layout/cycle6"/>
    <dgm:cxn modelId="{C733324E-07DD-4730-BE54-3AD675C706A8}" type="presOf" srcId="{3D64D77A-FD09-4D3C-876D-C0CB137E62CD}" destId="{B309ED74-66A5-480C-86D1-D4E840F406AC}" srcOrd="0" destOrd="0" presId="urn:microsoft.com/office/officeart/2005/8/layout/cycle6"/>
    <dgm:cxn modelId="{19804827-365F-4F42-8FCF-DA7EE4FEE2FC}" type="presOf" srcId="{A8370C54-57BB-4D77-84F2-21B7BBCB8CD1}" destId="{618D29F1-B27A-4177-81E5-AC40E22B797C}" srcOrd="0" destOrd="0" presId="urn:microsoft.com/office/officeart/2005/8/layout/cycle6"/>
    <dgm:cxn modelId="{D845D665-A3C3-43C2-BD5E-CE6378326628}" type="presOf" srcId="{5625A0BA-3784-45B6-97EC-2096A47B399F}" destId="{BC51FB21-3AAD-464F-AB4E-68130F6D9956}" srcOrd="0" destOrd="0" presId="urn:microsoft.com/office/officeart/2005/8/layout/cycle6"/>
    <dgm:cxn modelId="{5B254739-1F3D-4268-B765-87EAA0FE3F60}" type="presOf" srcId="{B84CDA86-2342-4CD5-A2D0-3EE2D6B77400}" destId="{D0E1629B-81D1-410E-AE41-A68200AAD38A}" srcOrd="0" destOrd="0" presId="urn:microsoft.com/office/officeart/2005/8/layout/cycle6"/>
    <dgm:cxn modelId="{A8717369-5DD7-4FC7-8DA8-D37B79527841}" srcId="{B3F6A2BA-40B6-4187-AFF8-F8F9AF80E7F9}" destId="{B84CDA86-2342-4CD5-A2D0-3EE2D6B77400}" srcOrd="5" destOrd="0" parTransId="{6D543B5E-EEF0-418E-B140-9726487CF57E}" sibTransId="{29F8A4A0-082D-4991-B443-0A8AFA42422B}"/>
    <dgm:cxn modelId="{F506E86B-8150-47A3-B191-82DF382E8CD4}" srcId="{B3F6A2BA-40B6-4187-AFF8-F8F9AF80E7F9}" destId="{0F1EED64-1422-4916-86A1-6EC539D1088A}" srcOrd="3" destOrd="0" parTransId="{A31802B4-E52B-4F45-9C81-62E72A979B4E}" sibTransId="{C682A7C4-7A1C-44E3-9B83-DF842E56DA03}"/>
    <dgm:cxn modelId="{F8943C29-03AF-4FF3-8CD2-836A9945C92D}" type="presOf" srcId="{EE1F149E-F983-420A-AE26-0CA291A969CC}" destId="{508270A1-9056-4B9A-B0BC-2D3B1299FC58}" srcOrd="0" destOrd="0" presId="urn:microsoft.com/office/officeart/2005/8/layout/cycle6"/>
    <dgm:cxn modelId="{C53B7F7A-3F7C-4500-9CAA-E1066ACD9201}" srcId="{B3F6A2BA-40B6-4187-AFF8-F8F9AF80E7F9}" destId="{B2DF35EF-9BDC-40A7-BFCA-A1A3E1293144}" srcOrd="7" destOrd="0" parTransId="{2769CC40-045F-4640-A563-15B6F6571048}" sibTransId="{3515389E-A2D9-4A91-A416-D06FB2BCF4D7}"/>
    <dgm:cxn modelId="{8350A620-D934-4583-AEDE-ECFD15AD26A7}" type="presOf" srcId="{AA774F68-286C-419B-8B7D-02F83155FDF4}" destId="{3E6F2280-A61F-493F-991B-F51BCDF11010}" srcOrd="0" destOrd="0" presId="urn:microsoft.com/office/officeart/2005/8/layout/cycle6"/>
    <dgm:cxn modelId="{1F774BA2-9135-42D7-A6A7-1C39E6459835}" srcId="{B3F6A2BA-40B6-4187-AFF8-F8F9AF80E7F9}" destId="{9281F980-DBAB-4458-BA3E-080893361045}" srcOrd="9" destOrd="0" parTransId="{FC98046A-08E0-48A4-B812-F4BADECAFB37}" sibTransId="{EE9F8E24-F686-4CD7-B40D-889B181D327C}"/>
    <dgm:cxn modelId="{54E7F0AD-7DE9-4E8D-A2D3-5A996E7FD9A6}" type="presOf" srcId="{DF2D58BB-B07E-4427-B0B4-7328C7A546CF}" destId="{53232857-986B-4378-8600-83D67A96D1FC}" srcOrd="0" destOrd="0" presId="urn:microsoft.com/office/officeart/2005/8/layout/cycle6"/>
    <dgm:cxn modelId="{BB8343EC-7B78-453B-8CD9-83C01A88E4C2}" type="presOf" srcId="{A895021A-1FC9-40D9-9A23-C05D673066F3}" destId="{ACA3DEE4-4C37-414B-A20E-469C72FF631D}" srcOrd="0" destOrd="0" presId="urn:microsoft.com/office/officeart/2005/8/layout/cycle6"/>
    <dgm:cxn modelId="{A260CFE0-9E0E-47FB-B166-80FB538676FD}" type="presOf" srcId="{B3F6A2BA-40B6-4187-AFF8-F8F9AF80E7F9}" destId="{EFAE7302-6632-4D60-A96D-23F394241DE4}" srcOrd="0" destOrd="0" presId="urn:microsoft.com/office/officeart/2005/8/layout/cycle6"/>
    <dgm:cxn modelId="{67F51AD7-64A6-47A6-AE01-E50A81FF8BBE}" type="presOf" srcId="{939662E8-1580-40AE-9B6C-323E8300E63E}" destId="{75C04093-B402-44E4-A02F-D9D20B3CFE9D}" srcOrd="0" destOrd="0" presId="urn:microsoft.com/office/officeart/2005/8/layout/cycle6"/>
    <dgm:cxn modelId="{42EC1F26-C54A-4A28-B619-535315826CD2}" type="presParOf" srcId="{EFAE7302-6632-4D60-A96D-23F394241DE4}" destId="{37F6FC54-D545-444E-B19E-55F8864057C9}" srcOrd="0" destOrd="0" presId="urn:microsoft.com/office/officeart/2005/8/layout/cycle6"/>
    <dgm:cxn modelId="{2B759E34-DE9F-4263-B0CE-6E964A564808}" type="presParOf" srcId="{EFAE7302-6632-4D60-A96D-23F394241DE4}" destId="{F73F8756-B089-4C69-872B-9C77B1D2E9B9}" srcOrd="1" destOrd="0" presId="urn:microsoft.com/office/officeart/2005/8/layout/cycle6"/>
    <dgm:cxn modelId="{C57BD678-0018-4A2C-B20E-87A1D65BB16C}" type="presParOf" srcId="{EFAE7302-6632-4D60-A96D-23F394241DE4}" destId="{990317AE-40E7-4E24-A709-5C1E3D7DF428}" srcOrd="2" destOrd="0" presId="urn:microsoft.com/office/officeart/2005/8/layout/cycle6"/>
    <dgm:cxn modelId="{832AF518-0761-46DA-B247-4EA1BED61AC4}" type="presParOf" srcId="{EFAE7302-6632-4D60-A96D-23F394241DE4}" destId="{0A74DD1F-BEEA-4E1C-A32C-B77C043FA489}" srcOrd="3" destOrd="0" presId="urn:microsoft.com/office/officeart/2005/8/layout/cycle6"/>
    <dgm:cxn modelId="{A69A2F38-1403-45DC-BACF-BE4236F586D3}" type="presParOf" srcId="{EFAE7302-6632-4D60-A96D-23F394241DE4}" destId="{33AA3025-9FF4-4436-AD56-351C2AA3B91C}" srcOrd="4" destOrd="0" presId="urn:microsoft.com/office/officeart/2005/8/layout/cycle6"/>
    <dgm:cxn modelId="{336F7A16-2FA6-4F9F-A1FD-3B40FA1BE2D5}" type="presParOf" srcId="{EFAE7302-6632-4D60-A96D-23F394241DE4}" destId="{53232857-986B-4378-8600-83D67A96D1FC}" srcOrd="5" destOrd="0" presId="urn:microsoft.com/office/officeart/2005/8/layout/cycle6"/>
    <dgm:cxn modelId="{0637C4D3-DD88-4F13-B6A8-CE302365B8C4}" type="presParOf" srcId="{EFAE7302-6632-4D60-A96D-23F394241DE4}" destId="{B79BDE4E-122F-4949-877A-51460124312E}" srcOrd="6" destOrd="0" presId="urn:microsoft.com/office/officeart/2005/8/layout/cycle6"/>
    <dgm:cxn modelId="{227FAE67-5D29-4E72-A7B4-515679B1C1B7}" type="presParOf" srcId="{EFAE7302-6632-4D60-A96D-23F394241DE4}" destId="{E5A97052-E50B-4364-B8F3-C5BB55C62E43}" srcOrd="7" destOrd="0" presId="urn:microsoft.com/office/officeart/2005/8/layout/cycle6"/>
    <dgm:cxn modelId="{C8CEB01A-F578-4A19-9E20-F0E7D3094800}" type="presParOf" srcId="{EFAE7302-6632-4D60-A96D-23F394241DE4}" destId="{C1FBA839-DD16-4EA3-AA23-4F09E108C25C}" srcOrd="8" destOrd="0" presId="urn:microsoft.com/office/officeart/2005/8/layout/cycle6"/>
    <dgm:cxn modelId="{FCFDC282-6DCD-4379-BCA0-F8BB522DB101}" type="presParOf" srcId="{EFAE7302-6632-4D60-A96D-23F394241DE4}" destId="{47D8252C-7210-4124-986D-C5A27EC7BB38}" srcOrd="9" destOrd="0" presId="urn:microsoft.com/office/officeart/2005/8/layout/cycle6"/>
    <dgm:cxn modelId="{C3E6CD10-9928-4771-AB72-DB8D7FDF9851}" type="presParOf" srcId="{EFAE7302-6632-4D60-A96D-23F394241DE4}" destId="{49128025-155A-4115-B8B9-1A751CA1730C}" srcOrd="10" destOrd="0" presId="urn:microsoft.com/office/officeart/2005/8/layout/cycle6"/>
    <dgm:cxn modelId="{AAE626CE-ED76-47EE-8314-3E07ACDEA3DE}" type="presParOf" srcId="{EFAE7302-6632-4D60-A96D-23F394241DE4}" destId="{9A5BE75C-4E4D-435D-8920-9E32832F465D}" srcOrd="11" destOrd="0" presId="urn:microsoft.com/office/officeart/2005/8/layout/cycle6"/>
    <dgm:cxn modelId="{F68684A0-0916-4BAD-B53C-7850F9FF3C40}" type="presParOf" srcId="{EFAE7302-6632-4D60-A96D-23F394241DE4}" destId="{E213AD56-109D-4571-A0B0-1181C7025370}" srcOrd="12" destOrd="0" presId="urn:microsoft.com/office/officeart/2005/8/layout/cycle6"/>
    <dgm:cxn modelId="{98E41D8F-E1EE-4AB6-A941-D6AF8BFD7CA3}" type="presParOf" srcId="{EFAE7302-6632-4D60-A96D-23F394241DE4}" destId="{41190AB1-8428-4DEE-ADF0-BAC788A0917C}" srcOrd="13" destOrd="0" presId="urn:microsoft.com/office/officeart/2005/8/layout/cycle6"/>
    <dgm:cxn modelId="{91BBCB64-22DF-4357-A4ED-FD7E4A259620}" type="presParOf" srcId="{EFAE7302-6632-4D60-A96D-23F394241DE4}" destId="{3E6F2280-A61F-493F-991B-F51BCDF11010}" srcOrd="14" destOrd="0" presId="urn:microsoft.com/office/officeart/2005/8/layout/cycle6"/>
    <dgm:cxn modelId="{E53CABB0-865D-4DDD-9C5C-5B798F9AB07F}" type="presParOf" srcId="{EFAE7302-6632-4D60-A96D-23F394241DE4}" destId="{D0E1629B-81D1-410E-AE41-A68200AAD38A}" srcOrd="15" destOrd="0" presId="urn:microsoft.com/office/officeart/2005/8/layout/cycle6"/>
    <dgm:cxn modelId="{22D7CF08-213D-4E09-BEAD-4B296E64C7A8}" type="presParOf" srcId="{EFAE7302-6632-4D60-A96D-23F394241DE4}" destId="{98736DC7-D98D-4E78-942E-3E553CB51665}" srcOrd="16" destOrd="0" presId="urn:microsoft.com/office/officeart/2005/8/layout/cycle6"/>
    <dgm:cxn modelId="{47CF4599-896C-4A1E-ACD1-F67927752ADA}" type="presParOf" srcId="{EFAE7302-6632-4D60-A96D-23F394241DE4}" destId="{896B2AF0-997F-4A3D-95E9-687AEE393215}" srcOrd="17" destOrd="0" presId="urn:microsoft.com/office/officeart/2005/8/layout/cycle6"/>
    <dgm:cxn modelId="{01715487-6B38-4795-A6A5-D017E6A88494}" type="presParOf" srcId="{EFAE7302-6632-4D60-A96D-23F394241DE4}" destId="{BC51FB21-3AAD-464F-AB4E-68130F6D9956}" srcOrd="18" destOrd="0" presId="urn:microsoft.com/office/officeart/2005/8/layout/cycle6"/>
    <dgm:cxn modelId="{8D475931-0977-4A52-A84B-A3902EB1A73E}" type="presParOf" srcId="{EFAE7302-6632-4D60-A96D-23F394241DE4}" destId="{678D2501-9B9B-4053-8341-251711D30C2F}" srcOrd="19" destOrd="0" presId="urn:microsoft.com/office/officeart/2005/8/layout/cycle6"/>
    <dgm:cxn modelId="{18B3402D-08C2-4114-849E-96443FD47AF7}" type="presParOf" srcId="{EFAE7302-6632-4D60-A96D-23F394241DE4}" destId="{36A25B59-0286-4766-AF4A-4AD99255FB9A}" srcOrd="20" destOrd="0" presId="urn:microsoft.com/office/officeart/2005/8/layout/cycle6"/>
    <dgm:cxn modelId="{D581DD69-1BF5-4854-A4BC-44EF31009013}" type="presParOf" srcId="{EFAE7302-6632-4D60-A96D-23F394241DE4}" destId="{4EBAFEA8-38A7-4839-A196-E833865FEC3E}" srcOrd="21" destOrd="0" presId="urn:microsoft.com/office/officeart/2005/8/layout/cycle6"/>
    <dgm:cxn modelId="{95697475-C83C-442E-A088-2370DD7BB59D}" type="presParOf" srcId="{EFAE7302-6632-4D60-A96D-23F394241DE4}" destId="{C248C08C-3758-4EEE-8D81-59D26C39B226}" srcOrd="22" destOrd="0" presId="urn:microsoft.com/office/officeart/2005/8/layout/cycle6"/>
    <dgm:cxn modelId="{DA0EB1E2-C323-420F-9071-4FE48571344F}" type="presParOf" srcId="{EFAE7302-6632-4D60-A96D-23F394241DE4}" destId="{A95F9BD2-8E6C-4D20-A2D9-24C989631FAC}" srcOrd="23" destOrd="0" presId="urn:microsoft.com/office/officeart/2005/8/layout/cycle6"/>
    <dgm:cxn modelId="{379371CD-54EA-47C1-8468-DF5B8E6A8EAB}" type="presParOf" srcId="{EFAE7302-6632-4D60-A96D-23F394241DE4}" destId="{FCDBC8B2-A072-489D-B135-4F76C90ABB73}" srcOrd="24" destOrd="0" presId="urn:microsoft.com/office/officeart/2005/8/layout/cycle6"/>
    <dgm:cxn modelId="{8293DF2C-47D5-420A-982D-FE0CFC226142}" type="presParOf" srcId="{EFAE7302-6632-4D60-A96D-23F394241DE4}" destId="{1A502533-D656-4694-9BDA-B75F503AD108}" srcOrd="25" destOrd="0" presId="urn:microsoft.com/office/officeart/2005/8/layout/cycle6"/>
    <dgm:cxn modelId="{5DC5FE2A-7BE6-48C2-ACE4-BB307AC3E03E}" type="presParOf" srcId="{EFAE7302-6632-4D60-A96D-23F394241DE4}" destId="{BBF115A0-E49F-481D-B9B9-7781A7700C68}" srcOrd="26" destOrd="0" presId="urn:microsoft.com/office/officeart/2005/8/layout/cycle6"/>
    <dgm:cxn modelId="{DB871151-9FDD-4258-AA8F-9E8946780A24}" type="presParOf" srcId="{EFAE7302-6632-4D60-A96D-23F394241DE4}" destId="{27377A35-5C63-4153-A1CA-D07A81FEBED6}" srcOrd="27" destOrd="0" presId="urn:microsoft.com/office/officeart/2005/8/layout/cycle6"/>
    <dgm:cxn modelId="{9DC41AA5-4C8C-4EC6-9AB7-8DD823A0961E}" type="presParOf" srcId="{EFAE7302-6632-4D60-A96D-23F394241DE4}" destId="{166E8CAE-7A6A-441E-B81D-F2A6930AEB34}" srcOrd="28" destOrd="0" presId="urn:microsoft.com/office/officeart/2005/8/layout/cycle6"/>
    <dgm:cxn modelId="{7D3CB1DE-6F12-43EC-9A6D-6A30665BA87A}" type="presParOf" srcId="{EFAE7302-6632-4D60-A96D-23F394241DE4}" destId="{C75F3799-6FE1-44D4-94E5-D0323DD9642D}" srcOrd="29" destOrd="0" presId="urn:microsoft.com/office/officeart/2005/8/layout/cycle6"/>
    <dgm:cxn modelId="{F921741A-9BF2-4BBB-B697-DAD08DAD75C4}" type="presParOf" srcId="{EFAE7302-6632-4D60-A96D-23F394241DE4}" destId="{ACA3DEE4-4C37-414B-A20E-469C72FF631D}" srcOrd="30" destOrd="0" presId="urn:microsoft.com/office/officeart/2005/8/layout/cycle6"/>
    <dgm:cxn modelId="{A713B81B-0D00-4E82-BD80-E572ED3D8178}" type="presParOf" srcId="{EFAE7302-6632-4D60-A96D-23F394241DE4}" destId="{5E377587-15D8-428C-8F90-BB7C49868333}" srcOrd="31" destOrd="0" presId="urn:microsoft.com/office/officeart/2005/8/layout/cycle6"/>
    <dgm:cxn modelId="{1FBC7252-668E-49DC-B2B2-0A6BA78E4F3F}" type="presParOf" srcId="{EFAE7302-6632-4D60-A96D-23F394241DE4}" destId="{39826E2A-859D-4D09-B02A-05287C251E70}" srcOrd="32" destOrd="0" presId="urn:microsoft.com/office/officeart/2005/8/layout/cycle6"/>
    <dgm:cxn modelId="{77B3BAE3-CD7C-4C09-80B8-771468E19785}" type="presParOf" srcId="{EFAE7302-6632-4D60-A96D-23F394241DE4}" destId="{508270A1-9056-4B9A-B0BC-2D3B1299FC58}" srcOrd="33" destOrd="0" presId="urn:microsoft.com/office/officeart/2005/8/layout/cycle6"/>
    <dgm:cxn modelId="{3B61D3D2-4C92-4421-97C7-F7E321365B3B}" type="presParOf" srcId="{EFAE7302-6632-4D60-A96D-23F394241DE4}" destId="{32B48CEE-BE6C-4B73-AA70-08340D7306CA}" srcOrd="34" destOrd="0" presId="urn:microsoft.com/office/officeart/2005/8/layout/cycle6"/>
    <dgm:cxn modelId="{DB2D764C-7FB6-4D9C-BB48-6C87B5449528}" type="presParOf" srcId="{EFAE7302-6632-4D60-A96D-23F394241DE4}" destId="{0186EB4D-19E9-40A6-9853-FE75E1F1C601}" srcOrd="35" destOrd="0" presId="urn:microsoft.com/office/officeart/2005/8/layout/cycle6"/>
    <dgm:cxn modelId="{5A73CDA3-53CE-48C3-9FE4-33AE78B4606A}" type="presParOf" srcId="{EFAE7302-6632-4D60-A96D-23F394241DE4}" destId="{E6415271-4602-49BD-8F77-B2554532B0A0}" srcOrd="36" destOrd="0" presId="urn:microsoft.com/office/officeart/2005/8/layout/cycle6"/>
    <dgm:cxn modelId="{9BBC7BD2-EA7E-4571-90CA-63C3B7C88CC8}" type="presParOf" srcId="{EFAE7302-6632-4D60-A96D-23F394241DE4}" destId="{18476B6F-E555-4078-9F4F-FED8900C0811}" srcOrd="37" destOrd="0" presId="urn:microsoft.com/office/officeart/2005/8/layout/cycle6"/>
    <dgm:cxn modelId="{B552BDF6-9B0B-4F4F-B5E1-55A6B830C73C}" type="presParOf" srcId="{EFAE7302-6632-4D60-A96D-23F394241DE4}" destId="{0CA37BE1-2CF9-468E-BFF7-47A995E3BB08}" srcOrd="38" destOrd="0" presId="urn:microsoft.com/office/officeart/2005/8/layout/cycle6"/>
    <dgm:cxn modelId="{4EC349FA-2A3E-4694-A3A8-23E5F5C01990}" type="presParOf" srcId="{EFAE7302-6632-4D60-A96D-23F394241DE4}" destId="{C10433AE-724D-434E-B55F-F8FBA5E6691B}" srcOrd="39" destOrd="0" presId="urn:microsoft.com/office/officeart/2005/8/layout/cycle6"/>
    <dgm:cxn modelId="{8C484544-BB54-468F-8EBA-C61ABC745576}" type="presParOf" srcId="{EFAE7302-6632-4D60-A96D-23F394241DE4}" destId="{1BF69A71-2EE3-482B-A6FD-09CDD6717BD2}" srcOrd="40" destOrd="0" presId="urn:microsoft.com/office/officeart/2005/8/layout/cycle6"/>
    <dgm:cxn modelId="{74852148-CB9D-4DBB-857B-EEF5DAD52071}" type="presParOf" srcId="{EFAE7302-6632-4D60-A96D-23F394241DE4}" destId="{6361BE26-1613-4254-AAB5-23BC794B38F0}" srcOrd="41" destOrd="0" presId="urn:microsoft.com/office/officeart/2005/8/layout/cycle6"/>
    <dgm:cxn modelId="{B6740AB4-314E-4580-838C-2E5CCE7550A7}" type="presParOf" srcId="{EFAE7302-6632-4D60-A96D-23F394241DE4}" destId="{75C04093-B402-44E4-A02F-D9D20B3CFE9D}" srcOrd="42" destOrd="0" presId="urn:microsoft.com/office/officeart/2005/8/layout/cycle6"/>
    <dgm:cxn modelId="{C95D1185-4666-4E4A-9889-4EE7CDC7DFAC}" type="presParOf" srcId="{EFAE7302-6632-4D60-A96D-23F394241DE4}" destId="{320450C4-F523-4B16-B2D9-4DF083C0D164}" srcOrd="43" destOrd="0" presId="urn:microsoft.com/office/officeart/2005/8/layout/cycle6"/>
    <dgm:cxn modelId="{B22AEE2C-A36C-4F41-8AB1-A08DE6D3317D}" type="presParOf" srcId="{EFAE7302-6632-4D60-A96D-23F394241DE4}" destId="{76F78CE6-90C8-4B35-9F7E-1F5EB9B22151}" srcOrd="44" destOrd="0" presId="urn:microsoft.com/office/officeart/2005/8/layout/cycle6"/>
    <dgm:cxn modelId="{5C7A3CCA-F873-49FD-AC5C-7269F26E261E}" type="presParOf" srcId="{EFAE7302-6632-4D60-A96D-23F394241DE4}" destId="{618D29F1-B27A-4177-81E5-AC40E22B797C}" srcOrd="45" destOrd="0" presId="urn:microsoft.com/office/officeart/2005/8/layout/cycle6"/>
    <dgm:cxn modelId="{2F670E6D-5343-4763-A2D6-DA6D86CAD05F}" type="presParOf" srcId="{EFAE7302-6632-4D60-A96D-23F394241DE4}" destId="{6DA6B6DF-5C12-40CD-AAE4-BEDED49DD127}" srcOrd="46" destOrd="0" presId="urn:microsoft.com/office/officeart/2005/8/layout/cycle6"/>
    <dgm:cxn modelId="{FB4E31BF-4E32-4562-A2DD-7321479CAF33}" type="presParOf" srcId="{EFAE7302-6632-4D60-A96D-23F394241DE4}" destId="{B309ED74-66A5-480C-86D1-D4E840F406AC}" srcOrd="47"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F6FC54-D545-444E-B19E-55F8864057C9}">
      <dsp:nvSpPr>
        <dsp:cNvPr id="0" name=""/>
        <dsp:cNvSpPr/>
      </dsp:nvSpPr>
      <dsp:spPr>
        <a:xfrm>
          <a:off x="2774607" y="-12353"/>
          <a:ext cx="546784" cy="311922"/>
        </a:xfrm>
        <a:prstGeom prst="roundRect">
          <a:avLst/>
        </a:prstGeom>
        <a:solidFill>
          <a:schemeClr val="lt1"/>
        </a:solidFill>
        <a:ln w="3175" cap="flat" cmpd="sng" algn="ctr">
          <a:solidFill>
            <a:schemeClr val="tx1"/>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solidFill>
                <a:schemeClr val="tx1"/>
              </a:solidFill>
            </a:rPr>
            <a:t>00</a:t>
          </a:r>
        </a:p>
      </dsp:txBody>
      <dsp:txXfrm>
        <a:off x="2789834" y="2874"/>
        <a:ext cx="516330" cy="281468"/>
      </dsp:txXfrm>
    </dsp:sp>
    <dsp:sp modelId="{990317AE-40E7-4E24-A709-5C1E3D7DF428}">
      <dsp:nvSpPr>
        <dsp:cNvPr id="0" name=""/>
        <dsp:cNvSpPr/>
      </dsp:nvSpPr>
      <dsp:spPr>
        <a:xfrm>
          <a:off x="1159607" y="143607"/>
          <a:ext cx="3776784" cy="3776784"/>
        </a:xfrm>
        <a:custGeom>
          <a:avLst/>
          <a:gdLst/>
          <a:ahLst/>
          <a:cxnLst/>
          <a:rect l="0" t="0" r="0" b="0"/>
          <a:pathLst>
            <a:path>
              <a:moveTo>
                <a:pt x="2163557" y="20155"/>
              </a:moveTo>
              <a:arcTo wR="1888392" hR="1888392" stAng="16702718" swAng="319807"/>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0A74DD1F-BEEA-4E1C-A32C-B77C043FA489}">
      <dsp:nvSpPr>
        <dsp:cNvPr id="0" name=""/>
        <dsp:cNvSpPr/>
      </dsp:nvSpPr>
      <dsp:spPr>
        <a:xfrm>
          <a:off x="3497264" y="131391"/>
          <a:ext cx="546784" cy="311922"/>
        </a:xfrm>
        <a:prstGeom prst="roundRect">
          <a:avLst/>
        </a:prstGeom>
        <a:solidFill>
          <a:srgbClr val="1D3064"/>
        </a:solidFill>
        <a:ln w="12700" cap="flat" cmpd="sng" algn="ctr">
          <a:noFill/>
          <a:prstDash val="solid"/>
          <a:miter lim="800000"/>
        </a:ln>
        <a:effectLst/>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a:solidFill>
                <a:schemeClr val="bg1"/>
              </a:solidFill>
            </a:rPr>
            <a:t>01</a:t>
          </a:r>
        </a:p>
      </dsp:txBody>
      <dsp:txXfrm>
        <a:off x="3512491" y="146618"/>
        <a:ext cx="516330" cy="281468"/>
      </dsp:txXfrm>
    </dsp:sp>
    <dsp:sp modelId="{53232857-986B-4378-8600-83D67A96D1FC}">
      <dsp:nvSpPr>
        <dsp:cNvPr id="0" name=""/>
        <dsp:cNvSpPr/>
      </dsp:nvSpPr>
      <dsp:spPr>
        <a:xfrm>
          <a:off x="1159607" y="143607"/>
          <a:ext cx="3776784" cy="3776784"/>
        </a:xfrm>
        <a:custGeom>
          <a:avLst/>
          <a:gdLst/>
          <a:ahLst/>
          <a:cxnLst/>
          <a:rect l="0" t="0" r="0" b="0"/>
          <a:pathLst>
            <a:path>
              <a:moveTo>
                <a:pt x="2886122" y="285095"/>
              </a:moveTo>
              <a:arcTo wR="1888392" hR="1888392" stAng="18113638" swAng="35333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B79BDE4E-122F-4949-877A-51460124312E}">
      <dsp:nvSpPr>
        <dsp:cNvPr id="0" name=""/>
        <dsp:cNvSpPr/>
      </dsp:nvSpPr>
      <dsp:spPr>
        <a:xfrm>
          <a:off x="4109902" y="540743"/>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02</a:t>
          </a:r>
        </a:p>
      </dsp:txBody>
      <dsp:txXfrm>
        <a:off x="4125129" y="555970"/>
        <a:ext cx="516330" cy="281468"/>
      </dsp:txXfrm>
    </dsp:sp>
    <dsp:sp modelId="{C1FBA839-DD16-4EA3-AA23-4F09E108C25C}">
      <dsp:nvSpPr>
        <dsp:cNvPr id="0" name=""/>
        <dsp:cNvSpPr/>
      </dsp:nvSpPr>
      <dsp:spPr>
        <a:xfrm>
          <a:off x="1159607" y="143607"/>
          <a:ext cx="3776784" cy="3776784"/>
        </a:xfrm>
        <a:custGeom>
          <a:avLst/>
          <a:gdLst/>
          <a:ahLst/>
          <a:cxnLst/>
          <a:rect l="0" t="0" r="0" b="0"/>
          <a:pathLst>
            <a:path>
              <a:moveTo>
                <a:pt x="3365488" y="711867"/>
              </a:moveTo>
              <a:arcTo wR="1888392" hR="1888392" stAng="19287735" swAng="64205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47D8252C-7210-4124-986D-C5A27EC7BB38}">
      <dsp:nvSpPr>
        <dsp:cNvPr id="0" name=""/>
        <dsp:cNvSpPr/>
      </dsp:nvSpPr>
      <dsp:spPr>
        <a:xfrm>
          <a:off x="4519254" y="1153382"/>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03</a:t>
          </a:r>
        </a:p>
      </dsp:txBody>
      <dsp:txXfrm>
        <a:off x="4534481" y="1168609"/>
        <a:ext cx="516330" cy="281468"/>
      </dsp:txXfrm>
    </dsp:sp>
    <dsp:sp modelId="{9A5BE75C-4E4D-435D-8920-9E32832F465D}">
      <dsp:nvSpPr>
        <dsp:cNvPr id="0" name=""/>
        <dsp:cNvSpPr/>
      </dsp:nvSpPr>
      <dsp:spPr>
        <a:xfrm>
          <a:off x="1159607" y="143607"/>
          <a:ext cx="3776784" cy="3776784"/>
        </a:xfrm>
        <a:custGeom>
          <a:avLst/>
          <a:gdLst/>
          <a:ahLst/>
          <a:cxnLst/>
          <a:rect l="0" t="0" r="0" b="0"/>
          <a:pathLst>
            <a:path>
              <a:moveTo>
                <a:pt x="3690999" y="1325691"/>
              </a:moveTo>
              <a:arcTo wR="1888392" hR="1888392" stAng="20559825" swAng="74831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E213AD56-109D-4571-A0B0-1181C7025370}">
      <dsp:nvSpPr>
        <dsp:cNvPr id="0" name=""/>
        <dsp:cNvSpPr/>
      </dsp:nvSpPr>
      <dsp:spPr>
        <a:xfrm>
          <a:off x="4663000" y="1876038"/>
          <a:ext cx="546784" cy="311922"/>
        </a:xfrm>
        <a:prstGeom prst="roundRect">
          <a:avLst/>
        </a:prstGeom>
        <a:solidFill>
          <a:srgbClr val="1D3064"/>
        </a:solidFill>
        <a:ln w="12700" cap="flat" cmpd="sng" algn="ctr">
          <a:noFill/>
          <a:prstDash val="solid"/>
          <a:miter lim="800000"/>
        </a:ln>
        <a:effectLst/>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a:solidFill>
                <a:schemeClr val="bg1"/>
              </a:solidFill>
            </a:rPr>
            <a:t>04</a:t>
          </a:r>
        </a:p>
      </dsp:txBody>
      <dsp:txXfrm>
        <a:off x="4678227" y="1891265"/>
        <a:ext cx="516330" cy="281468"/>
      </dsp:txXfrm>
    </dsp:sp>
    <dsp:sp modelId="{3E6F2280-A61F-493F-991B-F51BCDF11010}">
      <dsp:nvSpPr>
        <dsp:cNvPr id="0" name=""/>
        <dsp:cNvSpPr/>
      </dsp:nvSpPr>
      <dsp:spPr>
        <a:xfrm>
          <a:off x="1159607" y="143607"/>
          <a:ext cx="3776784" cy="3776784"/>
        </a:xfrm>
        <a:custGeom>
          <a:avLst/>
          <a:gdLst/>
          <a:ahLst/>
          <a:cxnLst/>
          <a:rect l="0" t="0" r="0" b="0"/>
          <a:pathLst>
            <a:path>
              <a:moveTo>
                <a:pt x="3769983" y="2048524"/>
              </a:moveTo>
              <a:arcTo wR="1888392" hR="1888392" stAng="291865" swAng="74831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D0E1629B-81D1-410E-AE41-A68200AAD38A}">
      <dsp:nvSpPr>
        <dsp:cNvPr id="0" name=""/>
        <dsp:cNvSpPr/>
      </dsp:nvSpPr>
      <dsp:spPr>
        <a:xfrm>
          <a:off x="4519254" y="2598695"/>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05</a:t>
          </a:r>
        </a:p>
      </dsp:txBody>
      <dsp:txXfrm>
        <a:off x="4534481" y="2613922"/>
        <a:ext cx="516330" cy="281468"/>
      </dsp:txXfrm>
    </dsp:sp>
    <dsp:sp modelId="{896B2AF0-997F-4A3D-95E9-687AEE393215}">
      <dsp:nvSpPr>
        <dsp:cNvPr id="0" name=""/>
        <dsp:cNvSpPr/>
      </dsp:nvSpPr>
      <dsp:spPr>
        <a:xfrm>
          <a:off x="1159607" y="143607"/>
          <a:ext cx="3776784" cy="3776784"/>
        </a:xfrm>
        <a:custGeom>
          <a:avLst/>
          <a:gdLst/>
          <a:ahLst/>
          <a:cxnLst/>
          <a:rect l="0" t="0" r="0" b="0"/>
          <a:pathLst>
            <a:path>
              <a:moveTo>
                <a:pt x="3558260" y="2770189"/>
              </a:moveTo>
              <a:arcTo wR="1888392" hR="1888392" stAng="1670214" swAng="64205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BC51FB21-3AAD-464F-AB4E-68130F6D9956}">
      <dsp:nvSpPr>
        <dsp:cNvPr id="0" name=""/>
        <dsp:cNvSpPr/>
      </dsp:nvSpPr>
      <dsp:spPr>
        <a:xfrm>
          <a:off x="4109902" y="3211333"/>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06</a:t>
          </a:r>
        </a:p>
      </dsp:txBody>
      <dsp:txXfrm>
        <a:off x="4125129" y="3226560"/>
        <a:ext cx="516330" cy="281468"/>
      </dsp:txXfrm>
    </dsp:sp>
    <dsp:sp modelId="{36A25B59-0286-4766-AF4A-4AD99255FB9A}">
      <dsp:nvSpPr>
        <dsp:cNvPr id="0" name=""/>
        <dsp:cNvSpPr/>
      </dsp:nvSpPr>
      <dsp:spPr>
        <a:xfrm>
          <a:off x="1159607" y="143607"/>
          <a:ext cx="3776784" cy="3776784"/>
        </a:xfrm>
        <a:custGeom>
          <a:avLst/>
          <a:gdLst/>
          <a:ahLst/>
          <a:cxnLst/>
          <a:rect l="0" t="0" r="0" b="0"/>
          <a:pathLst>
            <a:path>
              <a:moveTo>
                <a:pt x="3045353" y="3380862"/>
              </a:moveTo>
              <a:arcTo wR="1888392" hR="1888392" stAng="3133032" swAng="35333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4EBAFEA8-38A7-4839-A196-E833865FEC3E}">
      <dsp:nvSpPr>
        <dsp:cNvPr id="0" name=""/>
        <dsp:cNvSpPr/>
      </dsp:nvSpPr>
      <dsp:spPr>
        <a:xfrm>
          <a:off x="3497264" y="3620685"/>
          <a:ext cx="546784" cy="311922"/>
        </a:xfrm>
        <a:prstGeom prst="roundRect">
          <a:avLst/>
        </a:prstGeom>
        <a:solidFill>
          <a:srgbClr val="1D3064"/>
        </a:solidFill>
        <a:ln w="31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solidFill>
                <a:schemeClr val="bg1"/>
              </a:solidFill>
            </a:rPr>
            <a:t>07</a:t>
          </a:r>
        </a:p>
      </dsp:txBody>
      <dsp:txXfrm>
        <a:off x="3512491" y="3635912"/>
        <a:ext cx="516330" cy="281468"/>
      </dsp:txXfrm>
    </dsp:sp>
    <dsp:sp modelId="{A95F9BD2-8E6C-4D20-A2D9-24C989631FAC}">
      <dsp:nvSpPr>
        <dsp:cNvPr id="0" name=""/>
        <dsp:cNvSpPr/>
      </dsp:nvSpPr>
      <dsp:spPr>
        <a:xfrm>
          <a:off x="1159607" y="143607"/>
          <a:ext cx="3776784" cy="3776784"/>
        </a:xfrm>
        <a:custGeom>
          <a:avLst/>
          <a:gdLst/>
          <a:ahLst/>
          <a:cxnLst/>
          <a:rect l="0" t="0" r="0" b="0"/>
          <a:pathLst>
            <a:path>
              <a:moveTo>
                <a:pt x="2335915" y="3722990"/>
              </a:moveTo>
              <a:arcTo wR="1888392" hR="1888392" stAng="4577475" swAng="319807"/>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FCDBC8B2-A072-489D-B135-4F76C90ABB73}">
      <dsp:nvSpPr>
        <dsp:cNvPr id="0" name=""/>
        <dsp:cNvSpPr/>
      </dsp:nvSpPr>
      <dsp:spPr>
        <a:xfrm>
          <a:off x="2774607" y="3764431"/>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08</a:t>
          </a:r>
        </a:p>
      </dsp:txBody>
      <dsp:txXfrm>
        <a:off x="2789834" y="3779658"/>
        <a:ext cx="516330" cy="281468"/>
      </dsp:txXfrm>
    </dsp:sp>
    <dsp:sp modelId="{BBF115A0-E49F-481D-B9B9-7781A7700C68}">
      <dsp:nvSpPr>
        <dsp:cNvPr id="0" name=""/>
        <dsp:cNvSpPr/>
      </dsp:nvSpPr>
      <dsp:spPr>
        <a:xfrm>
          <a:off x="1159607" y="143607"/>
          <a:ext cx="3776784" cy="3776784"/>
        </a:xfrm>
        <a:custGeom>
          <a:avLst/>
          <a:gdLst/>
          <a:ahLst/>
          <a:cxnLst/>
          <a:rect l="0" t="0" r="0" b="0"/>
          <a:pathLst>
            <a:path>
              <a:moveTo>
                <a:pt x="1613227" y="3756629"/>
              </a:moveTo>
              <a:arcTo wR="1888392" hR="1888392" stAng="5902718" swAng="319807"/>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27377A35-5C63-4153-A1CA-D07A81FEBED6}">
      <dsp:nvSpPr>
        <dsp:cNvPr id="0" name=""/>
        <dsp:cNvSpPr/>
      </dsp:nvSpPr>
      <dsp:spPr>
        <a:xfrm>
          <a:off x="2051951" y="3620685"/>
          <a:ext cx="546784" cy="311922"/>
        </a:xfrm>
        <a:prstGeom prst="roundRect">
          <a:avLst/>
        </a:prstGeom>
        <a:noFill/>
        <a:ln w="12700" cap="flat" cmpd="sng" algn="ctr">
          <a:solidFill>
            <a:schemeClr val="tx1"/>
          </a:solidFill>
          <a:prstDash val="solid"/>
          <a:miter lim="800000"/>
        </a:ln>
        <a:effectLst/>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a:solidFill>
                <a:schemeClr val="tx1"/>
              </a:solidFill>
            </a:rPr>
            <a:t>09</a:t>
          </a:r>
        </a:p>
      </dsp:txBody>
      <dsp:txXfrm>
        <a:off x="2067178" y="3635912"/>
        <a:ext cx="516330" cy="281468"/>
      </dsp:txXfrm>
    </dsp:sp>
    <dsp:sp modelId="{C75F3799-6FE1-44D4-94E5-D0323DD9642D}">
      <dsp:nvSpPr>
        <dsp:cNvPr id="0" name=""/>
        <dsp:cNvSpPr/>
      </dsp:nvSpPr>
      <dsp:spPr>
        <a:xfrm>
          <a:off x="1159607" y="143607"/>
          <a:ext cx="3776784" cy="3776784"/>
        </a:xfrm>
        <a:custGeom>
          <a:avLst/>
          <a:gdLst/>
          <a:ahLst/>
          <a:cxnLst/>
          <a:rect l="0" t="0" r="0" b="0"/>
          <a:pathLst>
            <a:path>
              <a:moveTo>
                <a:pt x="890662" y="3491689"/>
              </a:moveTo>
              <a:arcTo wR="1888392" hR="1888392" stAng="7313638" swAng="35333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ACA3DEE4-4C37-414B-A20E-469C72FF631D}">
      <dsp:nvSpPr>
        <dsp:cNvPr id="0" name=""/>
        <dsp:cNvSpPr/>
      </dsp:nvSpPr>
      <dsp:spPr>
        <a:xfrm>
          <a:off x="1439312" y="3211333"/>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10</a:t>
          </a:r>
        </a:p>
      </dsp:txBody>
      <dsp:txXfrm>
        <a:off x="1454539" y="3226560"/>
        <a:ext cx="516330" cy="281468"/>
      </dsp:txXfrm>
    </dsp:sp>
    <dsp:sp modelId="{39826E2A-859D-4D09-B02A-05287C251E70}">
      <dsp:nvSpPr>
        <dsp:cNvPr id="0" name=""/>
        <dsp:cNvSpPr/>
      </dsp:nvSpPr>
      <dsp:spPr>
        <a:xfrm>
          <a:off x="1159607" y="143607"/>
          <a:ext cx="3776784" cy="3776784"/>
        </a:xfrm>
        <a:custGeom>
          <a:avLst/>
          <a:gdLst/>
          <a:ahLst/>
          <a:cxnLst/>
          <a:rect l="0" t="0" r="0" b="0"/>
          <a:pathLst>
            <a:path>
              <a:moveTo>
                <a:pt x="411295" y="3064917"/>
              </a:moveTo>
              <a:arcTo wR="1888392" hR="1888392" stAng="8487735" swAng="64205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508270A1-9056-4B9A-B0BC-2D3B1299FC58}">
      <dsp:nvSpPr>
        <dsp:cNvPr id="0" name=""/>
        <dsp:cNvSpPr/>
      </dsp:nvSpPr>
      <dsp:spPr>
        <a:xfrm>
          <a:off x="1029960" y="2598695"/>
          <a:ext cx="546784" cy="311922"/>
        </a:xfrm>
        <a:prstGeom prst="roundRect">
          <a:avLst/>
        </a:prstGeom>
        <a:noFill/>
        <a:ln w="12700" cap="flat" cmpd="sng" algn="ctr">
          <a:solidFill>
            <a:schemeClr val="tx1"/>
          </a:solidFill>
          <a:prstDash val="solid"/>
          <a:miter lim="800000"/>
        </a:ln>
        <a:effectLst/>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a:solidFill>
                <a:schemeClr val="tx1"/>
              </a:solidFill>
            </a:rPr>
            <a:t>11</a:t>
          </a:r>
        </a:p>
      </dsp:txBody>
      <dsp:txXfrm>
        <a:off x="1045187" y="2613922"/>
        <a:ext cx="516330" cy="281468"/>
      </dsp:txXfrm>
    </dsp:sp>
    <dsp:sp modelId="{0186EB4D-19E9-40A6-9853-FE75E1F1C601}">
      <dsp:nvSpPr>
        <dsp:cNvPr id="0" name=""/>
        <dsp:cNvSpPr/>
      </dsp:nvSpPr>
      <dsp:spPr>
        <a:xfrm>
          <a:off x="1159607" y="143607"/>
          <a:ext cx="3776784" cy="3776784"/>
        </a:xfrm>
        <a:custGeom>
          <a:avLst/>
          <a:gdLst/>
          <a:ahLst/>
          <a:cxnLst/>
          <a:rect l="0" t="0" r="0" b="0"/>
          <a:pathLst>
            <a:path>
              <a:moveTo>
                <a:pt x="85785" y="2451093"/>
              </a:moveTo>
              <a:arcTo wR="1888392" hR="1888392" stAng="9759825" swAng="74831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E6415271-4602-49BD-8F77-B2554532B0A0}">
      <dsp:nvSpPr>
        <dsp:cNvPr id="0" name=""/>
        <dsp:cNvSpPr/>
      </dsp:nvSpPr>
      <dsp:spPr>
        <a:xfrm>
          <a:off x="886215" y="1876038"/>
          <a:ext cx="546784" cy="311922"/>
        </a:xfrm>
        <a:prstGeom prst="roundRect">
          <a:avLst/>
        </a:prstGeom>
        <a:solidFill>
          <a:srgbClr val="1D3064"/>
        </a:solidFill>
        <a:ln w="31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solidFill>
                <a:schemeClr val="bg1"/>
              </a:solidFill>
            </a:rPr>
            <a:t>12</a:t>
          </a:r>
        </a:p>
      </dsp:txBody>
      <dsp:txXfrm>
        <a:off x="901442" y="1891265"/>
        <a:ext cx="516330" cy="281468"/>
      </dsp:txXfrm>
    </dsp:sp>
    <dsp:sp modelId="{0CA37BE1-2CF9-468E-BFF7-47A995E3BB08}">
      <dsp:nvSpPr>
        <dsp:cNvPr id="0" name=""/>
        <dsp:cNvSpPr/>
      </dsp:nvSpPr>
      <dsp:spPr>
        <a:xfrm>
          <a:off x="1159607" y="143607"/>
          <a:ext cx="3776784" cy="3776784"/>
        </a:xfrm>
        <a:custGeom>
          <a:avLst/>
          <a:gdLst/>
          <a:ahLst/>
          <a:cxnLst/>
          <a:rect l="0" t="0" r="0" b="0"/>
          <a:pathLst>
            <a:path>
              <a:moveTo>
                <a:pt x="6801" y="1728260"/>
              </a:moveTo>
              <a:arcTo wR="1888392" hR="1888392" stAng="11091865" swAng="74831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C10433AE-724D-434E-B55F-F8FBA5E6691B}">
      <dsp:nvSpPr>
        <dsp:cNvPr id="0" name=""/>
        <dsp:cNvSpPr/>
      </dsp:nvSpPr>
      <dsp:spPr>
        <a:xfrm>
          <a:off x="1029960" y="1153382"/>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13</a:t>
          </a:r>
        </a:p>
      </dsp:txBody>
      <dsp:txXfrm>
        <a:off x="1045187" y="1168609"/>
        <a:ext cx="516330" cy="281468"/>
      </dsp:txXfrm>
    </dsp:sp>
    <dsp:sp modelId="{6361BE26-1613-4254-AAB5-23BC794B38F0}">
      <dsp:nvSpPr>
        <dsp:cNvPr id="0" name=""/>
        <dsp:cNvSpPr/>
      </dsp:nvSpPr>
      <dsp:spPr>
        <a:xfrm>
          <a:off x="1159607" y="143607"/>
          <a:ext cx="3776784" cy="3776784"/>
        </a:xfrm>
        <a:custGeom>
          <a:avLst/>
          <a:gdLst/>
          <a:ahLst/>
          <a:cxnLst/>
          <a:rect l="0" t="0" r="0" b="0"/>
          <a:pathLst>
            <a:path>
              <a:moveTo>
                <a:pt x="218524" y="1006595"/>
              </a:moveTo>
              <a:arcTo wR="1888392" hR="1888392" stAng="12470214" swAng="64205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75C04093-B402-44E4-A02F-D9D20B3CFE9D}">
      <dsp:nvSpPr>
        <dsp:cNvPr id="0" name=""/>
        <dsp:cNvSpPr/>
      </dsp:nvSpPr>
      <dsp:spPr>
        <a:xfrm>
          <a:off x="1439312" y="540743"/>
          <a:ext cx="546784" cy="311922"/>
        </a:xfrm>
        <a:prstGeom prst="roundRect">
          <a:avLst/>
        </a:prstGeom>
        <a:noFill/>
        <a:ln w="12700" cap="flat" cmpd="sng" algn="ctr">
          <a:solidFill>
            <a:schemeClr val="tx1"/>
          </a:solidFill>
          <a:prstDash val="solid"/>
          <a:miter lim="800000"/>
        </a:ln>
        <a:effectLst/>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a:solidFill>
                <a:schemeClr val="tx1"/>
              </a:solidFill>
            </a:rPr>
            <a:t>14</a:t>
          </a:r>
        </a:p>
      </dsp:txBody>
      <dsp:txXfrm>
        <a:off x="1454539" y="555970"/>
        <a:ext cx="516330" cy="281468"/>
      </dsp:txXfrm>
    </dsp:sp>
    <dsp:sp modelId="{76F78CE6-90C8-4B35-9F7E-1F5EB9B22151}">
      <dsp:nvSpPr>
        <dsp:cNvPr id="0" name=""/>
        <dsp:cNvSpPr/>
      </dsp:nvSpPr>
      <dsp:spPr>
        <a:xfrm>
          <a:off x="1159607" y="143607"/>
          <a:ext cx="3776784" cy="3776784"/>
        </a:xfrm>
        <a:custGeom>
          <a:avLst/>
          <a:gdLst/>
          <a:ahLst/>
          <a:cxnLst/>
          <a:rect l="0" t="0" r="0" b="0"/>
          <a:pathLst>
            <a:path>
              <a:moveTo>
                <a:pt x="731431" y="395922"/>
              </a:moveTo>
              <a:arcTo wR="1888392" hR="1888392" stAng="13933032" swAng="35333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618D29F1-B27A-4177-81E5-AC40E22B797C}">
      <dsp:nvSpPr>
        <dsp:cNvPr id="0" name=""/>
        <dsp:cNvSpPr/>
      </dsp:nvSpPr>
      <dsp:spPr>
        <a:xfrm>
          <a:off x="2051951" y="131391"/>
          <a:ext cx="546784" cy="311922"/>
        </a:xfrm>
        <a:prstGeom prst="roundRect">
          <a:avLst/>
        </a:prstGeom>
        <a:solidFill>
          <a:srgbClr val="1D3064"/>
        </a:solidFill>
        <a:ln w="31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solidFill>
                <a:schemeClr val="bg1"/>
              </a:solidFill>
            </a:rPr>
            <a:t>15</a:t>
          </a:r>
        </a:p>
      </dsp:txBody>
      <dsp:txXfrm>
        <a:off x="2067178" y="146618"/>
        <a:ext cx="516330" cy="281468"/>
      </dsp:txXfrm>
    </dsp:sp>
    <dsp:sp modelId="{B309ED74-66A5-480C-86D1-D4E840F406AC}">
      <dsp:nvSpPr>
        <dsp:cNvPr id="0" name=""/>
        <dsp:cNvSpPr/>
      </dsp:nvSpPr>
      <dsp:spPr>
        <a:xfrm>
          <a:off x="1159607" y="143607"/>
          <a:ext cx="3776784" cy="3776784"/>
        </a:xfrm>
        <a:custGeom>
          <a:avLst/>
          <a:gdLst/>
          <a:ahLst/>
          <a:cxnLst/>
          <a:rect l="0" t="0" r="0" b="0"/>
          <a:pathLst>
            <a:path>
              <a:moveTo>
                <a:pt x="1440868" y="53794"/>
              </a:moveTo>
              <a:arcTo wR="1888392" hR="1888392" stAng="15377475" swAng="319807"/>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F6FC54-D545-444E-B19E-55F8864057C9}">
      <dsp:nvSpPr>
        <dsp:cNvPr id="0" name=""/>
        <dsp:cNvSpPr/>
      </dsp:nvSpPr>
      <dsp:spPr>
        <a:xfrm>
          <a:off x="2774607" y="-12353"/>
          <a:ext cx="546784" cy="311922"/>
        </a:xfrm>
        <a:prstGeom prst="roundRect">
          <a:avLst/>
        </a:prstGeom>
        <a:solidFill>
          <a:schemeClr val="lt1"/>
        </a:solidFill>
        <a:ln w="3175" cap="flat" cmpd="sng" algn="ctr">
          <a:solidFill>
            <a:schemeClr val="tx1"/>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solidFill>
                <a:schemeClr val="tx1"/>
              </a:solidFill>
            </a:rPr>
            <a:t>00</a:t>
          </a:r>
        </a:p>
      </dsp:txBody>
      <dsp:txXfrm>
        <a:off x="2789834" y="2874"/>
        <a:ext cx="516330" cy="281468"/>
      </dsp:txXfrm>
    </dsp:sp>
    <dsp:sp modelId="{990317AE-40E7-4E24-A709-5C1E3D7DF428}">
      <dsp:nvSpPr>
        <dsp:cNvPr id="0" name=""/>
        <dsp:cNvSpPr/>
      </dsp:nvSpPr>
      <dsp:spPr>
        <a:xfrm>
          <a:off x="1159607" y="143607"/>
          <a:ext cx="3776784" cy="3776784"/>
        </a:xfrm>
        <a:custGeom>
          <a:avLst/>
          <a:gdLst/>
          <a:ahLst/>
          <a:cxnLst/>
          <a:rect l="0" t="0" r="0" b="0"/>
          <a:pathLst>
            <a:path>
              <a:moveTo>
                <a:pt x="2163557" y="20155"/>
              </a:moveTo>
              <a:arcTo wR="1888392" hR="1888392" stAng="16702718" swAng="319807"/>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0A74DD1F-BEEA-4E1C-A32C-B77C043FA489}">
      <dsp:nvSpPr>
        <dsp:cNvPr id="0" name=""/>
        <dsp:cNvSpPr/>
      </dsp:nvSpPr>
      <dsp:spPr>
        <a:xfrm>
          <a:off x="3497264" y="131391"/>
          <a:ext cx="546784" cy="311922"/>
        </a:xfrm>
        <a:prstGeom prst="roundRect">
          <a:avLst/>
        </a:prstGeom>
        <a:solidFill>
          <a:srgbClr val="1D3064"/>
        </a:solidFill>
        <a:ln w="12700" cap="flat" cmpd="sng" algn="ctr">
          <a:noFill/>
          <a:prstDash val="solid"/>
          <a:miter lim="800000"/>
        </a:ln>
        <a:effectLst/>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a:solidFill>
                <a:schemeClr val="bg1"/>
              </a:solidFill>
            </a:rPr>
            <a:t>01</a:t>
          </a:r>
        </a:p>
      </dsp:txBody>
      <dsp:txXfrm>
        <a:off x="3512491" y="146618"/>
        <a:ext cx="516330" cy="281468"/>
      </dsp:txXfrm>
    </dsp:sp>
    <dsp:sp modelId="{53232857-986B-4378-8600-83D67A96D1FC}">
      <dsp:nvSpPr>
        <dsp:cNvPr id="0" name=""/>
        <dsp:cNvSpPr/>
      </dsp:nvSpPr>
      <dsp:spPr>
        <a:xfrm>
          <a:off x="1159607" y="143607"/>
          <a:ext cx="3776784" cy="3776784"/>
        </a:xfrm>
        <a:custGeom>
          <a:avLst/>
          <a:gdLst/>
          <a:ahLst/>
          <a:cxnLst/>
          <a:rect l="0" t="0" r="0" b="0"/>
          <a:pathLst>
            <a:path>
              <a:moveTo>
                <a:pt x="2886122" y="285095"/>
              </a:moveTo>
              <a:arcTo wR="1888392" hR="1888392" stAng="18113638" swAng="35333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B79BDE4E-122F-4949-877A-51460124312E}">
      <dsp:nvSpPr>
        <dsp:cNvPr id="0" name=""/>
        <dsp:cNvSpPr/>
      </dsp:nvSpPr>
      <dsp:spPr>
        <a:xfrm>
          <a:off x="4109902" y="540743"/>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02</a:t>
          </a:r>
        </a:p>
      </dsp:txBody>
      <dsp:txXfrm>
        <a:off x="4125129" y="555970"/>
        <a:ext cx="516330" cy="281468"/>
      </dsp:txXfrm>
    </dsp:sp>
    <dsp:sp modelId="{C1FBA839-DD16-4EA3-AA23-4F09E108C25C}">
      <dsp:nvSpPr>
        <dsp:cNvPr id="0" name=""/>
        <dsp:cNvSpPr/>
      </dsp:nvSpPr>
      <dsp:spPr>
        <a:xfrm>
          <a:off x="1159607" y="143607"/>
          <a:ext cx="3776784" cy="3776784"/>
        </a:xfrm>
        <a:custGeom>
          <a:avLst/>
          <a:gdLst/>
          <a:ahLst/>
          <a:cxnLst/>
          <a:rect l="0" t="0" r="0" b="0"/>
          <a:pathLst>
            <a:path>
              <a:moveTo>
                <a:pt x="3365488" y="711867"/>
              </a:moveTo>
              <a:arcTo wR="1888392" hR="1888392" stAng="19287735" swAng="64205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47D8252C-7210-4124-986D-C5A27EC7BB38}">
      <dsp:nvSpPr>
        <dsp:cNvPr id="0" name=""/>
        <dsp:cNvSpPr/>
      </dsp:nvSpPr>
      <dsp:spPr>
        <a:xfrm>
          <a:off x="4519254" y="1153382"/>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03</a:t>
          </a:r>
        </a:p>
      </dsp:txBody>
      <dsp:txXfrm>
        <a:off x="4534481" y="1168609"/>
        <a:ext cx="516330" cy="281468"/>
      </dsp:txXfrm>
    </dsp:sp>
    <dsp:sp modelId="{9A5BE75C-4E4D-435D-8920-9E32832F465D}">
      <dsp:nvSpPr>
        <dsp:cNvPr id="0" name=""/>
        <dsp:cNvSpPr/>
      </dsp:nvSpPr>
      <dsp:spPr>
        <a:xfrm>
          <a:off x="1159607" y="143607"/>
          <a:ext cx="3776784" cy="3776784"/>
        </a:xfrm>
        <a:custGeom>
          <a:avLst/>
          <a:gdLst/>
          <a:ahLst/>
          <a:cxnLst/>
          <a:rect l="0" t="0" r="0" b="0"/>
          <a:pathLst>
            <a:path>
              <a:moveTo>
                <a:pt x="3690999" y="1325691"/>
              </a:moveTo>
              <a:arcTo wR="1888392" hR="1888392" stAng="20559825" swAng="74831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E213AD56-109D-4571-A0B0-1181C7025370}">
      <dsp:nvSpPr>
        <dsp:cNvPr id="0" name=""/>
        <dsp:cNvSpPr/>
      </dsp:nvSpPr>
      <dsp:spPr>
        <a:xfrm>
          <a:off x="4663000" y="1876038"/>
          <a:ext cx="546784" cy="311922"/>
        </a:xfrm>
        <a:prstGeom prst="roundRect">
          <a:avLst/>
        </a:prstGeom>
        <a:solidFill>
          <a:srgbClr val="1D3064"/>
        </a:solidFill>
        <a:ln w="12700" cap="flat" cmpd="sng" algn="ctr">
          <a:noFill/>
          <a:prstDash val="solid"/>
          <a:miter lim="800000"/>
        </a:ln>
        <a:effectLst/>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a:solidFill>
                <a:schemeClr val="bg1"/>
              </a:solidFill>
            </a:rPr>
            <a:t>04</a:t>
          </a:r>
        </a:p>
      </dsp:txBody>
      <dsp:txXfrm>
        <a:off x="4678227" y="1891265"/>
        <a:ext cx="516330" cy="281468"/>
      </dsp:txXfrm>
    </dsp:sp>
    <dsp:sp modelId="{3E6F2280-A61F-493F-991B-F51BCDF11010}">
      <dsp:nvSpPr>
        <dsp:cNvPr id="0" name=""/>
        <dsp:cNvSpPr/>
      </dsp:nvSpPr>
      <dsp:spPr>
        <a:xfrm>
          <a:off x="1159607" y="143607"/>
          <a:ext cx="3776784" cy="3776784"/>
        </a:xfrm>
        <a:custGeom>
          <a:avLst/>
          <a:gdLst/>
          <a:ahLst/>
          <a:cxnLst/>
          <a:rect l="0" t="0" r="0" b="0"/>
          <a:pathLst>
            <a:path>
              <a:moveTo>
                <a:pt x="3769983" y="2048524"/>
              </a:moveTo>
              <a:arcTo wR="1888392" hR="1888392" stAng="291865" swAng="74831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D0E1629B-81D1-410E-AE41-A68200AAD38A}">
      <dsp:nvSpPr>
        <dsp:cNvPr id="0" name=""/>
        <dsp:cNvSpPr/>
      </dsp:nvSpPr>
      <dsp:spPr>
        <a:xfrm>
          <a:off x="4519254" y="2598695"/>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05</a:t>
          </a:r>
        </a:p>
      </dsp:txBody>
      <dsp:txXfrm>
        <a:off x="4534481" y="2613922"/>
        <a:ext cx="516330" cy="281468"/>
      </dsp:txXfrm>
    </dsp:sp>
    <dsp:sp modelId="{896B2AF0-997F-4A3D-95E9-687AEE393215}">
      <dsp:nvSpPr>
        <dsp:cNvPr id="0" name=""/>
        <dsp:cNvSpPr/>
      </dsp:nvSpPr>
      <dsp:spPr>
        <a:xfrm>
          <a:off x="1159607" y="143607"/>
          <a:ext cx="3776784" cy="3776784"/>
        </a:xfrm>
        <a:custGeom>
          <a:avLst/>
          <a:gdLst/>
          <a:ahLst/>
          <a:cxnLst/>
          <a:rect l="0" t="0" r="0" b="0"/>
          <a:pathLst>
            <a:path>
              <a:moveTo>
                <a:pt x="3558260" y="2770189"/>
              </a:moveTo>
              <a:arcTo wR="1888392" hR="1888392" stAng="1670214" swAng="64205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BC51FB21-3AAD-464F-AB4E-68130F6D9956}">
      <dsp:nvSpPr>
        <dsp:cNvPr id="0" name=""/>
        <dsp:cNvSpPr/>
      </dsp:nvSpPr>
      <dsp:spPr>
        <a:xfrm>
          <a:off x="4109902" y="3211333"/>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06</a:t>
          </a:r>
        </a:p>
      </dsp:txBody>
      <dsp:txXfrm>
        <a:off x="4125129" y="3226560"/>
        <a:ext cx="516330" cy="281468"/>
      </dsp:txXfrm>
    </dsp:sp>
    <dsp:sp modelId="{36A25B59-0286-4766-AF4A-4AD99255FB9A}">
      <dsp:nvSpPr>
        <dsp:cNvPr id="0" name=""/>
        <dsp:cNvSpPr/>
      </dsp:nvSpPr>
      <dsp:spPr>
        <a:xfrm>
          <a:off x="1159607" y="143607"/>
          <a:ext cx="3776784" cy="3776784"/>
        </a:xfrm>
        <a:custGeom>
          <a:avLst/>
          <a:gdLst/>
          <a:ahLst/>
          <a:cxnLst/>
          <a:rect l="0" t="0" r="0" b="0"/>
          <a:pathLst>
            <a:path>
              <a:moveTo>
                <a:pt x="3045353" y="3380862"/>
              </a:moveTo>
              <a:arcTo wR="1888392" hR="1888392" stAng="3133032" swAng="35333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4EBAFEA8-38A7-4839-A196-E833865FEC3E}">
      <dsp:nvSpPr>
        <dsp:cNvPr id="0" name=""/>
        <dsp:cNvSpPr/>
      </dsp:nvSpPr>
      <dsp:spPr>
        <a:xfrm>
          <a:off x="3497264" y="3620685"/>
          <a:ext cx="546784" cy="311922"/>
        </a:xfrm>
        <a:prstGeom prst="roundRect">
          <a:avLst/>
        </a:prstGeom>
        <a:solidFill>
          <a:srgbClr val="1D3064"/>
        </a:solidFill>
        <a:ln w="31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solidFill>
                <a:schemeClr val="bg1"/>
              </a:solidFill>
            </a:rPr>
            <a:t>07</a:t>
          </a:r>
        </a:p>
      </dsp:txBody>
      <dsp:txXfrm>
        <a:off x="3512491" y="3635912"/>
        <a:ext cx="516330" cy="281468"/>
      </dsp:txXfrm>
    </dsp:sp>
    <dsp:sp modelId="{A95F9BD2-8E6C-4D20-A2D9-24C989631FAC}">
      <dsp:nvSpPr>
        <dsp:cNvPr id="0" name=""/>
        <dsp:cNvSpPr/>
      </dsp:nvSpPr>
      <dsp:spPr>
        <a:xfrm>
          <a:off x="1159607" y="143607"/>
          <a:ext cx="3776784" cy="3776784"/>
        </a:xfrm>
        <a:custGeom>
          <a:avLst/>
          <a:gdLst/>
          <a:ahLst/>
          <a:cxnLst/>
          <a:rect l="0" t="0" r="0" b="0"/>
          <a:pathLst>
            <a:path>
              <a:moveTo>
                <a:pt x="2335915" y="3722990"/>
              </a:moveTo>
              <a:arcTo wR="1888392" hR="1888392" stAng="4577475" swAng="319807"/>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FCDBC8B2-A072-489D-B135-4F76C90ABB73}">
      <dsp:nvSpPr>
        <dsp:cNvPr id="0" name=""/>
        <dsp:cNvSpPr/>
      </dsp:nvSpPr>
      <dsp:spPr>
        <a:xfrm>
          <a:off x="2774607" y="3764431"/>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08</a:t>
          </a:r>
        </a:p>
      </dsp:txBody>
      <dsp:txXfrm>
        <a:off x="2789834" y="3779658"/>
        <a:ext cx="516330" cy="281468"/>
      </dsp:txXfrm>
    </dsp:sp>
    <dsp:sp modelId="{BBF115A0-E49F-481D-B9B9-7781A7700C68}">
      <dsp:nvSpPr>
        <dsp:cNvPr id="0" name=""/>
        <dsp:cNvSpPr/>
      </dsp:nvSpPr>
      <dsp:spPr>
        <a:xfrm>
          <a:off x="1159607" y="143607"/>
          <a:ext cx="3776784" cy="3776784"/>
        </a:xfrm>
        <a:custGeom>
          <a:avLst/>
          <a:gdLst/>
          <a:ahLst/>
          <a:cxnLst/>
          <a:rect l="0" t="0" r="0" b="0"/>
          <a:pathLst>
            <a:path>
              <a:moveTo>
                <a:pt x="1613227" y="3756629"/>
              </a:moveTo>
              <a:arcTo wR="1888392" hR="1888392" stAng="5902718" swAng="319807"/>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27377A35-5C63-4153-A1CA-D07A81FEBED6}">
      <dsp:nvSpPr>
        <dsp:cNvPr id="0" name=""/>
        <dsp:cNvSpPr/>
      </dsp:nvSpPr>
      <dsp:spPr>
        <a:xfrm>
          <a:off x="2051951" y="3620685"/>
          <a:ext cx="546784" cy="311922"/>
        </a:xfrm>
        <a:prstGeom prst="roundRect">
          <a:avLst/>
        </a:prstGeom>
        <a:noFill/>
        <a:ln w="12700" cap="flat" cmpd="sng" algn="ctr">
          <a:solidFill>
            <a:schemeClr val="tx1"/>
          </a:solidFill>
          <a:prstDash val="solid"/>
          <a:miter lim="800000"/>
        </a:ln>
        <a:effectLst/>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a:solidFill>
                <a:schemeClr val="tx1"/>
              </a:solidFill>
            </a:rPr>
            <a:t>09</a:t>
          </a:r>
        </a:p>
      </dsp:txBody>
      <dsp:txXfrm>
        <a:off x="2067178" y="3635912"/>
        <a:ext cx="516330" cy="281468"/>
      </dsp:txXfrm>
    </dsp:sp>
    <dsp:sp modelId="{C75F3799-6FE1-44D4-94E5-D0323DD9642D}">
      <dsp:nvSpPr>
        <dsp:cNvPr id="0" name=""/>
        <dsp:cNvSpPr/>
      </dsp:nvSpPr>
      <dsp:spPr>
        <a:xfrm>
          <a:off x="1159607" y="143607"/>
          <a:ext cx="3776784" cy="3776784"/>
        </a:xfrm>
        <a:custGeom>
          <a:avLst/>
          <a:gdLst/>
          <a:ahLst/>
          <a:cxnLst/>
          <a:rect l="0" t="0" r="0" b="0"/>
          <a:pathLst>
            <a:path>
              <a:moveTo>
                <a:pt x="890662" y="3491689"/>
              </a:moveTo>
              <a:arcTo wR="1888392" hR="1888392" stAng="7313638" swAng="35333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ACA3DEE4-4C37-414B-A20E-469C72FF631D}">
      <dsp:nvSpPr>
        <dsp:cNvPr id="0" name=""/>
        <dsp:cNvSpPr/>
      </dsp:nvSpPr>
      <dsp:spPr>
        <a:xfrm>
          <a:off x="1439312" y="3211333"/>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10</a:t>
          </a:r>
        </a:p>
      </dsp:txBody>
      <dsp:txXfrm>
        <a:off x="1454539" y="3226560"/>
        <a:ext cx="516330" cy="281468"/>
      </dsp:txXfrm>
    </dsp:sp>
    <dsp:sp modelId="{39826E2A-859D-4D09-B02A-05287C251E70}">
      <dsp:nvSpPr>
        <dsp:cNvPr id="0" name=""/>
        <dsp:cNvSpPr/>
      </dsp:nvSpPr>
      <dsp:spPr>
        <a:xfrm>
          <a:off x="1159607" y="143607"/>
          <a:ext cx="3776784" cy="3776784"/>
        </a:xfrm>
        <a:custGeom>
          <a:avLst/>
          <a:gdLst/>
          <a:ahLst/>
          <a:cxnLst/>
          <a:rect l="0" t="0" r="0" b="0"/>
          <a:pathLst>
            <a:path>
              <a:moveTo>
                <a:pt x="411295" y="3064917"/>
              </a:moveTo>
              <a:arcTo wR="1888392" hR="1888392" stAng="8487735" swAng="64205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508270A1-9056-4B9A-B0BC-2D3B1299FC58}">
      <dsp:nvSpPr>
        <dsp:cNvPr id="0" name=""/>
        <dsp:cNvSpPr/>
      </dsp:nvSpPr>
      <dsp:spPr>
        <a:xfrm>
          <a:off x="1029960" y="2598695"/>
          <a:ext cx="546784" cy="311922"/>
        </a:xfrm>
        <a:prstGeom prst="roundRect">
          <a:avLst/>
        </a:prstGeom>
        <a:noFill/>
        <a:ln w="12700" cap="flat" cmpd="sng" algn="ctr">
          <a:solidFill>
            <a:schemeClr val="tx1"/>
          </a:solidFill>
          <a:prstDash val="solid"/>
          <a:miter lim="800000"/>
        </a:ln>
        <a:effectLst/>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a:solidFill>
                <a:schemeClr val="tx1"/>
              </a:solidFill>
            </a:rPr>
            <a:t>11</a:t>
          </a:r>
        </a:p>
      </dsp:txBody>
      <dsp:txXfrm>
        <a:off x="1045187" y="2613922"/>
        <a:ext cx="516330" cy="281468"/>
      </dsp:txXfrm>
    </dsp:sp>
    <dsp:sp modelId="{0186EB4D-19E9-40A6-9853-FE75E1F1C601}">
      <dsp:nvSpPr>
        <dsp:cNvPr id="0" name=""/>
        <dsp:cNvSpPr/>
      </dsp:nvSpPr>
      <dsp:spPr>
        <a:xfrm>
          <a:off x="1159607" y="143607"/>
          <a:ext cx="3776784" cy="3776784"/>
        </a:xfrm>
        <a:custGeom>
          <a:avLst/>
          <a:gdLst/>
          <a:ahLst/>
          <a:cxnLst/>
          <a:rect l="0" t="0" r="0" b="0"/>
          <a:pathLst>
            <a:path>
              <a:moveTo>
                <a:pt x="85785" y="2451093"/>
              </a:moveTo>
              <a:arcTo wR="1888392" hR="1888392" stAng="9759825" swAng="74831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E6415271-4602-49BD-8F77-B2554532B0A0}">
      <dsp:nvSpPr>
        <dsp:cNvPr id="0" name=""/>
        <dsp:cNvSpPr/>
      </dsp:nvSpPr>
      <dsp:spPr>
        <a:xfrm>
          <a:off x="886215" y="1876038"/>
          <a:ext cx="546784" cy="311922"/>
        </a:xfrm>
        <a:prstGeom prst="roundRect">
          <a:avLst/>
        </a:prstGeom>
        <a:solidFill>
          <a:srgbClr val="1D3064"/>
        </a:solidFill>
        <a:ln w="31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solidFill>
                <a:schemeClr val="bg1"/>
              </a:solidFill>
            </a:rPr>
            <a:t>12</a:t>
          </a:r>
        </a:p>
      </dsp:txBody>
      <dsp:txXfrm>
        <a:off x="901442" y="1891265"/>
        <a:ext cx="516330" cy="281468"/>
      </dsp:txXfrm>
    </dsp:sp>
    <dsp:sp modelId="{0CA37BE1-2CF9-468E-BFF7-47A995E3BB08}">
      <dsp:nvSpPr>
        <dsp:cNvPr id="0" name=""/>
        <dsp:cNvSpPr/>
      </dsp:nvSpPr>
      <dsp:spPr>
        <a:xfrm>
          <a:off x="1159607" y="143607"/>
          <a:ext cx="3776784" cy="3776784"/>
        </a:xfrm>
        <a:custGeom>
          <a:avLst/>
          <a:gdLst/>
          <a:ahLst/>
          <a:cxnLst/>
          <a:rect l="0" t="0" r="0" b="0"/>
          <a:pathLst>
            <a:path>
              <a:moveTo>
                <a:pt x="6801" y="1728260"/>
              </a:moveTo>
              <a:arcTo wR="1888392" hR="1888392" stAng="11091865" swAng="74831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C10433AE-724D-434E-B55F-F8FBA5E6691B}">
      <dsp:nvSpPr>
        <dsp:cNvPr id="0" name=""/>
        <dsp:cNvSpPr/>
      </dsp:nvSpPr>
      <dsp:spPr>
        <a:xfrm>
          <a:off x="1029960" y="1153382"/>
          <a:ext cx="546784" cy="311922"/>
        </a:xfrm>
        <a:prstGeom prst="roundRect">
          <a:avLst/>
        </a:prstGeom>
        <a:solidFill>
          <a:schemeClr val="lt1">
            <a:hueOff val="0"/>
            <a:satOff val="0"/>
            <a:lumOff val="0"/>
            <a:alphaOff val="0"/>
          </a:schemeClr>
        </a:solidFill>
        <a:ln w="317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13</a:t>
          </a:r>
        </a:p>
      </dsp:txBody>
      <dsp:txXfrm>
        <a:off x="1045187" y="1168609"/>
        <a:ext cx="516330" cy="281468"/>
      </dsp:txXfrm>
    </dsp:sp>
    <dsp:sp modelId="{6361BE26-1613-4254-AAB5-23BC794B38F0}">
      <dsp:nvSpPr>
        <dsp:cNvPr id="0" name=""/>
        <dsp:cNvSpPr/>
      </dsp:nvSpPr>
      <dsp:spPr>
        <a:xfrm>
          <a:off x="1159607" y="143607"/>
          <a:ext cx="3776784" cy="3776784"/>
        </a:xfrm>
        <a:custGeom>
          <a:avLst/>
          <a:gdLst/>
          <a:ahLst/>
          <a:cxnLst/>
          <a:rect l="0" t="0" r="0" b="0"/>
          <a:pathLst>
            <a:path>
              <a:moveTo>
                <a:pt x="218524" y="1006595"/>
              </a:moveTo>
              <a:arcTo wR="1888392" hR="1888392" stAng="12470214" swAng="64205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75C04093-B402-44E4-A02F-D9D20B3CFE9D}">
      <dsp:nvSpPr>
        <dsp:cNvPr id="0" name=""/>
        <dsp:cNvSpPr/>
      </dsp:nvSpPr>
      <dsp:spPr>
        <a:xfrm>
          <a:off x="1439312" y="540743"/>
          <a:ext cx="546784" cy="311922"/>
        </a:xfrm>
        <a:prstGeom prst="roundRect">
          <a:avLst/>
        </a:prstGeom>
        <a:noFill/>
        <a:ln w="12700" cap="flat" cmpd="sng" algn="ctr">
          <a:solidFill>
            <a:schemeClr val="tx1"/>
          </a:solidFill>
          <a:prstDash val="solid"/>
          <a:miter lim="800000"/>
        </a:ln>
        <a:effectLst/>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kern="1200" dirty="0">
              <a:solidFill>
                <a:schemeClr val="tx1"/>
              </a:solidFill>
            </a:rPr>
            <a:t>14</a:t>
          </a:r>
        </a:p>
      </dsp:txBody>
      <dsp:txXfrm>
        <a:off x="1454539" y="555970"/>
        <a:ext cx="516330" cy="281468"/>
      </dsp:txXfrm>
    </dsp:sp>
    <dsp:sp modelId="{76F78CE6-90C8-4B35-9F7E-1F5EB9B22151}">
      <dsp:nvSpPr>
        <dsp:cNvPr id="0" name=""/>
        <dsp:cNvSpPr/>
      </dsp:nvSpPr>
      <dsp:spPr>
        <a:xfrm>
          <a:off x="1159607" y="143607"/>
          <a:ext cx="3776784" cy="3776784"/>
        </a:xfrm>
        <a:custGeom>
          <a:avLst/>
          <a:gdLst/>
          <a:ahLst/>
          <a:cxnLst/>
          <a:rect l="0" t="0" r="0" b="0"/>
          <a:pathLst>
            <a:path>
              <a:moveTo>
                <a:pt x="731431" y="395922"/>
              </a:moveTo>
              <a:arcTo wR="1888392" hR="1888392" stAng="13933032" swAng="353330"/>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618D29F1-B27A-4177-81E5-AC40E22B797C}">
      <dsp:nvSpPr>
        <dsp:cNvPr id="0" name=""/>
        <dsp:cNvSpPr/>
      </dsp:nvSpPr>
      <dsp:spPr>
        <a:xfrm>
          <a:off x="2051951" y="131391"/>
          <a:ext cx="546784" cy="311922"/>
        </a:xfrm>
        <a:prstGeom prst="roundRect">
          <a:avLst/>
        </a:prstGeom>
        <a:solidFill>
          <a:srgbClr val="1D3064"/>
        </a:solidFill>
        <a:ln w="31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solidFill>
                <a:schemeClr val="bg1"/>
              </a:solidFill>
            </a:rPr>
            <a:t>15</a:t>
          </a:r>
        </a:p>
      </dsp:txBody>
      <dsp:txXfrm>
        <a:off x="2067178" y="146618"/>
        <a:ext cx="516330" cy="281468"/>
      </dsp:txXfrm>
    </dsp:sp>
    <dsp:sp modelId="{B309ED74-66A5-480C-86D1-D4E840F406AC}">
      <dsp:nvSpPr>
        <dsp:cNvPr id="0" name=""/>
        <dsp:cNvSpPr/>
      </dsp:nvSpPr>
      <dsp:spPr>
        <a:xfrm>
          <a:off x="1159607" y="143607"/>
          <a:ext cx="3776784" cy="3776784"/>
        </a:xfrm>
        <a:custGeom>
          <a:avLst/>
          <a:gdLst/>
          <a:ahLst/>
          <a:cxnLst/>
          <a:rect l="0" t="0" r="0" b="0"/>
          <a:pathLst>
            <a:path>
              <a:moveTo>
                <a:pt x="1440868" y="53794"/>
              </a:moveTo>
              <a:arcTo wR="1888392" hR="1888392" stAng="15377475" swAng="319807"/>
            </a:path>
          </a:pathLst>
        </a:custGeom>
        <a:noFill/>
        <a:ln w="3175"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8/6/2021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1</a:t>
            </a:fld>
            <a:endParaRPr lang="en-US"/>
          </a:p>
        </p:txBody>
      </p:sp>
    </p:spTree>
    <p:extLst>
      <p:ext uri="{BB962C8B-B14F-4D97-AF65-F5344CB8AC3E}">
        <p14:creationId xmlns:p14="http://schemas.microsoft.com/office/powerpoint/2010/main" val="242001631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png"/><Relationship Id="rId4" Type="http://schemas.microsoft.com/office/2007/relationships/hdphoto" Target="../media/hdphoto2.wdp"/></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2.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 xmlns:a16="http://schemas.microsoft.com/office/drawing/2014/main" id="{E0042908-6588-4C7A-9615-8D5899E8A9FA}"/>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solidFill>
              <a:schemeClr val="tx2"/>
            </a:solid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p:nvPr>
        </p:nvSpPr>
        <p:spPr>
          <a:xfrm>
            <a:off x="1828969" y="5563895"/>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endParaRPr lang="en-US" dirty="0"/>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 xmlns:a16="http://schemas.microsoft.com/office/drawing/2014/main" id="{3C805A05-DDF6-4BA6-8EDB-D97128A43BFF}"/>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 xmlns:a16="http://schemas.microsoft.com/office/drawing/2014/main" id="{43663646-67F9-47C4-84E3-B4EEDA5FB900}"/>
              </a:ext>
            </a:extLst>
          </p:cNvPr>
          <p:cNvSpPr/>
          <p:nvPr userDrawn="1"/>
        </p:nvSpPr>
        <p:spPr>
          <a:xfrm rot="5400000">
            <a:off x="4309292" y="1717040"/>
            <a:ext cx="3461658" cy="2984188"/>
          </a:xfrm>
          <a:prstGeom prst="hexagon">
            <a:avLst/>
          </a:prstGeom>
          <a:solidFill>
            <a:schemeClr val="bg1">
              <a:lumMod val="95000"/>
            </a:schemeClr>
          </a:solidFill>
          <a:ln w="57150">
            <a:solidFill>
              <a:schemeClr val="tx2"/>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a:extLst>
              <a:ext uri="{FF2B5EF4-FFF2-40B4-BE49-F238E27FC236}">
                <a16:creationId xmlns="" xmlns:a16="http://schemas.microsoft.com/office/drawing/2014/main" id="{760958F6-32DB-4A2F-BFC3-1FBEA359C54B}"/>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34" name="Rectangle 33">
            <a:extLst>
              <a:ext uri="{FF2B5EF4-FFF2-40B4-BE49-F238E27FC236}">
                <a16:creationId xmlns="" xmlns:a16="http://schemas.microsoft.com/office/drawing/2014/main" id="{66C323F2-F0D8-4EB7-83AE-DFAA81BC49DE}"/>
              </a:ext>
            </a:extLst>
          </p:cNvPr>
          <p:cNvSpPr/>
          <p:nvPr userDrawn="1"/>
        </p:nvSpPr>
        <p:spPr>
          <a:xfrm rot="10800000">
            <a:off x="7678346" y="2221532"/>
            <a:ext cx="4513654" cy="1951692"/>
          </a:xfrm>
          <a:prstGeom prst="rect">
            <a:avLst/>
          </a:prstGeom>
          <a:gradFill>
            <a:gsLst>
              <a:gs pos="0">
                <a:srgbClr val="1D3064"/>
              </a:gs>
              <a:gs pos="50000">
                <a:srgbClr val="1D3064"/>
              </a:gs>
              <a:gs pos="100000">
                <a:schemeClr val="tx2"/>
              </a:gs>
            </a:gsLst>
            <a:lin ang="10800000" scaled="1"/>
          </a:gra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212D27AE-1148-4B42-8B61-FEBB2397EFD9}"/>
              </a:ext>
            </a:extLst>
          </p:cNvPr>
          <p:cNvSpPr/>
          <p:nvPr userDrawn="1"/>
        </p:nvSpPr>
        <p:spPr>
          <a:xfrm>
            <a:off x="0" y="2221532"/>
            <a:ext cx="4402106" cy="1951692"/>
          </a:xfrm>
          <a:prstGeom prst="rect">
            <a:avLst/>
          </a:prstGeom>
          <a:gradFill>
            <a:gsLst>
              <a:gs pos="0">
                <a:srgbClr val="1D3064"/>
              </a:gs>
              <a:gs pos="50000">
                <a:srgbClr val="1D3064"/>
              </a:gs>
              <a:gs pos="100000">
                <a:schemeClr val="tx2"/>
              </a:gs>
            </a:gsLst>
            <a:lin ang="10800000" scaled="1"/>
          </a:gradFill>
          <a:ln>
            <a:solidFill>
              <a:schemeClr val="tx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123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 xmlns:a16="http://schemas.microsoft.com/office/drawing/2014/main"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F86BF578-C91A-4942-95D5-11408C3CCACF}"/>
              </a:ext>
            </a:extLst>
          </p:cNvPr>
          <p:cNvCxnSpPr/>
          <p:nvPr userDrawn="1"/>
        </p:nvCxnSpPr>
        <p:spPr>
          <a:xfrm>
            <a:off x="-557933"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 xmlns:a16="http://schemas.microsoft.com/office/drawing/2014/main" id="{BF2BE79E-EA17-4AB9-8CB5-714A52A6B2F5}"/>
              </a:ext>
            </a:extLst>
          </p:cNvPr>
          <p:cNvSpPr txBox="1">
            <a:spLocks/>
          </p:cNvSpPr>
          <p:nvPr userDrawn="1"/>
        </p:nvSpPr>
        <p:spPr>
          <a:xfrm>
            <a:off x="3750365" y="6604000"/>
            <a:ext cx="5314122"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2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Basics of Architectures, Processes, and Communication</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46663331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 xmlns:a16="http://schemas.microsoft.com/office/drawing/2014/main" id="{2967F7A9-F404-4412-B868-8EB67A41E2A4}"/>
              </a:ext>
            </a:extLst>
          </p:cNvPr>
          <p:cNvGrpSpPr/>
          <p:nvPr userDrawn="1"/>
        </p:nvGrpSpPr>
        <p:grpSpPr>
          <a:xfrm>
            <a:off x="9576895" y="5890392"/>
            <a:ext cx="2554143" cy="587454"/>
            <a:chOff x="131177" y="5775962"/>
            <a:chExt cx="2530239" cy="581956"/>
          </a:xfrm>
        </p:grpSpPr>
        <p:pic>
          <p:nvPicPr>
            <p:cNvPr id="16" name="Picture 15">
              <a:extLst>
                <a:ext uri="{FF2B5EF4-FFF2-40B4-BE49-F238E27FC236}">
                  <a16:creationId xmlns=""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 xmlns:a16="http://schemas.microsoft.com/office/drawing/2014/main" id="{BF2BE79E-EA17-4AB9-8CB5-714A52A6B2F5}"/>
              </a:ext>
            </a:extLst>
          </p:cNvPr>
          <p:cNvSpPr txBox="1">
            <a:spLocks/>
          </p:cNvSpPr>
          <p:nvPr userDrawn="1"/>
        </p:nvSpPr>
        <p:spPr>
          <a:xfrm>
            <a:off x="3750365" y="6604000"/>
            <a:ext cx="5314122"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2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Basics of Architectures, Processes, and Communication</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ebdings" panose="05030102010509060703"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 xmlns:a16="http://schemas.microsoft.com/office/drawing/2014/main"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 xmlns:a16="http://schemas.microsoft.com/office/drawing/2014/main" id="{BF2BE79E-EA17-4AB9-8CB5-714A52A6B2F5}"/>
              </a:ext>
            </a:extLst>
          </p:cNvPr>
          <p:cNvSpPr txBox="1">
            <a:spLocks/>
          </p:cNvSpPr>
          <p:nvPr userDrawn="1"/>
        </p:nvSpPr>
        <p:spPr>
          <a:xfrm>
            <a:off x="3750365" y="6604000"/>
            <a:ext cx="5314122"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2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Basics of Architectures, Processes, and Communication</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9" name="Group 8">
            <a:extLst>
              <a:ext uri="{FF2B5EF4-FFF2-40B4-BE49-F238E27FC236}">
                <a16:creationId xmlns="" xmlns:a16="http://schemas.microsoft.com/office/drawing/2014/main" id="{2802A992-B18A-47D4-8497-02E7586DF58D}"/>
              </a:ext>
            </a:extLst>
          </p:cNvPr>
          <p:cNvGrpSpPr/>
          <p:nvPr userDrawn="1"/>
        </p:nvGrpSpPr>
        <p:grpSpPr>
          <a:xfrm>
            <a:off x="9437223" y="6087939"/>
            <a:ext cx="2554143" cy="587454"/>
            <a:chOff x="131177" y="5775962"/>
            <a:chExt cx="2530239" cy="581956"/>
          </a:xfrm>
        </p:grpSpPr>
        <p:pic>
          <p:nvPicPr>
            <p:cNvPr id="13" name="Picture 12">
              <a:extLst>
                <a:ext uri="{FF2B5EF4-FFF2-40B4-BE49-F238E27FC236}">
                  <a16:creationId xmlns="" xmlns:a16="http://schemas.microsoft.com/office/drawing/2014/main" id="{8DD61FEC-075B-4EDD-97CA-36E6F72630F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4" name="Rectangle 13">
              <a:extLst>
                <a:ext uri="{FF2B5EF4-FFF2-40B4-BE49-F238E27FC236}">
                  <a16:creationId xmlns="" xmlns:a16="http://schemas.microsoft.com/office/drawing/2014/main" id="{CB550E12-AA95-4B1B-A8D2-ED01E515FC43}"/>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 xmlns:a16="http://schemas.microsoft.com/office/drawing/2014/main"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Footer Placeholder 2">
            <a:extLst>
              <a:ext uri="{FF2B5EF4-FFF2-40B4-BE49-F238E27FC236}">
                <a16:creationId xmlns="" xmlns:a16="http://schemas.microsoft.com/office/drawing/2014/main" id="{BF2BE79E-EA17-4AB9-8CB5-714A52A6B2F5}"/>
              </a:ext>
            </a:extLst>
          </p:cNvPr>
          <p:cNvSpPr txBox="1">
            <a:spLocks/>
          </p:cNvSpPr>
          <p:nvPr userDrawn="1"/>
        </p:nvSpPr>
        <p:spPr>
          <a:xfrm>
            <a:off x="3750365" y="6604000"/>
            <a:ext cx="5314122"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2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Basics of Architectures, Processes, and Communication</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297197250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 xmlns:a16="http://schemas.microsoft.com/office/drawing/2014/main"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 xmlns:a16="http://schemas.microsoft.com/office/drawing/2014/main"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Footer Placeholder 2">
            <a:extLst>
              <a:ext uri="{FF2B5EF4-FFF2-40B4-BE49-F238E27FC236}">
                <a16:creationId xmlns="" xmlns:a16="http://schemas.microsoft.com/office/drawing/2014/main" id="{BF2BE79E-EA17-4AB9-8CB5-714A52A6B2F5}"/>
              </a:ext>
            </a:extLst>
          </p:cNvPr>
          <p:cNvSpPr txBox="1">
            <a:spLocks/>
          </p:cNvSpPr>
          <p:nvPr userDrawn="1"/>
        </p:nvSpPr>
        <p:spPr>
          <a:xfrm>
            <a:off x="3750365" y="6604000"/>
            <a:ext cx="5314122"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2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Basics of Architectures, Processes, and Communication</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 xmlns:a16="http://schemas.microsoft.com/office/drawing/2014/main"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Footer Placeholder 2">
            <a:extLst>
              <a:ext uri="{FF2B5EF4-FFF2-40B4-BE49-F238E27FC236}">
                <a16:creationId xmlns="" xmlns:a16="http://schemas.microsoft.com/office/drawing/2014/main" id="{BF2BE79E-EA17-4AB9-8CB5-714A52A6B2F5}"/>
              </a:ext>
            </a:extLst>
          </p:cNvPr>
          <p:cNvSpPr txBox="1">
            <a:spLocks/>
          </p:cNvSpPr>
          <p:nvPr userDrawn="1"/>
        </p:nvSpPr>
        <p:spPr>
          <a:xfrm>
            <a:off x="3750365" y="6604000"/>
            <a:ext cx="5314122"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2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Basics of Architectures, Processes, and Communication</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4331452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8/6/2021</a:t>
            </a:fld>
            <a:endParaRPr lang="en-US"/>
          </a:p>
        </p:txBody>
      </p:sp>
      <p:sp>
        <p:nvSpPr>
          <p:cNvPr id="5" name="Footer Placeholder 4">
            <a:extLst>
              <a:ext uri="{FF2B5EF4-FFF2-40B4-BE49-F238E27FC236}">
                <a16:creationId xmlns=""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2" r:id="rId2"/>
    <p:sldLayoutId id="2147483670" r:id="rId3"/>
    <p:sldLayoutId id="2147483687" r:id="rId4"/>
    <p:sldLayoutId id="2147483688" r:id="rId5"/>
    <p:sldLayoutId id="2147483671" r:id="rId6"/>
    <p:sldLayoutId id="2147483672" r:id="rId7"/>
    <p:sldLayoutId id="2147483689" r:id="rId8"/>
    <p:sldLayoutId id="2147483690" r:id="rId9"/>
    <p:sldLayoutId id="2147483673" r:id="rId10"/>
    <p:sldLayoutId id="2147483691"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2.png"/><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2.png"/><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E0A5353-D4D5-43D7-A039-6CFC6871D64F}"/>
              </a:ext>
            </a:extLst>
          </p:cNvPr>
          <p:cNvSpPr>
            <a:spLocks noGrp="1"/>
          </p:cNvSpPr>
          <p:nvPr>
            <p:ph type="ctrTitle"/>
          </p:nvPr>
        </p:nvSpPr>
        <p:spPr>
          <a:xfrm>
            <a:off x="691374" y="1019474"/>
            <a:ext cx="7060510" cy="3294972"/>
          </a:xfrm>
        </p:spPr>
        <p:txBody>
          <a:bodyPr/>
          <a:lstStyle/>
          <a:p>
            <a:pPr lvl="0">
              <a:lnSpc>
                <a:spcPct val="100000"/>
              </a:lnSpc>
              <a:spcBef>
                <a:spcPts val="0"/>
              </a:spcBef>
            </a:pPr>
            <a:r>
              <a:rPr lang="en-US" sz="4800" b="0" dirty="0" smtClean="0">
                <a:latin typeface="Roboto Condensed Light" panose="02000000000000000000" pitchFamily="2" charset="0"/>
                <a:ea typeface="Roboto Condensed Light" panose="02000000000000000000" pitchFamily="2" charset="0"/>
              </a:rPr>
              <a:t>Unit-2</a:t>
            </a:r>
            <a:r>
              <a:rPr lang="en-US" dirty="0" smtClean="0"/>
              <a:t> </a:t>
            </a:r>
            <a:r>
              <a:rPr lang="en-US" dirty="0"/>
              <a:t/>
            </a:r>
            <a:br>
              <a:rPr lang="en-US" dirty="0"/>
            </a:br>
            <a:r>
              <a:rPr lang="en-US" sz="4800" b="0" dirty="0"/>
              <a:t>Basics of Architectures, </a:t>
            </a:r>
            <a:r>
              <a:rPr lang="en-US" sz="4800" b="0" dirty="0" smtClean="0"/>
              <a:t>Processes </a:t>
            </a:r>
            <a:r>
              <a:rPr lang="en-US" sz="4800" b="0" dirty="0"/>
              <a:t>and Communication</a:t>
            </a:r>
            <a:endParaRPr lang="en-US" dirty="0"/>
          </a:p>
        </p:txBody>
      </p:sp>
      <p:sp>
        <p:nvSpPr>
          <p:cNvPr id="3" name="Text Placeholder 2">
            <a:extLst>
              <a:ext uri="{FF2B5EF4-FFF2-40B4-BE49-F238E27FC236}">
                <a16:creationId xmlns="" xmlns:a16="http://schemas.microsoft.com/office/drawing/2014/main" id="{E4D4005A-4647-4086-9144-7BCC7DFEFB1B}"/>
              </a:ext>
            </a:extLst>
          </p:cNvPr>
          <p:cNvSpPr>
            <a:spLocks noGrp="1"/>
          </p:cNvSpPr>
          <p:nvPr>
            <p:ph type="body" sz="quarter" idx="11"/>
          </p:nvPr>
        </p:nvSpPr>
        <p:spPr/>
        <p:txBody>
          <a:bodyPr/>
          <a:lstStyle/>
          <a:p>
            <a:r>
              <a:rPr lang="en-US" dirty="0"/>
              <a:t>u</a:t>
            </a:r>
            <a:r>
              <a:rPr lang="en-US" dirty="0" smtClean="0"/>
              <a:t>mesh.thoriya@darshan.ac.in</a:t>
            </a:r>
            <a:endParaRPr lang="en-US" dirty="0"/>
          </a:p>
        </p:txBody>
      </p:sp>
      <p:sp>
        <p:nvSpPr>
          <p:cNvPr id="4" name="Text Placeholder 3">
            <a:extLst>
              <a:ext uri="{FF2B5EF4-FFF2-40B4-BE49-F238E27FC236}">
                <a16:creationId xmlns="" xmlns:a16="http://schemas.microsoft.com/office/drawing/2014/main" id="{6F817D43-889A-4049-ACFD-9B3B648B6A91}"/>
              </a:ext>
            </a:extLst>
          </p:cNvPr>
          <p:cNvSpPr>
            <a:spLocks noGrp="1"/>
          </p:cNvSpPr>
          <p:nvPr>
            <p:ph type="body" sz="quarter" idx="12"/>
          </p:nvPr>
        </p:nvSpPr>
        <p:spPr/>
        <p:txBody>
          <a:bodyPr/>
          <a:lstStyle/>
          <a:p>
            <a:r>
              <a:rPr lang="en-US" dirty="0" smtClean="0"/>
              <a:t>9714233355</a:t>
            </a:r>
            <a:endParaRPr lang="en-US" dirty="0"/>
          </a:p>
        </p:txBody>
      </p:sp>
      <p:sp>
        <p:nvSpPr>
          <p:cNvPr id="5" name="Text Placeholder 4">
            <a:extLst>
              <a:ext uri="{FF2B5EF4-FFF2-40B4-BE49-F238E27FC236}">
                <a16:creationId xmlns="" xmlns:a16="http://schemas.microsoft.com/office/drawing/2014/main" id="{B786D614-6447-4787-8025-9C902A1B7344}"/>
              </a:ext>
            </a:extLst>
          </p:cNvPr>
          <p:cNvSpPr>
            <a:spLocks noGrp="1"/>
          </p:cNvSpPr>
          <p:nvPr>
            <p:ph type="body" sz="quarter" idx="13"/>
          </p:nvPr>
        </p:nvSpPr>
        <p:spPr>
          <a:xfrm>
            <a:off x="1837678" y="5546560"/>
            <a:ext cx="3735998" cy="290081"/>
          </a:xfrm>
        </p:spPr>
        <p:txBody>
          <a:bodyPr/>
          <a:lstStyle/>
          <a:p>
            <a:r>
              <a:rPr lang="en-US" dirty="0"/>
              <a:t>Computer Engineering Department</a:t>
            </a:r>
          </a:p>
        </p:txBody>
      </p:sp>
      <p:sp>
        <p:nvSpPr>
          <p:cNvPr id="6" name="Text Placeholder 5">
            <a:extLst>
              <a:ext uri="{FF2B5EF4-FFF2-40B4-BE49-F238E27FC236}">
                <a16:creationId xmlns="" xmlns:a16="http://schemas.microsoft.com/office/drawing/2014/main" id="{1F7AB9BC-FE08-46B2-A19C-803CB5DF0CD1}"/>
              </a:ext>
            </a:extLst>
          </p:cNvPr>
          <p:cNvSpPr>
            <a:spLocks noGrp="1"/>
          </p:cNvSpPr>
          <p:nvPr>
            <p:ph type="body" sz="quarter" idx="14"/>
          </p:nvPr>
        </p:nvSpPr>
        <p:spPr/>
        <p:txBody>
          <a:bodyPr/>
          <a:lstStyle/>
          <a:p>
            <a:r>
              <a:rPr lang="en-US" dirty="0"/>
              <a:t>Prof. </a:t>
            </a:r>
            <a:r>
              <a:rPr lang="en-US" dirty="0" smtClean="0"/>
              <a:t>Umesh H. </a:t>
            </a:r>
            <a:r>
              <a:rPr lang="en-US" dirty="0" err="1" smtClean="0"/>
              <a:t>Thoriya</a:t>
            </a:r>
            <a:endParaRPr lang="en-US" dirty="0"/>
          </a:p>
        </p:txBody>
      </p:sp>
      <p:sp>
        <p:nvSpPr>
          <p:cNvPr id="1027" name="Text Placeholder 1026">
            <a:extLst>
              <a:ext uri="{FF2B5EF4-FFF2-40B4-BE49-F238E27FC236}">
                <a16:creationId xmlns="" xmlns:a16="http://schemas.microsoft.com/office/drawing/2014/main" id="{D1F0AA94-EAF3-4868-942A-0125EFC5C764}"/>
              </a:ext>
            </a:extLst>
          </p:cNvPr>
          <p:cNvSpPr>
            <a:spLocks noGrp="1"/>
          </p:cNvSpPr>
          <p:nvPr>
            <p:ph type="body" sz="quarter" idx="16"/>
          </p:nvPr>
        </p:nvSpPr>
        <p:spPr/>
        <p:txBody>
          <a:bodyPr/>
          <a:lstStyle/>
          <a:p>
            <a:pPr>
              <a:lnSpc>
                <a:spcPct val="100000"/>
              </a:lnSpc>
            </a:pPr>
            <a:r>
              <a:rPr lang="en-US" sz="2000" b="1" dirty="0"/>
              <a:t>Distributed </a:t>
            </a:r>
            <a:r>
              <a:rPr lang="en-US" sz="2000" b="1" dirty="0" smtClean="0"/>
              <a:t>System </a:t>
            </a:r>
            <a:r>
              <a:rPr lang="en-US" sz="2000" dirty="0" smtClean="0">
                <a:latin typeface="Roboto Condensed Light" panose="02000000000000000000" pitchFamily="2" charset="0"/>
                <a:ea typeface="Roboto Condensed Light" panose="02000000000000000000" pitchFamily="2" charset="0"/>
              </a:rPr>
              <a:t>(DS)</a:t>
            </a:r>
            <a:endParaRPr lang="en-US" sz="2000" dirty="0">
              <a:latin typeface="Roboto Condensed Light" panose="02000000000000000000" pitchFamily="2" charset="0"/>
              <a:ea typeface="Roboto Condensed Light" panose="02000000000000000000" pitchFamily="2" charset="0"/>
            </a:endParaRPr>
          </a:p>
          <a:p>
            <a:pPr>
              <a:lnSpc>
                <a:spcPct val="100000"/>
              </a:lnSpc>
            </a:pPr>
            <a:r>
              <a:rPr lang="en-US" sz="2000" dirty="0">
                <a:latin typeface="Roboto Condensed Light" panose="02000000000000000000" pitchFamily="2" charset="0"/>
                <a:ea typeface="Roboto Condensed Light" panose="02000000000000000000" pitchFamily="2" charset="0"/>
              </a:rPr>
              <a:t>GTU #3170719</a:t>
            </a:r>
          </a:p>
        </p:txBody>
      </p:sp>
      <p:sp>
        <p:nvSpPr>
          <p:cNvPr id="11" name="AutoShape 3">
            <a:extLst>
              <a:ext uri="{FF2B5EF4-FFF2-40B4-BE49-F238E27FC236}">
                <a16:creationId xmlns=""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Picture Placeholder 11">
            <a:extLst>
              <a:ext uri="{FF2B5EF4-FFF2-40B4-BE49-F238E27FC236}">
                <a16:creationId xmlns="" xmlns:a16="http://schemas.microsoft.com/office/drawing/2014/main" id="{D6337D8C-443B-4C47-A28D-6B3C54970252}"/>
              </a:ext>
            </a:extLst>
          </p:cNvPr>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tretch>
            <a:fillRect/>
          </a:stretch>
        </p:blipFill>
        <p:spPr>
          <a:xfrm>
            <a:off x="353569" y="5211251"/>
            <a:ext cx="1353599" cy="1353599"/>
          </a:xfrm>
        </p:spPr>
      </p:pic>
    </p:spTree>
    <p:extLst>
      <p:ext uri="{BB962C8B-B14F-4D97-AF65-F5344CB8AC3E}">
        <p14:creationId xmlns:p14="http://schemas.microsoft.com/office/powerpoint/2010/main" val="661001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 xmlns:a16="http://schemas.microsoft.com/office/drawing/2014/main" id="{4BD1E24D-7739-4C4F-8234-2614FB54ADBC}"/>
              </a:ext>
            </a:extLst>
          </p:cNvPr>
          <p:cNvSpPr/>
          <p:nvPr/>
        </p:nvSpPr>
        <p:spPr>
          <a:xfrm>
            <a:off x="954165" y="682906"/>
            <a:ext cx="474562" cy="474562"/>
          </a:xfrm>
          <a:prstGeom prst="ellipse">
            <a:avLst/>
          </a:prstGeom>
          <a:solidFill>
            <a:schemeClr val="tx2"/>
          </a:solidFill>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 xmlns:a16="http://schemas.microsoft.com/office/drawing/2014/main" id="{BDA2F9A4-6988-4274-8384-12496EC9D59D}"/>
              </a:ext>
            </a:extLst>
          </p:cNvPr>
          <p:cNvSpPr txBox="1"/>
          <p:nvPr/>
        </p:nvSpPr>
        <p:spPr>
          <a:xfrm>
            <a:off x="1458963" y="731706"/>
            <a:ext cx="8810452" cy="5793894"/>
          </a:xfrm>
          <a:prstGeom prst="rect">
            <a:avLst/>
          </a:prstGeom>
          <a:noFill/>
        </p:spPr>
        <p:txBody>
          <a:bodyPr wrap="square" rtlCol="0">
            <a:spAutoFit/>
          </a:bodyPr>
          <a:lstStyle/>
          <a:p>
            <a:r>
              <a:rPr lang="en-US" sz="2400" b="1" dirty="0"/>
              <a:t>Topics to be covered</a:t>
            </a:r>
          </a:p>
          <a:p>
            <a:pPr marL="742950" lvl="1" indent="-285750">
              <a:lnSpc>
                <a:spcPct val="150000"/>
              </a:lnSpc>
              <a:buFont typeface="Arial" panose="020B0604020202020204" pitchFamily="34" charset="0"/>
              <a:buChar char="•"/>
            </a:pPr>
            <a:r>
              <a:rPr lang="en-US" sz="2100" dirty="0">
                <a:solidFill>
                  <a:schemeClr val="accent6"/>
                </a:solidFill>
              </a:rPr>
              <a:t>Architectures - Types of System </a:t>
            </a:r>
            <a:r>
              <a:rPr lang="en-US" sz="2100" dirty="0" smtClean="0">
                <a:solidFill>
                  <a:schemeClr val="accent6"/>
                </a:solidFill>
              </a:rPr>
              <a:t>Architectures</a:t>
            </a:r>
          </a:p>
          <a:p>
            <a:pPr marL="742950" lvl="1" indent="-285750">
              <a:lnSpc>
                <a:spcPct val="150000"/>
              </a:lnSpc>
              <a:buFont typeface="Arial" panose="020B0604020202020204" pitchFamily="34" charset="0"/>
              <a:buChar char="•"/>
            </a:pPr>
            <a:r>
              <a:rPr lang="en-US" sz="2100" dirty="0" smtClean="0">
                <a:solidFill>
                  <a:schemeClr val="accent6"/>
                </a:solidFill>
              </a:rPr>
              <a:t>Self </a:t>
            </a:r>
            <a:r>
              <a:rPr lang="en-US" sz="2100" dirty="0">
                <a:solidFill>
                  <a:schemeClr val="accent6"/>
                </a:solidFill>
              </a:rPr>
              <a:t>Management in Distributed </a:t>
            </a:r>
            <a:r>
              <a:rPr lang="en-US" sz="2100" dirty="0" smtClean="0">
                <a:solidFill>
                  <a:schemeClr val="accent6"/>
                </a:solidFill>
              </a:rPr>
              <a:t>Systems</a:t>
            </a:r>
          </a:p>
          <a:p>
            <a:pPr marL="742950" lvl="1" indent="-285750">
              <a:lnSpc>
                <a:spcPct val="150000"/>
              </a:lnSpc>
              <a:buFont typeface="Arial" panose="020B0604020202020204" pitchFamily="34" charset="0"/>
              <a:buChar char="•"/>
            </a:pPr>
            <a:r>
              <a:rPr lang="en-US" sz="2100" dirty="0" smtClean="0">
                <a:solidFill>
                  <a:schemeClr val="accent6"/>
                </a:solidFill>
              </a:rPr>
              <a:t>Processes </a:t>
            </a:r>
            <a:r>
              <a:rPr lang="en-US" sz="2100" dirty="0">
                <a:solidFill>
                  <a:schemeClr val="accent6"/>
                </a:solidFill>
              </a:rPr>
              <a:t>- Basics of </a:t>
            </a:r>
            <a:r>
              <a:rPr lang="en-US" sz="2100" dirty="0" smtClean="0">
                <a:solidFill>
                  <a:schemeClr val="accent6"/>
                </a:solidFill>
              </a:rPr>
              <a:t>Threads</a:t>
            </a:r>
          </a:p>
          <a:p>
            <a:pPr marL="742950" lvl="1" indent="-285750">
              <a:lnSpc>
                <a:spcPct val="150000"/>
              </a:lnSpc>
              <a:buFont typeface="Arial" panose="020B0604020202020204" pitchFamily="34" charset="0"/>
              <a:buChar char="•"/>
            </a:pPr>
            <a:r>
              <a:rPr lang="en-US" sz="2100" dirty="0" smtClean="0">
                <a:solidFill>
                  <a:schemeClr val="accent6"/>
                </a:solidFill>
              </a:rPr>
              <a:t>Virtualization</a:t>
            </a:r>
          </a:p>
          <a:p>
            <a:pPr marL="742950" lvl="1" indent="-285750">
              <a:lnSpc>
                <a:spcPct val="150000"/>
              </a:lnSpc>
              <a:buFont typeface="Arial" panose="020B0604020202020204" pitchFamily="34" charset="0"/>
              <a:buChar char="•"/>
            </a:pPr>
            <a:r>
              <a:rPr lang="en-US" sz="2100" dirty="0" smtClean="0">
                <a:solidFill>
                  <a:schemeClr val="accent6"/>
                </a:solidFill>
              </a:rPr>
              <a:t>Roles </a:t>
            </a:r>
            <a:r>
              <a:rPr lang="en-US" sz="2100" dirty="0">
                <a:solidFill>
                  <a:schemeClr val="accent6"/>
                </a:solidFill>
              </a:rPr>
              <a:t>of Client and </a:t>
            </a:r>
            <a:r>
              <a:rPr lang="en-US" sz="2100" dirty="0" smtClean="0">
                <a:solidFill>
                  <a:schemeClr val="accent6"/>
                </a:solidFill>
              </a:rPr>
              <a:t>Server</a:t>
            </a:r>
          </a:p>
          <a:p>
            <a:pPr marL="742950" lvl="1" indent="-285750">
              <a:lnSpc>
                <a:spcPct val="150000"/>
              </a:lnSpc>
              <a:buFont typeface="Arial" panose="020B0604020202020204" pitchFamily="34" charset="0"/>
              <a:buChar char="•"/>
            </a:pPr>
            <a:r>
              <a:rPr lang="en-US" sz="2100" dirty="0" smtClean="0">
                <a:solidFill>
                  <a:schemeClr val="accent6"/>
                </a:solidFill>
              </a:rPr>
              <a:t>Code Migration</a:t>
            </a:r>
          </a:p>
          <a:p>
            <a:pPr marL="742950" lvl="1" indent="-285750">
              <a:lnSpc>
                <a:spcPct val="150000"/>
              </a:lnSpc>
              <a:buFont typeface="Arial" panose="020B0604020202020204" pitchFamily="34" charset="0"/>
              <a:buChar char="•"/>
            </a:pPr>
            <a:r>
              <a:rPr lang="en-US" sz="2100" dirty="0" smtClean="0">
                <a:solidFill>
                  <a:schemeClr val="accent6"/>
                </a:solidFill>
              </a:rPr>
              <a:t>Communication </a:t>
            </a:r>
            <a:r>
              <a:rPr lang="en-US" sz="2100" dirty="0">
                <a:solidFill>
                  <a:schemeClr val="accent6"/>
                </a:solidFill>
              </a:rPr>
              <a:t>- Types of </a:t>
            </a:r>
            <a:r>
              <a:rPr lang="en-US" sz="2100" dirty="0" smtClean="0">
                <a:solidFill>
                  <a:schemeClr val="accent6"/>
                </a:solidFill>
              </a:rPr>
              <a:t>Communications</a:t>
            </a:r>
          </a:p>
          <a:p>
            <a:pPr marL="742950" lvl="1" indent="-285750">
              <a:lnSpc>
                <a:spcPct val="150000"/>
              </a:lnSpc>
              <a:buFont typeface="Arial" panose="020B0604020202020204" pitchFamily="34" charset="0"/>
              <a:buChar char="•"/>
            </a:pPr>
            <a:r>
              <a:rPr lang="en-US" sz="2100" dirty="0" smtClean="0">
                <a:solidFill>
                  <a:schemeClr val="accent6"/>
                </a:solidFill>
              </a:rPr>
              <a:t>Remote </a:t>
            </a:r>
            <a:r>
              <a:rPr lang="en-US" sz="2100" dirty="0">
                <a:solidFill>
                  <a:schemeClr val="accent6"/>
                </a:solidFill>
              </a:rPr>
              <a:t>Procedure </a:t>
            </a:r>
            <a:r>
              <a:rPr lang="en-US" sz="2100" dirty="0" smtClean="0">
                <a:solidFill>
                  <a:schemeClr val="accent6"/>
                </a:solidFill>
              </a:rPr>
              <a:t>Calls</a:t>
            </a:r>
          </a:p>
          <a:p>
            <a:pPr marL="742950" lvl="1" indent="-285750">
              <a:lnSpc>
                <a:spcPct val="150000"/>
              </a:lnSpc>
              <a:buFont typeface="Arial" panose="020B0604020202020204" pitchFamily="34" charset="0"/>
              <a:buChar char="•"/>
            </a:pPr>
            <a:r>
              <a:rPr lang="en-US" sz="2100" dirty="0" smtClean="0">
                <a:solidFill>
                  <a:schemeClr val="accent6"/>
                </a:solidFill>
              </a:rPr>
              <a:t>Message-Oriented Communication</a:t>
            </a:r>
          </a:p>
          <a:p>
            <a:pPr marL="742950" lvl="1" indent="-285750">
              <a:lnSpc>
                <a:spcPct val="150000"/>
              </a:lnSpc>
              <a:buFont typeface="Arial" panose="020B0604020202020204" pitchFamily="34" charset="0"/>
              <a:buChar char="•"/>
            </a:pPr>
            <a:r>
              <a:rPr lang="en-US" sz="2100" dirty="0" smtClean="0">
                <a:solidFill>
                  <a:schemeClr val="accent6"/>
                </a:solidFill>
              </a:rPr>
              <a:t>Stream-Oriented Communication</a:t>
            </a:r>
          </a:p>
          <a:p>
            <a:pPr marL="742950" lvl="1" indent="-285750">
              <a:lnSpc>
                <a:spcPct val="150000"/>
              </a:lnSpc>
              <a:buFont typeface="Arial" panose="020B0604020202020204" pitchFamily="34" charset="0"/>
              <a:buChar char="•"/>
            </a:pPr>
            <a:r>
              <a:rPr lang="en-US" sz="2100" dirty="0" smtClean="0">
                <a:solidFill>
                  <a:schemeClr val="accent6"/>
                </a:solidFill>
              </a:rPr>
              <a:t>Multicasting</a:t>
            </a:r>
            <a:endParaRPr lang="en-US" sz="2100" dirty="0">
              <a:solidFill>
                <a:schemeClr val="accent6"/>
              </a:solidFill>
            </a:endParaRPr>
          </a:p>
        </p:txBody>
      </p:sp>
    </p:spTree>
    <p:extLst>
      <p:ext uri="{BB962C8B-B14F-4D97-AF65-F5344CB8AC3E}">
        <p14:creationId xmlns:p14="http://schemas.microsoft.com/office/powerpoint/2010/main" val="58527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lstStyle/>
          <a:p>
            <a:r>
              <a:rPr lang="en-US" dirty="0"/>
              <a:t>Architectural Styles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p:txBody>
          <a:bodyPr/>
          <a:lstStyle/>
          <a:p>
            <a:pPr>
              <a:lnSpc>
                <a:spcPct val="100000"/>
              </a:lnSpc>
            </a:pPr>
            <a:r>
              <a:rPr lang="en-US" dirty="0"/>
              <a:t>Distributed systems are often complex pieces of software of which the components are by definition dispersed across multiple </a:t>
            </a:r>
            <a:r>
              <a:rPr lang="en-US" dirty="0" smtClean="0"/>
              <a:t>machines.</a:t>
            </a:r>
          </a:p>
          <a:p>
            <a:pPr>
              <a:lnSpc>
                <a:spcPct val="100000"/>
              </a:lnSpc>
            </a:pPr>
            <a:r>
              <a:rPr lang="en-US" dirty="0" smtClean="0"/>
              <a:t>To </a:t>
            </a:r>
            <a:r>
              <a:rPr lang="en-US" dirty="0"/>
              <a:t>master their complexity, it is crucial that these systems are properly </a:t>
            </a:r>
            <a:r>
              <a:rPr lang="en-US" dirty="0" smtClean="0"/>
              <a:t>organized.</a:t>
            </a:r>
          </a:p>
          <a:p>
            <a:pPr>
              <a:lnSpc>
                <a:spcPct val="100000"/>
              </a:lnSpc>
            </a:pPr>
            <a:r>
              <a:rPr lang="en-US" dirty="0" smtClean="0"/>
              <a:t>There </a:t>
            </a:r>
            <a:r>
              <a:rPr lang="en-US" dirty="0"/>
              <a:t>are different ways on how to view the organization of a distributed system, but an obvious one is to make a distinction between the logical organization of the collection of software components and on the other hand the actual physical realization.</a:t>
            </a:r>
          </a:p>
          <a:p>
            <a:pPr>
              <a:lnSpc>
                <a:spcPct val="100000"/>
              </a:lnSpc>
            </a:pPr>
            <a:r>
              <a:rPr lang="en-US" dirty="0"/>
              <a:t>Important styles of architecture for distributed </a:t>
            </a:r>
            <a:r>
              <a:rPr lang="en-US" dirty="0" smtClean="0"/>
              <a:t>systems:</a:t>
            </a:r>
          </a:p>
          <a:p>
            <a:pPr lvl="1"/>
            <a:r>
              <a:rPr lang="en-US" sz="2200" dirty="0">
                <a:ea typeface="ＭＳ Ｐゴシック" charset="-128"/>
              </a:rPr>
              <a:t>Layered architectures</a:t>
            </a:r>
          </a:p>
          <a:p>
            <a:pPr lvl="1"/>
            <a:r>
              <a:rPr lang="en-US" sz="2200" dirty="0">
                <a:ea typeface="ＭＳ Ｐゴシック" charset="-128"/>
              </a:rPr>
              <a:t>Object-based architectures</a:t>
            </a:r>
          </a:p>
          <a:p>
            <a:pPr lvl="1"/>
            <a:r>
              <a:rPr lang="en-US" sz="2200" dirty="0">
                <a:ea typeface="ＭＳ Ｐゴシック" charset="-128"/>
              </a:rPr>
              <a:t>Data-centered architectures</a:t>
            </a:r>
          </a:p>
          <a:p>
            <a:pPr lvl="1"/>
            <a:r>
              <a:rPr lang="en-US" sz="2200" dirty="0">
                <a:ea typeface="ＭＳ Ｐゴシック" charset="-128"/>
              </a:rPr>
              <a:t>Event-based architectures</a:t>
            </a:r>
          </a:p>
          <a:p>
            <a:pPr>
              <a:lnSpc>
                <a:spcPct val="100000"/>
              </a:lnSpc>
            </a:pPr>
            <a:endParaRPr lang="en-US" dirty="0"/>
          </a:p>
          <a:p>
            <a:endParaRPr lang="en-US" dirty="0"/>
          </a:p>
          <a:p>
            <a:pPr marL="0" indent="0">
              <a:buNone/>
            </a:pPr>
            <a:endParaRPr lang="en-US" dirty="0"/>
          </a:p>
        </p:txBody>
      </p:sp>
    </p:spTree>
    <p:extLst>
      <p:ext uri="{BB962C8B-B14F-4D97-AF65-F5344CB8AC3E}">
        <p14:creationId xmlns:p14="http://schemas.microsoft.com/office/powerpoint/2010/main" val="206060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lstStyle/>
          <a:p>
            <a:r>
              <a:rPr lang="en-US" dirty="0"/>
              <a:t>Layered architectures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6126745" cy="5590565"/>
          </a:xfrm>
        </p:spPr>
        <p:txBody>
          <a:bodyPr/>
          <a:lstStyle/>
          <a:p>
            <a:pPr>
              <a:lnSpc>
                <a:spcPct val="100000"/>
              </a:lnSpc>
            </a:pPr>
            <a:r>
              <a:rPr lang="en-US" dirty="0" smtClean="0"/>
              <a:t>The Components </a:t>
            </a:r>
            <a:r>
              <a:rPr lang="en-US" dirty="0"/>
              <a:t>are organized in a layered fashion where a component at layer Li is allowed to call components at the underlying layer Li-1, but not the other way around</a:t>
            </a:r>
            <a:r>
              <a:rPr lang="en-US" dirty="0" smtClean="0"/>
              <a:t>,</a:t>
            </a:r>
          </a:p>
          <a:p>
            <a:pPr>
              <a:lnSpc>
                <a:spcPct val="100000"/>
              </a:lnSpc>
            </a:pPr>
            <a:r>
              <a:rPr lang="en-US" dirty="0" smtClean="0"/>
              <a:t>This model has been widely adopted by the networking community</a:t>
            </a:r>
          </a:p>
          <a:p>
            <a:pPr>
              <a:lnSpc>
                <a:spcPct val="100000"/>
              </a:lnSpc>
            </a:pPr>
            <a:r>
              <a:rPr lang="en-US" dirty="0" smtClean="0"/>
              <a:t>An </a:t>
            </a:r>
            <a:r>
              <a:rPr lang="en-US" dirty="0"/>
              <a:t>key observation is that </a:t>
            </a:r>
            <a:r>
              <a:rPr lang="en-US" dirty="0" smtClean="0"/>
              <a:t>control generally </a:t>
            </a:r>
            <a:r>
              <a:rPr lang="en-US" dirty="0"/>
              <a:t>flows from layer to layer; requests </a:t>
            </a:r>
            <a:r>
              <a:rPr lang="en-US" dirty="0" smtClean="0"/>
              <a:t>go down </a:t>
            </a:r>
            <a:r>
              <a:rPr lang="en-US" dirty="0"/>
              <a:t>the hierarchy whereas the results </a:t>
            </a:r>
            <a:r>
              <a:rPr lang="en-US" dirty="0" smtClean="0"/>
              <a:t>flow upward</a:t>
            </a:r>
            <a:r>
              <a:rPr lang="en-US" dirty="0"/>
              <a:t>.</a:t>
            </a:r>
          </a:p>
          <a:p>
            <a:pPr>
              <a:lnSpc>
                <a:spcPct val="100000"/>
              </a:lnSpc>
            </a:pPr>
            <a:endParaRPr lang="en-US" dirty="0"/>
          </a:p>
          <a:p>
            <a:pPr marL="0" indent="0">
              <a:buNone/>
            </a:pPr>
            <a:endParaRPr lang="en-US" dirty="0"/>
          </a:p>
        </p:txBody>
      </p:sp>
      <p:grpSp>
        <p:nvGrpSpPr>
          <p:cNvPr id="37" name="Group 36"/>
          <p:cNvGrpSpPr/>
          <p:nvPr/>
        </p:nvGrpSpPr>
        <p:grpSpPr>
          <a:xfrm>
            <a:off x="6769165" y="1063944"/>
            <a:ext cx="5330091" cy="4113687"/>
            <a:chOff x="6769165" y="1063944"/>
            <a:chExt cx="5330091" cy="4113687"/>
          </a:xfrm>
        </p:grpSpPr>
        <p:sp>
          <p:nvSpPr>
            <p:cNvPr id="5" name="Rounded Rectangular Callout 5">
              <a:extLst>
                <a:ext uri="{FF2B5EF4-FFF2-40B4-BE49-F238E27FC236}">
                  <a16:creationId xmlns="" xmlns:a16="http://schemas.microsoft.com/office/drawing/2014/main" id="{95B1C811-0212-4B28-BA67-984A505AD881}"/>
                </a:ext>
              </a:extLst>
            </p:cNvPr>
            <p:cNvSpPr/>
            <p:nvPr/>
          </p:nvSpPr>
          <p:spPr>
            <a:xfrm>
              <a:off x="8625147" y="1063944"/>
              <a:ext cx="1799594"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smtClean="0">
                  <a:solidFill>
                    <a:schemeClr val="tx1"/>
                  </a:solidFill>
                </a:rPr>
                <a:t>Layer N</a:t>
              </a:r>
              <a:endParaRPr lang="en-US" sz="2400" dirty="0">
                <a:solidFill>
                  <a:schemeClr val="tx1"/>
                </a:solidFill>
              </a:endParaRPr>
            </a:p>
          </p:txBody>
        </p:sp>
        <p:sp>
          <p:nvSpPr>
            <p:cNvPr id="6" name="Rounded Rectangular Callout 5">
              <a:extLst>
                <a:ext uri="{FF2B5EF4-FFF2-40B4-BE49-F238E27FC236}">
                  <a16:creationId xmlns="" xmlns:a16="http://schemas.microsoft.com/office/drawing/2014/main" id="{95B1C811-0212-4B28-BA67-984A505AD881}"/>
                </a:ext>
              </a:extLst>
            </p:cNvPr>
            <p:cNvSpPr/>
            <p:nvPr/>
          </p:nvSpPr>
          <p:spPr>
            <a:xfrm>
              <a:off x="8630988" y="2013701"/>
              <a:ext cx="1799594"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Layer </a:t>
              </a:r>
              <a:r>
                <a:rPr lang="en-US" sz="2400" dirty="0" smtClean="0">
                  <a:solidFill>
                    <a:schemeClr val="tx1"/>
                  </a:solidFill>
                </a:rPr>
                <a:t>N-1</a:t>
              </a:r>
              <a:endParaRPr lang="en-US" sz="2400" dirty="0">
                <a:solidFill>
                  <a:schemeClr val="tx1"/>
                </a:solidFill>
              </a:endParaRPr>
            </a:p>
          </p:txBody>
        </p:sp>
        <p:sp>
          <p:nvSpPr>
            <p:cNvPr id="7" name="Rounded Rectangular Callout 5">
              <a:extLst>
                <a:ext uri="{FF2B5EF4-FFF2-40B4-BE49-F238E27FC236}">
                  <a16:creationId xmlns="" xmlns:a16="http://schemas.microsoft.com/office/drawing/2014/main" id="{95B1C811-0212-4B28-BA67-984A505AD881}"/>
                </a:ext>
              </a:extLst>
            </p:cNvPr>
            <p:cNvSpPr/>
            <p:nvPr/>
          </p:nvSpPr>
          <p:spPr>
            <a:xfrm>
              <a:off x="8619306" y="3701504"/>
              <a:ext cx="1799594"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Layer 2</a:t>
              </a:r>
            </a:p>
          </p:txBody>
        </p:sp>
        <p:sp>
          <p:nvSpPr>
            <p:cNvPr id="8" name="Rounded Rectangular Callout 7">
              <a:extLst>
                <a:ext uri="{FF2B5EF4-FFF2-40B4-BE49-F238E27FC236}">
                  <a16:creationId xmlns="" xmlns:a16="http://schemas.microsoft.com/office/drawing/2014/main" id="{95B1C811-0212-4B28-BA67-984A505AD881}"/>
                </a:ext>
              </a:extLst>
            </p:cNvPr>
            <p:cNvSpPr/>
            <p:nvPr/>
          </p:nvSpPr>
          <p:spPr>
            <a:xfrm>
              <a:off x="8625147" y="4651261"/>
              <a:ext cx="1799594"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Layer </a:t>
              </a:r>
              <a:r>
                <a:rPr lang="en-US" sz="2400" dirty="0" smtClean="0">
                  <a:solidFill>
                    <a:schemeClr val="tx1"/>
                  </a:solidFill>
                </a:rPr>
                <a:t>1</a:t>
              </a:r>
              <a:endParaRPr lang="en-US" sz="2400" dirty="0">
                <a:solidFill>
                  <a:schemeClr val="tx1"/>
                </a:solidFill>
              </a:endParaRPr>
            </a:p>
          </p:txBody>
        </p:sp>
        <p:cxnSp>
          <p:nvCxnSpPr>
            <p:cNvPr id="11" name="Straight Arrow Connector 10">
              <a:extLst>
                <a:ext uri="{FF2B5EF4-FFF2-40B4-BE49-F238E27FC236}">
                  <a16:creationId xmlns:a16="http://schemas.microsoft.com/office/drawing/2014/main" xmlns="" id="{7C710513-F5EB-4D87-8E21-4C6965AA366D}"/>
                </a:ext>
              </a:extLst>
            </p:cNvPr>
            <p:cNvCxnSpPr>
              <a:cxnSpLocks/>
            </p:cNvCxnSpPr>
            <p:nvPr/>
          </p:nvCxnSpPr>
          <p:spPr>
            <a:xfrm flipH="1" flipV="1">
              <a:off x="9984707" y="1590315"/>
              <a:ext cx="5883" cy="423386"/>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xmlns="" id="{7C710513-F5EB-4D87-8E21-4C6965AA366D}"/>
                </a:ext>
              </a:extLst>
            </p:cNvPr>
            <p:cNvCxnSpPr>
              <a:cxnSpLocks/>
            </p:cNvCxnSpPr>
            <p:nvPr/>
          </p:nvCxnSpPr>
          <p:spPr>
            <a:xfrm flipH="1" flipV="1">
              <a:off x="10041678" y="4227875"/>
              <a:ext cx="5883" cy="423386"/>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xmlns="" id="{7C710513-F5EB-4D87-8E21-4C6965AA366D}"/>
                </a:ext>
              </a:extLst>
            </p:cNvPr>
            <p:cNvCxnSpPr>
              <a:cxnSpLocks/>
            </p:cNvCxnSpPr>
            <p:nvPr/>
          </p:nvCxnSpPr>
          <p:spPr>
            <a:xfrm>
              <a:off x="9071431" y="1590314"/>
              <a:ext cx="4760" cy="396205"/>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7C710513-F5EB-4D87-8E21-4C6965AA366D}"/>
                </a:ext>
              </a:extLst>
            </p:cNvPr>
            <p:cNvCxnSpPr>
              <a:cxnSpLocks/>
            </p:cNvCxnSpPr>
            <p:nvPr/>
          </p:nvCxnSpPr>
          <p:spPr>
            <a:xfrm>
              <a:off x="9073812" y="4261524"/>
              <a:ext cx="4760" cy="396205"/>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xmlns="" id="{7C710513-F5EB-4D87-8E21-4C6965AA366D}"/>
                </a:ext>
              </a:extLst>
            </p:cNvPr>
            <p:cNvCxnSpPr>
              <a:cxnSpLocks/>
            </p:cNvCxnSpPr>
            <p:nvPr/>
          </p:nvCxnSpPr>
          <p:spPr>
            <a:xfrm flipV="1">
              <a:off x="9984707" y="2567253"/>
              <a:ext cx="0" cy="1134250"/>
            </a:xfrm>
            <a:prstGeom prst="straightConnector1">
              <a:avLst/>
            </a:prstGeom>
            <a:ln w="22225">
              <a:solidFill>
                <a:schemeClr val="tx1"/>
              </a:solidFill>
              <a:prstDash val="sysDot"/>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xmlns="" id="{7C710513-F5EB-4D87-8E21-4C6965AA366D}"/>
                </a:ext>
              </a:extLst>
            </p:cNvPr>
            <p:cNvCxnSpPr>
              <a:cxnSpLocks/>
            </p:cNvCxnSpPr>
            <p:nvPr/>
          </p:nvCxnSpPr>
          <p:spPr>
            <a:xfrm>
              <a:off x="9071431" y="2567253"/>
              <a:ext cx="0" cy="1134250"/>
            </a:xfrm>
            <a:prstGeom prst="straightConnector1">
              <a:avLst/>
            </a:prstGeom>
            <a:ln w="22225">
              <a:solidFill>
                <a:schemeClr val="tx1"/>
              </a:solidFill>
              <a:prstDash val="sysDot"/>
              <a:tailEnd type="triangle" w="lg" len="lg"/>
            </a:ln>
          </p:spPr>
          <p:style>
            <a:lnRef idx="1">
              <a:schemeClr val="accent1"/>
            </a:lnRef>
            <a:fillRef idx="0">
              <a:schemeClr val="accent1"/>
            </a:fillRef>
            <a:effectRef idx="0">
              <a:schemeClr val="accent1"/>
            </a:effectRef>
            <a:fontRef idx="minor">
              <a:schemeClr val="tx1"/>
            </a:fontRef>
          </p:style>
        </p:cxnSp>
        <p:sp>
          <p:nvSpPr>
            <p:cNvPr id="30" name="Rounded Rectangular Callout 5">
              <a:extLst>
                <a:ext uri="{FF2B5EF4-FFF2-40B4-BE49-F238E27FC236}">
                  <a16:creationId xmlns="" xmlns:a16="http://schemas.microsoft.com/office/drawing/2014/main" id="{95B1C811-0212-4B28-BA67-984A505AD881}"/>
                </a:ext>
              </a:extLst>
            </p:cNvPr>
            <p:cNvSpPr/>
            <p:nvPr/>
          </p:nvSpPr>
          <p:spPr>
            <a:xfrm>
              <a:off x="6769165" y="2843416"/>
              <a:ext cx="1705288" cy="526370"/>
            </a:xfrm>
            <a:prstGeom prst="wedgeRoundRectCallout">
              <a:avLst>
                <a:gd name="adj1" fmla="val -20833"/>
                <a:gd name="adj2" fmla="val 51172"/>
                <a:gd name="adj3" fmla="val 16667"/>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solidFill>
                    <a:schemeClr val="tx1"/>
                  </a:solidFill>
                </a:rPr>
                <a:t>Request </a:t>
              </a:r>
              <a:r>
                <a:rPr lang="en-US" sz="2400" b="1" dirty="0" smtClean="0">
                  <a:solidFill>
                    <a:schemeClr val="tx1"/>
                  </a:solidFill>
                </a:rPr>
                <a:t>flow</a:t>
              </a:r>
              <a:endParaRPr lang="en-US" sz="2400" b="1" dirty="0">
                <a:solidFill>
                  <a:schemeClr val="tx1"/>
                </a:solidFill>
              </a:endParaRPr>
            </a:p>
          </p:txBody>
        </p:sp>
        <p:sp>
          <p:nvSpPr>
            <p:cNvPr id="31" name="Rounded Rectangular Callout 5">
              <a:extLst>
                <a:ext uri="{FF2B5EF4-FFF2-40B4-BE49-F238E27FC236}">
                  <a16:creationId xmlns="" xmlns:a16="http://schemas.microsoft.com/office/drawing/2014/main" id="{95B1C811-0212-4B28-BA67-984A505AD881}"/>
                </a:ext>
              </a:extLst>
            </p:cNvPr>
            <p:cNvSpPr/>
            <p:nvPr/>
          </p:nvSpPr>
          <p:spPr>
            <a:xfrm>
              <a:off x="10515606" y="2857602"/>
              <a:ext cx="1583650" cy="526370"/>
            </a:xfrm>
            <a:prstGeom prst="wedgeRoundRectCallout">
              <a:avLst>
                <a:gd name="adj1" fmla="val -20833"/>
                <a:gd name="adj2" fmla="val 51172"/>
                <a:gd name="adj3" fmla="val 16667"/>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solidFill>
                    <a:schemeClr val="tx1"/>
                  </a:solidFill>
                </a:rPr>
                <a:t>Response flow</a:t>
              </a:r>
            </a:p>
          </p:txBody>
        </p:sp>
        <p:cxnSp>
          <p:nvCxnSpPr>
            <p:cNvPr id="32" name="Straight Arrow Connector 31">
              <a:extLst>
                <a:ext uri="{FF2B5EF4-FFF2-40B4-BE49-F238E27FC236}">
                  <a16:creationId xmlns:a16="http://schemas.microsoft.com/office/drawing/2014/main" xmlns="" id="{7C710513-F5EB-4D87-8E21-4C6965AA366D}"/>
                </a:ext>
              </a:extLst>
            </p:cNvPr>
            <p:cNvCxnSpPr>
              <a:cxnSpLocks/>
            </p:cNvCxnSpPr>
            <p:nvPr/>
          </p:nvCxnSpPr>
          <p:spPr>
            <a:xfrm>
              <a:off x="8338006" y="2857602"/>
              <a:ext cx="5894" cy="52637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xmlns="" id="{7C710513-F5EB-4D87-8E21-4C6965AA366D}"/>
                </a:ext>
              </a:extLst>
            </p:cNvPr>
            <p:cNvCxnSpPr>
              <a:cxnSpLocks/>
            </p:cNvCxnSpPr>
            <p:nvPr/>
          </p:nvCxnSpPr>
          <p:spPr>
            <a:xfrm flipH="1" flipV="1">
              <a:off x="10548652" y="2843416"/>
              <a:ext cx="5882" cy="52637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20553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lstStyle/>
          <a:p>
            <a:r>
              <a:rPr lang="en-US" dirty="0"/>
              <a:t>Object-based architectures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a:t>E</a:t>
            </a:r>
            <a:r>
              <a:rPr lang="en-US" dirty="0" smtClean="0"/>
              <a:t>ach </a:t>
            </a:r>
            <a:r>
              <a:rPr lang="en-US" dirty="0"/>
              <a:t>object corresponds a </a:t>
            </a:r>
            <a:r>
              <a:rPr lang="en-US" dirty="0" smtClean="0"/>
              <a:t>component</a:t>
            </a:r>
          </a:p>
          <a:p>
            <a:pPr>
              <a:lnSpc>
                <a:spcPct val="100000"/>
              </a:lnSpc>
            </a:pPr>
            <a:r>
              <a:rPr lang="en-US" dirty="0"/>
              <a:t>C</a:t>
            </a:r>
            <a:r>
              <a:rPr lang="en-US" dirty="0" smtClean="0"/>
              <a:t>omponents </a:t>
            </a:r>
            <a:r>
              <a:rPr lang="en-US" dirty="0"/>
              <a:t>are connected through a (remote) procedure </a:t>
            </a:r>
            <a:r>
              <a:rPr lang="en-US" dirty="0" smtClean="0"/>
              <a:t>call mechanism.</a:t>
            </a:r>
          </a:p>
          <a:p>
            <a:pPr>
              <a:lnSpc>
                <a:spcPct val="100000"/>
              </a:lnSpc>
            </a:pPr>
            <a:r>
              <a:rPr lang="en-US" dirty="0"/>
              <a:t>The layered and object-based </a:t>
            </a:r>
            <a:r>
              <a:rPr lang="en-US" dirty="0" smtClean="0"/>
              <a:t>architectures still </a:t>
            </a:r>
            <a:r>
              <a:rPr lang="en-US" dirty="0"/>
              <a:t>form the most </a:t>
            </a:r>
            <a:r>
              <a:rPr lang="en-US" dirty="0" smtClean="0"/>
              <a:t>important styles </a:t>
            </a:r>
            <a:r>
              <a:rPr lang="en-US" dirty="0"/>
              <a:t>for large software </a:t>
            </a:r>
            <a:r>
              <a:rPr lang="en-US" dirty="0" smtClean="0"/>
              <a:t>systems</a:t>
            </a:r>
            <a:endParaRPr lang="en-US" dirty="0"/>
          </a:p>
          <a:p>
            <a:pPr marL="0" indent="0">
              <a:buNone/>
            </a:pPr>
            <a:endParaRPr lang="en-US" dirty="0"/>
          </a:p>
        </p:txBody>
      </p:sp>
      <p:grpSp>
        <p:nvGrpSpPr>
          <p:cNvPr id="47" name="Group 46"/>
          <p:cNvGrpSpPr/>
          <p:nvPr/>
        </p:nvGrpSpPr>
        <p:grpSpPr>
          <a:xfrm>
            <a:off x="2357864" y="2968057"/>
            <a:ext cx="5362150" cy="3006395"/>
            <a:chOff x="2357864" y="2968057"/>
            <a:chExt cx="5362150" cy="3006395"/>
          </a:xfrm>
        </p:grpSpPr>
        <p:sp>
          <p:nvSpPr>
            <p:cNvPr id="5" name="Rounded Rectangular Callout 5">
              <a:extLst>
                <a:ext uri="{FF2B5EF4-FFF2-40B4-BE49-F238E27FC236}">
                  <a16:creationId xmlns="" xmlns:a16="http://schemas.microsoft.com/office/drawing/2014/main" id="{95B1C811-0212-4B28-BA67-984A505AD881}"/>
                </a:ext>
              </a:extLst>
            </p:cNvPr>
            <p:cNvSpPr/>
            <p:nvPr/>
          </p:nvSpPr>
          <p:spPr>
            <a:xfrm>
              <a:off x="3851467" y="2968057"/>
              <a:ext cx="1306010"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smtClean="0">
                  <a:solidFill>
                    <a:schemeClr val="tx1"/>
                  </a:solidFill>
                </a:rPr>
                <a:t>Object</a:t>
              </a:r>
              <a:endParaRPr lang="en-US" sz="2400" dirty="0">
                <a:solidFill>
                  <a:schemeClr val="tx1"/>
                </a:solidFill>
              </a:endParaRPr>
            </a:p>
          </p:txBody>
        </p:sp>
        <p:cxnSp>
          <p:nvCxnSpPr>
            <p:cNvPr id="15" name="Straight Arrow Connector 14">
              <a:extLst>
                <a:ext uri="{FF2B5EF4-FFF2-40B4-BE49-F238E27FC236}">
                  <a16:creationId xmlns:a16="http://schemas.microsoft.com/office/drawing/2014/main" xmlns="" id="{7C710513-F5EB-4D87-8E21-4C6965AA366D}"/>
                </a:ext>
              </a:extLst>
            </p:cNvPr>
            <p:cNvCxnSpPr>
              <a:cxnSpLocks/>
              <a:stCxn id="19" idx="1"/>
              <a:endCxn id="5" idx="3"/>
            </p:cNvCxnSpPr>
            <p:nvPr/>
          </p:nvCxnSpPr>
          <p:spPr>
            <a:xfrm flipH="1">
              <a:off x="5157477" y="3231242"/>
              <a:ext cx="1256527" cy="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xmlns="" id="{7C710513-F5EB-4D87-8E21-4C6965AA366D}"/>
                </a:ext>
              </a:extLst>
            </p:cNvPr>
            <p:cNvCxnSpPr>
              <a:cxnSpLocks/>
              <a:endCxn id="19" idx="4"/>
            </p:cNvCxnSpPr>
            <p:nvPr/>
          </p:nvCxnSpPr>
          <p:spPr>
            <a:xfrm flipH="1" flipV="1">
              <a:off x="6794928" y="3500596"/>
              <a:ext cx="5568" cy="1382312"/>
            </a:xfrm>
            <a:prstGeom prst="straightConnector1">
              <a:avLst/>
            </a:prstGeom>
            <a:ln w="2222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xmlns="" id="{7C710513-F5EB-4D87-8E21-4C6965AA366D}"/>
                </a:ext>
              </a:extLst>
            </p:cNvPr>
            <p:cNvCxnSpPr>
              <a:cxnSpLocks/>
              <a:stCxn id="5" idx="2"/>
              <a:endCxn id="21" idx="0"/>
            </p:cNvCxnSpPr>
            <p:nvPr/>
          </p:nvCxnSpPr>
          <p:spPr>
            <a:xfrm>
              <a:off x="4504472" y="3494427"/>
              <a:ext cx="0" cy="1953655"/>
            </a:xfrm>
            <a:prstGeom prst="straightConnector1">
              <a:avLst/>
            </a:prstGeom>
            <a:ln w="2222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30" name="Rounded Rectangular Callout 5">
              <a:extLst>
                <a:ext uri="{FF2B5EF4-FFF2-40B4-BE49-F238E27FC236}">
                  <a16:creationId xmlns="" xmlns:a16="http://schemas.microsoft.com/office/drawing/2014/main" id="{95B1C811-0212-4B28-BA67-984A505AD881}"/>
                </a:ext>
              </a:extLst>
            </p:cNvPr>
            <p:cNvSpPr/>
            <p:nvPr/>
          </p:nvSpPr>
          <p:spPr>
            <a:xfrm>
              <a:off x="4826774" y="4173331"/>
              <a:ext cx="1705288" cy="526370"/>
            </a:xfrm>
            <a:prstGeom prst="wedgeRoundRectCallout">
              <a:avLst>
                <a:gd name="adj1" fmla="val -20833"/>
                <a:gd name="adj2" fmla="val 51172"/>
                <a:gd name="adj3" fmla="val 16667"/>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smtClean="0">
                  <a:solidFill>
                    <a:schemeClr val="tx1"/>
                  </a:solidFill>
                </a:rPr>
                <a:t>Method call</a:t>
              </a:r>
              <a:endParaRPr lang="en-US" sz="2400" b="1" dirty="0">
                <a:solidFill>
                  <a:schemeClr val="tx1"/>
                </a:solidFill>
              </a:endParaRPr>
            </a:p>
          </p:txBody>
        </p:sp>
        <p:sp>
          <p:nvSpPr>
            <p:cNvPr id="19" name="Rounded Rectangular Callout 5">
              <a:extLst>
                <a:ext uri="{FF2B5EF4-FFF2-40B4-BE49-F238E27FC236}">
                  <a16:creationId xmlns="" xmlns:a16="http://schemas.microsoft.com/office/drawing/2014/main" id="{95B1C811-0212-4B28-BA67-984A505AD881}"/>
                </a:ext>
              </a:extLst>
            </p:cNvPr>
            <p:cNvSpPr/>
            <p:nvPr/>
          </p:nvSpPr>
          <p:spPr>
            <a:xfrm>
              <a:off x="6414004" y="2968057"/>
              <a:ext cx="1306010"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smtClean="0">
                  <a:solidFill>
                    <a:schemeClr val="tx1"/>
                  </a:solidFill>
                </a:rPr>
                <a:t>Object</a:t>
              </a:r>
              <a:endParaRPr lang="en-US" sz="2400" dirty="0">
                <a:solidFill>
                  <a:schemeClr val="tx1"/>
                </a:solidFill>
              </a:endParaRPr>
            </a:p>
          </p:txBody>
        </p:sp>
        <p:sp>
          <p:nvSpPr>
            <p:cNvPr id="20" name="Rounded Rectangular Callout 5">
              <a:extLst>
                <a:ext uri="{FF2B5EF4-FFF2-40B4-BE49-F238E27FC236}">
                  <a16:creationId xmlns="" xmlns:a16="http://schemas.microsoft.com/office/drawing/2014/main" id="{95B1C811-0212-4B28-BA67-984A505AD881}"/>
                </a:ext>
              </a:extLst>
            </p:cNvPr>
            <p:cNvSpPr/>
            <p:nvPr/>
          </p:nvSpPr>
          <p:spPr>
            <a:xfrm>
              <a:off x="2357864" y="4130467"/>
              <a:ext cx="1306010"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smtClean="0">
                  <a:solidFill>
                    <a:schemeClr val="tx1"/>
                  </a:solidFill>
                </a:rPr>
                <a:t>Object</a:t>
              </a:r>
              <a:endParaRPr lang="en-US" sz="2400" dirty="0">
                <a:solidFill>
                  <a:schemeClr val="tx1"/>
                </a:solidFill>
              </a:endParaRPr>
            </a:p>
          </p:txBody>
        </p:sp>
        <p:sp>
          <p:nvSpPr>
            <p:cNvPr id="21" name="Rounded Rectangular Callout 5">
              <a:extLst>
                <a:ext uri="{FF2B5EF4-FFF2-40B4-BE49-F238E27FC236}">
                  <a16:creationId xmlns="" xmlns:a16="http://schemas.microsoft.com/office/drawing/2014/main" id="{95B1C811-0212-4B28-BA67-984A505AD881}"/>
                </a:ext>
              </a:extLst>
            </p:cNvPr>
            <p:cNvSpPr/>
            <p:nvPr/>
          </p:nvSpPr>
          <p:spPr>
            <a:xfrm>
              <a:off x="3851467" y="5448082"/>
              <a:ext cx="1306010"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smtClean="0">
                  <a:solidFill>
                    <a:schemeClr val="tx1"/>
                  </a:solidFill>
                </a:rPr>
                <a:t>Object</a:t>
              </a:r>
              <a:endParaRPr lang="en-US" sz="2400" dirty="0">
                <a:solidFill>
                  <a:schemeClr val="tx1"/>
                </a:solidFill>
              </a:endParaRPr>
            </a:p>
          </p:txBody>
        </p:sp>
        <p:sp>
          <p:nvSpPr>
            <p:cNvPr id="24" name="Rounded Rectangular Callout 5">
              <a:extLst>
                <a:ext uri="{FF2B5EF4-FFF2-40B4-BE49-F238E27FC236}">
                  <a16:creationId xmlns="" xmlns:a16="http://schemas.microsoft.com/office/drawing/2014/main" id="{95B1C811-0212-4B28-BA67-984A505AD881}"/>
                </a:ext>
              </a:extLst>
            </p:cNvPr>
            <p:cNvSpPr/>
            <p:nvPr/>
          </p:nvSpPr>
          <p:spPr>
            <a:xfrm>
              <a:off x="6414004" y="4882908"/>
              <a:ext cx="1306010"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smtClean="0">
                  <a:solidFill>
                    <a:schemeClr val="tx1"/>
                  </a:solidFill>
                </a:rPr>
                <a:t>Object</a:t>
              </a:r>
              <a:endParaRPr lang="en-US" sz="2400" dirty="0">
                <a:solidFill>
                  <a:schemeClr val="tx1"/>
                </a:solidFill>
              </a:endParaRPr>
            </a:p>
          </p:txBody>
        </p:sp>
        <p:cxnSp>
          <p:nvCxnSpPr>
            <p:cNvPr id="28" name="Straight Arrow Connector 27">
              <a:extLst>
                <a:ext uri="{FF2B5EF4-FFF2-40B4-BE49-F238E27FC236}">
                  <a16:creationId xmlns:a16="http://schemas.microsoft.com/office/drawing/2014/main" xmlns="" id="{7C710513-F5EB-4D87-8E21-4C6965AA366D}"/>
                </a:ext>
              </a:extLst>
            </p:cNvPr>
            <p:cNvCxnSpPr>
              <a:cxnSpLocks/>
            </p:cNvCxnSpPr>
            <p:nvPr/>
          </p:nvCxnSpPr>
          <p:spPr>
            <a:xfrm>
              <a:off x="7328635" y="3534778"/>
              <a:ext cx="853" cy="1348130"/>
            </a:xfrm>
            <a:prstGeom prst="straightConnector1">
              <a:avLst/>
            </a:prstGeom>
            <a:ln w="2222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xmlns="" id="{7C710513-F5EB-4D87-8E21-4C6965AA366D}"/>
                </a:ext>
              </a:extLst>
            </p:cNvPr>
            <p:cNvCxnSpPr>
              <a:cxnSpLocks/>
            </p:cNvCxnSpPr>
            <p:nvPr/>
          </p:nvCxnSpPr>
          <p:spPr>
            <a:xfrm flipH="1">
              <a:off x="2892884" y="3227336"/>
              <a:ext cx="972644" cy="86278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xmlns="" id="{7C710513-F5EB-4D87-8E21-4C6965AA366D}"/>
                </a:ext>
              </a:extLst>
            </p:cNvPr>
            <p:cNvCxnSpPr>
              <a:cxnSpLocks/>
            </p:cNvCxnSpPr>
            <p:nvPr/>
          </p:nvCxnSpPr>
          <p:spPr>
            <a:xfrm flipV="1">
              <a:off x="3421023" y="3534778"/>
              <a:ext cx="647750" cy="595689"/>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xmlns="" id="{7C710513-F5EB-4D87-8E21-4C6965AA366D}"/>
                </a:ext>
              </a:extLst>
            </p:cNvPr>
            <p:cNvCxnSpPr>
              <a:cxnSpLocks/>
            </p:cNvCxnSpPr>
            <p:nvPr/>
          </p:nvCxnSpPr>
          <p:spPr>
            <a:xfrm flipH="1" flipV="1">
              <a:off x="3379206" y="4685396"/>
              <a:ext cx="510130" cy="851469"/>
            </a:xfrm>
            <a:prstGeom prst="straightConnector1">
              <a:avLst/>
            </a:prstGeom>
            <a:ln w="2222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xmlns="" id="{7C710513-F5EB-4D87-8E21-4C6965AA366D}"/>
                </a:ext>
              </a:extLst>
            </p:cNvPr>
            <p:cNvCxnSpPr>
              <a:cxnSpLocks/>
              <a:stCxn id="24" idx="1"/>
              <a:endCxn id="21" idx="3"/>
            </p:cNvCxnSpPr>
            <p:nvPr/>
          </p:nvCxnSpPr>
          <p:spPr>
            <a:xfrm flipH="1">
              <a:off x="5157477" y="5146093"/>
              <a:ext cx="1256527" cy="565174"/>
            </a:xfrm>
            <a:prstGeom prst="straightConnector1">
              <a:avLst/>
            </a:prstGeom>
            <a:ln w="22225">
              <a:solidFill>
                <a:schemeClr val="tx1"/>
              </a:solidFill>
              <a:prstDash val="solid"/>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56847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lstStyle/>
          <a:p>
            <a:r>
              <a:rPr lang="en-US" dirty="0"/>
              <a:t>Data-centered architectures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6760157" cy="5590565"/>
          </a:xfrm>
        </p:spPr>
        <p:txBody>
          <a:bodyPr/>
          <a:lstStyle/>
          <a:p>
            <a:pPr>
              <a:lnSpc>
                <a:spcPct val="100000"/>
              </a:lnSpc>
            </a:pPr>
            <a:r>
              <a:rPr lang="en-US" dirty="0" smtClean="0"/>
              <a:t>It evolve </a:t>
            </a:r>
            <a:r>
              <a:rPr lang="en-US" dirty="0"/>
              <a:t>around the idea that processes communicate through </a:t>
            </a:r>
            <a:r>
              <a:rPr lang="en-US" dirty="0" smtClean="0"/>
              <a:t>a common </a:t>
            </a:r>
            <a:r>
              <a:rPr lang="en-US" dirty="0"/>
              <a:t>(passive </a:t>
            </a:r>
            <a:r>
              <a:rPr lang="en-US" dirty="0" smtClean="0"/>
              <a:t>or active</a:t>
            </a:r>
            <a:r>
              <a:rPr lang="en-US" dirty="0"/>
              <a:t>) repository</a:t>
            </a:r>
            <a:r>
              <a:rPr lang="en-US" dirty="0" smtClean="0"/>
              <a:t>.</a:t>
            </a:r>
          </a:p>
          <a:p>
            <a:pPr>
              <a:lnSpc>
                <a:spcPct val="100000"/>
              </a:lnSpc>
            </a:pPr>
            <a:r>
              <a:rPr lang="en-US" dirty="0"/>
              <a:t>It can be argued that for distributed systems </a:t>
            </a:r>
            <a:r>
              <a:rPr lang="en-US" dirty="0" smtClean="0"/>
              <a:t>these architectures </a:t>
            </a:r>
            <a:r>
              <a:rPr lang="en-US" dirty="0"/>
              <a:t>are as important as the layered and object-based </a:t>
            </a:r>
            <a:r>
              <a:rPr lang="en-US" dirty="0" smtClean="0"/>
              <a:t>architectures</a:t>
            </a:r>
          </a:p>
          <a:p>
            <a:pPr>
              <a:lnSpc>
                <a:spcPct val="100000"/>
              </a:lnSpc>
            </a:pPr>
            <a:r>
              <a:rPr lang="en-US" dirty="0"/>
              <a:t>For example, </a:t>
            </a:r>
            <a:endParaRPr lang="en-US" dirty="0" smtClean="0"/>
          </a:p>
          <a:p>
            <a:pPr lvl="1"/>
            <a:r>
              <a:rPr lang="en-US" sz="2400" dirty="0">
                <a:ea typeface="ＭＳ Ｐゴシック" charset="-128"/>
              </a:rPr>
              <a:t>A wealth of networked applications have been developed that rely on a shared distributed </a:t>
            </a:r>
            <a:r>
              <a:rPr lang="en-US" sz="2400" dirty="0" smtClean="0">
                <a:ea typeface="ＭＳ Ｐゴシック" charset="-128"/>
              </a:rPr>
              <a:t>file system </a:t>
            </a:r>
            <a:r>
              <a:rPr lang="en-US" sz="2400" dirty="0">
                <a:ea typeface="ＭＳ Ｐゴシック" charset="-128"/>
              </a:rPr>
              <a:t>in which virtually all communication takes place through files.</a:t>
            </a:r>
          </a:p>
          <a:p>
            <a:pPr lvl="1"/>
            <a:r>
              <a:rPr lang="en-US" sz="2400" dirty="0">
                <a:ea typeface="ＭＳ Ｐゴシック" charset="-128"/>
              </a:rPr>
              <a:t>Web-based distributed </a:t>
            </a:r>
            <a:r>
              <a:rPr lang="en-US" sz="2400" dirty="0" smtClean="0">
                <a:ea typeface="ＭＳ Ｐゴシック" charset="-128"/>
              </a:rPr>
              <a:t>systems are </a:t>
            </a:r>
            <a:r>
              <a:rPr lang="en-US" sz="2400" dirty="0">
                <a:ea typeface="ＭＳ Ｐゴシック" charset="-128"/>
              </a:rPr>
              <a:t>largely data-centric: processes communicate through the use of shared Web-based data services.</a:t>
            </a:r>
          </a:p>
          <a:p>
            <a:pPr>
              <a:lnSpc>
                <a:spcPct val="100000"/>
              </a:lnSpc>
            </a:pPr>
            <a:endParaRPr lang="en-US" dirty="0"/>
          </a:p>
        </p:txBody>
      </p:sp>
      <p:sp>
        <p:nvSpPr>
          <p:cNvPr id="5" name="Cloud 4"/>
          <p:cNvSpPr/>
          <p:nvPr/>
        </p:nvSpPr>
        <p:spPr>
          <a:xfrm>
            <a:off x="7215185" y="3082159"/>
            <a:ext cx="4657725" cy="1828800"/>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Shared (persistent) data space</a:t>
            </a:r>
            <a:endParaRPr lang="en-IN" dirty="0">
              <a:solidFill>
                <a:schemeClr val="tx1"/>
              </a:solidFill>
            </a:endParaRPr>
          </a:p>
        </p:txBody>
      </p:sp>
      <p:sp>
        <p:nvSpPr>
          <p:cNvPr id="6" name="Rounded Rectangular Callout 5">
            <a:extLst>
              <a:ext uri="{FF2B5EF4-FFF2-40B4-BE49-F238E27FC236}">
                <a16:creationId xmlns="" xmlns:a16="http://schemas.microsoft.com/office/drawing/2014/main" id="{95B1C811-0212-4B28-BA67-984A505AD881}"/>
              </a:ext>
            </a:extLst>
          </p:cNvPr>
          <p:cNvSpPr/>
          <p:nvPr/>
        </p:nvSpPr>
        <p:spPr>
          <a:xfrm>
            <a:off x="7872084" y="1688664"/>
            <a:ext cx="1749234"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smtClean="0">
                <a:solidFill>
                  <a:schemeClr val="tx1"/>
                </a:solidFill>
              </a:rPr>
              <a:t>Component</a:t>
            </a:r>
            <a:endParaRPr lang="en-US" sz="2400" dirty="0">
              <a:solidFill>
                <a:schemeClr val="tx1"/>
              </a:solidFill>
            </a:endParaRPr>
          </a:p>
        </p:txBody>
      </p:sp>
      <p:sp>
        <p:nvSpPr>
          <p:cNvPr id="8" name="Rounded Rectangular Callout 5">
            <a:extLst>
              <a:ext uri="{FF2B5EF4-FFF2-40B4-BE49-F238E27FC236}">
                <a16:creationId xmlns="" xmlns:a16="http://schemas.microsoft.com/office/drawing/2014/main" id="{95B1C811-0212-4B28-BA67-984A505AD881}"/>
              </a:ext>
            </a:extLst>
          </p:cNvPr>
          <p:cNvSpPr/>
          <p:nvPr/>
        </p:nvSpPr>
        <p:spPr>
          <a:xfrm>
            <a:off x="10930682" y="2507623"/>
            <a:ext cx="1247032" cy="526370"/>
          </a:xfrm>
          <a:prstGeom prst="wedgeRoundRectCallout">
            <a:avLst>
              <a:gd name="adj1" fmla="val -20833"/>
              <a:gd name="adj2" fmla="val 51172"/>
              <a:gd name="adj3" fmla="val 16667"/>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smtClean="0">
                <a:solidFill>
                  <a:schemeClr val="tx1"/>
                </a:solidFill>
              </a:rPr>
              <a:t>Publish</a:t>
            </a:r>
            <a:endParaRPr lang="en-US" sz="2400" b="1" dirty="0">
              <a:solidFill>
                <a:schemeClr val="tx1"/>
              </a:solidFill>
            </a:endParaRPr>
          </a:p>
        </p:txBody>
      </p:sp>
      <p:cxnSp>
        <p:nvCxnSpPr>
          <p:cNvPr id="10" name="Straight Arrow Connector 9">
            <a:extLst>
              <a:ext uri="{FF2B5EF4-FFF2-40B4-BE49-F238E27FC236}">
                <a16:creationId xmlns:a16="http://schemas.microsoft.com/office/drawing/2014/main" xmlns="" id="{7C710513-F5EB-4D87-8E21-4C6965AA366D}"/>
              </a:ext>
            </a:extLst>
          </p:cNvPr>
          <p:cNvCxnSpPr>
            <a:cxnSpLocks/>
            <a:endCxn id="6" idx="2"/>
          </p:cNvCxnSpPr>
          <p:nvPr/>
        </p:nvCxnSpPr>
        <p:spPr>
          <a:xfrm flipV="1">
            <a:off x="8746701" y="2215034"/>
            <a:ext cx="0" cy="1128241"/>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Rounded Rectangular Callout 11">
            <a:extLst>
              <a:ext uri="{FF2B5EF4-FFF2-40B4-BE49-F238E27FC236}">
                <a16:creationId xmlns="" xmlns:a16="http://schemas.microsoft.com/office/drawing/2014/main" id="{95B1C811-0212-4B28-BA67-984A505AD881}"/>
              </a:ext>
            </a:extLst>
          </p:cNvPr>
          <p:cNvSpPr/>
          <p:nvPr/>
        </p:nvSpPr>
        <p:spPr>
          <a:xfrm>
            <a:off x="10166540" y="1699986"/>
            <a:ext cx="1749234"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smtClean="0">
                <a:solidFill>
                  <a:schemeClr val="tx1"/>
                </a:solidFill>
              </a:rPr>
              <a:t>Component</a:t>
            </a:r>
            <a:endParaRPr lang="en-US" sz="2400" dirty="0">
              <a:solidFill>
                <a:schemeClr val="tx1"/>
              </a:solidFill>
            </a:endParaRPr>
          </a:p>
        </p:txBody>
      </p:sp>
      <p:sp>
        <p:nvSpPr>
          <p:cNvPr id="13" name="Rounded Rectangular Callout 5">
            <a:extLst>
              <a:ext uri="{FF2B5EF4-FFF2-40B4-BE49-F238E27FC236}">
                <a16:creationId xmlns="" xmlns:a16="http://schemas.microsoft.com/office/drawing/2014/main" id="{95B1C811-0212-4B28-BA67-984A505AD881}"/>
              </a:ext>
            </a:extLst>
          </p:cNvPr>
          <p:cNvSpPr/>
          <p:nvPr/>
        </p:nvSpPr>
        <p:spPr>
          <a:xfrm>
            <a:off x="6893927" y="2520306"/>
            <a:ext cx="1840571" cy="452042"/>
          </a:xfrm>
          <a:prstGeom prst="wedgeRoundRectCallout">
            <a:avLst>
              <a:gd name="adj1" fmla="val -20833"/>
              <a:gd name="adj2" fmla="val 51172"/>
              <a:gd name="adj3" fmla="val 16667"/>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smtClean="0">
                <a:solidFill>
                  <a:schemeClr val="tx1"/>
                </a:solidFill>
              </a:rPr>
              <a:t>Data delivery</a:t>
            </a:r>
            <a:endParaRPr lang="en-US" sz="2400" b="1" dirty="0">
              <a:solidFill>
                <a:schemeClr val="tx1"/>
              </a:solidFill>
            </a:endParaRPr>
          </a:p>
        </p:txBody>
      </p:sp>
      <p:cxnSp>
        <p:nvCxnSpPr>
          <p:cNvPr id="18" name="Straight Arrow Connector 17">
            <a:extLst>
              <a:ext uri="{FF2B5EF4-FFF2-40B4-BE49-F238E27FC236}">
                <a16:creationId xmlns:a16="http://schemas.microsoft.com/office/drawing/2014/main" xmlns="" id="{7C710513-F5EB-4D87-8E21-4C6965AA366D}"/>
              </a:ext>
            </a:extLst>
          </p:cNvPr>
          <p:cNvCxnSpPr>
            <a:cxnSpLocks/>
          </p:cNvCxnSpPr>
          <p:nvPr/>
        </p:nvCxnSpPr>
        <p:spPr>
          <a:xfrm flipV="1">
            <a:off x="10525608" y="2226357"/>
            <a:ext cx="2269" cy="988784"/>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7C710513-F5EB-4D87-8E21-4C6965AA366D}"/>
              </a:ext>
            </a:extLst>
          </p:cNvPr>
          <p:cNvCxnSpPr>
            <a:cxnSpLocks/>
            <a:stCxn id="12" idx="2"/>
          </p:cNvCxnSpPr>
          <p:nvPr/>
        </p:nvCxnSpPr>
        <p:spPr>
          <a:xfrm flipH="1">
            <a:off x="11036744" y="2226356"/>
            <a:ext cx="4413" cy="988785"/>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169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E</a:t>
            </a:r>
            <a:r>
              <a:rPr lang="en-US" dirty="0" smtClean="0"/>
              <a:t>vent-based architectures</a:t>
            </a:r>
            <a:endParaRPr lang="en-US" dirty="0"/>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smtClean="0"/>
              <a:t>Processes communicate through the propagation of events.</a:t>
            </a:r>
          </a:p>
          <a:p>
            <a:pPr>
              <a:lnSpc>
                <a:spcPct val="100000"/>
              </a:lnSpc>
            </a:pPr>
            <a:r>
              <a:rPr lang="en-US" dirty="0" smtClean="0"/>
              <a:t>For distributed </a:t>
            </a:r>
            <a:r>
              <a:rPr lang="en-US" dirty="0"/>
              <a:t>systems, </a:t>
            </a:r>
            <a:r>
              <a:rPr lang="en-US" dirty="0" smtClean="0"/>
              <a:t>event propagation </a:t>
            </a:r>
            <a:r>
              <a:rPr lang="en-US" dirty="0"/>
              <a:t>has generally been associated with </a:t>
            </a:r>
            <a:r>
              <a:rPr lang="en-US" dirty="0" smtClean="0"/>
              <a:t>what are </a:t>
            </a:r>
            <a:r>
              <a:rPr lang="en-US" dirty="0"/>
              <a:t>known as publish/subscribe </a:t>
            </a:r>
            <a:r>
              <a:rPr lang="en-US" dirty="0" smtClean="0"/>
              <a:t>systems.</a:t>
            </a:r>
          </a:p>
          <a:p>
            <a:pPr>
              <a:lnSpc>
                <a:spcPct val="100000"/>
              </a:lnSpc>
            </a:pPr>
            <a:r>
              <a:rPr lang="en-US" b="1" dirty="0" smtClean="0"/>
              <a:t>Advantage</a:t>
            </a:r>
            <a:r>
              <a:rPr lang="en-US" dirty="0" smtClean="0"/>
              <a:t> - processes are loosely coupled. In principle, they need not explicitly refer to each other. This is also referred to as being decoupled in space, or referentially decoupled.</a:t>
            </a:r>
            <a:endParaRPr lang="en-US" dirty="0"/>
          </a:p>
        </p:txBody>
      </p:sp>
      <p:grpSp>
        <p:nvGrpSpPr>
          <p:cNvPr id="37" name="Group 36"/>
          <p:cNvGrpSpPr/>
          <p:nvPr/>
        </p:nvGrpSpPr>
        <p:grpSpPr>
          <a:xfrm>
            <a:off x="1214704" y="3178500"/>
            <a:ext cx="7014895" cy="3275509"/>
            <a:chOff x="543192" y="3102342"/>
            <a:chExt cx="7014895" cy="3275509"/>
          </a:xfrm>
        </p:grpSpPr>
        <p:sp>
          <p:nvSpPr>
            <p:cNvPr id="6" name="Rounded Rectangular Callout 5">
              <a:extLst>
                <a:ext uri="{FF2B5EF4-FFF2-40B4-BE49-F238E27FC236}">
                  <a16:creationId xmlns="" xmlns:a16="http://schemas.microsoft.com/office/drawing/2014/main" id="{95B1C811-0212-4B28-BA67-984A505AD881}"/>
                </a:ext>
              </a:extLst>
            </p:cNvPr>
            <p:cNvSpPr/>
            <p:nvPr/>
          </p:nvSpPr>
          <p:spPr>
            <a:xfrm>
              <a:off x="2187129" y="3102342"/>
              <a:ext cx="1771096"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smtClean="0">
                  <a:solidFill>
                    <a:schemeClr val="tx1"/>
                  </a:solidFill>
                </a:rPr>
                <a:t>Component</a:t>
              </a:r>
              <a:endParaRPr lang="en-US" sz="2400" dirty="0">
                <a:solidFill>
                  <a:schemeClr val="tx1"/>
                </a:solidFill>
              </a:endParaRPr>
            </a:p>
          </p:txBody>
        </p:sp>
        <p:sp>
          <p:nvSpPr>
            <p:cNvPr id="10" name="Rounded Rectangular Callout 5">
              <a:extLst>
                <a:ext uri="{FF2B5EF4-FFF2-40B4-BE49-F238E27FC236}">
                  <a16:creationId xmlns="" xmlns:a16="http://schemas.microsoft.com/office/drawing/2014/main" id="{95B1C811-0212-4B28-BA67-984A505AD881}"/>
                </a:ext>
              </a:extLst>
            </p:cNvPr>
            <p:cNvSpPr/>
            <p:nvPr/>
          </p:nvSpPr>
          <p:spPr>
            <a:xfrm>
              <a:off x="4390712" y="5248953"/>
              <a:ext cx="1705288" cy="526370"/>
            </a:xfrm>
            <a:prstGeom prst="wedgeRoundRectCallout">
              <a:avLst>
                <a:gd name="adj1" fmla="val -20833"/>
                <a:gd name="adj2" fmla="val 51172"/>
                <a:gd name="adj3" fmla="val 16667"/>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smtClean="0">
                  <a:solidFill>
                    <a:schemeClr val="tx1"/>
                  </a:solidFill>
                </a:rPr>
                <a:t>Publish</a:t>
              </a:r>
              <a:endParaRPr lang="en-US" sz="2400" b="1" dirty="0">
                <a:solidFill>
                  <a:schemeClr val="tx1"/>
                </a:solidFill>
              </a:endParaRPr>
            </a:p>
          </p:txBody>
        </p:sp>
        <p:sp>
          <p:nvSpPr>
            <p:cNvPr id="12" name="Rounded Rectangular Callout 5">
              <a:extLst>
                <a:ext uri="{FF2B5EF4-FFF2-40B4-BE49-F238E27FC236}">
                  <a16:creationId xmlns="" xmlns:a16="http://schemas.microsoft.com/office/drawing/2014/main" id="{95B1C811-0212-4B28-BA67-984A505AD881}"/>
                </a:ext>
              </a:extLst>
            </p:cNvPr>
            <p:cNvSpPr/>
            <p:nvPr/>
          </p:nvSpPr>
          <p:spPr>
            <a:xfrm>
              <a:off x="5185761" y="3102342"/>
              <a:ext cx="1712448"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Component</a:t>
              </a:r>
            </a:p>
          </p:txBody>
        </p:sp>
        <p:sp>
          <p:nvSpPr>
            <p:cNvPr id="13" name="Rounded Rectangular Callout 5">
              <a:extLst>
                <a:ext uri="{FF2B5EF4-FFF2-40B4-BE49-F238E27FC236}">
                  <a16:creationId xmlns="" xmlns:a16="http://schemas.microsoft.com/office/drawing/2014/main" id="{95B1C811-0212-4B28-BA67-984A505AD881}"/>
                </a:ext>
              </a:extLst>
            </p:cNvPr>
            <p:cNvSpPr/>
            <p:nvPr/>
          </p:nvSpPr>
          <p:spPr>
            <a:xfrm>
              <a:off x="3400011" y="5851481"/>
              <a:ext cx="1679050" cy="526370"/>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Component</a:t>
              </a:r>
            </a:p>
          </p:txBody>
        </p:sp>
        <p:cxnSp>
          <p:nvCxnSpPr>
            <p:cNvPr id="17" name="Straight Arrow Connector 16">
              <a:extLst>
                <a:ext uri="{FF2B5EF4-FFF2-40B4-BE49-F238E27FC236}">
                  <a16:creationId xmlns:a16="http://schemas.microsoft.com/office/drawing/2014/main" xmlns="" id="{7C710513-F5EB-4D87-8E21-4C6965AA366D}"/>
                </a:ext>
              </a:extLst>
            </p:cNvPr>
            <p:cNvCxnSpPr>
              <a:cxnSpLocks/>
            </p:cNvCxnSpPr>
            <p:nvPr/>
          </p:nvCxnSpPr>
          <p:spPr>
            <a:xfrm flipV="1">
              <a:off x="5552628" y="3628712"/>
              <a:ext cx="5638" cy="94252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Rounded Rectangular Callout 5">
              <a:extLst>
                <a:ext uri="{FF2B5EF4-FFF2-40B4-BE49-F238E27FC236}">
                  <a16:creationId xmlns="" xmlns:a16="http://schemas.microsoft.com/office/drawing/2014/main" id="{95B1C811-0212-4B28-BA67-984A505AD881}"/>
                </a:ext>
              </a:extLst>
            </p:cNvPr>
            <p:cNvSpPr/>
            <p:nvPr/>
          </p:nvSpPr>
          <p:spPr>
            <a:xfrm>
              <a:off x="543192" y="3719176"/>
              <a:ext cx="2083231" cy="526370"/>
            </a:xfrm>
            <a:prstGeom prst="wedgeRoundRectCallout">
              <a:avLst>
                <a:gd name="adj1" fmla="val -20833"/>
                <a:gd name="adj2" fmla="val 51172"/>
                <a:gd name="adj3" fmla="val 16667"/>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smtClean="0">
                  <a:solidFill>
                    <a:schemeClr val="tx1"/>
                  </a:solidFill>
                </a:rPr>
                <a:t>Event delivery</a:t>
              </a:r>
              <a:endParaRPr lang="en-US" sz="2400" b="1" dirty="0">
                <a:solidFill>
                  <a:schemeClr val="tx1"/>
                </a:solidFill>
              </a:endParaRPr>
            </a:p>
          </p:txBody>
        </p:sp>
        <p:sp>
          <p:nvSpPr>
            <p:cNvPr id="23" name="Left-Right Arrow 22"/>
            <p:cNvSpPr/>
            <p:nvPr/>
          </p:nvSpPr>
          <p:spPr>
            <a:xfrm>
              <a:off x="949562" y="4344023"/>
              <a:ext cx="6608525" cy="967210"/>
            </a:xfrm>
            <a:prstGeom prst="leftRightArrow">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tx1"/>
                  </a:solidFill>
                </a:rPr>
                <a:t>Event bus</a:t>
              </a:r>
              <a:endParaRPr lang="en-IN" sz="2400" dirty="0">
                <a:solidFill>
                  <a:schemeClr val="tx1"/>
                </a:solidFill>
              </a:endParaRPr>
            </a:p>
          </p:txBody>
        </p:sp>
        <p:cxnSp>
          <p:nvCxnSpPr>
            <p:cNvPr id="30" name="Straight Arrow Connector 29">
              <a:extLst>
                <a:ext uri="{FF2B5EF4-FFF2-40B4-BE49-F238E27FC236}">
                  <a16:creationId xmlns:a16="http://schemas.microsoft.com/office/drawing/2014/main" xmlns="" id="{7C710513-F5EB-4D87-8E21-4C6965AA366D}"/>
                </a:ext>
              </a:extLst>
            </p:cNvPr>
            <p:cNvCxnSpPr>
              <a:cxnSpLocks/>
            </p:cNvCxnSpPr>
            <p:nvPr/>
          </p:nvCxnSpPr>
          <p:spPr>
            <a:xfrm>
              <a:off x="6321405" y="3658726"/>
              <a:ext cx="0" cy="912506"/>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xmlns="" id="{7C710513-F5EB-4D87-8E21-4C6965AA366D}"/>
                </a:ext>
              </a:extLst>
            </p:cNvPr>
            <p:cNvCxnSpPr>
              <a:cxnSpLocks/>
            </p:cNvCxnSpPr>
            <p:nvPr/>
          </p:nvCxnSpPr>
          <p:spPr>
            <a:xfrm flipV="1">
              <a:off x="2922386" y="3605335"/>
              <a:ext cx="5638" cy="94252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xmlns="" id="{7C710513-F5EB-4D87-8E21-4C6965AA366D}"/>
                </a:ext>
              </a:extLst>
            </p:cNvPr>
            <p:cNvCxnSpPr>
              <a:cxnSpLocks/>
              <a:stCxn id="13" idx="0"/>
              <a:endCxn id="23" idx="5"/>
            </p:cNvCxnSpPr>
            <p:nvPr/>
          </p:nvCxnSpPr>
          <p:spPr>
            <a:xfrm flipV="1">
              <a:off x="4239536" y="5069431"/>
              <a:ext cx="14289" cy="78205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8736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System Architecture</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indent="0">
              <a:buNone/>
            </a:pPr>
            <a:r>
              <a:rPr lang="en-US" b="1" dirty="0">
                <a:solidFill>
                  <a:schemeClr val="tx2"/>
                </a:solidFill>
              </a:rPr>
              <a:t>There are three views toward system </a:t>
            </a:r>
            <a:r>
              <a:rPr lang="en-US" b="1" dirty="0" smtClean="0">
                <a:solidFill>
                  <a:schemeClr val="tx2"/>
                </a:solidFill>
              </a:rPr>
              <a:t>architectures:</a:t>
            </a:r>
            <a:endParaRPr lang="en-US" dirty="0" smtClean="0"/>
          </a:p>
          <a:p>
            <a:r>
              <a:rPr lang="en-US" dirty="0"/>
              <a:t>Centralized Architectures</a:t>
            </a:r>
          </a:p>
          <a:p>
            <a:r>
              <a:rPr lang="en-US" dirty="0"/>
              <a:t>Decentralized </a:t>
            </a:r>
            <a:r>
              <a:rPr lang="en-US" dirty="0" smtClean="0"/>
              <a:t>architectures</a:t>
            </a:r>
          </a:p>
          <a:p>
            <a:r>
              <a:rPr lang="en-US" dirty="0" smtClean="0"/>
              <a:t>Distributed </a:t>
            </a:r>
            <a:r>
              <a:rPr lang="en-US" dirty="0"/>
              <a:t>Architectures</a:t>
            </a:r>
          </a:p>
          <a:p>
            <a:pPr>
              <a:lnSpc>
                <a:spcPct val="100000"/>
              </a:lnSpc>
            </a:pPr>
            <a:endParaRPr lang="en-US" dirty="0"/>
          </a:p>
        </p:txBody>
      </p:sp>
    </p:spTree>
    <p:extLst>
      <p:ext uri="{BB962C8B-B14F-4D97-AF65-F5344CB8AC3E}">
        <p14:creationId xmlns:p14="http://schemas.microsoft.com/office/powerpoint/2010/main" val="2412737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Centralized Architectures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a:solidFill>
                  <a:schemeClr val="accent6"/>
                </a:solidFill>
              </a:rPr>
              <a:t>Manage distributed system complexity </a:t>
            </a:r>
            <a:r>
              <a:rPr lang="en-US" dirty="0" smtClean="0"/>
              <a:t>– think in </a:t>
            </a:r>
            <a:r>
              <a:rPr lang="en-US" dirty="0"/>
              <a:t>terms of clients that request services from servers</a:t>
            </a:r>
            <a:r>
              <a:rPr lang="en-US" dirty="0" smtClean="0"/>
              <a:t>.</a:t>
            </a:r>
          </a:p>
          <a:p>
            <a:pPr>
              <a:lnSpc>
                <a:spcPct val="100000"/>
              </a:lnSpc>
            </a:pPr>
            <a:r>
              <a:rPr lang="en-US" dirty="0"/>
              <a:t>Processes are divided into two groups</a:t>
            </a:r>
            <a:r>
              <a:rPr lang="en-US" dirty="0" smtClean="0"/>
              <a:t>:</a:t>
            </a:r>
          </a:p>
          <a:p>
            <a:pPr marL="914400" lvl="1" indent="-457200">
              <a:buFont typeface="+mj-lt"/>
              <a:buAutoNum type="arabicPeriod"/>
            </a:pPr>
            <a:r>
              <a:rPr lang="en-US" sz="2200" dirty="0" smtClean="0">
                <a:ea typeface="ＭＳ Ｐゴシック" charset="-128"/>
              </a:rPr>
              <a:t>A </a:t>
            </a:r>
            <a:r>
              <a:rPr lang="en-US" sz="2200" dirty="0">
                <a:ea typeface="ＭＳ Ｐゴシック" charset="-128"/>
              </a:rPr>
              <a:t>server is a process implementing a specific service, for example, a file system service or a database service.</a:t>
            </a:r>
          </a:p>
          <a:p>
            <a:pPr marL="914400" lvl="1" indent="-457200">
              <a:buFont typeface="+mj-lt"/>
              <a:buAutoNum type="arabicPeriod"/>
            </a:pPr>
            <a:r>
              <a:rPr lang="en-US" sz="2200" dirty="0" smtClean="0">
                <a:ea typeface="ＭＳ Ｐゴシック" charset="-128"/>
              </a:rPr>
              <a:t>A </a:t>
            </a:r>
            <a:r>
              <a:rPr lang="en-US" sz="2200" dirty="0">
                <a:ea typeface="ＭＳ Ｐゴシック" charset="-128"/>
              </a:rPr>
              <a:t>client is a process that requests a service from a server by sending it a request and subsequently waiting </a:t>
            </a:r>
            <a:r>
              <a:rPr lang="en-US" sz="2200" dirty="0" smtClean="0">
                <a:ea typeface="ＭＳ Ｐゴシック" charset="-128"/>
              </a:rPr>
              <a:t>for </a:t>
            </a:r>
            <a:r>
              <a:rPr lang="en-US" dirty="0" smtClean="0"/>
              <a:t>the </a:t>
            </a:r>
            <a:r>
              <a:rPr lang="en-US" dirty="0"/>
              <a:t>server's reply</a:t>
            </a:r>
            <a:r>
              <a:rPr lang="en-US" dirty="0" smtClean="0"/>
              <a:t>.</a:t>
            </a:r>
          </a:p>
        </p:txBody>
      </p:sp>
      <p:grpSp>
        <p:nvGrpSpPr>
          <p:cNvPr id="7" name="Group 6">
            <a:extLst>
              <a:ext uri="{FF2B5EF4-FFF2-40B4-BE49-F238E27FC236}">
                <a16:creationId xmlns="" xmlns:a16="http://schemas.microsoft.com/office/drawing/2014/main" id="{041DCCD2-BBD1-4943-BF4D-97E238B3D702}"/>
              </a:ext>
            </a:extLst>
          </p:cNvPr>
          <p:cNvGrpSpPr/>
          <p:nvPr/>
        </p:nvGrpSpPr>
        <p:grpSpPr>
          <a:xfrm>
            <a:off x="2476948" y="3658726"/>
            <a:ext cx="5162628" cy="2338750"/>
            <a:chOff x="-47177" y="1536972"/>
            <a:chExt cx="5162628" cy="2338750"/>
          </a:xfrm>
        </p:grpSpPr>
        <p:cxnSp>
          <p:nvCxnSpPr>
            <p:cNvPr id="8" name="Straight Connector 7">
              <a:extLst>
                <a:ext uri="{FF2B5EF4-FFF2-40B4-BE49-F238E27FC236}">
                  <a16:creationId xmlns="" xmlns:a16="http://schemas.microsoft.com/office/drawing/2014/main" id="{2C7A6D39-94D8-4FA5-B579-DEB826D65181}"/>
                </a:ext>
              </a:extLst>
            </p:cNvPr>
            <p:cNvCxnSpPr/>
            <p:nvPr/>
          </p:nvCxnSpPr>
          <p:spPr>
            <a:xfrm>
              <a:off x="762000" y="1981200"/>
              <a:ext cx="3810000" cy="1588"/>
            </a:xfrm>
            <a:prstGeom prst="line">
              <a:avLst/>
            </a:prstGeom>
            <a:noFill/>
            <a:ln w="9525" cap="flat" cmpd="sng" algn="ctr">
              <a:solidFill>
                <a:srgbClr val="4F81BD">
                  <a:shade val="95000"/>
                  <a:satMod val="105000"/>
                </a:srgbClr>
              </a:solidFill>
              <a:prstDash val="dash"/>
            </a:ln>
            <a:effectLst/>
          </p:spPr>
        </p:cxnSp>
        <p:cxnSp>
          <p:nvCxnSpPr>
            <p:cNvPr id="9" name="Straight Connector 8">
              <a:extLst>
                <a:ext uri="{FF2B5EF4-FFF2-40B4-BE49-F238E27FC236}">
                  <a16:creationId xmlns="" xmlns:a16="http://schemas.microsoft.com/office/drawing/2014/main" id="{2BE3FFEC-313C-466C-BF41-88B4FE4EF011}"/>
                </a:ext>
              </a:extLst>
            </p:cNvPr>
            <p:cNvCxnSpPr/>
            <p:nvPr/>
          </p:nvCxnSpPr>
          <p:spPr>
            <a:xfrm>
              <a:off x="976313" y="3356596"/>
              <a:ext cx="3592354" cy="0"/>
            </a:xfrm>
            <a:prstGeom prst="line">
              <a:avLst/>
            </a:prstGeom>
            <a:noFill/>
            <a:ln w="9525" cap="flat" cmpd="sng" algn="ctr">
              <a:solidFill>
                <a:srgbClr val="4F81BD">
                  <a:shade val="95000"/>
                  <a:satMod val="105000"/>
                </a:srgbClr>
              </a:solidFill>
              <a:prstDash val="dash"/>
            </a:ln>
            <a:effectLst/>
          </p:spPr>
        </p:cxnSp>
        <p:sp>
          <p:nvSpPr>
            <p:cNvPr id="10" name="TextBox 9">
              <a:extLst>
                <a:ext uri="{FF2B5EF4-FFF2-40B4-BE49-F238E27FC236}">
                  <a16:creationId xmlns="" xmlns:a16="http://schemas.microsoft.com/office/drawing/2014/main" id="{179DCDCA-1D05-4FE9-AFA2-A15D36826B8D}"/>
                </a:ext>
              </a:extLst>
            </p:cNvPr>
            <p:cNvSpPr txBox="1"/>
            <p:nvPr/>
          </p:nvSpPr>
          <p:spPr>
            <a:xfrm>
              <a:off x="-47177" y="1781045"/>
              <a:ext cx="787395"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prstClr val="black"/>
                  </a:solidFill>
                  <a:effectLst/>
                  <a:uLnTx/>
                  <a:uFillTx/>
                  <a:latin typeface="+mj-lt"/>
                  <a:cs typeface="+mn-cs"/>
                </a:rPr>
                <a:t>Client</a:t>
              </a:r>
            </a:p>
          </p:txBody>
        </p:sp>
        <p:sp>
          <p:nvSpPr>
            <p:cNvPr id="11" name="TextBox 10">
              <a:extLst>
                <a:ext uri="{FF2B5EF4-FFF2-40B4-BE49-F238E27FC236}">
                  <a16:creationId xmlns="" xmlns:a16="http://schemas.microsoft.com/office/drawing/2014/main" id="{C9E7FAA9-A59B-4471-A4B4-274A24A70437}"/>
                </a:ext>
              </a:extLst>
            </p:cNvPr>
            <p:cNvSpPr txBox="1"/>
            <p:nvPr/>
          </p:nvSpPr>
          <p:spPr>
            <a:xfrm>
              <a:off x="3230" y="3189907"/>
              <a:ext cx="854721"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prstClr val="black"/>
                  </a:solidFill>
                  <a:effectLst/>
                  <a:uLnTx/>
                  <a:uFillTx/>
                  <a:latin typeface="+mj-lt"/>
                  <a:cs typeface="+mn-cs"/>
                </a:rPr>
                <a:t>Server</a:t>
              </a:r>
            </a:p>
          </p:txBody>
        </p:sp>
        <p:cxnSp>
          <p:nvCxnSpPr>
            <p:cNvPr id="12" name="Straight Connector 11">
              <a:extLst>
                <a:ext uri="{FF2B5EF4-FFF2-40B4-BE49-F238E27FC236}">
                  <a16:creationId xmlns="" xmlns:a16="http://schemas.microsoft.com/office/drawing/2014/main" id="{AD290B8A-86DB-4EB4-BDB2-2597AEBFEFC0}"/>
                </a:ext>
              </a:extLst>
            </p:cNvPr>
            <p:cNvCxnSpPr/>
            <p:nvPr/>
          </p:nvCxnSpPr>
          <p:spPr>
            <a:xfrm>
              <a:off x="1219200" y="1981200"/>
              <a:ext cx="838200" cy="1588"/>
            </a:xfrm>
            <a:prstGeom prst="line">
              <a:avLst/>
            </a:prstGeom>
            <a:noFill/>
            <a:ln w="57150" cap="flat" cmpd="sng" algn="ctr">
              <a:solidFill>
                <a:srgbClr val="4F81BD">
                  <a:shade val="95000"/>
                  <a:satMod val="105000"/>
                </a:srgbClr>
              </a:solidFill>
              <a:prstDash val="solid"/>
            </a:ln>
            <a:effectLst/>
          </p:spPr>
        </p:cxnSp>
        <p:cxnSp>
          <p:nvCxnSpPr>
            <p:cNvPr id="13" name="Straight Connector 12">
              <a:extLst>
                <a:ext uri="{FF2B5EF4-FFF2-40B4-BE49-F238E27FC236}">
                  <a16:creationId xmlns="" xmlns:a16="http://schemas.microsoft.com/office/drawing/2014/main" id="{301D2584-7785-4D5C-96EE-DFF878B1792B}"/>
                </a:ext>
              </a:extLst>
            </p:cNvPr>
            <p:cNvCxnSpPr>
              <a:cxnSpLocks/>
            </p:cNvCxnSpPr>
            <p:nvPr/>
          </p:nvCxnSpPr>
          <p:spPr>
            <a:xfrm>
              <a:off x="2067754" y="2025666"/>
              <a:ext cx="330200" cy="1297920"/>
            </a:xfrm>
            <a:prstGeom prst="line">
              <a:avLst/>
            </a:prstGeom>
            <a:noFill/>
            <a:ln w="28575" cap="flat" cmpd="sng" algn="ctr">
              <a:solidFill>
                <a:srgbClr val="4F81BD">
                  <a:shade val="95000"/>
                  <a:satMod val="105000"/>
                </a:srgbClr>
              </a:solidFill>
              <a:prstDash val="solid"/>
              <a:tailEnd type="stealth" w="med" len="lg"/>
            </a:ln>
            <a:effectLst/>
          </p:spPr>
        </p:cxnSp>
        <p:cxnSp>
          <p:nvCxnSpPr>
            <p:cNvPr id="14" name="Straight Connector 13">
              <a:extLst>
                <a:ext uri="{FF2B5EF4-FFF2-40B4-BE49-F238E27FC236}">
                  <a16:creationId xmlns="" xmlns:a16="http://schemas.microsoft.com/office/drawing/2014/main" id="{16DBEE89-C0F8-480D-824C-E8DBE1EAD98C}"/>
                </a:ext>
              </a:extLst>
            </p:cNvPr>
            <p:cNvCxnSpPr>
              <a:cxnSpLocks/>
            </p:cNvCxnSpPr>
            <p:nvPr/>
          </p:nvCxnSpPr>
          <p:spPr>
            <a:xfrm>
              <a:off x="2399127" y="3368576"/>
              <a:ext cx="663427" cy="2589"/>
            </a:xfrm>
            <a:prstGeom prst="line">
              <a:avLst/>
            </a:prstGeom>
            <a:noFill/>
            <a:ln w="57150" cap="flat" cmpd="sng" algn="ctr">
              <a:solidFill>
                <a:srgbClr val="4F81BD">
                  <a:shade val="95000"/>
                  <a:satMod val="105000"/>
                </a:srgbClr>
              </a:solidFill>
              <a:prstDash val="solid"/>
            </a:ln>
            <a:effectLst/>
          </p:spPr>
        </p:cxnSp>
        <p:cxnSp>
          <p:nvCxnSpPr>
            <p:cNvPr id="15" name="Straight Connector 14">
              <a:extLst>
                <a:ext uri="{FF2B5EF4-FFF2-40B4-BE49-F238E27FC236}">
                  <a16:creationId xmlns="" xmlns:a16="http://schemas.microsoft.com/office/drawing/2014/main" id="{EB30F8F5-DAE2-4683-9C8A-E6C921F9F3E1}"/>
                </a:ext>
              </a:extLst>
            </p:cNvPr>
            <p:cNvCxnSpPr/>
            <p:nvPr/>
          </p:nvCxnSpPr>
          <p:spPr>
            <a:xfrm>
              <a:off x="3352800" y="1981200"/>
              <a:ext cx="762000" cy="1588"/>
            </a:xfrm>
            <a:prstGeom prst="line">
              <a:avLst/>
            </a:prstGeom>
            <a:noFill/>
            <a:ln w="57150" cap="flat" cmpd="sng" algn="ctr">
              <a:solidFill>
                <a:srgbClr val="4F81BD">
                  <a:shade val="95000"/>
                  <a:satMod val="105000"/>
                </a:srgbClr>
              </a:solidFill>
              <a:prstDash val="solid"/>
            </a:ln>
            <a:effectLst/>
          </p:spPr>
        </p:cxnSp>
        <p:sp>
          <p:nvSpPr>
            <p:cNvPr id="20" name="TextBox 19">
              <a:extLst>
                <a:ext uri="{FF2B5EF4-FFF2-40B4-BE49-F238E27FC236}">
                  <a16:creationId xmlns="" xmlns:a16="http://schemas.microsoft.com/office/drawing/2014/main" id="{56C905E0-35F6-4F47-9780-B6FD8A3EE0FD}"/>
                </a:ext>
              </a:extLst>
            </p:cNvPr>
            <p:cNvSpPr txBox="1"/>
            <p:nvPr/>
          </p:nvSpPr>
          <p:spPr>
            <a:xfrm>
              <a:off x="1942388" y="1536972"/>
              <a:ext cx="1600911"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mj-lt"/>
                  <a:cs typeface="+mn-cs"/>
                </a:rPr>
                <a:t>wait for result</a:t>
              </a:r>
            </a:p>
          </p:txBody>
        </p:sp>
        <p:sp>
          <p:nvSpPr>
            <p:cNvPr id="21" name="TextBox 20">
              <a:extLst>
                <a:ext uri="{FF2B5EF4-FFF2-40B4-BE49-F238E27FC236}">
                  <a16:creationId xmlns="" xmlns:a16="http://schemas.microsoft.com/office/drawing/2014/main" id="{209878E8-CBB3-4647-9DC1-277D01E1580C}"/>
                </a:ext>
              </a:extLst>
            </p:cNvPr>
            <p:cNvSpPr txBox="1"/>
            <p:nvPr/>
          </p:nvSpPr>
          <p:spPr>
            <a:xfrm>
              <a:off x="1833563" y="3474101"/>
              <a:ext cx="1871662"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u="none" strike="noStrike" kern="0" cap="none" spc="0" normalizeH="0" baseline="0" noProof="0" dirty="0" smtClean="0">
                  <a:ln>
                    <a:noFill/>
                  </a:ln>
                  <a:solidFill>
                    <a:prstClr val="black"/>
                  </a:solidFill>
                  <a:effectLst/>
                  <a:uLnTx/>
                  <a:uFillTx/>
                  <a:latin typeface="+mj-lt"/>
                  <a:cs typeface="+mn-cs"/>
                </a:rPr>
                <a:t>Provide service</a:t>
              </a:r>
              <a:endParaRPr kumimoji="0" lang="en-US" sz="2000" b="1" u="none" strike="noStrike" kern="0" cap="none" spc="0" normalizeH="0" baseline="0" noProof="0" dirty="0">
                <a:ln>
                  <a:noFill/>
                </a:ln>
                <a:solidFill>
                  <a:prstClr val="black"/>
                </a:solidFill>
                <a:effectLst/>
                <a:uLnTx/>
                <a:uFillTx/>
                <a:latin typeface="+mj-lt"/>
                <a:cs typeface="+mn-cs"/>
              </a:endParaRPr>
            </a:p>
          </p:txBody>
        </p:sp>
        <p:sp>
          <p:nvSpPr>
            <p:cNvPr id="22" name="TextBox 21">
              <a:extLst>
                <a:ext uri="{FF2B5EF4-FFF2-40B4-BE49-F238E27FC236}">
                  <a16:creationId xmlns="" xmlns:a16="http://schemas.microsoft.com/office/drawing/2014/main" id="{FE14B6B1-6882-405C-BAE4-275986CF9CE5}"/>
                </a:ext>
              </a:extLst>
            </p:cNvPr>
            <p:cNvSpPr txBox="1"/>
            <p:nvPr/>
          </p:nvSpPr>
          <p:spPr>
            <a:xfrm>
              <a:off x="1275181" y="2606171"/>
              <a:ext cx="107429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000" kern="0" dirty="0">
                  <a:solidFill>
                    <a:prstClr val="black"/>
                  </a:solidFill>
                  <a:latin typeface="+mj-lt"/>
                </a:rPr>
                <a:t>R</a:t>
              </a:r>
              <a:r>
                <a:rPr kumimoji="0" lang="en-US" sz="2000" b="0" i="0" u="none" strike="noStrike" kern="0" cap="none" spc="0" normalizeH="0" baseline="0" noProof="0" dirty="0" err="1" smtClean="0">
                  <a:ln>
                    <a:noFill/>
                  </a:ln>
                  <a:solidFill>
                    <a:prstClr val="black"/>
                  </a:solidFill>
                  <a:effectLst/>
                  <a:uLnTx/>
                  <a:uFillTx/>
                  <a:latin typeface="+mj-lt"/>
                  <a:cs typeface="+mn-cs"/>
                </a:rPr>
                <a:t>equest</a:t>
              </a:r>
              <a:endParaRPr kumimoji="0" lang="en-US" sz="2000" b="0" i="0" u="none" strike="noStrike" kern="0" cap="none" spc="0" normalizeH="0" baseline="0" noProof="0" dirty="0">
                <a:ln>
                  <a:noFill/>
                </a:ln>
                <a:solidFill>
                  <a:prstClr val="black"/>
                </a:solidFill>
                <a:effectLst/>
                <a:uLnTx/>
                <a:uFillTx/>
                <a:latin typeface="+mj-lt"/>
                <a:cs typeface="+mn-cs"/>
              </a:endParaRPr>
            </a:p>
          </p:txBody>
        </p:sp>
        <p:sp>
          <p:nvSpPr>
            <p:cNvPr id="23" name="TextBox 22">
              <a:extLst>
                <a:ext uri="{FF2B5EF4-FFF2-40B4-BE49-F238E27FC236}">
                  <a16:creationId xmlns="" xmlns:a16="http://schemas.microsoft.com/office/drawing/2014/main" id="{BC66EF6F-CF76-4D1B-93EF-205EDA957B58}"/>
                </a:ext>
              </a:extLst>
            </p:cNvPr>
            <p:cNvSpPr txBox="1"/>
            <p:nvPr/>
          </p:nvSpPr>
          <p:spPr>
            <a:xfrm>
              <a:off x="3162300" y="2657553"/>
              <a:ext cx="857691"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000" kern="0" dirty="0">
                  <a:solidFill>
                    <a:prstClr val="black"/>
                  </a:solidFill>
                  <a:latin typeface="+mj-lt"/>
                </a:rPr>
                <a:t>R</a:t>
              </a:r>
              <a:r>
                <a:rPr kumimoji="0" lang="en-US" sz="2000" b="0" i="0" u="none" strike="noStrike" kern="0" cap="none" spc="0" normalizeH="0" baseline="0" noProof="0" dirty="0" err="1" smtClean="0">
                  <a:ln>
                    <a:noFill/>
                  </a:ln>
                  <a:solidFill>
                    <a:prstClr val="black"/>
                  </a:solidFill>
                  <a:effectLst/>
                  <a:uLnTx/>
                  <a:uFillTx/>
                  <a:latin typeface="+mj-lt"/>
                  <a:cs typeface="+mn-cs"/>
                </a:rPr>
                <a:t>eply</a:t>
              </a:r>
              <a:endParaRPr kumimoji="0" lang="en-US" sz="2000" b="0" i="0" u="none" strike="noStrike" kern="0" cap="none" spc="0" normalizeH="0" baseline="0" noProof="0" dirty="0">
                <a:ln>
                  <a:noFill/>
                </a:ln>
                <a:solidFill>
                  <a:prstClr val="black"/>
                </a:solidFill>
                <a:effectLst/>
                <a:uLnTx/>
                <a:uFillTx/>
                <a:latin typeface="+mj-lt"/>
                <a:cs typeface="+mn-cs"/>
              </a:endParaRPr>
            </a:p>
          </p:txBody>
        </p:sp>
        <p:cxnSp>
          <p:nvCxnSpPr>
            <p:cNvPr id="24" name="Straight Arrow Connector 23">
              <a:extLst>
                <a:ext uri="{FF2B5EF4-FFF2-40B4-BE49-F238E27FC236}">
                  <a16:creationId xmlns="" xmlns:a16="http://schemas.microsoft.com/office/drawing/2014/main" id="{3EA25FB7-B526-4D30-BE74-4FB8A60D9336}"/>
                </a:ext>
              </a:extLst>
            </p:cNvPr>
            <p:cNvCxnSpPr/>
            <p:nvPr/>
          </p:nvCxnSpPr>
          <p:spPr>
            <a:xfrm>
              <a:off x="4658251" y="3675667"/>
              <a:ext cx="457200" cy="1588"/>
            </a:xfrm>
            <a:prstGeom prst="straightConnector1">
              <a:avLst/>
            </a:prstGeom>
            <a:noFill/>
            <a:ln w="9525" cap="flat" cmpd="sng" algn="ctr">
              <a:solidFill>
                <a:srgbClr val="4F81BD">
                  <a:shade val="95000"/>
                  <a:satMod val="105000"/>
                </a:srgbClr>
              </a:solidFill>
              <a:prstDash val="solid"/>
              <a:tailEnd type="arrow"/>
            </a:ln>
            <a:effectLst/>
          </p:spPr>
        </p:cxnSp>
        <p:sp>
          <p:nvSpPr>
            <p:cNvPr id="25" name="TextBox 24">
              <a:extLst>
                <a:ext uri="{FF2B5EF4-FFF2-40B4-BE49-F238E27FC236}">
                  <a16:creationId xmlns="" xmlns:a16="http://schemas.microsoft.com/office/drawing/2014/main" id="{92B5B4D7-A53B-4C32-9F14-CB4AC287DFAB}"/>
                </a:ext>
              </a:extLst>
            </p:cNvPr>
            <p:cNvSpPr txBox="1"/>
            <p:nvPr/>
          </p:nvSpPr>
          <p:spPr>
            <a:xfrm>
              <a:off x="4027528" y="3475612"/>
              <a:ext cx="689612"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000" kern="0" dirty="0">
                  <a:solidFill>
                    <a:prstClr val="black"/>
                  </a:solidFill>
                  <a:latin typeface="+mj-lt"/>
                </a:rPr>
                <a:t>T</a:t>
              </a:r>
              <a:r>
                <a:rPr kumimoji="0" lang="en-US" sz="2000" b="0" i="0" u="none" strike="noStrike" kern="0" cap="none" spc="0" normalizeH="0" baseline="0" noProof="0" dirty="0" err="1" smtClean="0">
                  <a:ln>
                    <a:noFill/>
                  </a:ln>
                  <a:solidFill>
                    <a:prstClr val="black"/>
                  </a:solidFill>
                  <a:effectLst/>
                  <a:uLnTx/>
                  <a:uFillTx/>
                  <a:latin typeface="+mj-lt"/>
                  <a:cs typeface="+mn-cs"/>
                </a:rPr>
                <a:t>ime</a:t>
              </a:r>
              <a:endParaRPr kumimoji="0" lang="en-US" sz="2000" b="0" i="0" u="none" strike="noStrike" kern="0" cap="none" spc="0" normalizeH="0" baseline="0" noProof="0" dirty="0">
                <a:ln>
                  <a:noFill/>
                </a:ln>
                <a:solidFill>
                  <a:prstClr val="black"/>
                </a:solidFill>
                <a:effectLst/>
                <a:uLnTx/>
                <a:uFillTx/>
                <a:latin typeface="+mj-lt"/>
                <a:cs typeface="+mn-cs"/>
              </a:endParaRPr>
            </a:p>
          </p:txBody>
        </p:sp>
        <p:cxnSp>
          <p:nvCxnSpPr>
            <p:cNvPr id="26" name="Straight Connector 25">
              <a:extLst>
                <a:ext uri="{FF2B5EF4-FFF2-40B4-BE49-F238E27FC236}">
                  <a16:creationId xmlns="" xmlns:a16="http://schemas.microsoft.com/office/drawing/2014/main" id="{94BD0BFC-DC1A-4322-A2D6-C8618D6BCD01}"/>
                </a:ext>
              </a:extLst>
            </p:cNvPr>
            <p:cNvCxnSpPr>
              <a:cxnSpLocks/>
            </p:cNvCxnSpPr>
            <p:nvPr/>
          </p:nvCxnSpPr>
          <p:spPr>
            <a:xfrm flipV="1">
              <a:off x="3060384" y="2014571"/>
              <a:ext cx="297178" cy="1320111"/>
            </a:xfrm>
            <a:prstGeom prst="line">
              <a:avLst/>
            </a:prstGeom>
            <a:noFill/>
            <a:ln w="28575" cap="flat" cmpd="sng" algn="ctr">
              <a:solidFill>
                <a:srgbClr val="4F81BD">
                  <a:shade val="95000"/>
                  <a:satMod val="105000"/>
                </a:srgbClr>
              </a:solidFill>
              <a:prstDash val="solid"/>
              <a:tailEnd type="stealth" w="med" len="lg"/>
            </a:ln>
            <a:effectLst/>
          </p:spPr>
        </p:cxnSp>
      </p:grpSp>
    </p:spTree>
    <p:extLst>
      <p:ext uri="{BB962C8B-B14F-4D97-AF65-F5344CB8AC3E}">
        <p14:creationId xmlns:p14="http://schemas.microsoft.com/office/powerpoint/2010/main" val="35619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Centralized Architectures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b="1" dirty="0"/>
              <a:t>Communication</a:t>
            </a:r>
            <a:r>
              <a:rPr lang="en-US" dirty="0"/>
              <a:t> - implemented using a </a:t>
            </a:r>
            <a:r>
              <a:rPr lang="en-US" dirty="0" smtClean="0"/>
              <a:t>connectionless protocol </a:t>
            </a:r>
            <a:r>
              <a:rPr lang="en-US" dirty="0"/>
              <a:t>when the network is </a:t>
            </a:r>
            <a:r>
              <a:rPr lang="en-US" dirty="0" smtClean="0"/>
              <a:t>reliable </a:t>
            </a:r>
            <a:r>
              <a:rPr lang="en-US" dirty="0"/>
              <a:t>e.g. local-area networks.</a:t>
            </a:r>
          </a:p>
          <a:p>
            <a:pPr marL="914400" lvl="1" indent="-457200">
              <a:buFont typeface="+mj-lt"/>
              <a:buAutoNum type="arabicPeriod"/>
            </a:pPr>
            <a:r>
              <a:rPr lang="en-US" sz="2200" dirty="0">
                <a:solidFill>
                  <a:schemeClr val="accent6"/>
                </a:solidFill>
                <a:ea typeface="ＭＳ Ｐゴシック" charset="-128"/>
              </a:rPr>
              <a:t>Client requests a service </a:t>
            </a:r>
            <a:r>
              <a:rPr lang="en-US" sz="2200" dirty="0">
                <a:ea typeface="ＭＳ Ｐゴシック" charset="-128"/>
              </a:rPr>
              <a:t>– packages and sends a message </a:t>
            </a:r>
            <a:r>
              <a:rPr lang="en-US" sz="2200" dirty="0" smtClean="0">
                <a:ea typeface="ＭＳ Ｐゴシック" charset="-128"/>
              </a:rPr>
              <a:t>for the </a:t>
            </a:r>
            <a:r>
              <a:rPr lang="en-US" sz="2200" dirty="0">
                <a:ea typeface="ＭＳ Ｐゴシック" charset="-128"/>
              </a:rPr>
              <a:t>server, identifying the service it wants, along </a:t>
            </a:r>
            <a:r>
              <a:rPr lang="en-US" sz="2200" dirty="0" smtClean="0">
                <a:ea typeface="ＭＳ Ｐゴシック" charset="-128"/>
              </a:rPr>
              <a:t>with the </a:t>
            </a:r>
            <a:r>
              <a:rPr lang="en-US" sz="2200" dirty="0">
                <a:ea typeface="ＭＳ Ｐゴシック" charset="-128"/>
              </a:rPr>
              <a:t>necessary </a:t>
            </a:r>
            <a:r>
              <a:rPr lang="en-US" sz="2200" dirty="0" smtClean="0">
                <a:ea typeface="ＭＳ Ｐゴシック" charset="-128"/>
              </a:rPr>
              <a:t>input data.</a:t>
            </a:r>
          </a:p>
          <a:p>
            <a:pPr marL="914400" lvl="1" indent="-457200">
              <a:buFont typeface="+mj-lt"/>
              <a:buAutoNum type="arabicPeriod"/>
            </a:pPr>
            <a:r>
              <a:rPr lang="en-US" sz="2200" dirty="0">
                <a:solidFill>
                  <a:schemeClr val="accent6"/>
                </a:solidFill>
                <a:ea typeface="ＭＳ Ｐゴシック" charset="-128"/>
              </a:rPr>
              <a:t>The Server will always wait for an incoming request</a:t>
            </a:r>
            <a:r>
              <a:rPr lang="en-US" sz="2200" dirty="0">
                <a:ea typeface="ＭＳ Ｐゴシック" charset="-128"/>
              </a:rPr>
              <a:t>, </a:t>
            </a:r>
            <a:r>
              <a:rPr lang="en-US" sz="2200" dirty="0" smtClean="0">
                <a:ea typeface="ＭＳ Ｐゴシック" charset="-128"/>
              </a:rPr>
              <a:t>process it</a:t>
            </a:r>
            <a:r>
              <a:rPr lang="en-US" sz="2200" dirty="0">
                <a:ea typeface="ＭＳ Ｐゴシック" charset="-128"/>
              </a:rPr>
              <a:t>, and package the results in a reply message that </a:t>
            </a:r>
            <a:r>
              <a:rPr lang="en-US" sz="2200" dirty="0" smtClean="0">
                <a:ea typeface="ＭＳ Ｐゴシック" charset="-128"/>
              </a:rPr>
              <a:t>is then </a:t>
            </a:r>
            <a:r>
              <a:rPr lang="en-US" sz="2200" dirty="0">
                <a:ea typeface="ＭＳ Ｐゴシック" charset="-128"/>
              </a:rPr>
              <a:t>sent to the client.</a:t>
            </a:r>
            <a:endParaRPr lang="en-US" dirty="0" smtClean="0"/>
          </a:p>
        </p:txBody>
      </p:sp>
    </p:spTree>
    <p:extLst>
      <p:ext uri="{BB962C8B-B14F-4D97-AF65-F5344CB8AC3E}">
        <p14:creationId xmlns:p14="http://schemas.microsoft.com/office/powerpoint/2010/main" val="334293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Connectionless protocol</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smtClean="0"/>
              <a:t>Describes communication </a:t>
            </a:r>
            <a:r>
              <a:rPr lang="en-US" dirty="0"/>
              <a:t>between two network end points in which a message can be </a:t>
            </a:r>
            <a:r>
              <a:rPr lang="en-US" dirty="0" smtClean="0"/>
              <a:t>sent from </a:t>
            </a:r>
            <a:r>
              <a:rPr lang="en-US" dirty="0"/>
              <a:t>one end point </a:t>
            </a:r>
            <a:r>
              <a:rPr lang="en-US" dirty="0" smtClean="0"/>
              <a:t>to another </a:t>
            </a:r>
            <a:r>
              <a:rPr lang="en-US" dirty="0"/>
              <a:t>without prior arrangement.</a:t>
            </a:r>
          </a:p>
          <a:p>
            <a:pPr>
              <a:lnSpc>
                <a:spcPct val="100000"/>
              </a:lnSpc>
            </a:pPr>
            <a:r>
              <a:rPr lang="en-US" dirty="0" smtClean="0"/>
              <a:t>Device at one </a:t>
            </a:r>
            <a:r>
              <a:rPr lang="en-US" dirty="0"/>
              <a:t>end of the communication transmits data to the other, without </a:t>
            </a:r>
            <a:r>
              <a:rPr lang="en-US" dirty="0" smtClean="0"/>
              <a:t>first ensuring </a:t>
            </a:r>
            <a:r>
              <a:rPr lang="en-US" dirty="0"/>
              <a:t>that the recipient </a:t>
            </a:r>
            <a:r>
              <a:rPr lang="en-US" dirty="0" smtClean="0"/>
              <a:t>is available </a:t>
            </a:r>
            <a:r>
              <a:rPr lang="en-US" dirty="0"/>
              <a:t>and ready to receive the data.</a:t>
            </a:r>
          </a:p>
          <a:p>
            <a:pPr>
              <a:lnSpc>
                <a:spcPct val="100000"/>
              </a:lnSpc>
            </a:pPr>
            <a:r>
              <a:rPr lang="en-US" dirty="0" smtClean="0"/>
              <a:t>The device sending </a:t>
            </a:r>
            <a:r>
              <a:rPr lang="en-US" dirty="0"/>
              <a:t>a message sends it addressed to the intended recipient.</a:t>
            </a:r>
            <a:endParaRPr lang="en-US" dirty="0" smtClean="0"/>
          </a:p>
        </p:txBody>
      </p:sp>
    </p:spTree>
    <p:extLst>
      <p:ext uri="{BB962C8B-B14F-4D97-AF65-F5344CB8AC3E}">
        <p14:creationId xmlns:p14="http://schemas.microsoft.com/office/powerpoint/2010/main" val="3686575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Application Layering</a:t>
            </a:r>
            <a:endParaRPr lang="en-US" dirty="0"/>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98895" cy="5590565"/>
          </a:xfrm>
        </p:spPr>
        <p:txBody>
          <a:bodyPr/>
          <a:lstStyle/>
          <a:p>
            <a:pPr marL="0" indent="0">
              <a:buNone/>
            </a:pPr>
            <a:r>
              <a:rPr lang="en-US" b="1" dirty="0">
                <a:solidFill>
                  <a:schemeClr val="tx2"/>
                </a:solidFill>
              </a:rPr>
              <a:t>Traditional three-layered view:</a:t>
            </a:r>
            <a:endParaRPr lang="en-US" dirty="0" smtClean="0"/>
          </a:p>
          <a:p>
            <a:pPr marL="457200" indent="-457200">
              <a:lnSpc>
                <a:spcPct val="100000"/>
              </a:lnSpc>
              <a:buFont typeface="+mj-lt"/>
              <a:buAutoNum type="arabicPeriod"/>
            </a:pPr>
            <a:r>
              <a:rPr lang="en-US" b="1" dirty="0"/>
              <a:t>The user-interface </a:t>
            </a:r>
            <a:r>
              <a:rPr lang="en-US" b="1" dirty="0" smtClean="0"/>
              <a:t>level</a:t>
            </a:r>
            <a:endParaRPr lang="en-US" b="1" dirty="0"/>
          </a:p>
          <a:p>
            <a:pPr marL="714375" lvl="2" indent="-271463"/>
            <a:r>
              <a:rPr lang="en-US" sz="2400" dirty="0" smtClean="0"/>
              <a:t>It contains </a:t>
            </a:r>
            <a:r>
              <a:rPr lang="en-US" sz="2400" dirty="0"/>
              <a:t>units for an application’s user interface</a:t>
            </a:r>
          </a:p>
          <a:p>
            <a:pPr marL="714375" lvl="2" indent="-271463"/>
            <a:r>
              <a:rPr lang="en-US" sz="2400" dirty="0"/>
              <a:t>Clients typically implement the user-interface level</a:t>
            </a:r>
          </a:p>
          <a:p>
            <a:pPr marL="985838" indent="-271463">
              <a:buFont typeface="Arial" panose="020B0604020202020204" pitchFamily="34" charset="0"/>
              <a:buChar char="•"/>
            </a:pPr>
            <a:r>
              <a:rPr lang="en-US" dirty="0" smtClean="0"/>
              <a:t>Simplest user-interface </a:t>
            </a:r>
            <a:r>
              <a:rPr lang="en-US" dirty="0"/>
              <a:t>program - character-based </a:t>
            </a:r>
            <a:r>
              <a:rPr lang="en-US" dirty="0" smtClean="0"/>
              <a:t>screen</a:t>
            </a:r>
          </a:p>
          <a:p>
            <a:pPr marL="985838" indent="-271463">
              <a:buFont typeface="Arial" panose="020B0604020202020204" pitchFamily="34" charset="0"/>
              <a:buChar char="•"/>
            </a:pPr>
            <a:r>
              <a:rPr lang="en-US" dirty="0" smtClean="0"/>
              <a:t>Simple GUI</a:t>
            </a:r>
            <a:endParaRPr lang="en-US" dirty="0"/>
          </a:p>
          <a:p>
            <a:pPr marL="457200" indent="-457200">
              <a:lnSpc>
                <a:spcPct val="100000"/>
              </a:lnSpc>
              <a:buFont typeface="+mj-lt"/>
              <a:buAutoNum type="arabicPeriod" startAt="2"/>
            </a:pPr>
            <a:r>
              <a:rPr lang="en-US" b="1" dirty="0"/>
              <a:t>The processing level </a:t>
            </a:r>
          </a:p>
          <a:p>
            <a:pPr marL="714375" lvl="2" indent="-271463"/>
            <a:r>
              <a:rPr lang="en-US" sz="2400" dirty="0"/>
              <a:t>It contains the functions of an application, i.e. without specific data</a:t>
            </a:r>
          </a:p>
          <a:p>
            <a:pPr marL="714375" lvl="2" indent="-271463"/>
            <a:r>
              <a:rPr lang="en-US" sz="2400" dirty="0"/>
              <a:t>Middle part of hierarchy -&gt; logically placed at the processing level</a:t>
            </a:r>
          </a:p>
          <a:p>
            <a:pPr marL="457200" indent="-457200">
              <a:buFont typeface="+mj-lt"/>
              <a:buAutoNum type="arabicPeriod" startAt="2"/>
            </a:pPr>
            <a:r>
              <a:rPr lang="en-US" b="1" dirty="0"/>
              <a:t>The data level </a:t>
            </a:r>
            <a:endParaRPr lang="en-US" b="1" dirty="0" smtClean="0"/>
          </a:p>
          <a:p>
            <a:pPr marL="714375" lvl="2" indent="-271463"/>
            <a:r>
              <a:rPr lang="en-US" sz="2400" dirty="0"/>
              <a:t>It contains the data that a client wants to manipulate through the application components</a:t>
            </a:r>
          </a:p>
          <a:p>
            <a:pPr marL="714375" lvl="2" indent="-271463"/>
            <a:r>
              <a:rPr lang="en-US" sz="2400" dirty="0"/>
              <a:t>manages the actual data that is being acted on</a:t>
            </a:r>
          </a:p>
          <a:p>
            <a:endParaRPr lang="en-US" dirty="0"/>
          </a:p>
        </p:txBody>
      </p:sp>
    </p:spTree>
    <p:extLst>
      <p:ext uri="{BB962C8B-B14F-4D97-AF65-F5344CB8AC3E}">
        <p14:creationId xmlns:p14="http://schemas.microsoft.com/office/powerpoint/2010/main" val="43238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Internet search engine- An example of Application Layering</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5129465" cy="5590565"/>
          </a:xfrm>
        </p:spPr>
        <p:txBody>
          <a:bodyPr/>
          <a:lstStyle/>
          <a:p>
            <a:pPr marL="0" indent="0">
              <a:buNone/>
            </a:pPr>
            <a:r>
              <a:rPr lang="en-US" b="1" dirty="0">
                <a:solidFill>
                  <a:schemeClr val="tx2"/>
                </a:solidFill>
              </a:rPr>
              <a:t>Traditional three-layered view:</a:t>
            </a:r>
            <a:endParaRPr lang="en-US" dirty="0" smtClean="0"/>
          </a:p>
          <a:p>
            <a:r>
              <a:rPr lang="en-US" b="1" dirty="0">
                <a:solidFill>
                  <a:schemeClr val="accent6"/>
                </a:solidFill>
              </a:rPr>
              <a:t>User-interface level: </a:t>
            </a:r>
            <a:r>
              <a:rPr lang="en-US" dirty="0"/>
              <a:t>a user types in a string of keywords and is subsequently presented with a list of titles of Web pages.</a:t>
            </a:r>
          </a:p>
          <a:p>
            <a:r>
              <a:rPr lang="en-US" b="1" dirty="0">
                <a:solidFill>
                  <a:schemeClr val="accent6"/>
                </a:solidFill>
              </a:rPr>
              <a:t>Data Level: </a:t>
            </a:r>
            <a:r>
              <a:rPr lang="en-US" dirty="0"/>
              <a:t>huge database of Web pages that have been </a:t>
            </a:r>
            <a:r>
              <a:rPr lang="en-US" dirty="0" err="1"/>
              <a:t>prefetched</a:t>
            </a:r>
            <a:r>
              <a:rPr lang="en-US" dirty="0"/>
              <a:t> and indexed.</a:t>
            </a:r>
          </a:p>
          <a:p>
            <a:r>
              <a:rPr lang="en-US" b="1" dirty="0">
                <a:solidFill>
                  <a:schemeClr val="accent6"/>
                </a:solidFill>
              </a:rPr>
              <a:t>Processing level: </a:t>
            </a:r>
            <a:r>
              <a:rPr lang="en-US" dirty="0" smtClean="0"/>
              <a:t>search </a:t>
            </a:r>
            <a:r>
              <a:rPr lang="en-US" dirty="0"/>
              <a:t>engine that transforms the user's string of keywords into one or more database queries.</a:t>
            </a:r>
          </a:p>
          <a:p>
            <a:pPr marL="714375" lvl="2" indent="-271463"/>
            <a:r>
              <a:rPr lang="en-US" sz="2400" dirty="0"/>
              <a:t>Ranks the results into a list</a:t>
            </a:r>
          </a:p>
          <a:p>
            <a:pPr marL="714375" lvl="2" indent="-271463"/>
            <a:r>
              <a:rPr lang="en-US" sz="2400" dirty="0"/>
              <a:t>Transforms that list into a series of HTML pages</a:t>
            </a:r>
          </a:p>
        </p:txBody>
      </p:sp>
      <p:pic>
        <p:nvPicPr>
          <p:cNvPr id="4" name="Picture 3"/>
          <p:cNvPicPr>
            <a:picLocks noChangeAspect="1"/>
          </p:cNvPicPr>
          <p:nvPr/>
        </p:nvPicPr>
        <p:blipFill>
          <a:blip r:embed="rId2"/>
          <a:stretch>
            <a:fillRect/>
          </a:stretch>
        </p:blipFill>
        <p:spPr>
          <a:xfrm>
            <a:off x="5305415" y="973626"/>
            <a:ext cx="5361628" cy="4099387"/>
          </a:xfrm>
          <a:prstGeom prst="rect">
            <a:avLst/>
          </a:prstGeom>
        </p:spPr>
      </p:pic>
      <p:sp>
        <p:nvSpPr>
          <p:cNvPr id="5" name="Rounded Rectangular Callout 5">
            <a:extLst>
              <a:ext uri="{FF2B5EF4-FFF2-40B4-BE49-F238E27FC236}">
                <a16:creationId xmlns="" xmlns:a16="http://schemas.microsoft.com/office/drawing/2014/main" id="{95B1C811-0212-4B28-BA67-984A505AD881}"/>
              </a:ext>
            </a:extLst>
          </p:cNvPr>
          <p:cNvSpPr/>
          <p:nvPr/>
        </p:nvSpPr>
        <p:spPr>
          <a:xfrm>
            <a:off x="10611804" y="973626"/>
            <a:ext cx="1367782" cy="730326"/>
          </a:xfrm>
          <a:prstGeom prst="wedgeRoundRectCallout">
            <a:avLst>
              <a:gd name="adj1" fmla="val -20833"/>
              <a:gd name="adj2" fmla="val 51172"/>
              <a:gd name="adj3" fmla="val 16667"/>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solidFill>
                  <a:srgbClr val="1D3064"/>
                </a:solidFill>
              </a:rPr>
              <a:t>User-interface </a:t>
            </a:r>
            <a:r>
              <a:rPr lang="en-US" sz="2000" dirty="0" smtClean="0">
                <a:solidFill>
                  <a:srgbClr val="1D3064"/>
                </a:solidFill>
              </a:rPr>
              <a:t>level</a:t>
            </a:r>
            <a:endParaRPr lang="en-US" sz="2000" dirty="0">
              <a:solidFill>
                <a:srgbClr val="1D3064"/>
              </a:solidFill>
            </a:endParaRPr>
          </a:p>
        </p:txBody>
      </p:sp>
      <p:sp>
        <p:nvSpPr>
          <p:cNvPr id="6" name="Rounded Rectangular Callout 5">
            <a:extLst>
              <a:ext uri="{FF2B5EF4-FFF2-40B4-BE49-F238E27FC236}">
                <a16:creationId xmlns="" xmlns:a16="http://schemas.microsoft.com/office/drawing/2014/main" id="{95B1C811-0212-4B28-BA67-984A505AD881}"/>
              </a:ext>
            </a:extLst>
          </p:cNvPr>
          <p:cNvSpPr/>
          <p:nvPr/>
        </p:nvSpPr>
        <p:spPr>
          <a:xfrm>
            <a:off x="10640382" y="2518996"/>
            <a:ext cx="1477335" cy="526370"/>
          </a:xfrm>
          <a:prstGeom prst="wedgeRoundRectCallout">
            <a:avLst>
              <a:gd name="adj1" fmla="val -20833"/>
              <a:gd name="adj2" fmla="val 51172"/>
              <a:gd name="adj3" fmla="val 16667"/>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smtClean="0">
                <a:solidFill>
                  <a:srgbClr val="1D3064"/>
                </a:solidFill>
              </a:rPr>
              <a:t>Processing level</a:t>
            </a:r>
            <a:endParaRPr lang="en-US" sz="2000" dirty="0">
              <a:solidFill>
                <a:srgbClr val="1D3064"/>
              </a:solidFill>
            </a:endParaRPr>
          </a:p>
        </p:txBody>
      </p:sp>
      <p:sp>
        <p:nvSpPr>
          <p:cNvPr id="7" name="Rounded Rectangular Callout 6">
            <a:extLst>
              <a:ext uri="{FF2B5EF4-FFF2-40B4-BE49-F238E27FC236}">
                <a16:creationId xmlns="" xmlns:a16="http://schemas.microsoft.com/office/drawing/2014/main" id="{95B1C811-0212-4B28-BA67-984A505AD881}"/>
              </a:ext>
            </a:extLst>
          </p:cNvPr>
          <p:cNvSpPr/>
          <p:nvPr/>
        </p:nvSpPr>
        <p:spPr>
          <a:xfrm>
            <a:off x="10793256" y="3961564"/>
            <a:ext cx="879635" cy="526370"/>
          </a:xfrm>
          <a:prstGeom prst="wedgeRoundRectCallout">
            <a:avLst>
              <a:gd name="adj1" fmla="val -20833"/>
              <a:gd name="adj2" fmla="val 51172"/>
              <a:gd name="adj3" fmla="val 16667"/>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smtClean="0">
                <a:solidFill>
                  <a:srgbClr val="1D3064"/>
                </a:solidFill>
              </a:rPr>
              <a:t>Data level</a:t>
            </a:r>
            <a:endParaRPr lang="en-US" sz="2000" dirty="0">
              <a:solidFill>
                <a:srgbClr val="1D3064"/>
              </a:solidFill>
            </a:endParaRPr>
          </a:p>
        </p:txBody>
      </p:sp>
      <p:sp>
        <p:nvSpPr>
          <p:cNvPr id="8" name="Right Brace 7"/>
          <p:cNvSpPr/>
          <p:nvPr/>
        </p:nvSpPr>
        <p:spPr>
          <a:xfrm>
            <a:off x="10329866" y="973626"/>
            <a:ext cx="337177" cy="725473"/>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 name="Right Brace 8"/>
          <p:cNvSpPr/>
          <p:nvPr/>
        </p:nvSpPr>
        <p:spPr>
          <a:xfrm>
            <a:off x="10329866" y="1806755"/>
            <a:ext cx="381947" cy="1950853"/>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 name="Right Brace 9"/>
          <p:cNvSpPr/>
          <p:nvPr/>
        </p:nvSpPr>
        <p:spPr>
          <a:xfrm>
            <a:off x="10339404" y="3880507"/>
            <a:ext cx="337177" cy="725473"/>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40364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Multi-Tiered Architectures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a:solidFill>
                  <a:schemeClr val="tx2"/>
                </a:solidFill>
              </a:rPr>
              <a:t>Simplest organization - two types of machines</a:t>
            </a:r>
            <a:r>
              <a:rPr lang="en-US" dirty="0" smtClean="0">
                <a:solidFill>
                  <a:schemeClr val="tx2"/>
                </a:solidFill>
              </a:rPr>
              <a:t>:</a:t>
            </a:r>
          </a:p>
          <a:p>
            <a:pPr marL="1371600" lvl="2" indent="-457200">
              <a:buFont typeface="+mj-lt"/>
              <a:buAutoNum type="arabicPeriod"/>
            </a:pPr>
            <a:r>
              <a:rPr lang="en-US" sz="2400" dirty="0"/>
              <a:t>A client machine containing only the programs implementing (part of) the user-interface level</a:t>
            </a:r>
          </a:p>
          <a:p>
            <a:pPr marL="1371600" lvl="2" indent="-457200">
              <a:buFont typeface="+mj-lt"/>
              <a:buAutoNum type="arabicPeriod"/>
            </a:pPr>
            <a:r>
              <a:rPr lang="en-US" sz="2400" dirty="0"/>
              <a:t>A server machine containing the rest, that is the programs implementing the processing and data </a:t>
            </a:r>
            <a:r>
              <a:rPr lang="en-US" sz="2400" dirty="0" smtClean="0"/>
              <a:t>level</a:t>
            </a:r>
            <a:endParaRPr lang="en-US" dirty="0">
              <a:solidFill>
                <a:schemeClr val="accent6"/>
              </a:solidFill>
            </a:endParaRPr>
          </a:p>
          <a:p>
            <a:pPr>
              <a:lnSpc>
                <a:spcPct val="100000"/>
              </a:lnSpc>
            </a:pPr>
            <a:endParaRPr lang="en-US" dirty="0" smtClean="0">
              <a:solidFill>
                <a:schemeClr val="accent6"/>
              </a:solidFill>
            </a:endParaRPr>
          </a:p>
          <a:p>
            <a:pPr>
              <a:lnSpc>
                <a:spcPct val="100000"/>
              </a:lnSpc>
            </a:pPr>
            <a:r>
              <a:rPr lang="en-US" dirty="0" smtClean="0">
                <a:solidFill>
                  <a:schemeClr val="accent6"/>
                </a:solidFill>
              </a:rPr>
              <a:t>Single-tiered</a:t>
            </a:r>
            <a:r>
              <a:rPr lang="en-US" dirty="0">
                <a:solidFill>
                  <a:schemeClr val="accent6"/>
                </a:solidFill>
              </a:rPr>
              <a:t>: </a:t>
            </a:r>
            <a:r>
              <a:rPr lang="en-US" dirty="0"/>
              <a:t>dumb terminal/mainframe configuration</a:t>
            </a:r>
          </a:p>
          <a:p>
            <a:pPr>
              <a:lnSpc>
                <a:spcPct val="100000"/>
              </a:lnSpc>
            </a:pPr>
            <a:r>
              <a:rPr lang="en-US" dirty="0">
                <a:solidFill>
                  <a:schemeClr val="accent6"/>
                </a:solidFill>
              </a:rPr>
              <a:t>Two-tiered: </a:t>
            </a:r>
            <a:r>
              <a:rPr lang="en-US" dirty="0"/>
              <a:t>client/single server configuration</a:t>
            </a:r>
          </a:p>
          <a:p>
            <a:pPr>
              <a:lnSpc>
                <a:spcPct val="100000"/>
              </a:lnSpc>
            </a:pPr>
            <a:r>
              <a:rPr lang="en-US" dirty="0">
                <a:solidFill>
                  <a:schemeClr val="accent6"/>
                </a:solidFill>
              </a:rPr>
              <a:t>Three-tiered: </a:t>
            </a:r>
            <a:r>
              <a:rPr lang="en-US" dirty="0"/>
              <a:t>each layer on separate machine</a:t>
            </a:r>
            <a:endParaRPr lang="en-US" sz="2400" dirty="0"/>
          </a:p>
        </p:txBody>
      </p:sp>
    </p:spTree>
    <p:extLst>
      <p:ext uri="{BB962C8B-B14F-4D97-AF65-F5344CB8AC3E}">
        <p14:creationId xmlns:p14="http://schemas.microsoft.com/office/powerpoint/2010/main" val="3589317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Two-tiered Architectures - Thin-client model and fat-client model</a:t>
            </a:r>
          </a:p>
        </p:txBody>
      </p:sp>
      <p:pic>
        <p:nvPicPr>
          <p:cNvPr id="4" name="Picture 3"/>
          <p:cNvPicPr>
            <a:picLocks noChangeAspect="1"/>
          </p:cNvPicPr>
          <p:nvPr/>
        </p:nvPicPr>
        <p:blipFill rotWithShape="1">
          <a:blip r:embed="rId2"/>
          <a:srcRect l="1319" t="4915" r="1114" b="1654"/>
          <a:stretch/>
        </p:blipFill>
        <p:spPr>
          <a:xfrm>
            <a:off x="1275190" y="919293"/>
            <a:ext cx="9229721" cy="3532795"/>
          </a:xfrm>
          <a:prstGeom prst="rect">
            <a:avLst/>
          </a:prstGeom>
        </p:spPr>
      </p:pic>
      <p:sp>
        <p:nvSpPr>
          <p:cNvPr id="7" name="Rounded Rectangle 6"/>
          <p:cNvSpPr/>
          <p:nvPr/>
        </p:nvSpPr>
        <p:spPr>
          <a:xfrm>
            <a:off x="1145394" y="862141"/>
            <a:ext cx="1829976" cy="4138484"/>
          </a:xfrm>
          <a:prstGeom prst="roundRect">
            <a:avLst/>
          </a:prstGeom>
          <a:noFill/>
          <a:ln w="38100">
            <a:solidFill>
              <a:srgbClr val="B71B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5" name="Group 24"/>
          <p:cNvGrpSpPr/>
          <p:nvPr/>
        </p:nvGrpSpPr>
        <p:grpSpPr>
          <a:xfrm>
            <a:off x="1863334" y="4467990"/>
            <a:ext cx="8048628" cy="424634"/>
            <a:chOff x="1863334" y="4467990"/>
            <a:chExt cx="8048628" cy="424634"/>
          </a:xfrm>
        </p:grpSpPr>
        <p:sp>
          <p:nvSpPr>
            <p:cNvPr id="6" name="Rounded Rectangle 5"/>
            <p:cNvSpPr/>
            <p:nvPr/>
          </p:nvSpPr>
          <p:spPr>
            <a:xfrm>
              <a:off x="1863334" y="4467991"/>
              <a:ext cx="428626" cy="414337"/>
            </a:xfrm>
            <a:prstGeom prst="roundRect">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t>A</a:t>
              </a:r>
              <a:endParaRPr lang="en-IN" sz="2400" b="1" dirty="0"/>
            </a:p>
          </p:txBody>
        </p:sp>
        <p:sp>
          <p:nvSpPr>
            <p:cNvPr id="8" name="Rounded Rectangle 7"/>
            <p:cNvSpPr/>
            <p:nvPr/>
          </p:nvSpPr>
          <p:spPr>
            <a:xfrm>
              <a:off x="3804047" y="4467991"/>
              <a:ext cx="428626" cy="414337"/>
            </a:xfrm>
            <a:prstGeom prst="roundRect">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t>B</a:t>
              </a:r>
              <a:endParaRPr lang="en-IN" sz="2400" b="1" dirty="0"/>
            </a:p>
          </p:txBody>
        </p:sp>
        <p:sp>
          <p:nvSpPr>
            <p:cNvPr id="9" name="Rounded Rectangle 8"/>
            <p:cNvSpPr/>
            <p:nvPr/>
          </p:nvSpPr>
          <p:spPr>
            <a:xfrm>
              <a:off x="5779290" y="4478287"/>
              <a:ext cx="428626" cy="414337"/>
            </a:xfrm>
            <a:prstGeom prst="roundRect">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t>C</a:t>
              </a:r>
              <a:endParaRPr lang="en-IN" sz="2400" b="1" dirty="0"/>
            </a:p>
          </p:txBody>
        </p:sp>
        <p:sp>
          <p:nvSpPr>
            <p:cNvPr id="10" name="Rounded Rectangle 9"/>
            <p:cNvSpPr/>
            <p:nvPr/>
          </p:nvSpPr>
          <p:spPr>
            <a:xfrm>
              <a:off x="7608101" y="4467991"/>
              <a:ext cx="428626" cy="414337"/>
            </a:xfrm>
            <a:prstGeom prst="roundRect">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t>D</a:t>
              </a:r>
              <a:endParaRPr lang="en-IN" sz="2400" b="1" dirty="0"/>
            </a:p>
          </p:txBody>
        </p:sp>
        <p:sp>
          <p:nvSpPr>
            <p:cNvPr id="11" name="Rounded Rectangle 10"/>
            <p:cNvSpPr/>
            <p:nvPr/>
          </p:nvSpPr>
          <p:spPr>
            <a:xfrm>
              <a:off x="9483336" y="4467990"/>
              <a:ext cx="428626" cy="414337"/>
            </a:xfrm>
            <a:prstGeom prst="roundRect">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t>E</a:t>
              </a:r>
              <a:endParaRPr lang="en-IN" sz="2400" b="1" dirty="0"/>
            </a:p>
          </p:txBody>
        </p:sp>
      </p:grpSp>
      <p:sp>
        <p:nvSpPr>
          <p:cNvPr id="17"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2582" y="5220465"/>
            <a:ext cx="8202725" cy="1294635"/>
          </a:xfrm>
        </p:spPr>
        <p:txBody>
          <a:bodyPr/>
          <a:lstStyle/>
          <a:p>
            <a:pPr>
              <a:lnSpc>
                <a:spcPct val="100000"/>
              </a:lnSpc>
            </a:pPr>
            <a:r>
              <a:rPr lang="en-US" dirty="0" smtClean="0">
                <a:solidFill>
                  <a:srgbClr val="1D3064"/>
                </a:solidFill>
              </a:rPr>
              <a:t>Case-A</a:t>
            </a:r>
            <a:r>
              <a:rPr lang="en-US" dirty="0" smtClean="0"/>
              <a:t>: Only </a:t>
            </a:r>
            <a:r>
              <a:rPr lang="en-US" dirty="0"/>
              <a:t>the terminal-dependent part of the user </a:t>
            </a:r>
            <a:r>
              <a:rPr lang="en-US" dirty="0" smtClean="0"/>
              <a:t>interface</a:t>
            </a:r>
          </a:p>
          <a:p>
            <a:pPr>
              <a:lnSpc>
                <a:spcPct val="100000"/>
              </a:lnSpc>
            </a:pPr>
            <a:r>
              <a:rPr lang="en-US" sz="2200" dirty="0" smtClean="0">
                <a:solidFill>
                  <a:srgbClr val="1D3064"/>
                </a:solidFill>
                <a:ea typeface="ＭＳ Ｐゴシック" charset="-128"/>
              </a:rPr>
              <a:t>Case- B</a:t>
            </a:r>
            <a:r>
              <a:rPr lang="en-US" sz="2200" dirty="0">
                <a:solidFill>
                  <a:srgbClr val="1D3064"/>
                </a:solidFill>
                <a:ea typeface="ＭＳ Ｐゴシック" charset="-128"/>
              </a:rPr>
              <a:t>:  </a:t>
            </a:r>
            <a:r>
              <a:rPr lang="en-US" sz="2200" dirty="0">
                <a:ea typeface="ＭＳ Ｐゴシック" charset="-128"/>
              </a:rPr>
              <a:t>Place the entire user-interface software on the client side</a:t>
            </a:r>
          </a:p>
          <a:p>
            <a:pPr>
              <a:lnSpc>
                <a:spcPct val="100000"/>
              </a:lnSpc>
            </a:pPr>
            <a:r>
              <a:rPr lang="en-US" sz="2200" dirty="0">
                <a:solidFill>
                  <a:srgbClr val="1D3064"/>
                </a:solidFill>
                <a:ea typeface="ＭＳ Ｐゴシック" charset="-128"/>
              </a:rPr>
              <a:t>Case- C: </a:t>
            </a:r>
            <a:r>
              <a:rPr lang="en-US" sz="2200" dirty="0" smtClean="0">
                <a:ea typeface="ＭＳ Ｐゴシック" charset="-128"/>
              </a:rPr>
              <a:t>Move </a:t>
            </a:r>
            <a:r>
              <a:rPr lang="en-US" sz="2200" dirty="0">
                <a:ea typeface="ＭＳ Ｐゴシック" charset="-128"/>
              </a:rPr>
              <a:t>part of the application to the front end</a:t>
            </a:r>
          </a:p>
        </p:txBody>
      </p:sp>
      <p:sp>
        <p:nvSpPr>
          <p:cNvPr id="20" name="Rounded Rectangle 19"/>
          <p:cNvSpPr/>
          <p:nvPr/>
        </p:nvSpPr>
        <p:spPr>
          <a:xfrm>
            <a:off x="3024188" y="862141"/>
            <a:ext cx="1829976" cy="4138484"/>
          </a:xfrm>
          <a:prstGeom prst="roundRect">
            <a:avLst/>
          </a:prstGeom>
          <a:noFill/>
          <a:ln w="38100">
            <a:solidFill>
              <a:srgbClr val="B71B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ounded Rectangle 20"/>
          <p:cNvSpPr/>
          <p:nvPr/>
        </p:nvSpPr>
        <p:spPr>
          <a:xfrm>
            <a:off x="4932195" y="862141"/>
            <a:ext cx="1829976" cy="4138484"/>
          </a:xfrm>
          <a:prstGeom prst="roundRect">
            <a:avLst/>
          </a:prstGeom>
          <a:noFill/>
          <a:ln w="38100">
            <a:solidFill>
              <a:srgbClr val="B71B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08937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par>
                                <p:cTn id="16" presetID="1" presetClass="entr" presetSubtype="0" fill="hold" nodeType="withEffect">
                                  <p:stCondLst>
                                    <p:cond delay="0"/>
                                  </p:stCondLst>
                                  <p:childTnLst>
                                    <p:set>
                                      <p:cBhvr>
                                        <p:cTn id="17"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par>
                                <p:cTn id="22" presetID="1" presetClass="entr" presetSubtype="0" fill="hold" nodeType="withEffect">
                                  <p:stCondLst>
                                    <p:cond delay="0"/>
                                  </p:stCondLst>
                                  <p:childTnLst>
                                    <p:set>
                                      <p:cBhvr>
                                        <p:cTn id="23"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par>
                                <p:cTn id="28" presetID="1" presetClass="entr" presetSubtype="0" fill="hold" nodeType="withEffect">
                                  <p:stCondLst>
                                    <p:cond delay="0"/>
                                  </p:stCondLst>
                                  <p:childTnLst>
                                    <p:set>
                                      <p:cBhvr>
                                        <p:cTn id="29"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0"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Two-tiered Architectures - Thin-client model and fat-client model</a:t>
            </a:r>
          </a:p>
        </p:txBody>
      </p:sp>
      <p:pic>
        <p:nvPicPr>
          <p:cNvPr id="4" name="Picture 3"/>
          <p:cNvPicPr>
            <a:picLocks noChangeAspect="1"/>
          </p:cNvPicPr>
          <p:nvPr/>
        </p:nvPicPr>
        <p:blipFill rotWithShape="1">
          <a:blip r:embed="rId2"/>
          <a:srcRect l="1319" t="4915" r="1114" b="1654"/>
          <a:stretch/>
        </p:blipFill>
        <p:spPr>
          <a:xfrm>
            <a:off x="1275190" y="799373"/>
            <a:ext cx="9229721" cy="3532795"/>
          </a:xfrm>
          <a:prstGeom prst="rect">
            <a:avLst/>
          </a:prstGeom>
        </p:spPr>
      </p:pic>
      <p:grpSp>
        <p:nvGrpSpPr>
          <p:cNvPr id="3" name="Group 2"/>
          <p:cNvGrpSpPr/>
          <p:nvPr/>
        </p:nvGrpSpPr>
        <p:grpSpPr>
          <a:xfrm>
            <a:off x="1863334" y="4348070"/>
            <a:ext cx="8048628" cy="424634"/>
            <a:chOff x="1863334" y="4467990"/>
            <a:chExt cx="8048628" cy="424634"/>
          </a:xfrm>
        </p:grpSpPr>
        <p:sp>
          <p:nvSpPr>
            <p:cNvPr id="6" name="Rounded Rectangle 5"/>
            <p:cNvSpPr/>
            <p:nvPr/>
          </p:nvSpPr>
          <p:spPr>
            <a:xfrm>
              <a:off x="1863334" y="4467991"/>
              <a:ext cx="428626" cy="414337"/>
            </a:xfrm>
            <a:prstGeom prst="roundRect">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t>A</a:t>
              </a:r>
              <a:endParaRPr lang="en-IN" sz="2400" b="1" dirty="0"/>
            </a:p>
          </p:txBody>
        </p:sp>
        <p:sp>
          <p:nvSpPr>
            <p:cNvPr id="8" name="Rounded Rectangle 7"/>
            <p:cNvSpPr/>
            <p:nvPr/>
          </p:nvSpPr>
          <p:spPr>
            <a:xfrm>
              <a:off x="3804047" y="4467991"/>
              <a:ext cx="428626" cy="414337"/>
            </a:xfrm>
            <a:prstGeom prst="roundRect">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t>B</a:t>
              </a:r>
              <a:endParaRPr lang="en-IN" sz="2400" b="1" dirty="0"/>
            </a:p>
          </p:txBody>
        </p:sp>
        <p:sp>
          <p:nvSpPr>
            <p:cNvPr id="9" name="Rounded Rectangle 8"/>
            <p:cNvSpPr/>
            <p:nvPr/>
          </p:nvSpPr>
          <p:spPr>
            <a:xfrm>
              <a:off x="5779290" y="4478287"/>
              <a:ext cx="428626" cy="414337"/>
            </a:xfrm>
            <a:prstGeom prst="roundRect">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t>C</a:t>
              </a:r>
              <a:endParaRPr lang="en-IN" sz="2400" b="1" dirty="0"/>
            </a:p>
          </p:txBody>
        </p:sp>
        <p:sp>
          <p:nvSpPr>
            <p:cNvPr id="10" name="Rounded Rectangle 9"/>
            <p:cNvSpPr/>
            <p:nvPr/>
          </p:nvSpPr>
          <p:spPr>
            <a:xfrm>
              <a:off x="7608101" y="4467991"/>
              <a:ext cx="428626" cy="414337"/>
            </a:xfrm>
            <a:prstGeom prst="roundRect">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t>D</a:t>
              </a:r>
              <a:endParaRPr lang="en-IN" sz="2400" b="1" dirty="0"/>
            </a:p>
          </p:txBody>
        </p:sp>
        <p:sp>
          <p:nvSpPr>
            <p:cNvPr id="11" name="Rounded Rectangle 10"/>
            <p:cNvSpPr/>
            <p:nvPr/>
          </p:nvSpPr>
          <p:spPr>
            <a:xfrm>
              <a:off x="9483336" y="4467990"/>
              <a:ext cx="428626" cy="414337"/>
            </a:xfrm>
            <a:prstGeom prst="roundRect">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t>E</a:t>
              </a:r>
              <a:endParaRPr lang="en-IN" sz="2400" b="1" dirty="0"/>
            </a:p>
          </p:txBody>
        </p:sp>
      </p:grpSp>
      <p:sp>
        <p:nvSpPr>
          <p:cNvPr id="17"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26865" y="5006145"/>
            <a:ext cx="9456472" cy="1566105"/>
          </a:xfrm>
        </p:spPr>
        <p:txBody>
          <a:bodyPr/>
          <a:lstStyle/>
          <a:p>
            <a:pPr>
              <a:lnSpc>
                <a:spcPct val="100000"/>
              </a:lnSpc>
            </a:pPr>
            <a:r>
              <a:rPr lang="en-US" dirty="0" smtClean="0">
                <a:solidFill>
                  <a:srgbClr val="1D3064"/>
                </a:solidFill>
              </a:rPr>
              <a:t>Case-D</a:t>
            </a:r>
            <a:r>
              <a:rPr lang="en-US" dirty="0"/>
              <a:t>: </a:t>
            </a:r>
            <a:r>
              <a:rPr lang="en-US" dirty="0" smtClean="0"/>
              <a:t>Used </a:t>
            </a:r>
            <a:r>
              <a:rPr lang="en-US" dirty="0"/>
              <a:t>where the client machine is a PC </a:t>
            </a:r>
            <a:r>
              <a:rPr lang="en-US" dirty="0" smtClean="0"/>
              <a:t>or workstation</a:t>
            </a:r>
            <a:r>
              <a:rPr lang="en-US" dirty="0"/>
              <a:t>, connected through a network to a distributed file system </a:t>
            </a:r>
            <a:r>
              <a:rPr lang="en-US" dirty="0" smtClean="0"/>
              <a:t>or database</a:t>
            </a:r>
          </a:p>
          <a:p>
            <a:pPr>
              <a:lnSpc>
                <a:spcPct val="100000"/>
              </a:lnSpc>
            </a:pPr>
            <a:r>
              <a:rPr lang="en-US" sz="2200" dirty="0" smtClean="0">
                <a:solidFill>
                  <a:srgbClr val="1D3064"/>
                </a:solidFill>
                <a:ea typeface="ＭＳ Ｐゴシック" charset="-128"/>
              </a:rPr>
              <a:t>Case- E: </a:t>
            </a:r>
            <a:r>
              <a:rPr lang="en-US" sz="2200" dirty="0" smtClean="0">
                <a:ea typeface="ＭＳ Ｐゴシック" charset="-128"/>
              </a:rPr>
              <a:t>Used </a:t>
            </a:r>
            <a:r>
              <a:rPr lang="en-US" sz="2200" dirty="0">
                <a:ea typeface="ＭＳ Ｐゴシック" charset="-128"/>
              </a:rPr>
              <a:t>where the client machine is a PC </a:t>
            </a:r>
            <a:r>
              <a:rPr lang="en-US" sz="2200" dirty="0" smtClean="0">
                <a:ea typeface="ＭＳ Ｐゴシック" charset="-128"/>
              </a:rPr>
              <a:t>or workstation</a:t>
            </a:r>
            <a:r>
              <a:rPr lang="en-US" sz="2200" dirty="0">
                <a:ea typeface="ＭＳ Ｐゴシック" charset="-128"/>
              </a:rPr>
              <a:t>, connected through a network to a distributed file system </a:t>
            </a:r>
            <a:r>
              <a:rPr lang="en-US" sz="2200" dirty="0" smtClean="0">
                <a:ea typeface="ＭＳ Ｐゴシック" charset="-128"/>
              </a:rPr>
              <a:t>or database</a:t>
            </a:r>
            <a:endParaRPr lang="en-US" sz="2200" dirty="0">
              <a:ea typeface="ＭＳ Ｐゴシック" charset="-128"/>
            </a:endParaRPr>
          </a:p>
        </p:txBody>
      </p:sp>
      <p:sp>
        <p:nvSpPr>
          <p:cNvPr id="22" name="Rounded Rectangle 21"/>
          <p:cNvSpPr/>
          <p:nvPr/>
        </p:nvSpPr>
        <p:spPr>
          <a:xfrm>
            <a:off x="6840202" y="753969"/>
            <a:ext cx="1829976" cy="4138484"/>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ounded Rectangle 22"/>
          <p:cNvSpPr/>
          <p:nvPr/>
        </p:nvSpPr>
        <p:spPr>
          <a:xfrm>
            <a:off x="8795901" y="753969"/>
            <a:ext cx="1829976" cy="4138484"/>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3" name="Group 12"/>
          <p:cNvGrpSpPr/>
          <p:nvPr/>
        </p:nvGrpSpPr>
        <p:grpSpPr>
          <a:xfrm>
            <a:off x="90622" y="4116110"/>
            <a:ext cx="11926376" cy="898849"/>
            <a:chOff x="90622" y="4116110"/>
            <a:chExt cx="11926376" cy="898849"/>
          </a:xfrm>
        </p:grpSpPr>
        <p:sp>
          <p:nvSpPr>
            <p:cNvPr id="16" name="Rounded Rectangular Callout 5">
              <a:extLst>
                <a:ext uri="{FF2B5EF4-FFF2-40B4-BE49-F238E27FC236}">
                  <a16:creationId xmlns="" xmlns:a16="http://schemas.microsoft.com/office/drawing/2014/main" id="{95B1C811-0212-4B28-BA67-984A505AD881}"/>
                </a:ext>
              </a:extLst>
            </p:cNvPr>
            <p:cNvSpPr/>
            <p:nvPr/>
          </p:nvSpPr>
          <p:spPr>
            <a:xfrm>
              <a:off x="90622" y="4116110"/>
              <a:ext cx="1139261" cy="898849"/>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a:solidFill>
                    <a:schemeClr val="tx1"/>
                  </a:solidFill>
                </a:rPr>
                <a:t>Thin</a:t>
              </a:r>
            </a:p>
            <a:p>
              <a:pPr algn="ctr"/>
              <a:r>
                <a:rPr lang="en-US" sz="2800" dirty="0">
                  <a:solidFill>
                    <a:schemeClr val="tx1"/>
                  </a:solidFill>
                </a:rPr>
                <a:t>Client</a:t>
              </a:r>
            </a:p>
          </p:txBody>
        </p:sp>
        <p:sp>
          <p:nvSpPr>
            <p:cNvPr id="18" name="Rounded Rectangular Callout 5">
              <a:extLst>
                <a:ext uri="{FF2B5EF4-FFF2-40B4-BE49-F238E27FC236}">
                  <a16:creationId xmlns="" xmlns:a16="http://schemas.microsoft.com/office/drawing/2014/main" id="{95B1C811-0212-4B28-BA67-984A505AD881}"/>
                </a:ext>
              </a:extLst>
            </p:cNvPr>
            <p:cNvSpPr/>
            <p:nvPr/>
          </p:nvSpPr>
          <p:spPr>
            <a:xfrm>
              <a:off x="10877737" y="4116110"/>
              <a:ext cx="1139261" cy="898849"/>
            </a:xfrm>
            <a:prstGeom prst="wedgeRoundRectCallout">
              <a:avLst>
                <a:gd name="adj1" fmla="val -20833"/>
                <a:gd name="adj2" fmla="val 51172"/>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smtClean="0">
                  <a:solidFill>
                    <a:schemeClr val="tx1"/>
                  </a:solidFill>
                </a:rPr>
                <a:t>Fat</a:t>
              </a:r>
              <a:endParaRPr lang="en-US" sz="2800" dirty="0">
                <a:solidFill>
                  <a:schemeClr val="tx1"/>
                </a:solidFill>
              </a:endParaRPr>
            </a:p>
            <a:p>
              <a:pPr algn="ctr"/>
              <a:r>
                <a:rPr lang="en-US" sz="2800" dirty="0">
                  <a:solidFill>
                    <a:schemeClr val="tx1"/>
                  </a:solidFill>
                </a:rPr>
                <a:t>Client</a:t>
              </a:r>
            </a:p>
          </p:txBody>
        </p:sp>
        <p:cxnSp>
          <p:nvCxnSpPr>
            <p:cNvPr id="12" name="Straight Arrow Connector 11"/>
            <p:cNvCxnSpPr/>
            <p:nvPr/>
          </p:nvCxnSpPr>
          <p:spPr>
            <a:xfrm>
              <a:off x="1229883" y="4790386"/>
              <a:ext cx="9647854"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3203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par>
                                <p:cTn id="13" presetID="1" presetClass="entr" presetSubtype="0" fill="hold" nodeType="withEffect">
                                  <p:stCondLst>
                                    <p:cond delay="0"/>
                                  </p:stCondLst>
                                  <p:childTnLst>
                                    <p:set>
                                      <p:cBhvr>
                                        <p:cTn id="14"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par>
                                <p:cTn id="19" presetID="1" presetClass="entr" presetSubtype="0" fill="hold" nodeType="withEffect">
                                  <p:stCondLst>
                                    <p:cond delay="0"/>
                                  </p:stCondLst>
                                  <p:childTnLst>
                                    <p:set>
                                      <p:cBhvr>
                                        <p:cTn id="2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err="1"/>
              <a:t>Multitiered</a:t>
            </a:r>
            <a:r>
              <a:rPr lang="en-US" dirty="0"/>
              <a:t> Architectures </a:t>
            </a:r>
            <a:r>
              <a:rPr lang="en-US" dirty="0" smtClean="0"/>
              <a:t>(3-Tier Architecture)</a:t>
            </a:r>
            <a:endParaRPr lang="en-US" dirty="0"/>
          </a:p>
        </p:txBody>
      </p:sp>
      <p:sp>
        <p:nvSpPr>
          <p:cNvPr id="8" name="Rounded Rectangle 7"/>
          <p:cNvSpPr/>
          <p:nvPr/>
        </p:nvSpPr>
        <p:spPr>
          <a:xfrm>
            <a:off x="5845175" y="1054100"/>
            <a:ext cx="2927350" cy="5334000"/>
          </a:xfrm>
          <a:prstGeom prst="roundRect">
            <a:avLst>
              <a:gd name="adj" fmla="val 5695"/>
            </a:avLst>
          </a:prstGeom>
          <a:noFill/>
          <a:ln w="12700">
            <a:noFill/>
          </a:ln>
        </p:spPr>
        <p:txBody>
          <a:bodyPr/>
          <a:lstStyle/>
          <a:p>
            <a:pPr eaLnBrk="0" fontAlgn="auto" hangingPunct="0">
              <a:spcBef>
                <a:spcPts val="0"/>
              </a:spcBef>
              <a:spcAft>
                <a:spcPts val="0"/>
              </a:spcAft>
              <a:buClr>
                <a:schemeClr val="accent5">
                  <a:lumMod val="40000"/>
                  <a:lumOff val="60000"/>
                </a:schemeClr>
              </a:buClr>
              <a:buSzPct val="70000"/>
              <a:buFont typeface="Wingdings 2" pitchFamily="18" charset="2"/>
              <a:buNone/>
              <a:defRPr/>
            </a:pPr>
            <a:endParaRPr lang="en-US" sz="2000" b="1" dirty="0">
              <a:solidFill>
                <a:srgbClr val="8CF4F2"/>
              </a:solidFill>
              <a:effectLst>
                <a:outerShdw blurRad="38100" dist="38100" dir="2700000" algn="tl">
                  <a:srgbClr val="000000">
                    <a:alpha val="43137"/>
                  </a:srgbClr>
                </a:outerShdw>
              </a:effectLst>
              <a:latin typeface="+mj-lt"/>
              <a:cs typeface="Consolas" pitchFamily="49" charset="0"/>
            </a:endParaRPr>
          </a:p>
        </p:txBody>
      </p:sp>
      <p:sp>
        <p:nvSpPr>
          <p:cNvPr id="9" name="Rounded Rectangle 8"/>
          <p:cNvSpPr/>
          <p:nvPr/>
        </p:nvSpPr>
        <p:spPr>
          <a:xfrm>
            <a:off x="2438400" y="1066800"/>
            <a:ext cx="2133600" cy="5334000"/>
          </a:xfrm>
          <a:prstGeom prst="roundRect">
            <a:avLst>
              <a:gd name="adj" fmla="val 5695"/>
            </a:avLst>
          </a:prstGeom>
          <a:noFill/>
          <a:ln w="12700">
            <a:noFill/>
          </a:ln>
        </p:spPr>
        <p:txBody>
          <a:bodyPr/>
          <a:lstStyle/>
          <a:p>
            <a:pPr eaLnBrk="0" fontAlgn="auto" hangingPunct="0">
              <a:spcBef>
                <a:spcPts val="0"/>
              </a:spcBef>
              <a:spcAft>
                <a:spcPts val="0"/>
              </a:spcAft>
              <a:buClr>
                <a:schemeClr val="accent5">
                  <a:lumMod val="40000"/>
                  <a:lumOff val="60000"/>
                </a:schemeClr>
              </a:buClr>
              <a:buSzPct val="70000"/>
              <a:buFont typeface="Wingdings 2" pitchFamily="18" charset="2"/>
              <a:buNone/>
              <a:defRPr/>
            </a:pPr>
            <a:endParaRPr lang="en-US" sz="2000" b="1" dirty="0">
              <a:solidFill>
                <a:srgbClr val="8CF4F2"/>
              </a:solidFill>
              <a:effectLst>
                <a:outerShdw blurRad="38100" dist="38100" dir="2700000" algn="tl">
                  <a:srgbClr val="000000">
                    <a:alpha val="43137"/>
                  </a:srgbClr>
                </a:outerShdw>
              </a:effectLst>
              <a:latin typeface="+mj-lt"/>
              <a:cs typeface="Consolas" pitchFamily="49" charset="0"/>
            </a:endParaRPr>
          </a:p>
        </p:txBody>
      </p:sp>
      <p:sp>
        <p:nvSpPr>
          <p:cNvPr id="10" name="Rounded Rectangle 9"/>
          <p:cNvSpPr/>
          <p:nvPr/>
        </p:nvSpPr>
        <p:spPr>
          <a:xfrm>
            <a:off x="355600" y="1054100"/>
            <a:ext cx="1828800" cy="5346700"/>
          </a:xfrm>
          <a:prstGeom prst="roundRect">
            <a:avLst>
              <a:gd name="adj" fmla="val 5695"/>
            </a:avLst>
          </a:prstGeom>
          <a:noFill/>
          <a:ln w="12700">
            <a:noFill/>
          </a:ln>
        </p:spPr>
        <p:txBody>
          <a:bodyPr/>
          <a:lstStyle/>
          <a:p>
            <a:pPr eaLnBrk="0" fontAlgn="auto" hangingPunct="0">
              <a:spcBef>
                <a:spcPts val="0"/>
              </a:spcBef>
              <a:spcAft>
                <a:spcPts val="0"/>
              </a:spcAft>
              <a:buClr>
                <a:schemeClr val="accent5">
                  <a:lumMod val="40000"/>
                  <a:lumOff val="60000"/>
                </a:schemeClr>
              </a:buClr>
              <a:buSzPct val="70000"/>
              <a:buFont typeface="Wingdings 2" pitchFamily="18" charset="2"/>
              <a:buNone/>
              <a:defRPr/>
            </a:pPr>
            <a:endParaRPr lang="en-US" sz="2000" b="1" dirty="0">
              <a:solidFill>
                <a:srgbClr val="8CF4F2"/>
              </a:solidFill>
              <a:effectLst>
                <a:outerShdw blurRad="38100" dist="38100" dir="2700000" algn="tl">
                  <a:srgbClr val="000000">
                    <a:alpha val="43137"/>
                  </a:srgbClr>
                </a:outerShdw>
              </a:effectLst>
              <a:latin typeface="+mj-lt"/>
              <a:cs typeface="Consolas" pitchFamily="49" charset="0"/>
            </a:endParaRPr>
          </a:p>
        </p:txBody>
      </p:sp>
      <p:cxnSp>
        <p:nvCxnSpPr>
          <p:cNvPr id="11" name="Straight Connector 10"/>
          <p:cNvCxnSpPr/>
          <p:nvPr/>
        </p:nvCxnSpPr>
        <p:spPr>
          <a:xfrm>
            <a:off x="1576388" y="3505200"/>
            <a:ext cx="1471612" cy="0"/>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sp>
        <p:nvSpPr>
          <p:cNvPr id="12" name="Slide Number Placeholder 3"/>
          <p:cNvSpPr txBox="1">
            <a:spLocks noGrp="1"/>
          </p:cNvSpPr>
          <p:nvPr/>
        </p:nvSpPr>
        <p:spPr bwMode="auto">
          <a:xfrm>
            <a:off x="6553200" y="6356350"/>
            <a:ext cx="2133600" cy="365125"/>
          </a:xfrm>
          <a:prstGeom prst="rect">
            <a:avLst/>
          </a:prstGeom>
          <a:noFill/>
          <a:ln>
            <a:miter lim="800000"/>
            <a:headEnd/>
            <a:tailEnd/>
          </a:ln>
        </p:spPr>
        <p:txBody>
          <a:bodyPr anchor="ctr"/>
          <a:lstStyle/>
          <a:p>
            <a:pPr algn="r" fontAlgn="auto">
              <a:spcBef>
                <a:spcPts val="0"/>
              </a:spcBef>
              <a:spcAft>
                <a:spcPts val="0"/>
              </a:spcAft>
              <a:defRPr/>
            </a:pPr>
            <a:fld id="{D0764652-3ACE-4376-AD89-D14BF761901E}" type="slidenum">
              <a:rPr lang="en-US" sz="1200">
                <a:solidFill>
                  <a:schemeClr val="tx1">
                    <a:tint val="75000"/>
                  </a:schemeClr>
                </a:solidFill>
                <a:latin typeface="+mn-lt"/>
              </a:rPr>
              <a:pPr algn="r" fontAlgn="auto">
                <a:spcBef>
                  <a:spcPts val="0"/>
                </a:spcBef>
                <a:spcAft>
                  <a:spcPts val="0"/>
                </a:spcAft>
                <a:defRPr/>
              </a:pPr>
              <a:t>17</a:t>
            </a:fld>
            <a:endParaRPr lang="en-US" sz="1200">
              <a:solidFill>
                <a:schemeClr val="tx1">
                  <a:tint val="75000"/>
                </a:schemeClr>
              </a:solidFill>
              <a:latin typeface="+mn-lt"/>
            </a:endParaRPr>
          </a:p>
        </p:txBody>
      </p:sp>
      <p:cxnSp>
        <p:nvCxnSpPr>
          <p:cNvPr id="13" name="Straight Connector 12"/>
          <p:cNvCxnSpPr/>
          <p:nvPr/>
        </p:nvCxnSpPr>
        <p:spPr>
          <a:xfrm>
            <a:off x="3886200" y="3771900"/>
            <a:ext cx="2781300" cy="1600200"/>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cxnSp>
        <p:nvCxnSpPr>
          <p:cNvPr id="14" name="Straight Connector 13"/>
          <p:cNvCxnSpPr/>
          <p:nvPr/>
        </p:nvCxnSpPr>
        <p:spPr>
          <a:xfrm>
            <a:off x="3759200" y="3492500"/>
            <a:ext cx="3022600" cy="279400"/>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cxnSp>
        <p:nvCxnSpPr>
          <p:cNvPr id="15" name="Straight Connector 14"/>
          <p:cNvCxnSpPr/>
          <p:nvPr/>
        </p:nvCxnSpPr>
        <p:spPr>
          <a:xfrm flipV="1">
            <a:off x="3886200" y="2133600"/>
            <a:ext cx="2767013" cy="1143000"/>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sp>
        <p:nvSpPr>
          <p:cNvPr id="16" name="TextBox 15"/>
          <p:cNvSpPr txBox="1"/>
          <p:nvPr/>
        </p:nvSpPr>
        <p:spPr>
          <a:xfrm>
            <a:off x="2819400" y="4575175"/>
            <a:ext cx="1305165" cy="830997"/>
          </a:xfrm>
          <a:prstGeom prst="rect">
            <a:avLst/>
          </a:prstGeom>
          <a:noFill/>
        </p:spPr>
        <p:txBody>
          <a:bodyPr wrap="none">
            <a:spAutoFit/>
          </a:bodyPr>
          <a:lstStyle/>
          <a:p>
            <a:pPr>
              <a:defRPr/>
            </a:pPr>
            <a:r>
              <a:rPr lang="en-US" sz="2400" b="1" dirty="0">
                <a:effectLst>
                  <a:outerShdw blurRad="38100" dist="38100" dir="2700000" algn="tl">
                    <a:srgbClr val="C0C0C0"/>
                  </a:outerShdw>
                </a:effectLst>
                <a:latin typeface="+mj-lt"/>
              </a:rPr>
              <a:t>Business</a:t>
            </a:r>
          </a:p>
          <a:p>
            <a:pPr>
              <a:defRPr/>
            </a:pPr>
            <a:r>
              <a:rPr lang="en-US" sz="2400" b="1" dirty="0">
                <a:effectLst>
                  <a:outerShdw blurRad="38100" dist="38100" dir="2700000" algn="tl">
                    <a:srgbClr val="C0C0C0"/>
                  </a:outerShdw>
                </a:effectLst>
                <a:latin typeface="+mj-lt"/>
              </a:rPr>
              <a:t>Logic</a:t>
            </a:r>
          </a:p>
        </p:txBody>
      </p:sp>
      <p:pic>
        <p:nvPicPr>
          <p:cNvPr id="17" name="Picture 3" descr="C:\Users\nakov\Downloads\hp_mobile_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6625" y="3200400"/>
            <a:ext cx="1447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7" descr="laptop,comp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6625" y="1600200"/>
            <a:ext cx="1447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1" descr="computer,monitor,screen,displa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6625" y="4648200"/>
            <a:ext cx="1447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Box 19"/>
          <p:cNvSpPr txBox="1"/>
          <p:nvPr/>
        </p:nvSpPr>
        <p:spPr>
          <a:xfrm>
            <a:off x="7751020" y="5137150"/>
            <a:ext cx="1192955" cy="830997"/>
          </a:xfrm>
          <a:prstGeom prst="rect">
            <a:avLst/>
          </a:prstGeom>
          <a:noFill/>
        </p:spPr>
        <p:txBody>
          <a:bodyPr wrap="none">
            <a:spAutoFit/>
          </a:bodyPr>
          <a:lstStyle/>
          <a:p>
            <a:pPr>
              <a:defRPr/>
            </a:pPr>
            <a:r>
              <a:rPr lang="en-US" sz="2400" dirty="0">
                <a:solidFill>
                  <a:schemeClr val="accent6"/>
                </a:solidFill>
                <a:effectLst>
                  <a:outerShdw blurRad="38100" dist="38100" dir="2700000" algn="tl">
                    <a:srgbClr val="C0C0C0"/>
                  </a:outerShdw>
                </a:effectLst>
                <a:latin typeface="+mj-lt"/>
              </a:rPr>
              <a:t>Desktop</a:t>
            </a:r>
          </a:p>
          <a:p>
            <a:pPr>
              <a:defRPr/>
            </a:pPr>
            <a:r>
              <a:rPr lang="en-US" sz="2400" dirty="0">
                <a:solidFill>
                  <a:schemeClr val="accent6"/>
                </a:solidFill>
                <a:effectLst>
                  <a:outerShdw blurRad="38100" dist="38100" dir="2700000" algn="tl">
                    <a:srgbClr val="C0C0C0"/>
                  </a:outerShdw>
                </a:effectLst>
                <a:latin typeface="+mj-lt"/>
              </a:rPr>
              <a:t>Client</a:t>
            </a:r>
          </a:p>
        </p:txBody>
      </p:sp>
      <p:sp>
        <p:nvSpPr>
          <p:cNvPr id="21" name="TextBox 20"/>
          <p:cNvSpPr txBox="1"/>
          <p:nvPr/>
        </p:nvSpPr>
        <p:spPr>
          <a:xfrm>
            <a:off x="7746282" y="3440113"/>
            <a:ext cx="1026243" cy="830997"/>
          </a:xfrm>
          <a:prstGeom prst="rect">
            <a:avLst/>
          </a:prstGeom>
          <a:noFill/>
        </p:spPr>
        <p:txBody>
          <a:bodyPr wrap="none">
            <a:spAutoFit/>
          </a:bodyPr>
          <a:lstStyle/>
          <a:p>
            <a:pPr>
              <a:defRPr/>
            </a:pPr>
            <a:r>
              <a:rPr lang="en-US" sz="2400" dirty="0">
                <a:solidFill>
                  <a:schemeClr val="accent6"/>
                </a:solidFill>
                <a:effectLst>
                  <a:outerShdw blurRad="38100" dist="38100" dir="2700000" algn="tl">
                    <a:srgbClr val="C0C0C0"/>
                  </a:outerShdw>
                </a:effectLst>
                <a:latin typeface="+mj-lt"/>
              </a:rPr>
              <a:t>Mobile</a:t>
            </a:r>
          </a:p>
          <a:p>
            <a:pPr>
              <a:defRPr/>
            </a:pPr>
            <a:r>
              <a:rPr lang="en-US" sz="2400" dirty="0">
                <a:solidFill>
                  <a:schemeClr val="accent6"/>
                </a:solidFill>
                <a:effectLst>
                  <a:outerShdw blurRad="38100" dist="38100" dir="2700000" algn="tl">
                    <a:srgbClr val="C0C0C0"/>
                  </a:outerShdw>
                </a:effectLst>
                <a:latin typeface="+mj-lt"/>
              </a:rPr>
              <a:t>Client</a:t>
            </a:r>
          </a:p>
        </p:txBody>
      </p:sp>
      <p:sp>
        <p:nvSpPr>
          <p:cNvPr id="22" name="TextBox 21"/>
          <p:cNvSpPr txBox="1"/>
          <p:nvPr/>
        </p:nvSpPr>
        <p:spPr>
          <a:xfrm>
            <a:off x="7671679" y="1718101"/>
            <a:ext cx="1233030" cy="830997"/>
          </a:xfrm>
          <a:prstGeom prst="rect">
            <a:avLst/>
          </a:prstGeom>
          <a:noFill/>
        </p:spPr>
        <p:txBody>
          <a:bodyPr wrap="none">
            <a:spAutoFit/>
          </a:bodyPr>
          <a:lstStyle/>
          <a:p>
            <a:pPr algn="ctr" fontAlgn="auto">
              <a:spcBef>
                <a:spcPts val="0"/>
              </a:spcBef>
              <a:spcAft>
                <a:spcPts val="0"/>
              </a:spcAft>
              <a:defRPr/>
            </a:pPr>
            <a:r>
              <a:rPr lang="en-US" sz="2400" dirty="0">
                <a:solidFill>
                  <a:schemeClr val="accent6"/>
                </a:solidFill>
                <a:effectLst>
                  <a:outerShdw blurRad="38100" dist="38100" dir="2700000" algn="tl">
                    <a:srgbClr val="000000">
                      <a:alpha val="43137"/>
                    </a:srgbClr>
                  </a:outerShdw>
                </a:effectLst>
                <a:latin typeface="+mj-lt"/>
              </a:rPr>
              <a:t>Client</a:t>
            </a:r>
          </a:p>
          <a:p>
            <a:pPr algn="ctr" fontAlgn="auto">
              <a:spcBef>
                <a:spcPts val="0"/>
              </a:spcBef>
              <a:spcAft>
                <a:spcPts val="0"/>
              </a:spcAft>
              <a:defRPr/>
            </a:pPr>
            <a:r>
              <a:rPr lang="en-US" sz="2400" dirty="0">
                <a:solidFill>
                  <a:schemeClr val="accent6"/>
                </a:solidFill>
                <a:effectLst>
                  <a:outerShdw blurRad="38100" dist="38100" dir="2700000" algn="tl">
                    <a:srgbClr val="000000">
                      <a:alpha val="43137"/>
                    </a:srgbClr>
                  </a:outerShdw>
                </a:effectLst>
                <a:latin typeface="+mj-lt"/>
              </a:rPr>
              <a:t>Machine</a:t>
            </a:r>
          </a:p>
        </p:txBody>
      </p:sp>
      <p:pic>
        <p:nvPicPr>
          <p:cNvPr id="23" name="Picture 13" descr="off,server,compu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2590800"/>
            <a:ext cx="1890713" cy="189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Box 23"/>
          <p:cNvSpPr txBox="1"/>
          <p:nvPr/>
        </p:nvSpPr>
        <p:spPr>
          <a:xfrm rot="20309905">
            <a:off x="4705855" y="2312958"/>
            <a:ext cx="1011815" cy="400110"/>
          </a:xfrm>
          <a:prstGeom prst="rect">
            <a:avLst/>
          </a:prstGeom>
          <a:noFill/>
        </p:spPr>
        <p:txBody>
          <a:bodyPr wrap="none">
            <a:spAutoFit/>
          </a:bodyPr>
          <a:lstStyle/>
          <a:p>
            <a:pPr fontAlgn="auto">
              <a:spcBef>
                <a:spcPts val="0"/>
              </a:spcBef>
              <a:spcAft>
                <a:spcPts val="0"/>
              </a:spcAft>
              <a:defRPr/>
            </a:pPr>
            <a:r>
              <a:rPr lang="en-US" sz="2000" dirty="0">
                <a:effectLst>
                  <a:outerShdw blurRad="38100" dist="38100" dir="2700000" algn="tl">
                    <a:srgbClr val="000000">
                      <a:alpha val="43137"/>
                    </a:srgbClr>
                  </a:outerShdw>
                </a:effectLst>
                <a:latin typeface="+mj-lt"/>
              </a:rPr>
              <a:t>network</a:t>
            </a:r>
          </a:p>
        </p:txBody>
      </p:sp>
      <p:sp>
        <p:nvSpPr>
          <p:cNvPr id="25" name="TextBox 24"/>
          <p:cNvSpPr txBox="1"/>
          <p:nvPr/>
        </p:nvSpPr>
        <p:spPr>
          <a:xfrm rot="249247">
            <a:off x="4724905" y="3240058"/>
            <a:ext cx="1011815" cy="400110"/>
          </a:xfrm>
          <a:prstGeom prst="rect">
            <a:avLst/>
          </a:prstGeom>
          <a:noFill/>
        </p:spPr>
        <p:txBody>
          <a:bodyPr wrap="none">
            <a:spAutoFit/>
          </a:bodyPr>
          <a:lstStyle/>
          <a:p>
            <a:pPr fontAlgn="auto">
              <a:spcBef>
                <a:spcPts val="0"/>
              </a:spcBef>
              <a:spcAft>
                <a:spcPts val="0"/>
              </a:spcAft>
              <a:defRPr/>
            </a:pPr>
            <a:r>
              <a:rPr lang="en-US" sz="2000" dirty="0">
                <a:effectLst>
                  <a:outerShdw blurRad="38100" dist="38100" dir="2700000" algn="tl">
                    <a:srgbClr val="000000">
                      <a:alpha val="43137"/>
                    </a:srgbClr>
                  </a:outerShdw>
                </a:effectLst>
                <a:latin typeface="+mj-lt"/>
              </a:rPr>
              <a:t>network</a:t>
            </a:r>
          </a:p>
        </p:txBody>
      </p:sp>
      <p:sp>
        <p:nvSpPr>
          <p:cNvPr id="26" name="TextBox 25"/>
          <p:cNvSpPr txBox="1"/>
          <p:nvPr/>
        </p:nvSpPr>
        <p:spPr>
          <a:xfrm rot="1808832">
            <a:off x="4712205" y="4117945"/>
            <a:ext cx="1011815" cy="400110"/>
          </a:xfrm>
          <a:prstGeom prst="rect">
            <a:avLst/>
          </a:prstGeom>
          <a:noFill/>
        </p:spPr>
        <p:txBody>
          <a:bodyPr wrap="none">
            <a:spAutoFit/>
          </a:bodyPr>
          <a:lstStyle/>
          <a:p>
            <a:pPr fontAlgn="auto">
              <a:spcBef>
                <a:spcPts val="0"/>
              </a:spcBef>
              <a:spcAft>
                <a:spcPts val="0"/>
              </a:spcAft>
              <a:defRPr/>
            </a:pPr>
            <a:r>
              <a:rPr lang="en-US" sz="2000" dirty="0">
                <a:effectLst>
                  <a:outerShdw blurRad="38100" dist="38100" dir="2700000" algn="tl">
                    <a:srgbClr val="000000">
                      <a:alpha val="43137"/>
                    </a:srgbClr>
                  </a:outerShdw>
                </a:effectLst>
                <a:latin typeface="+mj-lt"/>
              </a:rPr>
              <a:t>network</a:t>
            </a:r>
          </a:p>
        </p:txBody>
      </p:sp>
      <p:pic>
        <p:nvPicPr>
          <p:cNvPr id="27" name="Picture 2" descr="database,db"/>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 y="2590800"/>
            <a:ext cx="1835150"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p:cNvSpPr txBox="1"/>
          <p:nvPr/>
        </p:nvSpPr>
        <p:spPr>
          <a:xfrm>
            <a:off x="520700" y="4419600"/>
            <a:ext cx="1324402" cy="461665"/>
          </a:xfrm>
          <a:prstGeom prst="rect">
            <a:avLst/>
          </a:prstGeom>
          <a:noFill/>
        </p:spPr>
        <p:txBody>
          <a:bodyPr wrap="none">
            <a:spAutoFit/>
          </a:bodyPr>
          <a:lstStyle/>
          <a:p>
            <a:pPr fontAlgn="auto">
              <a:spcBef>
                <a:spcPts val="0"/>
              </a:spcBef>
              <a:spcAft>
                <a:spcPts val="0"/>
              </a:spcAft>
              <a:defRPr/>
            </a:pPr>
            <a:r>
              <a:rPr lang="en-US" sz="2400" b="1" dirty="0">
                <a:effectLst>
                  <a:outerShdw blurRad="38100" dist="38100" dir="2700000" algn="tl">
                    <a:srgbClr val="000000">
                      <a:alpha val="43137"/>
                    </a:srgbClr>
                  </a:outerShdw>
                </a:effectLst>
                <a:latin typeface="+mj-lt"/>
              </a:rPr>
              <a:t>Database</a:t>
            </a:r>
          </a:p>
        </p:txBody>
      </p:sp>
      <p:sp>
        <p:nvSpPr>
          <p:cNvPr id="29" name="TextBox 28"/>
          <p:cNvSpPr txBox="1"/>
          <p:nvPr/>
        </p:nvSpPr>
        <p:spPr>
          <a:xfrm>
            <a:off x="387350" y="1066800"/>
            <a:ext cx="1556836" cy="830997"/>
          </a:xfrm>
          <a:prstGeom prst="rect">
            <a:avLst/>
          </a:prstGeom>
          <a:noFill/>
        </p:spPr>
        <p:txBody>
          <a:bodyPr wrap="none">
            <a:spAutoFit/>
          </a:bodyPr>
          <a:lstStyle/>
          <a:p>
            <a:pPr>
              <a:defRPr/>
            </a:pPr>
            <a:r>
              <a:rPr lang="en-US" sz="2400" b="1" dirty="0">
                <a:solidFill>
                  <a:srgbClr val="1D3064"/>
                </a:solidFill>
                <a:effectLst>
                  <a:outerShdw blurRad="38100" dist="38100" dir="2700000" algn="tl">
                    <a:srgbClr val="C0C0C0"/>
                  </a:outerShdw>
                </a:effectLst>
                <a:latin typeface="+mj-lt"/>
              </a:rPr>
              <a:t>Data Tier</a:t>
            </a:r>
          </a:p>
          <a:p>
            <a:pPr>
              <a:defRPr/>
            </a:pPr>
            <a:r>
              <a:rPr lang="en-US" sz="2400" b="1" dirty="0">
                <a:solidFill>
                  <a:srgbClr val="1D3064"/>
                </a:solidFill>
                <a:effectLst>
                  <a:outerShdw blurRad="38100" dist="38100" dir="2700000" algn="tl">
                    <a:srgbClr val="C0C0C0"/>
                  </a:outerShdw>
                </a:effectLst>
                <a:latin typeface="+mj-lt"/>
              </a:rPr>
              <a:t>(Back-End)</a:t>
            </a:r>
          </a:p>
        </p:txBody>
      </p:sp>
      <p:sp>
        <p:nvSpPr>
          <p:cNvPr id="30" name="TextBox 29"/>
          <p:cNvSpPr txBox="1"/>
          <p:nvPr/>
        </p:nvSpPr>
        <p:spPr>
          <a:xfrm>
            <a:off x="2457450" y="1079500"/>
            <a:ext cx="2068195" cy="830997"/>
          </a:xfrm>
          <a:prstGeom prst="rect">
            <a:avLst/>
          </a:prstGeom>
          <a:noFill/>
        </p:spPr>
        <p:txBody>
          <a:bodyPr wrap="none">
            <a:spAutoFit/>
          </a:bodyPr>
          <a:lstStyle/>
          <a:p>
            <a:pPr>
              <a:defRPr/>
            </a:pPr>
            <a:r>
              <a:rPr lang="en-US" sz="2400" b="1">
                <a:solidFill>
                  <a:srgbClr val="1D3064"/>
                </a:solidFill>
                <a:effectLst>
                  <a:outerShdw blurRad="38100" dist="38100" dir="2700000" algn="tl">
                    <a:srgbClr val="C0C0C0"/>
                  </a:outerShdw>
                </a:effectLst>
                <a:latin typeface="+mj-lt"/>
              </a:rPr>
              <a:t>Middle Tier</a:t>
            </a:r>
          </a:p>
          <a:p>
            <a:pPr>
              <a:defRPr/>
            </a:pPr>
            <a:r>
              <a:rPr lang="en-US" sz="2400" b="1">
                <a:solidFill>
                  <a:srgbClr val="1D3064"/>
                </a:solidFill>
                <a:effectLst>
                  <a:outerShdw blurRad="38100" dist="38100" dir="2700000" algn="tl">
                    <a:srgbClr val="C0C0C0"/>
                  </a:outerShdw>
                </a:effectLst>
                <a:latin typeface="+mj-lt"/>
              </a:rPr>
              <a:t>(Business Tier)</a:t>
            </a:r>
          </a:p>
        </p:txBody>
      </p:sp>
      <p:sp>
        <p:nvSpPr>
          <p:cNvPr id="31" name="TextBox 30"/>
          <p:cNvSpPr txBox="1"/>
          <p:nvPr/>
        </p:nvSpPr>
        <p:spPr>
          <a:xfrm>
            <a:off x="5891213" y="1079500"/>
            <a:ext cx="2959465" cy="461665"/>
          </a:xfrm>
          <a:prstGeom prst="rect">
            <a:avLst/>
          </a:prstGeom>
          <a:noFill/>
        </p:spPr>
        <p:txBody>
          <a:bodyPr wrap="none">
            <a:spAutoFit/>
          </a:bodyPr>
          <a:lstStyle/>
          <a:p>
            <a:pPr>
              <a:defRPr/>
            </a:pPr>
            <a:r>
              <a:rPr lang="en-US" sz="2400" b="1" dirty="0">
                <a:solidFill>
                  <a:srgbClr val="1D3064"/>
                </a:solidFill>
                <a:effectLst>
                  <a:outerShdw blurRad="38100" dist="38100" dir="2700000" algn="tl">
                    <a:srgbClr val="C0C0C0"/>
                  </a:outerShdw>
                </a:effectLst>
                <a:latin typeface="+mj-lt"/>
              </a:rPr>
              <a:t>Client Tier (Front-End)</a:t>
            </a:r>
          </a:p>
        </p:txBody>
      </p:sp>
    </p:spTree>
    <p:extLst>
      <p:ext uri="{BB962C8B-B14F-4D97-AF65-F5344CB8AC3E}">
        <p14:creationId xmlns:p14="http://schemas.microsoft.com/office/powerpoint/2010/main" val="28982320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err="1"/>
              <a:t>Multitiered</a:t>
            </a:r>
            <a:r>
              <a:rPr lang="en-US" dirty="0"/>
              <a:t> Architectures </a:t>
            </a:r>
            <a:r>
              <a:rPr lang="en-US" dirty="0" smtClean="0"/>
              <a:t>(3-Tier Architecture)</a:t>
            </a:r>
            <a:endParaRPr lang="en-US" dirty="0"/>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a:t>The server tier in two-tiered architecture becomes more </a:t>
            </a:r>
            <a:r>
              <a:rPr lang="en-US" dirty="0" smtClean="0"/>
              <a:t>and more distributed</a:t>
            </a:r>
          </a:p>
          <a:p>
            <a:pPr>
              <a:lnSpc>
                <a:spcPct val="100000"/>
              </a:lnSpc>
            </a:pPr>
            <a:r>
              <a:rPr lang="en-US" sz="2400" dirty="0" smtClean="0"/>
              <a:t>Distributed transaction processing </a:t>
            </a:r>
          </a:p>
          <a:p>
            <a:pPr lvl="2"/>
            <a:r>
              <a:rPr lang="en-US" sz="2400" dirty="0"/>
              <a:t>A single server is no longer adequate for modern information systems</a:t>
            </a:r>
            <a:endParaRPr lang="en-US" sz="2400" dirty="0" smtClean="0"/>
          </a:p>
          <a:p>
            <a:pPr>
              <a:lnSpc>
                <a:spcPct val="100000"/>
              </a:lnSpc>
            </a:pPr>
            <a:r>
              <a:rPr lang="en-US" dirty="0"/>
              <a:t>This leads to three-tiered </a:t>
            </a:r>
            <a:r>
              <a:rPr lang="en-US" dirty="0" smtClean="0"/>
              <a:t>architecture</a:t>
            </a:r>
          </a:p>
          <a:p>
            <a:pPr lvl="2"/>
            <a:r>
              <a:rPr lang="en-US" sz="2400" dirty="0" smtClean="0"/>
              <a:t>Server </a:t>
            </a:r>
            <a:r>
              <a:rPr lang="en-US" sz="2400" dirty="0"/>
              <a:t>may acting as a client</a:t>
            </a:r>
          </a:p>
        </p:txBody>
      </p:sp>
      <p:sp>
        <p:nvSpPr>
          <p:cNvPr id="7" name="Rounded Rectangular Callout 5">
            <a:extLst>
              <a:ext uri="{FF2B5EF4-FFF2-40B4-BE49-F238E27FC236}">
                <a16:creationId xmlns="" xmlns:a16="http://schemas.microsoft.com/office/drawing/2014/main" id="{95B1C811-0212-4B28-BA67-984A505AD881}"/>
              </a:ext>
            </a:extLst>
          </p:cNvPr>
          <p:cNvSpPr/>
          <p:nvPr/>
        </p:nvSpPr>
        <p:spPr>
          <a:xfrm>
            <a:off x="9116933" y="3510632"/>
            <a:ext cx="2573754" cy="1289154"/>
          </a:xfrm>
          <a:prstGeom prst="wedgeRoundRectCallout">
            <a:avLst>
              <a:gd name="adj1" fmla="val -20833"/>
              <a:gd name="adj2" fmla="val 51172"/>
              <a:gd name="adj3" fmla="val 16667"/>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a:solidFill>
                  <a:srgbClr val="1D3064"/>
                </a:solidFill>
              </a:rPr>
              <a:t>An example of a</a:t>
            </a:r>
          </a:p>
          <a:p>
            <a:pPr algn="ctr"/>
            <a:r>
              <a:rPr lang="en-US" sz="2800" dirty="0">
                <a:solidFill>
                  <a:srgbClr val="1D3064"/>
                </a:solidFill>
              </a:rPr>
              <a:t>server acting as client</a:t>
            </a:r>
          </a:p>
        </p:txBody>
      </p:sp>
      <p:grpSp>
        <p:nvGrpSpPr>
          <p:cNvPr id="6" name="Group 5"/>
          <p:cNvGrpSpPr/>
          <p:nvPr/>
        </p:nvGrpSpPr>
        <p:grpSpPr>
          <a:xfrm>
            <a:off x="1514475" y="3470324"/>
            <a:ext cx="6600825" cy="2635497"/>
            <a:chOff x="1514475" y="3470324"/>
            <a:chExt cx="6600825" cy="2635497"/>
          </a:xfrm>
        </p:grpSpPr>
        <p:pic>
          <p:nvPicPr>
            <p:cNvPr id="8" name="Picture 7"/>
            <p:cNvPicPr>
              <a:picLocks noChangeAspect="1"/>
            </p:cNvPicPr>
            <p:nvPr/>
          </p:nvPicPr>
          <p:blipFill>
            <a:blip r:embed="rId2"/>
            <a:stretch>
              <a:fillRect/>
            </a:stretch>
          </p:blipFill>
          <p:spPr>
            <a:xfrm>
              <a:off x="3205162" y="3838575"/>
              <a:ext cx="4619625" cy="2238375"/>
            </a:xfrm>
            <a:prstGeom prst="rect">
              <a:avLst/>
            </a:prstGeom>
          </p:spPr>
        </p:pic>
        <p:sp>
          <p:nvSpPr>
            <p:cNvPr id="9" name="TextBox 8"/>
            <p:cNvSpPr txBox="1"/>
            <p:nvPr/>
          </p:nvSpPr>
          <p:spPr>
            <a:xfrm>
              <a:off x="1514475" y="3615204"/>
              <a:ext cx="1690687" cy="707886"/>
            </a:xfrm>
            <a:prstGeom prst="rect">
              <a:avLst/>
            </a:prstGeom>
            <a:noFill/>
          </p:spPr>
          <p:txBody>
            <a:bodyPr wrap="square" rtlCol="0">
              <a:spAutoFit/>
            </a:bodyPr>
            <a:lstStyle/>
            <a:p>
              <a:pPr algn="r"/>
              <a:r>
                <a:rPr lang="en-IN" sz="2000" dirty="0" smtClean="0">
                  <a:solidFill>
                    <a:schemeClr val="accent6"/>
                  </a:solidFill>
                </a:rPr>
                <a:t>User interface</a:t>
              </a:r>
            </a:p>
            <a:p>
              <a:pPr algn="r"/>
              <a:r>
                <a:rPr lang="en-IN" sz="2000" dirty="0" smtClean="0">
                  <a:solidFill>
                    <a:schemeClr val="accent6"/>
                  </a:solidFill>
                </a:rPr>
                <a:t>(presentation)</a:t>
              </a:r>
              <a:endParaRPr lang="en-IN" sz="2000" dirty="0">
                <a:solidFill>
                  <a:schemeClr val="accent6"/>
                </a:solidFill>
              </a:endParaRPr>
            </a:p>
          </p:txBody>
        </p:sp>
        <p:sp>
          <p:nvSpPr>
            <p:cNvPr id="10" name="TextBox 9"/>
            <p:cNvSpPr txBox="1"/>
            <p:nvPr/>
          </p:nvSpPr>
          <p:spPr>
            <a:xfrm>
              <a:off x="1638951" y="4497557"/>
              <a:ext cx="1441736" cy="707886"/>
            </a:xfrm>
            <a:prstGeom prst="rect">
              <a:avLst/>
            </a:prstGeom>
            <a:noFill/>
          </p:spPr>
          <p:txBody>
            <a:bodyPr wrap="square" rtlCol="0">
              <a:spAutoFit/>
            </a:bodyPr>
            <a:lstStyle/>
            <a:p>
              <a:pPr algn="r"/>
              <a:r>
                <a:rPr lang="en-IN" sz="2000" dirty="0" smtClean="0">
                  <a:solidFill>
                    <a:schemeClr val="accent6"/>
                  </a:solidFill>
                </a:rPr>
                <a:t>Application</a:t>
              </a:r>
            </a:p>
            <a:p>
              <a:pPr algn="r"/>
              <a:r>
                <a:rPr lang="en-IN" sz="2000" dirty="0" smtClean="0">
                  <a:solidFill>
                    <a:schemeClr val="accent6"/>
                  </a:solidFill>
                </a:rPr>
                <a:t>server</a:t>
              </a:r>
              <a:endParaRPr lang="en-IN" sz="2000" dirty="0">
                <a:solidFill>
                  <a:schemeClr val="accent6"/>
                </a:solidFill>
              </a:endParaRPr>
            </a:p>
          </p:txBody>
        </p:sp>
        <p:sp>
          <p:nvSpPr>
            <p:cNvPr id="11" name="TextBox 10"/>
            <p:cNvSpPr txBox="1"/>
            <p:nvPr/>
          </p:nvSpPr>
          <p:spPr>
            <a:xfrm>
              <a:off x="1875591" y="5322451"/>
              <a:ext cx="1205096" cy="707886"/>
            </a:xfrm>
            <a:prstGeom prst="rect">
              <a:avLst/>
            </a:prstGeom>
            <a:noFill/>
          </p:spPr>
          <p:txBody>
            <a:bodyPr wrap="square" rtlCol="0">
              <a:spAutoFit/>
            </a:bodyPr>
            <a:lstStyle/>
            <a:p>
              <a:pPr algn="r"/>
              <a:r>
                <a:rPr lang="en-IN" sz="2000" dirty="0" smtClean="0">
                  <a:solidFill>
                    <a:schemeClr val="accent6"/>
                  </a:solidFill>
                </a:rPr>
                <a:t>Database</a:t>
              </a:r>
            </a:p>
            <a:p>
              <a:pPr algn="r"/>
              <a:r>
                <a:rPr lang="en-IN" sz="2000" dirty="0" smtClean="0">
                  <a:solidFill>
                    <a:schemeClr val="accent6"/>
                  </a:solidFill>
                </a:rPr>
                <a:t>server</a:t>
              </a:r>
              <a:endParaRPr lang="en-IN" sz="2000" dirty="0">
                <a:solidFill>
                  <a:schemeClr val="accent6"/>
                </a:solidFill>
              </a:endParaRPr>
            </a:p>
          </p:txBody>
        </p:sp>
        <p:sp>
          <p:nvSpPr>
            <p:cNvPr id="12" name="TextBox 11"/>
            <p:cNvSpPr txBox="1"/>
            <p:nvPr/>
          </p:nvSpPr>
          <p:spPr>
            <a:xfrm>
              <a:off x="4424362" y="3470324"/>
              <a:ext cx="2030018" cy="400110"/>
            </a:xfrm>
            <a:prstGeom prst="rect">
              <a:avLst/>
            </a:prstGeom>
            <a:noFill/>
          </p:spPr>
          <p:txBody>
            <a:bodyPr wrap="square" rtlCol="0">
              <a:spAutoFit/>
            </a:bodyPr>
            <a:lstStyle/>
            <a:p>
              <a:r>
                <a:rPr lang="en-IN" sz="2000" dirty="0" smtClean="0">
                  <a:solidFill>
                    <a:srgbClr val="1D3064"/>
                  </a:solidFill>
                </a:rPr>
                <a:t>Waiting for result</a:t>
              </a:r>
              <a:endParaRPr lang="en-IN" sz="2000" dirty="0">
                <a:solidFill>
                  <a:srgbClr val="1D3064"/>
                </a:solidFill>
              </a:endParaRPr>
            </a:p>
          </p:txBody>
        </p:sp>
        <p:sp>
          <p:nvSpPr>
            <p:cNvPr id="13" name="TextBox 12"/>
            <p:cNvSpPr txBox="1"/>
            <p:nvPr/>
          </p:nvSpPr>
          <p:spPr>
            <a:xfrm>
              <a:off x="3252787" y="4057647"/>
              <a:ext cx="1185863" cy="707886"/>
            </a:xfrm>
            <a:prstGeom prst="rect">
              <a:avLst/>
            </a:prstGeom>
            <a:noFill/>
          </p:spPr>
          <p:txBody>
            <a:bodyPr wrap="square" rtlCol="0">
              <a:spAutoFit/>
            </a:bodyPr>
            <a:lstStyle/>
            <a:p>
              <a:r>
                <a:rPr lang="en-IN" sz="2000" dirty="0" smtClean="0">
                  <a:solidFill>
                    <a:srgbClr val="1D3064"/>
                  </a:solidFill>
                </a:rPr>
                <a:t>Request</a:t>
              </a:r>
            </a:p>
            <a:p>
              <a:r>
                <a:rPr lang="en-IN" sz="2000" dirty="0" smtClean="0">
                  <a:solidFill>
                    <a:srgbClr val="1D3064"/>
                  </a:solidFill>
                </a:rPr>
                <a:t>operation</a:t>
              </a:r>
              <a:endParaRPr lang="en-IN" sz="2000" dirty="0">
                <a:solidFill>
                  <a:srgbClr val="1D3064"/>
                </a:solidFill>
              </a:endParaRPr>
            </a:p>
          </p:txBody>
        </p:sp>
        <p:sp>
          <p:nvSpPr>
            <p:cNvPr id="14" name="TextBox 13"/>
            <p:cNvSpPr txBox="1"/>
            <p:nvPr/>
          </p:nvSpPr>
          <p:spPr>
            <a:xfrm>
              <a:off x="5716192" y="5132727"/>
              <a:ext cx="1456137" cy="400110"/>
            </a:xfrm>
            <a:prstGeom prst="rect">
              <a:avLst/>
            </a:prstGeom>
            <a:noFill/>
          </p:spPr>
          <p:txBody>
            <a:bodyPr wrap="square" rtlCol="0">
              <a:spAutoFit/>
            </a:bodyPr>
            <a:lstStyle/>
            <a:p>
              <a:r>
                <a:rPr lang="en-IN" sz="2000" dirty="0" smtClean="0">
                  <a:solidFill>
                    <a:srgbClr val="1D3064"/>
                  </a:solidFill>
                </a:rPr>
                <a:t>Return data</a:t>
              </a:r>
              <a:endParaRPr lang="en-IN" sz="2000" dirty="0">
                <a:solidFill>
                  <a:srgbClr val="1D3064"/>
                </a:solidFill>
              </a:endParaRPr>
            </a:p>
          </p:txBody>
        </p:sp>
        <p:sp>
          <p:nvSpPr>
            <p:cNvPr id="15" name="TextBox 14"/>
            <p:cNvSpPr txBox="1"/>
            <p:nvPr/>
          </p:nvSpPr>
          <p:spPr>
            <a:xfrm>
              <a:off x="6569868" y="4230290"/>
              <a:ext cx="1545432" cy="400110"/>
            </a:xfrm>
            <a:prstGeom prst="rect">
              <a:avLst/>
            </a:prstGeom>
            <a:noFill/>
          </p:spPr>
          <p:txBody>
            <a:bodyPr wrap="square" rtlCol="0">
              <a:spAutoFit/>
            </a:bodyPr>
            <a:lstStyle/>
            <a:p>
              <a:r>
                <a:rPr lang="en-IN" sz="2000" dirty="0" smtClean="0">
                  <a:solidFill>
                    <a:srgbClr val="1D3064"/>
                  </a:solidFill>
                </a:rPr>
                <a:t>Return result</a:t>
              </a:r>
              <a:endParaRPr lang="en-IN" sz="2000" dirty="0">
                <a:solidFill>
                  <a:srgbClr val="1D3064"/>
                </a:solidFill>
              </a:endParaRPr>
            </a:p>
          </p:txBody>
        </p:sp>
        <p:sp>
          <p:nvSpPr>
            <p:cNvPr id="16" name="TextBox 15"/>
            <p:cNvSpPr txBox="1"/>
            <p:nvPr/>
          </p:nvSpPr>
          <p:spPr>
            <a:xfrm>
              <a:off x="3529012" y="5132727"/>
              <a:ext cx="1671638" cy="400110"/>
            </a:xfrm>
            <a:prstGeom prst="rect">
              <a:avLst/>
            </a:prstGeom>
            <a:noFill/>
          </p:spPr>
          <p:txBody>
            <a:bodyPr wrap="square" rtlCol="0">
              <a:spAutoFit/>
            </a:bodyPr>
            <a:lstStyle/>
            <a:p>
              <a:r>
                <a:rPr lang="en-IN" sz="2000" dirty="0" smtClean="0">
                  <a:solidFill>
                    <a:srgbClr val="1D3064"/>
                  </a:solidFill>
                </a:rPr>
                <a:t>Request data</a:t>
              </a:r>
              <a:endParaRPr lang="en-IN" sz="2000" dirty="0">
                <a:solidFill>
                  <a:srgbClr val="1D3064"/>
                </a:solidFill>
              </a:endParaRPr>
            </a:p>
          </p:txBody>
        </p:sp>
        <p:sp>
          <p:nvSpPr>
            <p:cNvPr id="17" name="TextBox 16"/>
            <p:cNvSpPr txBox="1"/>
            <p:nvPr/>
          </p:nvSpPr>
          <p:spPr>
            <a:xfrm>
              <a:off x="6454380" y="5736489"/>
              <a:ext cx="717949" cy="369332"/>
            </a:xfrm>
            <a:prstGeom prst="rect">
              <a:avLst/>
            </a:prstGeom>
            <a:noFill/>
          </p:spPr>
          <p:txBody>
            <a:bodyPr wrap="square" rtlCol="0">
              <a:spAutoFit/>
            </a:bodyPr>
            <a:lstStyle/>
            <a:p>
              <a:r>
                <a:rPr lang="en-IN" dirty="0" smtClean="0"/>
                <a:t>Time</a:t>
              </a:r>
              <a:endParaRPr lang="en-IN" dirty="0"/>
            </a:p>
          </p:txBody>
        </p:sp>
      </p:grpSp>
    </p:spTree>
    <p:extLst>
      <p:ext uri="{BB962C8B-B14F-4D97-AF65-F5344CB8AC3E}">
        <p14:creationId xmlns:p14="http://schemas.microsoft.com/office/powerpoint/2010/main" val="138851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An example of </a:t>
            </a:r>
            <a:r>
              <a:rPr lang="en-US" dirty="0" smtClean="0"/>
              <a:t>a server </a:t>
            </a:r>
            <a:r>
              <a:rPr lang="en-US" dirty="0"/>
              <a:t>acting as client</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smtClean="0"/>
              <a:t>Programs that </a:t>
            </a:r>
            <a:r>
              <a:rPr lang="en-US" dirty="0"/>
              <a:t>form part of the processing level reside on a separate server, but </a:t>
            </a:r>
            <a:r>
              <a:rPr lang="en-US" dirty="0" smtClean="0"/>
              <a:t>may additionally </a:t>
            </a:r>
            <a:r>
              <a:rPr lang="en-US" dirty="0"/>
              <a:t>be </a:t>
            </a:r>
            <a:r>
              <a:rPr lang="en-US" dirty="0" smtClean="0"/>
              <a:t>partly distributed </a:t>
            </a:r>
            <a:r>
              <a:rPr lang="en-US" dirty="0"/>
              <a:t>across the client and server machines</a:t>
            </a:r>
            <a:r>
              <a:rPr lang="en-US" dirty="0" smtClean="0"/>
              <a:t>.</a:t>
            </a:r>
          </a:p>
          <a:p>
            <a:pPr>
              <a:lnSpc>
                <a:spcPct val="100000"/>
              </a:lnSpc>
            </a:pPr>
            <a:r>
              <a:rPr lang="en-US" dirty="0" smtClean="0"/>
              <a:t>Example: Three-tiered </a:t>
            </a:r>
            <a:r>
              <a:rPr lang="en-US" dirty="0"/>
              <a:t>architecture - organization </a:t>
            </a:r>
            <a:r>
              <a:rPr lang="en-US" dirty="0" smtClean="0"/>
              <a:t>of Web </a:t>
            </a:r>
            <a:r>
              <a:rPr lang="en-US" dirty="0"/>
              <a:t>sites.</a:t>
            </a:r>
          </a:p>
          <a:p>
            <a:pPr lvl="2"/>
            <a:r>
              <a:rPr lang="en-US" sz="2400" dirty="0"/>
              <a:t>Web server acts as an entry point to a site, passing requests to an application server where the actual processing takes place.</a:t>
            </a:r>
          </a:p>
          <a:p>
            <a:pPr lvl="2"/>
            <a:r>
              <a:rPr lang="en-US" sz="2400" dirty="0"/>
              <a:t>Application server interacts with a database server</a:t>
            </a:r>
            <a:r>
              <a:rPr lang="en-US" sz="2400" dirty="0" smtClean="0"/>
              <a:t>.</a:t>
            </a:r>
          </a:p>
        </p:txBody>
      </p:sp>
    </p:spTree>
    <p:extLst>
      <p:ext uri="{BB962C8B-B14F-4D97-AF65-F5344CB8AC3E}">
        <p14:creationId xmlns:p14="http://schemas.microsoft.com/office/powerpoint/2010/main" val="236745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Decentralized Architectures</a:t>
            </a:r>
            <a:endParaRPr lang="en-US" dirty="0"/>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a:t>Multi-tiered architectures can be considered as </a:t>
            </a:r>
            <a:r>
              <a:rPr lang="en-US" dirty="0" smtClean="0"/>
              <a:t>vertical distribution</a:t>
            </a:r>
          </a:p>
          <a:p>
            <a:pPr lvl="2"/>
            <a:r>
              <a:rPr lang="en-US" sz="2400" dirty="0"/>
              <a:t>Placing logically different components on different machines</a:t>
            </a:r>
          </a:p>
          <a:p>
            <a:pPr>
              <a:lnSpc>
                <a:spcPct val="100000"/>
              </a:lnSpc>
            </a:pPr>
            <a:r>
              <a:rPr lang="en-US" dirty="0"/>
              <a:t>An alternative is horizontal distribution (</a:t>
            </a:r>
            <a:r>
              <a:rPr lang="en-US" dirty="0" smtClean="0"/>
              <a:t>peer-to-peer systems</a:t>
            </a:r>
            <a:r>
              <a:rPr lang="en-US" dirty="0"/>
              <a:t>)</a:t>
            </a:r>
          </a:p>
          <a:p>
            <a:pPr lvl="2"/>
            <a:r>
              <a:rPr lang="en-US" sz="2400" dirty="0"/>
              <a:t>A collection of logically equivalent parts</a:t>
            </a:r>
          </a:p>
          <a:p>
            <a:pPr lvl="2"/>
            <a:r>
              <a:rPr lang="en-US" sz="2400" dirty="0" smtClean="0"/>
              <a:t>Each </a:t>
            </a:r>
            <a:r>
              <a:rPr lang="en-US" sz="2400" dirty="0"/>
              <a:t>part </a:t>
            </a:r>
            <a:r>
              <a:rPr lang="en-US" sz="2400" dirty="0" smtClean="0"/>
              <a:t>operates </a:t>
            </a:r>
            <a:r>
              <a:rPr lang="en-US" sz="2400" dirty="0"/>
              <a:t>on its own share of the complete </a:t>
            </a:r>
            <a:r>
              <a:rPr lang="en-US" sz="2400" dirty="0" smtClean="0"/>
              <a:t>data set</a:t>
            </a:r>
            <a:r>
              <a:rPr lang="en-US" sz="2400" dirty="0"/>
              <a:t>, balancing the </a:t>
            </a:r>
            <a:r>
              <a:rPr lang="en-US" sz="2400" dirty="0" smtClean="0"/>
              <a:t>load</a:t>
            </a:r>
          </a:p>
          <a:p>
            <a:pPr marL="265113" lvl="2" indent="-265113">
              <a:lnSpc>
                <a:spcPct val="100000"/>
              </a:lnSpc>
              <a:spcBef>
                <a:spcPts val="1000"/>
              </a:spcBef>
              <a:buFont typeface="Webdings" panose="05030102010509060703" pitchFamily="18" charset="2"/>
              <a:buChar char=""/>
            </a:pPr>
            <a:r>
              <a:rPr lang="en-US" sz="2400" dirty="0">
                <a:solidFill>
                  <a:schemeClr val="accent6"/>
                </a:solidFill>
              </a:rPr>
              <a:t>Peer-to-peer architectures </a:t>
            </a:r>
            <a:r>
              <a:rPr lang="en-US" sz="2400" dirty="0"/>
              <a:t>- how to organize the processes in an overlay network in which the nodes are formed by the processes and the links represent the possible communication channels (which are usually realized as TCP connections).</a:t>
            </a:r>
          </a:p>
          <a:p>
            <a:pPr marL="265113" lvl="2" indent="-265113">
              <a:lnSpc>
                <a:spcPct val="100000"/>
              </a:lnSpc>
              <a:spcBef>
                <a:spcPts val="1000"/>
              </a:spcBef>
              <a:buFont typeface="Webdings" panose="05030102010509060703" pitchFamily="18" charset="2"/>
              <a:buChar char=""/>
            </a:pPr>
            <a:r>
              <a:rPr lang="en-US" sz="2400" dirty="0"/>
              <a:t>Decentralized </a:t>
            </a:r>
            <a:r>
              <a:rPr lang="en-US" sz="2400" dirty="0" smtClean="0"/>
              <a:t>Architectures Types</a:t>
            </a:r>
          </a:p>
          <a:p>
            <a:pPr marL="900113" lvl="2" indent="-542925">
              <a:lnSpc>
                <a:spcPct val="100000"/>
              </a:lnSpc>
              <a:spcBef>
                <a:spcPts val="1000"/>
              </a:spcBef>
              <a:buFont typeface="+mj-lt"/>
              <a:buAutoNum type="arabicPeriod"/>
            </a:pPr>
            <a:r>
              <a:rPr lang="en-US" sz="2400" dirty="0">
                <a:solidFill>
                  <a:srgbClr val="1D3064"/>
                </a:solidFill>
              </a:rPr>
              <a:t>Structured </a:t>
            </a:r>
            <a:r>
              <a:rPr lang="en-US" sz="2400" dirty="0" smtClean="0">
                <a:solidFill>
                  <a:srgbClr val="1D3064"/>
                </a:solidFill>
              </a:rPr>
              <a:t>P2P</a:t>
            </a:r>
          </a:p>
          <a:p>
            <a:pPr marL="900113" lvl="2" indent="-542925">
              <a:lnSpc>
                <a:spcPct val="100000"/>
              </a:lnSpc>
              <a:spcBef>
                <a:spcPts val="1000"/>
              </a:spcBef>
              <a:buFont typeface="+mj-lt"/>
              <a:buAutoNum type="arabicPeriod"/>
            </a:pPr>
            <a:r>
              <a:rPr lang="en-US" sz="2400" dirty="0">
                <a:solidFill>
                  <a:srgbClr val="1D3064"/>
                </a:solidFill>
              </a:rPr>
              <a:t>Unstructured </a:t>
            </a:r>
            <a:r>
              <a:rPr lang="en-US" sz="2400" dirty="0" smtClean="0">
                <a:solidFill>
                  <a:srgbClr val="1D3064"/>
                </a:solidFill>
              </a:rPr>
              <a:t>P2P</a:t>
            </a:r>
          </a:p>
          <a:p>
            <a:pPr marL="900113" lvl="2" indent="-542925">
              <a:lnSpc>
                <a:spcPct val="100000"/>
              </a:lnSpc>
              <a:spcBef>
                <a:spcPts val="1000"/>
              </a:spcBef>
              <a:buFont typeface="+mj-lt"/>
              <a:buAutoNum type="arabicPeriod"/>
            </a:pPr>
            <a:r>
              <a:rPr lang="en-US" sz="2400" dirty="0">
                <a:solidFill>
                  <a:srgbClr val="1D3064"/>
                </a:solidFill>
              </a:rPr>
              <a:t>Hybrid P2P</a:t>
            </a:r>
          </a:p>
        </p:txBody>
      </p:sp>
    </p:spTree>
    <p:extLst>
      <p:ext uri="{BB962C8B-B14F-4D97-AF65-F5344CB8AC3E}">
        <p14:creationId xmlns:p14="http://schemas.microsoft.com/office/powerpoint/2010/main" val="4064971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Structured P2P Architectures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a:t>There </a:t>
            </a:r>
            <a:r>
              <a:rPr lang="en-US" dirty="0" smtClean="0"/>
              <a:t>are links </a:t>
            </a:r>
            <a:r>
              <a:rPr lang="en-US" dirty="0"/>
              <a:t>between any two nodes that know each </a:t>
            </a:r>
            <a:r>
              <a:rPr lang="en-US" dirty="0" smtClean="0"/>
              <a:t>other</a:t>
            </a:r>
          </a:p>
          <a:p>
            <a:pPr>
              <a:lnSpc>
                <a:spcPct val="100000"/>
              </a:lnSpc>
            </a:pPr>
            <a:r>
              <a:rPr lang="en-US" dirty="0" smtClean="0">
                <a:solidFill>
                  <a:schemeClr val="accent6"/>
                </a:solidFill>
              </a:rPr>
              <a:t>Structured</a:t>
            </a:r>
            <a:r>
              <a:rPr lang="en-US" dirty="0"/>
              <a:t>: the overlay network </a:t>
            </a:r>
            <a:r>
              <a:rPr lang="en-US" dirty="0" smtClean="0"/>
              <a:t>is constructed </a:t>
            </a:r>
            <a:r>
              <a:rPr lang="en-US" dirty="0"/>
              <a:t>in a deterministic </a:t>
            </a:r>
            <a:r>
              <a:rPr lang="en-US" dirty="0" smtClean="0"/>
              <a:t>procedure</a:t>
            </a:r>
          </a:p>
          <a:p>
            <a:pPr lvl="2"/>
            <a:r>
              <a:rPr lang="en-US" sz="2400" dirty="0"/>
              <a:t>Most popular: distributed hash table (DHT</a:t>
            </a:r>
            <a:r>
              <a:rPr lang="en-US" sz="2400" dirty="0" smtClean="0"/>
              <a:t>)</a:t>
            </a:r>
          </a:p>
          <a:p>
            <a:pPr marL="265113" lvl="2" indent="-265113">
              <a:lnSpc>
                <a:spcPct val="100000"/>
              </a:lnSpc>
              <a:spcBef>
                <a:spcPts val="1000"/>
              </a:spcBef>
              <a:buFont typeface="Webdings" panose="05030102010509060703" pitchFamily="18" charset="2"/>
              <a:buChar char=""/>
            </a:pPr>
            <a:r>
              <a:rPr lang="en-US" sz="2400" dirty="0"/>
              <a:t>DHT-based system</a:t>
            </a:r>
          </a:p>
          <a:p>
            <a:pPr lvl="2"/>
            <a:r>
              <a:rPr lang="en-US" sz="2400" dirty="0" smtClean="0"/>
              <a:t> Data items </a:t>
            </a:r>
            <a:r>
              <a:rPr lang="en-US" sz="2400" dirty="0"/>
              <a:t>are assigned a random key from a large identifier space, such as </a:t>
            </a:r>
            <a:r>
              <a:rPr lang="en-US" sz="2400" dirty="0" smtClean="0"/>
              <a:t>a 128-bit </a:t>
            </a:r>
            <a:r>
              <a:rPr lang="en-US" sz="2400" dirty="0"/>
              <a:t>or 160-bit identifier.</a:t>
            </a:r>
          </a:p>
          <a:p>
            <a:pPr lvl="2"/>
            <a:r>
              <a:rPr lang="en-US" sz="2400" dirty="0"/>
              <a:t>N</a:t>
            </a:r>
            <a:r>
              <a:rPr lang="en-US" sz="2400" dirty="0" smtClean="0"/>
              <a:t>odes </a:t>
            </a:r>
            <a:r>
              <a:rPr lang="en-US" sz="2400" dirty="0"/>
              <a:t>are assigned </a:t>
            </a:r>
            <a:r>
              <a:rPr lang="en-US" sz="2400" dirty="0" smtClean="0"/>
              <a:t>a random </a:t>
            </a:r>
            <a:r>
              <a:rPr lang="en-US" sz="2400" dirty="0"/>
              <a:t>number from the same identifier space</a:t>
            </a:r>
            <a:r>
              <a:rPr lang="en-US" sz="2400" dirty="0" smtClean="0"/>
              <a:t>.</a:t>
            </a:r>
          </a:p>
          <a:p>
            <a:pPr marL="265113" lvl="2" indent="-265113">
              <a:lnSpc>
                <a:spcPct val="100000"/>
              </a:lnSpc>
              <a:spcBef>
                <a:spcPts val="1000"/>
              </a:spcBef>
              <a:buFont typeface="Webdings" panose="05030102010509060703" pitchFamily="18" charset="2"/>
              <a:buChar char=""/>
            </a:pPr>
            <a:r>
              <a:rPr lang="en-US" sz="2400" dirty="0" smtClean="0"/>
              <a:t>Some </a:t>
            </a:r>
            <a:r>
              <a:rPr lang="en-US" sz="2400" dirty="0"/>
              <a:t>well known structured P2P networks are Chord, Pastry, Tapestry, CAN, and Tulip.</a:t>
            </a:r>
          </a:p>
          <a:p>
            <a:pPr lvl="2"/>
            <a:endParaRPr lang="en-US" sz="2400" dirty="0"/>
          </a:p>
        </p:txBody>
      </p:sp>
    </p:spTree>
    <p:extLst>
      <p:ext uri="{BB962C8B-B14F-4D97-AF65-F5344CB8AC3E}">
        <p14:creationId xmlns:p14="http://schemas.microsoft.com/office/powerpoint/2010/main" val="854916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Chord</a:t>
            </a:r>
          </a:p>
        </p:txBody>
      </p:sp>
      <p:sp>
        <p:nvSpPr>
          <p:cNvPr id="6" name="Content Placeholder 2">
            <a:extLst>
              <a:ext uri="{FF2B5EF4-FFF2-40B4-BE49-F238E27FC236}">
                <a16:creationId xmlns="" xmlns:a16="http://schemas.microsoft.com/office/drawing/2014/main" id="{139A428D-8F15-4206-B337-FA27C005FA71}"/>
              </a:ext>
            </a:extLst>
          </p:cNvPr>
          <p:cNvSpPr txBox="1">
            <a:spLocks/>
          </p:cNvSpPr>
          <p:nvPr/>
        </p:nvSpPr>
        <p:spPr>
          <a:xfrm>
            <a:off x="131180" y="863445"/>
            <a:ext cx="6121452" cy="413718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Each node in the network knows the location of some fraction of other nodes. </a:t>
            </a:r>
          </a:p>
          <a:p>
            <a:pPr lvl="1">
              <a:buFont typeface="Wingdings" panose="05000000000000000000" pitchFamily="2" charset="2"/>
              <a:buChar char="§"/>
            </a:pPr>
            <a:r>
              <a:rPr lang="en-US" altLang="en-US" sz="2400" dirty="0"/>
              <a:t>If the desired key is stored at one of these nodes, ask for it directly</a:t>
            </a:r>
          </a:p>
          <a:p>
            <a:pPr lvl="1">
              <a:buFont typeface="Wingdings" panose="05000000000000000000" pitchFamily="2" charset="2"/>
              <a:buChar char="§"/>
            </a:pPr>
            <a:r>
              <a:rPr lang="en-US" altLang="en-US" sz="2400" dirty="0"/>
              <a:t>Otherwise, ask one of the nodes you know to look in </a:t>
            </a:r>
            <a:r>
              <a:rPr lang="en-US" altLang="en-US" sz="2400" i="1" dirty="0"/>
              <a:t>its</a:t>
            </a:r>
            <a:r>
              <a:rPr lang="en-US" altLang="en-US" sz="2400" dirty="0"/>
              <a:t> set of known nodes.</a:t>
            </a:r>
          </a:p>
          <a:p>
            <a:pPr lvl="1">
              <a:buFont typeface="Wingdings" panose="05000000000000000000" pitchFamily="2" charset="2"/>
              <a:buChar char="§"/>
            </a:pPr>
            <a:r>
              <a:rPr lang="en-US" altLang="en-US" sz="2400" dirty="0"/>
              <a:t>The request will propagate through the overlay network until the desired key is located </a:t>
            </a:r>
          </a:p>
          <a:p>
            <a:pPr lvl="1">
              <a:buFont typeface="Wingdings" panose="05000000000000000000" pitchFamily="2" charset="2"/>
              <a:buChar char="§"/>
            </a:pPr>
            <a:r>
              <a:rPr lang="en-US" altLang="en-US" sz="2400" dirty="0"/>
              <a:t>Lookup time is </a:t>
            </a:r>
            <a:r>
              <a:rPr lang="en-US" altLang="en-US" sz="2400" i="1" dirty="0"/>
              <a:t>O(log(N</a:t>
            </a:r>
            <a:r>
              <a:rPr lang="en-US" altLang="en-US" sz="2400" i="1" dirty="0" smtClean="0"/>
              <a:t>))</a:t>
            </a:r>
            <a:endParaRPr lang="en-US" altLang="en-US" sz="2400" i="1" dirty="0"/>
          </a:p>
        </p:txBody>
      </p:sp>
      <p:grpSp>
        <p:nvGrpSpPr>
          <p:cNvPr id="7" name="Group 6"/>
          <p:cNvGrpSpPr/>
          <p:nvPr/>
        </p:nvGrpSpPr>
        <p:grpSpPr>
          <a:xfrm>
            <a:off x="5917621" y="923692"/>
            <a:ext cx="6096000" cy="5308170"/>
            <a:chOff x="445505" y="986114"/>
            <a:chExt cx="6096000" cy="5308170"/>
          </a:xfrm>
        </p:grpSpPr>
        <p:graphicFrame>
          <p:nvGraphicFramePr>
            <p:cNvPr id="8" name="Diagram 7">
              <a:extLst>
                <a:ext uri="{FF2B5EF4-FFF2-40B4-BE49-F238E27FC236}">
                  <a16:creationId xmlns:a16="http://schemas.microsoft.com/office/drawing/2014/main" xmlns="" id="{7921FF48-71E6-4F78-B332-19BE90A7E76D}"/>
                </a:ext>
              </a:extLst>
            </p:cNvPr>
            <p:cNvGraphicFramePr/>
            <p:nvPr>
              <p:extLst>
                <p:ext uri="{D42A27DB-BD31-4B8C-83A1-F6EECF244321}">
                  <p14:modId xmlns:p14="http://schemas.microsoft.com/office/powerpoint/2010/main" val="1812812436"/>
                </p:ext>
              </p:extLst>
            </p:nvPr>
          </p:nvGraphicFramePr>
          <p:xfrm>
            <a:off x="445505" y="1243012"/>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ounded Rectangle 8">
              <a:extLst>
                <a:ext uri="{FF2B5EF4-FFF2-40B4-BE49-F238E27FC236}">
                  <a16:creationId xmlns:a16="http://schemas.microsoft.com/office/drawing/2014/main" xmlns="" id="{027597EE-CE73-4AFB-8E16-B955B2E02B86}"/>
                </a:ext>
              </a:extLst>
            </p:cNvPr>
            <p:cNvSpPr/>
            <p:nvPr/>
          </p:nvSpPr>
          <p:spPr bwMode="auto">
            <a:xfrm>
              <a:off x="2163953" y="5412828"/>
              <a:ext cx="495114" cy="348743"/>
            </a:xfrm>
            <a:prstGeom prst="roundRect">
              <a:avLst/>
            </a:prstGeom>
            <a:solidFill>
              <a:srgbClr val="1D3064"/>
            </a:solidFill>
            <a:ln>
              <a:noFill/>
            </a:ln>
          </p:spPr>
          <p:style>
            <a:lnRef idx="2">
              <a:schemeClr val="accent4">
                <a:shade val="50000"/>
              </a:schemeClr>
            </a:lnRef>
            <a:fillRef idx="1">
              <a:schemeClr val="accent4"/>
            </a:fillRef>
            <a:effectRef idx="0">
              <a:schemeClr val="accent4"/>
            </a:effectRef>
            <a:fontRef idx="minor">
              <a:schemeClr val="lt1"/>
            </a:fontRef>
          </p:style>
          <p:txBody>
            <a:bodyPr/>
            <a:lstStyle/>
            <a:p>
              <a:pPr algn="ctr"/>
              <a:r>
                <a:rPr lang="en-IN" dirty="0" smtClean="0"/>
                <a:t>n</a:t>
              </a:r>
              <a:endParaRPr lang="en-IN" dirty="0"/>
            </a:p>
          </p:txBody>
        </p:sp>
        <p:sp>
          <p:nvSpPr>
            <p:cNvPr id="10" name="TextBox 9">
              <a:extLst>
                <a:ext uri="{FF2B5EF4-FFF2-40B4-BE49-F238E27FC236}">
                  <a16:creationId xmlns:a16="http://schemas.microsoft.com/office/drawing/2014/main" xmlns="" id="{6BE958D2-1100-417F-B968-CA2D19C87B77}"/>
                </a:ext>
              </a:extLst>
            </p:cNvPr>
            <p:cNvSpPr txBox="1">
              <a:spLocks noChangeArrowheads="1"/>
            </p:cNvSpPr>
            <p:nvPr/>
          </p:nvSpPr>
          <p:spPr bwMode="auto">
            <a:xfrm>
              <a:off x="2667002" y="5412828"/>
              <a:ext cx="237389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Blip>
                  <a:blip r:embed="rId7"/>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7"/>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7"/>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7"/>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7"/>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dirty="0">
                  <a:solidFill>
                    <a:schemeClr val="tx1"/>
                  </a:solidFill>
                </a:rPr>
                <a:t>= Active node with id=n</a:t>
              </a:r>
            </a:p>
          </p:txBody>
        </p:sp>
        <p:sp>
          <p:nvSpPr>
            <p:cNvPr id="11" name="TextBox 10">
              <a:extLst>
                <a:ext uri="{FF2B5EF4-FFF2-40B4-BE49-F238E27FC236}">
                  <a16:creationId xmlns:a16="http://schemas.microsoft.com/office/drawing/2014/main" xmlns="" id="{7577CD9E-B627-4A9B-AA77-60CB44A858ED}"/>
                </a:ext>
              </a:extLst>
            </p:cNvPr>
            <p:cNvSpPr txBox="1">
              <a:spLocks noChangeArrowheads="1"/>
            </p:cNvSpPr>
            <p:nvPr/>
          </p:nvSpPr>
          <p:spPr bwMode="auto">
            <a:xfrm>
              <a:off x="2634823" y="5929158"/>
              <a:ext cx="3050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Blip>
                  <a:blip r:embed="rId7"/>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7"/>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7"/>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7"/>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7"/>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dirty="0">
                  <a:solidFill>
                    <a:schemeClr val="tx1"/>
                  </a:solidFill>
                </a:rPr>
                <a:t>= No node assigned to key p</a:t>
              </a:r>
            </a:p>
          </p:txBody>
        </p:sp>
        <p:sp>
          <p:nvSpPr>
            <p:cNvPr id="12" name="TextBox 11"/>
            <p:cNvSpPr txBox="1"/>
            <p:nvPr/>
          </p:nvSpPr>
          <p:spPr>
            <a:xfrm>
              <a:off x="4702387" y="986114"/>
              <a:ext cx="1417055" cy="369332"/>
            </a:xfrm>
            <a:prstGeom prst="rect">
              <a:avLst/>
            </a:prstGeom>
            <a:noFill/>
          </p:spPr>
          <p:txBody>
            <a:bodyPr wrap="square" rtlCol="0">
              <a:spAutoFit/>
            </a:bodyPr>
            <a:lstStyle/>
            <a:p>
              <a:r>
                <a:rPr lang="en-IN" dirty="0" smtClean="0"/>
                <a:t>Actual node</a:t>
              </a:r>
              <a:endParaRPr lang="en-IN" dirty="0"/>
            </a:p>
          </p:txBody>
        </p:sp>
        <p:sp>
          <p:nvSpPr>
            <p:cNvPr id="13" name="TextBox 12"/>
            <p:cNvSpPr txBox="1"/>
            <p:nvPr/>
          </p:nvSpPr>
          <p:spPr>
            <a:xfrm>
              <a:off x="3726872" y="1676237"/>
              <a:ext cx="728662" cy="369332"/>
            </a:xfrm>
            <a:prstGeom prst="rect">
              <a:avLst/>
            </a:prstGeom>
            <a:noFill/>
          </p:spPr>
          <p:txBody>
            <a:bodyPr wrap="square" rtlCol="0">
              <a:spAutoFit/>
            </a:bodyPr>
            <a:lstStyle/>
            <a:p>
              <a:r>
                <a:rPr lang="en-IN" b="1" dirty="0" smtClean="0">
                  <a:solidFill>
                    <a:schemeClr val="accent6"/>
                  </a:solidFill>
                </a:rPr>
                <a:t>{0, 1}</a:t>
              </a:r>
              <a:endParaRPr lang="en-IN" b="1" dirty="0">
                <a:solidFill>
                  <a:schemeClr val="accent6"/>
                </a:solidFill>
              </a:endParaRPr>
            </a:p>
          </p:txBody>
        </p:sp>
        <p:sp>
          <p:nvSpPr>
            <p:cNvPr id="14" name="TextBox 13"/>
            <p:cNvSpPr txBox="1"/>
            <p:nvPr/>
          </p:nvSpPr>
          <p:spPr>
            <a:xfrm>
              <a:off x="2436692" y="1661436"/>
              <a:ext cx="1263148" cy="369332"/>
            </a:xfrm>
            <a:prstGeom prst="rect">
              <a:avLst/>
            </a:prstGeom>
            <a:noFill/>
          </p:spPr>
          <p:txBody>
            <a:bodyPr wrap="square" rtlCol="0">
              <a:spAutoFit/>
            </a:bodyPr>
            <a:lstStyle/>
            <a:p>
              <a:r>
                <a:rPr lang="en-IN" b="1" dirty="0" smtClean="0">
                  <a:solidFill>
                    <a:schemeClr val="accent6"/>
                  </a:solidFill>
                </a:rPr>
                <a:t>{13, 14, 15}</a:t>
              </a:r>
              <a:endParaRPr lang="en-IN" b="1" dirty="0">
                <a:solidFill>
                  <a:schemeClr val="accent6"/>
                </a:solidFill>
              </a:endParaRPr>
            </a:p>
          </p:txBody>
        </p:sp>
        <p:sp>
          <p:nvSpPr>
            <p:cNvPr id="15" name="TextBox 14"/>
            <p:cNvSpPr txBox="1"/>
            <p:nvPr/>
          </p:nvSpPr>
          <p:spPr>
            <a:xfrm>
              <a:off x="1849356" y="3057625"/>
              <a:ext cx="1748924" cy="369332"/>
            </a:xfrm>
            <a:prstGeom prst="rect">
              <a:avLst/>
            </a:prstGeom>
            <a:noFill/>
          </p:spPr>
          <p:txBody>
            <a:bodyPr wrap="square" rtlCol="0">
              <a:spAutoFit/>
            </a:bodyPr>
            <a:lstStyle/>
            <a:p>
              <a:r>
                <a:rPr lang="en-IN" b="1" dirty="0" smtClean="0">
                  <a:solidFill>
                    <a:schemeClr val="accent6"/>
                  </a:solidFill>
                </a:rPr>
                <a:t>{8, 9, 10, 11, 12}</a:t>
              </a:r>
              <a:endParaRPr lang="en-IN" b="1" dirty="0">
                <a:solidFill>
                  <a:schemeClr val="accent6"/>
                </a:solidFill>
              </a:endParaRPr>
            </a:p>
          </p:txBody>
        </p:sp>
        <p:sp>
          <p:nvSpPr>
            <p:cNvPr id="16" name="TextBox 15"/>
            <p:cNvSpPr txBox="1"/>
            <p:nvPr/>
          </p:nvSpPr>
          <p:spPr>
            <a:xfrm>
              <a:off x="3253882" y="4385231"/>
              <a:ext cx="957306" cy="369332"/>
            </a:xfrm>
            <a:prstGeom prst="rect">
              <a:avLst/>
            </a:prstGeom>
            <a:noFill/>
          </p:spPr>
          <p:txBody>
            <a:bodyPr wrap="square" rtlCol="0">
              <a:spAutoFit/>
            </a:bodyPr>
            <a:lstStyle/>
            <a:p>
              <a:r>
                <a:rPr lang="en-IN" b="1" dirty="0" smtClean="0">
                  <a:solidFill>
                    <a:schemeClr val="accent6"/>
                  </a:solidFill>
                </a:rPr>
                <a:t>{5, 6, 7}</a:t>
              </a:r>
              <a:endParaRPr lang="en-IN" b="1" dirty="0">
                <a:solidFill>
                  <a:schemeClr val="accent6"/>
                </a:solidFill>
              </a:endParaRPr>
            </a:p>
          </p:txBody>
        </p:sp>
        <p:sp>
          <p:nvSpPr>
            <p:cNvPr id="17" name="TextBox 16"/>
            <p:cNvSpPr txBox="1"/>
            <p:nvPr/>
          </p:nvSpPr>
          <p:spPr>
            <a:xfrm>
              <a:off x="4215104" y="3094375"/>
              <a:ext cx="898736" cy="369332"/>
            </a:xfrm>
            <a:prstGeom prst="rect">
              <a:avLst/>
            </a:prstGeom>
            <a:noFill/>
          </p:spPr>
          <p:txBody>
            <a:bodyPr wrap="square" rtlCol="0">
              <a:spAutoFit/>
            </a:bodyPr>
            <a:lstStyle/>
            <a:p>
              <a:r>
                <a:rPr lang="en-IN" b="1" dirty="0" smtClean="0">
                  <a:solidFill>
                    <a:schemeClr val="accent6"/>
                  </a:solidFill>
                </a:rPr>
                <a:t>{2, 3, 4}</a:t>
              </a:r>
              <a:endParaRPr lang="en-IN" b="1" dirty="0">
                <a:solidFill>
                  <a:schemeClr val="accent6"/>
                </a:solidFill>
              </a:endParaRPr>
            </a:p>
          </p:txBody>
        </p:sp>
        <p:sp>
          <p:nvSpPr>
            <p:cNvPr id="18" name="TextBox 17"/>
            <p:cNvSpPr txBox="1"/>
            <p:nvPr/>
          </p:nvSpPr>
          <p:spPr>
            <a:xfrm>
              <a:off x="2937926" y="3567593"/>
              <a:ext cx="1222285" cy="646331"/>
            </a:xfrm>
            <a:prstGeom prst="rect">
              <a:avLst/>
            </a:prstGeom>
            <a:noFill/>
          </p:spPr>
          <p:txBody>
            <a:bodyPr wrap="square" rtlCol="0">
              <a:spAutoFit/>
            </a:bodyPr>
            <a:lstStyle/>
            <a:p>
              <a:r>
                <a:rPr lang="en-IN" dirty="0" smtClean="0"/>
                <a:t>Associated data keys</a:t>
              </a:r>
              <a:endParaRPr lang="en-IN" dirty="0"/>
            </a:p>
          </p:txBody>
        </p:sp>
        <p:cxnSp>
          <p:nvCxnSpPr>
            <p:cNvPr id="19" name="Straight Connector 18"/>
            <p:cNvCxnSpPr>
              <a:stCxn id="12" idx="1"/>
            </p:cNvCxnSpPr>
            <p:nvPr/>
          </p:nvCxnSpPr>
          <p:spPr>
            <a:xfrm flipH="1">
              <a:off x="4384094" y="1170780"/>
              <a:ext cx="318293" cy="1846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599712" y="3369442"/>
              <a:ext cx="338214" cy="3144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xmlns="" id="{027597EE-CE73-4AFB-8E16-B955B2E02B86}"/>
                </a:ext>
              </a:extLst>
            </p:cNvPr>
            <p:cNvSpPr/>
            <p:nvPr/>
          </p:nvSpPr>
          <p:spPr bwMode="auto">
            <a:xfrm>
              <a:off x="2161424" y="5945541"/>
              <a:ext cx="495114" cy="348743"/>
            </a:xfrm>
            <a:prstGeom prst="roundRect">
              <a:avLst/>
            </a:prstGeom>
            <a:no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a:lstStyle/>
            <a:p>
              <a:pPr algn="ctr"/>
              <a:r>
                <a:rPr lang="en-IN" b="1" dirty="0" smtClean="0">
                  <a:solidFill>
                    <a:schemeClr val="tx1"/>
                  </a:solidFill>
                </a:rPr>
                <a:t>p</a:t>
              </a:r>
              <a:endParaRPr lang="en-IN" b="1" dirty="0">
                <a:solidFill>
                  <a:schemeClr val="tx1"/>
                </a:solidFill>
              </a:endParaRPr>
            </a:p>
          </p:txBody>
        </p:sp>
      </p:grpSp>
    </p:spTree>
    <p:extLst>
      <p:ext uri="{BB962C8B-B14F-4D97-AF65-F5344CB8AC3E}">
        <p14:creationId xmlns:p14="http://schemas.microsoft.com/office/powerpoint/2010/main" val="410837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Chord</a:t>
            </a:r>
          </a:p>
        </p:txBody>
      </p:sp>
      <p:sp>
        <p:nvSpPr>
          <p:cNvPr id="6" name="Content Placeholder 2">
            <a:extLst>
              <a:ext uri="{FF2B5EF4-FFF2-40B4-BE49-F238E27FC236}">
                <a16:creationId xmlns="" xmlns:a16="http://schemas.microsoft.com/office/drawing/2014/main" id="{139A428D-8F15-4206-B337-FA27C005FA71}"/>
              </a:ext>
            </a:extLst>
          </p:cNvPr>
          <p:cNvSpPr txBox="1">
            <a:spLocks/>
          </p:cNvSpPr>
          <p:nvPr/>
        </p:nvSpPr>
        <p:spPr>
          <a:xfrm>
            <a:off x="131179" y="863444"/>
            <a:ext cx="6178145" cy="498014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b="1" dirty="0">
                <a:solidFill>
                  <a:srgbClr val="1D3064"/>
                </a:solidFill>
              </a:rPr>
              <a:t>Join</a:t>
            </a:r>
          </a:p>
          <a:p>
            <a:pPr lvl="1">
              <a:buFont typeface="Wingdings" panose="05000000000000000000" pitchFamily="2" charset="2"/>
              <a:buChar char="§"/>
            </a:pPr>
            <a:r>
              <a:rPr lang="en-US" altLang="en-US" sz="2400" dirty="0">
                <a:latin typeface="+mj-lt"/>
              </a:rPr>
              <a:t>Generate the node’s random identifier, id, using the distributed hash function</a:t>
            </a:r>
          </a:p>
          <a:p>
            <a:pPr lvl="1">
              <a:buFont typeface="Wingdings" panose="05000000000000000000" pitchFamily="2" charset="2"/>
              <a:buChar char="§"/>
            </a:pPr>
            <a:r>
              <a:rPr lang="en-US" altLang="en-US" sz="2400" dirty="0">
                <a:latin typeface="+mj-lt"/>
              </a:rPr>
              <a:t>Use the lookup function to locate </a:t>
            </a:r>
            <a:r>
              <a:rPr lang="en-US" altLang="en-US" sz="2400" i="1" dirty="0" err="1">
                <a:latin typeface="+mj-lt"/>
              </a:rPr>
              <a:t>succ</a:t>
            </a:r>
            <a:r>
              <a:rPr lang="en-US" altLang="en-US" sz="2400" i="1" dirty="0">
                <a:latin typeface="+mj-lt"/>
              </a:rPr>
              <a:t>(id)</a:t>
            </a:r>
          </a:p>
          <a:p>
            <a:pPr lvl="1">
              <a:buFont typeface="Wingdings" panose="05000000000000000000" pitchFamily="2" charset="2"/>
              <a:buChar char="§"/>
            </a:pPr>
            <a:r>
              <a:rPr lang="en-US" altLang="en-US" sz="2400" dirty="0">
                <a:latin typeface="+mj-lt"/>
              </a:rPr>
              <a:t>Contact </a:t>
            </a:r>
            <a:r>
              <a:rPr lang="en-US" altLang="en-US" sz="2400" i="1" dirty="0" err="1">
                <a:latin typeface="+mj-lt"/>
              </a:rPr>
              <a:t>succ</a:t>
            </a:r>
            <a:r>
              <a:rPr lang="en-US" altLang="en-US" sz="2400" i="1" dirty="0">
                <a:latin typeface="+mj-lt"/>
              </a:rPr>
              <a:t>(id)</a:t>
            </a:r>
            <a:r>
              <a:rPr lang="en-US" altLang="en-US" sz="2400" dirty="0">
                <a:latin typeface="+mj-lt"/>
              </a:rPr>
              <a:t> and its predecessor to insert self into ring.</a:t>
            </a:r>
          </a:p>
          <a:p>
            <a:pPr lvl="1">
              <a:buFont typeface="Wingdings" panose="05000000000000000000" pitchFamily="2" charset="2"/>
              <a:buChar char="§"/>
            </a:pPr>
            <a:r>
              <a:rPr lang="en-US" altLang="en-US" sz="2400" dirty="0">
                <a:latin typeface="+mj-lt"/>
              </a:rPr>
              <a:t>Assume data items from </a:t>
            </a:r>
            <a:r>
              <a:rPr lang="en-US" altLang="en-US" sz="2400" i="1" dirty="0" err="1">
                <a:latin typeface="+mj-lt"/>
              </a:rPr>
              <a:t>succ</a:t>
            </a:r>
            <a:r>
              <a:rPr lang="en-US" altLang="en-US" sz="2400" i="1" dirty="0">
                <a:latin typeface="+mj-lt"/>
              </a:rPr>
              <a:t>(id)</a:t>
            </a:r>
          </a:p>
          <a:p>
            <a:r>
              <a:rPr lang="en-US" altLang="en-US" b="1" dirty="0">
                <a:solidFill>
                  <a:srgbClr val="1D3064"/>
                </a:solidFill>
              </a:rPr>
              <a:t>Leave (normally)</a:t>
            </a:r>
          </a:p>
          <a:p>
            <a:pPr lvl="1">
              <a:buFont typeface="Wingdings" panose="05000000000000000000" pitchFamily="2" charset="2"/>
              <a:buChar char="§"/>
            </a:pPr>
            <a:r>
              <a:rPr lang="en-US" altLang="en-US" sz="2400" dirty="0">
                <a:latin typeface="+mj-lt"/>
              </a:rPr>
              <a:t>Notify predecessor &amp; successor; </a:t>
            </a:r>
          </a:p>
          <a:p>
            <a:pPr lvl="1">
              <a:buFont typeface="Wingdings" panose="05000000000000000000" pitchFamily="2" charset="2"/>
              <a:buChar char="§"/>
            </a:pPr>
            <a:r>
              <a:rPr lang="en-US" altLang="en-US" sz="2400" dirty="0">
                <a:latin typeface="+mj-lt"/>
              </a:rPr>
              <a:t>Shift data to </a:t>
            </a:r>
            <a:r>
              <a:rPr lang="en-US" altLang="en-US" sz="2400" i="1" dirty="0" err="1">
                <a:latin typeface="+mj-lt"/>
              </a:rPr>
              <a:t>succ</a:t>
            </a:r>
            <a:r>
              <a:rPr lang="en-US" altLang="en-US" sz="2400" i="1" dirty="0">
                <a:latin typeface="+mj-lt"/>
              </a:rPr>
              <a:t>(id)</a:t>
            </a:r>
          </a:p>
          <a:p>
            <a:r>
              <a:rPr lang="en-US" altLang="en-US" b="1" dirty="0">
                <a:solidFill>
                  <a:srgbClr val="1D3064"/>
                </a:solidFill>
              </a:rPr>
              <a:t>Leave (due to failure)</a:t>
            </a:r>
          </a:p>
          <a:p>
            <a:pPr lvl="1">
              <a:buFont typeface="Wingdings" panose="05000000000000000000" pitchFamily="2" charset="2"/>
              <a:buChar char="§"/>
            </a:pPr>
            <a:r>
              <a:rPr lang="en-US" altLang="en-US" sz="2400" dirty="0"/>
              <a:t>Periodically, nodes can run “self-healing” algorithms</a:t>
            </a:r>
          </a:p>
        </p:txBody>
      </p:sp>
      <p:grpSp>
        <p:nvGrpSpPr>
          <p:cNvPr id="5" name="Group 4"/>
          <p:cNvGrpSpPr/>
          <p:nvPr/>
        </p:nvGrpSpPr>
        <p:grpSpPr>
          <a:xfrm>
            <a:off x="5889045" y="923692"/>
            <a:ext cx="6096000" cy="5308170"/>
            <a:chOff x="445505" y="986114"/>
            <a:chExt cx="6096000" cy="5308170"/>
          </a:xfrm>
        </p:grpSpPr>
        <p:graphicFrame>
          <p:nvGraphicFramePr>
            <p:cNvPr id="8" name="Diagram 7">
              <a:extLst>
                <a:ext uri="{FF2B5EF4-FFF2-40B4-BE49-F238E27FC236}">
                  <a16:creationId xmlns:a16="http://schemas.microsoft.com/office/drawing/2014/main" xmlns="" id="{7921FF48-71E6-4F78-B332-19BE90A7E76D}"/>
                </a:ext>
              </a:extLst>
            </p:cNvPr>
            <p:cNvGraphicFramePr/>
            <p:nvPr>
              <p:extLst>
                <p:ext uri="{D42A27DB-BD31-4B8C-83A1-F6EECF244321}">
                  <p14:modId xmlns:p14="http://schemas.microsoft.com/office/powerpoint/2010/main" val="4041304083"/>
                </p:ext>
              </p:extLst>
            </p:nvPr>
          </p:nvGraphicFramePr>
          <p:xfrm>
            <a:off x="445505" y="1243012"/>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ounded Rectangle 8">
              <a:extLst>
                <a:ext uri="{FF2B5EF4-FFF2-40B4-BE49-F238E27FC236}">
                  <a16:creationId xmlns:a16="http://schemas.microsoft.com/office/drawing/2014/main" xmlns="" id="{027597EE-CE73-4AFB-8E16-B955B2E02B86}"/>
                </a:ext>
              </a:extLst>
            </p:cNvPr>
            <p:cNvSpPr/>
            <p:nvPr/>
          </p:nvSpPr>
          <p:spPr bwMode="auto">
            <a:xfrm>
              <a:off x="2163953" y="5412828"/>
              <a:ext cx="495114" cy="348743"/>
            </a:xfrm>
            <a:prstGeom prst="roundRect">
              <a:avLst/>
            </a:prstGeom>
            <a:solidFill>
              <a:srgbClr val="1D3064"/>
            </a:solidFill>
            <a:ln>
              <a:noFill/>
            </a:ln>
          </p:spPr>
          <p:style>
            <a:lnRef idx="2">
              <a:schemeClr val="accent4">
                <a:shade val="50000"/>
              </a:schemeClr>
            </a:lnRef>
            <a:fillRef idx="1">
              <a:schemeClr val="accent4"/>
            </a:fillRef>
            <a:effectRef idx="0">
              <a:schemeClr val="accent4"/>
            </a:effectRef>
            <a:fontRef idx="minor">
              <a:schemeClr val="lt1"/>
            </a:fontRef>
          </p:style>
          <p:txBody>
            <a:bodyPr/>
            <a:lstStyle/>
            <a:p>
              <a:pPr algn="ctr"/>
              <a:r>
                <a:rPr lang="en-IN" dirty="0" smtClean="0"/>
                <a:t>n</a:t>
              </a:r>
              <a:endParaRPr lang="en-IN" dirty="0"/>
            </a:p>
          </p:txBody>
        </p:sp>
        <p:sp>
          <p:nvSpPr>
            <p:cNvPr id="10" name="TextBox 9">
              <a:extLst>
                <a:ext uri="{FF2B5EF4-FFF2-40B4-BE49-F238E27FC236}">
                  <a16:creationId xmlns:a16="http://schemas.microsoft.com/office/drawing/2014/main" xmlns="" id="{6BE958D2-1100-417F-B968-CA2D19C87B77}"/>
                </a:ext>
              </a:extLst>
            </p:cNvPr>
            <p:cNvSpPr txBox="1">
              <a:spLocks noChangeArrowheads="1"/>
            </p:cNvSpPr>
            <p:nvPr/>
          </p:nvSpPr>
          <p:spPr bwMode="auto">
            <a:xfrm>
              <a:off x="2667002" y="5412828"/>
              <a:ext cx="237389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Blip>
                  <a:blip r:embed="rId7"/>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7"/>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7"/>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7"/>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7"/>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dirty="0">
                  <a:solidFill>
                    <a:schemeClr val="tx1"/>
                  </a:solidFill>
                </a:rPr>
                <a:t>= Active node with id=n</a:t>
              </a:r>
            </a:p>
          </p:txBody>
        </p:sp>
        <p:sp>
          <p:nvSpPr>
            <p:cNvPr id="11" name="TextBox 10">
              <a:extLst>
                <a:ext uri="{FF2B5EF4-FFF2-40B4-BE49-F238E27FC236}">
                  <a16:creationId xmlns:a16="http://schemas.microsoft.com/office/drawing/2014/main" xmlns="" id="{7577CD9E-B627-4A9B-AA77-60CB44A858ED}"/>
                </a:ext>
              </a:extLst>
            </p:cNvPr>
            <p:cNvSpPr txBox="1">
              <a:spLocks noChangeArrowheads="1"/>
            </p:cNvSpPr>
            <p:nvPr/>
          </p:nvSpPr>
          <p:spPr bwMode="auto">
            <a:xfrm>
              <a:off x="2634823" y="5929158"/>
              <a:ext cx="3050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spcBef>
                  <a:spcPct val="20000"/>
                </a:spcBef>
                <a:buBlip>
                  <a:blip r:embed="rId7"/>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7"/>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7"/>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7"/>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7"/>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7"/>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dirty="0">
                  <a:solidFill>
                    <a:schemeClr val="tx1"/>
                  </a:solidFill>
                </a:rPr>
                <a:t>= No node assigned to key p</a:t>
              </a:r>
            </a:p>
          </p:txBody>
        </p:sp>
        <p:sp>
          <p:nvSpPr>
            <p:cNvPr id="12" name="TextBox 11"/>
            <p:cNvSpPr txBox="1"/>
            <p:nvPr/>
          </p:nvSpPr>
          <p:spPr>
            <a:xfrm>
              <a:off x="4702387" y="986114"/>
              <a:ext cx="1417055" cy="369332"/>
            </a:xfrm>
            <a:prstGeom prst="rect">
              <a:avLst/>
            </a:prstGeom>
            <a:noFill/>
          </p:spPr>
          <p:txBody>
            <a:bodyPr wrap="square" rtlCol="0">
              <a:spAutoFit/>
            </a:bodyPr>
            <a:lstStyle/>
            <a:p>
              <a:r>
                <a:rPr lang="en-IN" dirty="0" smtClean="0"/>
                <a:t>Actual node</a:t>
              </a:r>
              <a:endParaRPr lang="en-IN" dirty="0"/>
            </a:p>
          </p:txBody>
        </p:sp>
        <p:sp>
          <p:nvSpPr>
            <p:cNvPr id="13" name="TextBox 12"/>
            <p:cNvSpPr txBox="1"/>
            <p:nvPr/>
          </p:nvSpPr>
          <p:spPr>
            <a:xfrm>
              <a:off x="3769736" y="1647661"/>
              <a:ext cx="728662" cy="369332"/>
            </a:xfrm>
            <a:prstGeom prst="rect">
              <a:avLst/>
            </a:prstGeom>
            <a:noFill/>
          </p:spPr>
          <p:txBody>
            <a:bodyPr wrap="square" rtlCol="0">
              <a:spAutoFit/>
            </a:bodyPr>
            <a:lstStyle/>
            <a:p>
              <a:r>
                <a:rPr lang="en-IN" b="1" dirty="0" smtClean="0">
                  <a:solidFill>
                    <a:schemeClr val="accent6"/>
                  </a:solidFill>
                </a:rPr>
                <a:t>{0, 1}</a:t>
              </a:r>
              <a:endParaRPr lang="en-IN" b="1" dirty="0">
                <a:solidFill>
                  <a:schemeClr val="accent6"/>
                </a:solidFill>
              </a:endParaRPr>
            </a:p>
          </p:txBody>
        </p:sp>
        <p:sp>
          <p:nvSpPr>
            <p:cNvPr id="14" name="TextBox 13"/>
            <p:cNvSpPr txBox="1"/>
            <p:nvPr/>
          </p:nvSpPr>
          <p:spPr>
            <a:xfrm>
              <a:off x="2436692" y="1661436"/>
              <a:ext cx="1263148" cy="369332"/>
            </a:xfrm>
            <a:prstGeom prst="rect">
              <a:avLst/>
            </a:prstGeom>
            <a:noFill/>
          </p:spPr>
          <p:txBody>
            <a:bodyPr wrap="square" rtlCol="0">
              <a:spAutoFit/>
            </a:bodyPr>
            <a:lstStyle/>
            <a:p>
              <a:r>
                <a:rPr lang="en-IN" b="1" dirty="0" smtClean="0">
                  <a:solidFill>
                    <a:schemeClr val="accent6"/>
                  </a:solidFill>
                </a:rPr>
                <a:t>{13, 14, 15}</a:t>
              </a:r>
              <a:endParaRPr lang="en-IN" b="1" dirty="0">
                <a:solidFill>
                  <a:schemeClr val="accent6"/>
                </a:solidFill>
              </a:endParaRPr>
            </a:p>
          </p:txBody>
        </p:sp>
        <p:sp>
          <p:nvSpPr>
            <p:cNvPr id="15" name="TextBox 14"/>
            <p:cNvSpPr txBox="1"/>
            <p:nvPr/>
          </p:nvSpPr>
          <p:spPr>
            <a:xfrm>
              <a:off x="1849356" y="3057625"/>
              <a:ext cx="1748924" cy="369332"/>
            </a:xfrm>
            <a:prstGeom prst="rect">
              <a:avLst/>
            </a:prstGeom>
            <a:noFill/>
          </p:spPr>
          <p:txBody>
            <a:bodyPr wrap="square" rtlCol="0">
              <a:spAutoFit/>
            </a:bodyPr>
            <a:lstStyle/>
            <a:p>
              <a:r>
                <a:rPr lang="en-IN" b="1" dirty="0" smtClean="0">
                  <a:solidFill>
                    <a:schemeClr val="accent6"/>
                  </a:solidFill>
                </a:rPr>
                <a:t>{8, 9, 10, 11, 12}</a:t>
              </a:r>
              <a:endParaRPr lang="en-IN" b="1" dirty="0">
                <a:solidFill>
                  <a:schemeClr val="accent6"/>
                </a:solidFill>
              </a:endParaRPr>
            </a:p>
          </p:txBody>
        </p:sp>
        <p:sp>
          <p:nvSpPr>
            <p:cNvPr id="16" name="TextBox 15"/>
            <p:cNvSpPr txBox="1"/>
            <p:nvPr/>
          </p:nvSpPr>
          <p:spPr>
            <a:xfrm>
              <a:off x="3253882" y="4385231"/>
              <a:ext cx="957306" cy="369332"/>
            </a:xfrm>
            <a:prstGeom prst="rect">
              <a:avLst/>
            </a:prstGeom>
            <a:noFill/>
          </p:spPr>
          <p:txBody>
            <a:bodyPr wrap="square" rtlCol="0">
              <a:spAutoFit/>
            </a:bodyPr>
            <a:lstStyle/>
            <a:p>
              <a:r>
                <a:rPr lang="en-IN" b="1" dirty="0" smtClean="0">
                  <a:solidFill>
                    <a:schemeClr val="accent6"/>
                  </a:solidFill>
                </a:rPr>
                <a:t>{5, 6, 7}</a:t>
              </a:r>
              <a:endParaRPr lang="en-IN" b="1" dirty="0">
                <a:solidFill>
                  <a:schemeClr val="accent6"/>
                </a:solidFill>
              </a:endParaRPr>
            </a:p>
          </p:txBody>
        </p:sp>
        <p:sp>
          <p:nvSpPr>
            <p:cNvPr id="17" name="TextBox 16"/>
            <p:cNvSpPr txBox="1"/>
            <p:nvPr/>
          </p:nvSpPr>
          <p:spPr>
            <a:xfrm>
              <a:off x="4215104" y="3094375"/>
              <a:ext cx="898736" cy="369332"/>
            </a:xfrm>
            <a:prstGeom prst="rect">
              <a:avLst/>
            </a:prstGeom>
            <a:noFill/>
          </p:spPr>
          <p:txBody>
            <a:bodyPr wrap="square" rtlCol="0">
              <a:spAutoFit/>
            </a:bodyPr>
            <a:lstStyle/>
            <a:p>
              <a:r>
                <a:rPr lang="en-IN" b="1" dirty="0" smtClean="0">
                  <a:solidFill>
                    <a:schemeClr val="accent6"/>
                  </a:solidFill>
                </a:rPr>
                <a:t>{2, 3, 4}</a:t>
              </a:r>
              <a:endParaRPr lang="en-IN" b="1" dirty="0">
                <a:solidFill>
                  <a:schemeClr val="accent6"/>
                </a:solidFill>
              </a:endParaRPr>
            </a:p>
          </p:txBody>
        </p:sp>
        <p:sp>
          <p:nvSpPr>
            <p:cNvPr id="18" name="TextBox 17"/>
            <p:cNvSpPr txBox="1"/>
            <p:nvPr/>
          </p:nvSpPr>
          <p:spPr>
            <a:xfrm>
              <a:off x="2937926" y="3567593"/>
              <a:ext cx="1222285" cy="646331"/>
            </a:xfrm>
            <a:prstGeom prst="rect">
              <a:avLst/>
            </a:prstGeom>
            <a:noFill/>
          </p:spPr>
          <p:txBody>
            <a:bodyPr wrap="square" rtlCol="0">
              <a:spAutoFit/>
            </a:bodyPr>
            <a:lstStyle/>
            <a:p>
              <a:r>
                <a:rPr lang="en-IN" dirty="0" smtClean="0"/>
                <a:t>Associated data keys</a:t>
              </a:r>
              <a:endParaRPr lang="en-IN" dirty="0"/>
            </a:p>
          </p:txBody>
        </p:sp>
        <p:cxnSp>
          <p:nvCxnSpPr>
            <p:cNvPr id="19" name="Straight Connector 18"/>
            <p:cNvCxnSpPr>
              <a:stCxn id="12" idx="1"/>
            </p:cNvCxnSpPr>
            <p:nvPr/>
          </p:nvCxnSpPr>
          <p:spPr>
            <a:xfrm flipH="1">
              <a:off x="4384094" y="1170780"/>
              <a:ext cx="318293" cy="1846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599712" y="3369442"/>
              <a:ext cx="338214" cy="3144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xmlns="" id="{027597EE-CE73-4AFB-8E16-B955B2E02B86}"/>
                </a:ext>
              </a:extLst>
            </p:cNvPr>
            <p:cNvSpPr/>
            <p:nvPr/>
          </p:nvSpPr>
          <p:spPr bwMode="auto">
            <a:xfrm>
              <a:off x="2161424" y="5945541"/>
              <a:ext cx="495114" cy="348743"/>
            </a:xfrm>
            <a:prstGeom prst="roundRect">
              <a:avLst/>
            </a:prstGeom>
            <a:no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a:lstStyle/>
            <a:p>
              <a:pPr algn="ctr"/>
              <a:r>
                <a:rPr lang="en-IN" b="1" dirty="0" smtClean="0">
                  <a:solidFill>
                    <a:schemeClr val="tx1"/>
                  </a:solidFill>
                </a:rPr>
                <a:t>p</a:t>
              </a:r>
              <a:endParaRPr lang="en-IN" b="1" dirty="0">
                <a:solidFill>
                  <a:schemeClr val="tx1"/>
                </a:solidFill>
              </a:endParaRPr>
            </a:p>
          </p:txBody>
        </p:sp>
      </p:grpSp>
    </p:spTree>
    <p:extLst>
      <p:ext uri="{BB962C8B-B14F-4D97-AF65-F5344CB8AC3E}">
        <p14:creationId xmlns:p14="http://schemas.microsoft.com/office/powerpoint/2010/main" val="2607187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Content Addressable Network (CAN)</a:t>
            </a:r>
          </a:p>
        </p:txBody>
      </p:sp>
      <p:sp>
        <p:nvSpPr>
          <p:cNvPr id="7" name="Content Placeholder 6"/>
          <p:cNvSpPr>
            <a:spLocks noGrp="1"/>
          </p:cNvSpPr>
          <p:nvPr>
            <p:ph idx="1"/>
          </p:nvPr>
        </p:nvSpPr>
        <p:spPr>
          <a:xfrm>
            <a:off x="131181" y="863444"/>
            <a:ext cx="6961368" cy="5590565"/>
          </a:xfrm>
        </p:spPr>
        <p:txBody>
          <a:bodyPr/>
          <a:lstStyle/>
          <a:p>
            <a:r>
              <a:rPr lang="en-US" dirty="0"/>
              <a:t>CAN deploys a d-dimensional Cartesian coordinate </a:t>
            </a:r>
            <a:r>
              <a:rPr lang="en-US" dirty="0" smtClean="0"/>
              <a:t>space, which </a:t>
            </a:r>
            <a:r>
              <a:rPr lang="en-US" dirty="0"/>
              <a:t>is completely partitioned </a:t>
            </a:r>
            <a:r>
              <a:rPr lang="en-US" dirty="0" smtClean="0"/>
              <a:t>among all </a:t>
            </a:r>
            <a:r>
              <a:rPr lang="en-US" dirty="0"/>
              <a:t>the </a:t>
            </a:r>
            <a:r>
              <a:rPr lang="en-US" dirty="0" smtClean="0"/>
              <a:t>nodes that </a:t>
            </a:r>
            <a:r>
              <a:rPr lang="en-US" dirty="0"/>
              <a:t>participate in </a:t>
            </a:r>
            <a:r>
              <a:rPr lang="en-US" dirty="0" smtClean="0"/>
              <a:t>the system.</a:t>
            </a:r>
          </a:p>
          <a:p>
            <a:r>
              <a:rPr lang="en-IN" dirty="0"/>
              <a:t>Example: </a:t>
            </a:r>
            <a:r>
              <a:rPr lang="en-IN" dirty="0">
                <a:solidFill>
                  <a:schemeClr val="accent6"/>
                </a:solidFill>
              </a:rPr>
              <a:t>2-dimensional </a:t>
            </a:r>
            <a:r>
              <a:rPr lang="en-IN" dirty="0" smtClean="0">
                <a:solidFill>
                  <a:schemeClr val="accent6"/>
                </a:solidFill>
              </a:rPr>
              <a:t>case</a:t>
            </a:r>
          </a:p>
          <a:p>
            <a:pPr lvl="1">
              <a:buFont typeface="Wingdings" panose="05000000000000000000" pitchFamily="2" charset="2"/>
              <a:buChar char="§"/>
            </a:pPr>
            <a:r>
              <a:rPr lang="en-US" sz="2400" dirty="0">
                <a:latin typeface="+mj-lt"/>
              </a:rPr>
              <a:t>Two-dimensional space [0,1]x[0,1] is divided among six nodes</a:t>
            </a:r>
          </a:p>
          <a:p>
            <a:pPr lvl="1">
              <a:buFont typeface="Wingdings" panose="05000000000000000000" pitchFamily="2" charset="2"/>
              <a:buChar char="§"/>
            </a:pPr>
            <a:r>
              <a:rPr lang="en-US" sz="2400" dirty="0">
                <a:latin typeface="+mj-lt"/>
              </a:rPr>
              <a:t>Each node has an associated region</a:t>
            </a:r>
          </a:p>
          <a:p>
            <a:pPr lvl="1">
              <a:buFont typeface="Wingdings" panose="05000000000000000000" pitchFamily="2" charset="2"/>
              <a:buChar char="§"/>
            </a:pPr>
            <a:r>
              <a:rPr lang="en-US" sz="2400" dirty="0">
                <a:latin typeface="+mj-lt"/>
              </a:rPr>
              <a:t>Every data item in CAN will be assigned a unique point in this space, after which it is also clear which node is responsible for that data</a:t>
            </a:r>
            <a:endParaRPr lang="en-IN" sz="2400" dirty="0">
              <a:latin typeface="+mj-lt"/>
            </a:endParaRPr>
          </a:p>
        </p:txBody>
      </p:sp>
      <p:grpSp>
        <p:nvGrpSpPr>
          <p:cNvPr id="15" name="Group 14"/>
          <p:cNvGrpSpPr/>
          <p:nvPr/>
        </p:nvGrpSpPr>
        <p:grpSpPr>
          <a:xfrm>
            <a:off x="7319962" y="863444"/>
            <a:ext cx="4729162" cy="4948614"/>
            <a:chOff x="904874" y="1011238"/>
            <a:chExt cx="4729162" cy="4948614"/>
          </a:xfrm>
        </p:grpSpPr>
        <p:pic>
          <p:nvPicPr>
            <p:cNvPr id="16" name="Picture 15"/>
            <p:cNvPicPr>
              <a:picLocks noChangeAspect="1"/>
            </p:cNvPicPr>
            <p:nvPr/>
          </p:nvPicPr>
          <p:blipFill>
            <a:blip r:embed="rId2"/>
            <a:stretch>
              <a:fillRect/>
            </a:stretch>
          </p:blipFill>
          <p:spPr>
            <a:xfrm>
              <a:off x="1395412" y="1856006"/>
              <a:ext cx="3829050" cy="3838575"/>
            </a:xfrm>
            <a:prstGeom prst="rect">
              <a:avLst/>
            </a:prstGeom>
          </p:spPr>
        </p:pic>
        <p:sp>
          <p:nvSpPr>
            <p:cNvPr id="17" name="TextBox 16"/>
            <p:cNvSpPr txBox="1"/>
            <p:nvPr/>
          </p:nvSpPr>
          <p:spPr>
            <a:xfrm>
              <a:off x="2274686" y="1011238"/>
              <a:ext cx="2139556" cy="646331"/>
            </a:xfrm>
            <a:prstGeom prst="rect">
              <a:avLst/>
            </a:prstGeom>
            <a:noFill/>
          </p:spPr>
          <p:txBody>
            <a:bodyPr wrap="square" rtlCol="0">
              <a:spAutoFit/>
            </a:bodyPr>
            <a:lstStyle/>
            <a:p>
              <a:r>
                <a:rPr lang="en-IN" dirty="0" smtClean="0"/>
                <a:t>Keys associated with node at (0.6,0.7)</a:t>
              </a:r>
              <a:endParaRPr lang="en-IN" dirty="0"/>
            </a:p>
          </p:txBody>
        </p:sp>
        <p:sp>
          <p:nvSpPr>
            <p:cNvPr id="18" name="TextBox 17"/>
            <p:cNvSpPr txBox="1"/>
            <p:nvPr/>
          </p:nvSpPr>
          <p:spPr>
            <a:xfrm>
              <a:off x="904874" y="3012182"/>
              <a:ext cx="1309689" cy="369332"/>
            </a:xfrm>
            <a:prstGeom prst="rect">
              <a:avLst/>
            </a:prstGeom>
            <a:noFill/>
          </p:spPr>
          <p:txBody>
            <a:bodyPr wrap="square" rtlCol="0">
              <a:spAutoFit/>
            </a:bodyPr>
            <a:lstStyle/>
            <a:p>
              <a:r>
                <a:rPr lang="en-IN" b="1" dirty="0" smtClean="0">
                  <a:solidFill>
                    <a:srgbClr val="1D3064"/>
                  </a:solidFill>
                </a:rPr>
                <a:t>Actual node</a:t>
              </a:r>
              <a:endParaRPr lang="en-IN" b="1" dirty="0">
                <a:solidFill>
                  <a:srgbClr val="1D3064"/>
                </a:solidFill>
              </a:endParaRPr>
            </a:p>
          </p:txBody>
        </p:sp>
        <p:sp>
          <p:nvSpPr>
            <p:cNvPr id="19" name="TextBox 18"/>
            <p:cNvSpPr txBox="1"/>
            <p:nvPr/>
          </p:nvSpPr>
          <p:spPr>
            <a:xfrm>
              <a:off x="1054893" y="1590735"/>
              <a:ext cx="681037" cy="369332"/>
            </a:xfrm>
            <a:prstGeom prst="rect">
              <a:avLst/>
            </a:prstGeom>
            <a:noFill/>
          </p:spPr>
          <p:txBody>
            <a:bodyPr wrap="square" rtlCol="0">
              <a:spAutoFit/>
            </a:bodyPr>
            <a:lstStyle/>
            <a:p>
              <a:r>
                <a:rPr lang="en-IN" b="1" dirty="0" smtClean="0">
                  <a:solidFill>
                    <a:schemeClr val="accent6"/>
                  </a:solidFill>
                </a:rPr>
                <a:t>(0, 1)</a:t>
              </a:r>
              <a:endParaRPr lang="en-IN" b="1" dirty="0">
                <a:solidFill>
                  <a:schemeClr val="accent6"/>
                </a:solidFill>
              </a:endParaRPr>
            </a:p>
          </p:txBody>
        </p:sp>
        <p:sp>
          <p:nvSpPr>
            <p:cNvPr id="20" name="TextBox 19"/>
            <p:cNvSpPr txBox="1"/>
            <p:nvPr/>
          </p:nvSpPr>
          <p:spPr>
            <a:xfrm>
              <a:off x="1054893" y="5590520"/>
              <a:ext cx="681037" cy="369332"/>
            </a:xfrm>
            <a:prstGeom prst="rect">
              <a:avLst/>
            </a:prstGeom>
            <a:noFill/>
          </p:spPr>
          <p:txBody>
            <a:bodyPr wrap="square" rtlCol="0">
              <a:spAutoFit/>
            </a:bodyPr>
            <a:lstStyle/>
            <a:p>
              <a:r>
                <a:rPr lang="en-IN" b="1" dirty="0" smtClean="0">
                  <a:solidFill>
                    <a:schemeClr val="accent6"/>
                  </a:solidFill>
                </a:rPr>
                <a:t>(0, 0)</a:t>
              </a:r>
              <a:endParaRPr lang="en-IN" b="1" dirty="0">
                <a:solidFill>
                  <a:schemeClr val="accent6"/>
                </a:solidFill>
              </a:endParaRPr>
            </a:p>
          </p:txBody>
        </p:sp>
        <p:sp>
          <p:nvSpPr>
            <p:cNvPr id="21" name="TextBox 20"/>
            <p:cNvSpPr txBox="1"/>
            <p:nvPr/>
          </p:nvSpPr>
          <p:spPr>
            <a:xfrm>
              <a:off x="4952999" y="1590735"/>
              <a:ext cx="681037" cy="369332"/>
            </a:xfrm>
            <a:prstGeom prst="rect">
              <a:avLst/>
            </a:prstGeom>
            <a:noFill/>
          </p:spPr>
          <p:txBody>
            <a:bodyPr wrap="square" rtlCol="0">
              <a:spAutoFit/>
            </a:bodyPr>
            <a:lstStyle/>
            <a:p>
              <a:r>
                <a:rPr lang="en-IN" b="1" dirty="0" smtClean="0">
                  <a:solidFill>
                    <a:schemeClr val="accent6"/>
                  </a:solidFill>
                </a:rPr>
                <a:t>(1, 1)</a:t>
              </a:r>
              <a:endParaRPr lang="en-IN" b="1" dirty="0">
                <a:solidFill>
                  <a:schemeClr val="accent6"/>
                </a:solidFill>
              </a:endParaRPr>
            </a:p>
          </p:txBody>
        </p:sp>
        <p:sp>
          <p:nvSpPr>
            <p:cNvPr id="22" name="TextBox 21"/>
            <p:cNvSpPr txBox="1"/>
            <p:nvPr/>
          </p:nvSpPr>
          <p:spPr>
            <a:xfrm>
              <a:off x="4952999" y="5590520"/>
              <a:ext cx="681037" cy="369332"/>
            </a:xfrm>
            <a:prstGeom prst="rect">
              <a:avLst/>
            </a:prstGeom>
            <a:noFill/>
          </p:spPr>
          <p:txBody>
            <a:bodyPr wrap="square" rtlCol="0">
              <a:spAutoFit/>
            </a:bodyPr>
            <a:lstStyle/>
            <a:p>
              <a:r>
                <a:rPr lang="en-IN" b="1" dirty="0" smtClean="0">
                  <a:solidFill>
                    <a:schemeClr val="accent6"/>
                  </a:solidFill>
                </a:rPr>
                <a:t>(1, </a:t>
              </a:r>
              <a:r>
                <a:rPr lang="en-IN" b="1" dirty="0">
                  <a:solidFill>
                    <a:schemeClr val="accent6"/>
                  </a:solidFill>
                </a:rPr>
                <a:t>0</a:t>
              </a:r>
              <a:r>
                <a:rPr lang="en-IN" b="1" dirty="0" smtClean="0">
                  <a:solidFill>
                    <a:schemeClr val="accent6"/>
                  </a:solidFill>
                </a:rPr>
                <a:t>)</a:t>
              </a:r>
              <a:endParaRPr lang="en-IN" b="1" dirty="0">
                <a:solidFill>
                  <a:schemeClr val="accent6"/>
                </a:solidFill>
              </a:endParaRPr>
            </a:p>
          </p:txBody>
        </p:sp>
        <p:cxnSp>
          <p:nvCxnSpPr>
            <p:cNvPr id="23" name="Straight Connector 22"/>
            <p:cNvCxnSpPr/>
            <p:nvPr/>
          </p:nvCxnSpPr>
          <p:spPr>
            <a:xfrm>
              <a:off x="3319026" y="1657569"/>
              <a:ext cx="308211" cy="91418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6229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Content Addressable Network (CAN)</a:t>
            </a:r>
          </a:p>
        </p:txBody>
      </p:sp>
      <p:sp>
        <p:nvSpPr>
          <p:cNvPr id="7" name="Content Placeholder 6"/>
          <p:cNvSpPr>
            <a:spLocks noGrp="1"/>
          </p:cNvSpPr>
          <p:nvPr>
            <p:ph idx="1"/>
          </p:nvPr>
        </p:nvSpPr>
        <p:spPr>
          <a:xfrm>
            <a:off x="131181" y="863444"/>
            <a:ext cx="7498344" cy="5590565"/>
          </a:xfrm>
        </p:spPr>
        <p:txBody>
          <a:bodyPr/>
          <a:lstStyle/>
          <a:p>
            <a:pPr marL="0" indent="0">
              <a:buNone/>
            </a:pPr>
            <a:r>
              <a:rPr lang="en-US" dirty="0">
                <a:solidFill>
                  <a:srgbClr val="1D3064"/>
                </a:solidFill>
              </a:rPr>
              <a:t>Joining CAN</a:t>
            </a:r>
          </a:p>
          <a:p>
            <a:r>
              <a:rPr lang="en-US" dirty="0" smtClean="0"/>
              <a:t>When </a:t>
            </a:r>
            <a:r>
              <a:rPr lang="en-US" dirty="0"/>
              <a:t>a node P wants to join a CAN system, it picks </a:t>
            </a:r>
            <a:r>
              <a:rPr lang="en-US" dirty="0" smtClean="0"/>
              <a:t>an arbitrary </a:t>
            </a:r>
            <a:r>
              <a:rPr lang="en-US" dirty="0"/>
              <a:t>point from the coordinate space and </a:t>
            </a:r>
            <a:r>
              <a:rPr lang="en-US" dirty="0" smtClean="0"/>
              <a:t>subsequently looks </a:t>
            </a:r>
            <a:r>
              <a:rPr lang="en-US" dirty="0"/>
              <a:t>up the node </a:t>
            </a:r>
            <a:r>
              <a:rPr lang="en-US" dirty="0" smtClean="0"/>
              <a:t>Q in </a:t>
            </a:r>
            <a:r>
              <a:rPr lang="en-US" dirty="0"/>
              <a:t>whose region that point falls.</a:t>
            </a:r>
          </a:p>
          <a:p>
            <a:r>
              <a:rPr lang="en-US" dirty="0" smtClean="0"/>
              <a:t>Node </a:t>
            </a:r>
            <a:r>
              <a:rPr lang="en-US" dirty="0"/>
              <a:t>Q then splits its region into two halves and one half</a:t>
            </a:r>
          </a:p>
          <a:p>
            <a:r>
              <a:rPr lang="en-US" dirty="0"/>
              <a:t>is assigned to the node P.</a:t>
            </a:r>
          </a:p>
          <a:p>
            <a:r>
              <a:rPr lang="en-US" dirty="0" smtClean="0"/>
              <a:t>Nodes </a:t>
            </a:r>
            <a:r>
              <a:rPr lang="en-US" dirty="0"/>
              <a:t>keep track of their neighbors, that is, </a:t>
            </a:r>
            <a:r>
              <a:rPr lang="en-US" dirty="0" smtClean="0"/>
              <a:t>nodes responsible </a:t>
            </a:r>
            <a:r>
              <a:rPr lang="en-US" dirty="0"/>
              <a:t>for adjacent region.</a:t>
            </a:r>
          </a:p>
          <a:p>
            <a:r>
              <a:rPr lang="en-US" dirty="0" smtClean="0"/>
              <a:t>When </a:t>
            </a:r>
            <a:r>
              <a:rPr lang="en-US" dirty="0"/>
              <a:t>splitting a region, the joining node P can easily </a:t>
            </a:r>
            <a:r>
              <a:rPr lang="en-US" dirty="0" smtClean="0"/>
              <a:t>come to </a:t>
            </a:r>
            <a:r>
              <a:rPr lang="en-US" dirty="0"/>
              <a:t>know who its new neighbors are by asking node P.</a:t>
            </a:r>
          </a:p>
          <a:p>
            <a:r>
              <a:rPr lang="en-US" dirty="0" smtClean="0"/>
              <a:t>As </a:t>
            </a:r>
            <a:r>
              <a:rPr lang="en-US" dirty="0"/>
              <a:t>in Chord, the data items for which node P is </a:t>
            </a:r>
            <a:r>
              <a:rPr lang="en-US" dirty="0" smtClean="0"/>
              <a:t>now responsible </a:t>
            </a:r>
            <a:r>
              <a:rPr lang="en-US" dirty="0"/>
              <a:t>are transferred from node Q.</a:t>
            </a:r>
            <a:endParaRPr lang="en-IN" dirty="0"/>
          </a:p>
        </p:txBody>
      </p:sp>
      <p:pic>
        <p:nvPicPr>
          <p:cNvPr id="5" name="Content Placeholder 5"/>
          <p:cNvPicPr>
            <a:picLocks noChangeAspect="1"/>
          </p:cNvPicPr>
          <p:nvPr/>
        </p:nvPicPr>
        <p:blipFill>
          <a:blip r:embed="rId2"/>
          <a:stretch>
            <a:fillRect/>
          </a:stretch>
        </p:blipFill>
        <p:spPr>
          <a:xfrm>
            <a:off x="7943535" y="997118"/>
            <a:ext cx="3986528" cy="4017794"/>
          </a:xfrm>
          <a:prstGeom prst="rect">
            <a:avLst/>
          </a:prstGeom>
        </p:spPr>
      </p:pic>
      <p:sp>
        <p:nvSpPr>
          <p:cNvPr id="6" name="Rounded Rectangle 5"/>
          <p:cNvSpPr/>
          <p:nvPr/>
        </p:nvSpPr>
        <p:spPr>
          <a:xfrm>
            <a:off x="7914959" y="2462341"/>
            <a:ext cx="1829976" cy="2552571"/>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5162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Content Addressable Network (CAN)</a:t>
            </a:r>
          </a:p>
        </p:txBody>
      </p:sp>
      <p:sp>
        <p:nvSpPr>
          <p:cNvPr id="7" name="Content Placeholder 6"/>
          <p:cNvSpPr>
            <a:spLocks noGrp="1"/>
          </p:cNvSpPr>
          <p:nvPr>
            <p:ph idx="1"/>
          </p:nvPr>
        </p:nvSpPr>
        <p:spPr>
          <a:xfrm>
            <a:off x="131181" y="863444"/>
            <a:ext cx="7498344" cy="5590565"/>
          </a:xfrm>
        </p:spPr>
        <p:txBody>
          <a:bodyPr/>
          <a:lstStyle/>
          <a:p>
            <a:pPr marL="0" indent="0">
              <a:buNone/>
            </a:pPr>
            <a:r>
              <a:rPr lang="en-US" dirty="0">
                <a:solidFill>
                  <a:srgbClr val="1D3064"/>
                </a:solidFill>
              </a:rPr>
              <a:t>Leaving </a:t>
            </a:r>
            <a:r>
              <a:rPr lang="en-US" dirty="0" smtClean="0">
                <a:solidFill>
                  <a:srgbClr val="1D3064"/>
                </a:solidFill>
              </a:rPr>
              <a:t>CAN</a:t>
            </a:r>
          </a:p>
          <a:p>
            <a:r>
              <a:rPr lang="en-US" dirty="0"/>
              <a:t>Assume that the node with coordinate (0.6,0.7) leaves.</a:t>
            </a:r>
          </a:p>
          <a:p>
            <a:r>
              <a:rPr lang="en-US" dirty="0" smtClean="0"/>
              <a:t>Its </a:t>
            </a:r>
            <a:r>
              <a:rPr lang="en-US" dirty="0"/>
              <a:t>region will be assigned to one of its neighbors, say </a:t>
            </a:r>
            <a:r>
              <a:rPr lang="en-US" dirty="0" smtClean="0"/>
              <a:t>the node </a:t>
            </a:r>
            <a:r>
              <a:rPr lang="en-US" dirty="0"/>
              <a:t>at (0.9,0.9), but it is clear that simply merging it </a:t>
            </a:r>
            <a:r>
              <a:rPr lang="en-US" dirty="0" smtClean="0"/>
              <a:t>and obtaining a rectangle </a:t>
            </a:r>
            <a:r>
              <a:rPr lang="en-US" dirty="0"/>
              <a:t>cannot be done.</a:t>
            </a:r>
          </a:p>
          <a:p>
            <a:r>
              <a:rPr lang="en-US" dirty="0" smtClean="0"/>
              <a:t>In </a:t>
            </a:r>
            <a:r>
              <a:rPr lang="en-US" dirty="0"/>
              <a:t>this case, the node at (0.9,0.9) will simply take care </a:t>
            </a:r>
            <a:r>
              <a:rPr lang="en-US" dirty="0" smtClean="0"/>
              <a:t>of that </a:t>
            </a:r>
            <a:r>
              <a:rPr lang="en-US" dirty="0"/>
              <a:t>region and inform the old neighbors of this fact</a:t>
            </a:r>
            <a:endParaRPr lang="en-IN" dirty="0"/>
          </a:p>
        </p:txBody>
      </p:sp>
      <p:pic>
        <p:nvPicPr>
          <p:cNvPr id="5" name="Content Placeholder 5"/>
          <p:cNvPicPr>
            <a:picLocks noChangeAspect="1"/>
          </p:cNvPicPr>
          <p:nvPr/>
        </p:nvPicPr>
        <p:blipFill>
          <a:blip r:embed="rId2"/>
          <a:stretch>
            <a:fillRect/>
          </a:stretch>
        </p:blipFill>
        <p:spPr>
          <a:xfrm>
            <a:off x="7943535" y="997118"/>
            <a:ext cx="3986528" cy="4017794"/>
          </a:xfrm>
          <a:prstGeom prst="rect">
            <a:avLst/>
          </a:prstGeom>
        </p:spPr>
      </p:pic>
      <p:sp>
        <p:nvSpPr>
          <p:cNvPr id="6" name="Rounded Rectangle 5"/>
          <p:cNvSpPr/>
          <p:nvPr/>
        </p:nvSpPr>
        <p:spPr>
          <a:xfrm>
            <a:off x="9415146" y="997118"/>
            <a:ext cx="1829976" cy="2552571"/>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27690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Overlay Networks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a:t>Nodes act as both client and server; interaction is symmetric</a:t>
            </a:r>
          </a:p>
          <a:p>
            <a:pPr>
              <a:lnSpc>
                <a:spcPct val="100000"/>
              </a:lnSpc>
            </a:pPr>
            <a:r>
              <a:rPr lang="en-US" dirty="0"/>
              <a:t>Each node acts as a server for part of the total system data</a:t>
            </a:r>
          </a:p>
          <a:p>
            <a:pPr>
              <a:lnSpc>
                <a:spcPct val="100000"/>
              </a:lnSpc>
            </a:pPr>
            <a:r>
              <a:rPr lang="en-US" dirty="0"/>
              <a:t>Overlay networks </a:t>
            </a:r>
            <a:r>
              <a:rPr lang="en-US" dirty="0">
                <a:solidFill>
                  <a:schemeClr val="accent6"/>
                </a:solidFill>
              </a:rPr>
              <a:t>connect nodes in the P2P </a:t>
            </a:r>
            <a:r>
              <a:rPr lang="en-US" dirty="0" smtClean="0"/>
              <a:t>system.</a:t>
            </a:r>
          </a:p>
          <a:p>
            <a:pPr>
              <a:lnSpc>
                <a:spcPct val="100000"/>
              </a:lnSpc>
            </a:pPr>
            <a:r>
              <a:rPr lang="en-US" dirty="0"/>
              <a:t>An overlay network can be thought of as a computer network on top of another network. All nodes in an overlay network are connected with one another by means of logical or virtual links and each of these links correspond to a path in the underlying network.</a:t>
            </a:r>
            <a:endParaRPr lang="en-US" dirty="0" smtClean="0"/>
          </a:p>
          <a:p>
            <a:pPr>
              <a:lnSpc>
                <a:spcPct val="100000"/>
              </a:lnSpc>
            </a:pPr>
            <a:r>
              <a:rPr lang="en-US" dirty="0" smtClean="0"/>
              <a:t>A </a:t>
            </a:r>
            <a:r>
              <a:rPr lang="en-US" dirty="0"/>
              <a:t>link between two nodes in the overlay may consist of several physical links.</a:t>
            </a:r>
          </a:p>
          <a:p>
            <a:pPr>
              <a:lnSpc>
                <a:spcPct val="100000"/>
              </a:lnSpc>
            </a:pPr>
            <a:r>
              <a:rPr lang="en-US" dirty="0"/>
              <a:t>Messages in the overlay are sent to logical addresses, not physical (IP) addresses</a:t>
            </a:r>
          </a:p>
          <a:p>
            <a:pPr>
              <a:lnSpc>
                <a:spcPct val="100000"/>
              </a:lnSpc>
            </a:pPr>
            <a:r>
              <a:rPr lang="en-US" dirty="0"/>
              <a:t>Various approaches used to resolve logical addresses to physical</a:t>
            </a:r>
            <a:r>
              <a:rPr lang="en-US" dirty="0" smtClean="0"/>
              <a:t>.</a:t>
            </a:r>
            <a:endParaRPr lang="en-US" dirty="0"/>
          </a:p>
        </p:txBody>
      </p:sp>
    </p:spTree>
    <p:extLst>
      <p:ext uri="{BB962C8B-B14F-4D97-AF65-F5344CB8AC3E}">
        <p14:creationId xmlns:p14="http://schemas.microsoft.com/office/powerpoint/2010/main" val="1717255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Unstructured P2P Architectures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a:t>Largely relying on randomized algorithm to </a:t>
            </a:r>
            <a:r>
              <a:rPr lang="en-US" dirty="0" smtClean="0"/>
              <a:t>construct the </a:t>
            </a:r>
            <a:r>
              <a:rPr lang="en-US" dirty="0"/>
              <a:t>overlay network</a:t>
            </a:r>
          </a:p>
          <a:p>
            <a:pPr lvl="2"/>
            <a:r>
              <a:rPr lang="en-US" sz="2400" dirty="0" smtClean="0"/>
              <a:t>Each </a:t>
            </a:r>
            <a:r>
              <a:rPr lang="en-US" sz="2400" dirty="0"/>
              <a:t>node has a list of neighbors, which is more or </a:t>
            </a:r>
            <a:r>
              <a:rPr lang="en-US" sz="2400" dirty="0" smtClean="0"/>
              <a:t>less</a:t>
            </a:r>
          </a:p>
          <a:p>
            <a:pPr marL="265113" lvl="2" indent="-265113">
              <a:lnSpc>
                <a:spcPct val="100000"/>
              </a:lnSpc>
              <a:spcBef>
                <a:spcPts val="1000"/>
              </a:spcBef>
              <a:buFont typeface="Webdings" panose="05030102010509060703" pitchFamily="18" charset="2"/>
              <a:buChar char=""/>
            </a:pPr>
            <a:r>
              <a:rPr lang="en-US" sz="2400" dirty="0"/>
              <a:t>Many systems try to construct an overly network that resembles a random graph </a:t>
            </a:r>
          </a:p>
          <a:p>
            <a:pPr lvl="2"/>
            <a:r>
              <a:rPr lang="en-US" sz="2400" dirty="0" smtClean="0"/>
              <a:t>Each </a:t>
            </a:r>
            <a:r>
              <a:rPr lang="en-US" sz="2400" dirty="0"/>
              <a:t>node maintains a partial view, i.e., a set of live </a:t>
            </a:r>
            <a:r>
              <a:rPr lang="en-US" sz="2400" dirty="0" smtClean="0"/>
              <a:t>nodes randomly </a:t>
            </a:r>
            <a:r>
              <a:rPr lang="en-US" sz="2400" dirty="0"/>
              <a:t>chosen from the current set of </a:t>
            </a:r>
            <a:r>
              <a:rPr lang="en-US" sz="2400" dirty="0" smtClean="0"/>
              <a:t>nodes constructed </a:t>
            </a:r>
            <a:r>
              <a:rPr lang="en-US" sz="2400" dirty="0"/>
              <a:t>in a random way</a:t>
            </a:r>
          </a:p>
          <a:p>
            <a:pPr>
              <a:lnSpc>
                <a:spcPct val="100000"/>
              </a:lnSpc>
            </a:pPr>
            <a:r>
              <a:rPr lang="en-US" dirty="0" smtClean="0"/>
              <a:t>An </a:t>
            </a:r>
            <a:r>
              <a:rPr lang="en-US" dirty="0"/>
              <a:t>unstructured P2P network is formed when the overlay </a:t>
            </a:r>
            <a:r>
              <a:rPr lang="en-US" dirty="0" smtClean="0"/>
              <a:t>links are </a:t>
            </a:r>
            <a:r>
              <a:rPr lang="en-US" dirty="0"/>
              <a:t>established arbitrarily</a:t>
            </a:r>
            <a:r>
              <a:rPr lang="en-US" dirty="0" smtClean="0"/>
              <a:t>.</a:t>
            </a:r>
          </a:p>
          <a:p>
            <a:pPr>
              <a:lnSpc>
                <a:spcPct val="100000"/>
              </a:lnSpc>
            </a:pPr>
            <a:r>
              <a:rPr lang="en-US" dirty="0"/>
              <a:t>Data items are randomly mapped to some node in the system &amp; lookup is random, unlike the structured lookup in Chord</a:t>
            </a:r>
            <a:r>
              <a:rPr lang="en-US" dirty="0" smtClean="0"/>
              <a:t>.</a:t>
            </a:r>
            <a:endParaRPr lang="en-US" dirty="0"/>
          </a:p>
          <a:p>
            <a:pPr>
              <a:lnSpc>
                <a:spcPct val="100000"/>
              </a:lnSpc>
            </a:pPr>
            <a:r>
              <a:rPr lang="en-US" dirty="0" smtClean="0"/>
              <a:t>Such </a:t>
            </a:r>
            <a:r>
              <a:rPr lang="en-US" dirty="0"/>
              <a:t>networks can be easily constructed as a new peer </a:t>
            </a:r>
            <a:r>
              <a:rPr lang="en-US" dirty="0" smtClean="0"/>
              <a:t>that wants </a:t>
            </a:r>
            <a:r>
              <a:rPr lang="en-US" dirty="0"/>
              <a:t>to join the network can copy existing links </a:t>
            </a:r>
            <a:r>
              <a:rPr lang="en-US" dirty="0" smtClean="0"/>
              <a:t>of another </a:t>
            </a:r>
            <a:r>
              <a:rPr lang="en-US" dirty="0"/>
              <a:t>node and then </a:t>
            </a:r>
            <a:r>
              <a:rPr lang="en-US" dirty="0" smtClean="0"/>
              <a:t>form its </a:t>
            </a:r>
            <a:r>
              <a:rPr lang="en-US" dirty="0"/>
              <a:t>own links over time.</a:t>
            </a:r>
          </a:p>
          <a:p>
            <a:pPr>
              <a:lnSpc>
                <a:spcPct val="100000"/>
              </a:lnSpc>
            </a:pPr>
            <a:r>
              <a:rPr lang="en-US" dirty="0" smtClean="0"/>
              <a:t>In </a:t>
            </a:r>
            <a:r>
              <a:rPr lang="en-US" dirty="0"/>
              <a:t>an unstructured P2P network, if a peer wants to find </a:t>
            </a:r>
            <a:r>
              <a:rPr lang="en-US" dirty="0" smtClean="0"/>
              <a:t>a desired </a:t>
            </a:r>
            <a:r>
              <a:rPr lang="en-US" dirty="0"/>
              <a:t>piece of data in the network, the query has to </a:t>
            </a:r>
            <a:r>
              <a:rPr lang="en-US" dirty="0" smtClean="0"/>
              <a:t>be flooded </a:t>
            </a:r>
            <a:r>
              <a:rPr lang="en-US" dirty="0"/>
              <a:t>through </a:t>
            </a:r>
            <a:r>
              <a:rPr lang="en-US" dirty="0" smtClean="0"/>
              <a:t>the network </a:t>
            </a:r>
            <a:r>
              <a:rPr lang="en-US" dirty="0"/>
              <a:t>in order to find as many peers as possible that share the data.</a:t>
            </a:r>
            <a:r>
              <a:rPr lang="en-US" sz="2400" dirty="0" smtClean="0"/>
              <a:t>.</a:t>
            </a:r>
            <a:endParaRPr lang="en-US" sz="2400" dirty="0"/>
          </a:p>
          <a:p>
            <a:pPr lvl="2"/>
            <a:endParaRPr lang="en-US" sz="2400" dirty="0"/>
          </a:p>
        </p:txBody>
      </p:sp>
    </p:spTree>
    <p:extLst>
      <p:ext uri="{BB962C8B-B14F-4D97-AF65-F5344CB8AC3E}">
        <p14:creationId xmlns:p14="http://schemas.microsoft.com/office/powerpoint/2010/main" val="921713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err="1"/>
              <a:t>Superpeers</a:t>
            </a:r>
            <a:endParaRPr lang="en-US" dirty="0"/>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6269620" cy="5590565"/>
          </a:xfrm>
        </p:spPr>
        <p:txBody>
          <a:bodyPr/>
          <a:lstStyle/>
          <a:p>
            <a:pPr>
              <a:lnSpc>
                <a:spcPct val="100000"/>
              </a:lnSpc>
            </a:pPr>
            <a:r>
              <a:rPr lang="en-US" dirty="0"/>
              <a:t>Used to address the following question</a:t>
            </a:r>
          </a:p>
          <a:p>
            <a:pPr lvl="2"/>
            <a:r>
              <a:rPr lang="en-US" sz="2400" dirty="0" smtClean="0"/>
              <a:t>How </a:t>
            </a:r>
            <a:r>
              <a:rPr lang="en-US" sz="2400" dirty="0"/>
              <a:t>to find data items in unstructured P2P systems</a:t>
            </a:r>
          </a:p>
          <a:p>
            <a:pPr lvl="2"/>
            <a:r>
              <a:rPr lang="en-US" sz="2400" dirty="0" smtClean="0"/>
              <a:t>Flood </a:t>
            </a:r>
            <a:r>
              <a:rPr lang="en-US" sz="2400" dirty="0"/>
              <a:t>the network with a search query</a:t>
            </a:r>
            <a:r>
              <a:rPr lang="en-US" sz="2400" dirty="0" smtClean="0"/>
              <a:t>?</a:t>
            </a:r>
          </a:p>
          <a:p>
            <a:pPr marL="265113" lvl="2" indent="-265113">
              <a:lnSpc>
                <a:spcPct val="100000"/>
              </a:lnSpc>
              <a:spcBef>
                <a:spcPts val="1000"/>
              </a:spcBef>
              <a:buFont typeface="Webdings" panose="05030102010509060703" pitchFamily="18" charset="2"/>
              <a:buChar char=""/>
            </a:pPr>
            <a:r>
              <a:rPr lang="en-US" sz="2400" dirty="0"/>
              <a:t>An alternative is using </a:t>
            </a:r>
            <a:r>
              <a:rPr lang="en-US" sz="2400" dirty="0" err="1">
                <a:solidFill>
                  <a:schemeClr val="accent6"/>
                </a:solidFill>
              </a:rPr>
              <a:t>superpeers</a:t>
            </a:r>
            <a:endParaRPr lang="en-US" sz="2400" dirty="0">
              <a:solidFill>
                <a:schemeClr val="accent6"/>
              </a:solidFill>
            </a:endParaRPr>
          </a:p>
          <a:p>
            <a:pPr lvl="2"/>
            <a:r>
              <a:rPr lang="en-US" sz="2400" dirty="0" smtClean="0"/>
              <a:t>Nodes </a:t>
            </a:r>
            <a:r>
              <a:rPr lang="en-US" sz="2400" dirty="0"/>
              <a:t>such as those maintaining an index or </a:t>
            </a:r>
            <a:r>
              <a:rPr lang="en-US" sz="2400" dirty="0" smtClean="0"/>
              <a:t>acting as </a:t>
            </a:r>
            <a:r>
              <a:rPr lang="en-US" sz="2400" dirty="0"/>
              <a:t>a broker are generally referred to as </a:t>
            </a:r>
            <a:r>
              <a:rPr lang="en-US" sz="2400" dirty="0" err="1"/>
              <a:t>superpeers</a:t>
            </a:r>
            <a:endParaRPr lang="en-US" sz="2400" dirty="0"/>
          </a:p>
          <a:p>
            <a:pPr lvl="2"/>
            <a:r>
              <a:rPr lang="en-US" sz="2400" dirty="0" smtClean="0"/>
              <a:t>They </a:t>
            </a:r>
            <a:r>
              <a:rPr lang="en-US" sz="2400" dirty="0"/>
              <a:t>hold index of info. from its associated </a:t>
            </a:r>
            <a:r>
              <a:rPr lang="en-US" sz="2400" dirty="0" smtClean="0"/>
              <a:t>peers (</a:t>
            </a:r>
            <a:r>
              <a:rPr lang="en-US" sz="2400" dirty="0"/>
              <a:t>i.e. selected representative of some of the peers)</a:t>
            </a:r>
            <a:endParaRPr lang="en-US" sz="2400" dirty="0" smtClean="0"/>
          </a:p>
          <a:p>
            <a:pPr lvl="2"/>
            <a:endParaRPr lang="en-US" sz="2400" dirty="0"/>
          </a:p>
        </p:txBody>
      </p:sp>
      <p:pic>
        <p:nvPicPr>
          <p:cNvPr id="4" name="Picture 3"/>
          <p:cNvPicPr>
            <a:picLocks noChangeAspect="1"/>
          </p:cNvPicPr>
          <p:nvPr/>
        </p:nvPicPr>
        <p:blipFill>
          <a:blip r:embed="rId2"/>
          <a:stretch>
            <a:fillRect/>
          </a:stretch>
        </p:blipFill>
        <p:spPr>
          <a:xfrm>
            <a:off x="6766168" y="863444"/>
            <a:ext cx="5121032" cy="3305176"/>
          </a:xfrm>
          <a:prstGeom prst="rect">
            <a:avLst/>
          </a:prstGeom>
        </p:spPr>
      </p:pic>
      <p:sp>
        <p:nvSpPr>
          <p:cNvPr id="5" name="Rounded Rectangle 4"/>
          <p:cNvSpPr/>
          <p:nvPr/>
        </p:nvSpPr>
        <p:spPr>
          <a:xfrm>
            <a:off x="7276698" y="4320863"/>
            <a:ext cx="4496202" cy="92624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 hierarchical organization of nodes into </a:t>
            </a:r>
            <a:r>
              <a:rPr lang="en-US" sz="2400" dirty="0" smtClean="0">
                <a:solidFill>
                  <a:schemeClr val="tx1"/>
                </a:solidFill>
              </a:rPr>
              <a:t>a </a:t>
            </a:r>
            <a:r>
              <a:rPr lang="en-US" sz="2400" dirty="0" err="1" smtClean="0">
                <a:solidFill>
                  <a:schemeClr val="tx1"/>
                </a:solidFill>
              </a:rPr>
              <a:t>superpeer</a:t>
            </a:r>
            <a:r>
              <a:rPr lang="en-US" sz="2400" dirty="0" smtClean="0">
                <a:solidFill>
                  <a:schemeClr val="tx1"/>
                </a:solidFill>
              </a:rPr>
              <a:t> </a:t>
            </a:r>
            <a:r>
              <a:rPr lang="en-US" sz="2400" dirty="0">
                <a:solidFill>
                  <a:schemeClr val="tx1"/>
                </a:solidFill>
              </a:rPr>
              <a:t>network</a:t>
            </a:r>
            <a:endParaRPr lang="en-IN" sz="2400" dirty="0">
              <a:solidFill>
                <a:schemeClr val="tx1"/>
              </a:solidFill>
            </a:endParaRPr>
          </a:p>
        </p:txBody>
      </p:sp>
    </p:spTree>
    <p:extLst>
      <p:ext uri="{BB962C8B-B14F-4D97-AF65-F5344CB8AC3E}">
        <p14:creationId xmlns:p14="http://schemas.microsoft.com/office/powerpoint/2010/main" val="2655182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Finding Data Items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a:t>This is quite challenging in unstructured P2P systems</a:t>
            </a:r>
          </a:p>
          <a:p>
            <a:pPr lvl="2"/>
            <a:r>
              <a:rPr lang="en-US" sz="2400" dirty="0" smtClean="0"/>
              <a:t>Assume </a:t>
            </a:r>
            <a:r>
              <a:rPr lang="en-US" sz="2400" dirty="0"/>
              <a:t>a data item is randomly placed</a:t>
            </a:r>
          </a:p>
          <a:p>
            <a:pPr>
              <a:lnSpc>
                <a:spcPct val="100000"/>
              </a:lnSpc>
            </a:pPr>
            <a:r>
              <a:rPr lang="en-US" dirty="0" smtClean="0"/>
              <a:t>Solution </a:t>
            </a:r>
            <a:r>
              <a:rPr lang="en-US" dirty="0"/>
              <a:t>1: Flood the network with a search query</a:t>
            </a:r>
          </a:p>
          <a:p>
            <a:pPr>
              <a:lnSpc>
                <a:spcPct val="100000"/>
              </a:lnSpc>
            </a:pPr>
            <a:r>
              <a:rPr lang="en-US" dirty="0" smtClean="0"/>
              <a:t>Solution </a:t>
            </a:r>
            <a:r>
              <a:rPr lang="en-US" dirty="0"/>
              <a:t>2: A randomized algorithm</a:t>
            </a:r>
          </a:p>
          <a:p>
            <a:pPr lvl="2"/>
            <a:r>
              <a:rPr lang="en-US" sz="2400" dirty="0" smtClean="0"/>
              <a:t>Let </a:t>
            </a:r>
            <a:r>
              <a:rPr lang="en-US" sz="2400" dirty="0"/>
              <a:t>us first assume that</a:t>
            </a:r>
          </a:p>
          <a:p>
            <a:pPr marL="1428750" indent="-257175">
              <a:lnSpc>
                <a:spcPct val="100000"/>
              </a:lnSpc>
              <a:buFont typeface="Arial" panose="020B0604020202020204" pitchFamily="34" charset="0"/>
              <a:buChar char="•"/>
            </a:pPr>
            <a:r>
              <a:rPr lang="en-US" dirty="0" smtClean="0"/>
              <a:t>Each </a:t>
            </a:r>
            <a:r>
              <a:rPr lang="en-US" dirty="0"/>
              <a:t>node knows the IDs of k other randomly selected nodes</a:t>
            </a:r>
          </a:p>
          <a:p>
            <a:pPr marL="1428750" indent="-257175">
              <a:lnSpc>
                <a:spcPct val="100000"/>
              </a:lnSpc>
              <a:buFont typeface="Arial" panose="020B0604020202020204" pitchFamily="34" charset="0"/>
              <a:buChar char="•"/>
            </a:pPr>
            <a:r>
              <a:rPr lang="en-US" dirty="0" smtClean="0"/>
              <a:t>The </a:t>
            </a:r>
            <a:r>
              <a:rPr lang="en-US" dirty="0"/>
              <a:t>ID of the hosting node is kept at m randomly picked nodes</a:t>
            </a:r>
          </a:p>
          <a:p>
            <a:pPr lvl="2"/>
            <a:r>
              <a:rPr lang="en-US" sz="2400" dirty="0" smtClean="0"/>
              <a:t>The </a:t>
            </a:r>
            <a:r>
              <a:rPr lang="en-US" sz="2400" dirty="0"/>
              <a:t>search is done as follows</a:t>
            </a:r>
          </a:p>
          <a:p>
            <a:pPr marL="1428750" indent="-257175">
              <a:lnSpc>
                <a:spcPct val="100000"/>
              </a:lnSpc>
              <a:buFont typeface="Arial" panose="020B0604020202020204" pitchFamily="34" charset="0"/>
              <a:buChar char="•"/>
            </a:pPr>
            <a:r>
              <a:rPr lang="en-US" dirty="0" smtClean="0"/>
              <a:t>Contact </a:t>
            </a:r>
            <a:r>
              <a:rPr lang="en-US" dirty="0"/>
              <a:t>k direct neighbors for data items</a:t>
            </a:r>
          </a:p>
          <a:p>
            <a:pPr marL="1428750" indent="-257175">
              <a:lnSpc>
                <a:spcPct val="100000"/>
              </a:lnSpc>
              <a:buFont typeface="Arial" panose="020B0604020202020204" pitchFamily="34" charset="0"/>
              <a:buChar char="•"/>
            </a:pPr>
            <a:r>
              <a:rPr lang="en-US" dirty="0" smtClean="0"/>
              <a:t>Ask your </a:t>
            </a:r>
            <a:r>
              <a:rPr lang="en-US" dirty="0"/>
              <a:t>neighbors to help if none of them knows</a:t>
            </a:r>
          </a:p>
          <a:p>
            <a:pPr lvl="2"/>
            <a:r>
              <a:rPr lang="en-US" sz="2400" dirty="0" smtClean="0"/>
              <a:t>What </a:t>
            </a:r>
            <a:r>
              <a:rPr lang="en-US" sz="2400" dirty="0"/>
              <a:t>is the probability of finding the answer directly?</a:t>
            </a:r>
          </a:p>
        </p:txBody>
      </p:sp>
    </p:spTree>
    <p:extLst>
      <p:ext uri="{BB962C8B-B14F-4D97-AF65-F5344CB8AC3E}">
        <p14:creationId xmlns:p14="http://schemas.microsoft.com/office/powerpoint/2010/main" val="1814927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Hybrid Architectures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smtClean="0"/>
              <a:t>Many </a:t>
            </a:r>
            <a:r>
              <a:rPr lang="en-US" dirty="0"/>
              <a:t>real distributed systems </a:t>
            </a:r>
            <a:r>
              <a:rPr lang="en-US" dirty="0" smtClean="0"/>
              <a:t>combine architectural </a:t>
            </a:r>
            <a:r>
              <a:rPr lang="en-US" dirty="0"/>
              <a:t>features</a:t>
            </a:r>
          </a:p>
          <a:p>
            <a:pPr lvl="2"/>
            <a:r>
              <a:rPr lang="en-US" sz="2400" dirty="0" smtClean="0"/>
              <a:t>E.g</a:t>
            </a:r>
            <a:r>
              <a:rPr lang="en-US" sz="2400" dirty="0"/>
              <a:t>., the </a:t>
            </a:r>
            <a:r>
              <a:rPr lang="en-US" sz="2400" dirty="0" err="1"/>
              <a:t>superpeer</a:t>
            </a:r>
            <a:r>
              <a:rPr lang="en-US" sz="2400" dirty="0"/>
              <a:t> networks </a:t>
            </a:r>
            <a:r>
              <a:rPr lang="en-US" sz="2400" dirty="0" smtClean="0"/>
              <a:t>– combine client-server </a:t>
            </a:r>
            <a:r>
              <a:rPr lang="en-US" sz="2400" dirty="0"/>
              <a:t>architecture (centralized) </a:t>
            </a:r>
            <a:r>
              <a:rPr lang="en-US" sz="2400" dirty="0" smtClean="0"/>
              <a:t>with peer-to-peer </a:t>
            </a:r>
            <a:r>
              <a:rPr lang="en-US" sz="2400" dirty="0"/>
              <a:t>architecture (decentralized)</a:t>
            </a:r>
          </a:p>
          <a:p>
            <a:pPr>
              <a:lnSpc>
                <a:spcPct val="100000"/>
              </a:lnSpc>
            </a:pPr>
            <a:r>
              <a:rPr lang="en-US" dirty="0" smtClean="0"/>
              <a:t>Two </a:t>
            </a:r>
            <a:r>
              <a:rPr lang="en-US" dirty="0"/>
              <a:t>examples of hybrid architectures</a:t>
            </a:r>
          </a:p>
          <a:p>
            <a:pPr lvl="2"/>
            <a:r>
              <a:rPr lang="en-US" sz="2400" dirty="0"/>
              <a:t>Edge-server systems</a:t>
            </a:r>
          </a:p>
          <a:p>
            <a:pPr lvl="2"/>
            <a:r>
              <a:rPr lang="en-US" sz="2400" dirty="0"/>
              <a:t>Collaborative distributed </a:t>
            </a:r>
            <a:r>
              <a:rPr lang="en-US" sz="2400" dirty="0" smtClean="0"/>
              <a:t>systems</a:t>
            </a:r>
          </a:p>
          <a:p>
            <a:pPr lvl="2"/>
            <a:r>
              <a:rPr lang="en-US" sz="2400" dirty="0" err="1"/>
              <a:t>Superpeer</a:t>
            </a:r>
            <a:r>
              <a:rPr lang="en-US" sz="2400" dirty="0"/>
              <a:t> networks</a:t>
            </a:r>
            <a:endParaRPr lang="en-US" sz="2400" dirty="0" smtClean="0"/>
          </a:p>
          <a:p>
            <a:pPr lvl="2"/>
            <a:endParaRPr lang="en-US" sz="2400" dirty="0"/>
          </a:p>
        </p:txBody>
      </p:sp>
    </p:spTree>
    <p:extLst>
      <p:ext uri="{BB962C8B-B14F-4D97-AF65-F5344CB8AC3E}">
        <p14:creationId xmlns:p14="http://schemas.microsoft.com/office/powerpoint/2010/main" val="1048904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Edge-Server Systems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a:t>Deployed on the Internet where servers are </a:t>
            </a:r>
            <a:r>
              <a:rPr lang="en-US" dirty="0" smtClean="0"/>
              <a:t>“</a:t>
            </a:r>
            <a:r>
              <a:rPr lang="en-US" dirty="0" smtClean="0">
                <a:solidFill>
                  <a:schemeClr val="accent6"/>
                </a:solidFill>
              </a:rPr>
              <a:t>at the edge</a:t>
            </a:r>
            <a:r>
              <a:rPr lang="en-US" dirty="0" smtClean="0"/>
              <a:t>” </a:t>
            </a:r>
            <a:r>
              <a:rPr lang="en-US" dirty="0"/>
              <a:t>of the network (i.e. first entry to network)</a:t>
            </a:r>
          </a:p>
          <a:p>
            <a:pPr>
              <a:lnSpc>
                <a:spcPct val="100000"/>
              </a:lnSpc>
            </a:pPr>
            <a:r>
              <a:rPr lang="en-US" dirty="0" smtClean="0"/>
              <a:t>Each </a:t>
            </a:r>
            <a:r>
              <a:rPr lang="en-US" dirty="0"/>
              <a:t>client connects to the Internet by means of </a:t>
            </a:r>
            <a:r>
              <a:rPr lang="en-US" dirty="0" smtClean="0"/>
              <a:t>an edge server.</a:t>
            </a:r>
          </a:p>
          <a:p>
            <a:pPr>
              <a:lnSpc>
                <a:spcPct val="100000"/>
              </a:lnSpc>
            </a:pPr>
            <a:endParaRPr lang="en-US" sz="2400" dirty="0"/>
          </a:p>
        </p:txBody>
      </p:sp>
      <p:grpSp>
        <p:nvGrpSpPr>
          <p:cNvPr id="5" name="Group 4"/>
          <p:cNvGrpSpPr/>
          <p:nvPr/>
        </p:nvGrpSpPr>
        <p:grpSpPr>
          <a:xfrm>
            <a:off x="485775" y="2228832"/>
            <a:ext cx="9620250" cy="4014806"/>
            <a:chOff x="485775" y="2228832"/>
            <a:chExt cx="9620250" cy="4014806"/>
          </a:xfrm>
        </p:grpSpPr>
        <p:pic>
          <p:nvPicPr>
            <p:cNvPr id="6" name="Picture 5"/>
            <p:cNvPicPr>
              <a:picLocks noChangeAspect="1"/>
            </p:cNvPicPr>
            <p:nvPr/>
          </p:nvPicPr>
          <p:blipFill rotWithShape="1">
            <a:blip r:embed="rId2"/>
            <a:srcRect b="9420"/>
            <a:stretch/>
          </p:blipFill>
          <p:spPr>
            <a:xfrm>
              <a:off x="485775" y="2499223"/>
              <a:ext cx="9620250" cy="3744415"/>
            </a:xfrm>
            <a:prstGeom prst="rect">
              <a:avLst/>
            </a:prstGeom>
          </p:spPr>
        </p:pic>
        <p:sp>
          <p:nvSpPr>
            <p:cNvPr id="7" name="TextBox 6"/>
            <p:cNvSpPr txBox="1"/>
            <p:nvPr/>
          </p:nvSpPr>
          <p:spPr>
            <a:xfrm>
              <a:off x="1343025" y="2228832"/>
              <a:ext cx="757238" cy="369332"/>
            </a:xfrm>
            <a:prstGeom prst="rect">
              <a:avLst/>
            </a:prstGeom>
            <a:noFill/>
          </p:spPr>
          <p:txBody>
            <a:bodyPr wrap="square" rtlCol="0">
              <a:spAutoFit/>
            </a:bodyPr>
            <a:lstStyle/>
            <a:p>
              <a:r>
                <a:rPr lang="en-IN" dirty="0" smtClean="0">
                  <a:solidFill>
                    <a:srgbClr val="1D3064"/>
                  </a:solidFill>
                </a:rPr>
                <a:t>Client</a:t>
              </a:r>
              <a:endParaRPr lang="en-IN" dirty="0">
                <a:solidFill>
                  <a:srgbClr val="1D3064"/>
                </a:solidFill>
              </a:endParaRPr>
            </a:p>
          </p:txBody>
        </p:sp>
        <p:sp>
          <p:nvSpPr>
            <p:cNvPr id="8" name="TextBox 7"/>
            <p:cNvSpPr txBox="1"/>
            <p:nvPr/>
          </p:nvSpPr>
          <p:spPr>
            <a:xfrm>
              <a:off x="4205289" y="2625760"/>
              <a:ext cx="1790700" cy="369332"/>
            </a:xfrm>
            <a:prstGeom prst="rect">
              <a:avLst/>
            </a:prstGeom>
            <a:noFill/>
          </p:spPr>
          <p:txBody>
            <a:bodyPr wrap="square" rtlCol="0">
              <a:spAutoFit/>
            </a:bodyPr>
            <a:lstStyle/>
            <a:p>
              <a:r>
                <a:rPr lang="en-IN" dirty="0" smtClean="0">
                  <a:solidFill>
                    <a:schemeClr val="accent6"/>
                  </a:solidFill>
                </a:rPr>
                <a:t>Content provider</a:t>
              </a:r>
              <a:endParaRPr lang="en-IN" dirty="0">
                <a:solidFill>
                  <a:schemeClr val="accent6"/>
                </a:solidFill>
              </a:endParaRPr>
            </a:p>
          </p:txBody>
        </p:sp>
        <p:sp>
          <p:nvSpPr>
            <p:cNvPr id="9" name="TextBox 8"/>
            <p:cNvSpPr txBox="1"/>
            <p:nvPr/>
          </p:nvSpPr>
          <p:spPr>
            <a:xfrm>
              <a:off x="1569245" y="3478493"/>
              <a:ext cx="509586" cy="369332"/>
            </a:xfrm>
            <a:prstGeom prst="rect">
              <a:avLst/>
            </a:prstGeom>
            <a:noFill/>
          </p:spPr>
          <p:txBody>
            <a:bodyPr wrap="square" rtlCol="0">
              <a:spAutoFit/>
            </a:bodyPr>
            <a:lstStyle/>
            <a:p>
              <a:r>
                <a:rPr lang="en-IN" dirty="0" smtClean="0">
                  <a:solidFill>
                    <a:srgbClr val="1D3064"/>
                  </a:solidFill>
                </a:rPr>
                <a:t>ISP</a:t>
              </a:r>
              <a:endParaRPr lang="en-IN" dirty="0">
                <a:solidFill>
                  <a:srgbClr val="1D3064"/>
                </a:solidFill>
              </a:endParaRPr>
            </a:p>
          </p:txBody>
        </p:sp>
        <p:sp>
          <p:nvSpPr>
            <p:cNvPr id="10" name="TextBox 9"/>
            <p:cNvSpPr txBox="1"/>
            <p:nvPr/>
          </p:nvSpPr>
          <p:spPr>
            <a:xfrm>
              <a:off x="9058276" y="3293827"/>
              <a:ext cx="528637" cy="369332"/>
            </a:xfrm>
            <a:prstGeom prst="rect">
              <a:avLst/>
            </a:prstGeom>
            <a:noFill/>
          </p:spPr>
          <p:txBody>
            <a:bodyPr wrap="square" rtlCol="0">
              <a:spAutoFit/>
            </a:bodyPr>
            <a:lstStyle/>
            <a:p>
              <a:r>
                <a:rPr lang="en-IN" dirty="0" smtClean="0">
                  <a:solidFill>
                    <a:srgbClr val="1D3064"/>
                  </a:solidFill>
                </a:rPr>
                <a:t>ISP</a:t>
              </a:r>
              <a:endParaRPr lang="en-IN" dirty="0">
                <a:solidFill>
                  <a:srgbClr val="1D3064"/>
                </a:solidFill>
              </a:endParaRPr>
            </a:p>
          </p:txBody>
        </p:sp>
        <p:sp>
          <p:nvSpPr>
            <p:cNvPr id="11" name="TextBox 10"/>
            <p:cNvSpPr txBox="1"/>
            <p:nvPr/>
          </p:nvSpPr>
          <p:spPr>
            <a:xfrm>
              <a:off x="1857376" y="5272807"/>
              <a:ext cx="1314450" cy="369332"/>
            </a:xfrm>
            <a:prstGeom prst="rect">
              <a:avLst/>
            </a:prstGeom>
            <a:noFill/>
          </p:spPr>
          <p:txBody>
            <a:bodyPr wrap="square" rtlCol="0">
              <a:spAutoFit/>
            </a:bodyPr>
            <a:lstStyle/>
            <a:p>
              <a:r>
                <a:rPr lang="en-IN" dirty="0" smtClean="0">
                  <a:solidFill>
                    <a:schemeClr val="accent6"/>
                  </a:solidFill>
                </a:rPr>
                <a:t>Edge server</a:t>
              </a:r>
              <a:endParaRPr lang="en-IN" dirty="0">
                <a:solidFill>
                  <a:schemeClr val="accent6"/>
                </a:solidFill>
              </a:endParaRPr>
            </a:p>
          </p:txBody>
        </p:sp>
        <p:sp>
          <p:nvSpPr>
            <p:cNvPr id="12" name="TextBox 11"/>
            <p:cNvSpPr txBox="1"/>
            <p:nvPr/>
          </p:nvSpPr>
          <p:spPr>
            <a:xfrm>
              <a:off x="7100888" y="4688674"/>
              <a:ext cx="1471611" cy="369332"/>
            </a:xfrm>
            <a:prstGeom prst="rect">
              <a:avLst/>
            </a:prstGeom>
            <a:noFill/>
          </p:spPr>
          <p:txBody>
            <a:bodyPr wrap="square" rtlCol="0">
              <a:spAutoFit/>
            </a:bodyPr>
            <a:lstStyle/>
            <a:p>
              <a:r>
                <a:rPr lang="en-IN" dirty="0" smtClean="0">
                  <a:solidFill>
                    <a:srgbClr val="1D3064"/>
                  </a:solidFill>
                </a:rPr>
                <a:t>Core Internet</a:t>
              </a:r>
              <a:endParaRPr lang="en-IN" dirty="0">
                <a:solidFill>
                  <a:srgbClr val="1D3064"/>
                </a:solidFill>
              </a:endParaRPr>
            </a:p>
          </p:txBody>
        </p:sp>
        <p:sp>
          <p:nvSpPr>
            <p:cNvPr id="13" name="TextBox 12"/>
            <p:cNvSpPr txBox="1"/>
            <p:nvPr/>
          </p:nvSpPr>
          <p:spPr>
            <a:xfrm>
              <a:off x="6816329" y="5874306"/>
              <a:ext cx="1926432" cy="369332"/>
            </a:xfrm>
            <a:prstGeom prst="rect">
              <a:avLst/>
            </a:prstGeom>
            <a:noFill/>
          </p:spPr>
          <p:txBody>
            <a:bodyPr wrap="square" rtlCol="0">
              <a:spAutoFit/>
            </a:bodyPr>
            <a:lstStyle/>
            <a:p>
              <a:r>
                <a:rPr lang="en-IN" dirty="0" smtClean="0">
                  <a:solidFill>
                    <a:schemeClr val="accent6"/>
                  </a:solidFill>
                </a:rPr>
                <a:t>Enterprise network</a:t>
              </a:r>
              <a:endParaRPr lang="en-IN" dirty="0">
                <a:solidFill>
                  <a:schemeClr val="accent6"/>
                </a:solidFill>
              </a:endParaRPr>
            </a:p>
          </p:txBody>
        </p:sp>
      </p:grpSp>
    </p:spTree>
    <p:extLst>
      <p:ext uri="{BB962C8B-B14F-4D97-AF65-F5344CB8AC3E}">
        <p14:creationId xmlns:p14="http://schemas.microsoft.com/office/powerpoint/2010/main" val="4224268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Collaborative Distributed Systems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a:t>A hybrid distributed model that is based </a:t>
            </a:r>
            <a:r>
              <a:rPr lang="en-US" dirty="0" smtClean="0"/>
              <a:t>on mutual </a:t>
            </a:r>
            <a:r>
              <a:rPr lang="en-US" dirty="0"/>
              <a:t>collaboration of various systems</a:t>
            </a:r>
          </a:p>
          <a:p>
            <a:pPr lvl="2"/>
            <a:r>
              <a:rPr lang="en-US" sz="2400" dirty="0" smtClean="0"/>
              <a:t>Client-server </a:t>
            </a:r>
            <a:r>
              <a:rPr lang="en-US" sz="2400" dirty="0"/>
              <a:t>scheme is deployed at the beginning</a:t>
            </a:r>
          </a:p>
          <a:p>
            <a:pPr lvl="2"/>
            <a:r>
              <a:rPr lang="en-US" sz="2400" dirty="0" smtClean="0"/>
              <a:t>Fully </a:t>
            </a:r>
            <a:r>
              <a:rPr lang="en-US" sz="2400" dirty="0"/>
              <a:t>decentralized scheme is used for collaboration after joining the system</a:t>
            </a:r>
          </a:p>
          <a:p>
            <a:pPr>
              <a:lnSpc>
                <a:spcPct val="100000"/>
              </a:lnSpc>
            </a:pPr>
            <a:r>
              <a:rPr lang="en-US" dirty="0" smtClean="0"/>
              <a:t>Examples </a:t>
            </a:r>
            <a:r>
              <a:rPr lang="en-US" dirty="0"/>
              <a:t>of Collaborative Distributed System:</a:t>
            </a:r>
          </a:p>
          <a:p>
            <a:pPr lvl="2"/>
            <a:r>
              <a:rPr lang="en-US" sz="2400" dirty="0" err="1">
                <a:solidFill>
                  <a:schemeClr val="accent6"/>
                </a:solidFill>
              </a:rPr>
              <a:t>BitTorrent</a:t>
            </a:r>
            <a:r>
              <a:rPr lang="en-US" sz="2400" dirty="0">
                <a:solidFill>
                  <a:schemeClr val="accent6"/>
                </a:solidFill>
              </a:rPr>
              <a:t>: </a:t>
            </a:r>
            <a:r>
              <a:rPr lang="en-US" sz="2400" dirty="0"/>
              <a:t>is a P2P File downloading system. It allows download of various chunks of a file from other users until the entire file is downloaded</a:t>
            </a:r>
          </a:p>
          <a:p>
            <a:pPr lvl="2"/>
            <a:r>
              <a:rPr lang="en-US" sz="2400" dirty="0">
                <a:solidFill>
                  <a:schemeClr val="accent6"/>
                </a:solidFill>
              </a:rPr>
              <a:t>Globule: </a:t>
            </a:r>
            <a:r>
              <a:rPr lang="en-US" sz="2400" dirty="0"/>
              <a:t>A Collaborative content distribution network. It allows replication of web pages by various web servers</a:t>
            </a:r>
          </a:p>
        </p:txBody>
      </p:sp>
    </p:spTree>
    <p:extLst>
      <p:ext uri="{BB962C8B-B14F-4D97-AF65-F5344CB8AC3E}">
        <p14:creationId xmlns:p14="http://schemas.microsoft.com/office/powerpoint/2010/main" val="256858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err="1"/>
              <a:t>BitTorrent</a:t>
            </a:r>
            <a:endParaRPr lang="en-US" dirty="0"/>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endParaRPr lang="en-US" sz="2400" dirty="0"/>
          </a:p>
        </p:txBody>
      </p:sp>
      <p:pic>
        <p:nvPicPr>
          <p:cNvPr id="4" name="Picture 3"/>
          <p:cNvPicPr>
            <a:picLocks noChangeAspect="1"/>
          </p:cNvPicPr>
          <p:nvPr/>
        </p:nvPicPr>
        <p:blipFill>
          <a:blip r:embed="rId2"/>
          <a:stretch>
            <a:fillRect/>
          </a:stretch>
        </p:blipFill>
        <p:spPr>
          <a:xfrm>
            <a:off x="783359" y="2088311"/>
            <a:ext cx="10565961" cy="3140829"/>
          </a:xfrm>
          <a:prstGeom prst="rect">
            <a:avLst/>
          </a:prstGeom>
        </p:spPr>
      </p:pic>
      <p:sp>
        <p:nvSpPr>
          <p:cNvPr id="5" name="Rounded Rectangle 4"/>
          <p:cNvSpPr/>
          <p:nvPr/>
        </p:nvSpPr>
        <p:spPr>
          <a:xfrm>
            <a:off x="139997" y="860515"/>
            <a:ext cx="4615973" cy="106296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1D3064"/>
                </a:solidFill>
              </a:rPr>
              <a:t>Information needed to download a specific file</a:t>
            </a:r>
            <a:endParaRPr lang="en-IN" sz="2400" dirty="0">
              <a:solidFill>
                <a:srgbClr val="1D3064"/>
              </a:solidFill>
            </a:endParaRPr>
          </a:p>
        </p:txBody>
      </p:sp>
      <p:sp>
        <p:nvSpPr>
          <p:cNvPr id="6" name="Rounded Rectangle 5"/>
          <p:cNvSpPr/>
          <p:nvPr/>
        </p:nvSpPr>
        <p:spPr>
          <a:xfrm>
            <a:off x="7015164" y="861624"/>
            <a:ext cx="4872036" cy="121228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1D3064"/>
                </a:solidFill>
              </a:rPr>
              <a:t>Many trackers, one per file, tracker holds which node holds which chunk of the file</a:t>
            </a:r>
            <a:endParaRPr lang="en-IN" sz="2400" dirty="0">
              <a:solidFill>
                <a:srgbClr val="1D3064"/>
              </a:solidFill>
            </a:endParaRPr>
          </a:p>
        </p:txBody>
      </p:sp>
      <p:cxnSp>
        <p:nvCxnSpPr>
          <p:cNvPr id="8" name="Straight Arrow Connector 7"/>
          <p:cNvCxnSpPr/>
          <p:nvPr/>
        </p:nvCxnSpPr>
        <p:spPr>
          <a:xfrm>
            <a:off x="3514725" y="1923483"/>
            <a:ext cx="842963" cy="1735242"/>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5886450" y="2073906"/>
            <a:ext cx="1967054" cy="1898019"/>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1628775" y="5575229"/>
            <a:ext cx="7386638" cy="53269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1D3064"/>
                </a:solidFill>
              </a:rPr>
              <a:t>The principal working of </a:t>
            </a:r>
            <a:r>
              <a:rPr lang="en-US" sz="2400" dirty="0" err="1">
                <a:solidFill>
                  <a:srgbClr val="1D3064"/>
                </a:solidFill>
              </a:rPr>
              <a:t>BitTorrent</a:t>
            </a:r>
            <a:r>
              <a:rPr lang="en-US" sz="2400" dirty="0">
                <a:solidFill>
                  <a:srgbClr val="1D3064"/>
                </a:solidFill>
              </a:rPr>
              <a:t> (</a:t>
            </a:r>
            <a:r>
              <a:rPr lang="en-US" sz="2400" dirty="0" err="1">
                <a:solidFill>
                  <a:srgbClr val="1D3064"/>
                </a:solidFill>
              </a:rPr>
              <a:t>Pouwelse</a:t>
            </a:r>
            <a:r>
              <a:rPr lang="en-US" sz="2400" dirty="0">
                <a:solidFill>
                  <a:srgbClr val="1D3064"/>
                </a:solidFill>
              </a:rPr>
              <a:t> et al. 2004).</a:t>
            </a:r>
            <a:endParaRPr lang="en-IN" sz="2400" dirty="0">
              <a:solidFill>
                <a:srgbClr val="1D3064"/>
              </a:solidFill>
            </a:endParaRPr>
          </a:p>
        </p:txBody>
      </p:sp>
    </p:spTree>
    <p:extLst>
      <p:ext uri="{BB962C8B-B14F-4D97-AF65-F5344CB8AC3E}">
        <p14:creationId xmlns:p14="http://schemas.microsoft.com/office/powerpoint/2010/main" val="1449655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Globule</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a:t>Collaborative content distribution network:</a:t>
            </a:r>
          </a:p>
          <a:p>
            <a:pPr lvl="2"/>
            <a:r>
              <a:rPr lang="en-US" sz="2400" dirty="0"/>
              <a:t>Similar to edge-server systems</a:t>
            </a:r>
          </a:p>
          <a:p>
            <a:pPr lvl="2"/>
            <a:r>
              <a:rPr lang="en-US" sz="2400" dirty="0"/>
              <a:t>Enhanced web servers from various users that replicates web pages</a:t>
            </a:r>
          </a:p>
          <a:p>
            <a:pPr>
              <a:lnSpc>
                <a:spcPct val="100000"/>
              </a:lnSpc>
            </a:pPr>
            <a:r>
              <a:rPr lang="en-US" dirty="0" smtClean="0"/>
              <a:t>Components</a:t>
            </a:r>
            <a:endParaRPr lang="en-US" dirty="0"/>
          </a:p>
          <a:p>
            <a:pPr lvl="2"/>
            <a:r>
              <a:rPr lang="en-US" sz="2400" dirty="0"/>
              <a:t>A component that can redirect client requests to other servers.</a:t>
            </a:r>
          </a:p>
          <a:p>
            <a:pPr lvl="2"/>
            <a:r>
              <a:rPr lang="en-US" sz="2400" dirty="0"/>
              <a:t>A component for analyzing access patterns.</a:t>
            </a:r>
          </a:p>
          <a:p>
            <a:pPr lvl="2"/>
            <a:r>
              <a:rPr lang="en-US" sz="2400" dirty="0"/>
              <a:t>A component for managing the replication of Web pages.</a:t>
            </a:r>
          </a:p>
          <a:p>
            <a:pPr>
              <a:lnSpc>
                <a:spcPct val="100000"/>
              </a:lnSpc>
            </a:pPr>
            <a:r>
              <a:rPr lang="en-US" dirty="0" smtClean="0"/>
              <a:t>It Has </a:t>
            </a:r>
            <a:r>
              <a:rPr lang="en-US" dirty="0"/>
              <a:t>a centralized component for registering the </a:t>
            </a:r>
            <a:r>
              <a:rPr lang="en-US" dirty="0" smtClean="0"/>
              <a:t>servers and </a:t>
            </a:r>
            <a:r>
              <a:rPr lang="en-US" dirty="0"/>
              <a:t>make these servers known to others</a:t>
            </a:r>
            <a:endParaRPr lang="en-US" sz="2400" dirty="0"/>
          </a:p>
        </p:txBody>
      </p:sp>
    </p:spTree>
    <p:extLst>
      <p:ext uri="{BB962C8B-B14F-4D97-AF65-F5344CB8AC3E}">
        <p14:creationId xmlns:p14="http://schemas.microsoft.com/office/powerpoint/2010/main" val="3337577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Globule</a:t>
            </a:r>
          </a:p>
        </p:txBody>
      </p:sp>
      <p:grpSp>
        <p:nvGrpSpPr>
          <p:cNvPr id="17" name="Group 16"/>
          <p:cNvGrpSpPr/>
          <p:nvPr/>
        </p:nvGrpSpPr>
        <p:grpSpPr>
          <a:xfrm>
            <a:off x="602456" y="909638"/>
            <a:ext cx="9753600" cy="4591050"/>
            <a:chOff x="659606" y="2266950"/>
            <a:chExt cx="9753600" cy="4591050"/>
          </a:xfrm>
        </p:grpSpPr>
        <p:pic>
          <p:nvPicPr>
            <p:cNvPr id="13" name="Picture 12"/>
            <p:cNvPicPr>
              <a:picLocks noChangeAspect="1"/>
            </p:cNvPicPr>
            <p:nvPr/>
          </p:nvPicPr>
          <p:blipFill>
            <a:blip r:embed="rId2"/>
            <a:stretch>
              <a:fillRect/>
            </a:stretch>
          </p:blipFill>
          <p:spPr>
            <a:xfrm>
              <a:off x="659606" y="2266950"/>
              <a:ext cx="9753600" cy="4591050"/>
            </a:xfrm>
            <a:prstGeom prst="rect">
              <a:avLst/>
            </a:prstGeom>
          </p:spPr>
        </p:pic>
        <p:sp>
          <p:nvSpPr>
            <p:cNvPr id="8" name="TextBox 7"/>
            <p:cNvSpPr txBox="1"/>
            <p:nvPr/>
          </p:nvSpPr>
          <p:spPr>
            <a:xfrm>
              <a:off x="9198771" y="3031218"/>
              <a:ext cx="509586" cy="369332"/>
            </a:xfrm>
            <a:prstGeom prst="rect">
              <a:avLst/>
            </a:prstGeom>
            <a:noFill/>
          </p:spPr>
          <p:txBody>
            <a:bodyPr wrap="square" rtlCol="0">
              <a:spAutoFit/>
            </a:bodyPr>
            <a:lstStyle/>
            <a:p>
              <a:r>
                <a:rPr lang="en-IN" dirty="0" smtClean="0">
                  <a:solidFill>
                    <a:srgbClr val="1D3064"/>
                  </a:solidFill>
                </a:rPr>
                <a:t>ISP</a:t>
              </a:r>
              <a:endParaRPr lang="en-IN" dirty="0">
                <a:solidFill>
                  <a:srgbClr val="1D3064"/>
                </a:solidFill>
              </a:endParaRPr>
            </a:p>
          </p:txBody>
        </p:sp>
        <p:sp>
          <p:nvSpPr>
            <p:cNvPr id="9" name="TextBox 8"/>
            <p:cNvSpPr txBox="1"/>
            <p:nvPr/>
          </p:nvSpPr>
          <p:spPr>
            <a:xfrm>
              <a:off x="1700213" y="3275654"/>
              <a:ext cx="528637" cy="369332"/>
            </a:xfrm>
            <a:prstGeom prst="rect">
              <a:avLst/>
            </a:prstGeom>
            <a:noFill/>
          </p:spPr>
          <p:txBody>
            <a:bodyPr wrap="square" rtlCol="0">
              <a:spAutoFit/>
            </a:bodyPr>
            <a:lstStyle/>
            <a:p>
              <a:r>
                <a:rPr lang="en-IN" dirty="0" smtClean="0">
                  <a:solidFill>
                    <a:srgbClr val="1D3064"/>
                  </a:solidFill>
                </a:rPr>
                <a:t>ISP</a:t>
              </a:r>
              <a:endParaRPr lang="en-IN" dirty="0">
                <a:solidFill>
                  <a:srgbClr val="1D3064"/>
                </a:solidFill>
              </a:endParaRPr>
            </a:p>
          </p:txBody>
        </p:sp>
        <p:sp>
          <p:nvSpPr>
            <p:cNvPr id="10" name="TextBox 9"/>
            <p:cNvSpPr txBox="1"/>
            <p:nvPr/>
          </p:nvSpPr>
          <p:spPr>
            <a:xfrm>
              <a:off x="4420790" y="2906322"/>
              <a:ext cx="1519238" cy="369332"/>
            </a:xfrm>
            <a:prstGeom prst="rect">
              <a:avLst/>
            </a:prstGeom>
            <a:noFill/>
          </p:spPr>
          <p:txBody>
            <a:bodyPr wrap="square" rtlCol="0">
              <a:spAutoFit/>
            </a:bodyPr>
            <a:lstStyle/>
            <a:p>
              <a:r>
                <a:rPr lang="en-IN" dirty="0" smtClean="0">
                  <a:solidFill>
                    <a:schemeClr val="accent6"/>
                  </a:solidFill>
                </a:rPr>
                <a:t>Origin server</a:t>
              </a:r>
              <a:endParaRPr lang="en-IN" dirty="0">
                <a:solidFill>
                  <a:schemeClr val="accent6"/>
                </a:solidFill>
              </a:endParaRPr>
            </a:p>
          </p:txBody>
        </p:sp>
        <p:sp>
          <p:nvSpPr>
            <p:cNvPr id="11" name="TextBox 10"/>
            <p:cNvSpPr txBox="1"/>
            <p:nvPr/>
          </p:nvSpPr>
          <p:spPr>
            <a:xfrm>
              <a:off x="7822408" y="4377809"/>
              <a:ext cx="1471611" cy="369332"/>
            </a:xfrm>
            <a:prstGeom prst="rect">
              <a:avLst/>
            </a:prstGeom>
            <a:noFill/>
          </p:spPr>
          <p:txBody>
            <a:bodyPr wrap="square" rtlCol="0">
              <a:spAutoFit/>
            </a:bodyPr>
            <a:lstStyle/>
            <a:p>
              <a:r>
                <a:rPr lang="en-IN" dirty="0" smtClean="0">
                  <a:solidFill>
                    <a:srgbClr val="1D3064"/>
                  </a:solidFill>
                </a:rPr>
                <a:t>Core Internet</a:t>
              </a:r>
              <a:endParaRPr lang="en-IN" dirty="0">
                <a:solidFill>
                  <a:srgbClr val="1D3064"/>
                </a:solidFill>
              </a:endParaRPr>
            </a:p>
          </p:txBody>
        </p:sp>
        <p:sp>
          <p:nvSpPr>
            <p:cNvPr id="12" name="TextBox 11"/>
            <p:cNvSpPr txBox="1"/>
            <p:nvPr/>
          </p:nvSpPr>
          <p:spPr>
            <a:xfrm>
              <a:off x="7030641" y="5433238"/>
              <a:ext cx="1926432" cy="369332"/>
            </a:xfrm>
            <a:prstGeom prst="rect">
              <a:avLst/>
            </a:prstGeom>
            <a:noFill/>
          </p:spPr>
          <p:txBody>
            <a:bodyPr wrap="square" rtlCol="0">
              <a:spAutoFit/>
            </a:bodyPr>
            <a:lstStyle/>
            <a:p>
              <a:r>
                <a:rPr lang="en-IN" dirty="0" smtClean="0">
                  <a:solidFill>
                    <a:schemeClr val="accent6"/>
                  </a:solidFill>
                </a:rPr>
                <a:t>Enterprise network</a:t>
              </a:r>
              <a:endParaRPr lang="en-IN" dirty="0">
                <a:solidFill>
                  <a:schemeClr val="accent6"/>
                </a:solidFill>
              </a:endParaRPr>
            </a:p>
          </p:txBody>
        </p:sp>
        <p:sp>
          <p:nvSpPr>
            <p:cNvPr id="6" name="TextBox 5"/>
            <p:cNvSpPr txBox="1"/>
            <p:nvPr/>
          </p:nvSpPr>
          <p:spPr>
            <a:xfrm>
              <a:off x="2228850" y="2586829"/>
              <a:ext cx="757238" cy="369332"/>
            </a:xfrm>
            <a:prstGeom prst="rect">
              <a:avLst/>
            </a:prstGeom>
            <a:noFill/>
          </p:spPr>
          <p:txBody>
            <a:bodyPr wrap="square" rtlCol="0">
              <a:spAutoFit/>
            </a:bodyPr>
            <a:lstStyle/>
            <a:p>
              <a:r>
                <a:rPr lang="en-IN" dirty="0" smtClean="0">
                  <a:solidFill>
                    <a:srgbClr val="1D3064"/>
                  </a:solidFill>
                </a:rPr>
                <a:t>Client</a:t>
              </a:r>
              <a:endParaRPr lang="en-IN" dirty="0">
                <a:solidFill>
                  <a:srgbClr val="1D3064"/>
                </a:solidFill>
              </a:endParaRPr>
            </a:p>
          </p:txBody>
        </p:sp>
        <p:sp>
          <p:nvSpPr>
            <p:cNvPr id="14" name="TextBox 13"/>
            <p:cNvSpPr txBox="1"/>
            <p:nvPr/>
          </p:nvSpPr>
          <p:spPr>
            <a:xfrm>
              <a:off x="3810000" y="6068216"/>
              <a:ext cx="757238" cy="369332"/>
            </a:xfrm>
            <a:prstGeom prst="rect">
              <a:avLst/>
            </a:prstGeom>
            <a:noFill/>
          </p:spPr>
          <p:txBody>
            <a:bodyPr wrap="square" rtlCol="0">
              <a:spAutoFit/>
            </a:bodyPr>
            <a:lstStyle/>
            <a:p>
              <a:r>
                <a:rPr lang="en-IN" dirty="0" smtClean="0">
                  <a:solidFill>
                    <a:srgbClr val="1D3064"/>
                  </a:solidFill>
                </a:rPr>
                <a:t>Client</a:t>
              </a:r>
              <a:endParaRPr lang="en-IN" dirty="0">
                <a:solidFill>
                  <a:srgbClr val="1D3064"/>
                </a:solidFill>
              </a:endParaRPr>
            </a:p>
          </p:txBody>
        </p:sp>
        <p:sp>
          <p:nvSpPr>
            <p:cNvPr id="15" name="TextBox 14"/>
            <p:cNvSpPr txBox="1"/>
            <p:nvPr/>
          </p:nvSpPr>
          <p:spPr>
            <a:xfrm>
              <a:off x="6732984" y="5960953"/>
              <a:ext cx="757238" cy="369332"/>
            </a:xfrm>
            <a:prstGeom prst="rect">
              <a:avLst/>
            </a:prstGeom>
            <a:noFill/>
          </p:spPr>
          <p:txBody>
            <a:bodyPr wrap="square" rtlCol="0">
              <a:spAutoFit/>
            </a:bodyPr>
            <a:lstStyle/>
            <a:p>
              <a:r>
                <a:rPr lang="en-IN" dirty="0" smtClean="0">
                  <a:solidFill>
                    <a:srgbClr val="1D3064"/>
                  </a:solidFill>
                </a:rPr>
                <a:t>Client</a:t>
              </a:r>
              <a:endParaRPr lang="en-IN" dirty="0">
                <a:solidFill>
                  <a:srgbClr val="1D3064"/>
                </a:solidFill>
              </a:endParaRPr>
            </a:p>
          </p:txBody>
        </p:sp>
        <p:sp>
          <p:nvSpPr>
            <p:cNvPr id="16" name="TextBox 15"/>
            <p:cNvSpPr txBox="1"/>
            <p:nvPr/>
          </p:nvSpPr>
          <p:spPr>
            <a:xfrm>
              <a:off x="1871663" y="5085877"/>
              <a:ext cx="1471611" cy="369332"/>
            </a:xfrm>
            <a:prstGeom prst="rect">
              <a:avLst/>
            </a:prstGeom>
            <a:noFill/>
          </p:spPr>
          <p:txBody>
            <a:bodyPr wrap="square" rtlCol="0">
              <a:spAutoFit/>
            </a:bodyPr>
            <a:lstStyle/>
            <a:p>
              <a:r>
                <a:rPr lang="en-IN" dirty="0" smtClean="0">
                  <a:solidFill>
                    <a:srgbClr val="1D3064"/>
                  </a:solidFill>
                </a:rPr>
                <a:t>Replica Server</a:t>
              </a:r>
              <a:endParaRPr lang="en-IN" dirty="0">
                <a:solidFill>
                  <a:srgbClr val="1D3064"/>
                </a:solidFill>
              </a:endParaRPr>
            </a:p>
          </p:txBody>
        </p:sp>
      </p:grpSp>
    </p:spTree>
    <p:extLst>
      <p:ext uri="{BB962C8B-B14F-4D97-AF65-F5344CB8AC3E}">
        <p14:creationId xmlns:p14="http://schemas.microsoft.com/office/powerpoint/2010/main" val="2939904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Architectures Versus </a:t>
            </a:r>
            <a:r>
              <a:rPr lang="en-US" dirty="0"/>
              <a:t>Middleware</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p:txBody>
          <a:bodyPr/>
          <a:lstStyle/>
          <a:p>
            <a:pPr>
              <a:lnSpc>
                <a:spcPct val="100000"/>
              </a:lnSpc>
            </a:pPr>
            <a:r>
              <a:rPr lang="en-US" dirty="0"/>
              <a:t>Middleware forms a layer between applications and distributed platforms</a:t>
            </a:r>
          </a:p>
          <a:p>
            <a:pPr>
              <a:lnSpc>
                <a:spcPct val="100000"/>
              </a:lnSpc>
            </a:pPr>
            <a:r>
              <a:rPr lang="en-US" dirty="0"/>
              <a:t>Provide a degree of distribution transparency</a:t>
            </a:r>
            <a:r>
              <a:rPr lang="en-US" dirty="0" smtClean="0"/>
              <a:t>, hiding </a:t>
            </a:r>
            <a:r>
              <a:rPr lang="en-US" dirty="0"/>
              <a:t>the distribution of data, processing, and control from </a:t>
            </a:r>
            <a:r>
              <a:rPr lang="en-US" dirty="0" smtClean="0"/>
              <a:t>applications.</a:t>
            </a:r>
          </a:p>
          <a:p>
            <a:pPr>
              <a:lnSpc>
                <a:spcPct val="100000"/>
              </a:lnSpc>
            </a:pPr>
            <a:r>
              <a:rPr lang="en-US" dirty="0"/>
              <a:t>Many middleware follows a specific architecture style</a:t>
            </a:r>
          </a:p>
          <a:p>
            <a:pPr lvl="2"/>
            <a:r>
              <a:rPr lang="en-US" sz="2400" dirty="0" smtClean="0"/>
              <a:t>Object-based </a:t>
            </a:r>
            <a:r>
              <a:rPr lang="en-US" sz="2400" dirty="0"/>
              <a:t>style, event-based style</a:t>
            </a:r>
          </a:p>
          <a:p>
            <a:pPr lvl="2"/>
            <a:r>
              <a:rPr lang="en-US" sz="2400" dirty="0" smtClean="0">
                <a:solidFill>
                  <a:schemeClr val="accent6"/>
                </a:solidFill>
              </a:rPr>
              <a:t>Benefits</a:t>
            </a:r>
            <a:r>
              <a:rPr lang="en-US" sz="2400" dirty="0"/>
              <a:t>: simpler to design application</a:t>
            </a:r>
          </a:p>
          <a:p>
            <a:pPr lvl="2"/>
            <a:r>
              <a:rPr lang="en-US" sz="2400" dirty="0" smtClean="0">
                <a:solidFill>
                  <a:schemeClr val="accent6"/>
                </a:solidFill>
              </a:rPr>
              <a:t>Limitations</a:t>
            </a:r>
            <a:r>
              <a:rPr lang="en-US" sz="2400" dirty="0"/>
              <a:t>: the solution may not be </a:t>
            </a:r>
            <a:r>
              <a:rPr lang="en-US" sz="2400" dirty="0" smtClean="0">
                <a:solidFill>
                  <a:schemeClr val="accent6"/>
                </a:solidFill>
              </a:rPr>
              <a:t>optimal</a:t>
            </a:r>
            <a:endParaRPr lang="en-US" dirty="0">
              <a:solidFill>
                <a:schemeClr val="accent6"/>
              </a:solidFill>
            </a:endParaRPr>
          </a:p>
          <a:p>
            <a:pPr>
              <a:lnSpc>
                <a:spcPct val="100000"/>
              </a:lnSpc>
            </a:pPr>
            <a:r>
              <a:rPr lang="en-US" dirty="0"/>
              <a:t>In many cases, distributed systems/applications are developed according to a specific architectural style </a:t>
            </a:r>
            <a:r>
              <a:rPr lang="en-US" dirty="0" smtClean="0"/>
              <a:t>.</a:t>
            </a:r>
            <a:endParaRPr lang="en-US" dirty="0"/>
          </a:p>
          <a:p>
            <a:pPr>
              <a:lnSpc>
                <a:spcPct val="100000"/>
              </a:lnSpc>
            </a:pPr>
            <a:r>
              <a:rPr lang="en-US" dirty="0"/>
              <a:t>Middleware systems follow a specific architectural style</a:t>
            </a:r>
          </a:p>
          <a:p>
            <a:pPr lvl="2"/>
            <a:r>
              <a:rPr lang="en-US" sz="2400" dirty="0" smtClean="0"/>
              <a:t>Object-based </a:t>
            </a:r>
            <a:r>
              <a:rPr lang="en-US" sz="2400" dirty="0"/>
              <a:t>architectural style - CORBA</a:t>
            </a:r>
          </a:p>
          <a:p>
            <a:pPr lvl="2"/>
            <a:r>
              <a:rPr lang="en-US" sz="2400" dirty="0" smtClean="0"/>
              <a:t>Event-based </a:t>
            </a:r>
            <a:r>
              <a:rPr lang="en-US" sz="2400" dirty="0"/>
              <a:t>architectural style - </a:t>
            </a:r>
            <a:r>
              <a:rPr lang="en-US" sz="2400" dirty="0" smtClean="0"/>
              <a:t>TIB/Rendezvous</a:t>
            </a:r>
          </a:p>
          <a:p>
            <a:pPr marL="265113" lvl="2" indent="-265113">
              <a:lnSpc>
                <a:spcPct val="100000"/>
              </a:lnSpc>
              <a:spcBef>
                <a:spcPts val="1000"/>
              </a:spcBef>
              <a:buFont typeface="Webdings" panose="05030102010509060703" pitchFamily="18" charset="2"/>
              <a:buChar char=""/>
            </a:pPr>
            <a:r>
              <a:rPr lang="en-US" sz="2400" dirty="0" smtClean="0">
                <a:solidFill>
                  <a:srgbClr val="1D3064"/>
                </a:solidFill>
              </a:rPr>
              <a:t>Interceptors</a:t>
            </a:r>
            <a:r>
              <a:rPr lang="en-US" sz="2400" dirty="0" smtClean="0"/>
              <a:t> : Intercept the usual flow of control when invoking a remote object</a:t>
            </a:r>
            <a:endParaRPr lang="en-US" sz="2400" dirty="0"/>
          </a:p>
        </p:txBody>
      </p:sp>
    </p:spTree>
    <p:extLst>
      <p:ext uri="{BB962C8B-B14F-4D97-AF65-F5344CB8AC3E}">
        <p14:creationId xmlns:p14="http://schemas.microsoft.com/office/powerpoint/2010/main" val="257112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Supporting Technology: Interceptors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927470" cy="5590565"/>
          </a:xfrm>
        </p:spPr>
        <p:txBody>
          <a:bodyPr/>
          <a:lstStyle/>
          <a:p>
            <a:pPr>
              <a:lnSpc>
                <a:spcPct val="100000"/>
              </a:lnSpc>
            </a:pPr>
            <a:r>
              <a:rPr lang="en-US" dirty="0"/>
              <a:t>An Interceptor is a software </a:t>
            </a:r>
            <a:r>
              <a:rPr lang="en-US" dirty="0" smtClean="0"/>
              <a:t>that </a:t>
            </a:r>
            <a:r>
              <a:rPr lang="en-US" sz="2400" dirty="0" smtClean="0"/>
              <a:t>Breaks </a:t>
            </a:r>
            <a:r>
              <a:rPr lang="en-US" sz="2400" dirty="0"/>
              <a:t>the usual flow of control </a:t>
            </a:r>
            <a:r>
              <a:rPr lang="en-US" sz="2400" dirty="0" smtClean="0"/>
              <a:t>and Allows </a:t>
            </a:r>
            <a:r>
              <a:rPr lang="en-US" sz="2400" dirty="0"/>
              <a:t>other (application specific) code to be executed</a:t>
            </a:r>
          </a:p>
          <a:p>
            <a:pPr>
              <a:lnSpc>
                <a:spcPct val="100000"/>
              </a:lnSpc>
            </a:pPr>
            <a:r>
              <a:rPr lang="en-US" dirty="0"/>
              <a:t>It makes middleware more adaptable to application requirements and changing environment</a:t>
            </a:r>
          </a:p>
          <a:p>
            <a:pPr>
              <a:lnSpc>
                <a:spcPct val="100000"/>
              </a:lnSpc>
            </a:pPr>
            <a:r>
              <a:rPr lang="en-US" dirty="0" smtClean="0"/>
              <a:t>Interceptors </a:t>
            </a:r>
            <a:r>
              <a:rPr lang="en-US" dirty="0"/>
              <a:t>are good for</a:t>
            </a:r>
          </a:p>
          <a:p>
            <a:pPr lvl="2"/>
            <a:r>
              <a:rPr lang="en-US" sz="2400" dirty="0" smtClean="0"/>
              <a:t>Providing </a:t>
            </a:r>
            <a:r>
              <a:rPr lang="en-US" sz="2400" dirty="0"/>
              <a:t>transparent replication and</a:t>
            </a:r>
          </a:p>
          <a:p>
            <a:pPr lvl="2"/>
            <a:r>
              <a:rPr lang="en-US" sz="2400" dirty="0"/>
              <a:t>I</a:t>
            </a:r>
            <a:r>
              <a:rPr lang="en-US" sz="2400" dirty="0" smtClean="0"/>
              <a:t>mproving </a:t>
            </a:r>
            <a:r>
              <a:rPr lang="en-US" sz="2400" dirty="0"/>
              <a:t>performance</a:t>
            </a:r>
          </a:p>
        </p:txBody>
      </p:sp>
    </p:spTree>
    <p:extLst>
      <p:ext uri="{BB962C8B-B14F-4D97-AF65-F5344CB8AC3E}">
        <p14:creationId xmlns:p14="http://schemas.microsoft.com/office/powerpoint/2010/main" val="3627271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Interceptors</a:t>
            </a:r>
          </a:p>
        </p:txBody>
      </p:sp>
      <p:sp>
        <p:nvSpPr>
          <p:cNvPr id="6" name="Rounded Rectangle 5"/>
          <p:cNvSpPr/>
          <p:nvPr/>
        </p:nvSpPr>
        <p:spPr>
          <a:xfrm>
            <a:off x="101120" y="1050076"/>
            <a:ext cx="3578691" cy="106296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1D3064"/>
                </a:solidFill>
              </a:rPr>
              <a:t>May want to send to many other B’s (i.e. replicated)</a:t>
            </a:r>
            <a:endParaRPr lang="en-IN" sz="2400" dirty="0">
              <a:solidFill>
                <a:srgbClr val="1D3064"/>
              </a:solidFill>
            </a:endParaRPr>
          </a:p>
        </p:txBody>
      </p:sp>
      <p:sp>
        <p:nvSpPr>
          <p:cNvPr id="7" name="Rounded Rectangle 6"/>
          <p:cNvSpPr/>
          <p:nvPr/>
        </p:nvSpPr>
        <p:spPr>
          <a:xfrm>
            <a:off x="101120" y="4572000"/>
            <a:ext cx="3777084" cy="116944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1D3064"/>
                </a:solidFill>
              </a:rPr>
              <a:t>May want to break a large message for better performance</a:t>
            </a:r>
            <a:endParaRPr lang="en-IN" sz="2400" dirty="0">
              <a:solidFill>
                <a:srgbClr val="1D3064"/>
              </a:solidFill>
            </a:endParaRPr>
          </a:p>
        </p:txBody>
      </p:sp>
      <p:grpSp>
        <p:nvGrpSpPr>
          <p:cNvPr id="11" name="Group 10"/>
          <p:cNvGrpSpPr/>
          <p:nvPr/>
        </p:nvGrpSpPr>
        <p:grpSpPr>
          <a:xfrm>
            <a:off x="4419600" y="937724"/>
            <a:ext cx="7458555" cy="5460943"/>
            <a:chOff x="774700" y="1193800"/>
            <a:chExt cx="7458555" cy="5460943"/>
          </a:xfrm>
        </p:grpSpPr>
        <p:pic>
          <p:nvPicPr>
            <p:cNvPr id="12" name="Picture 11"/>
            <p:cNvPicPr>
              <a:picLocks noChangeAspect="1"/>
            </p:cNvPicPr>
            <p:nvPr/>
          </p:nvPicPr>
          <p:blipFill rotWithShape="1">
            <a:blip r:embed="rId2"/>
            <a:srcRect l="5434" t="5858"/>
            <a:stretch/>
          </p:blipFill>
          <p:spPr>
            <a:xfrm>
              <a:off x="774700" y="1193800"/>
              <a:ext cx="7016749" cy="5460943"/>
            </a:xfrm>
            <a:prstGeom prst="rect">
              <a:avLst/>
            </a:prstGeom>
          </p:spPr>
        </p:pic>
        <p:sp>
          <p:nvSpPr>
            <p:cNvPr id="13" name="TextBox 12"/>
            <p:cNvSpPr txBox="1"/>
            <p:nvPr/>
          </p:nvSpPr>
          <p:spPr>
            <a:xfrm>
              <a:off x="1749184" y="1560172"/>
              <a:ext cx="1620104" cy="371475"/>
            </a:xfrm>
            <a:prstGeom prst="rect">
              <a:avLst/>
            </a:prstGeom>
            <a:noFill/>
          </p:spPr>
          <p:txBody>
            <a:bodyPr wrap="square" rtlCol="0">
              <a:spAutoFit/>
            </a:bodyPr>
            <a:lstStyle/>
            <a:p>
              <a:r>
                <a:rPr lang="en-IN" dirty="0" smtClean="0">
                  <a:solidFill>
                    <a:schemeClr val="accent6"/>
                  </a:solidFill>
                </a:rPr>
                <a:t>Intercepted Call</a:t>
              </a:r>
              <a:endParaRPr lang="en-IN" dirty="0">
                <a:solidFill>
                  <a:schemeClr val="accent6"/>
                </a:solidFill>
              </a:endParaRPr>
            </a:p>
          </p:txBody>
        </p:sp>
        <p:sp>
          <p:nvSpPr>
            <p:cNvPr id="14" name="TextBox 13"/>
            <p:cNvSpPr txBox="1"/>
            <p:nvPr/>
          </p:nvSpPr>
          <p:spPr>
            <a:xfrm>
              <a:off x="4655800" y="1520824"/>
              <a:ext cx="1783100" cy="369332"/>
            </a:xfrm>
            <a:prstGeom prst="rect">
              <a:avLst/>
            </a:prstGeom>
            <a:noFill/>
          </p:spPr>
          <p:txBody>
            <a:bodyPr wrap="square" rtlCol="0">
              <a:spAutoFit/>
            </a:bodyPr>
            <a:lstStyle/>
            <a:p>
              <a:r>
                <a:rPr lang="en-IN" dirty="0" smtClean="0">
                  <a:solidFill>
                    <a:srgbClr val="1D3064"/>
                  </a:solidFill>
                </a:rPr>
                <a:t>Client Application</a:t>
              </a:r>
              <a:endParaRPr lang="en-IN" dirty="0">
                <a:solidFill>
                  <a:srgbClr val="1D3064"/>
                </a:solidFill>
              </a:endParaRPr>
            </a:p>
          </p:txBody>
        </p:sp>
        <p:sp>
          <p:nvSpPr>
            <p:cNvPr id="15" name="TextBox 14"/>
            <p:cNvSpPr txBox="1"/>
            <p:nvPr/>
          </p:nvSpPr>
          <p:spPr>
            <a:xfrm>
              <a:off x="3868400" y="2372296"/>
              <a:ext cx="1681500" cy="369332"/>
            </a:xfrm>
            <a:prstGeom prst="rect">
              <a:avLst/>
            </a:prstGeom>
            <a:noFill/>
          </p:spPr>
          <p:txBody>
            <a:bodyPr wrap="square" rtlCol="0">
              <a:spAutoFit/>
            </a:bodyPr>
            <a:lstStyle/>
            <a:p>
              <a:r>
                <a:rPr lang="en-IN" dirty="0" smtClean="0">
                  <a:solidFill>
                    <a:srgbClr val="1D3064"/>
                  </a:solidFill>
                </a:rPr>
                <a:t>Application stub</a:t>
              </a:r>
              <a:endParaRPr lang="en-IN" dirty="0">
                <a:solidFill>
                  <a:srgbClr val="1D3064"/>
                </a:solidFill>
              </a:endParaRPr>
            </a:p>
          </p:txBody>
        </p:sp>
        <p:sp>
          <p:nvSpPr>
            <p:cNvPr id="16" name="TextBox 15"/>
            <p:cNvSpPr txBox="1"/>
            <p:nvPr/>
          </p:nvSpPr>
          <p:spPr>
            <a:xfrm>
              <a:off x="3868400" y="4053537"/>
              <a:ext cx="1681500" cy="338554"/>
            </a:xfrm>
            <a:prstGeom prst="rect">
              <a:avLst/>
            </a:prstGeom>
            <a:noFill/>
          </p:spPr>
          <p:txBody>
            <a:bodyPr wrap="square" rtlCol="0">
              <a:spAutoFit/>
            </a:bodyPr>
            <a:lstStyle/>
            <a:p>
              <a:r>
                <a:rPr lang="en-IN" sz="1600" dirty="0" smtClean="0">
                  <a:solidFill>
                    <a:srgbClr val="1D3064"/>
                  </a:solidFill>
                </a:rPr>
                <a:t>Object middleware</a:t>
              </a:r>
              <a:endParaRPr lang="en-IN" sz="1600" dirty="0">
                <a:solidFill>
                  <a:srgbClr val="1D3064"/>
                </a:solidFill>
              </a:endParaRPr>
            </a:p>
          </p:txBody>
        </p:sp>
        <p:sp>
          <p:nvSpPr>
            <p:cNvPr id="17" name="TextBox 16"/>
            <p:cNvSpPr txBox="1"/>
            <p:nvPr/>
          </p:nvSpPr>
          <p:spPr>
            <a:xfrm>
              <a:off x="3925885" y="5745568"/>
              <a:ext cx="1211600" cy="369332"/>
            </a:xfrm>
            <a:prstGeom prst="rect">
              <a:avLst/>
            </a:prstGeom>
            <a:noFill/>
          </p:spPr>
          <p:txBody>
            <a:bodyPr wrap="square" rtlCol="0">
              <a:spAutoFit/>
            </a:bodyPr>
            <a:lstStyle/>
            <a:p>
              <a:r>
                <a:rPr lang="en-IN" dirty="0" smtClean="0">
                  <a:solidFill>
                    <a:srgbClr val="1D3064"/>
                  </a:solidFill>
                </a:rPr>
                <a:t>Local OS</a:t>
              </a:r>
              <a:endParaRPr lang="en-IN" dirty="0">
                <a:solidFill>
                  <a:srgbClr val="1D3064"/>
                </a:solidFill>
              </a:endParaRPr>
            </a:p>
          </p:txBody>
        </p:sp>
        <p:sp>
          <p:nvSpPr>
            <p:cNvPr id="18" name="TextBox 17"/>
            <p:cNvSpPr txBox="1"/>
            <p:nvPr/>
          </p:nvSpPr>
          <p:spPr>
            <a:xfrm>
              <a:off x="5816600" y="6250313"/>
              <a:ext cx="1435100" cy="369332"/>
            </a:xfrm>
            <a:prstGeom prst="rect">
              <a:avLst/>
            </a:prstGeom>
            <a:noFill/>
          </p:spPr>
          <p:txBody>
            <a:bodyPr wrap="square" rtlCol="0">
              <a:spAutoFit/>
            </a:bodyPr>
            <a:lstStyle/>
            <a:p>
              <a:r>
                <a:rPr lang="en-IN" dirty="0" smtClean="0"/>
                <a:t>To Object B</a:t>
              </a:r>
              <a:endParaRPr lang="en-IN" dirty="0"/>
            </a:p>
          </p:txBody>
        </p:sp>
        <p:sp>
          <p:nvSpPr>
            <p:cNvPr id="19" name="TextBox 18"/>
            <p:cNvSpPr txBox="1"/>
            <p:nvPr/>
          </p:nvSpPr>
          <p:spPr>
            <a:xfrm>
              <a:off x="864942" y="2907756"/>
              <a:ext cx="2538657" cy="353943"/>
            </a:xfrm>
            <a:prstGeom prst="rect">
              <a:avLst/>
            </a:prstGeom>
            <a:noFill/>
          </p:spPr>
          <p:txBody>
            <a:bodyPr wrap="square" rtlCol="0">
              <a:spAutoFit/>
            </a:bodyPr>
            <a:lstStyle/>
            <a:p>
              <a:r>
                <a:rPr lang="en-IN" sz="1700" b="1" dirty="0" smtClean="0">
                  <a:solidFill>
                    <a:srgbClr val="1D3064"/>
                  </a:solidFill>
                </a:rPr>
                <a:t>Request-level interceptor</a:t>
              </a:r>
              <a:endParaRPr lang="en-IN" sz="1700" b="1" dirty="0">
                <a:solidFill>
                  <a:srgbClr val="1D3064"/>
                </a:solidFill>
              </a:endParaRPr>
            </a:p>
          </p:txBody>
        </p:sp>
        <p:sp>
          <p:nvSpPr>
            <p:cNvPr id="20" name="TextBox 19"/>
            <p:cNvSpPr txBox="1"/>
            <p:nvPr/>
          </p:nvSpPr>
          <p:spPr>
            <a:xfrm>
              <a:off x="852912" y="4609283"/>
              <a:ext cx="2538657" cy="353943"/>
            </a:xfrm>
            <a:prstGeom prst="rect">
              <a:avLst/>
            </a:prstGeom>
            <a:noFill/>
          </p:spPr>
          <p:txBody>
            <a:bodyPr wrap="square" rtlCol="0">
              <a:spAutoFit/>
            </a:bodyPr>
            <a:lstStyle/>
            <a:p>
              <a:r>
                <a:rPr lang="en-IN" sz="1700" b="1" dirty="0" smtClean="0">
                  <a:solidFill>
                    <a:srgbClr val="1D3064"/>
                  </a:solidFill>
                </a:rPr>
                <a:t>Message-level interceptor</a:t>
              </a:r>
              <a:endParaRPr lang="en-IN" sz="1700" b="1" dirty="0">
                <a:solidFill>
                  <a:srgbClr val="1D3064"/>
                </a:solidFill>
              </a:endParaRPr>
            </a:p>
          </p:txBody>
        </p:sp>
        <p:sp>
          <p:nvSpPr>
            <p:cNvPr id="21" name="TextBox 20"/>
            <p:cNvSpPr txBox="1"/>
            <p:nvPr/>
          </p:nvSpPr>
          <p:spPr>
            <a:xfrm>
              <a:off x="6199271" y="2932082"/>
              <a:ext cx="2033984" cy="369332"/>
            </a:xfrm>
            <a:prstGeom prst="rect">
              <a:avLst/>
            </a:prstGeom>
            <a:noFill/>
          </p:spPr>
          <p:txBody>
            <a:bodyPr wrap="square" rtlCol="0">
              <a:spAutoFit/>
            </a:bodyPr>
            <a:lstStyle/>
            <a:p>
              <a:r>
                <a:rPr lang="en-IN" dirty="0" err="1" smtClean="0">
                  <a:solidFill>
                    <a:schemeClr val="accent6"/>
                  </a:solidFill>
                </a:rPr>
                <a:t>Nonintercepted</a:t>
              </a:r>
              <a:r>
                <a:rPr lang="en-IN" dirty="0" smtClean="0">
                  <a:solidFill>
                    <a:schemeClr val="accent6"/>
                  </a:solidFill>
                </a:rPr>
                <a:t> Call</a:t>
              </a:r>
              <a:endParaRPr lang="en-IN" dirty="0">
                <a:solidFill>
                  <a:schemeClr val="accent6"/>
                </a:solidFill>
              </a:endParaRPr>
            </a:p>
          </p:txBody>
        </p:sp>
        <p:sp>
          <p:nvSpPr>
            <p:cNvPr id="22" name="TextBox 21"/>
            <p:cNvSpPr txBox="1"/>
            <p:nvPr/>
          </p:nvSpPr>
          <p:spPr>
            <a:xfrm>
              <a:off x="4531685" y="1865069"/>
              <a:ext cx="2178020" cy="338554"/>
            </a:xfrm>
            <a:prstGeom prst="rect">
              <a:avLst/>
            </a:prstGeom>
            <a:noFill/>
          </p:spPr>
          <p:txBody>
            <a:bodyPr wrap="square" rtlCol="0">
              <a:spAutoFit/>
            </a:bodyPr>
            <a:lstStyle/>
            <a:p>
              <a:r>
                <a:rPr lang="en-IN" sz="1600" dirty="0" err="1" smtClean="0"/>
                <a:t>B.do_something</a:t>
              </a:r>
              <a:r>
                <a:rPr lang="en-IN" sz="1600" dirty="0" smtClean="0"/>
                <a:t>(value)</a:t>
              </a:r>
              <a:endParaRPr lang="en-IN" sz="1600" dirty="0"/>
            </a:p>
          </p:txBody>
        </p:sp>
        <p:sp>
          <p:nvSpPr>
            <p:cNvPr id="23" name="TextBox 22"/>
            <p:cNvSpPr txBox="1"/>
            <p:nvPr/>
          </p:nvSpPr>
          <p:spPr>
            <a:xfrm>
              <a:off x="4184390" y="3544472"/>
              <a:ext cx="2896470" cy="338554"/>
            </a:xfrm>
            <a:prstGeom prst="rect">
              <a:avLst/>
            </a:prstGeom>
            <a:noFill/>
          </p:spPr>
          <p:txBody>
            <a:bodyPr wrap="square" rtlCol="0">
              <a:spAutoFit/>
            </a:bodyPr>
            <a:lstStyle/>
            <a:p>
              <a:r>
                <a:rPr lang="en-IN" sz="1600" dirty="0" smtClean="0"/>
                <a:t>Invoke(B, &amp;</a:t>
              </a:r>
              <a:r>
                <a:rPr lang="en-IN" sz="1600" dirty="0" err="1" smtClean="0"/>
                <a:t>do_something</a:t>
              </a:r>
              <a:r>
                <a:rPr lang="en-IN" sz="1600" dirty="0" smtClean="0"/>
                <a:t>, value)</a:t>
              </a:r>
              <a:endParaRPr lang="en-IN" sz="1600" dirty="0"/>
            </a:p>
          </p:txBody>
        </p:sp>
        <p:sp>
          <p:nvSpPr>
            <p:cNvPr id="24" name="TextBox 23"/>
            <p:cNvSpPr txBox="1"/>
            <p:nvPr/>
          </p:nvSpPr>
          <p:spPr>
            <a:xfrm>
              <a:off x="4121660" y="5236503"/>
              <a:ext cx="2896470" cy="338554"/>
            </a:xfrm>
            <a:prstGeom prst="rect">
              <a:avLst/>
            </a:prstGeom>
            <a:noFill/>
          </p:spPr>
          <p:txBody>
            <a:bodyPr wrap="square" rtlCol="0">
              <a:spAutoFit/>
            </a:bodyPr>
            <a:lstStyle/>
            <a:p>
              <a:r>
                <a:rPr lang="en-IN" sz="1600" dirty="0" smtClean="0"/>
                <a:t>send([B, “</a:t>
              </a:r>
              <a:r>
                <a:rPr lang="en-IN" sz="1600" dirty="0" err="1" smtClean="0"/>
                <a:t>do_something</a:t>
              </a:r>
              <a:r>
                <a:rPr lang="en-IN" sz="1600" dirty="0" smtClean="0"/>
                <a:t>”, value])</a:t>
              </a:r>
              <a:endParaRPr lang="en-IN" sz="1600" dirty="0"/>
            </a:p>
          </p:txBody>
        </p:sp>
      </p:grpSp>
      <p:cxnSp>
        <p:nvCxnSpPr>
          <p:cNvPr id="8" name="Straight Arrow Connector 7"/>
          <p:cNvCxnSpPr/>
          <p:nvPr/>
        </p:nvCxnSpPr>
        <p:spPr>
          <a:xfrm>
            <a:off x="3711437" y="1840966"/>
            <a:ext cx="1064746" cy="671155"/>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3829414" y="4719579"/>
            <a:ext cx="680428" cy="260849"/>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3952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22" presetClass="entr" presetSubtype="8"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22" presetClass="entr" presetSubtype="8"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General Approaches for </a:t>
            </a:r>
            <a:r>
              <a:rPr lang="en-US" dirty="0" smtClean="0"/>
              <a:t>Adaptability (Adaptive Middleware)</a:t>
            </a:r>
            <a:endParaRPr lang="en-US" dirty="0"/>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0000"/>
              </a:lnSpc>
            </a:pPr>
            <a:r>
              <a:rPr lang="en-US" dirty="0">
                <a:solidFill>
                  <a:srgbClr val="1D3064"/>
                </a:solidFill>
              </a:rPr>
              <a:t>Separation of </a:t>
            </a:r>
            <a:r>
              <a:rPr lang="en-US" dirty="0" smtClean="0">
                <a:solidFill>
                  <a:srgbClr val="1D3064"/>
                </a:solidFill>
              </a:rPr>
              <a:t>concerns</a:t>
            </a:r>
          </a:p>
          <a:p>
            <a:pPr lvl="2"/>
            <a:r>
              <a:rPr lang="en-US" sz="2400" dirty="0"/>
              <a:t>Modularizing the system and separate security </a:t>
            </a:r>
            <a:r>
              <a:rPr lang="en-US" sz="2400" dirty="0" smtClean="0"/>
              <a:t>from functionality</a:t>
            </a:r>
            <a:endParaRPr lang="en-US" sz="2400" dirty="0"/>
          </a:p>
          <a:p>
            <a:pPr lvl="2"/>
            <a:r>
              <a:rPr lang="en-US" sz="2400" dirty="0" smtClean="0"/>
              <a:t>However</a:t>
            </a:r>
            <a:r>
              <a:rPr lang="en-US" sz="2400" dirty="0"/>
              <a:t>, the problem is that a lot of things you cannot </a:t>
            </a:r>
            <a:r>
              <a:rPr lang="en-US" sz="2400" dirty="0" smtClean="0"/>
              <a:t>easily separate</a:t>
            </a:r>
            <a:r>
              <a:rPr lang="en-US" sz="2400" dirty="0"/>
              <a:t>, e.g., security</a:t>
            </a:r>
            <a:endParaRPr lang="en-US" dirty="0" smtClean="0">
              <a:solidFill>
                <a:schemeClr val="accent6"/>
              </a:solidFill>
            </a:endParaRPr>
          </a:p>
          <a:p>
            <a:pPr>
              <a:lnSpc>
                <a:spcPct val="100000"/>
              </a:lnSpc>
            </a:pPr>
            <a:r>
              <a:rPr lang="en-US" dirty="0">
                <a:solidFill>
                  <a:srgbClr val="1D3064"/>
                </a:solidFill>
              </a:rPr>
              <a:t>Computational reflection</a:t>
            </a:r>
          </a:p>
          <a:p>
            <a:pPr lvl="2"/>
            <a:r>
              <a:rPr lang="en-US" sz="2400" dirty="0"/>
              <a:t>Ability to inspect itself, and if necessary, adapt its </a:t>
            </a:r>
            <a:r>
              <a:rPr lang="en-US" sz="2400" dirty="0" smtClean="0"/>
              <a:t>behavior</a:t>
            </a:r>
          </a:p>
          <a:p>
            <a:pPr lvl="2"/>
            <a:r>
              <a:rPr lang="en-US" sz="2400" dirty="0" smtClean="0"/>
              <a:t>Reflective </a:t>
            </a:r>
            <a:r>
              <a:rPr lang="en-US" sz="2400" dirty="0"/>
              <a:t>middleware has yet to proof itself as a </a:t>
            </a:r>
            <a:r>
              <a:rPr lang="en-US" sz="2400" dirty="0" smtClean="0"/>
              <a:t>powerful tool </a:t>
            </a:r>
            <a:r>
              <a:rPr lang="en-US" sz="2400" dirty="0"/>
              <a:t>to manage the complexity of distribute systems</a:t>
            </a:r>
          </a:p>
          <a:p>
            <a:pPr marL="265113" lvl="2" indent="-265113">
              <a:lnSpc>
                <a:spcPct val="100000"/>
              </a:lnSpc>
              <a:spcBef>
                <a:spcPts val="1000"/>
              </a:spcBef>
              <a:buFont typeface="Webdings" panose="05030102010509060703" pitchFamily="18" charset="2"/>
              <a:buChar char=""/>
            </a:pPr>
            <a:r>
              <a:rPr lang="en-US" sz="2400" dirty="0">
                <a:solidFill>
                  <a:srgbClr val="1D3064"/>
                </a:solidFill>
              </a:rPr>
              <a:t>Component-based design (stand-alone</a:t>
            </a:r>
            <a:r>
              <a:rPr lang="en-US" sz="2400" dirty="0" smtClean="0">
                <a:solidFill>
                  <a:srgbClr val="1D3064"/>
                </a:solidFill>
              </a:rPr>
              <a:t>)</a:t>
            </a:r>
          </a:p>
          <a:p>
            <a:pPr lvl="2"/>
            <a:r>
              <a:rPr lang="en-US" sz="2400" dirty="0"/>
              <a:t>However, components are less independent than one may think</a:t>
            </a:r>
          </a:p>
          <a:p>
            <a:pPr lvl="2"/>
            <a:r>
              <a:rPr lang="en-US" sz="2400" dirty="0"/>
              <a:t>Replacement of one component may have huge impact on others</a:t>
            </a:r>
          </a:p>
        </p:txBody>
      </p:sp>
    </p:spTree>
    <p:extLst>
      <p:ext uri="{BB962C8B-B14F-4D97-AF65-F5344CB8AC3E}">
        <p14:creationId xmlns:p14="http://schemas.microsoft.com/office/powerpoint/2010/main" val="3935732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Self-Management in Distributed Systems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2" indent="-265113">
              <a:lnSpc>
                <a:spcPct val="100000"/>
              </a:lnSpc>
              <a:spcBef>
                <a:spcPts val="1000"/>
              </a:spcBef>
              <a:buFont typeface="Webdings" panose="05030102010509060703" pitchFamily="18" charset="2"/>
              <a:buChar char=""/>
            </a:pPr>
            <a:r>
              <a:rPr lang="en-US" sz="2400" dirty="0"/>
              <a:t>Distributed systems are often required to adapt to environmental changes by</a:t>
            </a:r>
          </a:p>
          <a:p>
            <a:pPr lvl="2"/>
            <a:r>
              <a:rPr lang="en-US" sz="2400" dirty="0" smtClean="0"/>
              <a:t>Switching </a:t>
            </a:r>
            <a:r>
              <a:rPr lang="en-US" sz="2400" dirty="0"/>
              <a:t>policies for allocation resources</a:t>
            </a:r>
          </a:p>
          <a:p>
            <a:pPr marL="265113" lvl="2" indent="-265113">
              <a:lnSpc>
                <a:spcPct val="100000"/>
              </a:lnSpc>
              <a:spcBef>
                <a:spcPts val="1000"/>
              </a:spcBef>
              <a:buFont typeface="Webdings" panose="05030102010509060703" pitchFamily="18" charset="2"/>
              <a:buChar char=""/>
            </a:pPr>
            <a:r>
              <a:rPr lang="en-US" sz="2400" dirty="0"/>
              <a:t>The algorithms to make the changes are often already in the components</a:t>
            </a:r>
          </a:p>
          <a:p>
            <a:pPr lvl="2"/>
            <a:r>
              <a:rPr lang="en-US" sz="2400" dirty="0" smtClean="0"/>
              <a:t>But </a:t>
            </a:r>
            <a:r>
              <a:rPr lang="en-US" sz="2400" dirty="0"/>
              <a:t>the challenge is how to make such change without human intervention</a:t>
            </a:r>
          </a:p>
          <a:p>
            <a:pPr marL="265113" lvl="2" indent="-265113">
              <a:lnSpc>
                <a:spcPct val="100000"/>
              </a:lnSpc>
              <a:spcBef>
                <a:spcPts val="1000"/>
              </a:spcBef>
              <a:buFont typeface="Webdings" panose="05030102010509060703" pitchFamily="18" charset="2"/>
              <a:buChar char=""/>
            </a:pPr>
            <a:r>
              <a:rPr lang="en-US" sz="2400" dirty="0" smtClean="0"/>
              <a:t>A </a:t>
            </a:r>
            <a:r>
              <a:rPr lang="en-US" sz="2400" dirty="0"/>
              <a:t>strong interplay between software architectures and system architectures</a:t>
            </a:r>
          </a:p>
          <a:p>
            <a:pPr lvl="2"/>
            <a:r>
              <a:rPr lang="en-US" sz="2400" dirty="0" smtClean="0"/>
              <a:t>Organize </a:t>
            </a:r>
            <a:r>
              <a:rPr lang="en-US" sz="2400" dirty="0"/>
              <a:t>components in a way that monitoring and adjustment can be done easily</a:t>
            </a:r>
          </a:p>
          <a:p>
            <a:pPr lvl="2"/>
            <a:r>
              <a:rPr lang="en-US" sz="2400" dirty="0" smtClean="0"/>
              <a:t>Decide </a:t>
            </a:r>
            <a:r>
              <a:rPr lang="en-US" sz="2400" dirty="0"/>
              <a:t>where the processes to be executed to do the adaption</a:t>
            </a:r>
          </a:p>
          <a:p>
            <a:pPr marL="265113" lvl="2" indent="-265113">
              <a:lnSpc>
                <a:spcPct val="100000"/>
              </a:lnSpc>
              <a:spcBef>
                <a:spcPts val="1000"/>
              </a:spcBef>
              <a:buFont typeface="Webdings" panose="05030102010509060703" pitchFamily="18" charset="2"/>
              <a:buChar char=""/>
            </a:pPr>
            <a:endParaRPr lang="en-US" sz="2400" dirty="0"/>
          </a:p>
        </p:txBody>
      </p:sp>
    </p:spTree>
    <p:extLst>
      <p:ext uri="{BB962C8B-B14F-4D97-AF65-F5344CB8AC3E}">
        <p14:creationId xmlns:p14="http://schemas.microsoft.com/office/powerpoint/2010/main" val="1428136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The Feedback </a:t>
            </a:r>
            <a:r>
              <a:rPr lang="en-US" dirty="0"/>
              <a:t>Control Model</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2" indent="-265113">
              <a:lnSpc>
                <a:spcPct val="100000"/>
              </a:lnSpc>
              <a:spcBef>
                <a:spcPts val="1000"/>
              </a:spcBef>
              <a:buFont typeface="Webdings" panose="05030102010509060703" pitchFamily="18" charset="2"/>
              <a:buChar char=""/>
            </a:pPr>
            <a:r>
              <a:rPr lang="en-US" sz="2400" dirty="0"/>
              <a:t>Allow automatic adaption to changes by means of one or </a:t>
            </a:r>
            <a:r>
              <a:rPr lang="en-US" sz="2400" dirty="0" smtClean="0"/>
              <a:t>more feedback </a:t>
            </a:r>
            <a:r>
              <a:rPr lang="en-US" sz="2400" dirty="0"/>
              <a:t>control loops</a:t>
            </a:r>
          </a:p>
          <a:p>
            <a:pPr lvl="2"/>
            <a:r>
              <a:rPr lang="en-US" sz="2400" dirty="0" smtClean="0"/>
              <a:t>self-managing</a:t>
            </a:r>
          </a:p>
          <a:p>
            <a:pPr lvl="2"/>
            <a:r>
              <a:rPr lang="en-US" sz="2400" dirty="0" smtClean="0"/>
              <a:t>self-healing</a:t>
            </a:r>
          </a:p>
          <a:p>
            <a:pPr lvl="2"/>
            <a:r>
              <a:rPr lang="en-US" sz="2400" dirty="0" smtClean="0"/>
              <a:t>self-configuration</a:t>
            </a:r>
          </a:p>
          <a:p>
            <a:pPr lvl="2"/>
            <a:r>
              <a:rPr lang="en-US" sz="2400" dirty="0" smtClean="0"/>
              <a:t>self-optimization</a:t>
            </a:r>
            <a:r>
              <a:rPr lang="en-US" sz="2400" dirty="0"/>
              <a:t>, </a:t>
            </a:r>
            <a:r>
              <a:rPr lang="en-US" sz="2400" dirty="0" err="1"/>
              <a:t>etc</a:t>
            </a:r>
            <a:endParaRPr lang="en-US" sz="2400" dirty="0"/>
          </a:p>
          <a:p>
            <a:pPr marL="265113" lvl="2" indent="-265113">
              <a:lnSpc>
                <a:spcPct val="100000"/>
              </a:lnSpc>
              <a:spcBef>
                <a:spcPts val="1000"/>
              </a:spcBef>
              <a:buFont typeface="Webdings" panose="05030102010509060703" pitchFamily="18" charset="2"/>
              <a:buChar char=""/>
            </a:pPr>
            <a:endParaRPr lang="en-US" sz="2400" dirty="0" smtClean="0"/>
          </a:p>
        </p:txBody>
      </p:sp>
      <p:grpSp>
        <p:nvGrpSpPr>
          <p:cNvPr id="22" name="Group 21"/>
          <p:cNvGrpSpPr/>
          <p:nvPr/>
        </p:nvGrpSpPr>
        <p:grpSpPr>
          <a:xfrm>
            <a:off x="1557334" y="2815229"/>
            <a:ext cx="8248651" cy="3653068"/>
            <a:chOff x="885824" y="2900363"/>
            <a:chExt cx="8248651" cy="3653068"/>
          </a:xfrm>
        </p:grpSpPr>
        <p:pic>
          <p:nvPicPr>
            <p:cNvPr id="6" name="Picture 5"/>
            <p:cNvPicPr>
              <a:picLocks noChangeAspect="1"/>
            </p:cNvPicPr>
            <p:nvPr/>
          </p:nvPicPr>
          <p:blipFill>
            <a:blip r:embed="rId2"/>
            <a:stretch>
              <a:fillRect/>
            </a:stretch>
          </p:blipFill>
          <p:spPr>
            <a:xfrm>
              <a:off x="1290637" y="3130262"/>
              <a:ext cx="7467600" cy="3423169"/>
            </a:xfrm>
            <a:prstGeom prst="rect">
              <a:avLst/>
            </a:prstGeom>
          </p:spPr>
        </p:pic>
        <p:sp>
          <p:nvSpPr>
            <p:cNvPr id="7" name="TextBox 6"/>
            <p:cNvSpPr txBox="1"/>
            <p:nvPr/>
          </p:nvSpPr>
          <p:spPr>
            <a:xfrm>
              <a:off x="885824" y="2900363"/>
              <a:ext cx="4514851" cy="374953"/>
            </a:xfrm>
            <a:prstGeom prst="rect">
              <a:avLst/>
            </a:prstGeom>
            <a:noFill/>
          </p:spPr>
          <p:txBody>
            <a:bodyPr wrap="square" rtlCol="0">
              <a:spAutoFit/>
            </a:bodyPr>
            <a:lstStyle/>
            <a:p>
              <a:r>
                <a:rPr lang="en-IN" dirty="0" smtClean="0">
                  <a:solidFill>
                    <a:srgbClr val="1D3064"/>
                  </a:solidFill>
                </a:rPr>
                <a:t>Uncontrollable parameters (disturbance/ noise)</a:t>
              </a:r>
              <a:endParaRPr lang="en-IN" dirty="0">
                <a:solidFill>
                  <a:srgbClr val="1D3064"/>
                </a:solidFill>
              </a:endParaRPr>
            </a:p>
          </p:txBody>
        </p:sp>
        <p:sp>
          <p:nvSpPr>
            <p:cNvPr id="8" name="TextBox 7"/>
            <p:cNvSpPr txBox="1"/>
            <p:nvPr/>
          </p:nvSpPr>
          <p:spPr>
            <a:xfrm>
              <a:off x="7443787" y="4941989"/>
              <a:ext cx="1200151" cy="656168"/>
            </a:xfrm>
            <a:prstGeom prst="rect">
              <a:avLst/>
            </a:prstGeom>
            <a:noFill/>
          </p:spPr>
          <p:txBody>
            <a:bodyPr wrap="square" rtlCol="0">
              <a:spAutoFit/>
            </a:bodyPr>
            <a:lstStyle/>
            <a:p>
              <a:r>
                <a:rPr lang="en-IN" dirty="0" smtClean="0">
                  <a:solidFill>
                    <a:schemeClr val="accent6"/>
                  </a:solidFill>
                </a:rPr>
                <a:t>Metric</a:t>
              </a:r>
            </a:p>
            <a:p>
              <a:r>
                <a:rPr lang="en-IN" dirty="0" smtClean="0">
                  <a:solidFill>
                    <a:schemeClr val="accent6"/>
                  </a:solidFill>
                </a:rPr>
                <a:t>estimation</a:t>
              </a:r>
              <a:endParaRPr lang="en-IN" dirty="0">
                <a:solidFill>
                  <a:schemeClr val="accent6"/>
                </a:solidFill>
              </a:endParaRPr>
            </a:p>
          </p:txBody>
        </p:sp>
        <p:sp>
          <p:nvSpPr>
            <p:cNvPr id="9" name="TextBox 8"/>
            <p:cNvSpPr txBox="1"/>
            <p:nvPr/>
          </p:nvSpPr>
          <p:spPr>
            <a:xfrm>
              <a:off x="4825600" y="3931276"/>
              <a:ext cx="2624139" cy="374953"/>
            </a:xfrm>
            <a:prstGeom prst="rect">
              <a:avLst/>
            </a:prstGeom>
            <a:noFill/>
          </p:spPr>
          <p:txBody>
            <a:bodyPr wrap="square" rtlCol="0">
              <a:spAutoFit/>
            </a:bodyPr>
            <a:lstStyle/>
            <a:p>
              <a:r>
                <a:rPr lang="en-IN" dirty="0" smtClean="0">
                  <a:solidFill>
                    <a:schemeClr val="accent6"/>
                  </a:solidFill>
                </a:rPr>
                <a:t>Core of distributed system</a:t>
              </a:r>
              <a:endParaRPr lang="en-IN" dirty="0">
                <a:solidFill>
                  <a:schemeClr val="accent6"/>
                </a:solidFill>
              </a:endParaRPr>
            </a:p>
          </p:txBody>
        </p:sp>
        <p:sp>
          <p:nvSpPr>
            <p:cNvPr id="10" name="TextBox 9"/>
            <p:cNvSpPr txBox="1"/>
            <p:nvPr/>
          </p:nvSpPr>
          <p:spPr>
            <a:xfrm>
              <a:off x="5645941" y="5857149"/>
              <a:ext cx="983459" cy="374953"/>
            </a:xfrm>
            <a:prstGeom prst="rect">
              <a:avLst/>
            </a:prstGeom>
            <a:noFill/>
          </p:spPr>
          <p:txBody>
            <a:bodyPr wrap="square" rtlCol="0">
              <a:spAutoFit/>
            </a:bodyPr>
            <a:lstStyle/>
            <a:p>
              <a:r>
                <a:rPr lang="en-IN" dirty="0" smtClean="0">
                  <a:solidFill>
                    <a:schemeClr val="accent6"/>
                  </a:solidFill>
                </a:rPr>
                <a:t>Analysis</a:t>
              </a:r>
              <a:endParaRPr lang="en-IN" dirty="0">
                <a:solidFill>
                  <a:schemeClr val="accent6"/>
                </a:solidFill>
              </a:endParaRPr>
            </a:p>
          </p:txBody>
        </p:sp>
        <p:sp>
          <p:nvSpPr>
            <p:cNvPr id="11" name="TextBox 10"/>
            <p:cNvSpPr txBox="1"/>
            <p:nvPr/>
          </p:nvSpPr>
          <p:spPr>
            <a:xfrm>
              <a:off x="7183065" y="5997078"/>
              <a:ext cx="1759727" cy="374953"/>
            </a:xfrm>
            <a:prstGeom prst="rect">
              <a:avLst/>
            </a:prstGeom>
            <a:noFill/>
          </p:spPr>
          <p:txBody>
            <a:bodyPr wrap="square" rtlCol="0">
              <a:spAutoFit/>
            </a:bodyPr>
            <a:lstStyle/>
            <a:p>
              <a:r>
                <a:rPr lang="en-IN" dirty="0" smtClean="0">
                  <a:solidFill>
                    <a:srgbClr val="1D3064"/>
                  </a:solidFill>
                </a:rPr>
                <a:t>Measured output</a:t>
              </a:r>
              <a:endParaRPr lang="en-IN" dirty="0">
                <a:solidFill>
                  <a:srgbClr val="1D3064"/>
                </a:solidFill>
              </a:endParaRPr>
            </a:p>
          </p:txBody>
        </p:sp>
        <p:sp>
          <p:nvSpPr>
            <p:cNvPr id="12" name="TextBox 11"/>
            <p:cNvSpPr txBox="1"/>
            <p:nvPr/>
          </p:nvSpPr>
          <p:spPr>
            <a:xfrm>
              <a:off x="2637240" y="6116059"/>
              <a:ext cx="2077635" cy="374953"/>
            </a:xfrm>
            <a:prstGeom prst="rect">
              <a:avLst/>
            </a:prstGeom>
            <a:noFill/>
          </p:spPr>
          <p:txBody>
            <a:bodyPr wrap="square" rtlCol="0">
              <a:spAutoFit/>
            </a:bodyPr>
            <a:lstStyle/>
            <a:p>
              <a:r>
                <a:rPr lang="en-IN" dirty="0" smtClean="0">
                  <a:solidFill>
                    <a:srgbClr val="1D3064"/>
                  </a:solidFill>
                </a:rPr>
                <a:t>Adjustment triggers</a:t>
              </a:r>
              <a:endParaRPr lang="en-IN" dirty="0">
                <a:solidFill>
                  <a:srgbClr val="1D3064"/>
                </a:solidFill>
              </a:endParaRPr>
            </a:p>
          </p:txBody>
        </p:sp>
        <p:sp>
          <p:nvSpPr>
            <p:cNvPr id="13" name="TextBox 12"/>
            <p:cNvSpPr txBox="1"/>
            <p:nvPr/>
          </p:nvSpPr>
          <p:spPr>
            <a:xfrm>
              <a:off x="2406863" y="4937596"/>
              <a:ext cx="1269194" cy="656168"/>
            </a:xfrm>
            <a:prstGeom prst="rect">
              <a:avLst/>
            </a:prstGeom>
            <a:noFill/>
          </p:spPr>
          <p:txBody>
            <a:bodyPr wrap="square" rtlCol="0">
              <a:spAutoFit/>
            </a:bodyPr>
            <a:lstStyle/>
            <a:p>
              <a:r>
                <a:rPr lang="en-IN" dirty="0" smtClean="0">
                  <a:solidFill>
                    <a:schemeClr val="accent6"/>
                  </a:solidFill>
                </a:rPr>
                <a:t>Adjustment measures</a:t>
              </a:r>
              <a:endParaRPr lang="en-IN" dirty="0">
                <a:solidFill>
                  <a:schemeClr val="accent6"/>
                </a:solidFill>
              </a:endParaRPr>
            </a:p>
          </p:txBody>
        </p:sp>
        <p:sp>
          <p:nvSpPr>
            <p:cNvPr id="14" name="TextBox 13"/>
            <p:cNvSpPr txBox="1"/>
            <p:nvPr/>
          </p:nvSpPr>
          <p:spPr>
            <a:xfrm>
              <a:off x="7374748" y="3743800"/>
              <a:ext cx="1759727" cy="374953"/>
            </a:xfrm>
            <a:prstGeom prst="rect">
              <a:avLst/>
            </a:prstGeom>
            <a:noFill/>
          </p:spPr>
          <p:txBody>
            <a:bodyPr wrap="square" rtlCol="0">
              <a:spAutoFit/>
            </a:bodyPr>
            <a:lstStyle/>
            <a:p>
              <a:r>
                <a:rPr lang="en-IN" dirty="0" smtClean="0">
                  <a:solidFill>
                    <a:srgbClr val="1D3064"/>
                  </a:solidFill>
                </a:rPr>
                <a:t>Observed output</a:t>
              </a:r>
              <a:endParaRPr lang="en-IN" dirty="0">
                <a:solidFill>
                  <a:srgbClr val="1D3064"/>
                </a:solidFill>
              </a:endParaRPr>
            </a:p>
          </p:txBody>
        </p:sp>
        <p:sp>
          <p:nvSpPr>
            <p:cNvPr id="15" name="TextBox 14"/>
            <p:cNvSpPr txBox="1"/>
            <p:nvPr/>
          </p:nvSpPr>
          <p:spPr>
            <a:xfrm>
              <a:off x="5257805" y="5022573"/>
              <a:ext cx="1599403" cy="374953"/>
            </a:xfrm>
            <a:prstGeom prst="rect">
              <a:avLst/>
            </a:prstGeom>
            <a:noFill/>
          </p:spPr>
          <p:txBody>
            <a:bodyPr wrap="square" rtlCol="0">
              <a:spAutoFit/>
            </a:bodyPr>
            <a:lstStyle/>
            <a:p>
              <a:r>
                <a:rPr lang="en-IN" dirty="0" smtClean="0">
                  <a:solidFill>
                    <a:srgbClr val="1D3064"/>
                  </a:solidFill>
                </a:rPr>
                <a:t>Reference input</a:t>
              </a:r>
              <a:endParaRPr lang="en-IN" dirty="0">
                <a:solidFill>
                  <a:srgbClr val="1D3064"/>
                </a:solidFill>
              </a:endParaRPr>
            </a:p>
          </p:txBody>
        </p:sp>
        <p:sp>
          <p:nvSpPr>
            <p:cNvPr id="16" name="TextBox 15"/>
            <p:cNvSpPr txBox="1"/>
            <p:nvPr/>
          </p:nvSpPr>
          <p:spPr>
            <a:xfrm>
              <a:off x="914399" y="3696898"/>
              <a:ext cx="2014539" cy="374953"/>
            </a:xfrm>
            <a:prstGeom prst="rect">
              <a:avLst/>
            </a:prstGeom>
            <a:noFill/>
          </p:spPr>
          <p:txBody>
            <a:bodyPr wrap="square" rtlCol="0">
              <a:spAutoFit/>
            </a:bodyPr>
            <a:lstStyle/>
            <a:p>
              <a:r>
                <a:rPr lang="en-IN" dirty="0" smtClean="0">
                  <a:solidFill>
                    <a:srgbClr val="1D3064"/>
                  </a:solidFill>
                </a:rPr>
                <a:t>Initial configuration</a:t>
              </a:r>
              <a:endParaRPr lang="en-IN" dirty="0">
                <a:solidFill>
                  <a:srgbClr val="1D3064"/>
                </a:solidFill>
              </a:endParaRPr>
            </a:p>
          </p:txBody>
        </p:sp>
        <p:sp>
          <p:nvSpPr>
            <p:cNvPr id="17" name="TextBox 16"/>
            <p:cNvSpPr txBox="1"/>
            <p:nvPr/>
          </p:nvSpPr>
          <p:spPr>
            <a:xfrm>
              <a:off x="3367102" y="3726213"/>
              <a:ext cx="1458498" cy="374953"/>
            </a:xfrm>
            <a:prstGeom prst="rect">
              <a:avLst/>
            </a:prstGeom>
            <a:noFill/>
          </p:spPr>
          <p:txBody>
            <a:bodyPr wrap="square" rtlCol="0">
              <a:spAutoFit/>
            </a:bodyPr>
            <a:lstStyle/>
            <a:p>
              <a:r>
                <a:rPr lang="en-IN" dirty="0" smtClean="0">
                  <a:solidFill>
                    <a:srgbClr val="1D3064"/>
                  </a:solidFill>
                </a:rPr>
                <a:t>Corrections</a:t>
              </a:r>
              <a:endParaRPr lang="en-IN" dirty="0">
                <a:solidFill>
                  <a:srgbClr val="1D3064"/>
                </a:solidFill>
              </a:endParaRPr>
            </a:p>
          </p:txBody>
        </p:sp>
        <p:sp>
          <p:nvSpPr>
            <p:cNvPr id="18" name="TextBox 17"/>
            <p:cNvSpPr txBox="1"/>
            <p:nvPr/>
          </p:nvSpPr>
          <p:spPr>
            <a:xfrm>
              <a:off x="2380064" y="4290614"/>
              <a:ext cx="514351" cy="374953"/>
            </a:xfrm>
            <a:prstGeom prst="rect">
              <a:avLst/>
            </a:prstGeom>
            <a:noFill/>
          </p:spPr>
          <p:txBody>
            <a:bodyPr wrap="square" rtlCol="0">
              <a:spAutoFit/>
            </a:bodyPr>
            <a:lstStyle/>
            <a:p>
              <a:r>
                <a:rPr lang="en-IN" b="1" dirty="0" smtClean="0"/>
                <a:t>+/-</a:t>
              </a:r>
              <a:endParaRPr lang="en-IN" b="1" dirty="0"/>
            </a:p>
          </p:txBody>
        </p:sp>
        <p:sp>
          <p:nvSpPr>
            <p:cNvPr id="19" name="TextBox 18"/>
            <p:cNvSpPr txBox="1"/>
            <p:nvPr/>
          </p:nvSpPr>
          <p:spPr>
            <a:xfrm>
              <a:off x="3013477" y="4373194"/>
              <a:ext cx="514351" cy="374953"/>
            </a:xfrm>
            <a:prstGeom prst="rect">
              <a:avLst/>
            </a:prstGeom>
            <a:noFill/>
          </p:spPr>
          <p:txBody>
            <a:bodyPr wrap="square" rtlCol="0">
              <a:spAutoFit/>
            </a:bodyPr>
            <a:lstStyle/>
            <a:p>
              <a:r>
                <a:rPr lang="en-IN" b="1" dirty="0" smtClean="0"/>
                <a:t>+/-</a:t>
              </a:r>
              <a:endParaRPr lang="en-IN" b="1" dirty="0"/>
            </a:p>
          </p:txBody>
        </p:sp>
        <p:sp>
          <p:nvSpPr>
            <p:cNvPr id="20" name="TextBox 19"/>
            <p:cNvSpPr txBox="1"/>
            <p:nvPr/>
          </p:nvSpPr>
          <p:spPr>
            <a:xfrm>
              <a:off x="3308159" y="4232858"/>
              <a:ext cx="514351" cy="374953"/>
            </a:xfrm>
            <a:prstGeom prst="rect">
              <a:avLst/>
            </a:prstGeom>
            <a:noFill/>
          </p:spPr>
          <p:txBody>
            <a:bodyPr wrap="square" rtlCol="0">
              <a:spAutoFit/>
            </a:bodyPr>
            <a:lstStyle/>
            <a:p>
              <a:r>
                <a:rPr lang="en-IN" b="1" dirty="0" smtClean="0"/>
                <a:t>+/-</a:t>
              </a:r>
              <a:endParaRPr lang="en-IN" b="1" dirty="0"/>
            </a:p>
          </p:txBody>
        </p:sp>
        <p:cxnSp>
          <p:nvCxnSpPr>
            <p:cNvPr id="21" name="Straight Arrow Connector 20"/>
            <p:cNvCxnSpPr/>
            <p:nvPr/>
          </p:nvCxnSpPr>
          <p:spPr>
            <a:xfrm>
              <a:off x="6057506" y="5397526"/>
              <a:ext cx="0" cy="3436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23301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Introduction to Threads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2" indent="-265113">
              <a:lnSpc>
                <a:spcPct val="100000"/>
              </a:lnSpc>
              <a:spcBef>
                <a:spcPts val="1000"/>
              </a:spcBef>
              <a:buFont typeface="Webdings" panose="05030102010509060703" pitchFamily="18" charset="2"/>
              <a:buChar char=""/>
            </a:pPr>
            <a:r>
              <a:rPr lang="en-US" sz="2400" dirty="0">
                <a:solidFill>
                  <a:schemeClr val="accent6"/>
                </a:solidFill>
              </a:rPr>
              <a:t>Processor</a:t>
            </a:r>
            <a:r>
              <a:rPr lang="en-US" sz="2400" dirty="0"/>
              <a:t>: Provides a set of instructions along with the capability of automatically executing a series of those instructions.</a:t>
            </a:r>
          </a:p>
          <a:p>
            <a:pPr marL="265113" lvl="2" indent="-265113">
              <a:lnSpc>
                <a:spcPct val="100000"/>
              </a:lnSpc>
              <a:spcBef>
                <a:spcPts val="1000"/>
              </a:spcBef>
              <a:buFont typeface="Webdings" panose="05030102010509060703" pitchFamily="18" charset="2"/>
              <a:buChar char=""/>
            </a:pPr>
            <a:r>
              <a:rPr lang="en-US" sz="2400" dirty="0">
                <a:solidFill>
                  <a:schemeClr val="accent6"/>
                </a:solidFill>
              </a:rPr>
              <a:t>Thread</a:t>
            </a:r>
            <a:r>
              <a:rPr lang="en-US" sz="2400" dirty="0"/>
              <a:t>: A minimal software processor in whose context a series of instructions can be executed. Saving a thread context implies </a:t>
            </a:r>
            <a:r>
              <a:rPr lang="en-US" sz="2400" dirty="0" smtClean="0"/>
              <a:t>stopping the </a:t>
            </a:r>
            <a:r>
              <a:rPr lang="en-US" sz="2400" dirty="0"/>
              <a:t>current execution and saving all the data needed to continue the execution at a later stage.</a:t>
            </a:r>
          </a:p>
          <a:p>
            <a:pPr marL="265113" lvl="2" indent="-265113">
              <a:lnSpc>
                <a:spcPct val="100000"/>
              </a:lnSpc>
              <a:spcBef>
                <a:spcPts val="1000"/>
              </a:spcBef>
              <a:buFont typeface="Webdings" panose="05030102010509060703" pitchFamily="18" charset="2"/>
              <a:buChar char=""/>
            </a:pPr>
            <a:r>
              <a:rPr lang="en-US" sz="2400" dirty="0">
                <a:solidFill>
                  <a:schemeClr val="accent6"/>
                </a:solidFill>
              </a:rPr>
              <a:t>Process</a:t>
            </a:r>
            <a:r>
              <a:rPr lang="en-US" sz="2400" dirty="0"/>
              <a:t>: A software processor in whose context one or more threads may be executed. Executing a thread, means executing a series of </a:t>
            </a:r>
            <a:r>
              <a:rPr lang="en-US" sz="2400" dirty="0" smtClean="0"/>
              <a:t>instructions in </a:t>
            </a:r>
            <a:r>
              <a:rPr lang="en-US" sz="2400" dirty="0"/>
              <a:t>the context of that thread.</a:t>
            </a:r>
          </a:p>
        </p:txBody>
      </p:sp>
    </p:spTree>
    <p:extLst>
      <p:ext uri="{BB962C8B-B14F-4D97-AF65-F5344CB8AC3E}">
        <p14:creationId xmlns:p14="http://schemas.microsoft.com/office/powerpoint/2010/main" val="1182849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What is Threads?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spcBef>
                <a:spcPts val="576"/>
              </a:spcBef>
            </a:pPr>
            <a:r>
              <a:rPr lang="en-IN" dirty="0"/>
              <a:t>Thread is a </a:t>
            </a:r>
            <a:r>
              <a:rPr lang="en-IN" dirty="0">
                <a:solidFill>
                  <a:schemeClr val="accent6"/>
                </a:solidFill>
              </a:rPr>
              <a:t>light weight process </a:t>
            </a:r>
            <a:r>
              <a:rPr lang="en-IN" dirty="0"/>
              <a:t>created by a process.</a:t>
            </a:r>
          </a:p>
          <a:p>
            <a:pPr>
              <a:spcBef>
                <a:spcPts val="576"/>
              </a:spcBef>
            </a:pPr>
            <a:r>
              <a:rPr lang="en-IN" dirty="0"/>
              <a:t>Thread is a single sequence of execution within a process.</a:t>
            </a:r>
          </a:p>
          <a:p>
            <a:pPr>
              <a:spcBef>
                <a:spcPts val="576"/>
              </a:spcBef>
            </a:pPr>
            <a:r>
              <a:rPr lang="en-IN" dirty="0"/>
              <a:t>Thread has it own.</a:t>
            </a:r>
          </a:p>
          <a:p>
            <a:pPr lvl="1">
              <a:buFont typeface="Wingdings" panose="05000000000000000000" pitchFamily="2" charset="2"/>
              <a:buChar char="§"/>
            </a:pPr>
            <a:r>
              <a:rPr lang="en-IN" sz="2400" dirty="0">
                <a:solidFill>
                  <a:schemeClr val="accent6"/>
                </a:solidFill>
                <a:latin typeface="+mj-lt"/>
              </a:rPr>
              <a:t>Program counter </a:t>
            </a:r>
            <a:r>
              <a:rPr lang="en-IN" sz="2400" dirty="0">
                <a:latin typeface="+mj-lt"/>
              </a:rPr>
              <a:t>that keeps track of which instruction to execute next.</a:t>
            </a:r>
          </a:p>
          <a:p>
            <a:pPr lvl="1">
              <a:buFont typeface="Wingdings" panose="05000000000000000000" pitchFamily="2" charset="2"/>
              <a:buChar char="§"/>
            </a:pPr>
            <a:r>
              <a:rPr lang="en-IN" sz="2400" dirty="0">
                <a:solidFill>
                  <a:schemeClr val="accent6"/>
                </a:solidFill>
                <a:latin typeface="+mj-lt"/>
              </a:rPr>
              <a:t>System registers </a:t>
            </a:r>
            <a:r>
              <a:rPr lang="en-IN" sz="2400" dirty="0">
                <a:latin typeface="+mj-lt"/>
              </a:rPr>
              <a:t>which hold its current working variables.</a:t>
            </a:r>
          </a:p>
          <a:p>
            <a:pPr lvl="1">
              <a:buFont typeface="Wingdings" panose="05000000000000000000" pitchFamily="2" charset="2"/>
              <a:buChar char="§"/>
            </a:pPr>
            <a:r>
              <a:rPr lang="en-IN" sz="2400" dirty="0">
                <a:solidFill>
                  <a:schemeClr val="accent6"/>
                </a:solidFill>
                <a:latin typeface="+mj-lt"/>
              </a:rPr>
              <a:t>Stack</a:t>
            </a:r>
            <a:r>
              <a:rPr lang="en-IN" sz="2400" dirty="0">
                <a:latin typeface="+mj-lt"/>
              </a:rPr>
              <a:t> which contains the execution history.</a:t>
            </a:r>
          </a:p>
          <a:p>
            <a:pPr>
              <a:spcBef>
                <a:spcPts val="576"/>
              </a:spcBef>
            </a:pPr>
            <a:r>
              <a:rPr lang="en-IN" dirty="0"/>
              <a:t>Processes are generally used to execute large, </a:t>
            </a:r>
            <a:r>
              <a:rPr lang="en-IN" dirty="0">
                <a:solidFill>
                  <a:schemeClr val="accent6"/>
                </a:solidFill>
              </a:rPr>
              <a:t>‘heavyweight’ </a:t>
            </a:r>
            <a:r>
              <a:rPr lang="en-IN" dirty="0"/>
              <a:t>jobs such as working in word, while threads are used to carry out </a:t>
            </a:r>
            <a:r>
              <a:rPr lang="en-IN" dirty="0" smtClean="0"/>
              <a:t>smaller or </a:t>
            </a:r>
            <a:r>
              <a:rPr lang="en-IN" dirty="0" smtClean="0">
                <a:solidFill>
                  <a:schemeClr val="accent6"/>
                </a:solidFill>
              </a:rPr>
              <a:t>‘lightweight’ </a:t>
            </a:r>
            <a:r>
              <a:rPr lang="en-IN" dirty="0"/>
              <a:t>jobs such as auto saving a word document</a:t>
            </a:r>
            <a:r>
              <a:rPr lang="en-IN" dirty="0" smtClean="0"/>
              <a:t>.</a:t>
            </a:r>
            <a:endParaRPr lang="en-IN" dirty="0"/>
          </a:p>
          <a:p>
            <a:pPr>
              <a:spcBef>
                <a:spcPts val="576"/>
              </a:spcBef>
            </a:pPr>
            <a:r>
              <a:rPr lang="en-IN" dirty="0"/>
              <a:t>A thread shares few information with its peer threads (having same input) like code segment, data segment and open files</a:t>
            </a:r>
            <a:r>
              <a:rPr lang="en-IN" dirty="0" smtClean="0"/>
              <a:t>.</a:t>
            </a:r>
            <a:endParaRPr lang="en-IN" dirty="0"/>
          </a:p>
        </p:txBody>
      </p:sp>
      <p:pic>
        <p:nvPicPr>
          <p:cNvPr id="1026" name="Picture 2" descr="thread in operating system (os) in hind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2613" y="1039814"/>
            <a:ext cx="2265362" cy="2141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939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Process </a:t>
            </a:r>
            <a:r>
              <a:rPr lang="en-US" dirty="0"/>
              <a:t>&amp; Thread</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spcBef>
                <a:spcPts val="576"/>
              </a:spcBef>
            </a:pPr>
            <a:r>
              <a:rPr lang="en-IN" b="1" dirty="0"/>
              <a:t>Similarities between Process &amp; Thread</a:t>
            </a:r>
            <a:endParaRPr lang="en-IN" b="1" dirty="0" smtClean="0"/>
          </a:p>
          <a:p>
            <a:pPr lvl="1">
              <a:buFont typeface="Wingdings" panose="05000000000000000000" pitchFamily="2" charset="2"/>
              <a:buChar char="§"/>
            </a:pPr>
            <a:r>
              <a:rPr lang="en-US" sz="2400" dirty="0">
                <a:latin typeface="+mj-lt"/>
              </a:rPr>
              <a:t>Like processes threads </a:t>
            </a:r>
            <a:r>
              <a:rPr lang="en-US" sz="2400" dirty="0">
                <a:solidFill>
                  <a:schemeClr val="accent6"/>
                </a:solidFill>
                <a:latin typeface="+mj-lt"/>
              </a:rPr>
              <a:t>share CPU </a:t>
            </a:r>
            <a:r>
              <a:rPr lang="en-US" sz="2400" dirty="0">
                <a:latin typeface="+mj-lt"/>
              </a:rPr>
              <a:t>and only </a:t>
            </a:r>
            <a:r>
              <a:rPr lang="en-US" sz="2400" dirty="0">
                <a:solidFill>
                  <a:schemeClr val="accent6"/>
                </a:solidFill>
                <a:latin typeface="+mj-lt"/>
              </a:rPr>
              <a:t>one thread is running at a time</a:t>
            </a:r>
            <a:r>
              <a:rPr lang="en-US" sz="2400" dirty="0">
                <a:latin typeface="+mj-lt"/>
              </a:rPr>
              <a:t>.  </a:t>
            </a:r>
          </a:p>
          <a:p>
            <a:pPr lvl="1">
              <a:buFont typeface="Wingdings" panose="05000000000000000000" pitchFamily="2" charset="2"/>
              <a:buChar char="§"/>
            </a:pPr>
            <a:r>
              <a:rPr lang="en-US" sz="2400" dirty="0">
                <a:latin typeface="+mj-lt"/>
              </a:rPr>
              <a:t>Like processes threads within a process </a:t>
            </a:r>
            <a:r>
              <a:rPr lang="en-US" sz="2400" dirty="0">
                <a:solidFill>
                  <a:schemeClr val="accent6"/>
                </a:solidFill>
                <a:latin typeface="+mj-lt"/>
              </a:rPr>
              <a:t>execute sequentially</a:t>
            </a:r>
            <a:r>
              <a:rPr lang="en-US" sz="2400" dirty="0">
                <a:latin typeface="+mj-lt"/>
              </a:rPr>
              <a:t>. </a:t>
            </a:r>
          </a:p>
          <a:p>
            <a:pPr lvl="1">
              <a:buFont typeface="Wingdings" panose="05000000000000000000" pitchFamily="2" charset="2"/>
              <a:buChar char="§"/>
            </a:pPr>
            <a:r>
              <a:rPr lang="en-US" sz="2400" dirty="0">
                <a:latin typeface="+mj-lt"/>
              </a:rPr>
              <a:t>Like processes thread can </a:t>
            </a:r>
            <a:r>
              <a:rPr lang="en-US" sz="2400" dirty="0">
                <a:solidFill>
                  <a:schemeClr val="accent6"/>
                </a:solidFill>
                <a:latin typeface="+mj-lt"/>
              </a:rPr>
              <a:t>create children</a:t>
            </a:r>
            <a:r>
              <a:rPr lang="en-US" sz="2400" dirty="0">
                <a:latin typeface="+mj-lt"/>
              </a:rPr>
              <a:t>.  </a:t>
            </a:r>
          </a:p>
          <a:p>
            <a:pPr lvl="1">
              <a:buFont typeface="Wingdings" panose="05000000000000000000" pitchFamily="2" charset="2"/>
              <a:buChar char="§"/>
            </a:pPr>
            <a:r>
              <a:rPr lang="en-US" sz="2400" dirty="0">
                <a:latin typeface="+mj-lt"/>
              </a:rPr>
              <a:t>Like a traditional process, a thread can be in any one of several states: </a:t>
            </a:r>
            <a:r>
              <a:rPr lang="en-US" sz="2400" dirty="0">
                <a:solidFill>
                  <a:schemeClr val="accent6"/>
                </a:solidFill>
                <a:latin typeface="+mj-lt"/>
              </a:rPr>
              <a:t>running, blocked, ready or terminated. </a:t>
            </a:r>
          </a:p>
          <a:p>
            <a:pPr lvl="1">
              <a:buFont typeface="Wingdings" panose="05000000000000000000" pitchFamily="2" charset="2"/>
              <a:buChar char="§"/>
            </a:pPr>
            <a:r>
              <a:rPr lang="en-US" sz="2400" dirty="0">
                <a:latin typeface="+mj-lt"/>
              </a:rPr>
              <a:t>Like process threads </a:t>
            </a:r>
            <a:r>
              <a:rPr lang="en-US" sz="2400" dirty="0" smtClean="0">
                <a:latin typeface="+mj-lt"/>
              </a:rPr>
              <a:t>have </a:t>
            </a:r>
            <a:r>
              <a:rPr lang="en-US" sz="2400" dirty="0">
                <a:solidFill>
                  <a:schemeClr val="accent6"/>
                </a:solidFill>
                <a:latin typeface="+mj-lt"/>
              </a:rPr>
              <a:t>Program Counter, Stack, Registers and State</a:t>
            </a:r>
            <a:r>
              <a:rPr lang="en-US" sz="2400" dirty="0" smtClean="0">
                <a:latin typeface="+mj-lt"/>
              </a:rPr>
              <a:t>.</a:t>
            </a:r>
          </a:p>
        </p:txBody>
      </p:sp>
    </p:spTree>
    <p:extLst>
      <p:ext uri="{BB962C8B-B14F-4D97-AF65-F5344CB8AC3E}">
        <p14:creationId xmlns:p14="http://schemas.microsoft.com/office/powerpoint/2010/main" val="603119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Process Vs. </a:t>
            </a:r>
            <a:r>
              <a:rPr lang="en-US" dirty="0"/>
              <a:t>Thread</a:t>
            </a:r>
          </a:p>
        </p:txBody>
      </p:sp>
      <p:graphicFrame>
        <p:nvGraphicFramePr>
          <p:cNvPr id="5" name="Content Placeholder 16">
            <a:extLst>
              <a:ext uri="{FF2B5EF4-FFF2-40B4-BE49-F238E27FC236}">
                <a16:creationId xmlns:a16="http://schemas.microsoft.com/office/drawing/2014/main" xmlns="" id="{3087C776-FCE6-4AF2-97C2-B702D827FC4A}"/>
              </a:ext>
            </a:extLst>
          </p:cNvPr>
          <p:cNvGraphicFramePr>
            <a:graphicFrameLocks/>
          </p:cNvGraphicFramePr>
          <p:nvPr>
            <p:extLst>
              <p:ext uri="{D42A27DB-BD31-4B8C-83A1-F6EECF244321}">
                <p14:modId xmlns:p14="http://schemas.microsoft.com/office/powerpoint/2010/main" val="2025197317"/>
              </p:ext>
            </p:extLst>
          </p:nvPr>
        </p:nvGraphicFramePr>
        <p:xfrm>
          <a:off x="21009" y="3282856"/>
          <a:ext cx="12076476" cy="883920"/>
        </p:xfrm>
        <a:graphic>
          <a:graphicData uri="http://schemas.openxmlformats.org/drawingml/2006/table">
            <a:tbl>
              <a:tblPr firstRow="1" bandRow="1">
                <a:tableStyleId>{5C22544A-7EE6-4342-B048-85BDC9FD1C3A}</a:tableStyleId>
              </a:tblPr>
              <a:tblGrid>
                <a:gridCol w="6038238">
                  <a:extLst>
                    <a:ext uri="{9D8B030D-6E8A-4147-A177-3AD203B41FA5}">
                      <a16:colId xmlns:a16="http://schemas.microsoft.com/office/drawing/2014/main" xmlns="" val="2803588477"/>
                    </a:ext>
                  </a:extLst>
                </a:gridCol>
                <a:gridCol w="6038238">
                  <a:extLst>
                    <a:ext uri="{9D8B030D-6E8A-4147-A177-3AD203B41FA5}">
                      <a16:colId xmlns:a16="http://schemas.microsoft.com/office/drawing/2014/main" xmlns="" val="1368519302"/>
                    </a:ext>
                  </a:extLst>
                </a:gridCol>
              </a:tblGrid>
              <a:tr h="874799">
                <a:tc>
                  <a:txBody>
                    <a:bodyPr/>
                    <a:lstStyle/>
                    <a:p>
                      <a:pPr marL="0" algn="just" defTabSz="914400" rtl="0" eaLnBrk="1" fontAlgn="t" latinLnBrk="0" hangingPunct="1"/>
                      <a:r>
                        <a:rPr lang="en-US" sz="2400" b="0" i="0" kern="1200" dirty="0" smtClean="0">
                          <a:solidFill>
                            <a:schemeClr val="bg2">
                              <a:lumMod val="10000"/>
                            </a:schemeClr>
                          </a:solidFill>
                          <a:effectLst/>
                          <a:latin typeface="+mn-lt"/>
                          <a:ea typeface="+mn-ea"/>
                          <a:cs typeface="+mn-cs"/>
                        </a:rPr>
                        <a:t>Individual processes are independent of each other.</a:t>
                      </a:r>
                      <a:endParaRPr lang="en-US" sz="2400" b="0" i="0" kern="1200" dirty="0">
                        <a:solidFill>
                          <a:schemeClr val="bg2">
                            <a:lumMod val="10000"/>
                          </a:schemeClr>
                        </a:solidFill>
                        <a:effectLst/>
                        <a:latin typeface="+mn-lt"/>
                        <a:ea typeface="+mn-ea"/>
                        <a:cs typeface="+mn-cs"/>
                      </a:endParaRPr>
                    </a:p>
                  </a:txBody>
                  <a:tcPr marL="76200" marR="76200" marT="76200" marB="76200">
                    <a:solidFill>
                      <a:schemeClr val="bg1">
                        <a:lumMod val="95000"/>
                      </a:schemeClr>
                    </a:solidFill>
                  </a:tcPr>
                </a:tc>
                <a:tc>
                  <a:txBody>
                    <a:bodyPr/>
                    <a:lstStyle/>
                    <a:p>
                      <a:pPr marL="0" algn="just" defTabSz="914400" rtl="0" eaLnBrk="1" fontAlgn="t" latinLnBrk="0" hangingPunct="1"/>
                      <a:r>
                        <a:rPr lang="en-US" sz="2400" b="0" i="0" kern="1200" dirty="0" smtClean="0">
                          <a:solidFill>
                            <a:schemeClr val="bg2">
                              <a:lumMod val="10000"/>
                            </a:schemeClr>
                          </a:solidFill>
                          <a:effectLst/>
                          <a:latin typeface="+mn-lt"/>
                          <a:ea typeface="+mn-ea"/>
                          <a:cs typeface="+mn-cs"/>
                        </a:rPr>
                        <a:t>Threads are parts of a process and so are dependent.</a:t>
                      </a:r>
                      <a:endParaRPr lang="en-US" sz="2400" b="0" i="0" kern="1200" dirty="0">
                        <a:solidFill>
                          <a:schemeClr val="bg2">
                            <a:lumMod val="10000"/>
                          </a:schemeClr>
                        </a:solidFill>
                        <a:effectLst/>
                        <a:latin typeface="+mn-lt"/>
                        <a:ea typeface="+mn-ea"/>
                        <a:cs typeface="+mn-cs"/>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graphicFrame>
        <p:nvGraphicFramePr>
          <p:cNvPr id="6" name="Content Placeholder 16"/>
          <p:cNvGraphicFramePr>
            <a:graphicFrameLocks noGrp="1"/>
          </p:cNvGraphicFramePr>
          <p:nvPr>
            <p:ph idx="1"/>
            <p:extLst>
              <p:ext uri="{D42A27DB-BD31-4B8C-83A1-F6EECF244321}">
                <p14:modId xmlns:p14="http://schemas.microsoft.com/office/powerpoint/2010/main" val="1153795312"/>
              </p:ext>
            </p:extLst>
          </p:nvPr>
        </p:nvGraphicFramePr>
        <p:xfrm>
          <a:off x="21009" y="775728"/>
          <a:ext cx="12076476" cy="609600"/>
        </p:xfrm>
        <a:graphic>
          <a:graphicData uri="http://schemas.openxmlformats.org/drawingml/2006/table">
            <a:tbl>
              <a:tblPr firstRow="1" bandRow="1">
                <a:tableStyleId>{5C22544A-7EE6-4342-B048-85BDC9FD1C3A}</a:tableStyleId>
              </a:tblPr>
              <a:tblGrid>
                <a:gridCol w="6038238">
                  <a:extLst>
                    <a:ext uri="{9D8B030D-6E8A-4147-A177-3AD203B41FA5}">
                      <a16:colId xmlns:a16="http://schemas.microsoft.com/office/drawing/2014/main" xmlns="" val="2803588477"/>
                    </a:ext>
                  </a:extLst>
                </a:gridCol>
                <a:gridCol w="6038238">
                  <a:extLst>
                    <a:ext uri="{9D8B030D-6E8A-4147-A177-3AD203B41FA5}">
                      <a16:colId xmlns:a16="http://schemas.microsoft.com/office/drawing/2014/main" xmlns="" val="1368519302"/>
                    </a:ext>
                  </a:extLst>
                </a:gridCol>
              </a:tblGrid>
              <a:tr h="609600">
                <a:tc>
                  <a:txBody>
                    <a:bodyPr/>
                    <a:lstStyle/>
                    <a:p>
                      <a:pPr algn="ctr"/>
                      <a:r>
                        <a:rPr lang="en-US" sz="2400" b="1" i="0" kern="1200" dirty="0" smtClean="0">
                          <a:solidFill>
                            <a:schemeClr val="bg1"/>
                          </a:solidFill>
                          <a:effectLst/>
                          <a:latin typeface="+mn-lt"/>
                          <a:ea typeface="+mn-ea"/>
                          <a:cs typeface="+mn-cs"/>
                        </a:rPr>
                        <a:t>Process</a:t>
                      </a:r>
                      <a:endParaRPr lang="en-US" sz="2400" dirty="0">
                        <a:solidFill>
                          <a:schemeClr val="bg1"/>
                        </a:solidFill>
                      </a:endParaRPr>
                    </a:p>
                  </a:txBody>
                  <a:tcPr>
                    <a:solidFill>
                      <a:srgbClr val="1D3064"/>
                    </a:solidFill>
                  </a:tcPr>
                </a:tc>
                <a:tc>
                  <a:txBody>
                    <a:bodyPr/>
                    <a:lstStyle/>
                    <a:p>
                      <a:pPr algn="ctr"/>
                      <a:r>
                        <a:rPr lang="en-US" sz="2400" b="1" i="0" kern="1200" dirty="0" smtClean="0">
                          <a:solidFill>
                            <a:schemeClr val="bg1"/>
                          </a:solidFill>
                          <a:effectLst/>
                          <a:latin typeface="+mn-lt"/>
                          <a:ea typeface="+mn-ea"/>
                          <a:cs typeface="+mn-cs"/>
                        </a:rPr>
                        <a:t>Thread</a:t>
                      </a:r>
                      <a:endParaRPr lang="en-US" sz="2400" dirty="0">
                        <a:solidFill>
                          <a:schemeClr val="bg1"/>
                        </a:solidFill>
                      </a:endParaRPr>
                    </a:p>
                  </a:txBody>
                  <a:tcPr>
                    <a:solidFill>
                      <a:srgbClr val="1D3064"/>
                    </a:solidFill>
                  </a:tcPr>
                </a:tc>
                <a:extLst>
                  <a:ext uri="{0D108BD9-81ED-4DB2-BD59-A6C34878D82A}">
                    <a16:rowId xmlns:a16="http://schemas.microsoft.com/office/drawing/2014/main" xmlns="" val="1230567956"/>
                  </a:ext>
                </a:extLst>
              </a:tr>
            </a:tbl>
          </a:graphicData>
        </a:graphic>
      </p:graphicFrame>
      <p:graphicFrame>
        <p:nvGraphicFramePr>
          <p:cNvPr id="7" name="Content Placeholder 16"/>
          <p:cNvGraphicFramePr>
            <a:graphicFrameLocks/>
          </p:cNvGraphicFramePr>
          <p:nvPr>
            <p:extLst>
              <p:ext uri="{D42A27DB-BD31-4B8C-83A1-F6EECF244321}">
                <p14:modId xmlns:p14="http://schemas.microsoft.com/office/powerpoint/2010/main" val="2388803971"/>
              </p:ext>
            </p:extLst>
          </p:nvPr>
        </p:nvGraphicFramePr>
        <p:xfrm>
          <a:off x="21009" y="1385328"/>
          <a:ext cx="12076476" cy="457200"/>
        </p:xfrm>
        <a:graphic>
          <a:graphicData uri="http://schemas.openxmlformats.org/drawingml/2006/table">
            <a:tbl>
              <a:tblPr firstRow="1" bandRow="1">
                <a:tableStyleId>{5C22544A-7EE6-4342-B048-85BDC9FD1C3A}</a:tableStyleId>
              </a:tblPr>
              <a:tblGrid>
                <a:gridCol w="6038238">
                  <a:extLst>
                    <a:ext uri="{9D8B030D-6E8A-4147-A177-3AD203B41FA5}">
                      <a16:colId xmlns:a16="http://schemas.microsoft.com/office/drawing/2014/main" xmlns="" val="2803588477"/>
                    </a:ext>
                  </a:extLst>
                </a:gridCol>
                <a:gridCol w="6038238">
                  <a:extLst>
                    <a:ext uri="{9D8B030D-6E8A-4147-A177-3AD203B41FA5}">
                      <a16:colId xmlns:a16="http://schemas.microsoft.com/office/drawing/2014/main" xmlns="" val="1368519302"/>
                    </a:ext>
                  </a:extLst>
                </a:gridCol>
              </a:tblGrid>
              <a:tr h="370840">
                <a:tc>
                  <a:txBody>
                    <a:bodyPr/>
                    <a:lstStyle/>
                    <a:p>
                      <a:pPr algn="just"/>
                      <a:r>
                        <a:rPr lang="en-US" sz="2400" b="0" i="0" kern="1200" dirty="0" smtClean="0">
                          <a:solidFill>
                            <a:schemeClr val="bg2">
                              <a:lumMod val="10000"/>
                            </a:schemeClr>
                          </a:solidFill>
                          <a:effectLst/>
                          <a:latin typeface="+mn-lt"/>
                          <a:ea typeface="+mn-ea"/>
                          <a:cs typeface="+mn-cs"/>
                        </a:rPr>
                        <a:t>Process means a program is in execution.</a:t>
                      </a:r>
                      <a:endParaRPr lang="en-US" sz="2400" dirty="0">
                        <a:solidFill>
                          <a:schemeClr val="bg2">
                            <a:lumMod val="10000"/>
                          </a:schemeClr>
                        </a:solidFill>
                      </a:endParaRPr>
                    </a:p>
                  </a:txBody>
                  <a:tcPr>
                    <a:solidFill>
                      <a:schemeClr val="bg1">
                        <a:lumMod val="95000"/>
                      </a:schemeClr>
                    </a:solidFill>
                  </a:tcPr>
                </a:tc>
                <a:tc>
                  <a:txBody>
                    <a:bodyPr/>
                    <a:lstStyle/>
                    <a:p>
                      <a:pPr algn="just"/>
                      <a:r>
                        <a:rPr lang="en-US" sz="2400" b="0" i="0" kern="1200" dirty="0" smtClean="0">
                          <a:solidFill>
                            <a:schemeClr val="bg2">
                              <a:lumMod val="10000"/>
                            </a:schemeClr>
                          </a:solidFill>
                          <a:effectLst/>
                          <a:latin typeface="+mn-lt"/>
                          <a:ea typeface="+mn-ea"/>
                          <a:cs typeface="+mn-cs"/>
                        </a:rPr>
                        <a:t>Thread means a segment of a process.</a:t>
                      </a:r>
                      <a:endParaRPr lang="en-US" sz="2400" dirty="0">
                        <a:solidFill>
                          <a:schemeClr val="bg2">
                            <a:lumMod val="10000"/>
                          </a:schemeClr>
                        </a:solidFill>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graphicFrame>
        <p:nvGraphicFramePr>
          <p:cNvPr id="8" name="Content Placeholder 16"/>
          <p:cNvGraphicFramePr>
            <a:graphicFrameLocks/>
          </p:cNvGraphicFramePr>
          <p:nvPr>
            <p:extLst>
              <p:ext uri="{D42A27DB-BD31-4B8C-83A1-F6EECF244321}">
                <p14:modId xmlns:p14="http://schemas.microsoft.com/office/powerpoint/2010/main" val="210495527"/>
              </p:ext>
            </p:extLst>
          </p:nvPr>
        </p:nvGraphicFramePr>
        <p:xfrm>
          <a:off x="14478" y="1825659"/>
          <a:ext cx="12076476" cy="569317"/>
        </p:xfrm>
        <a:graphic>
          <a:graphicData uri="http://schemas.openxmlformats.org/drawingml/2006/table">
            <a:tbl>
              <a:tblPr firstRow="1" bandRow="1">
                <a:tableStyleId>{5C22544A-7EE6-4342-B048-85BDC9FD1C3A}</a:tableStyleId>
              </a:tblPr>
              <a:tblGrid>
                <a:gridCol w="6038238">
                  <a:extLst>
                    <a:ext uri="{9D8B030D-6E8A-4147-A177-3AD203B41FA5}">
                      <a16:colId xmlns:a16="http://schemas.microsoft.com/office/drawing/2014/main" xmlns="" val="2803588477"/>
                    </a:ext>
                  </a:extLst>
                </a:gridCol>
                <a:gridCol w="6038238">
                  <a:extLst>
                    <a:ext uri="{9D8B030D-6E8A-4147-A177-3AD203B41FA5}">
                      <a16:colId xmlns:a16="http://schemas.microsoft.com/office/drawing/2014/main" xmlns="" val="1368519302"/>
                    </a:ext>
                  </a:extLst>
                </a:gridCol>
              </a:tblGrid>
              <a:tr h="569317">
                <a:tc>
                  <a:txBody>
                    <a:bodyPr/>
                    <a:lstStyle/>
                    <a:p>
                      <a:pPr marL="0" algn="just" defTabSz="914400" rtl="0" eaLnBrk="1" fontAlgn="t" latinLnBrk="0" hangingPunct="1"/>
                      <a:r>
                        <a:rPr lang="en-US" sz="2400" b="0" i="0" kern="1200" dirty="0" smtClean="0">
                          <a:solidFill>
                            <a:schemeClr val="bg2">
                              <a:lumMod val="10000"/>
                            </a:schemeClr>
                          </a:solidFill>
                          <a:effectLst/>
                          <a:latin typeface="+mn-lt"/>
                          <a:ea typeface="+mn-ea"/>
                          <a:cs typeface="+mn-cs"/>
                        </a:rPr>
                        <a:t>The process is not Lightweight.</a:t>
                      </a:r>
                      <a:endParaRPr lang="en-US" sz="2400" b="0" i="0" kern="1200" dirty="0">
                        <a:solidFill>
                          <a:schemeClr val="bg2">
                            <a:lumMod val="10000"/>
                          </a:schemeClr>
                        </a:solidFill>
                        <a:effectLst/>
                        <a:latin typeface="+mn-lt"/>
                        <a:ea typeface="+mn-ea"/>
                        <a:cs typeface="+mn-cs"/>
                      </a:endParaRPr>
                    </a:p>
                  </a:txBody>
                  <a:tcPr marL="76200" marR="76200" marT="76200" marB="76200">
                    <a:noFill/>
                  </a:tcPr>
                </a:tc>
                <a:tc>
                  <a:txBody>
                    <a:bodyPr/>
                    <a:lstStyle/>
                    <a:p>
                      <a:pPr algn="just"/>
                      <a:r>
                        <a:rPr lang="en-US" sz="2400" b="0" i="0" kern="1200" dirty="0" smtClean="0">
                          <a:solidFill>
                            <a:schemeClr val="bg2">
                              <a:lumMod val="10000"/>
                            </a:schemeClr>
                          </a:solidFill>
                          <a:effectLst/>
                          <a:latin typeface="+mn-lt"/>
                          <a:ea typeface="+mn-ea"/>
                          <a:cs typeface="+mn-cs"/>
                        </a:rPr>
                        <a:t>Threads are Lightweight.</a:t>
                      </a:r>
                      <a:endParaRPr lang="en-US" sz="2400" dirty="0">
                        <a:solidFill>
                          <a:schemeClr val="bg2">
                            <a:lumMod val="10000"/>
                          </a:schemeClr>
                        </a:solidFill>
                      </a:endParaRPr>
                    </a:p>
                  </a:txBody>
                  <a:tcPr>
                    <a:noFill/>
                  </a:tcPr>
                </a:tc>
                <a:extLst>
                  <a:ext uri="{0D108BD9-81ED-4DB2-BD59-A6C34878D82A}">
                    <a16:rowId xmlns:a16="http://schemas.microsoft.com/office/drawing/2014/main" xmlns="" val="1230567956"/>
                  </a:ext>
                </a:extLst>
              </a:tr>
            </a:tbl>
          </a:graphicData>
        </a:graphic>
      </p:graphicFrame>
      <p:graphicFrame>
        <p:nvGraphicFramePr>
          <p:cNvPr id="9" name="Content Placeholder 16"/>
          <p:cNvGraphicFramePr>
            <a:graphicFrameLocks/>
          </p:cNvGraphicFramePr>
          <p:nvPr>
            <p:extLst>
              <p:ext uri="{D42A27DB-BD31-4B8C-83A1-F6EECF244321}">
                <p14:modId xmlns:p14="http://schemas.microsoft.com/office/powerpoint/2010/main" val="988800417"/>
              </p:ext>
            </p:extLst>
          </p:nvPr>
        </p:nvGraphicFramePr>
        <p:xfrm>
          <a:off x="7947" y="2286212"/>
          <a:ext cx="12076476" cy="549096"/>
        </p:xfrm>
        <a:graphic>
          <a:graphicData uri="http://schemas.openxmlformats.org/drawingml/2006/table">
            <a:tbl>
              <a:tblPr firstRow="1" bandRow="1">
                <a:tableStyleId>{5C22544A-7EE6-4342-B048-85BDC9FD1C3A}</a:tableStyleId>
              </a:tblPr>
              <a:tblGrid>
                <a:gridCol w="6038238">
                  <a:extLst>
                    <a:ext uri="{9D8B030D-6E8A-4147-A177-3AD203B41FA5}">
                      <a16:colId xmlns:a16="http://schemas.microsoft.com/office/drawing/2014/main" xmlns="" val="2803588477"/>
                    </a:ext>
                  </a:extLst>
                </a:gridCol>
                <a:gridCol w="6038238">
                  <a:extLst>
                    <a:ext uri="{9D8B030D-6E8A-4147-A177-3AD203B41FA5}">
                      <a16:colId xmlns:a16="http://schemas.microsoft.com/office/drawing/2014/main" xmlns="" val="1368519302"/>
                    </a:ext>
                  </a:extLst>
                </a:gridCol>
              </a:tblGrid>
              <a:tr h="549096">
                <a:tc>
                  <a:txBody>
                    <a:bodyPr/>
                    <a:lstStyle/>
                    <a:p>
                      <a:pPr marL="0" algn="just" defTabSz="914400" rtl="0" eaLnBrk="1" fontAlgn="t" latinLnBrk="0" hangingPunct="1"/>
                      <a:r>
                        <a:rPr lang="en-US" sz="2400" b="0" i="0" kern="1200" dirty="0" smtClean="0">
                          <a:solidFill>
                            <a:schemeClr val="bg2">
                              <a:lumMod val="10000"/>
                            </a:schemeClr>
                          </a:solidFill>
                          <a:effectLst/>
                          <a:latin typeface="+mn-lt"/>
                          <a:ea typeface="+mn-ea"/>
                          <a:cs typeface="+mn-cs"/>
                        </a:rPr>
                        <a:t>The process takes more time to terminate.</a:t>
                      </a:r>
                      <a:endParaRPr lang="en-US" sz="2400" b="0" i="0" kern="1200" dirty="0">
                        <a:solidFill>
                          <a:schemeClr val="bg2">
                            <a:lumMod val="10000"/>
                          </a:schemeClr>
                        </a:solidFill>
                        <a:effectLst/>
                        <a:latin typeface="+mn-lt"/>
                        <a:ea typeface="+mn-ea"/>
                        <a:cs typeface="+mn-cs"/>
                      </a:endParaRPr>
                    </a:p>
                  </a:txBody>
                  <a:tcPr marL="76200" marR="76200" marT="76200" marB="76200">
                    <a:solidFill>
                      <a:schemeClr val="bg1">
                        <a:lumMod val="95000"/>
                      </a:schemeClr>
                    </a:solidFill>
                  </a:tcPr>
                </a:tc>
                <a:tc>
                  <a:txBody>
                    <a:bodyPr/>
                    <a:lstStyle/>
                    <a:p>
                      <a:pPr marL="0" algn="just" defTabSz="914400" rtl="0" eaLnBrk="1" fontAlgn="t" latinLnBrk="0" hangingPunct="1"/>
                      <a:r>
                        <a:rPr lang="en-US" sz="2400" b="0" i="0" kern="1200" dirty="0" smtClean="0">
                          <a:solidFill>
                            <a:schemeClr val="bg2">
                              <a:lumMod val="10000"/>
                            </a:schemeClr>
                          </a:solidFill>
                          <a:effectLst/>
                          <a:latin typeface="+mn-lt"/>
                          <a:ea typeface="+mn-ea"/>
                          <a:cs typeface="+mn-cs"/>
                        </a:rPr>
                        <a:t>The thread takes less time to terminate.</a:t>
                      </a:r>
                      <a:endParaRPr lang="en-US" sz="2400" b="0" i="0" kern="1200" dirty="0">
                        <a:solidFill>
                          <a:schemeClr val="bg2">
                            <a:lumMod val="10000"/>
                          </a:schemeClr>
                        </a:solidFill>
                        <a:effectLst/>
                        <a:latin typeface="+mn-lt"/>
                        <a:ea typeface="+mn-ea"/>
                        <a:cs typeface="+mn-cs"/>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graphicFrame>
        <p:nvGraphicFramePr>
          <p:cNvPr id="10" name="Content Placeholder 16">
            <a:extLst>
              <a:ext uri="{FF2B5EF4-FFF2-40B4-BE49-F238E27FC236}">
                <a16:creationId xmlns:a16="http://schemas.microsoft.com/office/drawing/2014/main" xmlns="" id="{3087C776-FCE6-4AF2-97C2-B702D827FC4A}"/>
              </a:ext>
            </a:extLst>
          </p:cNvPr>
          <p:cNvGraphicFramePr>
            <a:graphicFrameLocks/>
          </p:cNvGraphicFramePr>
          <p:nvPr>
            <p:extLst>
              <p:ext uri="{D42A27DB-BD31-4B8C-83A1-F6EECF244321}">
                <p14:modId xmlns:p14="http://schemas.microsoft.com/office/powerpoint/2010/main" val="140224844"/>
              </p:ext>
            </p:extLst>
          </p:nvPr>
        </p:nvGraphicFramePr>
        <p:xfrm>
          <a:off x="21009" y="2816416"/>
          <a:ext cx="12076476" cy="518160"/>
        </p:xfrm>
        <a:graphic>
          <a:graphicData uri="http://schemas.openxmlformats.org/drawingml/2006/table">
            <a:tbl>
              <a:tblPr firstRow="1" bandRow="1">
                <a:tableStyleId>{5C22544A-7EE6-4342-B048-85BDC9FD1C3A}</a:tableStyleId>
              </a:tblPr>
              <a:tblGrid>
                <a:gridCol w="6038238">
                  <a:extLst>
                    <a:ext uri="{9D8B030D-6E8A-4147-A177-3AD203B41FA5}">
                      <a16:colId xmlns:a16="http://schemas.microsoft.com/office/drawing/2014/main" xmlns="" val="2803588477"/>
                    </a:ext>
                  </a:extLst>
                </a:gridCol>
                <a:gridCol w="6038238">
                  <a:extLst>
                    <a:ext uri="{9D8B030D-6E8A-4147-A177-3AD203B41FA5}">
                      <a16:colId xmlns:a16="http://schemas.microsoft.com/office/drawing/2014/main" xmlns="" val="1368519302"/>
                    </a:ext>
                  </a:extLst>
                </a:gridCol>
              </a:tblGrid>
              <a:tr h="479445">
                <a:tc>
                  <a:txBody>
                    <a:bodyPr/>
                    <a:lstStyle/>
                    <a:p>
                      <a:pPr marL="0" algn="just" defTabSz="914400" rtl="0" eaLnBrk="1" fontAlgn="t" latinLnBrk="0" hangingPunct="1"/>
                      <a:r>
                        <a:rPr lang="en-US" sz="2400" b="0" i="0" kern="1200" dirty="0" smtClean="0">
                          <a:solidFill>
                            <a:schemeClr val="bg2">
                              <a:lumMod val="10000"/>
                            </a:schemeClr>
                          </a:solidFill>
                          <a:effectLst/>
                          <a:latin typeface="+mn-lt"/>
                          <a:ea typeface="+mn-ea"/>
                          <a:cs typeface="+mn-cs"/>
                        </a:rPr>
                        <a:t>It takes more time for creation.</a:t>
                      </a:r>
                      <a:endParaRPr lang="en-US" sz="2400" b="0" i="0" kern="1200" dirty="0">
                        <a:solidFill>
                          <a:schemeClr val="bg2">
                            <a:lumMod val="10000"/>
                          </a:schemeClr>
                        </a:solidFill>
                        <a:effectLst/>
                        <a:latin typeface="+mn-lt"/>
                        <a:ea typeface="+mn-ea"/>
                        <a:cs typeface="+mn-cs"/>
                      </a:endParaRPr>
                    </a:p>
                  </a:txBody>
                  <a:tcPr marL="76200" marR="76200" marT="76200" marB="76200">
                    <a:noFill/>
                  </a:tcPr>
                </a:tc>
                <a:tc>
                  <a:txBody>
                    <a:bodyPr/>
                    <a:lstStyle/>
                    <a:p>
                      <a:pPr marL="0" algn="just" defTabSz="914400" rtl="0" eaLnBrk="1" fontAlgn="t" latinLnBrk="0" hangingPunct="1"/>
                      <a:r>
                        <a:rPr lang="en-US" sz="2400" b="0" i="0" kern="1200" dirty="0" smtClean="0">
                          <a:solidFill>
                            <a:schemeClr val="bg2">
                              <a:lumMod val="10000"/>
                            </a:schemeClr>
                          </a:solidFill>
                          <a:effectLst/>
                          <a:latin typeface="+mn-lt"/>
                          <a:ea typeface="+mn-ea"/>
                          <a:cs typeface="+mn-cs"/>
                        </a:rPr>
                        <a:t>It takes less time for creation.</a:t>
                      </a:r>
                      <a:endParaRPr lang="en-US" sz="2400" b="0" i="0" kern="1200" dirty="0">
                        <a:solidFill>
                          <a:schemeClr val="bg2">
                            <a:lumMod val="10000"/>
                          </a:schemeClr>
                        </a:solidFill>
                        <a:effectLst/>
                        <a:latin typeface="+mn-lt"/>
                        <a:ea typeface="+mn-ea"/>
                        <a:cs typeface="+mn-cs"/>
                      </a:endParaRPr>
                    </a:p>
                  </a:txBody>
                  <a:tcPr>
                    <a:noFill/>
                  </a:tcPr>
                </a:tc>
                <a:extLst>
                  <a:ext uri="{0D108BD9-81ED-4DB2-BD59-A6C34878D82A}">
                    <a16:rowId xmlns:a16="http://schemas.microsoft.com/office/drawing/2014/main" xmlns="" val="1230567956"/>
                  </a:ext>
                </a:extLst>
              </a:tr>
            </a:tbl>
          </a:graphicData>
        </a:graphic>
      </p:graphicFrame>
      <p:graphicFrame>
        <p:nvGraphicFramePr>
          <p:cNvPr id="11" name="Content Placeholder 16"/>
          <p:cNvGraphicFramePr>
            <a:graphicFrameLocks/>
          </p:cNvGraphicFramePr>
          <p:nvPr>
            <p:extLst>
              <p:ext uri="{D42A27DB-BD31-4B8C-83A1-F6EECF244321}">
                <p14:modId xmlns:p14="http://schemas.microsoft.com/office/powerpoint/2010/main" val="2387329562"/>
              </p:ext>
            </p:extLst>
          </p:nvPr>
        </p:nvGraphicFramePr>
        <p:xfrm>
          <a:off x="27540" y="4092598"/>
          <a:ext cx="12076476" cy="883920"/>
        </p:xfrm>
        <a:graphic>
          <a:graphicData uri="http://schemas.openxmlformats.org/drawingml/2006/table">
            <a:tbl>
              <a:tblPr firstRow="1" bandRow="1">
                <a:tableStyleId>{5C22544A-7EE6-4342-B048-85BDC9FD1C3A}</a:tableStyleId>
              </a:tblPr>
              <a:tblGrid>
                <a:gridCol w="6038238">
                  <a:extLst>
                    <a:ext uri="{9D8B030D-6E8A-4147-A177-3AD203B41FA5}">
                      <a16:colId xmlns:a16="http://schemas.microsoft.com/office/drawing/2014/main" xmlns="" val="2803588477"/>
                    </a:ext>
                  </a:extLst>
                </a:gridCol>
                <a:gridCol w="6038238">
                  <a:extLst>
                    <a:ext uri="{9D8B030D-6E8A-4147-A177-3AD203B41FA5}">
                      <a16:colId xmlns:a16="http://schemas.microsoft.com/office/drawing/2014/main" xmlns="" val="1368519302"/>
                    </a:ext>
                  </a:extLst>
                </a:gridCol>
              </a:tblGrid>
              <a:tr h="801499">
                <a:tc>
                  <a:txBody>
                    <a:bodyPr/>
                    <a:lstStyle/>
                    <a:p>
                      <a:pPr marL="0" algn="just" defTabSz="914400" rtl="0" eaLnBrk="1" fontAlgn="t" latinLnBrk="0" hangingPunct="1"/>
                      <a:r>
                        <a:rPr lang="en-US" sz="2400" b="0" i="0" kern="1200" dirty="0" smtClean="0">
                          <a:solidFill>
                            <a:schemeClr val="bg2">
                              <a:lumMod val="10000"/>
                            </a:schemeClr>
                          </a:solidFill>
                          <a:effectLst/>
                          <a:latin typeface="+mn-lt"/>
                          <a:ea typeface="+mn-ea"/>
                          <a:cs typeface="+mn-cs"/>
                        </a:rPr>
                        <a:t>All the different processes are treated separately by the operating system.</a:t>
                      </a:r>
                      <a:endParaRPr lang="en-US" sz="2400" b="0" i="0" kern="1200" dirty="0">
                        <a:solidFill>
                          <a:schemeClr val="bg2">
                            <a:lumMod val="10000"/>
                          </a:schemeClr>
                        </a:solidFill>
                        <a:effectLst/>
                        <a:latin typeface="+mn-lt"/>
                        <a:ea typeface="+mn-ea"/>
                        <a:cs typeface="+mn-cs"/>
                      </a:endParaRPr>
                    </a:p>
                  </a:txBody>
                  <a:tcPr marL="76200" marR="76200" marT="76200" marB="76200">
                    <a:noFill/>
                  </a:tcPr>
                </a:tc>
                <a:tc>
                  <a:txBody>
                    <a:bodyPr/>
                    <a:lstStyle/>
                    <a:p>
                      <a:pPr algn="just"/>
                      <a:r>
                        <a:rPr lang="en-US" sz="2400" b="0" i="0" kern="1200" dirty="0" smtClean="0">
                          <a:solidFill>
                            <a:schemeClr val="bg2">
                              <a:lumMod val="10000"/>
                            </a:schemeClr>
                          </a:solidFill>
                          <a:effectLst/>
                          <a:latin typeface="+mn-lt"/>
                          <a:ea typeface="+mn-ea"/>
                          <a:cs typeface="+mn-cs"/>
                        </a:rPr>
                        <a:t>All user level peer threads are treated as a single task by the operating system.</a:t>
                      </a:r>
                      <a:endParaRPr lang="en-US" sz="2400" dirty="0">
                        <a:solidFill>
                          <a:schemeClr val="bg2">
                            <a:lumMod val="10000"/>
                          </a:schemeClr>
                        </a:solidFill>
                      </a:endParaRPr>
                    </a:p>
                  </a:txBody>
                  <a:tcPr>
                    <a:noFill/>
                  </a:tcPr>
                </a:tc>
                <a:extLst>
                  <a:ext uri="{0D108BD9-81ED-4DB2-BD59-A6C34878D82A}">
                    <a16:rowId xmlns:a16="http://schemas.microsoft.com/office/drawing/2014/main" xmlns="" val="1230567956"/>
                  </a:ext>
                </a:extLst>
              </a:tr>
            </a:tbl>
          </a:graphicData>
        </a:graphic>
      </p:graphicFrame>
      <p:graphicFrame>
        <p:nvGraphicFramePr>
          <p:cNvPr id="12" name="Content Placeholder 16"/>
          <p:cNvGraphicFramePr>
            <a:graphicFrameLocks/>
          </p:cNvGraphicFramePr>
          <p:nvPr>
            <p:extLst>
              <p:ext uri="{D42A27DB-BD31-4B8C-83A1-F6EECF244321}">
                <p14:modId xmlns:p14="http://schemas.microsoft.com/office/powerpoint/2010/main" val="3646575556"/>
              </p:ext>
            </p:extLst>
          </p:nvPr>
        </p:nvGraphicFramePr>
        <p:xfrm>
          <a:off x="21009" y="4938912"/>
          <a:ext cx="12076476" cy="883920"/>
        </p:xfrm>
        <a:graphic>
          <a:graphicData uri="http://schemas.openxmlformats.org/drawingml/2006/table">
            <a:tbl>
              <a:tblPr firstRow="1" bandRow="1">
                <a:tableStyleId>{5C22544A-7EE6-4342-B048-85BDC9FD1C3A}</a:tableStyleId>
              </a:tblPr>
              <a:tblGrid>
                <a:gridCol w="6038238">
                  <a:extLst>
                    <a:ext uri="{9D8B030D-6E8A-4147-A177-3AD203B41FA5}">
                      <a16:colId xmlns:a16="http://schemas.microsoft.com/office/drawing/2014/main" xmlns="" val="2803588477"/>
                    </a:ext>
                  </a:extLst>
                </a:gridCol>
                <a:gridCol w="6038238">
                  <a:extLst>
                    <a:ext uri="{9D8B030D-6E8A-4147-A177-3AD203B41FA5}">
                      <a16:colId xmlns:a16="http://schemas.microsoft.com/office/drawing/2014/main" xmlns="" val="1368519302"/>
                    </a:ext>
                  </a:extLst>
                </a:gridCol>
              </a:tblGrid>
              <a:tr h="549096">
                <a:tc>
                  <a:txBody>
                    <a:bodyPr/>
                    <a:lstStyle/>
                    <a:p>
                      <a:pPr marL="0" algn="just" defTabSz="914400" rtl="0" eaLnBrk="1" fontAlgn="t" latinLnBrk="0" hangingPunct="1"/>
                      <a:r>
                        <a:rPr lang="en-US" sz="2400" b="0" i="0" kern="1200" dirty="0" smtClean="0">
                          <a:solidFill>
                            <a:schemeClr val="bg2">
                              <a:lumMod val="10000"/>
                            </a:schemeClr>
                          </a:solidFill>
                          <a:effectLst/>
                          <a:latin typeface="+mn-lt"/>
                          <a:ea typeface="+mn-ea"/>
                          <a:cs typeface="+mn-cs"/>
                        </a:rPr>
                        <a:t>Communication between processes requires more time than between threads.</a:t>
                      </a:r>
                      <a:endParaRPr lang="en-US" sz="2400" b="0" i="0" kern="1200" dirty="0">
                        <a:solidFill>
                          <a:schemeClr val="bg2">
                            <a:lumMod val="10000"/>
                          </a:schemeClr>
                        </a:solidFill>
                        <a:effectLst/>
                        <a:latin typeface="+mn-lt"/>
                        <a:ea typeface="+mn-ea"/>
                        <a:cs typeface="+mn-cs"/>
                      </a:endParaRPr>
                    </a:p>
                  </a:txBody>
                  <a:tcPr marL="76200" marR="76200" marT="76200" marB="76200">
                    <a:solidFill>
                      <a:schemeClr val="bg1">
                        <a:lumMod val="95000"/>
                      </a:schemeClr>
                    </a:solidFill>
                  </a:tcPr>
                </a:tc>
                <a:tc>
                  <a:txBody>
                    <a:bodyPr/>
                    <a:lstStyle/>
                    <a:p>
                      <a:pPr marL="0" algn="just" defTabSz="914400" rtl="0" eaLnBrk="1" fontAlgn="t" latinLnBrk="0" hangingPunct="1"/>
                      <a:r>
                        <a:rPr lang="en-US" sz="2400" b="0" i="0" kern="1200" dirty="0" smtClean="0">
                          <a:solidFill>
                            <a:schemeClr val="bg2">
                              <a:lumMod val="10000"/>
                            </a:schemeClr>
                          </a:solidFill>
                          <a:effectLst/>
                          <a:latin typeface="+mn-lt"/>
                          <a:ea typeface="+mn-ea"/>
                          <a:cs typeface="+mn-cs"/>
                        </a:rPr>
                        <a:t>Communication between threads requires less time than between processes </a:t>
                      </a:r>
                      <a:endParaRPr lang="en-US" sz="2400" b="0" i="0" kern="1200" dirty="0">
                        <a:solidFill>
                          <a:schemeClr val="bg2">
                            <a:lumMod val="10000"/>
                          </a:schemeClr>
                        </a:solidFill>
                        <a:effectLst/>
                        <a:latin typeface="+mn-lt"/>
                        <a:ea typeface="+mn-ea"/>
                        <a:cs typeface="+mn-cs"/>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spTree>
    <p:extLst>
      <p:ext uri="{BB962C8B-B14F-4D97-AF65-F5344CB8AC3E}">
        <p14:creationId xmlns:p14="http://schemas.microsoft.com/office/powerpoint/2010/main" val="211798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Types of Threads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457200" indent="-457200">
              <a:spcBef>
                <a:spcPts val="576"/>
              </a:spcBef>
              <a:buFont typeface="+mj-lt"/>
              <a:buAutoNum type="arabicPeriod"/>
            </a:pPr>
            <a:r>
              <a:rPr lang="en-US" dirty="0">
                <a:latin typeface="+mj-lt"/>
              </a:rPr>
              <a:t>Kernel Level Thread</a:t>
            </a:r>
          </a:p>
          <a:p>
            <a:pPr marL="457200" indent="-457200">
              <a:spcBef>
                <a:spcPts val="576"/>
              </a:spcBef>
              <a:buFont typeface="+mj-lt"/>
              <a:buAutoNum type="arabicPeriod"/>
            </a:pPr>
            <a:r>
              <a:rPr lang="en-US" dirty="0">
                <a:latin typeface="+mj-lt"/>
              </a:rPr>
              <a:t>User Level Thread</a:t>
            </a:r>
          </a:p>
          <a:p>
            <a:pPr>
              <a:spcBef>
                <a:spcPts val="576"/>
              </a:spcBef>
            </a:pPr>
            <a:endParaRPr lang="en-US" sz="2400" dirty="0">
              <a:latin typeface="+mj-lt"/>
            </a:endParaRPr>
          </a:p>
        </p:txBody>
      </p:sp>
      <p:pic>
        <p:nvPicPr>
          <p:cNvPr id="4" name="Picture 2" descr="Many to one thread mod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1712" y="1809750"/>
            <a:ext cx="5715000" cy="4229101"/>
          </a:xfrm>
          <a:prstGeom prst="rect">
            <a:avLst/>
          </a:prstGeom>
          <a:solidFill>
            <a:srgbClr val="1D3064"/>
          </a:solidFill>
          <a:extLst/>
        </p:spPr>
      </p:pic>
      <p:sp>
        <p:nvSpPr>
          <p:cNvPr id="5" name="Rectangle 4"/>
          <p:cNvSpPr/>
          <p:nvPr/>
        </p:nvSpPr>
        <p:spPr>
          <a:xfrm>
            <a:off x="2502317" y="3676651"/>
            <a:ext cx="5181600" cy="1371600"/>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2502317" y="2228851"/>
            <a:ext cx="5181600" cy="1371600"/>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ight Brace 6"/>
          <p:cNvSpPr/>
          <p:nvPr/>
        </p:nvSpPr>
        <p:spPr>
          <a:xfrm>
            <a:off x="7986712" y="2228851"/>
            <a:ext cx="230605" cy="1371600"/>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8289507" y="2448521"/>
            <a:ext cx="1106906" cy="923330"/>
          </a:xfrm>
          <a:prstGeom prst="rect">
            <a:avLst/>
          </a:prstGeom>
          <a:noFill/>
        </p:spPr>
        <p:txBody>
          <a:bodyPr wrap="square" rtlCol="0">
            <a:spAutoFit/>
          </a:bodyPr>
          <a:lstStyle/>
          <a:p>
            <a:r>
              <a:rPr lang="en-US" dirty="0"/>
              <a:t>User</a:t>
            </a:r>
          </a:p>
          <a:p>
            <a:r>
              <a:rPr lang="en-US" dirty="0"/>
              <a:t>Level</a:t>
            </a:r>
          </a:p>
          <a:p>
            <a:r>
              <a:rPr lang="en-US" dirty="0"/>
              <a:t>Threads</a:t>
            </a:r>
          </a:p>
        </p:txBody>
      </p:sp>
      <p:sp>
        <p:nvSpPr>
          <p:cNvPr id="9" name="Right Brace 8"/>
          <p:cNvSpPr/>
          <p:nvPr/>
        </p:nvSpPr>
        <p:spPr>
          <a:xfrm>
            <a:off x="7986712" y="3676651"/>
            <a:ext cx="230605" cy="1371600"/>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8289507" y="3896321"/>
            <a:ext cx="1106906" cy="923330"/>
          </a:xfrm>
          <a:prstGeom prst="rect">
            <a:avLst/>
          </a:prstGeom>
          <a:noFill/>
        </p:spPr>
        <p:txBody>
          <a:bodyPr wrap="square" rtlCol="0">
            <a:spAutoFit/>
          </a:bodyPr>
          <a:lstStyle/>
          <a:p>
            <a:r>
              <a:rPr lang="en-US" dirty="0"/>
              <a:t>Kernel</a:t>
            </a:r>
          </a:p>
          <a:p>
            <a:r>
              <a:rPr lang="en-US" dirty="0"/>
              <a:t>Level</a:t>
            </a:r>
          </a:p>
          <a:p>
            <a:r>
              <a:rPr lang="en-US" dirty="0"/>
              <a:t>Threads</a:t>
            </a:r>
          </a:p>
        </p:txBody>
      </p:sp>
    </p:spTree>
    <p:extLst>
      <p:ext uri="{BB962C8B-B14F-4D97-AF65-F5344CB8AC3E}">
        <p14:creationId xmlns:p14="http://schemas.microsoft.com/office/powerpoint/2010/main" val="176727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inVertic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animBg="1"/>
      <p:bldP spid="1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User </a:t>
            </a:r>
            <a:r>
              <a:rPr lang="en-US" dirty="0"/>
              <a:t>Level </a:t>
            </a:r>
            <a:r>
              <a:rPr lang="en-US" dirty="0" smtClean="0"/>
              <a:t>Thread Vs. </a:t>
            </a:r>
            <a:r>
              <a:rPr lang="en-US" dirty="0"/>
              <a:t>Kernel Level Thread</a:t>
            </a:r>
          </a:p>
        </p:txBody>
      </p:sp>
      <p:graphicFrame>
        <p:nvGraphicFramePr>
          <p:cNvPr id="12" name="Table 11"/>
          <p:cNvGraphicFramePr>
            <a:graphicFrameLocks noGrp="1"/>
          </p:cNvGraphicFramePr>
          <p:nvPr>
            <p:extLst>
              <p:ext uri="{D42A27DB-BD31-4B8C-83A1-F6EECF244321}">
                <p14:modId xmlns:p14="http://schemas.microsoft.com/office/powerpoint/2010/main" val="213987263"/>
              </p:ext>
            </p:extLst>
          </p:nvPr>
        </p:nvGraphicFramePr>
        <p:xfrm>
          <a:off x="365092" y="2034876"/>
          <a:ext cx="11579220" cy="398780"/>
        </p:xfrm>
        <a:graphic>
          <a:graphicData uri="http://schemas.openxmlformats.org/drawingml/2006/table">
            <a:tbl>
              <a:tblPr firstRow="1" bandRow="1">
                <a:tableStyleId>{BC89EF96-8CEA-46FF-86C4-4CE0E7609802}</a:tableStyleId>
              </a:tblPr>
              <a:tblGrid>
                <a:gridCol w="5789610">
                  <a:extLst>
                    <a:ext uri="{9D8B030D-6E8A-4147-A177-3AD203B41FA5}">
                      <a16:colId xmlns:a16="http://schemas.microsoft.com/office/drawing/2014/main" xmlns="" val="20000"/>
                    </a:ext>
                  </a:extLst>
                </a:gridCol>
                <a:gridCol w="5789610">
                  <a:extLst>
                    <a:ext uri="{9D8B030D-6E8A-4147-A177-3AD203B41FA5}">
                      <a16:colId xmlns:a16="http://schemas.microsoft.com/office/drawing/2014/main" xmlns="" val="20001"/>
                    </a:ext>
                  </a:extLst>
                </a:gridCol>
              </a:tblGrid>
              <a:tr h="398780">
                <a:tc>
                  <a:txBody>
                    <a:bodyPr/>
                    <a:lstStyle/>
                    <a:p>
                      <a:pPr algn="just"/>
                      <a:r>
                        <a:rPr lang="en-IN" sz="2000" b="0" dirty="0">
                          <a:effectLst/>
                        </a:rPr>
                        <a:t>Implementation of User threads is easy.</a:t>
                      </a:r>
                      <a:endParaRPr lang="en-US" sz="2000" b="0" dirty="0"/>
                    </a:p>
                  </a:txBody>
                  <a:tcPr>
                    <a:solidFill>
                      <a:srgbClr val="F2F2F2"/>
                    </a:solidFill>
                  </a:tcPr>
                </a:tc>
                <a:tc>
                  <a:txBody>
                    <a:bodyPr/>
                    <a:lstStyle/>
                    <a:p>
                      <a:pPr algn="just"/>
                      <a:r>
                        <a:rPr lang="en-IN" sz="2000" b="0" dirty="0">
                          <a:effectLst/>
                        </a:rPr>
                        <a:t>Implementation of Kernel thread is complex.</a:t>
                      </a:r>
                      <a:endParaRPr lang="en-US" sz="2000" b="0" dirty="0"/>
                    </a:p>
                  </a:txBody>
                  <a:tcPr>
                    <a:solidFill>
                      <a:srgbClr val="F2F2F2"/>
                    </a:solidFill>
                  </a:tcPr>
                </a:tc>
                <a:extLst>
                  <a:ext uri="{0D108BD9-81ED-4DB2-BD59-A6C34878D82A}">
                    <a16:rowId xmlns:a16="http://schemas.microsoft.com/office/drawing/2014/main" xmlns="" val="10000"/>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3485660015"/>
              </p:ext>
            </p:extLst>
          </p:nvPr>
        </p:nvGraphicFramePr>
        <p:xfrm>
          <a:off x="363577" y="2438223"/>
          <a:ext cx="11592450" cy="396240"/>
        </p:xfrm>
        <a:graphic>
          <a:graphicData uri="http://schemas.openxmlformats.org/drawingml/2006/table">
            <a:tbl>
              <a:tblPr firstRow="1" bandRow="1">
                <a:tableStyleId>{BC89EF96-8CEA-46FF-86C4-4CE0E7609802}</a:tableStyleId>
              </a:tblPr>
              <a:tblGrid>
                <a:gridCol w="5796225">
                  <a:extLst>
                    <a:ext uri="{9D8B030D-6E8A-4147-A177-3AD203B41FA5}">
                      <a16:colId xmlns:a16="http://schemas.microsoft.com/office/drawing/2014/main" xmlns="" val="20000"/>
                    </a:ext>
                  </a:extLst>
                </a:gridCol>
                <a:gridCol w="5796225">
                  <a:extLst>
                    <a:ext uri="{9D8B030D-6E8A-4147-A177-3AD203B41FA5}">
                      <a16:colId xmlns:a16="http://schemas.microsoft.com/office/drawing/2014/main" xmlns="" val="20001"/>
                    </a:ext>
                  </a:extLst>
                </a:gridCol>
              </a:tblGrid>
              <a:tr h="373217">
                <a:tc>
                  <a:txBody>
                    <a:bodyPr/>
                    <a:lstStyle/>
                    <a:p>
                      <a:pPr algn="just"/>
                      <a:r>
                        <a:rPr lang="en-IN" sz="2000" b="0" dirty="0">
                          <a:effectLst/>
                        </a:rPr>
                        <a:t>Context switch time is less.</a:t>
                      </a:r>
                      <a:endParaRPr lang="en-US" sz="2000" b="0"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b="0" dirty="0">
                          <a:effectLst/>
                        </a:rPr>
                        <a:t>Context switch time is more.</a:t>
                      </a:r>
                    </a:p>
                  </a:txBody>
                  <a:tcPr/>
                </a:tc>
                <a:extLst>
                  <a:ext uri="{0D108BD9-81ED-4DB2-BD59-A6C34878D82A}">
                    <a16:rowId xmlns:a16="http://schemas.microsoft.com/office/drawing/2014/main" xmlns=""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948425352"/>
              </p:ext>
            </p:extLst>
          </p:nvPr>
        </p:nvGraphicFramePr>
        <p:xfrm>
          <a:off x="368351" y="2837853"/>
          <a:ext cx="11579220" cy="398780"/>
        </p:xfrm>
        <a:graphic>
          <a:graphicData uri="http://schemas.openxmlformats.org/drawingml/2006/table">
            <a:tbl>
              <a:tblPr firstRow="1" bandRow="1">
                <a:tableStyleId>{BC89EF96-8CEA-46FF-86C4-4CE0E7609802}</a:tableStyleId>
              </a:tblPr>
              <a:tblGrid>
                <a:gridCol w="5789610">
                  <a:extLst>
                    <a:ext uri="{9D8B030D-6E8A-4147-A177-3AD203B41FA5}">
                      <a16:colId xmlns:a16="http://schemas.microsoft.com/office/drawing/2014/main" xmlns="" val="20000"/>
                    </a:ext>
                  </a:extLst>
                </a:gridCol>
                <a:gridCol w="5789610">
                  <a:extLst>
                    <a:ext uri="{9D8B030D-6E8A-4147-A177-3AD203B41FA5}">
                      <a16:colId xmlns:a16="http://schemas.microsoft.com/office/drawing/2014/main" xmlns="" val="20001"/>
                    </a:ext>
                  </a:extLst>
                </a:gridCol>
              </a:tblGrid>
              <a:tr h="39878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b="0" dirty="0">
                          <a:effectLst/>
                        </a:rPr>
                        <a:t>Context switch requires no hardware support.</a:t>
                      </a:r>
                    </a:p>
                  </a:txBody>
                  <a:tcPr>
                    <a:solidFill>
                      <a:srgbClr val="F2F2F2"/>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b="0" dirty="0">
                          <a:effectLst/>
                        </a:rPr>
                        <a:t>Context switch requires hardware support.</a:t>
                      </a:r>
                    </a:p>
                  </a:txBody>
                  <a:tcPr>
                    <a:solidFill>
                      <a:srgbClr val="F2F2F2"/>
                    </a:solidFill>
                  </a:tcPr>
                </a:tc>
                <a:extLst>
                  <a:ext uri="{0D108BD9-81ED-4DB2-BD59-A6C34878D82A}">
                    <a16:rowId xmlns:a16="http://schemas.microsoft.com/office/drawing/2014/main" xmlns="" val="10000"/>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4003867947"/>
              </p:ext>
            </p:extLst>
          </p:nvPr>
        </p:nvGraphicFramePr>
        <p:xfrm>
          <a:off x="374753" y="3229387"/>
          <a:ext cx="11579220" cy="1005840"/>
        </p:xfrm>
        <a:graphic>
          <a:graphicData uri="http://schemas.openxmlformats.org/drawingml/2006/table">
            <a:tbl>
              <a:tblPr firstRow="1" bandRow="1">
                <a:tableStyleId>{BC89EF96-8CEA-46FF-86C4-4CE0E7609802}</a:tableStyleId>
              </a:tblPr>
              <a:tblGrid>
                <a:gridCol w="5789610">
                  <a:extLst>
                    <a:ext uri="{9D8B030D-6E8A-4147-A177-3AD203B41FA5}">
                      <a16:colId xmlns:a16="http://schemas.microsoft.com/office/drawing/2014/main" xmlns="" val="20000"/>
                    </a:ext>
                  </a:extLst>
                </a:gridCol>
                <a:gridCol w="5789610">
                  <a:extLst>
                    <a:ext uri="{9D8B030D-6E8A-4147-A177-3AD203B41FA5}">
                      <a16:colId xmlns:a16="http://schemas.microsoft.com/office/drawing/2014/main" xmlns="" val="20001"/>
                    </a:ext>
                  </a:extLst>
                </a:gridCol>
              </a:tblGrid>
              <a:tr h="39878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b="0" dirty="0">
                          <a:effectLst/>
                        </a:rPr>
                        <a:t>If one user level thread perform blocking operation then entire process will be blocked.</a:t>
                      </a: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b="0" dirty="0">
                          <a:effectLst/>
                        </a:rPr>
                        <a:t>If one kernel thread perform blocking operation then another thread with in same process can continue execution.</a:t>
                      </a:r>
                    </a:p>
                  </a:txBody>
                  <a:tcPr/>
                </a:tc>
                <a:extLst>
                  <a:ext uri="{0D108BD9-81ED-4DB2-BD59-A6C34878D82A}">
                    <a16:rowId xmlns:a16="http://schemas.microsoft.com/office/drawing/2014/main" xmlns="" val="10000"/>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3128589877"/>
              </p:ext>
            </p:extLst>
          </p:nvPr>
        </p:nvGraphicFramePr>
        <p:xfrm>
          <a:off x="374753" y="4219505"/>
          <a:ext cx="11579220" cy="398780"/>
        </p:xfrm>
        <a:graphic>
          <a:graphicData uri="http://schemas.openxmlformats.org/drawingml/2006/table">
            <a:tbl>
              <a:tblPr firstRow="1" bandRow="1">
                <a:tableStyleId>{BC89EF96-8CEA-46FF-86C4-4CE0E7609802}</a:tableStyleId>
              </a:tblPr>
              <a:tblGrid>
                <a:gridCol w="5789610">
                  <a:extLst>
                    <a:ext uri="{9D8B030D-6E8A-4147-A177-3AD203B41FA5}">
                      <a16:colId xmlns:a16="http://schemas.microsoft.com/office/drawing/2014/main" xmlns="" val="20000"/>
                    </a:ext>
                  </a:extLst>
                </a:gridCol>
                <a:gridCol w="5789610">
                  <a:extLst>
                    <a:ext uri="{9D8B030D-6E8A-4147-A177-3AD203B41FA5}">
                      <a16:colId xmlns:a16="http://schemas.microsoft.com/office/drawing/2014/main" xmlns="" val="20001"/>
                    </a:ext>
                  </a:extLst>
                </a:gridCol>
              </a:tblGrid>
              <a:tr h="39878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b="0" dirty="0">
                          <a:solidFill>
                            <a:schemeClr val="tx1"/>
                          </a:solidFill>
                          <a:effectLst/>
                        </a:rPr>
                        <a:t>Example : Java thread</a:t>
                      </a:r>
                    </a:p>
                  </a:txBody>
                  <a:tcPr>
                    <a:solidFill>
                      <a:srgbClr val="F2F2F2"/>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b="0" dirty="0">
                          <a:solidFill>
                            <a:schemeClr val="tx1"/>
                          </a:solidFill>
                          <a:effectLst/>
                        </a:rPr>
                        <a:t>Example : Window Solaris</a:t>
                      </a:r>
                    </a:p>
                  </a:txBody>
                  <a:tcPr>
                    <a:solidFill>
                      <a:srgbClr val="F2F2F2"/>
                    </a:solidFill>
                  </a:tcPr>
                </a:tc>
                <a:extLst>
                  <a:ext uri="{0D108BD9-81ED-4DB2-BD59-A6C34878D82A}">
                    <a16:rowId xmlns:a16="http://schemas.microsoft.com/office/drawing/2014/main" xmlns="" val="10000"/>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3137310191"/>
              </p:ext>
            </p:extLst>
          </p:nvPr>
        </p:nvGraphicFramePr>
        <p:xfrm>
          <a:off x="368942" y="1230735"/>
          <a:ext cx="11579220" cy="398780"/>
        </p:xfrm>
        <a:graphic>
          <a:graphicData uri="http://schemas.openxmlformats.org/drawingml/2006/table">
            <a:tbl>
              <a:tblPr firstRow="1" bandRow="1">
                <a:tableStyleId>{BC89EF96-8CEA-46FF-86C4-4CE0E7609802}</a:tableStyleId>
              </a:tblPr>
              <a:tblGrid>
                <a:gridCol w="5789610">
                  <a:extLst>
                    <a:ext uri="{9D8B030D-6E8A-4147-A177-3AD203B41FA5}">
                      <a16:colId xmlns:a16="http://schemas.microsoft.com/office/drawing/2014/main" xmlns="" val="20000"/>
                    </a:ext>
                  </a:extLst>
                </a:gridCol>
                <a:gridCol w="5789610">
                  <a:extLst>
                    <a:ext uri="{9D8B030D-6E8A-4147-A177-3AD203B41FA5}">
                      <a16:colId xmlns:a16="http://schemas.microsoft.com/office/drawing/2014/main" xmlns="" val="20001"/>
                    </a:ext>
                  </a:extLst>
                </a:gridCol>
              </a:tblGrid>
              <a:tr h="398780">
                <a:tc>
                  <a:txBody>
                    <a:bodyPr/>
                    <a:lstStyle/>
                    <a:p>
                      <a:pPr algn="just"/>
                      <a:r>
                        <a:rPr lang="en-US" sz="2000" b="0" dirty="0"/>
                        <a:t>User thread are implemented by users.</a:t>
                      </a:r>
                    </a:p>
                  </a:txBody>
                  <a:tcPr>
                    <a:solidFill>
                      <a:srgbClr val="F2F2F2"/>
                    </a:solidFill>
                  </a:tcPr>
                </a:tc>
                <a:tc>
                  <a:txBody>
                    <a:bodyPr/>
                    <a:lstStyle/>
                    <a:p>
                      <a:pPr algn="just"/>
                      <a:r>
                        <a:rPr lang="en-US" sz="2000" b="0" kern="1200" dirty="0"/>
                        <a:t>Kernel threads are implemented by OS.</a:t>
                      </a:r>
                      <a:endParaRPr lang="en-US" sz="2000" b="0" kern="1200" dirty="0">
                        <a:solidFill>
                          <a:schemeClr val="tx1"/>
                        </a:solidFill>
                        <a:latin typeface="+mn-lt"/>
                        <a:ea typeface="+mn-ea"/>
                        <a:cs typeface="+mn-cs"/>
                      </a:endParaRPr>
                    </a:p>
                  </a:txBody>
                  <a:tcPr>
                    <a:solidFill>
                      <a:srgbClr val="F2F2F2"/>
                    </a:solidFill>
                  </a:tcPr>
                </a:tc>
                <a:extLst>
                  <a:ext uri="{0D108BD9-81ED-4DB2-BD59-A6C34878D82A}">
                    <a16:rowId xmlns:a16="http://schemas.microsoft.com/office/drawing/2014/main" xmlns="" val="10000"/>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1877709158"/>
              </p:ext>
            </p:extLst>
          </p:nvPr>
        </p:nvGraphicFramePr>
        <p:xfrm>
          <a:off x="367940" y="1635776"/>
          <a:ext cx="11579220" cy="398780"/>
        </p:xfrm>
        <a:graphic>
          <a:graphicData uri="http://schemas.openxmlformats.org/drawingml/2006/table">
            <a:tbl>
              <a:tblPr firstRow="1" bandRow="1">
                <a:tableStyleId>{BC89EF96-8CEA-46FF-86C4-4CE0E7609802}</a:tableStyleId>
              </a:tblPr>
              <a:tblGrid>
                <a:gridCol w="5789610">
                  <a:extLst>
                    <a:ext uri="{9D8B030D-6E8A-4147-A177-3AD203B41FA5}">
                      <a16:colId xmlns:a16="http://schemas.microsoft.com/office/drawing/2014/main" xmlns="" val="20000"/>
                    </a:ext>
                  </a:extLst>
                </a:gridCol>
                <a:gridCol w="5789610">
                  <a:extLst>
                    <a:ext uri="{9D8B030D-6E8A-4147-A177-3AD203B41FA5}">
                      <a16:colId xmlns:a16="http://schemas.microsoft.com/office/drawing/2014/main" xmlns="" val="20001"/>
                    </a:ext>
                  </a:extLst>
                </a:gridCol>
              </a:tblGrid>
              <a:tr h="398780">
                <a:tc>
                  <a:txBody>
                    <a:bodyPr/>
                    <a:lstStyle/>
                    <a:p>
                      <a:pPr algn="just"/>
                      <a:r>
                        <a:rPr lang="en-US" sz="2000" b="0" dirty="0"/>
                        <a:t>OS doesn’t recognized user level threads.</a:t>
                      </a:r>
                    </a:p>
                  </a:txBody>
                  <a:tcPr>
                    <a:solidFill>
                      <a:schemeClr val="bg1"/>
                    </a:solidFill>
                  </a:tcPr>
                </a:tc>
                <a:tc>
                  <a:txBody>
                    <a:bodyPr/>
                    <a:lstStyle/>
                    <a:p>
                      <a:pPr algn="just"/>
                      <a:r>
                        <a:rPr lang="en-IN" sz="2000" b="0" dirty="0">
                          <a:effectLst/>
                        </a:rPr>
                        <a:t>Kernel threads are recognized by OS.</a:t>
                      </a:r>
                      <a:endParaRPr lang="en-US" sz="2000" b="0" dirty="0"/>
                    </a:p>
                  </a:txBody>
                  <a:tcPr>
                    <a:solidFill>
                      <a:schemeClr val="bg1"/>
                    </a:solidFill>
                  </a:tcPr>
                </a:tc>
                <a:extLst>
                  <a:ext uri="{0D108BD9-81ED-4DB2-BD59-A6C34878D82A}">
                    <a16:rowId xmlns:a16="http://schemas.microsoft.com/office/drawing/2014/main" xmlns="" val="10000"/>
                  </a:ext>
                </a:extLst>
              </a:tr>
            </a:tbl>
          </a:graphicData>
        </a:graphic>
      </p:graphicFrame>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xmlns="" id="{A2FCBA26-C1E7-41E4-B947-3A18AEA177AA}"/>
                  </a:ext>
                </a:extLst>
              </p:cNvPr>
              <p:cNvGraphicFramePr>
                <a:graphicFrameLocks noGrp="1"/>
              </p:cNvGraphicFramePr>
              <p:nvPr>
                <p:extLst>
                  <p:ext uri="{D42A27DB-BD31-4B8C-83A1-F6EECF244321}">
                    <p14:modId xmlns:p14="http://schemas.microsoft.com/office/powerpoint/2010/main" val="1153012925"/>
                  </p:ext>
                </p:extLst>
              </p:nvPr>
            </p:nvGraphicFramePr>
            <p:xfrm>
              <a:off x="374753" y="820057"/>
              <a:ext cx="11579220" cy="435864"/>
            </p:xfrm>
            <a:graphic>
              <a:graphicData uri="http://schemas.openxmlformats.org/drawingml/2006/table">
                <a:tbl>
                  <a:tblPr firstRow="1" bandRow="1">
                    <a:tableStyleId>{5C22544A-7EE6-4342-B048-85BDC9FD1C3A}</a:tableStyleId>
                  </a:tblPr>
                  <a:tblGrid>
                    <a:gridCol w="5789610">
                      <a:extLst>
                        <a:ext uri="{9D8B030D-6E8A-4147-A177-3AD203B41FA5}">
                          <a16:colId xmlns:a16="http://schemas.microsoft.com/office/drawing/2014/main" xmlns="" val="2905580143"/>
                        </a:ext>
                      </a:extLst>
                    </a:gridCol>
                    <a:gridCol w="5789610">
                      <a:extLst>
                        <a:ext uri="{9D8B030D-6E8A-4147-A177-3AD203B41FA5}">
                          <a16:colId xmlns:a16="http://schemas.microsoft.com/office/drawing/2014/main" xmlns="" val="277343114"/>
                        </a:ext>
                      </a:extLst>
                    </a:gridCol>
                  </a:tblGrid>
                  <a:tr h="4358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n-US" sz="2200" dirty="0" smtClean="0"/>
                                  <m:t>USER</m:t>
                                </m:r>
                                <m:r>
                                  <m:rPr>
                                    <m:nor/>
                                  </m:rPr>
                                  <a:rPr lang="en-US" sz="2200" dirty="0" smtClean="0"/>
                                  <m:t> </m:t>
                                </m:r>
                                <m:r>
                                  <m:rPr>
                                    <m:nor/>
                                  </m:rPr>
                                  <a:rPr lang="en-US" sz="2200" dirty="0" smtClean="0"/>
                                  <m:t>LEVEL</m:t>
                                </m:r>
                                <m:r>
                                  <m:rPr>
                                    <m:nor/>
                                  </m:rPr>
                                  <a:rPr lang="en-US" sz="2200" dirty="0" smtClean="0"/>
                                  <m:t> </m:t>
                                </m:r>
                                <m:r>
                                  <m:rPr>
                                    <m:nor/>
                                  </m:rPr>
                                  <a:rPr lang="en-US" sz="2200" dirty="0" smtClean="0"/>
                                  <m:t>THREAD</m:t>
                                </m:r>
                              </m:oMath>
                            </m:oMathPara>
                          </a14:m>
                          <a:endParaRPr lang="en-US" sz="2200" b="1" dirty="0"/>
                        </a:p>
                      </a:txBody>
                      <a:tcPr marT="50292" marB="50292">
                        <a:solidFill>
                          <a:srgbClr val="1D306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n-US" sz="2200" dirty="0" smtClean="0"/>
                                  <m:t>KERNEL</m:t>
                                </m:r>
                                <m:r>
                                  <m:rPr>
                                    <m:nor/>
                                  </m:rPr>
                                  <a:rPr lang="en-US" sz="2200" dirty="0" smtClean="0"/>
                                  <m:t> </m:t>
                                </m:r>
                                <m:r>
                                  <m:rPr>
                                    <m:nor/>
                                  </m:rPr>
                                  <a:rPr lang="en-US" sz="2200" dirty="0" smtClean="0"/>
                                  <m:t>LEVEL</m:t>
                                </m:r>
                                <m:r>
                                  <m:rPr>
                                    <m:nor/>
                                  </m:rPr>
                                  <a:rPr lang="en-US" sz="2200" dirty="0" smtClean="0"/>
                                  <m:t> </m:t>
                                </m:r>
                                <m:r>
                                  <m:rPr>
                                    <m:nor/>
                                  </m:rPr>
                                  <a:rPr lang="en-US" sz="2200" dirty="0" smtClean="0"/>
                                  <m:t>THREAD</m:t>
                                </m:r>
                              </m:oMath>
                            </m:oMathPara>
                          </a14:m>
                          <a:endParaRPr lang="en-US" sz="2200" b="1" dirty="0"/>
                        </a:p>
                      </a:txBody>
                      <a:tcPr marT="50292" marB="50292">
                        <a:solidFill>
                          <a:srgbClr val="1D3064"/>
                        </a:solidFill>
                      </a:tcPr>
                    </a:tc>
                    <a:extLst>
                      <a:ext uri="{0D108BD9-81ED-4DB2-BD59-A6C34878D82A}">
                        <a16:rowId xmlns:a16="http://schemas.microsoft.com/office/drawing/2014/main" xmlns="" val="2378585852"/>
                      </a:ext>
                    </a:extLst>
                  </a:tr>
                </a:tbl>
              </a:graphicData>
            </a:graphic>
          </p:graphicFrame>
        </mc:Choice>
        <mc:Fallback xmlns="">
          <p:graphicFrame>
            <p:nvGraphicFramePr>
              <p:cNvPr id="19" name="Table 18">
                <a:extLst>
                  <a:ext uri="{FF2B5EF4-FFF2-40B4-BE49-F238E27FC236}">
                    <a16:creationId xmlns="" xmlns:a16="http://schemas.microsoft.com/office/drawing/2014/main" xmlns:a14="http://schemas.microsoft.com/office/drawing/2010/main" id="{A2FCBA26-C1E7-41E4-B947-3A18AEA177AA}"/>
                  </a:ext>
                </a:extLst>
              </p:cNvPr>
              <p:cNvGraphicFramePr>
                <a:graphicFrameLocks noGrp="1"/>
              </p:cNvGraphicFramePr>
              <p:nvPr>
                <p:extLst>
                  <p:ext uri="{D42A27DB-BD31-4B8C-83A1-F6EECF244321}">
                    <p14:modId xmlns:p14="http://schemas.microsoft.com/office/powerpoint/2010/main" val="1153012925"/>
                  </p:ext>
                </p:extLst>
              </p:nvPr>
            </p:nvGraphicFramePr>
            <p:xfrm>
              <a:off x="374753" y="820057"/>
              <a:ext cx="11579220" cy="435864"/>
            </p:xfrm>
            <a:graphic>
              <a:graphicData uri="http://schemas.openxmlformats.org/drawingml/2006/table">
                <a:tbl>
                  <a:tblPr firstRow="1" bandRow="1">
                    <a:tableStyleId>{5C22544A-7EE6-4342-B048-85BDC9FD1C3A}</a:tableStyleId>
                  </a:tblPr>
                  <a:tblGrid>
                    <a:gridCol w="5789610">
                      <a:extLst>
                        <a:ext uri="{9D8B030D-6E8A-4147-A177-3AD203B41FA5}">
                          <a16:colId xmlns="" xmlns:a16="http://schemas.microsoft.com/office/drawing/2014/main" xmlns:a14="http://schemas.microsoft.com/office/drawing/2010/main" val="2905580143"/>
                        </a:ext>
                      </a:extLst>
                    </a:gridCol>
                    <a:gridCol w="5789610">
                      <a:extLst>
                        <a:ext uri="{9D8B030D-6E8A-4147-A177-3AD203B41FA5}">
                          <a16:colId xmlns="" xmlns:a16="http://schemas.microsoft.com/office/drawing/2014/main" xmlns:a14="http://schemas.microsoft.com/office/drawing/2010/main" val="277343114"/>
                        </a:ext>
                      </a:extLst>
                    </a:gridCol>
                  </a:tblGrid>
                  <a:tr h="435864">
                    <a:tc>
                      <a:txBody>
                        <a:bodyPr/>
                        <a:lstStyle/>
                        <a:p>
                          <a:endParaRPr lang="en-US"/>
                        </a:p>
                      </a:txBody>
                      <a:tcPr marT="50292" marB="50292">
                        <a:blipFill rotWithShape="0">
                          <a:blip r:embed="rId2"/>
                          <a:stretch>
                            <a:fillRect l="-105" t="-1370" r="-100526" b="-5479"/>
                          </a:stretch>
                        </a:blipFill>
                      </a:tcPr>
                    </a:tc>
                    <a:tc>
                      <a:txBody>
                        <a:bodyPr/>
                        <a:lstStyle/>
                        <a:p>
                          <a:endParaRPr lang="en-US"/>
                        </a:p>
                      </a:txBody>
                      <a:tcPr marT="50292" marB="50292">
                        <a:blipFill rotWithShape="0">
                          <a:blip r:embed="rId2"/>
                          <a:stretch>
                            <a:fillRect l="-100105" t="-1370" r="-526" b="-5479"/>
                          </a:stretch>
                        </a:blipFill>
                      </a:tcPr>
                    </a:tc>
                    <a:extLst>
                      <a:ext uri="{0D108BD9-81ED-4DB2-BD59-A6C34878D82A}">
                        <a16:rowId xmlns="" xmlns:a16="http://schemas.microsoft.com/office/drawing/2014/main" xmlns:a14="http://schemas.microsoft.com/office/drawing/2010/main" val="2378585852"/>
                      </a:ext>
                    </a:extLst>
                  </a:tr>
                </a:tbl>
              </a:graphicData>
            </a:graphic>
          </p:graphicFrame>
        </mc:Fallback>
      </mc:AlternateContent>
    </p:spTree>
    <p:extLst>
      <p:ext uri="{BB962C8B-B14F-4D97-AF65-F5344CB8AC3E}">
        <p14:creationId xmlns:p14="http://schemas.microsoft.com/office/powerpoint/2010/main" val="2083626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Models for Organizing Threads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r>
              <a:rPr lang="en-IN" dirty="0"/>
              <a:t>Depending on the application’s needs the threads of a process of the application can be organized in different ways.</a:t>
            </a:r>
          </a:p>
          <a:p>
            <a:r>
              <a:rPr lang="en-IN" dirty="0"/>
              <a:t>Threads can be organized by three different models.</a:t>
            </a:r>
          </a:p>
          <a:p>
            <a:pPr marL="914400" lvl="1" indent="-457200">
              <a:buFont typeface="+mj-lt"/>
              <a:buAutoNum type="arabicPeriod"/>
            </a:pPr>
            <a:r>
              <a:rPr lang="en-IN" sz="2400" dirty="0"/>
              <a:t>Dispatcher/Worker model</a:t>
            </a:r>
          </a:p>
          <a:p>
            <a:pPr marL="914400" lvl="1" indent="-457200">
              <a:buFont typeface="+mj-lt"/>
              <a:buAutoNum type="arabicPeriod"/>
            </a:pPr>
            <a:r>
              <a:rPr lang="en-IN" sz="2400" dirty="0"/>
              <a:t>Team model</a:t>
            </a:r>
          </a:p>
          <a:p>
            <a:pPr marL="914400" lvl="1" indent="-457200">
              <a:buFont typeface="+mj-lt"/>
              <a:buAutoNum type="arabicPeriod"/>
            </a:pPr>
            <a:r>
              <a:rPr lang="en-IN" sz="2400" dirty="0"/>
              <a:t>Pipeline </a:t>
            </a:r>
            <a:r>
              <a:rPr lang="en-IN" sz="2400" dirty="0" smtClean="0"/>
              <a:t>model</a:t>
            </a:r>
            <a:endParaRPr lang="en-IN" sz="2400" dirty="0"/>
          </a:p>
        </p:txBody>
      </p:sp>
    </p:spTree>
    <p:extLst>
      <p:ext uri="{BB962C8B-B14F-4D97-AF65-F5344CB8AC3E}">
        <p14:creationId xmlns:p14="http://schemas.microsoft.com/office/powerpoint/2010/main" val="1575339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Dispatcher/Worker Model</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7129727" cy="5590565"/>
          </a:xfrm>
        </p:spPr>
        <p:txBody>
          <a:bodyPr/>
          <a:lstStyle/>
          <a:p>
            <a:r>
              <a:rPr lang="en-US" dirty="0"/>
              <a:t>In this model, the process consists of a single </a:t>
            </a:r>
            <a:r>
              <a:rPr lang="en-US" dirty="0">
                <a:solidFill>
                  <a:schemeClr val="accent6"/>
                </a:solidFill>
              </a:rPr>
              <a:t>dispatcher thread </a:t>
            </a:r>
            <a:r>
              <a:rPr lang="en-US" dirty="0"/>
              <a:t>and multiple </a:t>
            </a:r>
            <a:r>
              <a:rPr lang="en-US" dirty="0">
                <a:solidFill>
                  <a:schemeClr val="accent6"/>
                </a:solidFill>
              </a:rPr>
              <a:t>worker threads</a:t>
            </a:r>
            <a:r>
              <a:rPr lang="en-US" dirty="0">
                <a:solidFill>
                  <a:srgbClr val="FF0000"/>
                </a:solidFill>
              </a:rPr>
              <a:t>.</a:t>
            </a:r>
          </a:p>
          <a:p>
            <a:r>
              <a:rPr lang="en-US" dirty="0"/>
              <a:t>The dispatcher thread: </a:t>
            </a:r>
          </a:p>
          <a:p>
            <a:pPr lvl="1">
              <a:buFont typeface="Wingdings" panose="05000000000000000000" pitchFamily="2" charset="2"/>
              <a:buChar char="§"/>
            </a:pPr>
            <a:r>
              <a:rPr lang="en-US" sz="2400" dirty="0"/>
              <a:t>Accepts requests from clients.</a:t>
            </a:r>
          </a:p>
          <a:p>
            <a:pPr lvl="1">
              <a:buFont typeface="Wingdings" panose="05000000000000000000" pitchFamily="2" charset="2"/>
              <a:buChar char="§"/>
            </a:pPr>
            <a:r>
              <a:rPr lang="en-US" sz="2400" dirty="0"/>
              <a:t>Examine the request.</a:t>
            </a:r>
          </a:p>
          <a:p>
            <a:pPr lvl="1">
              <a:buFont typeface="Wingdings" panose="05000000000000000000" pitchFamily="2" charset="2"/>
              <a:buChar char="§"/>
            </a:pPr>
            <a:r>
              <a:rPr lang="en-US" sz="2400" dirty="0"/>
              <a:t>Dispatches the request to one of the free worker threads for further processing of the request.</a:t>
            </a:r>
          </a:p>
          <a:p>
            <a:r>
              <a:rPr lang="en-US" dirty="0"/>
              <a:t>Each worker thread works on a different client request.</a:t>
            </a:r>
          </a:p>
          <a:p>
            <a:r>
              <a:rPr lang="en-US" dirty="0"/>
              <a:t>Therefore, multiple client requests can be processed in parallel.</a:t>
            </a:r>
          </a:p>
        </p:txBody>
      </p:sp>
      <p:grpSp>
        <p:nvGrpSpPr>
          <p:cNvPr id="25" name="Group 24"/>
          <p:cNvGrpSpPr/>
          <p:nvPr/>
        </p:nvGrpSpPr>
        <p:grpSpPr>
          <a:xfrm>
            <a:off x="7939087" y="863444"/>
            <a:ext cx="3009900" cy="5157402"/>
            <a:chOff x="7939087" y="863444"/>
            <a:chExt cx="3009900" cy="5157402"/>
          </a:xfrm>
        </p:grpSpPr>
        <p:sp>
          <p:nvSpPr>
            <p:cNvPr id="4" name="Oval 3"/>
            <p:cNvSpPr/>
            <p:nvPr/>
          </p:nvSpPr>
          <p:spPr>
            <a:xfrm>
              <a:off x="8148637" y="2555115"/>
              <a:ext cx="2590800" cy="2514600"/>
            </a:xfrm>
            <a:prstGeom prst="ellipse">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ectangle 4"/>
            <p:cNvSpPr/>
            <p:nvPr/>
          </p:nvSpPr>
          <p:spPr>
            <a:xfrm>
              <a:off x="8556306" y="3012315"/>
              <a:ext cx="1802131" cy="3810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Dispatcher</a:t>
              </a:r>
              <a:r>
                <a:rPr lang="en-US" dirty="0"/>
                <a:t> </a:t>
              </a:r>
              <a:r>
                <a:rPr lang="en-US" sz="1600" dirty="0"/>
                <a:t>Thread</a:t>
              </a:r>
              <a:endParaRPr lang="en-US" dirty="0"/>
            </a:p>
          </p:txBody>
        </p:sp>
        <p:sp>
          <p:nvSpPr>
            <p:cNvPr id="6" name="Rectangle 5"/>
            <p:cNvSpPr/>
            <p:nvPr/>
          </p:nvSpPr>
          <p:spPr>
            <a:xfrm>
              <a:off x="8529637" y="3850515"/>
              <a:ext cx="533401" cy="7620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800" dirty="0"/>
            </a:p>
          </p:txBody>
        </p:sp>
        <p:sp>
          <p:nvSpPr>
            <p:cNvPr id="7" name="Rectangle 6"/>
            <p:cNvSpPr/>
            <p:nvPr/>
          </p:nvSpPr>
          <p:spPr>
            <a:xfrm>
              <a:off x="9177338" y="3850515"/>
              <a:ext cx="533401" cy="7620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800" dirty="0"/>
            </a:p>
          </p:txBody>
        </p:sp>
        <p:sp>
          <p:nvSpPr>
            <p:cNvPr id="8" name="Rectangle 7"/>
            <p:cNvSpPr/>
            <p:nvPr/>
          </p:nvSpPr>
          <p:spPr>
            <a:xfrm>
              <a:off x="9825036" y="3850515"/>
              <a:ext cx="533401" cy="7620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800" dirty="0"/>
            </a:p>
          </p:txBody>
        </p:sp>
        <p:cxnSp>
          <p:nvCxnSpPr>
            <p:cNvPr id="9" name="Straight Arrow Connector 8"/>
            <p:cNvCxnSpPr>
              <a:endCxn id="4" idx="0"/>
            </p:cNvCxnSpPr>
            <p:nvPr/>
          </p:nvCxnSpPr>
          <p:spPr>
            <a:xfrm>
              <a:off x="9444037" y="2021715"/>
              <a:ext cx="0" cy="533400"/>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cxnSp>
          <p:nvCxnSpPr>
            <p:cNvPr id="10" name="Straight Arrow Connector 9"/>
            <p:cNvCxnSpPr>
              <a:stCxn id="4" idx="0"/>
            </p:cNvCxnSpPr>
            <p:nvPr/>
          </p:nvCxnSpPr>
          <p:spPr>
            <a:xfrm>
              <a:off x="9444037" y="2555115"/>
              <a:ext cx="0" cy="457200"/>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cxnSp>
          <p:nvCxnSpPr>
            <p:cNvPr id="11" name="Straight Arrow Connector 10"/>
            <p:cNvCxnSpPr>
              <a:endCxn id="6" idx="0"/>
            </p:cNvCxnSpPr>
            <p:nvPr/>
          </p:nvCxnSpPr>
          <p:spPr>
            <a:xfrm>
              <a:off x="8794426" y="3393315"/>
              <a:ext cx="1912" cy="457200"/>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9455459" y="3393315"/>
              <a:ext cx="1912" cy="457200"/>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a:off x="10103160" y="3393315"/>
              <a:ext cx="1912" cy="457200"/>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a:off x="8793357" y="4196005"/>
              <a:ext cx="1912" cy="377851"/>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a:off x="9457635" y="4214587"/>
              <a:ext cx="1912" cy="377851"/>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a:off x="10103160" y="4206546"/>
              <a:ext cx="1912" cy="377851"/>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9444037" y="2219851"/>
              <a:ext cx="577594" cy="369332"/>
            </a:xfrm>
            <a:prstGeom prst="rect">
              <a:avLst/>
            </a:prstGeom>
            <a:noFill/>
          </p:spPr>
          <p:txBody>
            <a:bodyPr wrap="none" rtlCol="0">
              <a:spAutoFit/>
            </a:bodyPr>
            <a:lstStyle/>
            <a:p>
              <a:r>
                <a:rPr lang="en-US" dirty="0"/>
                <a:t>Port</a:t>
              </a:r>
            </a:p>
          </p:txBody>
        </p:sp>
        <p:sp>
          <p:nvSpPr>
            <p:cNvPr id="18" name="TextBox 17"/>
            <p:cNvSpPr txBox="1"/>
            <p:nvPr/>
          </p:nvSpPr>
          <p:spPr>
            <a:xfrm>
              <a:off x="8927004" y="1618315"/>
              <a:ext cx="1034066" cy="369332"/>
            </a:xfrm>
            <a:prstGeom prst="rect">
              <a:avLst/>
            </a:prstGeom>
            <a:noFill/>
          </p:spPr>
          <p:txBody>
            <a:bodyPr wrap="none" rtlCol="0">
              <a:spAutoFit/>
            </a:bodyPr>
            <a:lstStyle/>
            <a:p>
              <a:r>
                <a:rPr lang="en-US" dirty="0"/>
                <a:t>Requests</a:t>
              </a:r>
            </a:p>
          </p:txBody>
        </p:sp>
        <p:pic>
          <p:nvPicPr>
            <p:cNvPr id="19" name="Picture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4902" y="863444"/>
              <a:ext cx="738270" cy="732267"/>
            </a:xfrm>
            <a:prstGeom prst="rect">
              <a:avLst/>
            </a:prstGeom>
          </p:spPr>
        </p:pic>
        <p:sp>
          <p:nvSpPr>
            <p:cNvPr id="20" name="TextBox 19">
              <a:extLst>
                <a:ext uri="{FF2B5EF4-FFF2-40B4-BE49-F238E27FC236}">
                  <a16:creationId xmlns="" xmlns:a16="http://schemas.microsoft.com/office/drawing/2014/main" id="{040040E8-51C6-4B43-B19B-83CED0A4D4E7}"/>
                </a:ext>
              </a:extLst>
            </p:cNvPr>
            <p:cNvSpPr txBox="1"/>
            <p:nvPr/>
          </p:nvSpPr>
          <p:spPr>
            <a:xfrm>
              <a:off x="8466800" y="3774315"/>
              <a:ext cx="657874" cy="492443"/>
            </a:xfrm>
            <a:prstGeom prst="rect">
              <a:avLst/>
            </a:prstGeom>
            <a:noFill/>
          </p:spPr>
          <p:txBody>
            <a:bodyPr wrap="square" rtlCol="0">
              <a:spAutoFit/>
            </a:bodyPr>
            <a:lstStyle/>
            <a:p>
              <a:pPr algn="ctr"/>
              <a:r>
                <a:rPr lang="en-IN" sz="1200" dirty="0"/>
                <a:t>Worker</a:t>
              </a:r>
              <a:r>
                <a:rPr lang="en-IN" sz="1400" dirty="0"/>
                <a:t> </a:t>
              </a:r>
              <a:r>
                <a:rPr lang="en-IN" sz="1200" dirty="0"/>
                <a:t>Thread</a:t>
              </a:r>
              <a:endParaRPr lang="en-IN" sz="1400" dirty="0"/>
            </a:p>
          </p:txBody>
        </p:sp>
        <p:sp>
          <p:nvSpPr>
            <p:cNvPr id="21" name="TextBox 20">
              <a:extLst>
                <a:ext uri="{FF2B5EF4-FFF2-40B4-BE49-F238E27FC236}">
                  <a16:creationId xmlns="" xmlns:a16="http://schemas.microsoft.com/office/drawing/2014/main" id="{E254A3F9-AA0E-43D5-BEE5-27EE1A85530D}"/>
                </a:ext>
              </a:extLst>
            </p:cNvPr>
            <p:cNvSpPr txBox="1"/>
            <p:nvPr/>
          </p:nvSpPr>
          <p:spPr>
            <a:xfrm>
              <a:off x="9760951" y="3774315"/>
              <a:ext cx="661698" cy="492443"/>
            </a:xfrm>
            <a:prstGeom prst="rect">
              <a:avLst/>
            </a:prstGeom>
            <a:noFill/>
          </p:spPr>
          <p:txBody>
            <a:bodyPr wrap="square" rtlCol="0">
              <a:spAutoFit/>
            </a:bodyPr>
            <a:lstStyle/>
            <a:p>
              <a:pPr algn="ctr"/>
              <a:r>
                <a:rPr lang="en-IN" sz="1200" dirty="0"/>
                <a:t>Worker</a:t>
              </a:r>
              <a:r>
                <a:rPr lang="en-IN" sz="1400" dirty="0"/>
                <a:t> </a:t>
              </a:r>
              <a:r>
                <a:rPr lang="en-IN" sz="1200" dirty="0"/>
                <a:t>Thread</a:t>
              </a:r>
              <a:endParaRPr lang="en-IN" sz="1400" dirty="0"/>
            </a:p>
          </p:txBody>
        </p:sp>
        <p:sp>
          <p:nvSpPr>
            <p:cNvPr id="22" name="TextBox 21">
              <a:extLst>
                <a:ext uri="{FF2B5EF4-FFF2-40B4-BE49-F238E27FC236}">
                  <a16:creationId xmlns="" xmlns:a16="http://schemas.microsoft.com/office/drawing/2014/main" id="{FC6CDE8A-FCC3-4994-BBD2-E19307E6B73E}"/>
                </a:ext>
              </a:extLst>
            </p:cNvPr>
            <p:cNvSpPr txBox="1"/>
            <p:nvPr/>
          </p:nvSpPr>
          <p:spPr>
            <a:xfrm>
              <a:off x="9114709" y="3774315"/>
              <a:ext cx="661698" cy="492443"/>
            </a:xfrm>
            <a:prstGeom prst="rect">
              <a:avLst/>
            </a:prstGeom>
            <a:noFill/>
          </p:spPr>
          <p:txBody>
            <a:bodyPr wrap="square" rtlCol="0">
              <a:spAutoFit/>
            </a:bodyPr>
            <a:lstStyle/>
            <a:p>
              <a:pPr algn="ctr"/>
              <a:r>
                <a:rPr lang="en-IN" sz="1200" dirty="0"/>
                <a:t>Worker</a:t>
              </a:r>
              <a:r>
                <a:rPr lang="en-IN" sz="1400" dirty="0"/>
                <a:t> </a:t>
              </a:r>
              <a:r>
                <a:rPr lang="en-IN" sz="1200" dirty="0"/>
                <a:t>Thread</a:t>
              </a:r>
              <a:endParaRPr lang="en-IN" sz="1400" dirty="0"/>
            </a:p>
          </p:txBody>
        </p:sp>
        <p:sp>
          <p:nvSpPr>
            <p:cNvPr id="23" name="TextBox 22">
              <a:extLst>
                <a:ext uri="{FF2B5EF4-FFF2-40B4-BE49-F238E27FC236}">
                  <a16:creationId xmlns="" xmlns:a16="http://schemas.microsoft.com/office/drawing/2014/main" id="{1BD57C57-244B-482D-92F0-20B08CD4F038}"/>
                </a:ext>
              </a:extLst>
            </p:cNvPr>
            <p:cNvSpPr txBox="1"/>
            <p:nvPr/>
          </p:nvSpPr>
          <p:spPr>
            <a:xfrm>
              <a:off x="7939087" y="5374515"/>
              <a:ext cx="3009900" cy="646331"/>
            </a:xfrm>
            <a:prstGeom prst="rect">
              <a:avLst/>
            </a:prstGeom>
            <a:noFill/>
          </p:spPr>
          <p:txBody>
            <a:bodyPr wrap="square" rtlCol="0">
              <a:spAutoFit/>
            </a:bodyPr>
            <a:lstStyle/>
            <a:p>
              <a:pPr algn="ctr"/>
              <a:r>
                <a:rPr lang="en-IN" dirty="0"/>
                <a:t>Server process for processing incoming requests</a:t>
              </a:r>
            </a:p>
          </p:txBody>
        </p:sp>
        <p:cxnSp>
          <p:nvCxnSpPr>
            <p:cNvPr id="24" name="Straight Arrow Connector 23">
              <a:extLst>
                <a:ext uri="{FF2B5EF4-FFF2-40B4-BE49-F238E27FC236}">
                  <a16:creationId xmlns="" xmlns:a16="http://schemas.microsoft.com/office/drawing/2014/main" id="{E7D7ACAC-6791-4B9C-93EF-E381D25375E4}"/>
                </a:ext>
              </a:extLst>
            </p:cNvPr>
            <p:cNvCxnSpPr>
              <a:cxnSpLocks/>
            </p:cNvCxnSpPr>
            <p:nvPr/>
          </p:nvCxnSpPr>
          <p:spPr>
            <a:xfrm flipV="1">
              <a:off x="8792514" y="4959302"/>
              <a:ext cx="134490" cy="491413"/>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9298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Team Model</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7026858" cy="5590565"/>
          </a:xfrm>
        </p:spPr>
        <p:txBody>
          <a:bodyPr/>
          <a:lstStyle/>
          <a:p>
            <a:pPr lvl="0"/>
            <a:r>
              <a:rPr lang="en-US" dirty="0"/>
              <a:t>In this model, all </a:t>
            </a:r>
            <a:r>
              <a:rPr lang="en-US" dirty="0">
                <a:solidFill>
                  <a:schemeClr val="accent6"/>
                </a:solidFill>
              </a:rPr>
              <a:t>threads behave as equal.</a:t>
            </a:r>
          </a:p>
          <a:p>
            <a:pPr lvl="0"/>
            <a:r>
              <a:rPr lang="en-US" dirty="0"/>
              <a:t>Each thread gets and processes clients requests on its own.</a:t>
            </a:r>
          </a:p>
          <a:p>
            <a:pPr lvl="0"/>
            <a:r>
              <a:rPr lang="en-US" dirty="0"/>
              <a:t>This model is often used for implementing specialized threads within a process.</a:t>
            </a:r>
          </a:p>
          <a:p>
            <a:pPr lvl="0"/>
            <a:r>
              <a:rPr lang="en-US" dirty="0"/>
              <a:t>Each thread of the process is specialized in servicing a specific type of requests like copy, save, autocorrect.</a:t>
            </a:r>
          </a:p>
        </p:txBody>
      </p:sp>
      <p:grpSp>
        <p:nvGrpSpPr>
          <p:cNvPr id="45" name="Group 44"/>
          <p:cNvGrpSpPr/>
          <p:nvPr/>
        </p:nvGrpSpPr>
        <p:grpSpPr>
          <a:xfrm>
            <a:off x="8044398" y="1303530"/>
            <a:ext cx="2590800" cy="4211445"/>
            <a:chOff x="8044398" y="1303530"/>
            <a:chExt cx="2590800" cy="4211445"/>
          </a:xfrm>
        </p:grpSpPr>
        <p:sp>
          <p:nvSpPr>
            <p:cNvPr id="25" name="Oval 24"/>
            <p:cNvSpPr/>
            <p:nvPr/>
          </p:nvSpPr>
          <p:spPr>
            <a:xfrm>
              <a:off x="8044398" y="3000375"/>
              <a:ext cx="2590800" cy="2514600"/>
            </a:xfrm>
            <a:prstGeom prst="ellipse">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6" name="Rectangle 25"/>
            <p:cNvSpPr/>
            <p:nvPr/>
          </p:nvSpPr>
          <p:spPr>
            <a:xfrm>
              <a:off x="8425398" y="4295775"/>
              <a:ext cx="533401" cy="7620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800" dirty="0"/>
            </a:p>
          </p:txBody>
        </p:sp>
        <p:sp>
          <p:nvSpPr>
            <p:cNvPr id="27" name="Rectangle 26"/>
            <p:cNvSpPr/>
            <p:nvPr/>
          </p:nvSpPr>
          <p:spPr>
            <a:xfrm>
              <a:off x="9073099" y="4295775"/>
              <a:ext cx="533401" cy="7620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800" dirty="0"/>
            </a:p>
          </p:txBody>
        </p:sp>
        <p:sp>
          <p:nvSpPr>
            <p:cNvPr id="28" name="Rectangle 27"/>
            <p:cNvSpPr/>
            <p:nvPr/>
          </p:nvSpPr>
          <p:spPr>
            <a:xfrm>
              <a:off x="9720797" y="4295775"/>
              <a:ext cx="533401" cy="7620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800" dirty="0"/>
            </a:p>
          </p:txBody>
        </p:sp>
        <p:cxnSp>
          <p:nvCxnSpPr>
            <p:cNvPr id="29" name="Straight Arrow Connector 28"/>
            <p:cNvCxnSpPr/>
            <p:nvPr/>
          </p:nvCxnSpPr>
          <p:spPr>
            <a:xfrm>
              <a:off x="9339798" y="2466975"/>
              <a:ext cx="0" cy="533400"/>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cxnSp>
          <p:nvCxnSpPr>
            <p:cNvPr id="30" name="Straight Arrow Connector 29"/>
            <p:cNvCxnSpPr>
              <a:endCxn id="26" idx="0"/>
            </p:cNvCxnSpPr>
            <p:nvPr/>
          </p:nvCxnSpPr>
          <p:spPr>
            <a:xfrm flipH="1">
              <a:off x="8692099" y="3000375"/>
              <a:ext cx="657209" cy="1295400"/>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cxnSp>
          <p:nvCxnSpPr>
            <p:cNvPr id="31" name="Straight Arrow Connector 30"/>
            <p:cNvCxnSpPr/>
            <p:nvPr/>
          </p:nvCxnSpPr>
          <p:spPr>
            <a:xfrm>
              <a:off x="9349308" y="3000375"/>
              <a:ext cx="3824" cy="1295400"/>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cxnSp>
          <p:nvCxnSpPr>
            <p:cNvPr id="32" name="Straight Arrow Connector 31"/>
            <p:cNvCxnSpPr/>
            <p:nvPr/>
          </p:nvCxnSpPr>
          <p:spPr>
            <a:xfrm>
              <a:off x="9349308" y="3000375"/>
              <a:ext cx="651525" cy="1295400"/>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cxnSp>
          <p:nvCxnSpPr>
            <p:cNvPr id="33" name="Straight Arrow Connector 32"/>
            <p:cNvCxnSpPr/>
            <p:nvPr/>
          </p:nvCxnSpPr>
          <p:spPr>
            <a:xfrm>
              <a:off x="8688275" y="4524375"/>
              <a:ext cx="1912" cy="457200"/>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cxnSp>
          <p:nvCxnSpPr>
            <p:cNvPr id="34" name="Straight Arrow Connector 33"/>
            <p:cNvCxnSpPr/>
            <p:nvPr/>
          </p:nvCxnSpPr>
          <p:spPr>
            <a:xfrm>
              <a:off x="9349308" y="4524375"/>
              <a:ext cx="1912" cy="457200"/>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cxnSp>
          <p:nvCxnSpPr>
            <p:cNvPr id="35" name="Straight Arrow Connector 34"/>
            <p:cNvCxnSpPr/>
            <p:nvPr/>
          </p:nvCxnSpPr>
          <p:spPr>
            <a:xfrm>
              <a:off x="9997009" y="4524375"/>
              <a:ext cx="1912" cy="457200"/>
            </a:xfrm>
            <a:prstGeom prst="straightConnector1">
              <a:avLst/>
            </a:prstGeom>
            <a:ln w="25400">
              <a:solidFill>
                <a:schemeClr val="tx1"/>
              </a:solidFill>
              <a:tailEnd type="triangle" w="lg" len="lg"/>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9323233" y="2693918"/>
              <a:ext cx="577594" cy="369332"/>
            </a:xfrm>
            <a:prstGeom prst="rect">
              <a:avLst/>
            </a:prstGeom>
            <a:noFill/>
          </p:spPr>
          <p:txBody>
            <a:bodyPr wrap="none" rtlCol="0">
              <a:spAutoFit/>
            </a:bodyPr>
            <a:lstStyle/>
            <a:p>
              <a:r>
                <a:rPr lang="en-US" dirty="0"/>
                <a:t>Port</a:t>
              </a:r>
            </a:p>
          </p:txBody>
        </p:sp>
        <p:sp>
          <p:nvSpPr>
            <p:cNvPr id="37" name="TextBox 36"/>
            <p:cNvSpPr txBox="1"/>
            <p:nvPr/>
          </p:nvSpPr>
          <p:spPr>
            <a:xfrm>
              <a:off x="8822765" y="2063575"/>
              <a:ext cx="1034066" cy="369332"/>
            </a:xfrm>
            <a:prstGeom prst="rect">
              <a:avLst/>
            </a:prstGeom>
            <a:noFill/>
          </p:spPr>
          <p:txBody>
            <a:bodyPr wrap="none" rtlCol="0">
              <a:spAutoFit/>
            </a:bodyPr>
            <a:lstStyle/>
            <a:p>
              <a:r>
                <a:rPr lang="en-US" dirty="0"/>
                <a:t>Requests</a:t>
              </a:r>
            </a:p>
          </p:txBody>
        </p:sp>
        <p:sp>
          <p:nvSpPr>
            <p:cNvPr id="38" name="TextBox 37"/>
            <p:cNvSpPr txBox="1"/>
            <p:nvPr/>
          </p:nvSpPr>
          <p:spPr>
            <a:xfrm>
              <a:off x="8182864" y="3529002"/>
              <a:ext cx="797782" cy="369332"/>
            </a:xfrm>
            <a:prstGeom prst="rect">
              <a:avLst/>
            </a:prstGeom>
            <a:noFill/>
          </p:spPr>
          <p:txBody>
            <a:bodyPr wrap="none" rtlCol="0">
              <a:spAutoFit/>
            </a:bodyPr>
            <a:lstStyle/>
            <a:p>
              <a:r>
                <a:rPr lang="en-US" dirty="0"/>
                <a:t>Type 1</a:t>
              </a:r>
            </a:p>
          </p:txBody>
        </p:sp>
        <p:sp>
          <p:nvSpPr>
            <p:cNvPr id="39" name="TextBox 38"/>
            <p:cNvSpPr txBox="1"/>
            <p:nvPr/>
          </p:nvSpPr>
          <p:spPr>
            <a:xfrm>
              <a:off x="9677122" y="3524733"/>
              <a:ext cx="797782" cy="369332"/>
            </a:xfrm>
            <a:prstGeom prst="rect">
              <a:avLst/>
            </a:prstGeom>
            <a:noFill/>
          </p:spPr>
          <p:txBody>
            <a:bodyPr wrap="none" rtlCol="0">
              <a:spAutoFit/>
            </a:bodyPr>
            <a:lstStyle/>
            <a:p>
              <a:r>
                <a:rPr lang="en-US" dirty="0"/>
                <a:t>Type 3</a:t>
              </a:r>
            </a:p>
          </p:txBody>
        </p:sp>
        <p:pic>
          <p:nvPicPr>
            <p:cNvPr id="40" name="Picture 3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0663" y="1303530"/>
              <a:ext cx="738270" cy="732267"/>
            </a:xfrm>
            <a:prstGeom prst="rect">
              <a:avLst/>
            </a:prstGeom>
          </p:spPr>
        </p:pic>
        <p:sp>
          <p:nvSpPr>
            <p:cNvPr id="41" name="TextBox 40">
              <a:extLst>
                <a:ext uri="{FF2B5EF4-FFF2-40B4-BE49-F238E27FC236}">
                  <a16:creationId xmlns="" xmlns:a16="http://schemas.microsoft.com/office/drawing/2014/main" id="{C08D7882-EEFC-4DB4-99DF-F58BA082BF05}"/>
                </a:ext>
              </a:extLst>
            </p:cNvPr>
            <p:cNvSpPr txBox="1"/>
            <p:nvPr/>
          </p:nvSpPr>
          <p:spPr>
            <a:xfrm>
              <a:off x="9008920" y="4247376"/>
              <a:ext cx="657874" cy="276999"/>
            </a:xfrm>
            <a:prstGeom prst="rect">
              <a:avLst/>
            </a:prstGeom>
            <a:noFill/>
          </p:spPr>
          <p:txBody>
            <a:bodyPr wrap="square" rtlCol="0">
              <a:spAutoFit/>
            </a:bodyPr>
            <a:lstStyle/>
            <a:p>
              <a:pPr algn="ctr"/>
              <a:r>
                <a:rPr lang="en-IN" sz="1200" dirty="0"/>
                <a:t>Thread</a:t>
              </a:r>
              <a:endParaRPr lang="en-IN" sz="1400" dirty="0"/>
            </a:p>
          </p:txBody>
        </p:sp>
        <p:sp>
          <p:nvSpPr>
            <p:cNvPr id="42" name="TextBox 41">
              <a:extLst>
                <a:ext uri="{FF2B5EF4-FFF2-40B4-BE49-F238E27FC236}">
                  <a16:creationId xmlns="" xmlns:a16="http://schemas.microsoft.com/office/drawing/2014/main" id="{103173CC-49B6-4489-8A11-B416C20DC09B}"/>
                </a:ext>
              </a:extLst>
            </p:cNvPr>
            <p:cNvSpPr txBox="1"/>
            <p:nvPr/>
          </p:nvSpPr>
          <p:spPr>
            <a:xfrm>
              <a:off x="8363190" y="4247376"/>
              <a:ext cx="657874" cy="276999"/>
            </a:xfrm>
            <a:prstGeom prst="rect">
              <a:avLst/>
            </a:prstGeom>
            <a:noFill/>
          </p:spPr>
          <p:txBody>
            <a:bodyPr wrap="square" rtlCol="0">
              <a:spAutoFit/>
            </a:bodyPr>
            <a:lstStyle/>
            <a:p>
              <a:pPr algn="ctr"/>
              <a:r>
                <a:rPr lang="en-IN" sz="1200" dirty="0"/>
                <a:t>Thread</a:t>
              </a:r>
              <a:endParaRPr lang="en-IN" sz="1400" dirty="0"/>
            </a:p>
          </p:txBody>
        </p:sp>
        <p:sp>
          <p:nvSpPr>
            <p:cNvPr id="43" name="TextBox 42">
              <a:extLst>
                <a:ext uri="{FF2B5EF4-FFF2-40B4-BE49-F238E27FC236}">
                  <a16:creationId xmlns="" xmlns:a16="http://schemas.microsoft.com/office/drawing/2014/main" id="{6842FECB-1740-4F7D-B608-B036944B128F}"/>
                </a:ext>
              </a:extLst>
            </p:cNvPr>
            <p:cNvSpPr txBox="1"/>
            <p:nvPr/>
          </p:nvSpPr>
          <p:spPr>
            <a:xfrm>
              <a:off x="9675070" y="4233389"/>
              <a:ext cx="657874" cy="276999"/>
            </a:xfrm>
            <a:prstGeom prst="rect">
              <a:avLst/>
            </a:prstGeom>
            <a:noFill/>
          </p:spPr>
          <p:txBody>
            <a:bodyPr wrap="square" rtlCol="0">
              <a:spAutoFit/>
            </a:bodyPr>
            <a:lstStyle/>
            <a:p>
              <a:pPr algn="ctr"/>
              <a:r>
                <a:rPr lang="en-IN" sz="1200" dirty="0"/>
                <a:t>Thread</a:t>
              </a:r>
              <a:endParaRPr lang="en-IN" sz="1400" dirty="0"/>
            </a:p>
          </p:txBody>
        </p:sp>
        <p:sp>
          <p:nvSpPr>
            <p:cNvPr id="44" name="TextBox 43"/>
            <p:cNvSpPr txBox="1"/>
            <p:nvPr/>
          </p:nvSpPr>
          <p:spPr>
            <a:xfrm>
              <a:off x="8950417" y="3524733"/>
              <a:ext cx="797782" cy="369332"/>
            </a:xfrm>
            <a:prstGeom prst="rect">
              <a:avLst/>
            </a:prstGeom>
            <a:noFill/>
          </p:spPr>
          <p:txBody>
            <a:bodyPr wrap="none" rtlCol="0">
              <a:spAutoFit/>
            </a:bodyPr>
            <a:lstStyle/>
            <a:p>
              <a:r>
                <a:rPr lang="en-US" dirty="0"/>
                <a:t>Type 2</a:t>
              </a:r>
            </a:p>
          </p:txBody>
        </p:sp>
      </p:grpSp>
    </p:spTree>
    <p:extLst>
      <p:ext uri="{BB962C8B-B14F-4D97-AF65-F5344CB8AC3E}">
        <p14:creationId xmlns:p14="http://schemas.microsoft.com/office/powerpoint/2010/main" val="251420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Pipeline Model</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7026858" cy="5590565"/>
          </a:xfrm>
        </p:spPr>
        <p:txBody>
          <a:bodyPr/>
          <a:lstStyle/>
          <a:p>
            <a:pPr lvl="0">
              <a:spcBef>
                <a:spcPts val="576"/>
              </a:spcBef>
            </a:pPr>
            <a:r>
              <a:rPr lang="en-US" dirty="0"/>
              <a:t>This model is useful for applications based on the </a:t>
            </a:r>
            <a:r>
              <a:rPr lang="en-US" dirty="0">
                <a:solidFill>
                  <a:schemeClr val="accent6"/>
                </a:solidFill>
              </a:rPr>
              <a:t>producer-consumer model.</a:t>
            </a:r>
          </a:p>
          <a:p>
            <a:pPr lvl="0">
              <a:spcBef>
                <a:spcPts val="576"/>
              </a:spcBef>
            </a:pPr>
            <a:r>
              <a:rPr lang="en-US" dirty="0"/>
              <a:t>The output data generated by one part of the application is used as input for another part of the application.</a:t>
            </a:r>
          </a:p>
          <a:p>
            <a:pPr lvl="0">
              <a:spcBef>
                <a:spcPts val="576"/>
              </a:spcBef>
            </a:pPr>
            <a:r>
              <a:rPr lang="en-US" dirty="0"/>
              <a:t>The threads of a process are organized as a </a:t>
            </a:r>
            <a:r>
              <a:rPr lang="en-US" dirty="0">
                <a:solidFill>
                  <a:schemeClr val="accent6"/>
                </a:solidFill>
              </a:rPr>
              <a:t>pipeline</a:t>
            </a:r>
            <a:r>
              <a:rPr lang="en-US" dirty="0">
                <a:solidFill>
                  <a:srgbClr val="FF0000"/>
                </a:solidFill>
              </a:rPr>
              <a:t>.</a:t>
            </a:r>
          </a:p>
          <a:p>
            <a:pPr lvl="0">
              <a:spcBef>
                <a:spcPts val="576"/>
              </a:spcBef>
            </a:pPr>
            <a:r>
              <a:rPr lang="en-US" dirty="0"/>
              <a:t>The output data generated by the first thread is used for processing by the second thread, the output of the second thread is used for third thread, and so on.</a:t>
            </a:r>
          </a:p>
          <a:p>
            <a:pPr lvl="0">
              <a:spcBef>
                <a:spcPts val="576"/>
              </a:spcBef>
            </a:pPr>
            <a:r>
              <a:rPr lang="en-US" dirty="0"/>
              <a:t>The output of the last thread in the pipeline is the final output of the process to which the threads belong.</a:t>
            </a:r>
          </a:p>
        </p:txBody>
      </p:sp>
      <p:grpSp>
        <p:nvGrpSpPr>
          <p:cNvPr id="4" name="Group 3"/>
          <p:cNvGrpSpPr/>
          <p:nvPr/>
        </p:nvGrpSpPr>
        <p:grpSpPr>
          <a:xfrm>
            <a:off x="8372475" y="1340103"/>
            <a:ext cx="2590800" cy="4217735"/>
            <a:chOff x="8372475" y="1340103"/>
            <a:chExt cx="2590800" cy="4217735"/>
          </a:xfrm>
        </p:grpSpPr>
        <p:sp>
          <p:nvSpPr>
            <p:cNvPr id="24" name="Oval 23"/>
            <p:cNvSpPr/>
            <p:nvPr/>
          </p:nvSpPr>
          <p:spPr>
            <a:xfrm>
              <a:off x="8372475" y="3043238"/>
              <a:ext cx="2590800" cy="2514600"/>
            </a:xfrm>
            <a:prstGeom prst="ellipse">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5" name="Rectangle 44"/>
            <p:cNvSpPr/>
            <p:nvPr/>
          </p:nvSpPr>
          <p:spPr>
            <a:xfrm>
              <a:off x="8677275" y="4087638"/>
              <a:ext cx="533401" cy="7620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t" anchorCtr="0"/>
            <a:lstStyle/>
            <a:p>
              <a:pPr algn="ctr"/>
              <a:endParaRPr lang="en-US" sz="800" dirty="0"/>
            </a:p>
          </p:txBody>
        </p:sp>
        <p:sp>
          <p:nvSpPr>
            <p:cNvPr id="46" name="Rectangle 45"/>
            <p:cNvSpPr/>
            <p:nvPr/>
          </p:nvSpPr>
          <p:spPr>
            <a:xfrm>
              <a:off x="9439275" y="4087638"/>
              <a:ext cx="533401" cy="7620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t" anchorCtr="0"/>
            <a:lstStyle/>
            <a:p>
              <a:pPr algn="ctr"/>
              <a:endParaRPr lang="en-US" sz="800" dirty="0"/>
            </a:p>
          </p:txBody>
        </p:sp>
        <p:sp>
          <p:nvSpPr>
            <p:cNvPr id="47" name="Rectangle 46"/>
            <p:cNvSpPr/>
            <p:nvPr/>
          </p:nvSpPr>
          <p:spPr>
            <a:xfrm>
              <a:off x="10201274" y="4087638"/>
              <a:ext cx="533401" cy="7620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t" anchorCtr="0"/>
            <a:lstStyle/>
            <a:p>
              <a:pPr algn="ctr"/>
              <a:endParaRPr lang="en-US" sz="800" dirty="0"/>
            </a:p>
          </p:txBody>
        </p:sp>
        <p:cxnSp>
          <p:nvCxnSpPr>
            <p:cNvPr id="48" name="Straight Arrow Connector 47"/>
            <p:cNvCxnSpPr>
              <a:endCxn id="24" idx="0"/>
            </p:cNvCxnSpPr>
            <p:nvPr/>
          </p:nvCxnSpPr>
          <p:spPr>
            <a:xfrm>
              <a:off x="9667875" y="2509838"/>
              <a:ext cx="0" cy="533400"/>
            </a:xfrm>
            <a:prstGeom prst="straightConnector1">
              <a:avLst/>
            </a:prstGeom>
            <a:ln w="254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p:cNvCxnSpPr>
              <a:stCxn id="24" idx="0"/>
              <a:endCxn id="45" idx="0"/>
            </p:cNvCxnSpPr>
            <p:nvPr/>
          </p:nvCxnSpPr>
          <p:spPr>
            <a:xfrm flipH="1">
              <a:off x="8943976" y="3043238"/>
              <a:ext cx="723899" cy="1044400"/>
            </a:xfrm>
            <a:prstGeom prst="straightConnector1">
              <a:avLst/>
            </a:prstGeom>
            <a:ln w="254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9727510" y="2736781"/>
              <a:ext cx="577594" cy="369332"/>
            </a:xfrm>
            <a:prstGeom prst="rect">
              <a:avLst/>
            </a:prstGeom>
            <a:noFill/>
          </p:spPr>
          <p:txBody>
            <a:bodyPr wrap="none" rtlCol="0">
              <a:spAutoFit/>
            </a:bodyPr>
            <a:lstStyle/>
            <a:p>
              <a:r>
                <a:rPr lang="en-US" dirty="0"/>
                <a:t>Port</a:t>
              </a:r>
            </a:p>
          </p:txBody>
        </p:sp>
        <p:sp>
          <p:nvSpPr>
            <p:cNvPr id="51" name="TextBox 50"/>
            <p:cNvSpPr txBox="1"/>
            <p:nvPr/>
          </p:nvSpPr>
          <p:spPr>
            <a:xfrm>
              <a:off x="9227042" y="2106438"/>
              <a:ext cx="1034066" cy="369332"/>
            </a:xfrm>
            <a:prstGeom prst="rect">
              <a:avLst/>
            </a:prstGeom>
            <a:noFill/>
          </p:spPr>
          <p:txBody>
            <a:bodyPr wrap="none" rtlCol="0">
              <a:spAutoFit/>
            </a:bodyPr>
            <a:lstStyle/>
            <a:p>
              <a:r>
                <a:rPr lang="en-US" dirty="0"/>
                <a:t>Requests</a:t>
              </a:r>
            </a:p>
          </p:txBody>
        </p:sp>
        <p:cxnSp>
          <p:nvCxnSpPr>
            <p:cNvPr id="52" name="Elbow Connector 51"/>
            <p:cNvCxnSpPr>
              <a:stCxn id="45" idx="2"/>
              <a:endCxn id="46" idx="0"/>
            </p:cNvCxnSpPr>
            <p:nvPr/>
          </p:nvCxnSpPr>
          <p:spPr>
            <a:xfrm rot="5400000" flipH="1" flipV="1">
              <a:off x="8943976" y="4087638"/>
              <a:ext cx="762000" cy="762000"/>
            </a:xfrm>
            <a:prstGeom prst="bentConnector5">
              <a:avLst>
                <a:gd name="adj1" fmla="val -30000"/>
                <a:gd name="adj2" fmla="val 50000"/>
                <a:gd name="adj3" fmla="val 13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p:cNvCxnSpPr/>
            <p:nvPr/>
          </p:nvCxnSpPr>
          <p:spPr>
            <a:xfrm rot="5400000" flipH="1" flipV="1">
              <a:off x="9727510" y="4081396"/>
              <a:ext cx="762000" cy="762000"/>
            </a:xfrm>
            <a:prstGeom prst="bentConnector5">
              <a:avLst>
                <a:gd name="adj1" fmla="val -30000"/>
                <a:gd name="adj2" fmla="val 50000"/>
                <a:gd name="adj3" fmla="val 13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8944610" y="4303881"/>
              <a:ext cx="1912" cy="457200"/>
            </a:xfrm>
            <a:prstGeom prst="straightConnector1">
              <a:avLst/>
            </a:prstGeom>
            <a:ln w="254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p:cNvCxnSpPr/>
            <p:nvPr/>
          </p:nvCxnSpPr>
          <p:spPr>
            <a:xfrm>
              <a:off x="9714831" y="4287405"/>
              <a:ext cx="1912" cy="457200"/>
            </a:xfrm>
            <a:prstGeom prst="straightConnector1">
              <a:avLst/>
            </a:prstGeom>
            <a:ln w="254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p:cNvCxnSpPr/>
            <p:nvPr/>
          </p:nvCxnSpPr>
          <p:spPr>
            <a:xfrm>
              <a:off x="10466062" y="4283972"/>
              <a:ext cx="1912" cy="457200"/>
            </a:xfrm>
            <a:prstGeom prst="straightConnector1">
              <a:avLst/>
            </a:prstGeom>
            <a:ln w="25400">
              <a:solidFill>
                <a:schemeClr val="tx1"/>
              </a:solidFill>
              <a:tailEnd type="triangle"/>
            </a:ln>
          </p:spPr>
          <p:style>
            <a:lnRef idx="1">
              <a:schemeClr val="dk1"/>
            </a:lnRef>
            <a:fillRef idx="0">
              <a:schemeClr val="dk1"/>
            </a:fillRef>
            <a:effectRef idx="0">
              <a:schemeClr val="dk1"/>
            </a:effectRef>
            <a:fontRef idx="minor">
              <a:schemeClr val="tx1"/>
            </a:fontRef>
          </p:style>
        </p:cxnSp>
        <p:pic>
          <p:nvPicPr>
            <p:cNvPr id="57" name="Picture 5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8740" y="1340103"/>
              <a:ext cx="738270" cy="732267"/>
            </a:xfrm>
            <a:prstGeom prst="rect">
              <a:avLst/>
            </a:prstGeom>
          </p:spPr>
        </p:pic>
        <p:sp>
          <p:nvSpPr>
            <p:cNvPr id="58" name="TextBox 57">
              <a:extLst>
                <a:ext uri="{FF2B5EF4-FFF2-40B4-BE49-F238E27FC236}">
                  <a16:creationId xmlns="" xmlns:a16="http://schemas.microsoft.com/office/drawing/2014/main" id="{81449940-2A0A-442A-A525-46A09B7C342C}"/>
                </a:ext>
              </a:extLst>
            </p:cNvPr>
            <p:cNvSpPr txBox="1"/>
            <p:nvPr/>
          </p:nvSpPr>
          <p:spPr>
            <a:xfrm>
              <a:off x="8614326" y="4055492"/>
              <a:ext cx="657874" cy="276999"/>
            </a:xfrm>
            <a:prstGeom prst="rect">
              <a:avLst/>
            </a:prstGeom>
            <a:noFill/>
          </p:spPr>
          <p:txBody>
            <a:bodyPr wrap="square" rtlCol="0">
              <a:spAutoFit/>
            </a:bodyPr>
            <a:lstStyle/>
            <a:p>
              <a:pPr algn="ctr"/>
              <a:r>
                <a:rPr lang="en-IN" sz="1200" dirty="0"/>
                <a:t>Thread</a:t>
              </a:r>
              <a:endParaRPr lang="en-IN" sz="1400" dirty="0"/>
            </a:p>
          </p:txBody>
        </p:sp>
        <p:sp>
          <p:nvSpPr>
            <p:cNvPr id="59" name="TextBox 58">
              <a:extLst>
                <a:ext uri="{FF2B5EF4-FFF2-40B4-BE49-F238E27FC236}">
                  <a16:creationId xmlns="" xmlns:a16="http://schemas.microsoft.com/office/drawing/2014/main" id="{2396C70D-9A14-4F19-9920-5BA0DC6FCEBA}"/>
                </a:ext>
              </a:extLst>
            </p:cNvPr>
            <p:cNvSpPr txBox="1"/>
            <p:nvPr/>
          </p:nvSpPr>
          <p:spPr>
            <a:xfrm>
              <a:off x="9386499" y="4057978"/>
              <a:ext cx="657874" cy="276999"/>
            </a:xfrm>
            <a:prstGeom prst="rect">
              <a:avLst/>
            </a:prstGeom>
            <a:noFill/>
          </p:spPr>
          <p:txBody>
            <a:bodyPr wrap="square" rtlCol="0">
              <a:spAutoFit/>
            </a:bodyPr>
            <a:lstStyle/>
            <a:p>
              <a:pPr algn="ctr"/>
              <a:r>
                <a:rPr lang="en-IN" sz="1200" dirty="0"/>
                <a:t>Thread</a:t>
              </a:r>
              <a:endParaRPr lang="en-IN" sz="1400" dirty="0"/>
            </a:p>
          </p:txBody>
        </p:sp>
        <p:sp>
          <p:nvSpPr>
            <p:cNvPr id="60" name="TextBox 59">
              <a:extLst>
                <a:ext uri="{FF2B5EF4-FFF2-40B4-BE49-F238E27FC236}">
                  <a16:creationId xmlns="" xmlns:a16="http://schemas.microsoft.com/office/drawing/2014/main" id="{37A489B2-4481-4795-8D76-9612B9F9285E}"/>
                </a:ext>
              </a:extLst>
            </p:cNvPr>
            <p:cNvSpPr txBox="1"/>
            <p:nvPr/>
          </p:nvSpPr>
          <p:spPr>
            <a:xfrm>
              <a:off x="10137125" y="4055493"/>
              <a:ext cx="657874" cy="276999"/>
            </a:xfrm>
            <a:prstGeom prst="rect">
              <a:avLst/>
            </a:prstGeom>
            <a:noFill/>
          </p:spPr>
          <p:txBody>
            <a:bodyPr wrap="square" rtlCol="0">
              <a:spAutoFit/>
            </a:bodyPr>
            <a:lstStyle/>
            <a:p>
              <a:pPr algn="ctr"/>
              <a:r>
                <a:rPr lang="en-IN" sz="1200" dirty="0"/>
                <a:t>Thread</a:t>
              </a:r>
              <a:endParaRPr lang="en-IN" sz="1400" dirty="0"/>
            </a:p>
          </p:txBody>
        </p:sp>
      </p:grpSp>
    </p:spTree>
    <p:extLst>
      <p:ext uri="{BB962C8B-B14F-4D97-AF65-F5344CB8AC3E}">
        <p14:creationId xmlns:p14="http://schemas.microsoft.com/office/powerpoint/2010/main" val="2420071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Virtualization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r>
              <a:rPr lang="en-US" altLang="en-US" dirty="0" err="1"/>
              <a:t>Multiprogrammed</a:t>
            </a:r>
            <a:r>
              <a:rPr lang="en-US" altLang="en-US" dirty="0"/>
              <a:t> operating systems provide the illusion of simultaneous execution through </a:t>
            </a:r>
            <a:r>
              <a:rPr lang="en-US" altLang="en-US" i="1" dirty="0"/>
              <a:t>resource virtualization</a:t>
            </a:r>
          </a:p>
          <a:p>
            <a:pPr lvl="1">
              <a:buFont typeface="Wingdings" panose="05000000000000000000" pitchFamily="2" charset="2"/>
              <a:buChar char="§"/>
            </a:pPr>
            <a:r>
              <a:rPr lang="en-US" altLang="en-US" sz="2400" dirty="0"/>
              <a:t>Use software to make it look like concurrent processes are executing simultaneously</a:t>
            </a:r>
          </a:p>
          <a:p>
            <a:r>
              <a:rPr lang="en-US" altLang="en-US" dirty="0"/>
              <a:t>Virtual machine technology creates separate virtual machines, capable of supporting multiple instances of different operating systems</a:t>
            </a:r>
            <a:r>
              <a:rPr lang="en-US" altLang="en-US" dirty="0" smtClean="0"/>
              <a:t>.</a:t>
            </a:r>
          </a:p>
          <a:p>
            <a:r>
              <a:rPr lang="en-US" altLang="en-US" dirty="0"/>
              <a:t>Virtualization is a broad term that refers </a:t>
            </a:r>
            <a:r>
              <a:rPr lang="en-US" altLang="en-US" dirty="0" smtClean="0"/>
              <a:t>to the </a:t>
            </a:r>
            <a:r>
              <a:rPr lang="en-US" altLang="en-US" dirty="0"/>
              <a:t>abstraction of computer resources.</a:t>
            </a:r>
          </a:p>
          <a:p>
            <a:r>
              <a:rPr lang="en-US" altLang="en-US" dirty="0" smtClean="0"/>
              <a:t>Virtualization </a:t>
            </a:r>
            <a:r>
              <a:rPr lang="en-US" altLang="en-US" dirty="0"/>
              <a:t>creates an external interface </a:t>
            </a:r>
            <a:r>
              <a:rPr lang="en-US" altLang="en-US" dirty="0" smtClean="0"/>
              <a:t>that hides </a:t>
            </a:r>
            <a:r>
              <a:rPr lang="en-US" altLang="en-US" dirty="0"/>
              <a:t>an underlying </a:t>
            </a:r>
            <a:r>
              <a:rPr lang="en-US" altLang="en-US" dirty="0" smtClean="0"/>
              <a:t>implementation</a:t>
            </a:r>
          </a:p>
          <a:p>
            <a:r>
              <a:rPr lang="en-US" altLang="en-US" dirty="0" smtClean="0">
                <a:solidFill>
                  <a:schemeClr val="accent6"/>
                </a:solidFill>
              </a:rPr>
              <a:t>Benefits:</a:t>
            </a:r>
          </a:p>
          <a:p>
            <a:pPr lvl="1">
              <a:buFont typeface="Wingdings" panose="05000000000000000000" pitchFamily="2" charset="2"/>
              <a:buChar char="§"/>
            </a:pPr>
            <a:r>
              <a:rPr lang="en-US" altLang="en-US" sz="2400" dirty="0">
                <a:latin typeface="+mj-lt"/>
              </a:rPr>
              <a:t>Hardware changes faster than software</a:t>
            </a:r>
          </a:p>
          <a:p>
            <a:pPr lvl="1">
              <a:buFont typeface="Wingdings" panose="05000000000000000000" pitchFamily="2" charset="2"/>
              <a:buChar char="§"/>
            </a:pPr>
            <a:r>
              <a:rPr lang="en-US" altLang="en-US" sz="2400" dirty="0">
                <a:latin typeface="+mj-lt"/>
              </a:rPr>
              <a:t>Compromised systems (internal failure or external attack) are isolated.</a:t>
            </a:r>
          </a:p>
          <a:p>
            <a:pPr lvl="1">
              <a:buFont typeface="Wingdings" panose="05000000000000000000" pitchFamily="2" charset="2"/>
              <a:buChar char="§"/>
            </a:pPr>
            <a:r>
              <a:rPr lang="en-US" altLang="en-US" sz="2400" dirty="0">
                <a:latin typeface="+mj-lt"/>
              </a:rPr>
              <a:t>Run multiple different operating systems at the same time</a:t>
            </a:r>
          </a:p>
          <a:p>
            <a:endParaRPr lang="en-US" altLang="en-US" dirty="0" smtClean="0">
              <a:solidFill>
                <a:schemeClr val="accent6"/>
              </a:solidFill>
            </a:endParaRPr>
          </a:p>
          <a:p>
            <a:endParaRPr lang="en-US" altLang="en-US" dirty="0"/>
          </a:p>
        </p:txBody>
      </p:sp>
    </p:spTree>
    <p:extLst>
      <p:ext uri="{BB962C8B-B14F-4D97-AF65-F5344CB8AC3E}">
        <p14:creationId xmlns:p14="http://schemas.microsoft.com/office/powerpoint/2010/main" val="216626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Virtualization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indent="0">
              <a:buNone/>
            </a:pPr>
            <a:r>
              <a:rPr lang="en-US" altLang="en-US" dirty="0" smtClean="0"/>
              <a:t>Common </a:t>
            </a:r>
            <a:r>
              <a:rPr lang="en-US" altLang="en-US" dirty="0"/>
              <a:t>uses of the term, divided into two </a:t>
            </a:r>
            <a:r>
              <a:rPr lang="en-US" altLang="en-US" dirty="0" smtClean="0"/>
              <a:t>main categories:</a:t>
            </a:r>
          </a:p>
          <a:p>
            <a:pPr lvl="1">
              <a:buFont typeface="Wingdings" panose="05000000000000000000" pitchFamily="2" charset="2"/>
              <a:buChar char="§"/>
            </a:pPr>
            <a:r>
              <a:rPr lang="en-US" altLang="en-US" sz="2400" dirty="0"/>
              <a:t>Platform virtualization</a:t>
            </a:r>
          </a:p>
          <a:p>
            <a:pPr lvl="1">
              <a:buFont typeface="Wingdings" panose="05000000000000000000" pitchFamily="2" charset="2"/>
              <a:buChar char="§"/>
            </a:pPr>
            <a:r>
              <a:rPr lang="en-US" altLang="en-US" sz="2400" dirty="0"/>
              <a:t>Resource </a:t>
            </a:r>
            <a:r>
              <a:rPr lang="en-US" altLang="en-US" sz="2400" dirty="0" smtClean="0"/>
              <a:t>virtualization</a:t>
            </a:r>
          </a:p>
          <a:p>
            <a:r>
              <a:rPr lang="en-US" altLang="en-US" dirty="0">
                <a:solidFill>
                  <a:schemeClr val="accent6"/>
                </a:solidFill>
              </a:rPr>
              <a:t>Platform </a:t>
            </a:r>
            <a:r>
              <a:rPr lang="en-US" altLang="en-US" dirty="0" smtClean="0">
                <a:solidFill>
                  <a:schemeClr val="accent6"/>
                </a:solidFill>
              </a:rPr>
              <a:t>virtualization:</a:t>
            </a:r>
          </a:p>
          <a:p>
            <a:pPr lvl="1">
              <a:buFont typeface="Wingdings" panose="05000000000000000000" pitchFamily="2" charset="2"/>
              <a:buChar char="§"/>
            </a:pPr>
            <a:r>
              <a:rPr lang="en-US" altLang="en-US" sz="2400" dirty="0"/>
              <a:t>It involves the simulation of virtual machines.</a:t>
            </a:r>
          </a:p>
          <a:p>
            <a:pPr lvl="1">
              <a:buFont typeface="Wingdings" panose="05000000000000000000" pitchFamily="2" charset="2"/>
              <a:buChar char="§"/>
            </a:pPr>
            <a:r>
              <a:rPr lang="en-US" altLang="en-US" sz="2400" dirty="0"/>
              <a:t>Platform virtualization is performed on a given hardware platform by "host" software (a control program), which creates a simulated computer environment (a virtual machine) for its "guest" software.</a:t>
            </a:r>
          </a:p>
          <a:p>
            <a:pPr lvl="1">
              <a:buFont typeface="Wingdings" panose="05000000000000000000" pitchFamily="2" charset="2"/>
              <a:buChar char="§"/>
            </a:pPr>
            <a:r>
              <a:rPr lang="en-US" altLang="en-US" sz="2400" dirty="0"/>
              <a:t>The "guest" software, which is often itself a complete operating system, runs just as if it were installed on a stand-alone hardware platform.</a:t>
            </a:r>
          </a:p>
          <a:p>
            <a:r>
              <a:rPr lang="en-US" altLang="en-US" dirty="0">
                <a:solidFill>
                  <a:schemeClr val="accent6"/>
                </a:solidFill>
              </a:rPr>
              <a:t>Resource </a:t>
            </a:r>
            <a:r>
              <a:rPr lang="en-US" altLang="en-US" dirty="0" smtClean="0">
                <a:solidFill>
                  <a:schemeClr val="accent6"/>
                </a:solidFill>
              </a:rPr>
              <a:t>virtualization:</a:t>
            </a:r>
          </a:p>
          <a:p>
            <a:pPr lvl="1">
              <a:buFont typeface="Wingdings" panose="05000000000000000000" pitchFamily="2" charset="2"/>
              <a:buChar char="§"/>
            </a:pPr>
            <a:r>
              <a:rPr lang="en-US" altLang="en-US" sz="2400" dirty="0"/>
              <a:t>It involves the simulation of combined, fragmented, or simplified resources.</a:t>
            </a:r>
          </a:p>
          <a:p>
            <a:pPr lvl="1">
              <a:buFont typeface="Wingdings" panose="05000000000000000000" pitchFamily="2" charset="2"/>
              <a:buChar char="§"/>
            </a:pPr>
            <a:r>
              <a:rPr lang="en-US" altLang="en-US" sz="2400" dirty="0"/>
              <a:t>Virtualization of specific system resources, such as storage volumes, name spaces, and network resources.</a:t>
            </a:r>
          </a:p>
          <a:p>
            <a:endParaRPr lang="en-US" altLang="en-US" dirty="0"/>
          </a:p>
        </p:txBody>
      </p:sp>
    </p:spTree>
    <p:extLst>
      <p:ext uri="{BB962C8B-B14F-4D97-AF65-F5344CB8AC3E}">
        <p14:creationId xmlns:p14="http://schemas.microsoft.com/office/powerpoint/2010/main" val="3469126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Architectures of Virtual Machines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941758" cy="2451256"/>
          </a:xfrm>
        </p:spPr>
        <p:txBody>
          <a:bodyPr/>
          <a:lstStyle/>
          <a:p>
            <a:r>
              <a:rPr lang="en-US" altLang="en-US" dirty="0"/>
              <a:t>Four distinct levels of interfaces to computers the </a:t>
            </a:r>
            <a:r>
              <a:rPr lang="en-US" altLang="en-US" dirty="0" smtClean="0"/>
              <a:t>behavior of </a:t>
            </a:r>
            <a:r>
              <a:rPr lang="en-US" altLang="en-US" dirty="0"/>
              <a:t>which that virtualization can </a:t>
            </a:r>
            <a:r>
              <a:rPr lang="en-US" altLang="en-US" dirty="0" smtClean="0"/>
              <a:t>mimic</a:t>
            </a:r>
          </a:p>
          <a:p>
            <a:pPr lvl="1">
              <a:buFont typeface="Wingdings" panose="05000000000000000000" pitchFamily="2" charset="2"/>
              <a:buChar char="§"/>
            </a:pPr>
            <a:r>
              <a:rPr lang="en-US" altLang="en-US" sz="2400" dirty="0">
                <a:solidFill>
                  <a:srgbClr val="1D3064"/>
                </a:solidFill>
                <a:latin typeface="+mj-lt"/>
              </a:rPr>
              <a:t>Unprivileged machine instructions</a:t>
            </a:r>
            <a:r>
              <a:rPr lang="en-US" altLang="en-US" sz="2400" dirty="0">
                <a:latin typeface="+mj-lt"/>
              </a:rPr>
              <a:t>: available to any program</a:t>
            </a:r>
          </a:p>
          <a:p>
            <a:pPr lvl="1">
              <a:buFont typeface="Wingdings" panose="05000000000000000000" pitchFamily="2" charset="2"/>
              <a:buChar char="§"/>
            </a:pPr>
            <a:r>
              <a:rPr lang="en-US" altLang="en-US" sz="2400" dirty="0">
                <a:solidFill>
                  <a:srgbClr val="1D3064"/>
                </a:solidFill>
                <a:latin typeface="+mj-lt"/>
              </a:rPr>
              <a:t>Privileged instructions</a:t>
            </a:r>
            <a:r>
              <a:rPr lang="en-US" altLang="en-US" sz="2400" dirty="0">
                <a:latin typeface="+mj-lt"/>
              </a:rPr>
              <a:t>: hardware interface for the OS/other privileged software</a:t>
            </a:r>
          </a:p>
          <a:p>
            <a:pPr lvl="1">
              <a:buFont typeface="Wingdings" panose="05000000000000000000" pitchFamily="2" charset="2"/>
              <a:buChar char="§"/>
            </a:pPr>
            <a:r>
              <a:rPr lang="en-US" altLang="en-US" sz="2400" dirty="0">
                <a:solidFill>
                  <a:srgbClr val="1D3064"/>
                </a:solidFill>
                <a:latin typeface="+mj-lt"/>
              </a:rPr>
              <a:t>System calls</a:t>
            </a:r>
            <a:r>
              <a:rPr lang="en-US" altLang="en-US" sz="2400" dirty="0">
                <a:latin typeface="+mj-lt"/>
              </a:rPr>
              <a:t>: interface to the operating system for applications &amp; library functions</a:t>
            </a:r>
          </a:p>
          <a:p>
            <a:pPr lvl="1">
              <a:buFont typeface="Wingdings" panose="05000000000000000000" pitchFamily="2" charset="2"/>
              <a:buChar char="§"/>
            </a:pPr>
            <a:r>
              <a:rPr lang="en-US" altLang="en-US" sz="2400" dirty="0">
                <a:solidFill>
                  <a:srgbClr val="1D3064"/>
                </a:solidFill>
                <a:latin typeface="+mj-lt"/>
              </a:rPr>
              <a:t>API</a:t>
            </a:r>
            <a:r>
              <a:rPr lang="en-US" altLang="en-US" sz="2400" dirty="0">
                <a:latin typeface="+mj-lt"/>
              </a:rPr>
              <a:t>: An OS interface through library function calls from applications</a:t>
            </a:r>
            <a:r>
              <a:rPr lang="en-US" altLang="en-US" sz="2400" dirty="0" smtClean="0">
                <a:latin typeface="+mj-lt"/>
              </a:rPr>
              <a:t>.</a:t>
            </a:r>
            <a:endParaRPr lang="en-US" altLang="en-US" sz="2400" dirty="0">
              <a:latin typeface="+mj-lt"/>
            </a:endParaRPr>
          </a:p>
        </p:txBody>
      </p:sp>
      <p:grpSp>
        <p:nvGrpSpPr>
          <p:cNvPr id="5" name="Group 4"/>
          <p:cNvGrpSpPr/>
          <p:nvPr/>
        </p:nvGrpSpPr>
        <p:grpSpPr>
          <a:xfrm>
            <a:off x="1433511" y="3266917"/>
            <a:ext cx="7015164" cy="3143250"/>
            <a:chOff x="-309564" y="2914650"/>
            <a:chExt cx="7015164" cy="3143250"/>
          </a:xfrm>
        </p:grpSpPr>
        <p:pic>
          <p:nvPicPr>
            <p:cNvPr id="6" name="Picture 5"/>
            <p:cNvPicPr>
              <a:picLocks noChangeAspect="1"/>
            </p:cNvPicPr>
            <p:nvPr/>
          </p:nvPicPr>
          <p:blipFill>
            <a:blip r:embed="rId2"/>
            <a:stretch>
              <a:fillRect/>
            </a:stretch>
          </p:blipFill>
          <p:spPr>
            <a:xfrm>
              <a:off x="1104900" y="2914650"/>
              <a:ext cx="4495800" cy="3143250"/>
            </a:xfrm>
            <a:prstGeom prst="rect">
              <a:avLst/>
            </a:prstGeom>
          </p:spPr>
        </p:pic>
        <p:sp>
          <p:nvSpPr>
            <p:cNvPr id="7" name="TextBox 6"/>
            <p:cNvSpPr txBox="1"/>
            <p:nvPr/>
          </p:nvSpPr>
          <p:spPr>
            <a:xfrm>
              <a:off x="-309564" y="3143250"/>
              <a:ext cx="1866902" cy="369332"/>
            </a:xfrm>
            <a:prstGeom prst="rect">
              <a:avLst/>
            </a:prstGeom>
            <a:noFill/>
          </p:spPr>
          <p:txBody>
            <a:bodyPr wrap="square" rtlCol="0">
              <a:spAutoFit/>
            </a:bodyPr>
            <a:lstStyle/>
            <a:p>
              <a:r>
                <a:rPr lang="en-IN" dirty="0" smtClean="0">
                  <a:solidFill>
                    <a:srgbClr val="1D3064"/>
                  </a:solidFill>
                </a:rPr>
                <a:t>Library Functions</a:t>
              </a:r>
              <a:endParaRPr lang="en-IN" dirty="0">
                <a:solidFill>
                  <a:srgbClr val="1D3064"/>
                </a:solidFill>
              </a:endParaRPr>
            </a:p>
          </p:txBody>
        </p:sp>
        <p:sp>
          <p:nvSpPr>
            <p:cNvPr id="8" name="TextBox 7"/>
            <p:cNvSpPr txBox="1"/>
            <p:nvPr/>
          </p:nvSpPr>
          <p:spPr>
            <a:xfrm>
              <a:off x="0" y="4016927"/>
              <a:ext cx="1414465" cy="369332"/>
            </a:xfrm>
            <a:prstGeom prst="rect">
              <a:avLst/>
            </a:prstGeom>
            <a:noFill/>
          </p:spPr>
          <p:txBody>
            <a:bodyPr wrap="square" rtlCol="0">
              <a:spAutoFit/>
            </a:bodyPr>
            <a:lstStyle/>
            <a:p>
              <a:r>
                <a:rPr lang="en-IN" dirty="0" smtClean="0">
                  <a:solidFill>
                    <a:srgbClr val="1D3064"/>
                  </a:solidFill>
                </a:rPr>
                <a:t>System Calls</a:t>
              </a:r>
              <a:endParaRPr lang="en-IN" dirty="0">
                <a:solidFill>
                  <a:srgbClr val="1D3064"/>
                </a:solidFill>
              </a:endParaRPr>
            </a:p>
          </p:txBody>
        </p:sp>
        <p:sp>
          <p:nvSpPr>
            <p:cNvPr id="9" name="TextBox 8"/>
            <p:cNvSpPr txBox="1"/>
            <p:nvPr/>
          </p:nvSpPr>
          <p:spPr>
            <a:xfrm>
              <a:off x="168753" y="4668804"/>
              <a:ext cx="1459122" cy="646331"/>
            </a:xfrm>
            <a:prstGeom prst="rect">
              <a:avLst/>
            </a:prstGeom>
            <a:noFill/>
          </p:spPr>
          <p:txBody>
            <a:bodyPr wrap="square" rtlCol="0">
              <a:spAutoFit/>
            </a:bodyPr>
            <a:lstStyle/>
            <a:p>
              <a:r>
                <a:rPr lang="en-IN" dirty="0" smtClean="0">
                  <a:solidFill>
                    <a:srgbClr val="1D3064"/>
                  </a:solidFill>
                </a:rPr>
                <a:t>Privileged Instructions</a:t>
              </a:r>
              <a:endParaRPr lang="en-IN" dirty="0">
                <a:solidFill>
                  <a:srgbClr val="1D3064"/>
                </a:solidFill>
              </a:endParaRPr>
            </a:p>
          </p:txBody>
        </p:sp>
        <p:sp>
          <p:nvSpPr>
            <p:cNvPr id="10" name="TextBox 9"/>
            <p:cNvSpPr txBox="1"/>
            <p:nvPr/>
          </p:nvSpPr>
          <p:spPr>
            <a:xfrm>
              <a:off x="5366439" y="4668803"/>
              <a:ext cx="1339161" cy="646331"/>
            </a:xfrm>
            <a:prstGeom prst="rect">
              <a:avLst/>
            </a:prstGeom>
            <a:noFill/>
          </p:spPr>
          <p:txBody>
            <a:bodyPr wrap="square" rtlCol="0">
              <a:spAutoFit/>
            </a:bodyPr>
            <a:lstStyle/>
            <a:p>
              <a:r>
                <a:rPr lang="en-IN" dirty="0" smtClean="0">
                  <a:solidFill>
                    <a:srgbClr val="1D3064"/>
                  </a:solidFill>
                </a:rPr>
                <a:t>General</a:t>
              </a:r>
            </a:p>
            <a:p>
              <a:r>
                <a:rPr lang="en-IN" dirty="0" smtClean="0">
                  <a:solidFill>
                    <a:srgbClr val="1D3064"/>
                  </a:solidFill>
                </a:rPr>
                <a:t>Instructions</a:t>
              </a:r>
              <a:endParaRPr lang="en-IN" dirty="0">
                <a:solidFill>
                  <a:srgbClr val="1D3064"/>
                </a:solidFill>
              </a:endParaRPr>
            </a:p>
          </p:txBody>
        </p:sp>
        <p:sp>
          <p:nvSpPr>
            <p:cNvPr id="11" name="TextBox 10"/>
            <p:cNvSpPr txBox="1"/>
            <p:nvPr/>
          </p:nvSpPr>
          <p:spPr>
            <a:xfrm>
              <a:off x="1866768" y="3086104"/>
              <a:ext cx="1339161" cy="369332"/>
            </a:xfrm>
            <a:prstGeom prst="rect">
              <a:avLst/>
            </a:prstGeom>
            <a:noFill/>
          </p:spPr>
          <p:txBody>
            <a:bodyPr wrap="square" rtlCol="0">
              <a:spAutoFit/>
            </a:bodyPr>
            <a:lstStyle/>
            <a:p>
              <a:r>
                <a:rPr lang="en-IN" b="1" dirty="0" smtClean="0">
                  <a:solidFill>
                    <a:schemeClr val="accent6"/>
                  </a:solidFill>
                </a:rPr>
                <a:t>Application</a:t>
              </a:r>
              <a:endParaRPr lang="en-IN" b="1" dirty="0">
                <a:solidFill>
                  <a:schemeClr val="accent6"/>
                </a:solidFill>
              </a:endParaRPr>
            </a:p>
          </p:txBody>
        </p:sp>
        <p:sp>
          <p:nvSpPr>
            <p:cNvPr id="12" name="TextBox 11"/>
            <p:cNvSpPr txBox="1"/>
            <p:nvPr/>
          </p:nvSpPr>
          <p:spPr>
            <a:xfrm>
              <a:off x="1849784" y="3797302"/>
              <a:ext cx="979145" cy="369332"/>
            </a:xfrm>
            <a:prstGeom prst="rect">
              <a:avLst/>
            </a:prstGeom>
            <a:noFill/>
          </p:spPr>
          <p:txBody>
            <a:bodyPr wrap="square" rtlCol="0">
              <a:spAutoFit/>
            </a:bodyPr>
            <a:lstStyle/>
            <a:p>
              <a:r>
                <a:rPr lang="en-IN" b="1" dirty="0" smtClean="0">
                  <a:solidFill>
                    <a:schemeClr val="accent6"/>
                  </a:solidFill>
                </a:rPr>
                <a:t>Library</a:t>
              </a:r>
              <a:endParaRPr lang="en-IN" b="1" dirty="0">
                <a:solidFill>
                  <a:schemeClr val="accent6"/>
                </a:solidFill>
              </a:endParaRPr>
            </a:p>
          </p:txBody>
        </p:sp>
        <p:sp>
          <p:nvSpPr>
            <p:cNvPr id="13" name="TextBox 12"/>
            <p:cNvSpPr txBox="1"/>
            <p:nvPr/>
          </p:nvSpPr>
          <p:spPr>
            <a:xfrm>
              <a:off x="1838192" y="4567244"/>
              <a:ext cx="1862270" cy="369332"/>
            </a:xfrm>
            <a:prstGeom prst="rect">
              <a:avLst/>
            </a:prstGeom>
            <a:noFill/>
          </p:spPr>
          <p:txBody>
            <a:bodyPr wrap="square" rtlCol="0">
              <a:spAutoFit/>
            </a:bodyPr>
            <a:lstStyle/>
            <a:p>
              <a:r>
                <a:rPr lang="en-IN" b="1" dirty="0" smtClean="0">
                  <a:solidFill>
                    <a:schemeClr val="accent6"/>
                  </a:solidFill>
                </a:rPr>
                <a:t>Operating System</a:t>
              </a:r>
              <a:endParaRPr lang="en-IN" b="1" dirty="0">
                <a:solidFill>
                  <a:schemeClr val="accent6"/>
                </a:solidFill>
              </a:endParaRPr>
            </a:p>
          </p:txBody>
        </p:sp>
        <p:sp>
          <p:nvSpPr>
            <p:cNvPr id="14" name="TextBox 13"/>
            <p:cNvSpPr txBox="1"/>
            <p:nvPr/>
          </p:nvSpPr>
          <p:spPr>
            <a:xfrm>
              <a:off x="1828935" y="5337186"/>
              <a:ext cx="1200015" cy="369332"/>
            </a:xfrm>
            <a:prstGeom prst="rect">
              <a:avLst/>
            </a:prstGeom>
            <a:noFill/>
          </p:spPr>
          <p:txBody>
            <a:bodyPr wrap="square" rtlCol="0">
              <a:spAutoFit/>
            </a:bodyPr>
            <a:lstStyle/>
            <a:p>
              <a:r>
                <a:rPr lang="en-IN" b="1" dirty="0" smtClean="0">
                  <a:solidFill>
                    <a:schemeClr val="accent6"/>
                  </a:solidFill>
                </a:rPr>
                <a:t>Hardware</a:t>
              </a:r>
              <a:endParaRPr lang="en-IN" b="1" dirty="0">
                <a:solidFill>
                  <a:schemeClr val="accent6"/>
                </a:solidFill>
              </a:endParaRPr>
            </a:p>
          </p:txBody>
        </p:sp>
      </p:grpSp>
    </p:spTree>
    <p:extLst>
      <p:ext uri="{BB962C8B-B14F-4D97-AF65-F5344CB8AC3E}">
        <p14:creationId xmlns:p14="http://schemas.microsoft.com/office/powerpoint/2010/main" val="428867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Two Ways to Virtualize</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482985" y="4977786"/>
            <a:ext cx="4639588" cy="1228141"/>
          </a:xfrm>
        </p:spPr>
        <p:txBody>
          <a:bodyPr/>
          <a:lstStyle/>
          <a:p>
            <a:pPr lvl="1">
              <a:buFont typeface="Wingdings" panose="05000000000000000000" pitchFamily="2" charset="2"/>
              <a:buChar char="§"/>
            </a:pPr>
            <a:r>
              <a:rPr lang="en-US" altLang="en-US" sz="2400" dirty="0" smtClean="0"/>
              <a:t>program </a:t>
            </a:r>
            <a:r>
              <a:rPr lang="en-US" altLang="en-US" sz="2400" dirty="0"/>
              <a:t>is compiled to intermediate code</a:t>
            </a:r>
            <a:r>
              <a:rPr lang="en-US" altLang="en-US" sz="2400" dirty="0" smtClean="0"/>
              <a:t>, executed </a:t>
            </a:r>
            <a:r>
              <a:rPr lang="en-US" altLang="en-US" sz="2400" dirty="0"/>
              <a:t>by a runtime system</a:t>
            </a:r>
          </a:p>
        </p:txBody>
      </p:sp>
      <p:pic>
        <p:nvPicPr>
          <p:cNvPr id="4" name="Picture 7" descr="03-07"/>
          <p:cNvPicPr>
            <a:picLocks noChangeAspect="1" noChangeArrowheads="1"/>
          </p:cNvPicPr>
          <p:nvPr/>
        </p:nvPicPr>
        <p:blipFill rotWithShape="1">
          <a:blip r:embed="rId2">
            <a:extLst>
              <a:ext uri="{28A0092B-C50C-407E-A947-70E740481C1C}">
                <a14:useLocalDpi xmlns:a14="http://schemas.microsoft.com/office/drawing/2010/main" val="0"/>
              </a:ext>
            </a:extLst>
          </a:blip>
          <a:srcRect r="56078" b="8698"/>
          <a:stretch/>
        </p:blipFill>
        <p:spPr>
          <a:xfrm>
            <a:off x="1139535" y="2005332"/>
            <a:ext cx="3983038" cy="27828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8" descr="03-07"/>
          <p:cNvPicPr>
            <a:picLocks noChangeAspect="1" noChangeArrowheads="1"/>
          </p:cNvPicPr>
          <p:nvPr/>
        </p:nvPicPr>
        <p:blipFill rotWithShape="1">
          <a:blip r:embed="rId2">
            <a:extLst>
              <a:ext uri="{28A0092B-C50C-407E-A947-70E740481C1C}">
                <a14:useLocalDpi xmlns:a14="http://schemas.microsoft.com/office/drawing/2010/main" val="0"/>
              </a:ext>
            </a:extLst>
          </a:blip>
          <a:srcRect l="52492" b="8009"/>
          <a:stretch/>
        </p:blipFill>
        <p:spPr>
          <a:xfrm>
            <a:off x="6575991" y="1760384"/>
            <a:ext cx="3983038" cy="31543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Content Placeholder 2">
            <a:extLst>
              <a:ext uri="{FF2B5EF4-FFF2-40B4-BE49-F238E27FC236}">
                <a16:creationId xmlns="" xmlns:a16="http://schemas.microsoft.com/office/drawing/2014/main" id="{139A428D-8F15-4206-B337-FA27C005FA71}"/>
              </a:ext>
            </a:extLst>
          </p:cNvPr>
          <p:cNvSpPr txBox="1">
            <a:spLocks/>
          </p:cNvSpPr>
          <p:nvPr/>
        </p:nvSpPr>
        <p:spPr>
          <a:xfrm>
            <a:off x="6235907" y="5054765"/>
            <a:ext cx="4901785" cy="107621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Wingdings" panose="05000000000000000000" pitchFamily="2" charset="2"/>
              <a:buChar char="§"/>
            </a:pPr>
            <a:r>
              <a:rPr lang="en-US" altLang="en-US" sz="2400" dirty="0"/>
              <a:t>software layer mimics the instruction set; supports an OS and its applications</a:t>
            </a:r>
          </a:p>
        </p:txBody>
      </p:sp>
      <p:cxnSp>
        <p:nvCxnSpPr>
          <p:cNvPr id="8" name="Straight Connector 7"/>
          <p:cNvCxnSpPr/>
          <p:nvPr/>
        </p:nvCxnSpPr>
        <p:spPr>
          <a:xfrm>
            <a:off x="6069694" y="871788"/>
            <a:ext cx="0" cy="5493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1139535" y="871788"/>
            <a:ext cx="3927141" cy="63799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D3064"/>
                </a:solidFill>
              </a:rPr>
              <a:t>Process Virtual Machine</a:t>
            </a:r>
          </a:p>
        </p:txBody>
      </p:sp>
      <p:sp>
        <p:nvSpPr>
          <p:cNvPr id="10" name="Rounded Rectangle 9"/>
          <p:cNvSpPr/>
          <p:nvPr/>
        </p:nvSpPr>
        <p:spPr>
          <a:xfrm>
            <a:off x="6739318" y="825347"/>
            <a:ext cx="3819711" cy="69008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D3064"/>
                </a:solidFill>
              </a:rPr>
              <a:t>Virtual Machine Monitor</a:t>
            </a:r>
          </a:p>
        </p:txBody>
      </p:sp>
    </p:spTree>
    <p:extLst>
      <p:ext uri="{BB962C8B-B14F-4D97-AF65-F5344CB8AC3E}">
        <p14:creationId xmlns:p14="http://schemas.microsoft.com/office/powerpoint/2010/main" val="52848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up)">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9" grpId="0" animBg="1"/>
      <p:bldP spid="1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Clients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r>
              <a:rPr lang="en-US" altLang="en-US" dirty="0"/>
              <a:t>A Program, Which interact with a human user or a remote servers</a:t>
            </a:r>
          </a:p>
          <a:p>
            <a:r>
              <a:rPr lang="en-US" altLang="en-US" dirty="0"/>
              <a:t>Typically, the users interact with the client via a </a:t>
            </a:r>
            <a:r>
              <a:rPr lang="en-US" altLang="en-US" dirty="0" smtClean="0"/>
              <a:t>GUI</a:t>
            </a:r>
          </a:p>
          <a:p>
            <a:r>
              <a:rPr lang="en-US" altLang="en-US" dirty="0"/>
              <a:t>The client is the machine (workstation or PC) running the front-end </a:t>
            </a:r>
            <a:r>
              <a:rPr lang="en-US" altLang="en-US" dirty="0" smtClean="0"/>
              <a:t>applications.</a:t>
            </a:r>
          </a:p>
          <a:p>
            <a:r>
              <a:rPr lang="en-US" altLang="en-US" dirty="0" smtClean="0"/>
              <a:t>It </a:t>
            </a:r>
            <a:r>
              <a:rPr lang="en-US" altLang="en-US" dirty="0"/>
              <a:t>interacts with a user through the keyboard, display, and pointing device such as a mouse. </a:t>
            </a:r>
            <a:endParaRPr lang="en-US" altLang="en-US" dirty="0" smtClean="0"/>
          </a:p>
          <a:p>
            <a:r>
              <a:rPr lang="en-US" altLang="en-US" dirty="0"/>
              <a:t>The client has no direct data access responsibilities. It simply requests processes from the server and displays data managed by the server. </a:t>
            </a:r>
          </a:p>
        </p:txBody>
      </p:sp>
    </p:spTree>
    <p:extLst>
      <p:ext uri="{BB962C8B-B14F-4D97-AF65-F5344CB8AC3E}">
        <p14:creationId xmlns:p14="http://schemas.microsoft.com/office/powerpoint/2010/main" val="369666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Networked User Interfaces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indent="0">
              <a:buNone/>
            </a:pPr>
            <a:r>
              <a:rPr lang="en-US" altLang="en-US" dirty="0">
                <a:solidFill>
                  <a:srgbClr val="1D3064"/>
                </a:solidFill>
              </a:rPr>
              <a:t>Two ways to support client-server interaction:</a:t>
            </a:r>
          </a:p>
          <a:p>
            <a:pPr marL="457200" indent="-457200">
              <a:buFont typeface="+mj-lt"/>
              <a:buAutoNum type="arabicPeriod"/>
            </a:pPr>
            <a:r>
              <a:rPr lang="en-US" altLang="en-US" dirty="0" smtClean="0"/>
              <a:t>For </a:t>
            </a:r>
            <a:r>
              <a:rPr lang="en-US" altLang="en-US" dirty="0"/>
              <a:t>each remote service - the client machine will have a separate counterpart that can contact the service over the network.</a:t>
            </a:r>
          </a:p>
          <a:p>
            <a:pPr lvl="1">
              <a:buFont typeface="Wingdings" panose="05000000000000000000" pitchFamily="2" charset="2"/>
              <a:buChar char="§"/>
            </a:pPr>
            <a:r>
              <a:rPr lang="en-US" altLang="en-US" sz="2400" dirty="0"/>
              <a:t>Example: an agenda running on a user's PDA that needs to synchronize with a remote, possibly shared agenda.</a:t>
            </a:r>
          </a:p>
          <a:p>
            <a:pPr lvl="1">
              <a:buFont typeface="Wingdings" panose="05000000000000000000" pitchFamily="2" charset="2"/>
              <a:buChar char="§"/>
            </a:pPr>
            <a:r>
              <a:rPr lang="en-US" altLang="en-US" sz="2400" dirty="0"/>
              <a:t>In this case, an application-level protocol will handle the synchronization</a:t>
            </a:r>
          </a:p>
          <a:p>
            <a:pPr marL="457200" indent="-457200">
              <a:buFont typeface="+mj-lt"/>
              <a:buAutoNum type="arabicPeriod"/>
            </a:pPr>
            <a:r>
              <a:rPr lang="en-US" altLang="en-US" dirty="0" smtClean="0"/>
              <a:t>Provide </a:t>
            </a:r>
            <a:r>
              <a:rPr lang="en-US" altLang="en-US" dirty="0"/>
              <a:t>direct access to remote services by only offering a convenient user interface.</a:t>
            </a:r>
          </a:p>
          <a:p>
            <a:pPr lvl="1">
              <a:buFont typeface="Wingdings" panose="05000000000000000000" pitchFamily="2" charset="2"/>
              <a:buChar char="§"/>
            </a:pPr>
            <a:r>
              <a:rPr lang="en-US" altLang="en-US" sz="2400" dirty="0"/>
              <a:t>The client machine is used only as a terminal with no need for local storage, leading to an application neutral solution as shown in</a:t>
            </a:r>
          </a:p>
        </p:txBody>
      </p:sp>
    </p:spTree>
    <p:extLst>
      <p:ext uri="{BB962C8B-B14F-4D97-AF65-F5344CB8AC3E}">
        <p14:creationId xmlns:p14="http://schemas.microsoft.com/office/powerpoint/2010/main" val="345459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Networked User Interfaces</a:t>
            </a:r>
          </a:p>
        </p:txBody>
      </p:sp>
      <p:pic>
        <p:nvPicPr>
          <p:cNvPr id="5" name="Picture 4"/>
          <p:cNvPicPr>
            <a:picLocks noChangeAspect="1"/>
          </p:cNvPicPr>
          <p:nvPr/>
        </p:nvPicPr>
        <p:blipFill rotWithShape="1">
          <a:blip r:embed="rId2"/>
          <a:srcRect l="3957"/>
          <a:stretch/>
        </p:blipFill>
        <p:spPr>
          <a:xfrm>
            <a:off x="71438" y="2124078"/>
            <a:ext cx="6105524" cy="3500438"/>
          </a:xfrm>
          <a:prstGeom prst="rect">
            <a:avLst/>
          </a:prstGeom>
        </p:spPr>
      </p:pic>
      <p:pic>
        <p:nvPicPr>
          <p:cNvPr id="6" name="Picture 5"/>
          <p:cNvPicPr>
            <a:picLocks noChangeAspect="1"/>
          </p:cNvPicPr>
          <p:nvPr/>
        </p:nvPicPr>
        <p:blipFill>
          <a:blip r:embed="rId3"/>
          <a:stretch>
            <a:fillRect/>
          </a:stretch>
        </p:blipFill>
        <p:spPr>
          <a:xfrm>
            <a:off x="6234107" y="2324111"/>
            <a:ext cx="5894075" cy="3348038"/>
          </a:xfrm>
          <a:prstGeom prst="rect">
            <a:avLst/>
          </a:prstGeom>
        </p:spPr>
      </p:pic>
      <p:sp>
        <p:nvSpPr>
          <p:cNvPr id="7" name="Rounded Rectangle 6"/>
          <p:cNvSpPr/>
          <p:nvPr/>
        </p:nvSpPr>
        <p:spPr>
          <a:xfrm>
            <a:off x="264318" y="986172"/>
            <a:ext cx="5719764" cy="106296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D3064"/>
                </a:solidFill>
              </a:rPr>
              <a:t>N</a:t>
            </a:r>
            <a:r>
              <a:rPr lang="en-US" sz="2800" dirty="0" smtClean="0">
                <a:solidFill>
                  <a:srgbClr val="1D3064"/>
                </a:solidFill>
              </a:rPr>
              <a:t>etworked application </a:t>
            </a:r>
            <a:r>
              <a:rPr lang="en-US" sz="2800" dirty="0">
                <a:solidFill>
                  <a:srgbClr val="1D3064"/>
                </a:solidFill>
              </a:rPr>
              <a:t>with its own </a:t>
            </a:r>
            <a:r>
              <a:rPr lang="en-US" sz="2800" dirty="0" smtClean="0">
                <a:solidFill>
                  <a:srgbClr val="1D3064"/>
                </a:solidFill>
              </a:rPr>
              <a:t>protocol</a:t>
            </a:r>
            <a:endParaRPr lang="en-IN" sz="2800" dirty="0">
              <a:solidFill>
                <a:srgbClr val="1D3064"/>
              </a:solidFill>
            </a:endParaRPr>
          </a:p>
        </p:txBody>
      </p:sp>
      <p:cxnSp>
        <p:nvCxnSpPr>
          <p:cNvPr id="8" name="Straight Connector 7"/>
          <p:cNvCxnSpPr/>
          <p:nvPr/>
        </p:nvCxnSpPr>
        <p:spPr>
          <a:xfrm>
            <a:off x="6224592" y="889000"/>
            <a:ext cx="0" cy="5493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6537961" y="986172"/>
            <a:ext cx="5286365" cy="106296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1D3064"/>
                </a:solidFill>
              </a:rPr>
              <a:t>G</a:t>
            </a:r>
            <a:r>
              <a:rPr lang="en-US" sz="2800" dirty="0" smtClean="0">
                <a:solidFill>
                  <a:srgbClr val="1D3064"/>
                </a:solidFill>
              </a:rPr>
              <a:t>eneral </a:t>
            </a:r>
            <a:r>
              <a:rPr lang="en-US" sz="2800" dirty="0">
                <a:solidFill>
                  <a:srgbClr val="1D3064"/>
                </a:solidFill>
              </a:rPr>
              <a:t>solution to allow access to remote applications.</a:t>
            </a:r>
            <a:endParaRPr lang="en-IN" sz="2800" dirty="0">
              <a:solidFill>
                <a:srgbClr val="1D3064"/>
              </a:solidFill>
            </a:endParaRPr>
          </a:p>
        </p:txBody>
      </p:sp>
    </p:spTree>
    <p:extLst>
      <p:ext uri="{BB962C8B-B14F-4D97-AF65-F5344CB8AC3E}">
        <p14:creationId xmlns:p14="http://schemas.microsoft.com/office/powerpoint/2010/main" val="5529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The X Window System</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r>
              <a:rPr lang="en-US" altLang="en-US" dirty="0"/>
              <a:t>Used to control bit-mapped terminals, which include </a:t>
            </a:r>
            <a:r>
              <a:rPr lang="en-US" altLang="en-US" dirty="0" smtClean="0"/>
              <a:t>a monitor</a:t>
            </a:r>
            <a:r>
              <a:rPr lang="en-US" altLang="en-US" dirty="0"/>
              <a:t>, keyboard, and a pointing device such as a mouse.</a:t>
            </a:r>
          </a:p>
          <a:p>
            <a:r>
              <a:rPr lang="en-US" altLang="en-US" dirty="0" smtClean="0"/>
              <a:t>X </a:t>
            </a:r>
            <a:r>
              <a:rPr lang="en-US" altLang="en-US" dirty="0"/>
              <a:t>kernel is heart of the system</a:t>
            </a:r>
            <a:r>
              <a:rPr lang="en-US" altLang="en-US" dirty="0" smtClean="0"/>
              <a:t>.</a:t>
            </a:r>
          </a:p>
          <a:p>
            <a:pPr lvl="1">
              <a:buFont typeface="Wingdings" panose="05000000000000000000" pitchFamily="2" charset="2"/>
              <a:buChar char="§"/>
            </a:pPr>
            <a:r>
              <a:rPr lang="en-US" altLang="en-US" sz="2400" dirty="0"/>
              <a:t>Contains all the terminal-specific device drivers - highly hardware dependent</a:t>
            </a:r>
          </a:p>
          <a:p>
            <a:pPr lvl="1">
              <a:buFont typeface="Wingdings" panose="05000000000000000000" pitchFamily="2" charset="2"/>
              <a:buChar char="§"/>
            </a:pPr>
            <a:r>
              <a:rPr lang="en-US" altLang="en-US" sz="2400" dirty="0"/>
              <a:t>X kernel offers a low-level interface for controlling the screen and for capturing events from the keyboard and mouse</a:t>
            </a:r>
          </a:p>
          <a:p>
            <a:pPr lvl="1">
              <a:buFont typeface="Wingdings" panose="05000000000000000000" pitchFamily="2" charset="2"/>
              <a:buChar char="§"/>
            </a:pPr>
            <a:r>
              <a:rPr lang="en-US" altLang="en-US" sz="2400" dirty="0"/>
              <a:t>This interface is made available to applications as a library called </a:t>
            </a:r>
            <a:r>
              <a:rPr lang="en-US" altLang="en-US" sz="2400" dirty="0" err="1"/>
              <a:t>Xlib</a:t>
            </a:r>
            <a:r>
              <a:rPr lang="en-US" altLang="en-US" sz="2400" dirty="0"/>
              <a:t>.</a:t>
            </a:r>
          </a:p>
          <a:p>
            <a:endParaRPr lang="en-US" altLang="en-US" dirty="0"/>
          </a:p>
        </p:txBody>
      </p:sp>
      <p:grpSp>
        <p:nvGrpSpPr>
          <p:cNvPr id="12" name="Group 11"/>
          <p:cNvGrpSpPr/>
          <p:nvPr/>
        </p:nvGrpSpPr>
        <p:grpSpPr>
          <a:xfrm>
            <a:off x="647691" y="3596961"/>
            <a:ext cx="10687056" cy="2928489"/>
            <a:chOff x="647691" y="3596961"/>
            <a:chExt cx="10687056" cy="2928489"/>
          </a:xfrm>
        </p:grpSpPr>
        <p:pic>
          <p:nvPicPr>
            <p:cNvPr id="4" name="Picture 3"/>
            <p:cNvPicPr>
              <a:picLocks noChangeAspect="1"/>
            </p:cNvPicPr>
            <p:nvPr/>
          </p:nvPicPr>
          <p:blipFill>
            <a:blip r:embed="rId2"/>
            <a:stretch>
              <a:fillRect/>
            </a:stretch>
          </p:blipFill>
          <p:spPr>
            <a:xfrm>
              <a:off x="647691" y="4163250"/>
              <a:ext cx="7010400" cy="2362200"/>
            </a:xfrm>
            <a:prstGeom prst="rect">
              <a:avLst/>
            </a:prstGeom>
          </p:spPr>
        </p:pic>
        <p:sp>
          <p:nvSpPr>
            <p:cNvPr id="5" name="Rounded Rectangle 4"/>
            <p:cNvSpPr/>
            <p:nvPr/>
          </p:nvSpPr>
          <p:spPr>
            <a:xfrm>
              <a:off x="661978" y="3598508"/>
              <a:ext cx="1552579" cy="56474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rgbClr val="1D3064"/>
                  </a:solidFill>
                </a:rPr>
                <a:t>Application Server</a:t>
              </a:r>
            </a:p>
          </p:txBody>
        </p:sp>
        <p:sp>
          <p:nvSpPr>
            <p:cNvPr id="6" name="Rounded Rectangle 5"/>
            <p:cNvSpPr/>
            <p:nvPr/>
          </p:nvSpPr>
          <p:spPr>
            <a:xfrm>
              <a:off x="2400291" y="3597993"/>
              <a:ext cx="1552579" cy="56525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rgbClr val="1D3064"/>
                  </a:solidFill>
                </a:rPr>
                <a:t>Application Server</a:t>
              </a:r>
            </a:p>
          </p:txBody>
        </p:sp>
        <p:sp>
          <p:nvSpPr>
            <p:cNvPr id="7" name="Rounded Rectangle 6"/>
            <p:cNvSpPr/>
            <p:nvPr/>
          </p:nvSpPr>
          <p:spPr>
            <a:xfrm>
              <a:off x="5648316" y="3596961"/>
              <a:ext cx="1552579" cy="566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rgbClr val="1D3064"/>
                  </a:solidFill>
                </a:rPr>
                <a:t>User's Terminal</a:t>
              </a:r>
            </a:p>
          </p:txBody>
        </p:sp>
        <p:sp>
          <p:nvSpPr>
            <p:cNvPr id="8" name="Rounded Rectangle 7"/>
            <p:cNvSpPr/>
            <p:nvPr/>
          </p:nvSpPr>
          <p:spPr>
            <a:xfrm>
              <a:off x="8267688" y="5084331"/>
              <a:ext cx="3067059" cy="67353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1D3064"/>
                  </a:solidFill>
                </a:rPr>
                <a:t>Terminal (includes display, keyboard, mouse, etc.)</a:t>
              </a:r>
              <a:endParaRPr lang="en-IN" sz="2000" b="1" dirty="0">
                <a:solidFill>
                  <a:srgbClr val="1D3064"/>
                </a:solidFill>
              </a:endParaRPr>
            </a:p>
          </p:txBody>
        </p:sp>
        <p:cxnSp>
          <p:nvCxnSpPr>
            <p:cNvPr id="10" name="Straight Arrow Connector 9"/>
            <p:cNvCxnSpPr/>
            <p:nvPr/>
          </p:nvCxnSpPr>
          <p:spPr>
            <a:xfrm flipH="1">
              <a:off x="7600935" y="5600700"/>
              <a:ext cx="695332" cy="57738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7008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Client-Side Software for Distribution Transparency</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33464"/>
            <a:ext cx="11870320" cy="5590565"/>
          </a:xfrm>
        </p:spPr>
        <p:txBody>
          <a:bodyPr/>
          <a:lstStyle/>
          <a:p>
            <a:r>
              <a:rPr lang="en-US" altLang="en-US" dirty="0">
                <a:solidFill>
                  <a:srgbClr val="1D3064"/>
                </a:solidFill>
              </a:rPr>
              <a:t>Access </a:t>
            </a:r>
            <a:r>
              <a:rPr lang="en-US" altLang="en-US" dirty="0" smtClean="0">
                <a:solidFill>
                  <a:srgbClr val="1D3064"/>
                </a:solidFill>
              </a:rPr>
              <a:t>transparency</a:t>
            </a:r>
          </a:p>
          <a:p>
            <a:pPr lvl="1">
              <a:buFont typeface="Wingdings" panose="05000000000000000000" pitchFamily="2" charset="2"/>
              <a:buChar char="§"/>
            </a:pPr>
            <a:r>
              <a:rPr lang="en-US" altLang="en-US" sz="2400" dirty="0"/>
              <a:t>H</a:t>
            </a:r>
            <a:r>
              <a:rPr lang="en-US" altLang="en-US" sz="2400" dirty="0" smtClean="0"/>
              <a:t>andled </a:t>
            </a:r>
            <a:r>
              <a:rPr lang="en-US" altLang="en-US" sz="2400" dirty="0"/>
              <a:t>through client-side stubs for RPCs: provides</a:t>
            </a:r>
          </a:p>
          <a:p>
            <a:pPr lvl="1">
              <a:buFont typeface="Wingdings" panose="05000000000000000000" pitchFamily="2" charset="2"/>
              <a:buChar char="§"/>
            </a:pPr>
            <a:r>
              <a:rPr lang="en-US" altLang="en-US" sz="2400" dirty="0"/>
              <a:t>S</a:t>
            </a:r>
            <a:r>
              <a:rPr lang="en-US" altLang="en-US" sz="2400" dirty="0" smtClean="0"/>
              <a:t>ame </a:t>
            </a:r>
            <a:r>
              <a:rPr lang="en-US" altLang="en-US" sz="2400" dirty="0"/>
              <a:t>interface as at the server, hides different machine architectures</a:t>
            </a:r>
          </a:p>
          <a:p>
            <a:r>
              <a:rPr lang="en-US" altLang="en-US" dirty="0">
                <a:solidFill>
                  <a:srgbClr val="1D3064"/>
                </a:solidFill>
              </a:rPr>
              <a:t>Location/migration transparency</a:t>
            </a:r>
          </a:p>
          <a:p>
            <a:pPr lvl="1">
              <a:buFont typeface="Wingdings" panose="05000000000000000000" pitchFamily="2" charset="2"/>
              <a:buChar char="§"/>
            </a:pPr>
            <a:r>
              <a:rPr lang="en-US" altLang="en-US" sz="2400" dirty="0"/>
              <a:t>let client-side software keep track </a:t>
            </a:r>
            <a:r>
              <a:rPr lang="en-US" altLang="en-US" sz="2400" dirty="0" smtClean="0"/>
              <a:t>of actual </a:t>
            </a:r>
            <a:r>
              <a:rPr lang="en-US" altLang="en-US" sz="2400" dirty="0"/>
              <a:t>location (if server changes location: client rebinds to the server if necessary).</a:t>
            </a:r>
          </a:p>
          <a:p>
            <a:pPr lvl="1">
              <a:buFont typeface="Wingdings" panose="05000000000000000000" pitchFamily="2" charset="2"/>
              <a:buChar char="§"/>
            </a:pPr>
            <a:r>
              <a:rPr lang="en-US" altLang="en-US" sz="2400" dirty="0"/>
              <a:t>Hide server locations from user.</a:t>
            </a:r>
          </a:p>
          <a:p>
            <a:r>
              <a:rPr lang="en-US" altLang="en-US" dirty="0">
                <a:solidFill>
                  <a:srgbClr val="1D3064"/>
                </a:solidFill>
              </a:rPr>
              <a:t>Replication </a:t>
            </a:r>
            <a:r>
              <a:rPr lang="en-US" altLang="en-US" dirty="0" smtClean="0">
                <a:solidFill>
                  <a:srgbClr val="1D3064"/>
                </a:solidFill>
              </a:rPr>
              <a:t>transparency</a:t>
            </a:r>
          </a:p>
          <a:p>
            <a:pPr lvl="1">
              <a:buFont typeface="Wingdings" panose="05000000000000000000" pitchFamily="2" charset="2"/>
              <a:buChar char="§"/>
            </a:pPr>
            <a:r>
              <a:rPr lang="en-US" altLang="en-US" sz="2400" dirty="0"/>
              <a:t>multiple invocations handled by client </a:t>
            </a:r>
            <a:r>
              <a:rPr lang="en-US" altLang="en-US" sz="2400" dirty="0" smtClean="0"/>
              <a:t>stub</a:t>
            </a:r>
            <a:endParaRPr lang="en-US" altLang="en-US" dirty="0"/>
          </a:p>
        </p:txBody>
      </p:sp>
      <p:grpSp>
        <p:nvGrpSpPr>
          <p:cNvPr id="9" name="Group 8"/>
          <p:cNvGrpSpPr/>
          <p:nvPr/>
        </p:nvGrpSpPr>
        <p:grpSpPr>
          <a:xfrm>
            <a:off x="2578931" y="4346323"/>
            <a:ext cx="5955469" cy="2242596"/>
            <a:chOff x="2578931" y="4346323"/>
            <a:chExt cx="5955469" cy="2242596"/>
          </a:xfrm>
        </p:grpSpPr>
        <p:pic>
          <p:nvPicPr>
            <p:cNvPr id="11" name="Picture 10"/>
            <p:cNvPicPr>
              <a:picLocks noChangeAspect="1"/>
            </p:cNvPicPr>
            <p:nvPr/>
          </p:nvPicPr>
          <p:blipFill>
            <a:blip r:embed="rId2"/>
            <a:stretch>
              <a:fillRect/>
            </a:stretch>
          </p:blipFill>
          <p:spPr>
            <a:xfrm>
              <a:off x="3657600" y="4683919"/>
              <a:ext cx="4876800" cy="1905000"/>
            </a:xfrm>
            <a:prstGeom prst="rect">
              <a:avLst/>
            </a:prstGeom>
          </p:spPr>
        </p:pic>
        <p:sp>
          <p:nvSpPr>
            <p:cNvPr id="13" name="TextBox 12"/>
            <p:cNvSpPr txBox="1"/>
            <p:nvPr/>
          </p:nvSpPr>
          <p:spPr>
            <a:xfrm>
              <a:off x="3379031" y="4374636"/>
              <a:ext cx="1659147" cy="369332"/>
            </a:xfrm>
            <a:prstGeom prst="rect">
              <a:avLst/>
            </a:prstGeom>
            <a:noFill/>
          </p:spPr>
          <p:txBody>
            <a:bodyPr wrap="square" rtlCol="0">
              <a:spAutoFit/>
            </a:bodyPr>
            <a:lstStyle/>
            <a:p>
              <a:r>
                <a:rPr lang="en-IN" b="1" dirty="0" smtClean="0">
                  <a:solidFill>
                    <a:schemeClr val="accent6"/>
                  </a:solidFill>
                </a:rPr>
                <a:t>Client machine</a:t>
              </a:r>
              <a:endParaRPr lang="en-IN" b="1" dirty="0">
                <a:solidFill>
                  <a:schemeClr val="accent6"/>
                </a:solidFill>
              </a:endParaRPr>
            </a:p>
          </p:txBody>
        </p:sp>
        <p:sp>
          <p:nvSpPr>
            <p:cNvPr id="14" name="TextBox 13"/>
            <p:cNvSpPr txBox="1"/>
            <p:nvPr/>
          </p:nvSpPr>
          <p:spPr>
            <a:xfrm>
              <a:off x="5139126" y="4377196"/>
              <a:ext cx="1032418" cy="369332"/>
            </a:xfrm>
            <a:prstGeom prst="rect">
              <a:avLst/>
            </a:prstGeom>
            <a:noFill/>
          </p:spPr>
          <p:txBody>
            <a:bodyPr wrap="square" rtlCol="0">
              <a:spAutoFit/>
            </a:bodyPr>
            <a:lstStyle/>
            <a:p>
              <a:r>
                <a:rPr lang="en-IN" b="1" dirty="0" smtClean="0">
                  <a:solidFill>
                    <a:schemeClr val="accent6"/>
                  </a:solidFill>
                </a:rPr>
                <a:t>Server 1</a:t>
              </a:r>
              <a:endParaRPr lang="en-IN" b="1" dirty="0">
                <a:solidFill>
                  <a:schemeClr val="accent6"/>
                </a:solidFill>
              </a:endParaRPr>
            </a:p>
          </p:txBody>
        </p:sp>
        <p:sp>
          <p:nvSpPr>
            <p:cNvPr id="15" name="TextBox 14"/>
            <p:cNvSpPr txBox="1"/>
            <p:nvPr/>
          </p:nvSpPr>
          <p:spPr>
            <a:xfrm>
              <a:off x="6338345" y="4377196"/>
              <a:ext cx="1024328" cy="369332"/>
            </a:xfrm>
            <a:prstGeom prst="rect">
              <a:avLst/>
            </a:prstGeom>
            <a:noFill/>
          </p:spPr>
          <p:txBody>
            <a:bodyPr wrap="square" rtlCol="0">
              <a:spAutoFit/>
            </a:bodyPr>
            <a:lstStyle/>
            <a:p>
              <a:r>
                <a:rPr lang="en-IN" b="1" dirty="0" smtClean="0">
                  <a:solidFill>
                    <a:schemeClr val="accent6"/>
                  </a:solidFill>
                </a:rPr>
                <a:t>Server 2</a:t>
              </a:r>
              <a:endParaRPr lang="en-IN" b="1" dirty="0">
                <a:solidFill>
                  <a:schemeClr val="accent6"/>
                </a:solidFill>
              </a:endParaRPr>
            </a:p>
          </p:txBody>
        </p:sp>
        <p:sp>
          <p:nvSpPr>
            <p:cNvPr id="16" name="TextBox 15"/>
            <p:cNvSpPr txBox="1"/>
            <p:nvPr/>
          </p:nvSpPr>
          <p:spPr>
            <a:xfrm>
              <a:off x="7510072" y="4346323"/>
              <a:ext cx="1024328" cy="369332"/>
            </a:xfrm>
            <a:prstGeom prst="rect">
              <a:avLst/>
            </a:prstGeom>
            <a:noFill/>
          </p:spPr>
          <p:txBody>
            <a:bodyPr wrap="square" rtlCol="0">
              <a:spAutoFit/>
            </a:bodyPr>
            <a:lstStyle/>
            <a:p>
              <a:r>
                <a:rPr lang="en-IN" b="1" dirty="0" smtClean="0">
                  <a:solidFill>
                    <a:schemeClr val="accent6"/>
                  </a:solidFill>
                </a:rPr>
                <a:t>Server 3</a:t>
              </a:r>
              <a:endParaRPr lang="en-IN" b="1" dirty="0">
                <a:solidFill>
                  <a:schemeClr val="accent6"/>
                </a:solidFill>
              </a:endParaRPr>
            </a:p>
          </p:txBody>
        </p:sp>
        <p:sp>
          <p:nvSpPr>
            <p:cNvPr id="17" name="TextBox 16"/>
            <p:cNvSpPr txBox="1"/>
            <p:nvPr/>
          </p:nvSpPr>
          <p:spPr>
            <a:xfrm>
              <a:off x="4028603" y="4857278"/>
              <a:ext cx="762002" cy="584775"/>
            </a:xfrm>
            <a:prstGeom prst="rect">
              <a:avLst/>
            </a:prstGeom>
            <a:noFill/>
          </p:spPr>
          <p:txBody>
            <a:bodyPr wrap="square" rtlCol="0">
              <a:spAutoFit/>
            </a:bodyPr>
            <a:lstStyle/>
            <a:p>
              <a:r>
                <a:rPr lang="en-IN" sz="1600" b="1" dirty="0" smtClean="0">
                  <a:solidFill>
                    <a:srgbClr val="1D3064"/>
                  </a:solidFill>
                </a:rPr>
                <a:t>Client</a:t>
              </a:r>
            </a:p>
            <a:p>
              <a:r>
                <a:rPr lang="en-IN" sz="1600" b="1" dirty="0">
                  <a:solidFill>
                    <a:srgbClr val="1D3064"/>
                  </a:solidFill>
                </a:rPr>
                <a:t>a</a:t>
              </a:r>
              <a:r>
                <a:rPr lang="en-IN" sz="1600" b="1" dirty="0" smtClean="0">
                  <a:solidFill>
                    <a:srgbClr val="1D3064"/>
                  </a:solidFill>
                </a:rPr>
                <a:t>ppl.</a:t>
              </a:r>
              <a:endParaRPr lang="en-IN" sz="1600" b="1" dirty="0">
                <a:solidFill>
                  <a:srgbClr val="1D3064"/>
                </a:solidFill>
              </a:endParaRPr>
            </a:p>
          </p:txBody>
        </p:sp>
        <p:sp>
          <p:nvSpPr>
            <p:cNvPr id="18" name="TextBox 17"/>
            <p:cNvSpPr txBox="1"/>
            <p:nvPr/>
          </p:nvSpPr>
          <p:spPr>
            <a:xfrm>
              <a:off x="5209078" y="4872028"/>
              <a:ext cx="776992" cy="584775"/>
            </a:xfrm>
            <a:prstGeom prst="rect">
              <a:avLst/>
            </a:prstGeom>
            <a:noFill/>
          </p:spPr>
          <p:txBody>
            <a:bodyPr wrap="square" rtlCol="0">
              <a:spAutoFit/>
            </a:bodyPr>
            <a:lstStyle/>
            <a:p>
              <a:r>
                <a:rPr lang="en-IN" sz="1600" dirty="0" smtClean="0">
                  <a:solidFill>
                    <a:srgbClr val="1D3064"/>
                  </a:solidFill>
                </a:rPr>
                <a:t>Server</a:t>
              </a:r>
            </a:p>
            <a:p>
              <a:r>
                <a:rPr lang="en-IN" sz="1600" dirty="0">
                  <a:solidFill>
                    <a:srgbClr val="1D3064"/>
                  </a:solidFill>
                </a:rPr>
                <a:t>a</a:t>
              </a:r>
              <a:r>
                <a:rPr lang="en-IN" sz="1600" dirty="0" smtClean="0">
                  <a:solidFill>
                    <a:srgbClr val="1D3064"/>
                  </a:solidFill>
                </a:rPr>
                <a:t>ppl.</a:t>
              </a:r>
              <a:endParaRPr lang="en-IN" sz="1600" dirty="0">
                <a:solidFill>
                  <a:srgbClr val="1D3064"/>
                </a:solidFill>
              </a:endParaRPr>
            </a:p>
          </p:txBody>
        </p:sp>
        <p:sp>
          <p:nvSpPr>
            <p:cNvPr id="19" name="TextBox 18"/>
            <p:cNvSpPr txBox="1"/>
            <p:nvPr/>
          </p:nvSpPr>
          <p:spPr>
            <a:xfrm>
              <a:off x="5597574" y="6020438"/>
              <a:ext cx="2048656" cy="369332"/>
            </a:xfrm>
            <a:prstGeom prst="rect">
              <a:avLst/>
            </a:prstGeom>
            <a:noFill/>
          </p:spPr>
          <p:txBody>
            <a:bodyPr wrap="square" rtlCol="0">
              <a:spAutoFit/>
            </a:bodyPr>
            <a:lstStyle/>
            <a:p>
              <a:r>
                <a:rPr lang="en-IN" b="1" dirty="0" smtClean="0">
                  <a:solidFill>
                    <a:srgbClr val="1D3064"/>
                  </a:solidFill>
                </a:rPr>
                <a:t>Replicated request</a:t>
              </a:r>
              <a:endParaRPr lang="en-IN" b="1" dirty="0">
                <a:solidFill>
                  <a:srgbClr val="1D3064"/>
                </a:solidFill>
              </a:endParaRPr>
            </a:p>
          </p:txBody>
        </p:sp>
        <p:sp>
          <p:nvSpPr>
            <p:cNvPr id="20" name="TextBox 19"/>
            <p:cNvSpPr txBox="1"/>
            <p:nvPr/>
          </p:nvSpPr>
          <p:spPr>
            <a:xfrm>
              <a:off x="2578931" y="5862936"/>
              <a:ext cx="2048656" cy="646331"/>
            </a:xfrm>
            <a:prstGeom prst="rect">
              <a:avLst/>
            </a:prstGeom>
            <a:noFill/>
          </p:spPr>
          <p:txBody>
            <a:bodyPr wrap="square" rtlCol="0">
              <a:spAutoFit/>
            </a:bodyPr>
            <a:lstStyle/>
            <a:p>
              <a:r>
                <a:rPr lang="en-IN" dirty="0" smtClean="0">
                  <a:solidFill>
                    <a:srgbClr val="1D3064"/>
                  </a:solidFill>
                </a:rPr>
                <a:t>Client side handles</a:t>
              </a:r>
            </a:p>
            <a:p>
              <a:r>
                <a:rPr lang="en-IN" dirty="0" smtClean="0">
                  <a:solidFill>
                    <a:srgbClr val="1D3064"/>
                  </a:solidFill>
                </a:rPr>
                <a:t>Request replication</a:t>
              </a:r>
              <a:endParaRPr lang="en-IN" dirty="0">
                <a:solidFill>
                  <a:srgbClr val="1D3064"/>
                </a:solidFill>
              </a:endParaRPr>
            </a:p>
          </p:txBody>
        </p:sp>
        <p:sp>
          <p:nvSpPr>
            <p:cNvPr id="21" name="TextBox 20"/>
            <p:cNvSpPr txBox="1"/>
            <p:nvPr/>
          </p:nvSpPr>
          <p:spPr>
            <a:xfrm>
              <a:off x="6408298" y="4876442"/>
              <a:ext cx="776992" cy="584775"/>
            </a:xfrm>
            <a:prstGeom prst="rect">
              <a:avLst/>
            </a:prstGeom>
            <a:noFill/>
          </p:spPr>
          <p:txBody>
            <a:bodyPr wrap="square" rtlCol="0">
              <a:spAutoFit/>
            </a:bodyPr>
            <a:lstStyle/>
            <a:p>
              <a:r>
                <a:rPr lang="en-IN" sz="1600" dirty="0" smtClean="0">
                  <a:solidFill>
                    <a:srgbClr val="1D3064"/>
                  </a:solidFill>
                </a:rPr>
                <a:t>Server</a:t>
              </a:r>
            </a:p>
            <a:p>
              <a:r>
                <a:rPr lang="en-IN" sz="1600" dirty="0">
                  <a:solidFill>
                    <a:srgbClr val="1D3064"/>
                  </a:solidFill>
                </a:rPr>
                <a:t>a</a:t>
              </a:r>
              <a:r>
                <a:rPr lang="en-IN" sz="1600" dirty="0" smtClean="0">
                  <a:solidFill>
                    <a:srgbClr val="1D3064"/>
                  </a:solidFill>
                </a:rPr>
                <a:t>ppl.</a:t>
              </a:r>
              <a:endParaRPr lang="en-IN" sz="1600" dirty="0">
                <a:solidFill>
                  <a:srgbClr val="1D3064"/>
                </a:solidFill>
              </a:endParaRPr>
            </a:p>
          </p:txBody>
        </p:sp>
        <p:sp>
          <p:nvSpPr>
            <p:cNvPr id="22" name="TextBox 21"/>
            <p:cNvSpPr txBox="1"/>
            <p:nvPr/>
          </p:nvSpPr>
          <p:spPr>
            <a:xfrm>
              <a:off x="7682456" y="4895006"/>
              <a:ext cx="776992" cy="584775"/>
            </a:xfrm>
            <a:prstGeom prst="rect">
              <a:avLst/>
            </a:prstGeom>
            <a:noFill/>
          </p:spPr>
          <p:txBody>
            <a:bodyPr wrap="square" rtlCol="0">
              <a:spAutoFit/>
            </a:bodyPr>
            <a:lstStyle/>
            <a:p>
              <a:r>
                <a:rPr lang="en-IN" sz="1600" dirty="0" smtClean="0">
                  <a:solidFill>
                    <a:srgbClr val="1D3064"/>
                  </a:solidFill>
                </a:rPr>
                <a:t>Server</a:t>
              </a:r>
            </a:p>
            <a:p>
              <a:r>
                <a:rPr lang="en-IN" sz="1600" dirty="0">
                  <a:solidFill>
                    <a:srgbClr val="1D3064"/>
                  </a:solidFill>
                </a:rPr>
                <a:t>a</a:t>
              </a:r>
              <a:r>
                <a:rPr lang="en-IN" sz="1600" dirty="0" smtClean="0">
                  <a:solidFill>
                    <a:srgbClr val="1D3064"/>
                  </a:solidFill>
                </a:rPr>
                <a:t>ppl.</a:t>
              </a:r>
              <a:endParaRPr lang="en-IN" sz="1600" dirty="0">
                <a:solidFill>
                  <a:srgbClr val="1D3064"/>
                </a:solidFill>
              </a:endParaRPr>
            </a:p>
          </p:txBody>
        </p:sp>
      </p:grpSp>
    </p:spTree>
    <p:extLst>
      <p:ext uri="{BB962C8B-B14F-4D97-AF65-F5344CB8AC3E}">
        <p14:creationId xmlns:p14="http://schemas.microsoft.com/office/powerpoint/2010/main" val="2775954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Client-Side Software for Distribution Transparency</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33464"/>
            <a:ext cx="11870320" cy="5590565"/>
          </a:xfrm>
        </p:spPr>
        <p:txBody>
          <a:bodyPr/>
          <a:lstStyle/>
          <a:p>
            <a:r>
              <a:rPr lang="en-US" altLang="en-US" dirty="0">
                <a:solidFill>
                  <a:srgbClr val="1D3064"/>
                </a:solidFill>
              </a:rPr>
              <a:t>Failure transparency</a:t>
            </a:r>
            <a:endParaRPr lang="en-US" altLang="en-US" dirty="0" smtClean="0">
              <a:solidFill>
                <a:srgbClr val="1D3064"/>
              </a:solidFill>
            </a:endParaRPr>
          </a:p>
          <a:p>
            <a:pPr lvl="1">
              <a:buFont typeface="Wingdings" panose="05000000000000000000" pitchFamily="2" charset="2"/>
              <a:buChar char="§"/>
            </a:pPr>
            <a:r>
              <a:rPr lang="en-US" altLang="en-US" sz="2400" dirty="0" smtClean="0"/>
              <a:t>Mask </a:t>
            </a:r>
            <a:r>
              <a:rPr lang="en-US" altLang="en-US" sz="2400" dirty="0"/>
              <a:t>server and communication failures: done through client middleware,</a:t>
            </a:r>
          </a:p>
          <a:p>
            <a:pPr lvl="1">
              <a:buFont typeface="Wingdings" panose="05000000000000000000" pitchFamily="2" charset="2"/>
              <a:buChar char="§"/>
            </a:pPr>
            <a:r>
              <a:rPr lang="en-US" altLang="en-US" sz="2400" dirty="0"/>
              <a:t>e.g. connect to another machine.</a:t>
            </a:r>
          </a:p>
          <a:p>
            <a:r>
              <a:rPr lang="en-US" altLang="en-US" dirty="0">
                <a:solidFill>
                  <a:srgbClr val="1D3064"/>
                </a:solidFill>
              </a:rPr>
              <a:t>Concurrency transparency</a:t>
            </a:r>
          </a:p>
          <a:p>
            <a:pPr lvl="1">
              <a:buFont typeface="Wingdings" panose="05000000000000000000" pitchFamily="2" charset="2"/>
              <a:buChar char="§"/>
            </a:pPr>
            <a:r>
              <a:rPr lang="en-US" altLang="en-US" sz="2400" dirty="0"/>
              <a:t>Handled through special intermediate servers, </a:t>
            </a:r>
            <a:r>
              <a:rPr lang="en-US" altLang="en-US" sz="2400" dirty="0" smtClean="0"/>
              <a:t>notably transaction </a:t>
            </a:r>
            <a:r>
              <a:rPr lang="en-US" altLang="en-US" sz="2400" dirty="0"/>
              <a:t>monitors, and requires less support from client software</a:t>
            </a:r>
          </a:p>
          <a:p>
            <a:r>
              <a:rPr lang="en-US" altLang="en-US" dirty="0">
                <a:solidFill>
                  <a:srgbClr val="1D3064"/>
                </a:solidFill>
              </a:rPr>
              <a:t>Persistence transparency</a:t>
            </a:r>
            <a:endParaRPr lang="en-US" altLang="en-US" dirty="0" smtClean="0">
              <a:solidFill>
                <a:srgbClr val="1D3064"/>
              </a:solidFill>
            </a:endParaRPr>
          </a:p>
          <a:p>
            <a:pPr lvl="1">
              <a:buFont typeface="Wingdings" panose="05000000000000000000" pitchFamily="2" charset="2"/>
              <a:buChar char="§"/>
            </a:pPr>
            <a:r>
              <a:rPr lang="en-US" altLang="en-US" sz="2400" dirty="0"/>
              <a:t>Completely handled at the server.</a:t>
            </a:r>
            <a:endParaRPr lang="en-US" altLang="en-US" dirty="0"/>
          </a:p>
        </p:txBody>
      </p:sp>
    </p:spTree>
    <p:extLst>
      <p:ext uri="{BB962C8B-B14F-4D97-AF65-F5344CB8AC3E}">
        <p14:creationId xmlns:p14="http://schemas.microsoft.com/office/powerpoint/2010/main" val="241390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Servers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r>
              <a:rPr lang="en-US" altLang="en-US" dirty="0"/>
              <a:t>A server is a </a:t>
            </a:r>
            <a:r>
              <a:rPr lang="en-US" altLang="en-US" dirty="0" smtClean="0"/>
              <a:t>process implementing </a:t>
            </a:r>
            <a:r>
              <a:rPr lang="en-US" altLang="en-US" dirty="0"/>
              <a:t>a specific service on behalf of a collection of clients.</a:t>
            </a:r>
          </a:p>
          <a:p>
            <a:pPr lvl="1">
              <a:buFont typeface="Wingdings" panose="05000000000000000000" pitchFamily="2" charset="2"/>
              <a:buChar char="§"/>
            </a:pPr>
            <a:r>
              <a:rPr lang="en-US" altLang="en-US" sz="2400" dirty="0"/>
              <a:t>Each server is organized in the same way:</a:t>
            </a:r>
          </a:p>
          <a:p>
            <a:pPr lvl="1">
              <a:buFont typeface="Wingdings" panose="05000000000000000000" pitchFamily="2" charset="2"/>
              <a:buChar char="§"/>
            </a:pPr>
            <a:r>
              <a:rPr lang="en-US" altLang="en-US" sz="2400" dirty="0"/>
              <a:t>It waits for an incoming request from a client ensures that the request is fulfilled</a:t>
            </a:r>
          </a:p>
          <a:p>
            <a:pPr lvl="1">
              <a:buFont typeface="Wingdings" panose="05000000000000000000" pitchFamily="2" charset="2"/>
              <a:buChar char="§"/>
            </a:pPr>
            <a:r>
              <a:rPr lang="en-US" altLang="en-US" sz="2400" dirty="0"/>
              <a:t>It waits for the next incoming request</a:t>
            </a:r>
            <a:r>
              <a:rPr lang="en-US" altLang="en-US" sz="2400" dirty="0" smtClean="0"/>
              <a:t>.</a:t>
            </a:r>
          </a:p>
          <a:p>
            <a:pPr marL="265113" lvl="1" indent="-265113">
              <a:spcBef>
                <a:spcPts val="1000"/>
              </a:spcBef>
              <a:buFont typeface="Webdings" panose="05030102010509060703" pitchFamily="18" charset="2"/>
              <a:buChar char=""/>
            </a:pPr>
            <a:r>
              <a:rPr lang="en-US" altLang="en-US" sz="2400" dirty="0"/>
              <a:t>Types of server</a:t>
            </a:r>
          </a:p>
          <a:p>
            <a:pPr marL="914400" lvl="1" indent="-457200">
              <a:buFont typeface="+mj-lt"/>
              <a:buAutoNum type="arabicPeriod"/>
            </a:pPr>
            <a:r>
              <a:rPr lang="en-US" altLang="en-US" sz="2400" dirty="0"/>
              <a:t>Iterative server</a:t>
            </a:r>
          </a:p>
          <a:p>
            <a:pPr marL="914400" lvl="1" indent="-457200">
              <a:buFont typeface="+mj-lt"/>
              <a:buAutoNum type="arabicPeriod"/>
            </a:pPr>
            <a:r>
              <a:rPr lang="en-US" altLang="en-US" sz="2400" dirty="0"/>
              <a:t>Concurrent server</a:t>
            </a:r>
          </a:p>
        </p:txBody>
      </p:sp>
    </p:spTree>
    <p:extLst>
      <p:ext uri="{BB962C8B-B14F-4D97-AF65-F5344CB8AC3E}">
        <p14:creationId xmlns:p14="http://schemas.microsoft.com/office/powerpoint/2010/main" val="3472174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Iterative server and </a:t>
            </a:r>
            <a:r>
              <a:rPr lang="en-US" dirty="0" smtClean="0"/>
              <a:t>Concurrent </a:t>
            </a:r>
            <a:r>
              <a:rPr lang="en-US" dirty="0"/>
              <a:t>server</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r>
              <a:rPr lang="en-US" b="1" dirty="0">
                <a:solidFill>
                  <a:schemeClr val="tx2"/>
                </a:solidFill>
              </a:rPr>
              <a:t>Iterative server</a:t>
            </a:r>
            <a:endParaRPr lang="en-US" altLang="en-US" b="1" dirty="0">
              <a:solidFill>
                <a:schemeClr val="tx2"/>
              </a:solidFill>
            </a:endParaRPr>
          </a:p>
          <a:p>
            <a:pPr lvl="1">
              <a:buFont typeface="Wingdings" panose="05000000000000000000" pitchFamily="2" charset="2"/>
              <a:buChar char="§"/>
            </a:pPr>
            <a:r>
              <a:rPr lang="en-US" altLang="en-US" sz="2400" dirty="0" smtClean="0"/>
              <a:t>Process </a:t>
            </a:r>
            <a:r>
              <a:rPr lang="en-US" altLang="en-US" sz="2400" dirty="0"/>
              <a:t>one request at a time</a:t>
            </a:r>
          </a:p>
          <a:p>
            <a:pPr lvl="1">
              <a:buFont typeface="Wingdings" panose="05000000000000000000" pitchFamily="2" charset="2"/>
              <a:buChar char="§"/>
            </a:pPr>
            <a:r>
              <a:rPr lang="en-US" altLang="en-US" sz="2400" dirty="0"/>
              <a:t>When an iterative server is handling a request, other connections to that port are blocked. </a:t>
            </a:r>
          </a:p>
          <a:p>
            <a:pPr lvl="1">
              <a:buFont typeface="Wingdings" panose="05000000000000000000" pitchFamily="2" charset="2"/>
              <a:buChar char="§"/>
            </a:pPr>
            <a:r>
              <a:rPr lang="en-US" altLang="en-US" sz="2400" dirty="0"/>
              <a:t>The incoming connections must be handled one after another.</a:t>
            </a:r>
          </a:p>
          <a:p>
            <a:pPr lvl="1">
              <a:buFont typeface="Wingdings" panose="05000000000000000000" pitchFamily="2" charset="2"/>
              <a:buChar char="§"/>
            </a:pPr>
            <a:r>
              <a:rPr lang="en-US" altLang="en-US" sz="2400" dirty="0"/>
              <a:t>Iterative servers support a single client at a time.</a:t>
            </a:r>
          </a:p>
          <a:p>
            <a:pPr lvl="1">
              <a:buFont typeface="Wingdings" panose="05000000000000000000" pitchFamily="2" charset="2"/>
              <a:buChar char="§"/>
            </a:pPr>
            <a:r>
              <a:rPr lang="en-US" altLang="en-US" sz="2400" dirty="0"/>
              <a:t>Much easier to build, but usually much less efficient</a:t>
            </a:r>
          </a:p>
          <a:p>
            <a:r>
              <a:rPr lang="en-US" altLang="en-US" b="1" dirty="0">
                <a:solidFill>
                  <a:schemeClr val="tx2"/>
                </a:solidFill>
              </a:rPr>
              <a:t>Concurrent server</a:t>
            </a:r>
          </a:p>
          <a:p>
            <a:pPr lvl="1">
              <a:buFont typeface="Wingdings" panose="05000000000000000000" pitchFamily="2" charset="2"/>
              <a:buChar char="§"/>
            </a:pPr>
            <a:r>
              <a:rPr lang="en-US" altLang="en-US" sz="2400" dirty="0"/>
              <a:t>Process multiple requests simultaneously.</a:t>
            </a:r>
          </a:p>
          <a:p>
            <a:pPr lvl="1">
              <a:buFont typeface="Wingdings" panose="05000000000000000000" pitchFamily="2" charset="2"/>
              <a:buChar char="§"/>
            </a:pPr>
            <a:r>
              <a:rPr lang="en-US" altLang="en-US" sz="2400" dirty="0"/>
              <a:t>Concurrent servers support multiple clients concurrently (may or may not use concurrent processes)</a:t>
            </a:r>
          </a:p>
          <a:p>
            <a:pPr lvl="1">
              <a:buFont typeface="Wingdings" panose="05000000000000000000" pitchFamily="2" charset="2"/>
              <a:buChar char="§"/>
            </a:pPr>
            <a:r>
              <a:rPr lang="en-US" altLang="en-US" sz="2400" dirty="0"/>
              <a:t>Clients queue for connection, then are served concurrently.  The concurrency reduces latency significantly.</a:t>
            </a:r>
          </a:p>
        </p:txBody>
      </p:sp>
    </p:spTree>
    <p:extLst>
      <p:ext uri="{BB962C8B-B14F-4D97-AF65-F5344CB8AC3E}">
        <p14:creationId xmlns:p14="http://schemas.microsoft.com/office/powerpoint/2010/main" val="980325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Stateless server</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en-US" altLang="en-US" sz="2400" dirty="0" smtClean="0"/>
              <a:t>A </a:t>
            </a:r>
            <a:r>
              <a:rPr lang="en-US" altLang="en-US" sz="2400" dirty="0"/>
              <a:t>stateless server is a server that treats each request as an independent transaction that is unrelated to any previous request.</a:t>
            </a:r>
          </a:p>
          <a:p>
            <a:pPr marL="265113" lvl="1" indent="-265113">
              <a:spcBef>
                <a:spcPts val="1000"/>
              </a:spcBef>
              <a:buFont typeface="Webdings" panose="05030102010509060703" pitchFamily="18" charset="2"/>
              <a:buChar char=""/>
            </a:pPr>
            <a:r>
              <a:rPr lang="en-US" altLang="en-US" sz="2400" dirty="0"/>
              <a:t>Example: A Web server is stateless. </a:t>
            </a:r>
          </a:p>
          <a:p>
            <a:pPr lvl="1">
              <a:buFont typeface="Wingdings" panose="05000000000000000000" pitchFamily="2" charset="2"/>
              <a:buChar char="§"/>
            </a:pPr>
            <a:r>
              <a:rPr lang="en-US" altLang="en-US" sz="2400" dirty="0"/>
              <a:t>It merely responds to incoming HTTP requests, which can be either for uploading a file to the server or (most often) for fetching a file.</a:t>
            </a:r>
          </a:p>
          <a:p>
            <a:pPr lvl="1">
              <a:buFont typeface="Wingdings" panose="05000000000000000000" pitchFamily="2" charset="2"/>
              <a:buChar char="§"/>
            </a:pPr>
            <a:r>
              <a:rPr lang="en-US" altLang="en-US" sz="2400" dirty="0"/>
              <a:t>When the request has been processed, the Web server forgets the client completely.</a:t>
            </a:r>
          </a:p>
          <a:p>
            <a:pPr lvl="1">
              <a:buFont typeface="Wingdings" panose="05000000000000000000" pitchFamily="2" charset="2"/>
              <a:buChar char="§"/>
            </a:pPr>
            <a:r>
              <a:rPr lang="en-US" altLang="en-US" sz="2400" dirty="0"/>
              <a:t>The collection of files that a Web server manages (possibly in cooperation with a file server), can be changed without clients having to be informed.</a:t>
            </a:r>
          </a:p>
        </p:txBody>
      </p:sp>
    </p:spTree>
    <p:extLst>
      <p:ext uri="{BB962C8B-B14F-4D97-AF65-F5344CB8AC3E}">
        <p14:creationId xmlns:p14="http://schemas.microsoft.com/office/powerpoint/2010/main" val="45887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err="1" smtClean="0"/>
              <a:t>Stateful</a:t>
            </a:r>
            <a:r>
              <a:rPr lang="en-US" dirty="0" smtClean="0"/>
              <a:t> </a:t>
            </a:r>
            <a:r>
              <a:rPr lang="en-US" dirty="0"/>
              <a:t>server</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en-US" altLang="en-US" sz="2400" dirty="0"/>
              <a:t>A </a:t>
            </a:r>
            <a:r>
              <a:rPr lang="en-US" altLang="en-US" sz="2400" dirty="0" err="1"/>
              <a:t>stateful</a:t>
            </a:r>
            <a:r>
              <a:rPr lang="en-US" altLang="en-US" sz="2400" dirty="0"/>
              <a:t> server remembers client data (state</a:t>
            </a:r>
            <a:r>
              <a:rPr lang="en-US" altLang="en-US" sz="2400" dirty="0" smtClean="0"/>
              <a:t>) from </a:t>
            </a:r>
            <a:r>
              <a:rPr lang="en-US" altLang="en-US" sz="2400" dirty="0"/>
              <a:t>one request to the next</a:t>
            </a:r>
            <a:r>
              <a:rPr lang="en-US" altLang="en-US" sz="2400" dirty="0" smtClean="0"/>
              <a:t>.</a:t>
            </a:r>
          </a:p>
          <a:p>
            <a:pPr marL="265113" lvl="1" indent="-265113">
              <a:spcBef>
                <a:spcPts val="1000"/>
              </a:spcBef>
              <a:buFont typeface="Webdings" panose="05030102010509060703" pitchFamily="18" charset="2"/>
              <a:buChar char=""/>
            </a:pPr>
            <a:r>
              <a:rPr lang="en-US" altLang="en-US" sz="2400" dirty="0"/>
              <a:t>Information needs to be explicitly deleted by </a:t>
            </a:r>
            <a:r>
              <a:rPr lang="en-US" altLang="en-US" sz="2400" dirty="0" smtClean="0"/>
              <a:t>the server.</a:t>
            </a:r>
            <a:endParaRPr lang="en-US" altLang="en-US" sz="2400" dirty="0"/>
          </a:p>
          <a:p>
            <a:pPr marL="265113" lvl="1" indent="-265113">
              <a:spcBef>
                <a:spcPts val="1000"/>
              </a:spcBef>
              <a:buFont typeface="Webdings" panose="05030102010509060703" pitchFamily="18" charset="2"/>
              <a:buChar char=""/>
            </a:pPr>
            <a:r>
              <a:rPr lang="en-US" altLang="en-US" sz="2400" dirty="0"/>
              <a:t>Example</a:t>
            </a:r>
            <a:r>
              <a:rPr lang="en-US" altLang="en-US" sz="2400" dirty="0" smtClean="0"/>
              <a:t>: </a:t>
            </a:r>
          </a:p>
          <a:p>
            <a:pPr lvl="1">
              <a:buFont typeface="Wingdings" panose="05000000000000000000" pitchFamily="2" charset="2"/>
              <a:buChar char="§"/>
            </a:pPr>
            <a:r>
              <a:rPr lang="en-US" altLang="en-US" sz="2400" dirty="0" smtClean="0"/>
              <a:t>A file server that allows a client to keep a local copy of a file, even for performing update operations.</a:t>
            </a:r>
          </a:p>
          <a:p>
            <a:pPr lvl="1">
              <a:buFont typeface="Wingdings" panose="05000000000000000000" pitchFamily="2" charset="2"/>
              <a:buChar char="§"/>
            </a:pPr>
            <a:r>
              <a:rPr lang="en-US" altLang="en-US" sz="2400" dirty="0" smtClean="0"/>
              <a:t>The </a:t>
            </a:r>
            <a:r>
              <a:rPr lang="en-US" altLang="en-US" sz="2400" dirty="0"/>
              <a:t>server maintains a table containing (client</a:t>
            </a:r>
            <a:r>
              <a:rPr lang="en-US" altLang="en-US" sz="2400" dirty="0" smtClean="0"/>
              <a:t>, file</a:t>
            </a:r>
            <a:r>
              <a:rPr lang="en-US" altLang="en-US" sz="2400" dirty="0"/>
              <a:t>) entries.</a:t>
            </a:r>
          </a:p>
          <a:p>
            <a:pPr lvl="1">
              <a:buFont typeface="Wingdings" panose="05000000000000000000" pitchFamily="2" charset="2"/>
              <a:buChar char="§"/>
            </a:pPr>
            <a:r>
              <a:rPr lang="en-US" altLang="en-US" sz="2400" dirty="0" smtClean="0"/>
              <a:t>This </a:t>
            </a:r>
            <a:r>
              <a:rPr lang="en-US" altLang="en-US" sz="2400" dirty="0"/>
              <a:t>table allows the server to keep track of </a:t>
            </a:r>
            <a:r>
              <a:rPr lang="en-US" altLang="en-US" sz="2400" dirty="0" smtClean="0"/>
              <a:t>which client </a:t>
            </a:r>
            <a:r>
              <a:rPr lang="en-US" altLang="en-US" sz="2400" dirty="0"/>
              <a:t>currently has the update permissions on which file and the </a:t>
            </a:r>
            <a:r>
              <a:rPr lang="en-US" altLang="en-US" sz="2400" dirty="0" smtClean="0"/>
              <a:t>most recent version </a:t>
            </a:r>
            <a:r>
              <a:rPr lang="en-US" altLang="en-US" sz="2400" dirty="0"/>
              <a:t>of that </a:t>
            </a:r>
            <a:r>
              <a:rPr lang="en-US" altLang="en-US" sz="2400" dirty="0" smtClean="0"/>
              <a:t>file</a:t>
            </a:r>
            <a:endParaRPr lang="en-US" altLang="en-US" sz="2400" dirty="0"/>
          </a:p>
          <a:p>
            <a:pPr marL="265113" lvl="1" indent="-265113">
              <a:spcBef>
                <a:spcPts val="1000"/>
              </a:spcBef>
              <a:buFont typeface="Webdings" panose="05030102010509060703" pitchFamily="18" charset="2"/>
              <a:buChar char=""/>
            </a:pPr>
            <a:r>
              <a:rPr lang="en-US" altLang="en-US" sz="2400" dirty="0"/>
              <a:t>Improves performance of read and write operations as perceived by the client</a:t>
            </a:r>
          </a:p>
        </p:txBody>
      </p:sp>
    </p:spTree>
    <p:extLst>
      <p:ext uri="{BB962C8B-B14F-4D97-AF65-F5344CB8AC3E}">
        <p14:creationId xmlns:p14="http://schemas.microsoft.com/office/powerpoint/2010/main" val="121335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Server Clusters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en-US" altLang="en-US" sz="2400" dirty="0"/>
              <a:t>A server cluster is </a:t>
            </a:r>
            <a:r>
              <a:rPr lang="en-US" altLang="en-US" sz="2400" dirty="0" smtClean="0"/>
              <a:t>a collection </a:t>
            </a:r>
            <a:r>
              <a:rPr lang="en-US" altLang="en-US" sz="2400" dirty="0"/>
              <a:t>of machines connected through a network, where each machine runs </a:t>
            </a:r>
            <a:r>
              <a:rPr lang="en-US" altLang="en-US" sz="2400" dirty="0" smtClean="0"/>
              <a:t>one or </a:t>
            </a:r>
            <a:r>
              <a:rPr lang="en-US" altLang="en-US" sz="2400" dirty="0"/>
              <a:t>more servers</a:t>
            </a:r>
            <a:r>
              <a:rPr lang="en-US" altLang="en-US" sz="2400" dirty="0" smtClean="0"/>
              <a:t>.</a:t>
            </a:r>
          </a:p>
          <a:p>
            <a:pPr marL="265113" lvl="1" indent="-265113">
              <a:spcBef>
                <a:spcPts val="1000"/>
              </a:spcBef>
              <a:buFont typeface="Webdings" panose="05030102010509060703" pitchFamily="18" charset="2"/>
              <a:buChar char=""/>
            </a:pPr>
            <a:r>
              <a:rPr lang="en-US" altLang="en-US" sz="2400" dirty="0"/>
              <a:t>A server cluster is logically organized into three tiers</a:t>
            </a:r>
          </a:p>
          <a:p>
            <a:pPr lvl="1">
              <a:buFont typeface="Wingdings" panose="05000000000000000000" pitchFamily="2" charset="2"/>
              <a:buChar char="§"/>
            </a:pPr>
            <a:r>
              <a:rPr lang="en-US" altLang="en-US" sz="2400" dirty="0"/>
              <a:t>First tier</a:t>
            </a:r>
          </a:p>
          <a:p>
            <a:pPr lvl="1">
              <a:buFont typeface="Wingdings" panose="05000000000000000000" pitchFamily="2" charset="2"/>
              <a:buChar char="§"/>
            </a:pPr>
            <a:r>
              <a:rPr lang="en-US" altLang="en-US" sz="2400" dirty="0"/>
              <a:t>Second tier</a:t>
            </a:r>
          </a:p>
          <a:p>
            <a:pPr lvl="1">
              <a:buFont typeface="Wingdings" panose="05000000000000000000" pitchFamily="2" charset="2"/>
              <a:buChar char="§"/>
            </a:pPr>
            <a:r>
              <a:rPr lang="en-US" altLang="en-US" sz="2400" dirty="0"/>
              <a:t>Third tier</a:t>
            </a:r>
          </a:p>
        </p:txBody>
      </p:sp>
    </p:spTree>
    <p:extLst>
      <p:ext uri="{BB962C8B-B14F-4D97-AF65-F5344CB8AC3E}">
        <p14:creationId xmlns:p14="http://schemas.microsoft.com/office/powerpoint/2010/main" val="2526811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Server Clusters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0" y="711201"/>
            <a:ext cx="12192000" cy="2923155"/>
          </a:xfrm>
        </p:spPr>
        <p:txBody>
          <a:bodyPr/>
          <a:lstStyle/>
          <a:p>
            <a:pPr marL="265113" lvl="1" indent="-265113">
              <a:spcBef>
                <a:spcPts val="1000"/>
              </a:spcBef>
              <a:buFont typeface="Webdings" panose="05030102010509060703" pitchFamily="18" charset="2"/>
              <a:buChar char=""/>
            </a:pPr>
            <a:r>
              <a:rPr lang="en-US" altLang="en-US" sz="2400" b="1" dirty="0">
                <a:solidFill>
                  <a:schemeClr val="tx2"/>
                </a:solidFill>
              </a:rPr>
              <a:t>First tier </a:t>
            </a:r>
            <a:r>
              <a:rPr lang="en-US" altLang="en-US" sz="2400" dirty="0"/>
              <a:t>- consists of a (logical) </a:t>
            </a:r>
            <a:r>
              <a:rPr lang="en-US" altLang="en-US" sz="2400" dirty="0" smtClean="0"/>
              <a:t>switch through </a:t>
            </a:r>
            <a:r>
              <a:rPr lang="en-US" altLang="en-US" sz="2400" dirty="0"/>
              <a:t>which client requests are </a:t>
            </a:r>
            <a:r>
              <a:rPr lang="en-US" altLang="en-US" sz="2400" dirty="0" smtClean="0"/>
              <a:t>routed</a:t>
            </a:r>
          </a:p>
          <a:p>
            <a:pPr lvl="1">
              <a:buFont typeface="Wingdings" panose="05000000000000000000" pitchFamily="2" charset="2"/>
              <a:buChar char="§"/>
            </a:pPr>
            <a:r>
              <a:rPr lang="en-US" altLang="en-US" sz="2400" dirty="0"/>
              <a:t>The switch (access/replication transparency</a:t>
            </a:r>
            <a:r>
              <a:rPr lang="en-US" altLang="en-US" sz="2400" dirty="0" smtClean="0"/>
              <a:t>)</a:t>
            </a:r>
          </a:p>
          <a:p>
            <a:pPr marL="265113" lvl="1" indent="-265113">
              <a:spcBef>
                <a:spcPts val="1000"/>
              </a:spcBef>
              <a:buFont typeface="Webdings" panose="05030102010509060703" pitchFamily="18" charset="2"/>
              <a:buChar char=""/>
            </a:pPr>
            <a:r>
              <a:rPr lang="en-US" altLang="en-US" sz="2400" b="1" dirty="0">
                <a:solidFill>
                  <a:schemeClr val="tx2"/>
                </a:solidFill>
              </a:rPr>
              <a:t>Second tier </a:t>
            </a:r>
            <a:r>
              <a:rPr lang="en-US" altLang="en-US" sz="2400" dirty="0"/>
              <a:t>- application processing</a:t>
            </a:r>
          </a:p>
          <a:p>
            <a:pPr lvl="1">
              <a:buFont typeface="Wingdings" panose="05000000000000000000" pitchFamily="2" charset="2"/>
              <a:buChar char="§"/>
            </a:pPr>
            <a:r>
              <a:rPr lang="en-US" altLang="en-US" sz="2400" dirty="0"/>
              <a:t>Cluster computing</a:t>
            </a:r>
          </a:p>
          <a:p>
            <a:pPr lvl="1">
              <a:buFont typeface="Wingdings" panose="05000000000000000000" pitchFamily="2" charset="2"/>
              <a:buChar char="§"/>
            </a:pPr>
            <a:r>
              <a:rPr lang="en-US" altLang="en-US" sz="2400" dirty="0"/>
              <a:t>Enterprise server </a:t>
            </a:r>
            <a:r>
              <a:rPr lang="en-US" altLang="en-US" sz="2400" dirty="0" smtClean="0"/>
              <a:t>clusters</a:t>
            </a:r>
          </a:p>
          <a:p>
            <a:pPr marL="265113" lvl="1" indent="-265113">
              <a:spcBef>
                <a:spcPts val="1000"/>
              </a:spcBef>
              <a:buFont typeface="Webdings" panose="05030102010509060703" pitchFamily="18" charset="2"/>
              <a:buChar char=""/>
            </a:pPr>
            <a:r>
              <a:rPr lang="en-US" altLang="en-US" sz="2400" b="1" dirty="0">
                <a:solidFill>
                  <a:schemeClr val="tx2"/>
                </a:solidFill>
              </a:rPr>
              <a:t>Third tier </a:t>
            </a:r>
            <a:r>
              <a:rPr lang="en-US" altLang="en-US" sz="2400" dirty="0"/>
              <a:t>- data-processing servers - notably file and database servers</a:t>
            </a:r>
          </a:p>
          <a:p>
            <a:pPr lvl="1">
              <a:buFont typeface="Wingdings" panose="05000000000000000000" pitchFamily="2" charset="2"/>
              <a:buChar char="§"/>
            </a:pPr>
            <a:r>
              <a:rPr lang="en-US" altLang="en-US" sz="2400" dirty="0"/>
              <a:t>For other applications, the major part of the workload may be </a:t>
            </a:r>
            <a:r>
              <a:rPr lang="en-US" altLang="en-US" sz="2400" dirty="0" smtClean="0"/>
              <a:t>here</a:t>
            </a:r>
            <a:endParaRPr lang="en-US" altLang="en-US" sz="2400" dirty="0"/>
          </a:p>
          <a:p>
            <a:pPr lvl="1">
              <a:buFont typeface="Wingdings" panose="05000000000000000000" pitchFamily="2" charset="2"/>
              <a:buChar char="§"/>
            </a:pPr>
            <a:endParaRPr lang="en-US" altLang="en-US" sz="2400" dirty="0" smtClean="0"/>
          </a:p>
        </p:txBody>
      </p:sp>
      <p:sp>
        <p:nvSpPr>
          <p:cNvPr id="6" name="Content Placeholder 2">
            <a:extLst>
              <a:ext uri="{FF2B5EF4-FFF2-40B4-BE49-F238E27FC236}">
                <a16:creationId xmlns="" xmlns:a16="http://schemas.microsoft.com/office/drawing/2014/main" id="{139A428D-8F15-4206-B337-FA27C005FA71}"/>
              </a:ext>
            </a:extLst>
          </p:cNvPr>
          <p:cNvSpPr txBox="1">
            <a:spLocks/>
          </p:cNvSpPr>
          <p:nvPr/>
        </p:nvSpPr>
        <p:spPr>
          <a:xfrm>
            <a:off x="0" y="1480643"/>
            <a:ext cx="11870320" cy="109110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lvl="1" indent="-265113">
              <a:spcBef>
                <a:spcPts val="1000"/>
              </a:spcBef>
              <a:buFont typeface="Webdings" panose="05030102010509060703" pitchFamily="18" charset="2"/>
              <a:buChar char=""/>
            </a:pPr>
            <a:endParaRPr lang="en-US" altLang="en-US" sz="2400" dirty="0"/>
          </a:p>
        </p:txBody>
      </p:sp>
      <p:grpSp>
        <p:nvGrpSpPr>
          <p:cNvPr id="13" name="Group 12"/>
          <p:cNvGrpSpPr/>
          <p:nvPr/>
        </p:nvGrpSpPr>
        <p:grpSpPr>
          <a:xfrm>
            <a:off x="1368276" y="3662337"/>
            <a:ext cx="7654817" cy="2603189"/>
            <a:chOff x="1049311" y="4278234"/>
            <a:chExt cx="7654817" cy="2603189"/>
          </a:xfrm>
        </p:grpSpPr>
        <p:pic>
          <p:nvPicPr>
            <p:cNvPr id="14" name="Picture 13"/>
            <p:cNvPicPr>
              <a:picLocks noChangeAspect="1"/>
            </p:cNvPicPr>
            <p:nvPr/>
          </p:nvPicPr>
          <p:blipFill>
            <a:blip r:embed="rId2"/>
            <a:stretch>
              <a:fillRect/>
            </a:stretch>
          </p:blipFill>
          <p:spPr>
            <a:xfrm>
              <a:off x="1256234" y="4309673"/>
              <a:ext cx="6086475" cy="2571750"/>
            </a:xfrm>
            <a:prstGeom prst="rect">
              <a:avLst/>
            </a:prstGeom>
          </p:spPr>
        </p:pic>
        <p:sp>
          <p:nvSpPr>
            <p:cNvPr id="15" name="TextBox 14"/>
            <p:cNvSpPr txBox="1"/>
            <p:nvPr/>
          </p:nvSpPr>
          <p:spPr>
            <a:xfrm>
              <a:off x="1049311" y="5350922"/>
              <a:ext cx="1484026" cy="369332"/>
            </a:xfrm>
            <a:prstGeom prst="rect">
              <a:avLst/>
            </a:prstGeom>
            <a:noFill/>
          </p:spPr>
          <p:txBody>
            <a:bodyPr wrap="square" rtlCol="0">
              <a:spAutoFit/>
            </a:bodyPr>
            <a:lstStyle/>
            <a:p>
              <a:r>
                <a:rPr lang="en-IN" dirty="0" smtClean="0">
                  <a:solidFill>
                    <a:schemeClr val="accent6"/>
                  </a:solidFill>
                </a:rPr>
                <a:t>Client request</a:t>
              </a:r>
              <a:endParaRPr lang="en-IN" dirty="0">
                <a:solidFill>
                  <a:schemeClr val="accent6"/>
                </a:solidFill>
              </a:endParaRPr>
            </a:p>
          </p:txBody>
        </p:sp>
        <p:sp>
          <p:nvSpPr>
            <p:cNvPr id="16" name="TextBox 15"/>
            <p:cNvSpPr txBox="1"/>
            <p:nvPr/>
          </p:nvSpPr>
          <p:spPr>
            <a:xfrm>
              <a:off x="2728210" y="5010773"/>
              <a:ext cx="1109272" cy="584775"/>
            </a:xfrm>
            <a:prstGeom prst="rect">
              <a:avLst/>
            </a:prstGeom>
            <a:noFill/>
          </p:spPr>
          <p:txBody>
            <a:bodyPr wrap="square" rtlCol="0">
              <a:spAutoFit/>
            </a:bodyPr>
            <a:lstStyle/>
            <a:p>
              <a:r>
                <a:rPr lang="en-IN" sz="1600" dirty="0" smtClean="0">
                  <a:solidFill>
                    <a:schemeClr val="accent6"/>
                  </a:solidFill>
                </a:rPr>
                <a:t>Dispatched request</a:t>
              </a:r>
              <a:endParaRPr lang="en-IN" sz="1600" dirty="0">
                <a:solidFill>
                  <a:schemeClr val="accent6"/>
                </a:solidFill>
              </a:endParaRPr>
            </a:p>
          </p:txBody>
        </p:sp>
        <p:sp>
          <p:nvSpPr>
            <p:cNvPr id="17" name="TextBox 16"/>
            <p:cNvSpPr txBox="1"/>
            <p:nvPr/>
          </p:nvSpPr>
          <p:spPr>
            <a:xfrm>
              <a:off x="1644461" y="4306808"/>
              <a:ext cx="1927657" cy="646331"/>
            </a:xfrm>
            <a:prstGeom prst="rect">
              <a:avLst/>
            </a:prstGeom>
            <a:noFill/>
          </p:spPr>
          <p:txBody>
            <a:bodyPr wrap="square" rtlCol="0">
              <a:spAutoFit/>
            </a:bodyPr>
            <a:lstStyle/>
            <a:p>
              <a:r>
                <a:rPr lang="en-IN" b="1" dirty="0" smtClean="0">
                  <a:solidFill>
                    <a:srgbClr val="1D3064"/>
                  </a:solidFill>
                </a:rPr>
                <a:t>Logical switch</a:t>
              </a:r>
            </a:p>
            <a:p>
              <a:r>
                <a:rPr lang="en-IN" b="1" dirty="0" smtClean="0">
                  <a:solidFill>
                    <a:srgbClr val="1D3064"/>
                  </a:solidFill>
                </a:rPr>
                <a:t>(possibly multiple)</a:t>
              </a:r>
              <a:endParaRPr lang="en-IN" b="1" dirty="0">
                <a:solidFill>
                  <a:srgbClr val="1D3064"/>
                </a:solidFill>
              </a:endParaRPr>
            </a:p>
          </p:txBody>
        </p:sp>
        <p:sp>
          <p:nvSpPr>
            <p:cNvPr id="18" name="TextBox 17"/>
            <p:cNvSpPr txBox="1"/>
            <p:nvPr/>
          </p:nvSpPr>
          <p:spPr>
            <a:xfrm>
              <a:off x="3898961" y="4278234"/>
              <a:ext cx="2172055" cy="646331"/>
            </a:xfrm>
            <a:prstGeom prst="rect">
              <a:avLst/>
            </a:prstGeom>
            <a:noFill/>
          </p:spPr>
          <p:txBody>
            <a:bodyPr wrap="square" rtlCol="0">
              <a:spAutoFit/>
            </a:bodyPr>
            <a:lstStyle/>
            <a:p>
              <a:r>
                <a:rPr lang="en-IN" b="1" dirty="0" smtClean="0">
                  <a:solidFill>
                    <a:srgbClr val="1D3064"/>
                  </a:solidFill>
                </a:rPr>
                <a:t>Application/Compute</a:t>
              </a:r>
            </a:p>
            <a:p>
              <a:r>
                <a:rPr lang="en-IN" b="1" dirty="0" smtClean="0">
                  <a:solidFill>
                    <a:srgbClr val="1D3064"/>
                  </a:solidFill>
                </a:rPr>
                <a:t>Servers</a:t>
              </a:r>
              <a:endParaRPr lang="en-IN" b="1" dirty="0">
                <a:solidFill>
                  <a:srgbClr val="1D3064"/>
                </a:solidFill>
              </a:endParaRPr>
            </a:p>
          </p:txBody>
        </p:sp>
        <p:sp>
          <p:nvSpPr>
            <p:cNvPr id="19" name="TextBox 18"/>
            <p:cNvSpPr txBox="1"/>
            <p:nvPr/>
          </p:nvSpPr>
          <p:spPr>
            <a:xfrm>
              <a:off x="6156740" y="4289284"/>
              <a:ext cx="2547388" cy="646331"/>
            </a:xfrm>
            <a:prstGeom prst="rect">
              <a:avLst/>
            </a:prstGeom>
            <a:noFill/>
          </p:spPr>
          <p:txBody>
            <a:bodyPr wrap="square" rtlCol="0">
              <a:spAutoFit/>
            </a:bodyPr>
            <a:lstStyle/>
            <a:p>
              <a:r>
                <a:rPr lang="en-IN" b="1" dirty="0" smtClean="0">
                  <a:solidFill>
                    <a:srgbClr val="1D3064"/>
                  </a:solidFill>
                </a:rPr>
                <a:t>Distributed File/Database</a:t>
              </a:r>
            </a:p>
            <a:p>
              <a:r>
                <a:rPr lang="en-IN" b="1" dirty="0" smtClean="0">
                  <a:solidFill>
                    <a:srgbClr val="1D3064"/>
                  </a:solidFill>
                </a:rPr>
                <a:t>system</a:t>
              </a:r>
              <a:endParaRPr lang="en-IN" b="1" dirty="0">
                <a:solidFill>
                  <a:srgbClr val="1D3064"/>
                </a:solidFill>
              </a:endParaRPr>
            </a:p>
          </p:txBody>
        </p:sp>
      </p:grpSp>
      <p:sp>
        <p:nvSpPr>
          <p:cNvPr id="20" name="Rounded Rectangle 19"/>
          <p:cNvSpPr/>
          <p:nvPr/>
        </p:nvSpPr>
        <p:spPr>
          <a:xfrm>
            <a:off x="1368275" y="3634356"/>
            <a:ext cx="2693539" cy="2466405"/>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ounded Rectangle 20"/>
          <p:cNvSpPr/>
          <p:nvPr/>
        </p:nvSpPr>
        <p:spPr>
          <a:xfrm>
            <a:off x="3938433" y="3634356"/>
            <a:ext cx="2386011" cy="2466405"/>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ounded Rectangle 21"/>
          <p:cNvSpPr/>
          <p:nvPr/>
        </p:nvSpPr>
        <p:spPr>
          <a:xfrm>
            <a:off x="6410168" y="3634356"/>
            <a:ext cx="2697348" cy="2466405"/>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ounded Rectangle 22"/>
          <p:cNvSpPr/>
          <p:nvPr/>
        </p:nvSpPr>
        <p:spPr>
          <a:xfrm>
            <a:off x="2081062" y="6160852"/>
            <a:ext cx="1289053" cy="40199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solidFill>
                  <a:srgbClr val="1D3064"/>
                </a:solidFill>
              </a:rPr>
              <a:t>First tier</a:t>
            </a:r>
            <a:endParaRPr lang="en-IN" sz="2000" b="1" dirty="0">
              <a:solidFill>
                <a:srgbClr val="1D3064"/>
              </a:solidFill>
            </a:endParaRPr>
          </a:p>
        </p:txBody>
      </p:sp>
      <p:sp>
        <p:nvSpPr>
          <p:cNvPr id="24" name="Rounded Rectangle 23"/>
          <p:cNvSpPr/>
          <p:nvPr/>
        </p:nvSpPr>
        <p:spPr>
          <a:xfrm>
            <a:off x="4403572" y="6165931"/>
            <a:ext cx="1420813" cy="40199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solidFill>
                  <a:srgbClr val="1D3064"/>
                </a:solidFill>
              </a:rPr>
              <a:t>Second tier</a:t>
            </a:r>
            <a:endParaRPr lang="en-IN" sz="2000" b="1" dirty="0">
              <a:solidFill>
                <a:srgbClr val="1D3064"/>
              </a:solidFill>
            </a:endParaRPr>
          </a:p>
        </p:txBody>
      </p:sp>
      <p:sp>
        <p:nvSpPr>
          <p:cNvPr id="25" name="Rounded Rectangle 24"/>
          <p:cNvSpPr/>
          <p:nvPr/>
        </p:nvSpPr>
        <p:spPr>
          <a:xfrm>
            <a:off x="6616041" y="6165931"/>
            <a:ext cx="1201744" cy="40199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solidFill>
                  <a:srgbClr val="1D3064"/>
                </a:solidFill>
              </a:rPr>
              <a:t>Third tier</a:t>
            </a:r>
            <a:endParaRPr lang="en-IN" sz="2000" b="1" dirty="0">
              <a:solidFill>
                <a:srgbClr val="1D3064"/>
              </a:solidFill>
            </a:endParaRPr>
          </a:p>
        </p:txBody>
      </p:sp>
    </p:spTree>
    <p:extLst>
      <p:ext uri="{BB962C8B-B14F-4D97-AF65-F5344CB8AC3E}">
        <p14:creationId xmlns:p14="http://schemas.microsoft.com/office/powerpoint/2010/main" val="3770448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par>
                                <p:cTn id="13" presetID="1" presetClass="entr" presetSubtype="0"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Code Migration</a:t>
            </a:r>
            <a:endParaRPr lang="en-US" dirty="0"/>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en-US" altLang="en-US" sz="2400" dirty="0"/>
              <a:t>Traditionally, communication in distributed systems is concerned with exchanging data </a:t>
            </a:r>
            <a:r>
              <a:rPr lang="en-US" altLang="en-US" sz="2400" dirty="0" smtClean="0"/>
              <a:t>between processes</a:t>
            </a:r>
            <a:r>
              <a:rPr lang="en-US" altLang="en-US" sz="2400" dirty="0"/>
              <a:t>. </a:t>
            </a:r>
            <a:endParaRPr lang="en-US" altLang="en-US" sz="2400" dirty="0" smtClean="0"/>
          </a:p>
          <a:p>
            <a:pPr marL="265113" lvl="1" indent="-265113">
              <a:spcBef>
                <a:spcPts val="1000"/>
              </a:spcBef>
              <a:buFont typeface="Webdings" panose="05030102010509060703" pitchFamily="18" charset="2"/>
              <a:buChar char=""/>
            </a:pPr>
            <a:r>
              <a:rPr lang="en-US" altLang="en-US" sz="2400" dirty="0"/>
              <a:t>Code migration in the broadest sense deals with moving programs between machines, with </a:t>
            </a:r>
            <a:r>
              <a:rPr lang="en-US" altLang="en-US" sz="2400" dirty="0" smtClean="0"/>
              <a:t>the intention </a:t>
            </a:r>
            <a:r>
              <a:rPr lang="en-US" altLang="en-US" sz="2400" dirty="0"/>
              <a:t>to have those programs be executed at the target</a:t>
            </a:r>
          </a:p>
          <a:p>
            <a:pPr marL="265113" lvl="1" indent="-265113">
              <a:spcBef>
                <a:spcPts val="1000"/>
              </a:spcBef>
              <a:buFont typeface="Webdings" panose="05030102010509060703" pitchFamily="18" charset="2"/>
              <a:buChar char=""/>
            </a:pPr>
            <a:r>
              <a:rPr lang="en-US" altLang="en-US" sz="2400" dirty="0" smtClean="0"/>
              <a:t>process </a:t>
            </a:r>
            <a:r>
              <a:rPr lang="en-US" altLang="en-US" sz="2400" dirty="0"/>
              <a:t>migration </a:t>
            </a:r>
            <a:r>
              <a:rPr lang="en-US" altLang="en-US" sz="2400" dirty="0" smtClean="0"/>
              <a:t>in which </a:t>
            </a:r>
            <a:r>
              <a:rPr lang="en-US" altLang="en-US" sz="2400" dirty="0"/>
              <a:t>an entire process is moved from one machine to </a:t>
            </a:r>
            <a:r>
              <a:rPr lang="en-US" altLang="en-US" sz="2400" dirty="0" smtClean="0"/>
              <a:t>another</a:t>
            </a:r>
          </a:p>
          <a:p>
            <a:pPr marL="265113" lvl="1" indent="-265113">
              <a:spcBef>
                <a:spcPts val="1000"/>
              </a:spcBef>
              <a:buFont typeface="Webdings" panose="05030102010509060703" pitchFamily="18" charset="2"/>
              <a:buChar char=""/>
            </a:pPr>
            <a:r>
              <a:rPr lang="en-US" altLang="en-US" sz="2400" dirty="0"/>
              <a:t>Code migration is often used for load distribution, reducing network bandwidth, dynamic customization, and mobile agents.</a:t>
            </a:r>
          </a:p>
          <a:p>
            <a:pPr marL="265113" lvl="1" indent="-265113">
              <a:spcBef>
                <a:spcPts val="1000"/>
              </a:spcBef>
              <a:buFont typeface="Webdings" panose="05030102010509060703" pitchFamily="18" charset="2"/>
              <a:buChar char=""/>
            </a:pPr>
            <a:r>
              <a:rPr lang="en-US" altLang="en-US" sz="2400" dirty="0"/>
              <a:t>Code migration increases scalability, improves performance, and provides flexibility</a:t>
            </a:r>
            <a:r>
              <a:rPr lang="en-US" altLang="en-US" sz="2400" dirty="0" smtClean="0"/>
              <a:t>.</a:t>
            </a:r>
          </a:p>
          <a:p>
            <a:pPr marL="265113" lvl="1" indent="-265113">
              <a:spcBef>
                <a:spcPts val="1000"/>
              </a:spcBef>
              <a:buFont typeface="Webdings" panose="05030102010509060703" pitchFamily="18" charset="2"/>
              <a:buChar char=""/>
            </a:pPr>
            <a:r>
              <a:rPr lang="en-US" altLang="en-US" sz="2400" dirty="0"/>
              <a:t>Reasons for Code </a:t>
            </a:r>
            <a:r>
              <a:rPr lang="en-US" altLang="en-US" sz="2400" dirty="0" smtClean="0"/>
              <a:t>Migration:</a:t>
            </a:r>
          </a:p>
          <a:p>
            <a:pPr lvl="1">
              <a:buFont typeface="Wingdings" panose="05000000000000000000" pitchFamily="2" charset="2"/>
              <a:buChar char="§"/>
            </a:pPr>
            <a:r>
              <a:rPr lang="en-US" altLang="en-US" sz="2400" dirty="0"/>
              <a:t>Performance</a:t>
            </a:r>
          </a:p>
          <a:p>
            <a:pPr lvl="1">
              <a:buFont typeface="Wingdings" panose="05000000000000000000" pitchFamily="2" charset="2"/>
              <a:buChar char="§"/>
            </a:pPr>
            <a:r>
              <a:rPr lang="en-US" altLang="en-US" sz="2400" dirty="0"/>
              <a:t>Flexibility</a:t>
            </a:r>
          </a:p>
          <a:p>
            <a:pPr marL="265113" lvl="1" indent="-265113">
              <a:spcBef>
                <a:spcPts val="1000"/>
              </a:spcBef>
              <a:buFont typeface="Webdings" panose="05030102010509060703" pitchFamily="18" charset="2"/>
              <a:buChar char=""/>
            </a:pPr>
            <a:endParaRPr lang="en-US" altLang="en-US" sz="2400" dirty="0" smtClean="0"/>
          </a:p>
          <a:p>
            <a:pPr marL="265113" lvl="1" indent="-265113">
              <a:spcBef>
                <a:spcPts val="1000"/>
              </a:spcBef>
              <a:buFont typeface="Webdings" panose="05030102010509060703" pitchFamily="18" charset="2"/>
              <a:buChar char=""/>
            </a:pPr>
            <a:endParaRPr lang="en-US" altLang="en-US" sz="2400" dirty="0"/>
          </a:p>
        </p:txBody>
      </p:sp>
    </p:spTree>
    <p:extLst>
      <p:ext uri="{BB962C8B-B14F-4D97-AF65-F5344CB8AC3E}">
        <p14:creationId xmlns:p14="http://schemas.microsoft.com/office/powerpoint/2010/main" val="403380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Performance in Code Migration</a:t>
            </a:r>
            <a:endParaRPr lang="en-US" dirty="0"/>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en-US" altLang="en-US" sz="2400" dirty="0" smtClean="0"/>
              <a:t>Overall </a:t>
            </a:r>
            <a:r>
              <a:rPr lang="en-US" altLang="en-US" sz="2400" dirty="0"/>
              <a:t>system performance can be improved if processes are moved from heavily-loaded to </a:t>
            </a:r>
            <a:r>
              <a:rPr lang="en-US" altLang="en-US" sz="2400" dirty="0" smtClean="0"/>
              <a:t>lightly loaded </a:t>
            </a:r>
            <a:r>
              <a:rPr lang="en-US" altLang="en-US" sz="2400" dirty="0"/>
              <a:t>machines. </a:t>
            </a:r>
            <a:endParaRPr lang="en-US" altLang="en-US" sz="2400" dirty="0" smtClean="0"/>
          </a:p>
          <a:p>
            <a:pPr marL="265113" lvl="1" indent="-265113">
              <a:spcBef>
                <a:spcPts val="1000"/>
              </a:spcBef>
              <a:buFont typeface="Webdings" panose="05030102010509060703" pitchFamily="18" charset="2"/>
              <a:buChar char=""/>
            </a:pPr>
            <a:r>
              <a:rPr lang="en-US" altLang="en-US" sz="2400" dirty="0"/>
              <a:t>How system performance is improved by code </a:t>
            </a:r>
            <a:r>
              <a:rPr lang="en-US" altLang="en-US" sz="2400" dirty="0" smtClean="0"/>
              <a:t>migration?</a:t>
            </a:r>
          </a:p>
          <a:p>
            <a:pPr lvl="1">
              <a:buFont typeface="Wingdings" panose="05000000000000000000" pitchFamily="2" charset="2"/>
              <a:buChar char="§"/>
            </a:pPr>
            <a:r>
              <a:rPr lang="en-US" altLang="en-US" sz="2400" dirty="0"/>
              <a:t>Using load distribution algorithms</a:t>
            </a:r>
          </a:p>
          <a:p>
            <a:pPr lvl="1">
              <a:buFont typeface="Wingdings" panose="05000000000000000000" pitchFamily="2" charset="2"/>
              <a:buChar char="§"/>
            </a:pPr>
            <a:r>
              <a:rPr lang="en-US" altLang="en-US" sz="2400" dirty="0"/>
              <a:t>Using qualitative reasoning</a:t>
            </a:r>
          </a:p>
          <a:p>
            <a:pPr marL="1171575" lvl="1" indent="-371475">
              <a:spcBef>
                <a:spcPts val="1000"/>
              </a:spcBef>
              <a:buFont typeface="Arial" panose="020B0604020202020204" pitchFamily="34" charset="0"/>
              <a:buChar char="•"/>
            </a:pPr>
            <a:r>
              <a:rPr lang="en-US" altLang="en-US" sz="2200" dirty="0"/>
              <a:t>Migrating parts of the client to the </a:t>
            </a:r>
            <a:r>
              <a:rPr lang="en-US" altLang="en-US" sz="2200" dirty="0" smtClean="0"/>
              <a:t>server</a:t>
            </a:r>
          </a:p>
          <a:p>
            <a:pPr marL="1171575" lvl="1" indent="-371475">
              <a:spcBef>
                <a:spcPts val="1000"/>
              </a:spcBef>
              <a:buFont typeface="Arial" panose="020B0604020202020204" pitchFamily="34" charset="0"/>
              <a:buChar char="•"/>
            </a:pPr>
            <a:r>
              <a:rPr lang="en-US" altLang="en-US" sz="2200" dirty="0"/>
              <a:t>Migrating parts of the server to the </a:t>
            </a:r>
            <a:r>
              <a:rPr lang="en-US" altLang="en-US" sz="2200" dirty="0" smtClean="0"/>
              <a:t>client</a:t>
            </a:r>
            <a:endParaRPr lang="en-US" altLang="en-US" sz="2200" dirty="0"/>
          </a:p>
        </p:txBody>
      </p:sp>
    </p:spTree>
    <p:extLst>
      <p:ext uri="{BB962C8B-B14F-4D97-AF65-F5344CB8AC3E}">
        <p14:creationId xmlns:p14="http://schemas.microsoft.com/office/powerpoint/2010/main" val="1688388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Flexibility in Code Migration</a:t>
            </a:r>
            <a:endParaRPr lang="en-US" dirty="0"/>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p:txBody>
          <a:bodyPr/>
          <a:lstStyle/>
          <a:p>
            <a:pPr marL="265113" lvl="1" indent="-265113">
              <a:spcBef>
                <a:spcPts val="1000"/>
              </a:spcBef>
              <a:buFont typeface="Webdings" panose="05030102010509060703" pitchFamily="18" charset="2"/>
              <a:buChar char=""/>
            </a:pPr>
            <a:r>
              <a:rPr lang="en-US" altLang="en-US" sz="2400" dirty="0"/>
              <a:t>The traditional approach to building distributed applications is to partition the application </a:t>
            </a:r>
            <a:r>
              <a:rPr lang="en-US" altLang="en-US" sz="2400" dirty="0" smtClean="0"/>
              <a:t>into different </a:t>
            </a:r>
            <a:r>
              <a:rPr lang="en-US" altLang="en-US" sz="2400" dirty="0"/>
              <a:t>parts, and decide in advance where each part should be executed. </a:t>
            </a:r>
            <a:endParaRPr lang="en-US" altLang="en-US" sz="2400" dirty="0" smtClean="0"/>
          </a:p>
          <a:p>
            <a:pPr marL="265113" lvl="1" indent="-265113">
              <a:spcBef>
                <a:spcPts val="1000"/>
              </a:spcBef>
              <a:buFont typeface="Webdings" panose="05030102010509060703" pitchFamily="18" charset="2"/>
              <a:buChar char=""/>
            </a:pPr>
            <a:r>
              <a:rPr lang="en-US" altLang="en-US" sz="2400" dirty="0"/>
              <a:t>For example, </a:t>
            </a:r>
            <a:endParaRPr lang="en-US" altLang="en-US" sz="2400" dirty="0" smtClean="0"/>
          </a:p>
          <a:p>
            <a:pPr lvl="1">
              <a:buFont typeface="Wingdings" panose="05000000000000000000" pitchFamily="2" charset="2"/>
              <a:buChar char="§"/>
            </a:pPr>
            <a:r>
              <a:rPr lang="en-US" altLang="en-US" sz="2200" dirty="0"/>
              <a:t>Suppose a client program uses some proprietary APIs for doing some tasks that are rarely needed, and because of the huge size of the necessary API files, they are kept in a server.</a:t>
            </a:r>
          </a:p>
          <a:p>
            <a:pPr lvl="1">
              <a:buFont typeface="Wingdings" panose="05000000000000000000" pitchFamily="2" charset="2"/>
              <a:buChar char="§"/>
            </a:pPr>
            <a:r>
              <a:rPr lang="en-US" altLang="en-US" sz="2200" dirty="0"/>
              <a:t>If the client ever needs to use those APIs, then it can first dynamically download the APIs and then use them</a:t>
            </a:r>
            <a:r>
              <a:rPr lang="en-US" altLang="en-US" sz="2200" dirty="0" smtClean="0"/>
              <a:t>.</a:t>
            </a:r>
            <a:endParaRPr lang="en-US" altLang="en-US" sz="2200" dirty="0"/>
          </a:p>
        </p:txBody>
      </p:sp>
      <p:sp>
        <p:nvSpPr>
          <p:cNvPr id="6" name="Content Placeholder 2">
            <a:extLst>
              <a:ext uri="{FF2B5EF4-FFF2-40B4-BE49-F238E27FC236}">
                <a16:creationId xmlns="" xmlns:a16="http://schemas.microsoft.com/office/drawing/2014/main" id="{139A428D-8F15-4206-B337-FA27C005FA71}"/>
              </a:ext>
            </a:extLst>
          </p:cNvPr>
          <p:cNvSpPr txBox="1">
            <a:spLocks/>
          </p:cNvSpPr>
          <p:nvPr/>
        </p:nvSpPr>
        <p:spPr>
          <a:xfrm>
            <a:off x="109964" y="3478056"/>
            <a:ext cx="6419424" cy="257984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lvl="1" indent="-265113">
              <a:spcBef>
                <a:spcPts val="1000"/>
              </a:spcBef>
              <a:buFont typeface="Webdings" panose="05030102010509060703" pitchFamily="18" charset="2"/>
              <a:buChar char=""/>
            </a:pPr>
            <a:r>
              <a:rPr lang="en-US" altLang="en-US" sz="2400" dirty="0" smtClean="0">
                <a:solidFill>
                  <a:schemeClr val="accent6"/>
                </a:solidFill>
              </a:rPr>
              <a:t>Advantage of this model</a:t>
            </a:r>
            <a:r>
              <a:rPr lang="en-US" altLang="en-US" sz="2400" dirty="0" smtClean="0"/>
              <a:t>: Clients need not have all the software preinstalled to do common tasks.</a:t>
            </a:r>
          </a:p>
          <a:p>
            <a:pPr marL="265113" lvl="1" indent="-265113">
              <a:spcBef>
                <a:spcPts val="1000"/>
              </a:spcBef>
              <a:buFont typeface="Webdings" panose="05030102010509060703" pitchFamily="18" charset="2"/>
              <a:buChar char=""/>
            </a:pPr>
            <a:r>
              <a:rPr lang="en-US" altLang="en-US" sz="2400" dirty="0" smtClean="0">
                <a:solidFill>
                  <a:schemeClr val="accent6"/>
                </a:solidFill>
              </a:rPr>
              <a:t>Disadvantage of this model </a:t>
            </a:r>
            <a:r>
              <a:rPr lang="en-US" altLang="en-US" sz="2400" dirty="0" smtClean="0"/>
              <a:t>: </a:t>
            </a:r>
            <a:r>
              <a:rPr lang="en-US" altLang="en-US" sz="2400" dirty="0" smtClean="0">
                <a:solidFill>
                  <a:srgbClr val="1D3064"/>
                </a:solidFill>
              </a:rPr>
              <a:t>Security</a:t>
            </a:r>
            <a:r>
              <a:rPr lang="en-US" altLang="en-US" sz="2400" dirty="0" smtClean="0"/>
              <a:t> - blindly trusting that the downloaded code implements only the advertised APIs while accessing your unprotected hard disk</a:t>
            </a:r>
            <a:endParaRPr lang="en-US" altLang="en-US" dirty="0"/>
          </a:p>
        </p:txBody>
      </p:sp>
      <p:grpSp>
        <p:nvGrpSpPr>
          <p:cNvPr id="7" name="Group 6"/>
          <p:cNvGrpSpPr/>
          <p:nvPr/>
        </p:nvGrpSpPr>
        <p:grpSpPr>
          <a:xfrm>
            <a:off x="6634316" y="3067905"/>
            <a:ext cx="5394195" cy="3400145"/>
            <a:chOff x="701805" y="1060413"/>
            <a:chExt cx="5394195" cy="3400145"/>
          </a:xfrm>
        </p:grpSpPr>
        <p:pic>
          <p:nvPicPr>
            <p:cNvPr id="8" name="Picture 7"/>
            <p:cNvPicPr>
              <a:picLocks noChangeAspect="1"/>
            </p:cNvPicPr>
            <p:nvPr/>
          </p:nvPicPr>
          <p:blipFill>
            <a:blip r:embed="rId2"/>
            <a:stretch>
              <a:fillRect/>
            </a:stretch>
          </p:blipFill>
          <p:spPr>
            <a:xfrm>
              <a:off x="1356063" y="1591846"/>
              <a:ext cx="4143375" cy="2505075"/>
            </a:xfrm>
            <a:prstGeom prst="rect">
              <a:avLst/>
            </a:prstGeom>
          </p:spPr>
        </p:pic>
        <p:sp>
          <p:nvSpPr>
            <p:cNvPr id="9" name="TextBox 8"/>
            <p:cNvSpPr txBox="1"/>
            <p:nvPr/>
          </p:nvSpPr>
          <p:spPr>
            <a:xfrm>
              <a:off x="1636464" y="1407180"/>
              <a:ext cx="764498" cy="369332"/>
            </a:xfrm>
            <a:prstGeom prst="rect">
              <a:avLst/>
            </a:prstGeom>
            <a:noFill/>
          </p:spPr>
          <p:txBody>
            <a:bodyPr wrap="square" rtlCol="0">
              <a:spAutoFit/>
            </a:bodyPr>
            <a:lstStyle/>
            <a:p>
              <a:r>
                <a:rPr lang="en-IN" b="1" dirty="0" smtClean="0"/>
                <a:t>Client</a:t>
              </a:r>
              <a:endParaRPr lang="en-IN" b="1" dirty="0"/>
            </a:p>
          </p:txBody>
        </p:sp>
        <p:sp>
          <p:nvSpPr>
            <p:cNvPr id="10" name="TextBox 9"/>
            <p:cNvSpPr txBox="1"/>
            <p:nvPr/>
          </p:nvSpPr>
          <p:spPr>
            <a:xfrm>
              <a:off x="4559507" y="1412875"/>
              <a:ext cx="806971" cy="369332"/>
            </a:xfrm>
            <a:prstGeom prst="rect">
              <a:avLst/>
            </a:prstGeom>
            <a:noFill/>
          </p:spPr>
          <p:txBody>
            <a:bodyPr wrap="square" rtlCol="0">
              <a:spAutoFit/>
            </a:bodyPr>
            <a:lstStyle/>
            <a:p>
              <a:r>
                <a:rPr lang="en-IN" b="1" dirty="0" smtClean="0"/>
                <a:t>Server</a:t>
              </a:r>
              <a:endParaRPr lang="en-IN" b="1" dirty="0"/>
            </a:p>
          </p:txBody>
        </p:sp>
        <p:sp>
          <p:nvSpPr>
            <p:cNvPr id="11" name="TextBox 10"/>
            <p:cNvSpPr txBox="1"/>
            <p:nvPr/>
          </p:nvSpPr>
          <p:spPr>
            <a:xfrm>
              <a:off x="701805" y="3348618"/>
              <a:ext cx="1784376" cy="646331"/>
            </a:xfrm>
            <a:prstGeom prst="rect">
              <a:avLst/>
            </a:prstGeom>
            <a:noFill/>
          </p:spPr>
          <p:txBody>
            <a:bodyPr wrap="square" rtlCol="0">
              <a:spAutoFit/>
            </a:bodyPr>
            <a:lstStyle/>
            <a:p>
              <a:r>
                <a:rPr lang="en-IN" dirty="0" smtClean="0">
                  <a:solidFill>
                    <a:srgbClr val="1D3064"/>
                  </a:solidFill>
                </a:rPr>
                <a:t>Service-specific</a:t>
              </a:r>
            </a:p>
            <a:p>
              <a:r>
                <a:rPr lang="en-IN" dirty="0" smtClean="0">
                  <a:solidFill>
                    <a:srgbClr val="1D3064"/>
                  </a:solidFill>
                </a:rPr>
                <a:t>Client-side code</a:t>
              </a:r>
              <a:endParaRPr lang="en-IN" dirty="0">
                <a:solidFill>
                  <a:srgbClr val="1D3064"/>
                </a:solidFill>
              </a:endParaRPr>
            </a:p>
          </p:txBody>
        </p:sp>
        <p:sp>
          <p:nvSpPr>
            <p:cNvPr id="12" name="TextBox 11"/>
            <p:cNvSpPr txBox="1"/>
            <p:nvPr/>
          </p:nvSpPr>
          <p:spPr>
            <a:xfrm>
              <a:off x="2775132" y="4091226"/>
              <a:ext cx="1784376" cy="369332"/>
            </a:xfrm>
            <a:prstGeom prst="rect">
              <a:avLst/>
            </a:prstGeom>
            <a:noFill/>
          </p:spPr>
          <p:txBody>
            <a:bodyPr wrap="square" rtlCol="0">
              <a:spAutoFit/>
            </a:bodyPr>
            <a:lstStyle/>
            <a:p>
              <a:r>
                <a:rPr lang="en-IN" b="1" dirty="0" smtClean="0">
                  <a:solidFill>
                    <a:schemeClr val="accent6"/>
                  </a:solidFill>
                </a:rPr>
                <a:t>Code repository</a:t>
              </a:r>
              <a:endParaRPr lang="en-IN" b="1" dirty="0">
                <a:solidFill>
                  <a:schemeClr val="accent6"/>
                </a:solidFill>
              </a:endParaRPr>
            </a:p>
          </p:txBody>
        </p:sp>
        <p:sp>
          <p:nvSpPr>
            <p:cNvPr id="13" name="TextBox 12"/>
            <p:cNvSpPr txBox="1"/>
            <p:nvPr/>
          </p:nvSpPr>
          <p:spPr>
            <a:xfrm>
              <a:off x="2611954" y="1060413"/>
              <a:ext cx="2049749" cy="646331"/>
            </a:xfrm>
            <a:prstGeom prst="rect">
              <a:avLst/>
            </a:prstGeom>
            <a:noFill/>
          </p:spPr>
          <p:txBody>
            <a:bodyPr wrap="square" rtlCol="0">
              <a:spAutoFit/>
            </a:bodyPr>
            <a:lstStyle/>
            <a:p>
              <a:r>
                <a:rPr lang="en-IN" b="1" dirty="0" smtClean="0">
                  <a:solidFill>
                    <a:srgbClr val="1D3064"/>
                  </a:solidFill>
                </a:rPr>
                <a:t>2. Client and Server</a:t>
              </a:r>
            </a:p>
            <a:p>
              <a:r>
                <a:rPr lang="en-IN" b="1" dirty="0" smtClean="0">
                  <a:solidFill>
                    <a:srgbClr val="1D3064"/>
                  </a:solidFill>
                </a:rPr>
                <a:t>Communicate</a:t>
              </a:r>
              <a:endParaRPr lang="en-IN" b="1" dirty="0">
                <a:solidFill>
                  <a:srgbClr val="1D3064"/>
                </a:solidFill>
              </a:endParaRPr>
            </a:p>
          </p:txBody>
        </p:sp>
        <p:sp>
          <p:nvSpPr>
            <p:cNvPr id="14" name="TextBox 13"/>
            <p:cNvSpPr txBox="1"/>
            <p:nvPr/>
          </p:nvSpPr>
          <p:spPr>
            <a:xfrm>
              <a:off x="3791964" y="3348618"/>
              <a:ext cx="2304036" cy="369332"/>
            </a:xfrm>
            <a:prstGeom prst="rect">
              <a:avLst/>
            </a:prstGeom>
            <a:noFill/>
          </p:spPr>
          <p:txBody>
            <a:bodyPr wrap="square" rtlCol="0">
              <a:spAutoFit/>
            </a:bodyPr>
            <a:lstStyle/>
            <a:p>
              <a:r>
                <a:rPr lang="en-IN" b="1" dirty="0" smtClean="0">
                  <a:solidFill>
                    <a:srgbClr val="1D3064"/>
                  </a:solidFill>
                </a:rPr>
                <a:t>1. Client fetches code</a:t>
              </a:r>
              <a:endParaRPr lang="en-IN" b="1" dirty="0">
                <a:solidFill>
                  <a:srgbClr val="1D3064"/>
                </a:solidFill>
              </a:endParaRPr>
            </a:p>
          </p:txBody>
        </p:sp>
      </p:grpSp>
    </p:spTree>
    <p:extLst>
      <p:ext uri="{BB962C8B-B14F-4D97-AF65-F5344CB8AC3E}">
        <p14:creationId xmlns:p14="http://schemas.microsoft.com/office/powerpoint/2010/main" val="3029646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Models for Code Migration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en-US" altLang="en-US" sz="2400" dirty="0"/>
              <a:t>To get a better understanding of the different models for code migration, we use a framework </a:t>
            </a:r>
            <a:r>
              <a:rPr lang="en-US" altLang="en-US" sz="2400" dirty="0" smtClean="0"/>
              <a:t>described in </a:t>
            </a:r>
            <a:r>
              <a:rPr lang="en-US" altLang="en-US" sz="2400" dirty="0" err="1"/>
              <a:t>Fuggetta</a:t>
            </a:r>
            <a:r>
              <a:rPr lang="en-US" altLang="en-US" sz="2400" dirty="0"/>
              <a:t> et al. (1998).</a:t>
            </a:r>
          </a:p>
          <a:p>
            <a:pPr marL="265113" lvl="1" indent="-265113">
              <a:spcBef>
                <a:spcPts val="1000"/>
              </a:spcBef>
              <a:buFont typeface="Webdings" panose="05030102010509060703" pitchFamily="18" charset="2"/>
              <a:buChar char=""/>
            </a:pPr>
            <a:r>
              <a:rPr lang="en-US" altLang="en-US" sz="2400" dirty="0"/>
              <a:t>In this framework, a process consists of three segments. </a:t>
            </a:r>
          </a:p>
          <a:p>
            <a:pPr marL="914400" lvl="1" indent="-457200">
              <a:buFont typeface="+mj-lt"/>
              <a:buAutoNum type="arabicPeriod"/>
            </a:pPr>
            <a:r>
              <a:rPr lang="en-US" altLang="en-US" sz="2400" dirty="0" smtClean="0">
                <a:solidFill>
                  <a:schemeClr val="accent6"/>
                </a:solidFill>
              </a:rPr>
              <a:t>The </a:t>
            </a:r>
            <a:r>
              <a:rPr lang="en-US" altLang="en-US" sz="2400" dirty="0">
                <a:solidFill>
                  <a:schemeClr val="accent6"/>
                </a:solidFill>
              </a:rPr>
              <a:t>code </a:t>
            </a:r>
            <a:r>
              <a:rPr lang="en-US" altLang="en-US" sz="2400" dirty="0" smtClean="0">
                <a:solidFill>
                  <a:schemeClr val="accent6"/>
                </a:solidFill>
              </a:rPr>
              <a:t>segment: </a:t>
            </a:r>
            <a:r>
              <a:rPr lang="en-US" altLang="en-US" sz="2400" dirty="0" smtClean="0"/>
              <a:t>It </a:t>
            </a:r>
            <a:r>
              <a:rPr lang="en-US" altLang="en-US" sz="2400" dirty="0"/>
              <a:t>is the part that contains the set of instructions that make up the program that is being executed.</a:t>
            </a:r>
          </a:p>
          <a:p>
            <a:pPr marL="914400" lvl="1" indent="-457200">
              <a:buFont typeface="+mj-lt"/>
              <a:buAutoNum type="arabicPeriod"/>
            </a:pPr>
            <a:r>
              <a:rPr lang="en-US" altLang="en-US" sz="2400" dirty="0" smtClean="0">
                <a:solidFill>
                  <a:schemeClr val="accent6"/>
                </a:solidFill>
              </a:rPr>
              <a:t>The </a:t>
            </a:r>
            <a:r>
              <a:rPr lang="en-US" altLang="en-US" sz="2400" dirty="0">
                <a:solidFill>
                  <a:schemeClr val="accent6"/>
                </a:solidFill>
              </a:rPr>
              <a:t>resource segment: </a:t>
            </a:r>
            <a:r>
              <a:rPr lang="en-US" altLang="en-US" sz="2400" dirty="0" smtClean="0"/>
              <a:t>It contains </a:t>
            </a:r>
            <a:r>
              <a:rPr lang="en-US" altLang="en-US" sz="2400" dirty="0"/>
              <a:t>references to external resources needed by the process, such as files, printers, devices, other processes, and so on.</a:t>
            </a:r>
          </a:p>
          <a:p>
            <a:pPr marL="914400" lvl="1" indent="-457200">
              <a:buFont typeface="+mj-lt"/>
              <a:buAutoNum type="arabicPeriod"/>
            </a:pPr>
            <a:r>
              <a:rPr lang="en-US" altLang="en-US" sz="2400" dirty="0" smtClean="0">
                <a:solidFill>
                  <a:schemeClr val="accent6"/>
                </a:solidFill>
              </a:rPr>
              <a:t>The </a:t>
            </a:r>
            <a:r>
              <a:rPr lang="en-US" altLang="en-US" sz="2400" dirty="0">
                <a:solidFill>
                  <a:schemeClr val="accent6"/>
                </a:solidFill>
              </a:rPr>
              <a:t>execution </a:t>
            </a:r>
            <a:r>
              <a:rPr lang="en-US" altLang="en-US" sz="2400" dirty="0" smtClean="0">
                <a:solidFill>
                  <a:schemeClr val="accent6"/>
                </a:solidFill>
              </a:rPr>
              <a:t>segment: </a:t>
            </a:r>
            <a:r>
              <a:rPr lang="en-US" altLang="en-US" sz="2400" dirty="0" smtClean="0"/>
              <a:t>It</a:t>
            </a:r>
            <a:r>
              <a:rPr lang="en-US" altLang="en-US" sz="2400" dirty="0" smtClean="0">
                <a:solidFill>
                  <a:schemeClr val="accent6"/>
                </a:solidFill>
              </a:rPr>
              <a:t> </a:t>
            </a:r>
            <a:r>
              <a:rPr lang="en-US" altLang="en-US" sz="2400" dirty="0"/>
              <a:t>is used to store the current execution state of a process, consisting of private data, the stack, and, of course, the program counter. </a:t>
            </a:r>
            <a:endParaRPr lang="en-US" altLang="en-US" sz="2400" dirty="0" smtClean="0"/>
          </a:p>
          <a:p>
            <a:pPr marL="914400" lvl="1" indent="-457200">
              <a:buFont typeface="+mj-lt"/>
              <a:buAutoNum type="arabicPeriod"/>
            </a:pPr>
            <a:endParaRPr lang="en-US" altLang="en-US" sz="2400" dirty="0"/>
          </a:p>
        </p:txBody>
      </p:sp>
    </p:spTree>
    <p:extLst>
      <p:ext uri="{BB962C8B-B14F-4D97-AF65-F5344CB8AC3E}">
        <p14:creationId xmlns:p14="http://schemas.microsoft.com/office/powerpoint/2010/main" val="1141089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Weak Mobility Vs. Strong Mobility</a:t>
            </a:r>
          </a:p>
        </p:txBody>
      </p:sp>
      <p:sp>
        <p:nvSpPr>
          <p:cNvPr id="5" name="AutoShape 3"/>
          <p:cNvSpPr>
            <a:spLocks noChangeAspect="1" noChangeArrowheads="1" noTextEdit="1"/>
          </p:cNvSpPr>
          <p:nvPr/>
        </p:nvSpPr>
        <p:spPr bwMode="auto">
          <a:xfrm>
            <a:off x="71438" y="1069975"/>
            <a:ext cx="12049125" cy="471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2" name="Line 20"/>
          <p:cNvSpPr>
            <a:spLocks noChangeShapeType="1"/>
          </p:cNvSpPr>
          <p:nvPr/>
        </p:nvSpPr>
        <p:spPr bwMode="auto">
          <a:xfrm>
            <a:off x="2220913" y="1068388"/>
            <a:ext cx="0" cy="47132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3" name="Line 21"/>
          <p:cNvSpPr>
            <a:spLocks noChangeShapeType="1"/>
          </p:cNvSpPr>
          <p:nvPr/>
        </p:nvSpPr>
        <p:spPr bwMode="auto">
          <a:xfrm>
            <a:off x="6621463" y="1068388"/>
            <a:ext cx="0" cy="47132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8" name="Line 26"/>
          <p:cNvSpPr>
            <a:spLocks noChangeShapeType="1"/>
          </p:cNvSpPr>
          <p:nvPr/>
        </p:nvSpPr>
        <p:spPr bwMode="auto">
          <a:xfrm>
            <a:off x="77788" y="1068388"/>
            <a:ext cx="0" cy="47132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9" name="Line 27"/>
          <p:cNvSpPr>
            <a:spLocks noChangeShapeType="1"/>
          </p:cNvSpPr>
          <p:nvPr/>
        </p:nvSpPr>
        <p:spPr bwMode="auto">
          <a:xfrm>
            <a:off x="12096751" y="1068388"/>
            <a:ext cx="0" cy="47132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28" name="Group 127"/>
          <p:cNvGrpSpPr/>
          <p:nvPr/>
        </p:nvGrpSpPr>
        <p:grpSpPr>
          <a:xfrm>
            <a:off x="71438" y="1657350"/>
            <a:ext cx="12058651" cy="1220788"/>
            <a:chOff x="71438" y="1657350"/>
            <a:chExt cx="12058651" cy="1220788"/>
          </a:xfrm>
        </p:grpSpPr>
        <p:sp>
          <p:nvSpPr>
            <p:cNvPr id="9" name="Rectangle 8"/>
            <p:cNvSpPr>
              <a:spLocks noChangeArrowheads="1"/>
            </p:cNvSpPr>
            <p:nvPr/>
          </p:nvSpPr>
          <p:spPr bwMode="auto">
            <a:xfrm>
              <a:off x="77788" y="1657350"/>
              <a:ext cx="2143125" cy="1220788"/>
            </a:xfrm>
            <a:prstGeom prst="rect">
              <a:avLst/>
            </a:prstGeom>
            <a:solidFill>
              <a:srgbClr val="1D3064"/>
            </a:solidFill>
            <a:ln>
              <a:noFill/>
            </a:ln>
          </p:spPr>
          <p:txBody>
            <a:bodyPr vert="horz" wrap="square" lIns="91440" tIns="45720" rIns="91440" bIns="45720" numCol="1" anchor="t" anchorCtr="0" compatLnSpc="1">
              <a:prstTxWarp prst="textNoShape">
                <a:avLst/>
              </a:prstTxWarp>
            </a:bodyPr>
            <a:lstStyle/>
            <a:p>
              <a:endParaRPr lang="en-IN"/>
            </a:p>
          </p:txBody>
        </p:sp>
        <p:sp>
          <p:nvSpPr>
            <p:cNvPr id="10" name="Rectangle 9"/>
            <p:cNvSpPr>
              <a:spLocks noChangeArrowheads="1"/>
            </p:cNvSpPr>
            <p:nvPr/>
          </p:nvSpPr>
          <p:spPr bwMode="auto">
            <a:xfrm>
              <a:off x="2220913" y="1658938"/>
              <a:ext cx="4400550" cy="121920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 name="Rectangle 10"/>
            <p:cNvSpPr>
              <a:spLocks noChangeArrowheads="1"/>
            </p:cNvSpPr>
            <p:nvPr/>
          </p:nvSpPr>
          <p:spPr bwMode="auto">
            <a:xfrm>
              <a:off x="6621463" y="1658938"/>
              <a:ext cx="5475288" cy="121920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5" name="Line 23"/>
            <p:cNvSpPr>
              <a:spLocks noChangeShapeType="1"/>
            </p:cNvSpPr>
            <p:nvPr/>
          </p:nvSpPr>
          <p:spPr bwMode="auto">
            <a:xfrm>
              <a:off x="71438" y="2878138"/>
              <a:ext cx="12030075"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4" name="Rectangle 32"/>
            <p:cNvSpPr>
              <a:spLocks noChangeArrowheads="1"/>
            </p:cNvSpPr>
            <p:nvPr/>
          </p:nvSpPr>
          <p:spPr bwMode="auto">
            <a:xfrm>
              <a:off x="169863" y="1766888"/>
              <a:ext cx="13493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FFFFFF"/>
                  </a:solidFill>
                  <a:effectLst/>
                  <a:latin typeface="Roboto Condensed" panose="02000000000000000000" pitchFamily="2" charset="0"/>
                </a:rPr>
                <a:t>Definition</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5" name="Rectangle 33"/>
            <p:cNvSpPr>
              <a:spLocks noChangeArrowheads="1"/>
            </p:cNvSpPr>
            <p:nvPr/>
          </p:nvSpPr>
          <p:spPr bwMode="auto">
            <a:xfrm>
              <a:off x="2314576" y="1763713"/>
              <a:ext cx="314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In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6" name="Rectangle 34"/>
            <p:cNvSpPr>
              <a:spLocks noChangeArrowheads="1"/>
            </p:cNvSpPr>
            <p:nvPr/>
          </p:nvSpPr>
          <p:spPr bwMode="auto">
            <a:xfrm>
              <a:off x="2620963" y="1763713"/>
              <a:ext cx="498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this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7" name="Rectangle 35"/>
            <p:cNvSpPr>
              <a:spLocks noChangeArrowheads="1"/>
            </p:cNvSpPr>
            <p:nvPr/>
          </p:nvSpPr>
          <p:spPr bwMode="auto">
            <a:xfrm>
              <a:off x="3111501" y="1763713"/>
              <a:ext cx="800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model,</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8" name="Rectangle 36"/>
            <p:cNvSpPr>
              <a:spLocks noChangeArrowheads="1"/>
            </p:cNvSpPr>
            <p:nvPr/>
          </p:nvSpPr>
          <p:spPr bwMode="auto">
            <a:xfrm>
              <a:off x="3900488" y="1763713"/>
              <a:ext cx="258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it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9" name="Rectangle 37"/>
            <p:cNvSpPr>
              <a:spLocks noChangeArrowheads="1"/>
            </p:cNvSpPr>
            <p:nvPr/>
          </p:nvSpPr>
          <p:spPr bwMode="auto">
            <a:xfrm>
              <a:off x="4156076" y="1763713"/>
              <a:ext cx="30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is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0" name="Rectangle 38"/>
            <p:cNvSpPr>
              <a:spLocks noChangeArrowheads="1"/>
            </p:cNvSpPr>
            <p:nvPr/>
          </p:nvSpPr>
          <p:spPr bwMode="auto">
            <a:xfrm>
              <a:off x="4449763" y="1763713"/>
              <a:ext cx="969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possible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1" name="Rectangle 39"/>
            <p:cNvSpPr>
              <a:spLocks noChangeArrowheads="1"/>
            </p:cNvSpPr>
            <p:nvPr/>
          </p:nvSpPr>
          <p:spPr bwMode="auto">
            <a:xfrm>
              <a:off x="5414963" y="1763713"/>
              <a:ext cx="328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to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2" name="Rectangle 40"/>
            <p:cNvSpPr>
              <a:spLocks noChangeArrowheads="1"/>
            </p:cNvSpPr>
            <p:nvPr/>
          </p:nvSpPr>
          <p:spPr bwMode="auto">
            <a:xfrm>
              <a:off x="5737226" y="1763713"/>
              <a:ext cx="917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transfer</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3" name="Rectangle 41"/>
            <p:cNvSpPr>
              <a:spLocks noChangeArrowheads="1"/>
            </p:cNvSpPr>
            <p:nvPr/>
          </p:nvSpPr>
          <p:spPr bwMode="auto">
            <a:xfrm>
              <a:off x="2314576" y="2068513"/>
              <a:ext cx="542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only</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4" name="Rectangle 42"/>
            <p:cNvSpPr>
              <a:spLocks noChangeArrowheads="1"/>
            </p:cNvSpPr>
            <p:nvPr/>
          </p:nvSpPr>
          <p:spPr bwMode="auto">
            <a:xfrm>
              <a:off x="2949576" y="2068513"/>
              <a:ext cx="442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the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5" name="Rectangle 43"/>
            <p:cNvSpPr>
              <a:spLocks noChangeArrowheads="1"/>
            </p:cNvSpPr>
            <p:nvPr/>
          </p:nvSpPr>
          <p:spPr bwMode="auto">
            <a:xfrm>
              <a:off x="3486151" y="2068513"/>
              <a:ext cx="617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code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6" name="Rectangle 44"/>
            <p:cNvSpPr>
              <a:spLocks noChangeArrowheads="1"/>
            </p:cNvSpPr>
            <p:nvPr/>
          </p:nvSpPr>
          <p:spPr bwMode="auto">
            <a:xfrm>
              <a:off x="4194176" y="2068513"/>
              <a:ext cx="1044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212121"/>
                  </a:solidFill>
                  <a:effectLst/>
                  <a:latin typeface="Roboto Condensed" panose="02000000000000000000" pitchFamily="2" charset="0"/>
                </a:rPr>
                <a:t>segment,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7" name="Rectangle 45"/>
            <p:cNvSpPr>
              <a:spLocks noChangeArrowheads="1"/>
            </p:cNvSpPr>
            <p:nvPr/>
          </p:nvSpPr>
          <p:spPr bwMode="auto">
            <a:xfrm>
              <a:off x="5332413" y="2068513"/>
              <a:ext cx="682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along</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8" name="Rectangle 46"/>
            <p:cNvSpPr>
              <a:spLocks noChangeArrowheads="1"/>
            </p:cNvSpPr>
            <p:nvPr/>
          </p:nvSpPr>
          <p:spPr bwMode="auto">
            <a:xfrm>
              <a:off x="6107113" y="2068513"/>
              <a:ext cx="549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with</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9" name="Rectangle 47"/>
            <p:cNvSpPr>
              <a:spLocks noChangeArrowheads="1"/>
            </p:cNvSpPr>
            <p:nvPr/>
          </p:nvSpPr>
          <p:spPr bwMode="auto">
            <a:xfrm>
              <a:off x="2314576" y="2373313"/>
              <a:ext cx="933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perhaps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0" name="Rectangle 48"/>
            <p:cNvSpPr>
              <a:spLocks noChangeArrowheads="1"/>
            </p:cNvSpPr>
            <p:nvPr/>
          </p:nvSpPr>
          <p:spPr bwMode="auto">
            <a:xfrm>
              <a:off x="3181351" y="2373313"/>
              <a:ext cx="681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some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1" name="Rectangle 49"/>
            <p:cNvSpPr>
              <a:spLocks noChangeArrowheads="1"/>
            </p:cNvSpPr>
            <p:nvPr/>
          </p:nvSpPr>
          <p:spPr bwMode="auto">
            <a:xfrm>
              <a:off x="3792538" y="2373313"/>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initialization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2" name="Rectangle 50"/>
            <p:cNvSpPr>
              <a:spLocks noChangeArrowheads="1"/>
            </p:cNvSpPr>
            <p:nvPr/>
          </p:nvSpPr>
          <p:spPr bwMode="auto">
            <a:xfrm>
              <a:off x="5080001" y="2373313"/>
              <a:ext cx="571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data</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3" name="Rectangle 51"/>
            <p:cNvSpPr>
              <a:spLocks noChangeArrowheads="1"/>
            </p:cNvSpPr>
            <p:nvPr/>
          </p:nvSpPr>
          <p:spPr bwMode="auto">
            <a:xfrm>
              <a:off x="5526088" y="2373313"/>
              <a:ext cx="193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4" name="Rectangle 52"/>
            <p:cNvSpPr>
              <a:spLocks noChangeArrowheads="1"/>
            </p:cNvSpPr>
            <p:nvPr/>
          </p:nvSpPr>
          <p:spPr bwMode="auto">
            <a:xfrm>
              <a:off x="6711951" y="1763713"/>
              <a:ext cx="314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In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5" name="Rectangle 53"/>
            <p:cNvSpPr>
              <a:spLocks noChangeArrowheads="1"/>
            </p:cNvSpPr>
            <p:nvPr/>
          </p:nvSpPr>
          <p:spPr bwMode="auto">
            <a:xfrm>
              <a:off x="6964363" y="1763713"/>
              <a:ext cx="9604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contrast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6" name="Rectangle 54"/>
            <p:cNvSpPr>
              <a:spLocks noChangeArrowheads="1"/>
            </p:cNvSpPr>
            <p:nvPr/>
          </p:nvSpPr>
          <p:spPr bwMode="auto">
            <a:xfrm>
              <a:off x="7859713" y="1763713"/>
              <a:ext cx="328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to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7" name="Rectangle 55"/>
            <p:cNvSpPr>
              <a:spLocks noChangeArrowheads="1"/>
            </p:cNvSpPr>
            <p:nvPr/>
          </p:nvSpPr>
          <p:spPr bwMode="auto">
            <a:xfrm>
              <a:off x="8126413" y="1763713"/>
              <a:ext cx="647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weak</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8" name="Rectangle 56"/>
            <p:cNvSpPr>
              <a:spLocks noChangeArrowheads="1"/>
            </p:cNvSpPr>
            <p:nvPr/>
          </p:nvSpPr>
          <p:spPr bwMode="auto">
            <a:xfrm>
              <a:off x="8712201" y="1763713"/>
              <a:ext cx="976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mobility,</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9" name="Rectangle 57"/>
            <p:cNvSpPr>
              <a:spLocks noChangeArrowheads="1"/>
            </p:cNvSpPr>
            <p:nvPr/>
          </p:nvSpPr>
          <p:spPr bwMode="auto">
            <a:xfrm>
              <a:off x="9626601" y="1763713"/>
              <a:ext cx="307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in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0" name="Rectangle 58"/>
            <p:cNvSpPr>
              <a:spLocks noChangeArrowheads="1"/>
            </p:cNvSpPr>
            <p:nvPr/>
          </p:nvSpPr>
          <p:spPr bwMode="auto">
            <a:xfrm>
              <a:off x="9872663" y="1763713"/>
              <a:ext cx="9667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systems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1" name="Rectangle 59"/>
            <p:cNvSpPr>
              <a:spLocks noChangeArrowheads="1"/>
            </p:cNvSpPr>
            <p:nvPr/>
          </p:nvSpPr>
          <p:spPr bwMode="auto">
            <a:xfrm>
              <a:off x="10775951" y="1763713"/>
              <a:ext cx="520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that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2" name="Rectangle 60"/>
            <p:cNvSpPr>
              <a:spLocks noChangeArrowheads="1"/>
            </p:cNvSpPr>
            <p:nvPr/>
          </p:nvSpPr>
          <p:spPr bwMode="auto">
            <a:xfrm>
              <a:off x="11234738" y="1763713"/>
              <a:ext cx="895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support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3" name="Rectangle 61"/>
            <p:cNvSpPr>
              <a:spLocks noChangeArrowheads="1"/>
            </p:cNvSpPr>
            <p:nvPr/>
          </p:nvSpPr>
          <p:spPr bwMode="auto">
            <a:xfrm>
              <a:off x="6711951" y="2068513"/>
              <a:ext cx="771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212121"/>
                  </a:solidFill>
                  <a:effectLst/>
                  <a:latin typeface="Roboto Condensed" panose="02000000000000000000" pitchFamily="2" charset="0"/>
                </a:rPr>
                <a:t>strong</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4" name="Rectangle 62"/>
            <p:cNvSpPr>
              <a:spLocks noChangeArrowheads="1"/>
            </p:cNvSpPr>
            <p:nvPr/>
          </p:nvSpPr>
          <p:spPr bwMode="auto">
            <a:xfrm>
              <a:off x="7537451" y="2068513"/>
              <a:ext cx="927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mobility</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5" name="Rectangle 63"/>
            <p:cNvSpPr>
              <a:spLocks noChangeArrowheads="1"/>
            </p:cNvSpPr>
            <p:nvPr/>
          </p:nvSpPr>
          <p:spPr bwMode="auto">
            <a:xfrm>
              <a:off x="8518526" y="2068513"/>
              <a:ext cx="442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the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6" name="Rectangle 64"/>
            <p:cNvSpPr>
              <a:spLocks noChangeArrowheads="1"/>
            </p:cNvSpPr>
            <p:nvPr/>
          </p:nvSpPr>
          <p:spPr bwMode="auto">
            <a:xfrm>
              <a:off x="9017001" y="2068513"/>
              <a:ext cx="1100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execution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7" name="Rectangle 65"/>
            <p:cNvSpPr>
              <a:spLocks noChangeArrowheads="1"/>
            </p:cNvSpPr>
            <p:nvPr/>
          </p:nvSpPr>
          <p:spPr bwMode="auto">
            <a:xfrm>
              <a:off x="10169526" y="2068513"/>
              <a:ext cx="9953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segment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8" name="Rectangle 66"/>
            <p:cNvSpPr>
              <a:spLocks noChangeArrowheads="1"/>
            </p:cNvSpPr>
            <p:nvPr/>
          </p:nvSpPr>
          <p:spPr bwMode="auto">
            <a:xfrm>
              <a:off x="11215688" y="2068513"/>
              <a:ext cx="488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can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9" name="Rectangle 67"/>
            <p:cNvSpPr>
              <a:spLocks noChangeArrowheads="1"/>
            </p:cNvSpPr>
            <p:nvPr/>
          </p:nvSpPr>
          <p:spPr bwMode="auto">
            <a:xfrm>
              <a:off x="11760201" y="2068513"/>
              <a:ext cx="369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be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0" name="Rectangle 68"/>
            <p:cNvSpPr>
              <a:spLocks noChangeArrowheads="1"/>
            </p:cNvSpPr>
            <p:nvPr/>
          </p:nvSpPr>
          <p:spPr bwMode="auto">
            <a:xfrm>
              <a:off x="6711951" y="2373313"/>
              <a:ext cx="1239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transferred</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1" name="Rectangle 69"/>
            <p:cNvSpPr>
              <a:spLocks noChangeArrowheads="1"/>
            </p:cNvSpPr>
            <p:nvPr/>
          </p:nvSpPr>
          <p:spPr bwMode="auto">
            <a:xfrm>
              <a:off x="7883526" y="2373313"/>
              <a:ext cx="363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2" name="Rectangle 70"/>
            <p:cNvSpPr>
              <a:spLocks noChangeArrowheads="1"/>
            </p:cNvSpPr>
            <p:nvPr/>
          </p:nvSpPr>
          <p:spPr bwMode="auto">
            <a:xfrm>
              <a:off x="8181976" y="2373313"/>
              <a:ext cx="527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well</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3" name="Rectangle 71"/>
            <p:cNvSpPr>
              <a:spLocks noChangeArrowheads="1"/>
            </p:cNvSpPr>
            <p:nvPr/>
          </p:nvSpPr>
          <p:spPr bwMode="auto">
            <a:xfrm>
              <a:off x="8582026" y="2373313"/>
              <a:ext cx="193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grpSp>
        <p:nvGrpSpPr>
          <p:cNvPr id="129" name="Group 128"/>
          <p:cNvGrpSpPr/>
          <p:nvPr/>
        </p:nvGrpSpPr>
        <p:grpSpPr>
          <a:xfrm>
            <a:off x="71438" y="2892426"/>
            <a:ext cx="12065001" cy="1225550"/>
            <a:chOff x="71438" y="2878138"/>
            <a:chExt cx="12065001" cy="1225550"/>
          </a:xfrm>
        </p:grpSpPr>
        <p:sp>
          <p:nvSpPr>
            <p:cNvPr id="12" name="Rectangle 11"/>
            <p:cNvSpPr>
              <a:spLocks noChangeArrowheads="1"/>
            </p:cNvSpPr>
            <p:nvPr/>
          </p:nvSpPr>
          <p:spPr bwMode="auto">
            <a:xfrm>
              <a:off x="77788" y="2878138"/>
              <a:ext cx="2143125" cy="1223963"/>
            </a:xfrm>
            <a:prstGeom prst="rect">
              <a:avLst/>
            </a:prstGeom>
            <a:solidFill>
              <a:srgbClr val="1D3064"/>
            </a:solidFill>
            <a:ln>
              <a:noFill/>
            </a:ln>
          </p:spPr>
          <p:txBody>
            <a:bodyPr vert="horz" wrap="square" lIns="91440" tIns="45720" rIns="91440" bIns="45720" numCol="1" anchor="t" anchorCtr="0" compatLnSpc="1">
              <a:prstTxWarp prst="textNoShape">
                <a:avLst/>
              </a:prstTxWarp>
            </a:bodyPr>
            <a:lstStyle/>
            <a:p>
              <a:endParaRPr lang="en-IN"/>
            </a:p>
          </p:txBody>
        </p:sp>
        <p:sp>
          <p:nvSpPr>
            <p:cNvPr id="14" name="Rectangle 12"/>
            <p:cNvSpPr>
              <a:spLocks noChangeArrowheads="1"/>
            </p:cNvSpPr>
            <p:nvPr/>
          </p:nvSpPr>
          <p:spPr bwMode="auto">
            <a:xfrm>
              <a:off x="2220913" y="2878138"/>
              <a:ext cx="4400550" cy="1225550"/>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5" name="Rectangle 13"/>
            <p:cNvSpPr>
              <a:spLocks noChangeArrowheads="1"/>
            </p:cNvSpPr>
            <p:nvPr/>
          </p:nvSpPr>
          <p:spPr bwMode="auto">
            <a:xfrm>
              <a:off x="6621463" y="2878138"/>
              <a:ext cx="5475288" cy="1225550"/>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6" name="Line 24"/>
            <p:cNvSpPr>
              <a:spLocks noChangeShapeType="1"/>
            </p:cNvSpPr>
            <p:nvPr/>
          </p:nvSpPr>
          <p:spPr bwMode="auto">
            <a:xfrm>
              <a:off x="71438" y="4103688"/>
              <a:ext cx="12030075"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4" name="Rectangle 72"/>
            <p:cNvSpPr>
              <a:spLocks noChangeArrowheads="1"/>
            </p:cNvSpPr>
            <p:nvPr/>
          </p:nvSpPr>
          <p:spPr bwMode="auto">
            <a:xfrm>
              <a:off x="169863" y="2987675"/>
              <a:ext cx="19415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Characteristic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5" name="Rectangle 73"/>
            <p:cNvSpPr>
              <a:spLocks noChangeArrowheads="1"/>
            </p:cNvSpPr>
            <p:nvPr/>
          </p:nvSpPr>
          <p:spPr bwMode="auto">
            <a:xfrm>
              <a:off x="169863" y="3352800"/>
              <a:ext cx="10810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Feature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6" name="Rectangle 74"/>
            <p:cNvSpPr>
              <a:spLocks noChangeArrowheads="1"/>
            </p:cNvSpPr>
            <p:nvPr/>
          </p:nvSpPr>
          <p:spPr bwMode="auto">
            <a:xfrm>
              <a:off x="2314576" y="2984500"/>
              <a:ext cx="273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7" name="Rectangle 75"/>
            <p:cNvSpPr>
              <a:spLocks noChangeArrowheads="1"/>
            </p:cNvSpPr>
            <p:nvPr/>
          </p:nvSpPr>
          <p:spPr bwMode="auto">
            <a:xfrm>
              <a:off x="2566988" y="2984500"/>
              <a:ext cx="1239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transferred</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8" name="Rectangle 76"/>
            <p:cNvSpPr>
              <a:spLocks noChangeArrowheads="1"/>
            </p:cNvSpPr>
            <p:nvPr/>
          </p:nvSpPr>
          <p:spPr bwMode="auto">
            <a:xfrm>
              <a:off x="3786188" y="2984500"/>
              <a:ext cx="973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program</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9" name="Rectangle 77"/>
            <p:cNvSpPr>
              <a:spLocks noChangeArrowheads="1"/>
            </p:cNvSpPr>
            <p:nvPr/>
          </p:nvSpPr>
          <p:spPr bwMode="auto">
            <a:xfrm>
              <a:off x="4740276" y="2984500"/>
              <a:ext cx="30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is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0" name="Rectangle 78"/>
            <p:cNvSpPr>
              <a:spLocks noChangeArrowheads="1"/>
            </p:cNvSpPr>
            <p:nvPr/>
          </p:nvSpPr>
          <p:spPr bwMode="auto">
            <a:xfrm>
              <a:off x="5021263" y="2984500"/>
              <a:ext cx="817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always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1" name="Rectangle 79"/>
            <p:cNvSpPr>
              <a:spLocks noChangeArrowheads="1"/>
            </p:cNvSpPr>
            <p:nvPr/>
          </p:nvSpPr>
          <p:spPr bwMode="auto">
            <a:xfrm>
              <a:off x="5819776" y="2984500"/>
              <a:ext cx="836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started</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2" name="Rectangle 80"/>
            <p:cNvSpPr>
              <a:spLocks noChangeArrowheads="1"/>
            </p:cNvSpPr>
            <p:nvPr/>
          </p:nvSpPr>
          <p:spPr bwMode="auto">
            <a:xfrm>
              <a:off x="2314576" y="3289300"/>
              <a:ext cx="604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from</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3" name="Rectangle 81"/>
            <p:cNvSpPr>
              <a:spLocks noChangeArrowheads="1"/>
            </p:cNvSpPr>
            <p:nvPr/>
          </p:nvSpPr>
          <p:spPr bwMode="auto">
            <a:xfrm>
              <a:off x="2849563" y="32893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its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4" name="Rectangle 82"/>
            <p:cNvSpPr>
              <a:spLocks noChangeArrowheads="1"/>
            </p:cNvSpPr>
            <p:nvPr/>
          </p:nvSpPr>
          <p:spPr bwMode="auto">
            <a:xfrm>
              <a:off x="3157538" y="3289300"/>
              <a:ext cx="677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initial</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5" name="Rectangle 83"/>
            <p:cNvSpPr>
              <a:spLocks noChangeArrowheads="1"/>
            </p:cNvSpPr>
            <p:nvPr/>
          </p:nvSpPr>
          <p:spPr bwMode="auto">
            <a:xfrm>
              <a:off x="3770313" y="3289300"/>
              <a:ext cx="631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state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6" name="Rectangle 84"/>
            <p:cNvSpPr>
              <a:spLocks noChangeArrowheads="1"/>
            </p:cNvSpPr>
            <p:nvPr/>
          </p:nvSpPr>
          <p:spPr bwMode="auto">
            <a:xfrm>
              <a:off x="6711951" y="2984500"/>
              <a:ext cx="273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7" name="Rectangle 85"/>
            <p:cNvSpPr>
              <a:spLocks noChangeArrowheads="1"/>
            </p:cNvSpPr>
            <p:nvPr/>
          </p:nvSpPr>
          <p:spPr bwMode="auto">
            <a:xfrm>
              <a:off x="6991351" y="2984500"/>
              <a:ext cx="881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running</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8" name="Rectangle 86"/>
            <p:cNvSpPr>
              <a:spLocks noChangeArrowheads="1"/>
            </p:cNvSpPr>
            <p:nvPr/>
          </p:nvSpPr>
          <p:spPr bwMode="auto">
            <a:xfrm>
              <a:off x="7877176" y="2984500"/>
              <a:ext cx="925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process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9" name="Rectangle 87"/>
            <p:cNvSpPr>
              <a:spLocks noChangeArrowheads="1"/>
            </p:cNvSpPr>
            <p:nvPr/>
          </p:nvSpPr>
          <p:spPr bwMode="auto">
            <a:xfrm>
              <a:off x="8805863" y="2984500"/>
              <a:ext cx="488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can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90" name="Rectangle 88"/>
            <p:cNvSpPr>
              <a:spLocks noChangeArrowheads="1"/>
            </p:cNvSpPr>
            <p:nvPr/>
          </p:nvSpPr>
          <p:spPr bwMode="auto">
            <a:xfrm>
              <a:off x="9301163" y="2984500"/>
              <a:ext cx="369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be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91" name="Rectangle 89"/>
            <p:cNvSpPr>
              <a:spLocks noChangeArrowheads="1"/>
            </p:cNvSpPr>
            <p:nvPr/>
          </p:nvSpPr>
          <p:spPr bwMode="auto">
            <a:xfrm>
              <a:off x="9680576" y="2984500"/>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stopped,</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92" name="Rectangle 90"/>
            <p:cNvSpPr>
              <a:spLocks noChangeArrowheads="1"/>
            </p:cNvSpPr>
            <p:nvPr/>
          </p:nvSpPr>
          <p:spPr bwMode="auto">
            <a:xfrm>
              <a:off x="10677526" y="2984500"/>
              <a:ext cx="1458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subsequently</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93" name="Rectangle 91"/>
            <p:cNvSpPr>
              <a:spLocks noChangeArrowheads="1"/>
            </p:cNvSpPr>
            <p:nvPr/>
          </p:nvSpPr>
          <p:spPr bwMode="auto">
            <a:xfrm>
              <a:off x="6711951" y="3289300"/>
              <a:ext cx="800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moved</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94" name="Rectangle 92"/>
            <p:cNvSpPr>
              <a:spLocks noChangeArrowheads="1"/>
            </p:cNvSpPr>
            <p:nvPr/>
          </p:nvSpPr>
          <p:spPr bwMode="auto">
            <a:xfrm>
              <a:off x="7583488" y="3289300"/>
              <a:ext cx="328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to</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95" name="Rectangle 93"/>
            <p:cNvSpPr>
              <a:spLocks noChangeArrowheads="1"/>
            </p:cNvSpPr>
            <p:nvPr/>
          </p:nvSpPr>
          <p:spPr bwMode="auto">
            <a:xfrm>
              <a:off x="7985126" y="3289300"/>
              <a:ext cx="893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another</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96" name="Rectangle 94"/>
            <p:cNvSpPr>
              <a:spLocks noChangeArrowheads="1"/>
            </p:cNvSpPr>
            <p:nvPr/>
          </p:nvSpPr>
          <p:spPr bwMode="auto">
            <a:xfrm>
              <a:off x="8948738" y="3289300"/>
              <a:ext cx="1031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machine,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97" name="Rectangle 95"/>
            <p:cNvSpPr>
              <a:spLocks noChangeArrowheads="1"/>
            </p:cNvSpPr>
            <p:nvPr/>
          </p:nvSpPr>
          <p:spPr bwMode="auto">
            <a:xfrm>
              <a:off x="10050463" y="3289300"/>
              <a:ext cx="498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and</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98" name="Rectangle 96"/>
            <p:cNvSpPr>
              <a:spLocks noChangeArrowheads="1"/>
            </p:cNvSpPr>
            <p:nvPr/>
          </p:nvSpPr>
          <p:spPr bwMode="auto">
            <a:xfrm>
              <a:off x="10621963" y="3289300"/>
              <a:ext cx="566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then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99" name="Rectangle 97"/>
            <p:cNvSpPr>
              <a:spLocks noChangeArrowheads="1"/>
            </p:cNvSpPr>
            <p:nvPr/>
          </p:nvSpPr>
          <p:spPr bwMode="auto">
            <a:xfrm>
              <a:off x="11258551" y="3289300"/>
              <a:ext cx="873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resume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00" name="Rectangle 98"/>
            <p:cNvSpPr>
              <a:spLocks noChangeArrowheads="1"/>
            </p:cNvSpPr>
            <p:nvPr/>
          </p:nvSpPr>
          <p:spPr bwMode="auto">
            <a:xfrm>
              <a:off x="6711951" y="3594100"/>
              <a:ext cx="1100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execution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01" name="Rectangle 99"/>
            <p:cNvSpPr>
              <a:spLocks noChangeArrowheads="1"/>
            </p:cNvSpPr>
            <p:nvPr/>
          </p:nvSpPr>
          <p:spPr bwMode="auto">
            <a:xfrm>
              <a:off x="7742238" y="3594100"/>
              <a:ext cx="731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where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02" name="Rectangle 100"/>
            <p:cNvSpPr>
              <a:spLocks noChangeArrowheads="1"/>
            </p:cNvSpPr>
            <p:nvPr/>
          </p:nvSpPr>
          <p:spPr bwMode="auto">
            <a:xfrm>
              <a:off x="8404226" y="3594100"/>
              <a:ext cx="258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it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03" name="Rectangle 101"/>
            <p:cNvSpPr>
              <a:spLocks noChangeArrowheads="1"/>
            </p:cNvSpPr>
            <p:nvPr/>
          </p:nvSpPr>
          <p:spPr bwMode="auto">
            <a:xfrm>
              <a:off x="8596313" y="3594100"/>
              <a:ext cx="4587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left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04" name="Rectangle 102"/>
            <p:cNvSpPr>
              <a:spLocks noChangeArrowheads="1"/>
            </p:cNvSpPr>
            <p:nvPr/>
          </p:nvSpPr>
          <p:spPr bwMode="auto">
            <a:xfrm>
              <a:off x="8988426" y="3594100"/>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off</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05" name="Rectangle 103"/>
            <p:cNvSpPr>
              <a:spLocks noChangeArrowheads="1"/>
            </p:cNvSpPr>
            <p:nvPr/>
          </p:nvSpPr>
          <p:spPr bwMode="auto">
            <a:xfrm>
              <a:off x="9278938" y="3594100"/>
              <a:ext cx="193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grpSp>
        <p:nvGrpSpPr>
          <p:cNvPr id="132" name="Group 131"/>
          <p:cNvGrpSpPr/>
          <p:nvPr/>
        </p:nvGrpSpPr>
        <p:grpSpPr>
          <a:xfrm>
            <a:off x="77788" y="4132264"/>
            <a:ext cx="12018963" cy="882650"/>
            <a:chOff x="77788" y="4103688"/>
            <a:chExt cx="12018963" cy="882650"/>
          </a:xfrm>
        </p:grpSpPr>
        <p:sp>
          <p:nvSpPr>
            <p:cNvPr id="16" name="Rectangle 14"/>
            <p:cNvSpPr>
              <a:spLocks noChangeArrowheads="1"/>
            </p:cNvSpPr>
            <p:nvPr/>
          </p:nvSpPr>
          <p:spPr bwMode="auto">
            <a:xfrm>
              <a:off x="77788" y="4103688"/>
              <a:ext cx="2143125" cy="882650"/>
            </a:xfrm>
            <a:prstGeom prst="rect">
              <a:avLst/>
            </a:prstGeom>
            <a:solidFill>
              <a:srgbClr val="1D3064"/>
            </a:solidFill>
            <a:ln>
              <a:noFill/>
            </a:ln>
          </p:spPr>
          <p:txBody>
            <a:bodyPr vert="horz" wrap="square" lIns="91440" tIns="45720" rIns="91440" bIns="45720" numCol="1" anchor="t" anchorCtr="0" compatLnSpc="1">
              <a:prstTxWarp prst="textNoShape">
                <a:avLst/>
              </a:prstTxWarp>
            </a:bodyPr>
            <a:lstStyle/>
            <a:p>
              <a:endParaRPr lang="en-IN"/>
            </a:p>
          </p:txBody>
        </p:sp>
        <p:sp>
          <p:nvSpPr>
            <p:cNvPr id="17" name="Rectangle 15"/>
            <p:cNvSpPr>
              <a:spLocks noChangeArrowheads="1"/>
            </p:cNvSpPr>
            <p:nvPr/>
          </p:nvSpPr>
          <p:spPr bwMode="auto">
            <a:xfrm>
              <a:off x="2220913" y="4103688"/>
              <a:ext cx="4400550" cy="88265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Rectangle 16"/>
            <p:cNvSpPr>
              <a:spLocks noChangeArrowheads="1"/>
            </p:cNvSpPr>
            <p:nvPr/>
          </p:nvSpPr>
          <p:spPr bwMode="auto">
            <a:xfrm>
              <a:off x="6621463" y="4103688"/>
              <a:ext cx="5475288" cy="88265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6" name="Rectangle 104"/>
            <p:cNvSpPr>
              <a:spLocks noChangeArrowheads="1"/>
            </p:cNvSpPr>
            <p:nvPr/>
          </p:nvSpPr>
          <p:spPr bwMode="auto">
            <a:xfrm>
              <a:off x="169863" y="4213225"/>
              <a:ext cx="11874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FFFFFF"/>
                  </a:solidFill>
                  <a:effectLst/>
                  <a:latin typeface="Roboto Condensed" panose="02000000000000000000" pitchFamily="2" charset="0"/>
                </a:rPr>
                <a:t>Example</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7" name="Rectangle 105"/>
            <p:cNvSpPr>
              <a:spLocks noChangeArrowheads="1"/>
            </p:cNvSpPr>
            <p:nvPr/>
          </p:nvSpPr>
          <p:spPr bwMode="auto">
            <a:xfrm>
              <a:off x="2314576" y="4210050"/>
              <a:ext cx="601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Java</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08" name="Rectangle 106"/>
            <p:cNvSpPr>
              <a:spLocks noChangeArrowheads="1"/>
            </p:cNvSpPr>
            <p:nvPr/>
          </p:nvSpPr>
          <p:spPr bwMode="auto">
            <a:xfrm>
              <a:off x="3011488" y="4210050"/>
              <a:ext cx="8651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applets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09" name="Rectangle 107"/>
            <p:cNvSpPr>
              <a:spLocks noChangeArrowheads="1"/>
            </p:cNvSpPr>
            <p:nvPr/>
          </p:nvSpPr>
          <p:spPr bwMode="auto">
            <a:xfrm>
              <a:off x="3973513" y="4210050"/>
              <a:ext cx="273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10" name="Rectangle 108"/>
            <p:cNvSpPr>
              <a:spLocks noChangeArrowheads="1"/>
            </p:cNvSpPr>
            <p:nvPr/>
          </p:nvSpPr>
          <p:spPr bwMode="auto">
            <a:xfrm>
              <a:off x="4341813" y="4210050"/>
              <a:ext cx="714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which</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11" name="Rectangle 109"/>
            <p:cNvSpPr>
              <a:spLocks noChangeArrowheads="1"/>
            </p:cNvSpPr>
            <p:nvPr/>
          </p:nvSpPr>
          <p:spPr bwMode="auto">
            <a:xfrm>
              <a:off x="5149851" y="4210050"/>
              <a:ext cx="817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always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12" name="Rectangle 110"/>
            <p:cNvSpPr>
              <a:spLocks noChangeArrowheads="1"/>
            </p:cNvSpPr>
            <p:nvPr/>
          </p:nvSpPr>
          <p:spPr bwMode="auto">
            <a:xfrm>
              <a:off x="6062663" y="4210050"/>
              <a:ext cx="590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start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13" name="Rectangle 111"/>
            <p:cNvSpPr>
              <a:spLocks noChangeArrowheads="1"/>
            </p:cNvSpPr>
            <p:nvPr/>
          </p:nvSpPr>
          <p:spPr bwMode="auto">
            <a:xfrm>
              <a:off x="2314576" y="4514850"/>
              <a:ext cx="1100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execution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14" name="Rectangle 112"/>
            <p:cNvSpPr>
              <a:spLocks noChangeArrowheads="1"/>
            </p:cNvSpPr>
            <p:nvPr/>
          </p:nvSpPr>
          <p:spPr bwMode="auto">
            <a:xfrm>
              <a:off x="3344863" y="4514850"/>
              <a:ext cx="604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from</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15" name="Rectangle 113"/>
            <p:cNvSpPr>
              <a:spLocks noChangeArrowheads="1"/>
            </p:cNvSpPr>
            <p:nvPr/>
          </p:nvSpPr>
          <p:spPr bwMode="auto">
            <a:xfrm>
              <a:off x="3879851" y="4514850"/>
              <a:ext cx="442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the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16" name="Rectangle 114"/>
            <p:cNvSpPr>
              <a:spLocks noChangeArrowheads="1"/>
            </p:cNvSpPr>
            <p:nvPr/>
          </p:nvSpPr>
          <p:spPr bwMode="auto">
            <a:xfrm>
              <a:off x="4254501" y="4514850"/>
              <a:ext cx="1106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212121"/>
                  </a:solidFill>
                  <a:effectLst/>
                  <a:latin typeface="Roboto Condensed" panose="02000000000000000000" pitchFamily="2" charset="0"/>
                </a:rPr>
                <a:t>beginning</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7" name="Rectangle 115"/>
            <p:cNvSpPr>
              <a:spLocks noChangeArrowheads="1"/>
            </p:cNvSpPr>
            <p:nvPr/>
          </p:nvSpPr>
          <p:spPr bwMode="auto">
            <a:xfrm>
              <a:off x="6711951" y="4210050"/>
              <a:ext cx="1023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D’Agents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18" name="Rectangle 116"/>
            <p:cNvSpPr>
              <a:spLocks noChangeArrowheads="1"/>
            </p:cNvSpPr>
            <p:nvPr/>
          </p:nvSpPr>
          <p:spPr bwMode="auto">
            <a:xfrm>
              <a:off x="7610476" y="4210050"/>
              <a:ext cx="193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grpSp>
        <p:nvGrpSpPr>
          <p:cNvPr id="131" name="Group 130"/>
          <p:cNvGrpSpPr/>
          <p:nvPr/>
        </p:nvGrpSpPr>
        <p:grpSpPr>
          <a:xfrm>
            <a:off x="71438" y="5014914"/>
            <a:ext cx="12030075" cy="787400"/>
            <a:chOff x="71438" y="4986338"/>
            <a:chExt cx="12030075" cy="787400"/>
          </a:xfrm>
        </p:grpSpPr>
        <p:sp>
          <p:nvSpPr>
            <p:cNvPr id="19" name="Rectangle 17"/>
            <p:cNvSpPr>
              <a:spLocks noChangeArrowheads="1"/>
            </p:cNvSpPr>
            <p:nvPr/>
          </p:nvSpPr>
          <p:spPr bwMode="auto">
            <a:xfrm>
              <a:off x="77788" y="4986338"/>
              <a:ext cx="2143125" cy="787400"/>
            </a:xfrm>
            <a:prstGeom prst="rect">
              <a:avLst/>
            </a:prstGeom>
            <a:solidFill>
              <a:srgbClr val="1D3064"/>
            </a:solidFill>
            <a:ln>
              <a:noFill/>
            </a:ln>
          </p:spPr>
          <p:txBody>
            <a:bodyPr vert="horz" wrap="square" lIns="91440" tIns="45720" rIns="91440" bIns="45720" numCol="1" anchor="t" anchorCtr="0" compatLnSpc="1">
              <a:prstTxWarp prst="textNoShape">
                <a:avLst/>
              </a:prstTxWarp>
            </a:bodyPr>
            <a:lstStyle/>
            <a:p>
              <a:endParaRPr lang="en-IN"/>
            </a:p>
          </p:txBody>
        </p:sp>
        <p:sp>
          <p:nvSpPr>
            <p:cNvPr id="20" name="Rectangle 18"/>
            <p:cNvSpPr>
              <a:spLocks noChangeArrowheads="1"/>
            </p:cNvSpPr>
            <p:nvPr/>
          </p:nvSpPr>
          <p:spPr bwMode="auto">
            <a:xfrm>
              <a:off x="2220913" y="4986338"/>
              <a:ext cx="4400550" cy="787400"/>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1" name="Rectangle 19"/>
            <p:cNvSpPr>
              <a:spLocks noChangeArrowheads="1"/>
            </p:cNvSpPr>
            <p:nvPr/>
          </p:nvSpPr>
          <p:spPr bwMode="auto">
            <a:xfrm>
              <a:off x="6621463" y="4986338"/>
              <a:ext cx="5475288" cy="787400"/>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7" name="Line 25"/>
            <p:cNvSpPr>
              <a:spLocks noChangeShapeType="1"/>
            </p:cNvSpPr>
            <p:nvPr/>
          </p:nvSpPr>
          <p:spPr bwMode="auto">
            <a:xfrm>
              <a:off x="71438" y="4986338"/>
              <a:ext cx="12030075"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1" name="Line 29"/>
            <p:cNvSpPr>
              <a:spLocks noChangeShapeType="1"/>
            </p:cNvSpPr>
            <p:nvPr/>
          </p:nvSpPr>
          <p:spPr bwMode="auto">
            <a:xfrm>
              <a:off x="71438" y="5773738"/>
              <a:ext cx="12030075"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9" name="Rectangle 117"/>
            <p:cNvSpPr>
              <a:spLocks noChangeArrowheads="1"/>
            </p:cNvSpPr>
            <p:nvPr/>
          </p:nvSpPr>
          <p:spPr bwMode="auto">
            <a:xfrm>
              <a:off x="169863" y="5095875"/>
              <a:ext cx="10398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Benefit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20" name="Rectangle 118"/>
            <p:cNvSpPr>
              <a:spLocks noChangeArrowheads="1"/>
            </p:cNvSpPr>
            <p:nvPr/>
          </p:nvSpPr>
          <p:spPr bwMode="auto">
            <a:xfrm>
              <a:off x="2314576" y="5092700"/>
              <a:ext cx="1106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Simplicity</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21" name="Rectangle 119"/>
            <p:cNvSpPr>
              <a:spLocks noChangeArrowheads="1"/>
            </p:cNvSpPr>
            <p:nvPr/>
          </p:nvSpPr>
          <p:spPr bwMode="auto">
            <a:xfrm>
              <a:off x="6711951" y="5092700"/>
              <a:ext cx="682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Much</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22" name="Rectangle 120"/>
            <p:cNvSpPr>
              <a:spLocks noChangeArrowheads="1"/>
            </p:cNvSpPr>
            <p:nvPr/>
          </p:nvSpPr>
          <p:spPr bwMode="auto">
            <a:xfrm>
              <a:off x="7324726" y="5092700"/>
              <a:ext cx="642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more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23" name="Rectangle 121"/>
            <p:cNvSpPr>
              <a:spLocks noChangeArrowheads="1"/>
            </p:cNvSpPr>
            <p:nvPr/>
          </p:nvSpPr>
          <p:spPr bwMode="auto">
            <a:xfrm>
              <a:off x="7897813" y="5092700"/>
              <a:ext cx="869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general</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24" name="Rectangle 122"/>
            <p:cNvSpPr>
              <a:spLocks noChangeArrowheads="1"/>
            </p:cNvSpPr>
            <p:nvPr/>
          </p:nvSpPr>
          <p:spPr bwMode="auto">
            <a:xfrm>
              <a:off x="8701088" y="5092700"/>
              <a:ext cx="569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than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25" name="Rectangle 123"/>
            <p:cNvSpPr>
              <a:spLocks noChangeArrowheads="1"/>
            </p:cNvSpPr>
            <p:nvPr/>
          </p:nvSpPr>
          <p:spPr bwMode="auto">
            <a:xfrm>
              <a:off x="9201151" y="5092700"/>
              <a:ext cx="647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weak</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26" name="Rectangle 124"/>
            <p:cNvSpPr>
              <a:spLocks noChangeArrowheads="1"/>
            </p:cNvSpPr>
            <p:nvPr/>
          </p:nvSpPr>
          <p:spPr bwMode="auto">
            <a:xfrm>
              <a:off x="9782176" y="5092700"/>
              <a:ext cx="927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smtClean="0">
                  <a:ln>
                    <a:noFill/>
                  </a:ln>
                  <a:solidFill>
                    <a:srgbClr val="212121"/>
                  </a:solidFill>
                  <a:effectLst/>
                  <a:latin typeface="Roboto Condensed" panose="02000000000000000000" pitchFamily="2" charset="0"/>
                </a:rPr>
                <a:t>mobility</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grpSp>
        <p:nvGrpSpPr>
          <p:cNvPr id="136" name="Group 135"/>
          <p:cNvGrpSpPr/>
          <p:nvPr/>
        </p:nvGrpSpPr>
        <p:grpSpPr>
          <a:xfrm>
            <a:off x="71438" y="1076325"/>
            <a:ext cx="12030075" cy="582613"/>
            <a:chOff x="71438" y="1076325"/>
            <a:chExt cx="12030075" cy="582613"/>
          </a:xfrm>
        </p:grpSpPr>
        <p:grpSp>
          <p:nvGrpSpPr>
            <p:cNvPr id="127" name="Group 126"/>
            <p:cNvGrpSpPr/>
            <p:nvPr/>
          </p:nvGrpSpPr>
          <p:grpSpPr>
            <a:xfrm>
              <a:off x="71438" y="1076325"/>
              <a:ext cx="12030075" cy="582613"/>
              <a:chOff x="71438" y="1076325"/>
              <a:chExt cx="12030075" cy="582613"/>
            </a:xfrm>
          </p:grpSpPr>
          <p:sp>
            <p:nvSpPr>
              <p:cNvPr id="6" name="Rectangle 5"/>
              <p:cNvSpPr>
                <a:spLocks noChangeArrowheads="1"/>
              </p:cNvSpPr>
              <p:nvPr/>
            </p:nvSpPr>
            <p:spPr bwMode="auto">
              <a:xfrm>
                <a:off x="77788" y="1076325"/>
                <a:ext cx="2143125" cy="581025"/>
              </a:xfrm>
              <a:prstGeom prst="rect">
                <a:avLst/>
              </a:prstGeom>
              <a:solidFill>
                <a:srgbClr val="1D3064"/>
              </a:solidFill>
              <a:ln>
                <a:noFill/>
              </a:ln>
            </p:spPr>
            <p:txBody>
              <a:bodyPr vert="horz" wrap="square" lIns="91440" tIns="45720" rIns="91440" bIns="45720" numCol="1" anchor="t" anchorCtr="0" compatLnSpc="1">
                <a:prstTxWarp prst="textNoShape">
                  <a:avLst/>
                </a:prstTxWarp>
              </a:bodyPr>
              <a:lstStyle/>
              <a:p>
                <a:endParaRPr lang="en-IN"/>
              </a:p>
            </p:txBody>
          </p:sp>
          <p:sp>
            <p:nvSpPr>
              <p:cNvPr id="7" name="Rectangle 6"/>
              <p:cNvSpPr>
                <a:spLocks noChangeArrowheads="1"/>
              </p:cNvSpPr>
              <p:nvPr/>
            </p:nvSpPr>
            <p:spPr bwMode="auto">
              <a:xfrm>
                <a:off x="2220913" y="1076325"/>
                <a:ext cx="4400550" cy="582613"/>
              </a:xfrm>
              <a:prstGeom prst="rect">
                <a:avLst/>
              </a:prstGeom>
              <a:solidFill>
                <a:srgbClr val="1D3064"/>
              </a:solidFill>
              <a:ln>
                <a:noFill/>
              </a:ln>
            </p:spPr>
            <p:txBody>
              <a:bodyPr vert="horz" wrap="square" lIns="91440" tIns="45720" rIns="91440" bIns="45720" numCol="1" anchor="t" anchorCtr="0" compatLnSpc="1">
                <a:prstTxWarp prst="textNoShape">
                  <a:avLst/>
                </a:prstTxWarp>
              </a:bodyPr>
              <a:lstStyle/>
              <a:p>
                <a:endParaRPr lang="en-IN"/>
              </a:p>
            </p:txBody>
          </p:sp>
          <p:sp>
            <p:nvSpPr>
              <p:cNvPr id="8" name="Rectangle 7"/>
              <p:cNvSpPr>
                <a:spLocks noChangeArrowheads="1"/>
              </p:cNvSpPr>
              <p:nvPr/>
            </p:nvSpPr>
            <p:spPr bwMode="auto">
              <a:xfrm>
                <a:off x="6621463" y="1076325"/>
                <a:ext cx="5475288" cy="582613"/>
              </a:xfrm>
              <a:prstGeom prst="rect">
                <a:avLst/>
              </a:prstGeom>
              <a:solidFill>
                <a:srgbClr val="1D3064"/>
              </a:solidFill>
              <a:ln>
                <a:noFill/>
              </a:ln>
            </p:spPr>
            <p:txBody>
              <a:bodyPr vert="horz" wrap="square" lIns="91440" tIns="45720" rIns="91440" bIns="45720" numCol="1" anchor="t" anchorCtr="0" compatLnSpc="1">
                <a:prstTxWarp prst="textNoShape">
                  <a:avLst/>
                </a:prstTxWarp>
              </a:bodyPr>
              <a:lstStyle/>
              <a:p>
                <a:endParaRPr lang="en-IN"/>
              </a:p>
            </p:txBody>
          </p:sp>
          <p:sp>
            <p:nvSpPr>
              <p:cNvPr id="24" name="Line 22"/>
              <p:cNvSpPr>
                <a:spLocks noChangeShapeType="1"/>
              </p:cNvSpPr>
              <p:nvPr/>
            </p:nvSpPr>
            <p:spPr bwMode="auto">
              <a:xfrm>
                <a:off x="71438" y="1658938"/>
                <a:ext cx="12030075" cy="0"/>
              </a:xfrm>
              <a:prstGeom prst="line">
                <a:avLst/>
              </a:prstGeom>
              <a:noFill/>
              <a:ln w="381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0" name="Line 28"/>
              <p:cNvSpPr>
                <a:spLocks noChangeShapeType="1"/>
              </p:cNvSpPr>
              <p:nvPr/>
            </p:nvSpPr>
            <p:spPr bwMode="auto">
              <a:xfrm>
                <a:off x="71438" y="1076325"/>
                <a:ext cx="12030075"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2" name="Rectangle 30"/>
              <p:cNvSpPr>
                <a:spLocks noChangeArrowheads="1"/>
              </p:cNvSpPr>
              <p:nvPr/>
            </p:nvSpPr>
            <p:spPr bwMode="auto">
              <a:xfrm>
                <a:off x="2314576" y="1184275"/>
                <a:ext cx="18827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FFFFFF"/>
                    </a:solidFill>
                    <a:effectLst/>
                    <a:latin typeface="Roboto Condensed" panose="02000000000000000000" pitchFamily="2" charset="0"/>
                  </a:rPr>
                  <a:t>Weak Mobility</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3" name="Rectangle 31"/>
              <p:cNvSpPr>
                <a:spLocks noChangeArrowheads="1"/>
              </p:cNvSpPr>
              <p:nvPr/>
            </p:nvSpPr>
            <p:spPr bwMode="auto">
              <a:xfrm>
                <a:off x="6711951" y="1184275"/>
                <a:ext cx="20335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Strong Mobility</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sp>
          <p:nvSpPr>
            <p:cNvPr id="135" name="Rectangle 32"/>
            <p:cNvSpPr>
              <a:spLocks noChangeArrowheads="1"/>
            </p:cNvSpPr>
            <p:nvPr/>
          </p:nvSpPr>
          <p:spPr bwMode="auto">
            <a:xfrm>
              <a:off x="209010" y="1177926"/>
              <a:ext cx="14250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400" b="1" dirty="0" smtClean="0">
                  <a:solidFill>
                    <a:srgbClr val="FFFFFF"/>
                  </a:solidFill>
                  <a:latin typeface="Roboto Condensed" panose="02000000000000000000" pitchFamily="2" charset="0"/>
                </a:rPr>
                <a:t>Parameters</a:t>
              </a:r>
              <a:endParaRPr lang="en-US" altLang="en-US" sz="2400" b="1" dirty="0">
                <a:solidFill>
                  <a:srgbClr val="FFFFFF"/>
                </a:solidFill>
                <a:latin typeface="Roboto Condensed" panose="02000000000000000000" pitchFamily="2" charset="0"/>
              </a:endParaRPr>
            </a:p>
          </p:txBody>
        </p:sp>
      </p:grpSp>
    </p:spTree>
    <p:extLst>
      <p:ext uri="{BB962C8B-B14F-4D97-AF65-F5344CB8AC3E}">
        <p14:creationId xmlns:p14="http://schemas.microsoft.com/office/powerpoint/2010/main" val="686644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Migration Initiation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lvl="1" indent="0">
              <a:spcBef>
                <a:spcPts val="1000"/>
              </a:spcBef>
              <a:buNone/>
            </a:pPr>
            <a:r>
              <a:rPr lang="en-US" altLang="en-US" sz="2800" b="1" dirty="0">
                <a:solidFill>
                  <a:srgbClr val="1D3064"/>
                </a:solidFill>
              </a:rPr>
              <a:t>Sender-Initiated </a:t>
            </a:r>
            <a:r>
              <a:rPr lang="en-US" altLang="en-US" sz="2800" b="1" dirty="0" smtClean="0">
                <a:solidFill>
                  <a:srgbClr val="1D3064"/>
                </a:solidFill>
              </a:rPr>
              <a:t>Migration</a:t>
            </a:r>
          </a:p>
          <a:p>
            <a:pPr marL="265113" lvl="1" indent="-265113">
              <a:spcBef>
                <a:spcPts val="1000"/>
              </a:spcBef>
              <a:buFont typeface="Webdings" panose="05030102010509060703" pitchFamily="18" charset="2"/>
              <a:buChar char=""/>
            </a:pPr>
            <a:r>
              <a:rPr lang="en-US" altLang="en-US" sz="2400" dirty="0"/>
              <a:t>It is initiated at the machine where the code currently resides or is being executed</a:t>
            </a:r>
          </a:p>
          <a:p>
            <a:pPr marL="265113" lvl="1" indent="-265113">
              <a:spcBef>
                <a:spcPts val="1000"/>
              </a:spcBef>
              <a:buFont typeface="Webdings" panose="05030102010509060703" pitchFamily="18" charset="2"/>
              <a:buChar char=""/>
            </a:pPr>
            <a:r>
              <a:rPr lang="en-US" altLang="en-US" sz="2400" dirty="0"/>
              <a:t>Examples:</a:t>
            </a:r>
          </a:p>
          <a:p>
            <a:pPr lvl="1">
              <a:buFont typeface="Wingdings" panose="05000000000000000000" pitchFamily="2" charset="2"/>
              <a:buChar char="§"/>
            </a:pPr>
            <a:r>
              <a:rPr lang="en-US" altLang="en-US" sz="2400" dirty="0" smtClean="0"/>
              <a:t>Uploading </a:t>
            </a:r>
            <a:r>
              <a:rPr lang="en-US" altLang="en-US" sz="2400" dirty="0"/>
              <a:t>programs to a compute server.</a:t>
            </a:r>
          </a:p>
          <a:p>
            <a:pPr lvl="1">
              <a:buFont typeface="Wingdings" panose="05000000000000000000" pitchFamily="2" charset="2"/>
              <a:buChar char="§"/>
            </a:pPr>
            <a:r>
              <a:rPr lang="en-US" altLang="en-US" sz="2400" dirty="0" smtClean="0"/>
              <a:t>Sending </a:t>
            </a:r>
            <a:r>
              <a:rPr lang="en-US" altLang="en-US" sz="2400" dirty="0"/>
              <a:t>a search program across the Internet to a web database server to perform the queries at that server</a:t>
            </a:r>
            <a:r>
              <a:rPr lang="en-US" altLang="en-US" sz="2400" dirty="0" smtClean="0"/>
              <a:t>.</a:t>
            </a:r>
          </a:p>
          <a:p>
            <a:pPr marL="457200" lvl="1" indent="0">
              <a:buNone/>
            </a:pPr>
            <a:endParaRPr lang="en-US" altLang="en-US" sz="2400" dirty="0"/>
          </a:p>
          <a:p>
            <a:pPr marL="0" lvl="1" indent="0">
              <a:spcBef>
                <a:spcPts val="1000"/>
              </a:spcBef>
              <a:buNone/>
            </a:pPr>
            <a:r>
              <a:rPr lang="en-US" altLang="en-US" sz="2800" b="1" dirty="0">
                <a:solidFill>
                  <a:srgbClr val="1D3064"/>
                </a:solidFill>
              </a:rPr>
              <a:t>Receiver-Initiated </a:t>
            </a:r>
            <a:r>
              <a:rPr lang="en-US" altLang="en-US" sz="2800" b="1" dirty="0" smtClean="0">
                <a:solidFill>
                  <a:srgbClr val="1D3064"/>
                </a:solidFill>
              </a:rPr>
              <a:t>Migration</a:t>
            </a:r>
          </a:p>
          <a:p>
            <a:pPr marL="265113" lvl="1" indent="-265113">
              <a:spcBef>
                <a:spcPts val="1000"/>
              </a:spcBef>
              <a:buFont typeface="Webdings" panose="05030102010509060703" pitchFamily="18" charset="2"/>
              <a:buChar char=""/>
            </a:pPr>
            <a:r>
              <a:rPr lang="en-US" altLang="en-US" sz="2400" dirty="0"/>
              <a:t>The initiative for code migration is taken by the target machine</a:t>
            </a:r>
          </a:p>
          <a:p>
            <a:pPr marL="265113" lvl="1" indent="-265113">
              <a:spcBef>
                <a:spcPts val="1000"/>
              </a:spcBef>
              <a:buFont typeface="Webdings" panose="05030102010509060703" pitchFamily="18" charset="2"/>
              <a:buChar char=""/>
            </a:pPr>
            <a:r>
              <a:rPr lang="en-US" altLang="en-US" sz="2400" dirty="0"/>
              <a:t>Example: Java applets. </a:t>
            </a:r>
          </a:p>
          <a:p>
            <a:pPr marL="265113" lvl="1" indent="-265113">
              <a:spcBef>
                <a:spcPts val="1000"/>
              </a:spcBef>
              <a:buFont typeface="Webdings" panose="05030102010509060703" pitchFamily="18" charset="2"/>
              <a:buChar char=""/>
            </a:pPr>
            <a:endParaRPr lang="en-US" altLang="en-US" sz="2400" dirty="0"/>
          </a:p>
        </p:txBody>
      </p:sp>
    </p:spTree>
    <p:extLst>
      <p:ext uri="{BB962C8B-B14F-4D97-AF65-F5344CB8AC3E}">
        <p14:creationId xmlns:p14="http://schemas.microsoft.com/office/powerpoint/2010/main" val="2108920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Alternatives for code migration</a:t>
            </a:r>
          </a:p>
        </p:txBody>
      </p:sp>
      <p:sp>
        <p:nvSpPr>
          <p:cNvPr id="3" name="Rectangle 2"/>
          <p:cNvSpPr/>
          <p:nvPr/>
        </p:nvSpPr>
        <p:spPr>
          <a:xfrm>
            <a:off x="106513" y="2993231"/>
            <a:ext cx="1691982" cy="92868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tx1"/>
                </a:solidFill>
              </a:rPr>
              <a:t>Mobility mechanism</a:t>
            </a:r>
            <a:endParaRPr lang="en-IN" sz="2400" b="1" dirty="0">
              <a:solidFill>
                <a:schemeClr val="tx1"/>
              </a:solidFill>
            </a:endParaRPr>
          </a:p>
        </p:txBody>
      </p:sp>
      <p:sp>
        <p:nvSpPr>
          <p:cNvPr id="6" name="Rectangle 5"/>
          <p:cNvSpPr/>
          <p:nvPr/>
        </p:nvSpPr>
        <p:spPr>
          <a:xfrm>
            <a:off x="2781203" y="1861751"/>
            <a:ext cx="2119313" cy="56793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tx1"/>
                </a:solidFill>
              </a:rPr>
              <a:t>Weak </a:t>
            </a:r>
            <a:r>
              <a:rPr lang="en-IN" sz="2400" dirty="0">
                <a:solidFill>
                  <a:schemeClr val="tx1"/>
                </a:solidFill>
              </a:rPr>
              <a:t>mobility</a:t>
            </a:r>
          </a:p>
        </p:txBody>
      </p:sp>
      <p:sp>
        <p:nvSpPr>
          <p:cNvPr id="7" name="Rectangle 6"/>
          <p:cNvSpPr/>
          <p:nvPr/>
        </p:nvSpPr>
        <p:spPr>
          <a:xfrm>
            <a:off x="2756528" y="4694685"/>
            <a:ext cx="2125080" cy="56079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tx1"/>
                </a:solidFill>
              </a:rPr>
              <a:t>Strong mobility</a:t>
            </a:r>
            <a:endParaRPr lang="en-IN" sz="2400" dirty="0">
              <a:solidFill>
                <a:schemeClr val="tx1"/>
              </a:solidFill>
            </a:endParaRPr>
          </a:p>
        </p:txBody>
      </p:sp>
      <p:sp>
        <p:nvSpPr>
          <p:cNvPr id="8" name="Rectangle 7"/>
          <p:cNvSpPr/>
          <p:nvPr/>
        </p:nvSpPr>
        <p:spPr>
          <a:xfrm>
            <a:off x="6071515" y="1061060"/>
            <a:ext cx="2329547" cy="86082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Sender-Initiated mobility</a:t>
            </a:r>
          </a:p>
        </p:txBody>
      </p:sp>
      <p:sp>
        <p:nvSpPr>
          <p:cNvPr id="9" name="Rectangle 8"/>
          <p:cNvSpPr/>
          <p:nvPr/>
        </p:nvSpPr>
        <p:spPr>
          <a:xfrm>
            <a:off x="6071515" y="5504817"/>
            <a:ext cx="2329547" cy="86082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tx1"/>
                </a:solidFill>
              </a:rPr>
              <a:t>Receiver-Initiated </a:t>
            </a:r>
            <a:r>
              <a:rPr lang="en-IN" sz="2400" dirty="0">
                <a:solidFill>
                  <a:schemeClr val="tx1"/>
                </a:solidFill>
              </a:rPr>
              <a:t>mobility</a:t>
            </a:r>
          </a:p>
        </p:txBody>
      </p:sp>
      <p:sp>
        <p:nvSpPr>
          <p:cNvPr id="10" name="Rectangle 9"/>
          <p:cNvSpPr/>
          <p:nvPr/>
        </p:nvSpPr>
        <p:spPr>
          <a:xfrm>
            <a:off x="9080984" y="792139"/>
            <a:ext cx="3082440" cy="43176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Execute at target process</a:t>
            </a:r>
            <a:endParaRPr lang="en-IN" sz="2000" dirty="0">
              <a:solidFill>
                <a:schemeClr val="tx1"/>
              </a:solidFill>
            </a:endParaRPr>
          </a:p>
        </p:txBody>
      </p:sp>
      <p:sp>
        <p:nvSpPr>
          <p:cNvPr id="11" name="Rectangle 10"/>
          <p:cNvSpPr/>
          <p:nvPr/>
        </p:nvSpPr>
        <p:spPr>
          <a:xfrm>
            <a:off x="9066696" y="1622293"/>
            <a:ext cx="3082440" cy="474218"/>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Execute in separate process</a:t>
            </a:r>
            <a:endParaRPr lang="en-IN" sz="2000" dirty="0">
              <a:solidFill>
                <a:schemeClr val="tx1"/>
              </a:solidFill>
            </a:endParaRPr>
          </a:p>
        </p:txBody>
      </p:sp>
      <p:sp>
        <p:nvSpPr>
          <p:cNvPr id="12" name="Rectangle 11"/>
          <p:cNvSpPr/>
          <p:nvPr/>
        </p:nvSpPr>
        <p:spPr>
          <a:xfrm>
            <a:off x="9066696" y="3775995"/>
            <a:ext cx="3082440" cy="404939"/>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Migrate process</a:t>
            </a:r>
            <a:endParaRPr lang="en-IN" sz="2000" dirty="0">
              <a:solidFill>
                <a:schemeClr val="tx1"/>
              </a:solidFill>
            </a:endParaRPr>
          </a:p>
        </p:txBody>
      </p:sp>
      <p:sp>
        <p:nvSpPr>
          <p:cNvPr id="13" name="Rectangle 12"/>
          <p:cNvSpPr/>
          <p:nvPr/>
        </p:nvSpPr>
        <p:spPr>
          <a:xfrm>
            <a:off x="9066696" y="4614032"/>
            <a:ext cx="3082440" cy="361052"/>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dirty="0" smtClean="0">
                <a:solidFill>
                  <a:schemeClr val="tx1"/>
                </a:solidFill>
              </a:rPr>
              <a:t>Clone process</a:t>
            </a:r>
            <a:endParaRPr lang="en-IN" sz="2400" dirty="0">
              <a:solidFill>
                <a:schemeClr val="tx1"/>
              </a:solidFill>
            </a:endParaRPr>
          </a:p>
        </p:txBody>
      </p:sp>
      <p:sp>
        <p:nvSpPr>
          <p:cNvPr id="14" name="Rectangle 13"/>
          <p:cNvSpPr/>
          <p:nvPr/>
        </p:nvSpPr>
        <p:spPr>
          <a:xfrm>
            <a:off x="6071515" y="3978464"/>
            <a:ext cx="2329547" cy="86082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Sender-Initiated mobility</a:t>
            </a:r>
          </a:p>
        </p:txBody>
      </p:sp>
      <p:sp>
        <p:nvSpPr>
          <p:cNvPr id="15" name="Rectangle 14"/>
          <p:cNvSpPr/>
          <p:nvPr/>
        </p:nvSpPr>
        <p:spPr>
          <a:xfrm>
            <a:off x="6081574" y="2519762"/>
            <a:ext cx="2319488" cy="86082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solidFill>
                  <a:schemeClr val="tx1"/>
                </a:solidFill>
              </a:rPr>
              <a:t>Receiver-Initiated </a:t>
            </a:r>
            <a:r>
              <a:rPr lang="en-IN" sz="2400" dirty="0">
                <a:solidFill>
                  <a:schemeClr val="tx1"/>
                </a:solidFill>
              </a:rPr>
              <a:t>mobility</a:t>
            </a:r>
          </a:p>
        </p:txBody>
      </p:sp>
      <p:sp>
        <p:nvSpPr>
          <p:cNvPr id="16" name="Rectangle 15"/>
          <p:cNvSpPr/>
          <p:nvPr/>
        </p:nvSpPr>
        <p:spPr>
          <a:xfrm>
            <a:off x="9066696" y="2252755"/>
            <a:ext cx="3082440" cy="43176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Execute at target process</a:t>
            </a:r>
            <a:endParaRPr lang="en-IN" sz="2000" dirty="0">
              <a:solidFill>
                <a:schemeClr val="tx1"/>
              </a:solidFill>
            </a:endParaRPr>
          </a:p>
        </p:txBody>
      </p:sp>
      <p:sp>
        <p:nvSpPr>
          <p:cNvPr id="17" name="Rectangle 16"/>
          <p:cNvSpPr/>
          <p:nvPr/>
        </p:nvSpPr>
        <p:spPr>
          <a:xfrm>
            <a:off x="9066696" y="3082909"/>
            <a:ext cx="3082440" cy="474218"/>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Execute in separate process</a:t>
            </a:r>
            <a:endParaRPr lang="en-IN" sz="2000" dirty="0">
              <a:solidFill>
                <a:schemeClr val="tx1"/>
              </a:solidFill>
            </a:endParaRPr>
          </a:p>
        </p:txBody>
      </p:sp>
      <p:sp>
        <p:nvSpPr>
          <p:cNvPr id="18" name="Rectangle 17"/>
          <p:cNvSpPr/>
          <p:nvPr/>
        </p:nvSpPr>
        <p:spPr>
          <a:xfrm>
            <a:off x="9066696" y="5341868"/>
            <a:ext cx="3082440" cy="404939"/>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Migrate process</a:t>
            </a:r>
            <a:endParaRPr lang="en-IN" sz="2000" dirty="0">
              <a:solidFill>
                <a:schemeClr val="tx1"/>
              </a:solidFill>
            </a:endParaRPr>
          </a:p>
        </p:txBody>
      </p:sp>
      <p:sp>
        <p:nvSpPr>
          <p:cNvPr id="19" name="Rectangle 18"/>
          <p:cNvSpPr/>
          <p:nvPr/>
        </p:nvSpPr>
        <p:spPr>
          <a:xfrm>
            <a:off x="9066696" y="6179905"/>
            <a:ext cx="3082440" cy="361052"/>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dirty="0" smtClean="0">
                <a:solidFill>
                  <a:schemeClr val="tx1"/>
                </a:solidFill>
              </a:rPr>
              <a:t>Clone process</a:t>
            </a:r>
            <a:endParaRPr lang="en-IN" sz="2400" dirty="0">
              <a:solidFill>
                <a:schemeClr val="tx1"/>
              </a:solidFill>
            </a:endParaRPr>
          </a:p>
        </p:txBody>
      </p:sp>
      <p:grpSp>
        <p:nvGrpSpPr>
          <p:cNvPr id="67" name="Group 66"/>
          <p:cNvGrpSpPr/>
          <p:nvPr/>
        </p:nvGrpSpPr>
        <p:grpSpPr>
          <a:xfrm>
            <a:off x="1798495" y="2145718"/>
            <a:ext cx="982708" cy="2748118"/>
            <a:chOff x="1798495" y="2145718"/>
            <a:chExt cx="982708" cy="2748118"/>
          </a:xfrm>
        </p:grpSpPr>
        <p:cxnSp>
          <p:nvCxnSpPr>
            <p:cNvPr id="21" name="Straight Arrow Connector 20"/>
            <p:cNvCxnSpPr>
              <a:stCxn id="3" idx="3"/>
              <a:endCxn id="6" idx="1"/>
            </p:cNvCxnSpPr>
            <p:nvPr/>
          </p:nvCxnSpPr>
          <p:spPr>
            <a:xfrm flipV="1">
              <a:off x="1798495" y="2145718"/>
              <a:ext cx="982708" cy="13118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3" idx="3"/>
            </p:cNvCxnSpPr>
            <p:nvPr/>
          </p:nvCxnSpPr>
          <p:spPr>
            <a:xfrm>
              <a:off x="1798495" y="3457575"/>
              <a:ext cx="958033" cy="14362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8" name="Group 67"/>
          <p:cNvGrpSpPr/>
          <p:nvPr/>
        </p:nvGrpSpPr>
        <p:grpSpPr>
          <a:xfrm>
            <a:off x="4900516" y="1491473"/>
            <a:ext cx="1181058" cy="1458702"/>
            <a:chOff x="4900516" y="1491473"/>
            <a:chExt cx="1181058" cy="1458702"/>
          </a:xfrm>
        </p:grpSpPr>
        <p:cxnSp>
          <p:nvCxnSpPr>
            <p:cNvPr id="24" name="Straight Arrow Connector 23"/>
            <p:cNvCxnSpPr>
              <a:stCxn id="6" idx="3"/>
              <a:endCxn id="8" idx="1"/>
            </p:cNvCxnSpPr>
            <p:nvPr/>
          </p:nvCxnSpPr>
          <p:spPr>
            <a:xfrm flipV="1">
              <a:off x="4900516" y="1491473"/>
              <a:ext cx="1170999" cy="65424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6" idx="3"/>
              <a:endCxn id="15" idx="1"/>
            </p:cNvCxnSpPr>
            <p:nvPr/>
          </p:nvCxnSpPr>
          <p:spPr>
            <a:xfrm>
              <a:off x="4900516" y="2145718"/>
              <a:ext cx="1181058" cy="8044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9" name="Group 68"/>
          <p:cNvGrpSpPr/>
          <p:nvPr/>
        </p:nvGrpSpPr>
        <p:grpSpPr>
          <a:xfrm>
            <a:off x="4881608" y="4408877"/>
            <a:ext cx="1189907" cy="1526353"/>
            <a:chOff x="4881608" y="4408877"/>
            <a:chExt cx="1189907" cy="1526353"/>
          </a:xfrm>
        </p:grpSpPr>
        <p:cxnSp>
          <p:nvCxnSpPr>
            <p:cNvPr id="30" name="Straight Arrow Connector 29"/>
            <p:cNvCxnSpPr>
              <a:stCxn id="7" idx="3"/>
              <a:endCxn id="14" idx="1"/>
            </p:cNvCxnSpPr>
            <p:nvPr/>
          </p:nvCxnSpPr>
          <p:spPr>
            <a:xfrm flipV="1">
              <a:off x="4881608" y="4408877"/>
              <a:ext cx="1189907" cy="56620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7" idx="3"/>
              <a:endCxn id="9" idx="1"/>
            </p:cNvCxnSpPr>
            <p:nvPr/>
          </p:nvCxnSpPr>
          <p:spPr>
            <a:xfrm>
              <a:off x="4881608" y="4975084"/>
              <a:ext cx="1189907" cy="9601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8401062" y="1008019"/>
            <a:ext cx="679922" cy="851383"/>
            <a:chOff x="8401062" y="1008019"/>
            <a:chExt cx="679922" cy="851383"/>
          </a:xfrm>
        </p:grpSpPr>
        <p:cxnSp>
          <p:nvCxnSpPr>
            <p:cNvPr id="36" name="Straight Arrow Connector 35"/>
            <p:cNvCxnSpPr>
              <a:stCxn id="8" idx="3"/>
              <a:endCxn id="10" idx="1"/>
            </p:cNvCxnSpPr>
            <p:nvPr/>
          </p:nvCxnSpPr>
          <p:spPr>
            <a:xfrm flipV="1">
              <a:off x="8401062" y="1008019"/>
              <a:ext cx="679922" cy="4834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8" idx="3"/>
              <a:endCxn id="11" idx="1"/>
            </p:cNvCxnSpPr>
            <p:nvPr/>
          </p:nvCxnSpPr>
          <p:spPr>
            <a:xfrm>
              <a:off x="8401062" y="1491473"/>
              <a:ext cx="665634" cy="3679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1" name="Group 70"/>
          <p:cNvGrpSpPr/>
          <p:nvPr/>
        </p:nvGrpSpPr>
        <p:grpSpPr>
          <a:xfrm>
            <a:off x="8401062" y="2468635"/>
            <a:ext cx="665634" cy="851383"/>
            <a:chOff x="8401062" y="2468635"/>
            <a:chExt cx="665634" cy="851383"/>
          </a:xfrm>
        </p:grpSpPr>
        <p:cxnSp>
          <p:nvCxnSpPr>
            <p:cNvPr id="42" name="Straight Arrow Connector 41"/>
            <p:cNvCxnSpPr>
              <a:stCxn id="15" idx="3"/>
              <a:endCxn id="16" idx="1"/>
            </p:cNvCxnSpPr>
            <p:nvPr/>
          </p:nvCxnSpPr>
          <p:spPr>
            <a:xfrm flipV="1">
              <a:off x="8401062" y="2468635"/>
              <a:ext cx="665634" cy="4815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5" idx="3"/>
              <a:endCxn id="17" idx="1"/>
            </p:cNvCxnSpPr>
            <p:nvPr/>
          </p:nvCxnSpPr>
          <p:spPr>
            <a:xfrm>
              <a:off x="8401062" y="2950175"/>
              <a:ext cx="665634" cy="369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2" name="Group 71"/>
          <p:cNvGrpSpPr/>
          <p:nvPr/>
        </p:nvGrpSpPr>
        <p:grpSpPr>
          <a:xfrm>
            <a:off x="8401062" y="3978465"/>
            <a:ext cx="665634" cy="816093"/>
            <a:chOff x="8401062" y="3978465"/>
            <a:chExt cx="665634" cy="816093"/>
          </a:xfrm>
        </p:grpSpPr>
        <p:cxnSp>
          <p:nvCxnSpPr>
            <p:cNvPr id="48" name="Straight Arrow Connector 47"/>
            <p:cNvCxnSpPr>
              <a:stCxn id="14" idx="3"/>
              <a:endCxn id="12" idx="1"/>
            </p:cNvCxnSpPr>
            <p:nvPr/>
          </p:nvCxnSpPr>
          <p:spPr>
            <a:xfrm flipV="1">
              <a:off x="8401062" y="3978465"/>
              <a:ext cx="665634" cy="4304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4" idx="3"/>
              <a:endCxn id="13" idx="1"/>
            </p:cNvCxnSpPr>
            <p:nvPr/>
          </p:nvCxnSpPr>
          <p:spPr>
            <a:xfrm>
              <a:off x="8401062" y="4408877"/>
              <a:ext cx="665634" cy="38568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8401062" y="5544338"/>
            <a:ext cx="665634" cy="816093"/>
            <a:chOff x="8401062" y="5544338"/>
            <a:chExt cx="665634" cy="816093"/>
          </a:xfrm>
        </p:grpSpPr>
        <p:cxnSp>
          <p:nvCxnSpPr>
            <p:cNvPr id="54" name="Straight Arrow Connector 53"/>
            <p:cNvCxnSpPr>
              <a:stCxn id="9" idx="3"/>
              <a:endCxn id="18" idx="1"/>
            </p:cNvCxnSpPr>
            <p:nvPr/>
          </p:nvCxnSpPr>
          <p:spPr>
            <a:xfrm flipV="1">
              <a:off x="8401062" y="5544338"/>
              <a:ext cx="665634" cy="39089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9" idx="3"/>
              <a:endCxn id="19" idx="1"/>
            </p:cNvCxnSpPr>
            <p:nvPr/>
          </p:nvCxnSpPr>
          <p:spPr>
            <a:xfrm>
              <a:off x="8401062" y="5935230"/>
              <a:ext cx="665634" cy="42520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51107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wipe(left)">
                                      <p:cBhvr>
                                        <p:cTn id="11" dur="500"/>
                                        <p:tgtEl>
                                          <p:spTgt spid="67"/>
                                        </p:tgtEl>
                                      </p:cBhvr>
                                    </p:animEffect>
                                  </p:childTnLst>
                                </p:cTn>
                              </p:par>
                              <p:par>
                                <p:cTn id="12" presetID="1" presetClass="entr" presetSubtype="0" fill="hold" grpId="0" nodeType="withEffect">
                                  <p:stCondLst>
                                    <p:cond delay="500"/>
                                  </p:stCondLst>
                                  <p:childTnLst>
                                    <p:set>
                                      <p:cBhvr>
                                        <p:cTn id="13" dur="1" fill="hold">
                                          <p:stCondLst>
                                            <p:cond delay="0"/>
                                          </p:stCondLst>
                                        </p:cTn>
                                        <p:tgtEl>
                                          <p:spTgt spid="6"/>
                                        </p:tgtEl>
                                        <p:attrNameLst>
                                          <p:attrName>style.visibility</p:attrName>
                                        </p:attrNameLst>
                                      </p:cBhvr>
                                      <p:to>
                                        <p:strVal val="visible"/>
                                      </p:to>
                                    </p:set>
                                  </p:childTnLst>
                                </p:cTn>
                              </p:par>
                              <p:par>
                                <p:cTn id="14" presetID="1" presetClass="entr" presetSubtype="0" fill="hold" grpId="0" nodeType="withEffect">
                                  <p:stCondLst>
                                    <p:cond delay="50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8"/>
                                        </p:tgtEl>
                                        <p:attrNameLst>
                                          <p:attrName>style.visibility</p:attrName>
                                        </p:attrNameLst>
                                      </p:cBhvr>
                                      <p:to>
                                        <p:strVal val="visible"/>
                                      </p:to>
                                    </p:set>
                                    <p:animEffect transition="in" filter="wipe(left)">
                                      <p:cBhvr>
                                        <p:cTn id="20" dur="500"/>
                                        <p:tgtEl>
                                          <p:spTgt spid="68"/>
                                        </p:tgtEl>
                                      </p:cBhvr>
                                    </p:animEffect>
                                  </p:childTnLst>
                                </p:cTn>
                              </p:par>
                              <p:par>
                                <p:cTn id="21" presetID="22" presetClass="entr" presetSubtype="8" fill="hold" nodeType="with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wipe(left)">
                                      <p:cBhvr>
                                        <p:cTn id="23" dur="500"/>
                                        <p:tgtEl>
                                          <p:spTgt spid="69"/>
                                        </p:tgtEl>
                                      </p:cBhvr>
                                    </p:animEffect>
                                  </p:childTnLst>
                                </p:cTn>
                              </p:par>
                              <p:par>
                                <p:cTn id="24" presetID="1" presetClass="entr" presetSubtype="0" fill="hold" grpId="0" nodeType="withEffect">
                                  <p:stCondLst>
                                    <p:cond delay="500"/>
                                  </p:stCondLst>
                                  <p:childTnLst>
                                    <p:set>
                                      <p:cBhvr>
                                        <p:cTn id="25" dur="1" fill="hold">
                                          <p:stCondLst>
                                            <p:cond delay="0"/>
                                          </p:stCondLst>
                                        </p:cTn>
                                        <p:tgtEl>
                                          <p:spTgt spid="8"/>
                                        </p:tgtEl>
                                        <p:attrNameLst>
                                          <p:attrName>style.visibility</p:attrName>
                                        </p:attrNameLst>
                                      </p:cBhvr>
                                      <p:to>
                                        <p:strVal val="visible"/>
                                      </p:to>
                                    </p:set>
                                  </p:childTnLst>
                                </p:cTn>
                              </p:par>
                              <p:par>
                                <p:cTn id="26" presetID="1" presetClass="entr" presetSubtype="0" fill="hold" grpId="0" nodeType="withEffect">
                                  <p:stCondLst>
                                    <p:cond delay="500"/>
                                  </p:stCondLst>
                                  <p:childTnLst>
                                    <p:set>
                                      <p:cBhvr>
                                        <p:cTn id="27" dur="1" fill="hold">
                                          <p:stCondLst>
                                            <p:cond delay="0"/>
                                          </p:stCondLst>
                                        </p:cTn>
                                        <p:tgtEl>
                                          <p:spTgt spid="15"/>
                                        </p:tgtEl>
                                        <p:attrNameLst>
                                          <p:attrName>style.visibility</p:attrName>
                                        </p:attrNameLst>
                                      </p:cBhvr>
                                      <p:to>
                                        <p:strVal val="visible"/>
                                      </p:to>
                                    </p:set>
                                  </p:childTnLst>
                                </p:cTn>
                              </p:par>
                              <p:par>
                                <p:cTn id="28" presetID="1" presetClass="entr" presetSubtype="0" fill="hold" grpId="0" nodeType="withEffect">
                                  <p:stCondLst>
                                    <p:cond delay="500"/>
                                  </p:stCondLst>
                                  <p:childTnLst>
                                    <p:set>
                                      <p:cBhvr>
                                        <p:cTn id="29" dur="1" fill="hold">
                                          <p:stCondLst>
                                            <p:cond delay="0"/>
                                          </p:stCondLst>
                                        </p:cTn>
                                        <p:tgtEl>
                                          <p:spTgt spid="14"/>
                                        </p:tgtEl>
                                        <p:attrNameLst>
                                          <p:attrName>style.visibility</p:attrName>
                                        </p:attrNameLst>
                                      </p:cBhvr>
                                      <p:to>
                                        <p:strVal val="visible"/>
                                      </p:to>
                                    </p:set>
                                  </p:childTnLst>
                                </p:cTn>
                              </p:par>
                              <p:par>
                                <p:cTn id="30" presetID="1" presetClass="entr" presetSubtype="0" fill="hold" grpId="0" nodeType="withEffect">
                                  <p:stCondLst>
                                    <p:cond delay="50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70"/>
                                        </p:tgtEl>
                                        <p:attrNameLst>
                                          <p:attrName>style.visibility</p:attrName>
                                        </p:attrNameLst>
                                      </p:cBhvr>
                                      <p:to>
                                        <p:strVal val="visible"/>
                                      </p:to>
                                    </p:set>
                                    <p:animEffect transition="in" filter="wipe(left)">
                                      <p:cBhvr>
                                        <p:cTn id="36" dur="500"/>
                                        <p:tgtEl>
                                          <p:spTgt spid="70"/>
                                        </p:tgtEl>
                                      </p:cBhvr>
                                    </p:animEffect>
                                  </p:childTnLst>
                                </p:cTn>
                              </p:par>
                              <p:par>
                                <p:cTn id="37" presetID="22" presetClass="entr" presetSubtype="8" fill="hold" nodeType="withEffect">
                                  <p:stCondLst>
                                    <p:cond delay="0"/>
                                  </p:stCondLst>
                                  <p:childTnLst>
                                    <p:set>
                                      <p:cBhvr>
                                        <p:cTn id="38" dur="1" fill="hold">
                                          <p:stCondLst>
                                            <p:cond delay="0"/>
                                          </p:stCondLst>
                                        </p:cTn>
                                        <p:tgtEl>
                                          <p:spTgt spid="71"/>
                                        </p:tgtEl>
                                        <p:attrNameLst>
                                          <p:attrName>style.visibility</p:attrName>
                                        </p:attrNameLst>
                                      </p:cBhvr>
                                      <p:to>
                                        <p:strVal val="visible"/>
                                      </p:to>
                                    </p:set>
                                    <p:animEffect transition="in" filter="wipe(left)">
                                      <p:cBhvr>
                                        <p:cTn id="39" dur="500"/>
                                        <p:tgtEl>
                                          <p:spTgt spid="71"/>
                                        </p:tgtEl>
                                      </p:cBhvr>
                                    </p:animEffect>
                                  </p:childTnLst>
                                </p:cTn>
                              </p:par>
                              <p:par>
                                <p:cTn id="40" presetID="22" presetClass="entr" presetSubtype="8" fill="hold" nodeType="withEffect">
                                  <p:stCondLst>
                                    <p:cond delay="0"/>
                                  </p:stCondLst>
                                  <p:childTnLst>
                                    <p:set>
                                      <p:cBhvr>
                                        <p:cTn id="41" dur="1" fill="hold">
                                          <p:stCondLst>
                                            <p:cond delay="0"/>
                                          </p:stCondLst>
                                        </p:cTn>
                                        <p:tgtEl>
                                          <p:spTgt spid="72"/>
                                        </p:tgtEl>
                                        <p:attrNameLst>
                                          <p:attrName>style.visibility</p:attrName>
                                        </p:attrNameLst>
                                      </p:cBhvr>
                                      <p:to>
                                        <p:strVal val="visible"/>
                                      </p:to>
                                    </p:set>
                                    <p:animEffect transition="in" filter="wipe(left)">
                                      <p:cBhvr>
                                        <p:cTn id="42" dur="500"/>
                                        <p:tgtEl>
                                          <p:spTgt spid="72"/>
                                        </p:tgtEl>
                                      </p:cBhvr>
                                    </p:animEffect>
                                  </p:childTnLst>
                                </p:cTn>
                              </p:par>
                              <p:par>
                                <p:cTn id="43" presetID="22" presetClass="entr" presetSubtype="8" fill="hold" nodeType="withEffect">
                                  <p:stCondLst>
                                    <p:cond delay="0"/>
                                  </p:stCondLst>
                                  <p:childTnLst>
                                    <p:set>
                                      <p:cBhvr>
                                        <p:cTn id="44" dur="1" fill="hold">
                                          <p:stCondLst>
                                            <p:cond delay="0"/>
                                          </p:stCondLst>
                                        </p:cTn>
                                        <p:tgtEl>
                                          <p:spTgt spid="73"/>
                                        </p:tgtEl>
                                        <p:attrNameLst>
                                          <p:attrName>style.visibility</p:attrName>
                                        </p:attrNameLst>
                                      </p:cBhvr>
                                      <p:to>
                                        <p:strVal val="visible"/>
                                      </p:to>
                                    </p:set>
                                    <p:animEffect transition="in" filter="wipe(left)">
                                      <p:cBhvr>
                                        <p:cTn id="45" dur="500"/>
                                        <p:tgtEl>
                                          <p:spTgt spid="73"/>
                                        </p:tgtEl>
                                      </p:cBhvr>
                                    </p:animEffect>
                                  </p:childTnLst>
                                </p:cTn>
                              </p:par>
                              <p:par>
                                <p:cTn id="46" presetID="1" presetClass="entr" presetSubtype="0" fill="hold" grpId="0" nodeType="withEffect">
                                  <p:stCondLst>
                                    <p:cond delay="500"/>
                                  </p:stCondLst>
                                  <p:childTnLst>
                                    <p:set>
                                      <p:cBhvr>
                                        <p:cTn id="47" dur="1" fill="hold">
                                          <p:stCondLst>
                                            <p:cond delay="0"/>
                                          </p:stCondLst>
                                        </p:cTn>
                                        <p:tgtEl>
                                          <p:spTgt spid="10"/>
                                        </p:tgtEl>
                                        <p:attrNameLst>
                                          <p:attrName>style.visibility</p:attrName>
                                        </p:attrNameLst>
                                      </p:cBhvr>
                                      <p:to>
                                        <p:strVal val="visible"/>
                                      </p:to>
                                    </p:set>
                                  </p:childTnLst>
                                </p:cTn>
                              </p:par>
                              <p:par>
                                <p:cTn id="48" presetID="1" presetClass="entr" presetSubtype="0" fill="hold" grpId="0" nodeType="withEffect">
                                  <p:stCondLst>
                                    <p:cond delay="500"/>
                                  </p:stCondLst>
                                  <p:childTnLst>
                                    <p:set>
                                      <p:cBhvr>
                                        <p:cTn id="49" dur="1" fill="hold">
                                          <p:stCondLst>
                                            <p:cond delay="0"/>
                                          </p:stCondLst>
                                        </p:cTn>
                                        <p:tgtEl>
                                          <p:spTgt spid="11"/>
                                        </p:tgtEl>
                                        <p:attrNameLst>
                                          <p:attrName>style.visibility</p:attrName>
                                        </p:attrNameLst>
                                      </p:cBhvr>
                                      <p:to>
                                        <p:strVal val="visible"/>
                                      </p:to>
                                    </p:set>
                                  </p:childTnLst>
                                </p:cTn>
                              </p:par>
                              <p:par>
                                <p:cTn id="50" presetID="1" presetClass="entr" presetSubtype="0" fill="hold" grpId="0" nodeType="withEffect">
                                  <p:stCondLst>
                                    <p:cond delay="500"/>
                                  </p:stCondLst>
                                  <p:childTnLst>
                                    <p:set>
                                      <p:cBhvr>
                                        <p:cTn id="51" dur="1" fill="hold">
                                          <p:stCondLst>
                                            <p:cond delay="0"/>
                                          </p:stCondLst>
                                        </p:cTn>
                                        <p:tgtEl>
                                          <p:spTgt spid="12"/>
                                        </p:tgtEl>
                                        <p:attrNameLst>
                                          <p:attrName>style.visibility</p:attrName>
                                        </p:attrNameLst>
                                      </p:cBhvr>
                                      <p:to>
                                        <p:strVal val="visible"/>
                                      </p:to>
                                    </p:set>
                                  </p:childTnLst>
                                </p:cTn>
                              </p:par>
                              <p:par>
                                <p:cTn id="52" presetID="1" presetClass="entr" presetSubtype="0" fill="hold" grpId="0" nodeType="withEffect">
                                  <p:stCondLst>
                                    <p:cond delay="500"/>
                                  </p:stCondLst>
                                  <p:childTnLst>
                                    <p:set>
                                      <p:cBhvr>
                                        <p:cTn id="53" dur="1" fill="hold">
                                          <p:stCondLst>
                                            <p:cond delay="0"/>
                                          </p:stCondLst>
                                        </p:cTn>
                                        <p:tgtEl>
                                          <p:spTgt spid="13"/>
                                        </p:tgtEl>
                                        <p:attrNameLst>
                                          <p:attrName>style.visibility</p:attrName>
                                        </p:attrNameLst>
                                      </p:cBhvr>
                                      <p:to>
                                        <p:strVal val="visible"/>
                                      </p:to>
                                    </p:set>
                                  </p:childTnLst>
                                </p:cTn>
                              </p:par>
                              <p:par>
                                <p:cTn id="54" presetID="1" presetClass="entr" presetSubtype="0" fill="hold" grpId="0" nodeType="withEffect">
                                  <p:stCondLst>
                                    <p:cond delay="500"/>
                                  </p:stCondLst>
                                  <p:childTnLst>
                                    <p:set>
                                      <p:cBhvr>
                                        <p:cTn id="55" dur="1" fill="hold">
                                          <p:stCondLst>
                                            <p:cond delay="0"/>
                                          </p:stCondLst>
                                        </p:cTn>
                                        <p:tgtEl>
                                          <p:spTgt spid="16"/>
                                        </p:tgtEl>
                                        <p:attrNameLst>
                                          <p:attrName>style.visibility</p:attrName>
                                        </p:attrNameLst>
                                      </p:cBhvr>
                                      <p:to>
                                        <p:strVal val="visible"/>
                                      </p:to>
                                    </p:set>
                                  </p:childTnLst>
                                </p:cTn>
                              </p:par>
                              <p:par>
                                <p:cTn id="56" presetID="1" presetClass="entr" presetSubtype="0" fill="hold" grpId="0" nodeType="withEffect">
                                  <p:stCondLst>
                                    <p:cond delay="500"/>
                                  </p:stCondLst>
                                  <p:childTnLst>
                                    <p:set>
                                      <p:cBhvr>
                                        <p:cTn id="57" dur="1" fill="hold">
                                          <p:stCondLst>
                                            <p:cond delay="0"/>
                                          </p:stCondLst>
                                        </p:cTn>
                                        <p:tgtEl>
                                          <p:spTgt spid="17"/>
                                        </p:tgtEl>
                                        <p:attrNameLst>
                                          <p:attrName>style.visibility</p:attrName>
                                        </p:attrNameLst>
                                      </p:cBhvr>
                                      <p:to>
                                        <p:strVal val="visible"/>
                                      </p:to>
                                    </p:set>
                                  </p:childTnLst>
                                </p:cTn>
                              </p:par>
                              <p:par>
                                <p:cTn id="58" presetID="1" presetClass="entr" presetSubtype="0" fill="hold" grpId="0" nodeType="withEffect">
                                  <p:stCondLst>
                                    <p:cond delay="500"/>
                                  </p:stCondLst>
                                  <p:childTnLst>
                                    <p:set>
                                      <p:cBhvr>
                                        <p:cTn id="59" dur="1" fill="hold">
                                          <p:stCondLst>
                                            <p:cond delay="0"/>
                                          </p:stCondLst>
                                        </p:cTn>
                                        <p:tgtEl>
                                          <p:spTgt spid="18"/>
                                        </p:tgtEl>
                                        <p:attrNameLst>
                                          <p:attrName>style.visibility</p:attrName>
                                        </p:attrNameLst>
                                      </p:cBhvr>
                                      <p:to>
                                        <p:strVal val="visible"/>
                                      </p:to>
                                    </p:set>
                                  </p:childTnLst>
                                </p:cTn>
                              </p:par>
                              <p:par>
                                <p:cTn id="60" presetID="1" presetClass="entr" presetSubtype="0" fill="hold" grpId="0" nodeType="withEffect">
                                  <p:stCondLst>
                                    <p:cond delay="500"/>
                                  </p:stCondLst>
                                  <p:childTnLst>
                                    <p:set>
                                      <p:cBhvr>
                                        <p:cTn id="61"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P spid="10" grpId="0"/>
      <p:bldP spid="11" grpId="0"/>
      <p:bldP spid="12" grpId="0"/>
      <p:bldP spid="13" grpId="0"/>
      <p:bldP spid="14" grpId="0" animBg="1"/>
      <p:bldP spid="15" grpId="0" animBg="1"/>
      <p:bldP spid="16" grpId="0"/>
      <p:bldP spid="17" grpId="0"/>
      <p:bldP spid="18" grpId="0"/>
      <p:bldP spid="1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Execute Migrated Code </a:t>
            </a:r>
            <a:r>
              <a:rPr lang="en-US" dirty="0" smtClean="0"/>
              <a:t>for </a:t>
            </a:r>
            <a:r>
              <a:rPr lang="en-US" dirty="0"/>
              <a:t>weak mobility</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en-US" altLang="en-US" sz="2400" dirty="0" smtClean="0"/>
              <a:t>In the case of weak mobility, it also makes a difference if the migrated code is executed by the target process, or whether a separate process is started. </a:t>
            </a:r>
          </a:p>
          <a:p>
            <a:pPr marL="265113" lvl="1" indent="-265113">
              <a:spcBef>
                <a:spcPts val="1000"/>
              </a:spcBef>
              <a:buFont typeface="Webdings" panose="05030102010509060703" pitchFamily="18" charset="2"/>
              <a:buChar char=""/>
            </a:pPr>
            <a:r>
              <a:rPr lang="en-US" altLang="en-US" sz="2400" dirty="0" smtClean="0"/>
              <a:t>For example, Java applets are simply downloaded by a web browser and are executed in the browser's address space.</a:t>
            </a:r>
          </a:p>
          <a:p>
            <a:pPr marL="265113" lvl="1" indent="-265113">
              <a:spcBef>
                <a:spcPts val="1000"/>
              </a:spcBef>
              <a:buFont typeface="Webdings" panose="05030102010509060703" pitchFamily="18" charset="2"/>
              <a:buChar char=""/>
            </a:pPr>
            <a:r>
              <a:rPr lang="en-US" altLang="en-US" sz="2400" dirty="0" smtClean="0">
                <a:solidFill>
                  <a:schemeClr val="accent6"/>
                </a:solidFill>
              </a:rPr>
              <a:t>Benefit for executing code at target process</a:t>
            </a:r>
            <a:r>
              <a:rPr lang="en-US" altLang="en-US" sz="2400" dirty="0" smtClean="0"/>
              <a:t>: There is no need to start a separate process, thereby avoiding communication at the target machine.</a:t>
            </a:r>
          </a:p>
          <a:p>
            <a:pPr marL="265113" lvl="1" indent="-265113">
              <a:spcBef>
                <a:spcPts val="1000"/>
              </a:spcBef>
              <a:buFont typeface="Webdings" panose="05030102010509060703" pitchFamily="18" charset="2"/>
              <a:buChar char=""/>
            </a:pPr>
            <a:r>
              <a:rPr lang="en-US" altLang="en-US" sz="2400" dirty="0" smtClean="0">
                <a:solidFill>
                  <a:schemeClr val="accent6"/>
                </a:solidFill>
              </a:rPr>
              <a:t>Drawback for executing code at target process</a:t>
            </a:r>
            <a:r>
              <a:rPr lang="en-US" altLang="en-US" sz="2400" dirty="0" smtClean="0"/>
              <a:t>: The target process needs to be protected against malicious or inadvertent code executions. </a:t>
            </a:r>
            <a:endParaRPr lang="en-US" altLang="en-US" sz="2400" dirty="0"/>
          </a:p>
        </p:txBody>
      </p:sp>
    </p:spTree>
    <p:extLst>
      <p:ext uri="{BB962C8B-B14F-4D97-AF65-F5344CB8AC3E}">
        <p14:creationId xmlns:p14="http://schemas.microsoft.com/office/powerpoint/2010/main" val="300966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Migrate or Clone Process </a:t>
            </a:r>
            <a:r>
              <a:rPr lang="en-US" dirty="0" smtClean="0"/>
              <a:t>(for </a:t>
            </a:r>
            <a:r>
              <a:rPr lang="en-US" dirty="0"/>
              <a:t>strong </a:t>
            </a:r>
            <a:r>
              <a:rPr lang="en-US" dirty="0" smtClean="0"/>
              <a:t>mobility)</a:t>
            </a:r>
            <a:endParaRPr lang="en-US" dirty="0"/>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en-US" altLang="en-US" sz="2400" dirty="0"/>
              <a:t>Instead of moving a running process, also referred to as process migration, strong mobility can also </a:t>
            </a:r>
            <a:r>
              <a:rPr lang="en-US" altLang="en-US" sz="2400" dirty="0" smtClean="0"/>
              <a:t>be supported </a:t>
            </a:r>
            <a:r>
              <a:rPr lang="en-US" altLang="en-US" sz="2400" dirty="0"/>
              <a:t>by remote </a:t>
            </a:r>
            <a:r>
              <a:rPr lang="en-US" altLang="en-US" sz="2400" dirty="0" smtClean="0"/>
              <a:t>cloning.</a:t>
            </a:r>
          </a:p>
          <a:p>
            <a:pPr marL="265113" lvl="1" indent="-265113">
              <a:spcBef>
                <a:spcPts val="1000"/>
              </a:spcBef>
              <a:buFont typeface="Webdings" panose="05030102010509060703" pitchFamily="18" charset="2"/>
              <a:buChar char=""/>
            </a:pPr>
            <a:r>
              <a:rPr lang="en-US" altLang="en-US" sz="2400" dirty="0" smtClean="0"/>
              <a:t>In </a:t>
            </a:r>
            <a:r>
              <a:rPr lang="en-US" altLang="en-US" sz="2400" dirty="0"/>
              <a:t>contrast to process migration, cloning yields an exact copy of the </a:t>
            </a:r>
            <a:r>
              <a:rPr lang="en-US" altLang="en-US" sz="2400" dirty="0" smtClean="0"/>
              <a:t>original process</a:t>
            </a:r>
            <a:r>
              <a:rPr lang="en-US" altLang="en-US" sz="2400" dirty="0"/>
              <a:t>, but now running on a different machine</a:t>
            </a:r>
            <a:r>
              <a:rPr lang="en-US" altLang="en-US" sz="2400" dirty="0" smtClean="0"/>
              <a:t>.</a:t>
            </a:r>
          </a:p>
          <a:p>
            <a:pPr marL="265113" lvl="1" indent="-265113">
              <a:spcBef>
                <a:spcPts val="1000"/>
              </a:spcBef>
              <a:buFont typeface="Webdings" panose="05030102010509060703" pitchFamily="18" charset="2"/>
              <a:buChar char=""/>
            </a:pPr>
            <a:r>
              <a:rPr lang="en-US" altLang="en-US" sz="2400" dirty="0" smtClean="0"/>
              <a:t>The </a:t>
            </a:r>
            <a:r>
              <a:rPr lang="en-US" altLang="en-US" sz="2400" dirty="0"/>
              <a:t>cloned process is executed in parallel to the </a:t>
            </a:r>
            <a:r>
              <a:rPr lang="en-US" altLang="en-US" sz="2400" dirty="0" smtClean="0"/>
              <a:t>original process.</a:t>
            </a:r>
          </a:p>
          <a:p>
            <a:pPr marL="265113" lvl="1" indent="-265113">
              <a:spcBef>
                <a:spcPts val="1000"/>
              </a:spcBef>
              <a:buFont typeface="Webdings" panose="05030102010509060703" pitchFamily="18" charset="2"/>
              <a:buChar char=""/>
            </a:pPr>
            <a:r>
              <a:rPr lang="en-US" altLang="en-US" sz="2400" dirty="0" smtClean="0">
                <a:solidFill>
                  <a:schemeClr val="accent6"/>
                </a:solidFill>
              </a:rPr>
              <a:t>Benefit </a:t>
            </a:r>
            <a:r>
              <a:rPr lang="en-US" altLang="en-US" sz="2400" dirty="0">
                <a:solidFill>
                  <a:schemeClr val="accent6"/>
                </a:solidFill>
              </a:rPr>
              <a:t>of cloning process</a:t>
            </a:r>
            <a:r>
              <a:rPr lang="en-US" altLang="en-US" sz="2400" dirty="0"/>
              <a:t>: The model closely resembles the one that is already used in </a:t>
            </a:r>
            <a:r>
              <a:rPr lang="en-US" altLang="en-US" sz="2400" dirty="0" smtClean="0"/>
              <a:t>many applications</a:t>
            </a:r>
            <a:r>
              <a:rPr lang="en-US" altLang="en-US" sz="2400" dirty="0"/>
              <a:t>. The only difference is that the cloned process is executed on a different machine.</a:t>
            </a:r>
          </a:p>
          <a:p>
            <a:pPr marL="265113" lvl="1" indent="-265113">
              <a:spcBef>
                <a:spcPts val="1000"/>
              </a:spcBef>
              <a:buFont typeface="Webdings" panose="05030102010509060703" pitchFamily="18" charset="2"/>
              <a:buChar char=""/>
            </a:pPr>
            <a:r>
              <a:rPr lang="en-US" altLang="en-US" sz="2400" dirty="0"/>
              <a:t>In this sense, migration by cloning is a simple way to improve distribution transparency. </a:t>
            </a:r>
          </a:p>
        </p:txBody>
      </p:sp>
    </p:spTree>
    <p:extLst>
      <p:ext uri="{BB962C8B-B14F-4D97-AF65-F5344CB8AC3E}">
        <p14:creationId xmlns:p14="http://schemas.microsoft.com/office/powerpoint/2010/main" val="4257835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Migration and Local Resources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en-US" altLang="en-US" sz="2400" dirty="0"/>
              <a:t>What often makes code migration so difficult is that the resource segment cannot always be </a:t>
            </a:r>
            <a:r>
              <a:rPr lang="en-US" altLang="en-US" sz="2400" dirty="0" smtClean="0"/>
              <a:t>simply transferred </a:t>
            </a:r>
            <a:r>
              <a:rPr lang="en-US" altLang="en-US" sz="2400" dirty="0"/>
              <a:t>along with the other segments without being </a:t>
            </a:r>
            <a:r>
              <a:rPr lang="en-US" altLang="en-US" sz="2400" dirty="0" smtClean="0"/>
              <a:t>changed.</a:t>
            </a:r>
          </a:p>
          <a:p>
            <a:pPr marL="265113" lvl="1" indent="-265113">
              <a:spcBef>
                <a:spcPts val="1000"/>
              </a:spcBef>
              <a:buFont typeface="Webdings" panose="05030102010509060703" pitchFamily="18" charset="2"/>
              <a:buChar char=""/>
            </a:pPr>
            <a:r>
              <a:rPr lang="en-US" altLang="en-US" sz="2400" dirty="0" smtClean="0"/>
              <a:t>When </a:t>
            </a:r>
            <a:r>
              <a:rPr lang="en-US" altLang="en-US" sz="2400" dirty="0"/>
              <a:t>the process moves to another location, it will have to give </a:t>
            </a:r>
            <a:r>
              <a:rPr lang="en-US" altLang="en-US" sz="2400" dirty="0" smtClean="0"/>
              <a:t>up the </a:t>
            </a:r>
            <a:r>
              <a:rPr lang="en-US" altLang="en-US" sz="2400" dirty="0"/>
              <a:t>port and request a new one at the destination. </a:t>
            </a:r>
            <a:endParaRPr lang="en-US" altLang="en-US" sz="2400" dirty="0" smtClean="0"/>
          </a:p>
          <a:p>
            <a:pPr marL="265113" lvl="1" indent="-265113">
              <a:spcBef>
                <a:spcPts val="1000"/>
              </a:spcBef>
              <a:buFont typeface="Webdings" panose="05030102010509060703" pitchFamily="18" charset="2"/>
              <a:buChar char=""/>
            </a:pPr>
            <a:r>
              <a:rPr lang="en-US" altLang="en-US" sz="2400" dirty="0"/>
              <a:t>Process-to-Resource </a:t>
            </a:r>
            <a:r>
              <a:rPr lang="en-US" altLang="en-US" sz="2400" dirty="0" smtClean="0"/>
              <a:t>Bindings</a:t>
            </a:r>
          </a:p>
          <a:p>
            <a:pPr marL="800100" lvl="1" indent="-442913">
              <a:spcBef>
                <a:spcPts val="1000"/>
              </a:spcBef>
              <a:buFont typeface="+mj-lt"/>
              <a:buAutoNum type="arabicPeriod"/>
            </a:pPr>
            <a:r>
              <a:rPr lang="en-US" altLang="en-US" sz="2400" dirty="0"/>
              <a:t>Binding by </a:t>
            </a:r>
            <a:r>
              <a:rPr lang="en-US" altLang="en-US" sz="2400" dirty="0" smtClean="0"/>
              <a:t>Identifier</a:t>
            </a:r>
          </a:p>
          <a:p>
            <a:pPr marL="800100" lvl="1" indent="-442913">
              <a:spcBef>
                <a:spcPts val="1000"/>
              </a:spcBef>
              <a:buFont typeface="+mj-lt"/>
              <a:buAutoNum type="arabicPeriod"/>
            </a:pPr>
            <a:r>
              <a:rPr lang="en-US" altLang="en-US" sz="2400" dirty="0"/>
              <a:t>Binding by </a:t>
            </a:r>
            <a:r>
              <a:rPr lang="en-US" altLang="en-US" sz="2400" dirty="0" smtClean="0"/>
              <a:t>Value</a:t>
            </a:r>
          </a:p>
          <a:p>
            <a:pPr marL="800100" lvl="1" indent="-442913">
              <a:spcBef>
                <a:spcPts val="1000"/>
              </a:spcBef>
              <a:buFont typeface="+mj-lt"/>
              <a:buAutoNum type="arabicPeriod"/>
            </a:pPr>
            <a:r>
              <a:rPr lang="en-US" altLang="en-US" sz="2400" dirty="0"/>
              <a:t>Binding by Type </a:t>
            </a:r>
          </a:p>
        </p:txBody>
      </p:sp>
    </p:spTree>
    <p:extLst>
      <p:ext uri="{BB962C8B-B14F-4D97-AF65-F5344CB8AC3E}">
        <p14:creationId xmlns:p14="http://schemas.microsoft.com/office/powerpoint/2010/main" val="1609077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Process-to-Resource Bindings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lvl="1" indent="0">
              <a:spcBef>
                <a:spcPts val="1000"/>
              </a:spcBef>
              <a:buNone/>
            </a:pPr>
            <a:r>
              <a:rPr lang="en-US" altLang="en-US" sz="2400" b="1" dirty="0">
                <a:solidFill>
                  <a:srgbClr val="1D3064"/>
                </a:solidFill>
              </a:rPr>
              <a:t>Binding by Identifier</a:t>
            </a:r>
          </a:p>
          <a:p>
            <a:pPr marL="265113" lvl="1" indent="-265113">
              <a:spcBef>
                <a:spcPts val="1000"/>
              </a:spcBef>
              <a:buFont typeface="Webdings" panose="05030102010509060703" pitchFamily="18" charset="2"/>
              <a:buChar char=""/>
            </a:pPr>
            <a:r>
              <a:rPr lang="en-US" altLang="en-US" sz="2400" dirty="0"/>
              <a:t>A process refers to a resource by its identifier. In that case, the process requires precisely the referenced resource, and nothing else. </a:t>
            </a:r>
          </a:p>
          <a:p>
            <a:pPr marL="265113" lvl="1" indent="-265113">
              <a:spcBef>
                <a:spcPts val="1000"/>
              </a:spcBef>
              <a:buFont typeface="Webdings" panose="05030102010509060703" pitchFamily="18" charset="2"/>
              <a:buChar char=""/>
            </a:pPr>
            <a:r>
              <a:rPr lang="en-US" altLang="en-US" sz="2400" dirty="0"/>
              <a:t>Examples:</a:t>
            </a:r>
          </a:p>
          <a:p>
            <a:pPr lvl="1">
              <a:buFont typeface="Wingdings" panose="05000000000000000000" pitchFamily="2" charset="2"/>
              <a:buChar char="§"/>
            </a:pPr>
            <a:r>
              <a:rPr lang="en-US" altLang="en-US" sz="2400" dirty="0" smtClean="0"/>
              <a:t>A </a:t>
            </a:r>
            <a:r>
              <a:rPr lang="en-US" altLang="en-US" sz="2400" dirty="0"/>
              <a:t>URL to refer to a specific web site.</a:t>
            </a:r>
          </a:p>
          <a:p>
            <a:pPr lvl="1">
              <a:buFont typeface="Wingdings" panose="05000000000000000000" pitchFamily="2" charset="2"/>
              <a:buChar char="§"/>
            </a:pPr>
            <a:r>
              <a:rPr lang="en-US" altLang="en-US" sz="2400" dirty="0" smtClean="0"/>
              <a:t>Local </a:t>
            </a:r>
            <a:r>
              <a:rPr lang="en-US" altLang="en-US" sz="2400" dirty="0"/>
              <a:t>communication endpoints (IP, port etc.)</a:t>
            </a:r>
          </a:p>
          <a:p>
            <a:pPr marL="0" lvl="1" indent="0">
              <a:spcBef>
                <a:spcPts val="1000"/>
              </a:spcBef>
              <a:buNone/>
            </a:pPr>
            <a:r>
              <a:rPr lang="en-US" altLang="en-US" sz="2400" b="1" dirty="0">
                <a:solidFill>
                  <a:srgbClr val="1D3064"/>
                </a:solidFill>
              </a:rPr>
              <a:t>Binding by Value</a:t>
            </a:r>
          </a:p>
          <a:p>
            <a:pPr marL="265113" lvl="1" indent="-265113">
              <a:spcBef>
                <a:spcPts val="1000"/>
              </a:spcBef>
              <a:buFont typeface="Webdings" panose="05030102010509060703" pitchFamily="18" charset="2"/>
              <a:buChar char=""/>
            </a:pPr>
            <a:r>
              <a:rPr lang="en-US" altLang="en-US" sz="2400" dirty="0"/>
              <a:t>Only the value of a resource is needed. In that case, the execution of the process would not be affected if another resource would provide the same value.</a:t>
            </a:r>
          </a:p>
          <a:p>
            <a:pPr marL="265113" lvl="1" indent="-265113">
              <a:spcBef>
                <a:spcPts val="1000"/>
              </a:spcBef>
              <a:buFont typeface="Webdings" panose="05030102010509060703" pitchFamily="18" charset="2"/>
              <a:buChar char=""/>
            </a:pPr>
            <a:r>
              <a:rPr lang="en-US" altLang="en-US" sz="2400" dirty="0"/>
              <a:t>Example: Standard libraries for programming languages. </a:t>
            </a:r>
          </a:p>
          <a:p>
            <a:pPr marL="0" lvl="1" indent="0">
              <a:spcBef>
                <a:spcPts val="1000"/>
              </a:spcBef>
              <a:buNone/>
            </a:pPr>
            <a:r>
              <a:rPr lang="en-US" altLang="en-US" sz="2400" b="1" dirty="0">
                <a:solidFill>
                  <a:srgbClr val="1D3064"/>
                </a:solidFill>
              </a:rPr>
              <a:t>Binding by Type </a:t>
            </a:r>
          </a:p>
          <a:p>
            <a:pPr marL="265113" lvl="1" indent="-265113">
              <a:spcBef>
                <a:spcPts val="1000"/>
              </a:spcBef>
              <a:buFont typeface="Webdings" panose="05030102010509060703" pitchFamily="18" charset="2"/>
              <a:buChar char=""/>
            </a:pPr>
            <a:r>
              <a:rPr lang="en-US" altLang="en-US" sz="2400" dirty="0"/>
              <a:t>A process indicates it needs only a resource of a specific type.</a:t>
            </a:r>
          </a:p>
          <a:p>
            <a:pPr marL="265113" lvl="1" indent="-265113">
              <a:spcBef>
                <a:spcPts val="1000"/>
              </a:spcBef>
              <a:buFont typeface="Webdings" panose="05030102010509060703" pitchFamily="18" charset="2"/>
              <a:buChar char=""/>
            </a:pPr>
            <a:r>
              <a:rPr lang="en-US" altLang="en-US" sz="2400" dirty="0"/>
              <a:t>Example: References to local devices, such as monitors, printers and so on.</a:t>
            </a:r>
          </a:p>
        </p:txBody>
      </p:sp>
    </p:spTree>
    <p:extLst>
      <p:ext uri="{BB962C8B-B14F-4D97-AF65-F5344CB8AC3E}">
        <p14:creationId xmlns:p14="http://schemas.microsoft.com/office/powerpoint/2010/main" val="41867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Resource Types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en-US" altLang="en-US" sz="2400" dirty="0"/>
              <a:t>When migrating code, we often need to change the references to resources, but cannot affect the kind </a:t>
            </a:r>
            <a:r>
              <a:rPr lang="en-US" altLang="en-US" sz="2400" dirty="0" smtClean="0"/>
              <a:t>of process-to-resource </a:t>
            </a:r>
            <a:r>
              <a:rPr lang="en-US" altLang="en-US" sz="2400" dirty="0"/>
              <a:t>binding.</a:t>
            </a:r>
          </a:p>
          <a:p>
            <a:pPr marL="265113" lvl="1" indent="-265113">
              <a:spcBef>
                <a:spcPts val="1000"/>
              </a:spcBef>
              <a:buFont typeface="Webdings" panose="05030102010509060703" pitchFamily="18" charset="2"/>
              <a:buChar char=""/>
            </a:pPr>
            <a:r>
              <a:rPr lang="en-US" altLang="en-US" sz="2400" dirty="0"/>
              <a:t>Resource </a:t>
            </a:r>
            <a:r>
              <a:rPr lang="en-US" altLang="en-US" sz="2400" dirty="0" smtClean="0"/>
              <a:t>Types:</a:t>
            </a:r>
          </a:p>
          <a:p>
            <a:pPr marL="457200" lvl="1" indent="0">
              <a:buNone/>
            </a:pPr>
            <a:r>
              <a:rPr lang="en-US" altLang="en-US" sz="2400" b="1" dirty="0" smtClean="0">
                <a:solidFill>
                  <a:srgbClr val="1D3064"/>
                </a:solidFill>
              </a:rPr>
              <a:t>Unattached </a:t>
            </a:r>
            <a:r>
              <a:rPr lang="en-US" altLang="en-US" sz="2400" b="1" dirty="0">
                <a:solidFill>
                  <a:srgbClr val="1D3064"/>
                </a:solidFill>
              </a:rPr>
              <a:t>resources </a:t>
            </a:r>
            <a:r>
              <a:rPr lang="en-US" altLang="en-US" sz="2400" dirty="0" smtClean="0"/>
              <a:t>: </a:t>
            </a:r>
          </a:p>
          <a:p>
            <a:pPr lvl="1">
              <a:buFont typeface="Wingdings" panose="05000000000000000000" pitchFamily="2" charset="2"/>
              <a:buChar char="§"/>
            </a:pPr>
            <a:r>
              <a:rPr lang="en-US" altLang="en-US" sz="2400" dirty="0" smtClean="0"/>
              <a:t>They </a:t>
            </a:r>
            <a:r>
              <a:rPr lang="en-US" altLang="en-US" sz="2400" dirty="0"/>
              <a:t>can be easily moved between different machines.</a:t>
            </a:r>
          </a:p>
          <a:p>
            <a:pPr lvl="1">
              <a:buFont typeface="Wingdings" panose="05000000000000000000" pitchFamily="2" charset="2"/>
              <a:buChar char="§"/>
            </a:pPr>
            <a:r>
              <a:rPr lang="en-US" altLang="en-US" sz="2400" dirty="0"/>
              <a:t>Example: Typically (data) files associated only with the program that is to be migrated.</a:t>
            </a:r>
          </a:p>
          <a:p>
            <a:pPr marL="457200" lvl="1" indent="0">
              <a:buNone/>
            </a:pPr>
            <a:r>
              <a:rPr lang="en-US" altLang="en-US" sz="2400" b="1" dirty="0">
                <a:solidFill>
                  <a:srgbClr val="1D3064"/>
                </a:solidFill>
              </a:rPr>
              <a:t>Fastened resources</a:t>
            </a:r>
            <a:r>
              <a:rPr lang="en-US" altLang="en-US" sz="2400" b="1" dirty="0" smtClean="0">
                <a:solidFill>
                  <a:srgbClr val="1D3064"/>
                </a:solidFill>
              </a:rPr>
              <a:t>:</a:t>
            </a:r>
          </a:p>
          <a:p>
            <a:pPr lvl="1">
              <a:buFont typeface="Wingdings" panose="05000000000000000000" pitchFamily="2" charset="2"/>
              <a:buChar char="§"/>
            </a:pPr>
            <a:r>
              <a:rPr lang="en-US" altLang="en-US" sz="2400" dirty="0"/>
              <a:t>They may be copied or moved, but only at relatively high costs.</a:t>
            </a:r>
          </a:p>
          <a:p>
            <a:pPr lvl="1">
              <a:buFont typeface="Wingdings" panose="05000000000000000000" pitchFamily="2" charset="2"/>
              <a:buChar char="§"/>
            </a:pPr>
            <a:r>
              <a:rPr lang="en-US" altLang="en-US" sz="2400" dirty="0"/>
              <a:t>Example: Local databases and complete web sites.</a:t>
            </a:r>
          </a:p>
          <a:p>
            <a:pPr lvl="1">
              <a:buFont typeface="Wingdings" panose="05000000000000000000" pitchFamily="2" charset="2"/>
              <a:buChar char="§"/>
            </a:pPr>
            <a:r>
              <a:rPr lang="en-US" altLang="en-US" sz="2400" dirty="0"/>
              <a:t>Although such resources are, in theory, not dependent on their current machine, it is often </a:t>
            </a:r>
            <a:r>
              <a:rPr lang="en-US" altLang="en-US" sz="2400" dirty="0" smtClean="0"/>
              <a:t>infeasible to </a:t>
            </a:r>
            <a:r>
              <a:rPr lang="en-US" altLang="en-US" sz="2400" dirty="0"/>
              <a:t>move them to another environment.</a:t>
            </a:r>
          </a:p>
          <a:p>
            <a:pPr marL="457200" lvl="1" indent="0">
              <a:buNone/>
            </a:pPr>
            <a:r>
              <a:rPr lang="en-US" altLang="en-US" sz="2400" b="1" dirty="0">
                <a:solidFill>
                  <a:srgbClr val="1D3064"/>
                </a:solidFill>
              </a:rPr>
              <a:t>Fixed resources</a:t>
            </a:r>
            <a:r>
              <a:rPr lang="en-US" altLang="en-US" sz="2400" dirty="0" smtClean="0">
                <a:solidFill>
                  <a:schemeClr val="accent6"/>
                </a:solidFill>
              </a:rPr>
              <a:t>:  </a:t>
            </a:r>
          </a:p>
          <a:p>
            <a:pPr lvl="1">
              <a:buFont typeface="Wingdings" panose="05000000000000000000" pitchFamily="2" charset="2"/>
              <a:buChar char="§"/>
            </a:pPr>
            <a:r>
              <a:rPr lang="en-US" altLang="en-US" sz="2400" dirty="0"/>
              <a:t>They are intimately bound to a specific machine or environment and cannot be moved.</a:t>
            </a:r>
          </a:p>
          <a:p>
            <a:pPr lvl="1">
              <a:buFont typeface="Wingdings" panose="05000000000000000000" pitchFamily="2" charset="2"/>
              <a:buChar char="§"/>
            </a:pPr>
            <a:r>
              <a:rPr lang="en-US" altLang="en-US" sz="2400" dirty="0"/>
              <a:t>Example: Local devices, local communication end points</a:t>
            </a:r>
          </a:p>
        </p:txBody>
      </p:sp>
    </p:spTree>
    <p:extLst>
      <p:ext uri="{BB962C8B-B14F-4D97-AF65-F5344CB8AC3E}">
        <p14:creationId xmlns:p14="http://schemas.microsoft.com/office/powerpoint/2010/main" val="2128737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Managing Local Resources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en-US" altLang="en-US" sz="2400" dirty="0"/>
              <a:t>Combining three types of process-to-resource bindings, </a:t>
            </a:r>
            <a:r>
              <a:rPr lang="en-US" altLang="en-US" sz="2400" dirty="0" smtClean="0"/>
              <a:t>and three </a:t>
            </a:r>
            <a:r>
              <a:rPr lang="en-US" altLang="en-US" sz="2400" dirty="0"/>
              <a:t>types of resource-to-machine bindings, leads to </a:t>
            </a:r>
            <a:r>
              <a:rPr lang="en-US" altLang="en-US" sz="2400" dirty="0" smtClean="0"/>
              <a:t>nine combinations </a:t>
            </a:r>
            <a:r>
              <a:rPr lang="en-US" altLang="en-US" sz="2400" dirty="0"/>
              <a:t>that </a:t>
            </a:r>
            <a:r>
              <a:rPr lang="en-US" altLang="en-US" sz="2400" dirty="0" smtClean="0"/>
              <a:t>we need </a:t>
            </a:r>
            <a:r>
              <a:rPr lang="en-US" altLang="en-US" sz="2400" dirty="0"/>
              <a:t>to consider when migrating code</a:t>
            </a:r>
          </a:p>
        </p:txBody>
      </p:sp>
      <p:graphicFrame>
        <p:nvGraphicFramePr>
          <p:cNvPr id="5" name="Table 4"/>
          <p:cNvGraphicFramePr>
            <a:graphicFrameLocks noGrp="1"/>
          </p:cNvGraphicFramePr>
          <p:nvPr>
            <p:extLst>
              <p:ext uri="{D42A27DB-BD31-4B8C-83A1-F6EECF244321}">
                <p14:modId xmlns:p14="http://schemas.microsoft.com/office/powerpoint/2010/main" val="764634025"/>
              </p:ext>
            </p:extLst>
          </p:nvPr>
        </p:nvGraphicFramePr>
        <p:xfrm>
          <a:off x="2494874" y="2223703"/>
          <a:ext cx="7698873" cy="2327040"/>
        </p:xfrm>
        <a:graphic>
          <a:graphicData uri="http://schemas.openxmlformats.org/drawingml/2006/table">
            <a:tbl>
              <a:tblPr firstRow="1" firstCol="1">
                <a:tableStyleId>{93296810-A885-4BE3-A3E7-6D5BEEA58F35}</a:tableStyleId>
              </a:tblPr>
              <a:tblGrid>
                <a:gridCol w="1872974"/>
                <a:gridCol w="2235200"/>
                <a:gridCol w="2002972"/>
                <a:gridCol w="1587727"/>
              </a:tblGrid>
              <a:tr h="0">
                <a:tc>
                  <a:txBody>
                    <a:bodyPr/>
                    <a:lstStyle/>
                    <a:p>
                      <a:endParaRPr lang="en-IN" sz="2400" dirty="0"/>
                    </a:p>
                  </a:txBody>
                  <a:tcPr marT="108000" marB="108000">
                    <a:solidFill>
                      <a:srgbClr val="1D3064"/>
                    </a:solidFill>
                  </a:tcPr>
                </a:tc>
                <a:tc>
                  <a:txBody>
                    <a:bodyPr/>
                    <a:lstStyle/>
                    <a:p>
                      <a:r>
                        <a:rPr lang="en-IN" sz="2400" dirty="0" smtClean="0"/>
                        <a:t>Unattached</a:t>
                      </a:r>
                      <a:endParaRPr lang="en-IN" sz="2400" dirty="0">
                        <a:solidFill>
                          <a:srgbClr val="1D3064"/>
                        </a:solidFill>
                      </a:endParaRPr>
                    </a:p>
                  </a:txBody>
                  <a:tcPr marT="108000" marB="108000">
                    <a:solidFill>
                      <a:srgbClr val="1D3064"/>
                    </a:solidFill>
                  </a:tcPr>
                </a:tc>
                <a:tc>
                  <a:txBody>
                    <a:bodyPr/>
                    <a:lstStyle/>
                    <a:p>
                      <a:r>
                        <a:rPr lang="en-IN" sz="2400" dirty="0" smtClean="0"/>
                        <a:t>Fastened </a:t>
                      </a:r>
                      <a:endParaRPr lang="en-IN" sz="2400" dirty="0">
                        <a:solidFill>
                          <a:srgbClr val="1D3064"/>
                        </a:solidFill>
                      </a:endParaRPr>
                    </a:p>
                  </a:txBody>
                  <a:tcPr marT="108000" marB="108000">
                    <a:solidFill>
                      <a:srgbClr val="1D3064"/>
                    </a:solidFill>
                  </a:tcPr>
                </a:tc>
                <a:tc>
                  <a:txBody>
                    <a:bodyPr/>
                    <a:lstStyle/>
                    <a:p>
                      <a:r>
                        <a:rPr lang="en-IN" sz="2400" dirty="0" smtClean="0"/>
                        <a:t>Fixed </a:t>
                      </a:r>
                      <a:endParaRPr lang="en-IN" sz="2400" dirty="0">
                        <a:solidFill>
                          <a:srgbClr val="1D3064"/>
                        </a:solidFill>
                      </a:endParaRPr>
                    </a:p>
                  </a:txBody>
                  <a:tcPr marT="108000" marB="108000">
                    <a:solidFill>
                      <a:srgbClr val="1D3064"/>
                    </a:solidFill>
                  </a:tcPr>
                </a:tc>
              </a:tr>
              <a:tr h="370840">
                <a:tc>
                  <a:txBody>
                    <a:bodyPr/>
                    <a:lstStyle/>
                    <a:p>
                      <a:r>
                        <a:rPr lang="en-IN" sz="2400" dirty="0" smtClean="0"/>
                        <a:t>By Identifier</a:t>
                      </a:r>
                      <a:endParaRPr lang="en-IN" sz="2400" dirty="0">
                        <a:solidFill>
                          <a:schemeClr val="accent6"/>
                        </a:solidFill>
                      </a:endParaRPr>
                    </a:p>
                  </a:txBody>
                  <a:tcPr marT="108000" marB="108000">
                    <a:solidFill>
                      <a:srgbClr val="1D3064"/>
                    </a:solidFill>
                  </a:tcPr>
                </a:tc>
                <a:tc>
                  <a:txBody>
                    <a:bodyPr/>
                    <a:lstStyle/>
                    <a:p>
                      <a:r>
                        <a:rPr lang="en-IN" sz="2400" dirty="0" smtClean="0"/>
                        <a:t>MV (or GR)</a:t>
                      </a:r>
                      <a:endParaRPr lang="en-IN" sz="2400" dirty="0"/>
                    </a:p>
                  </a:txBody>
                  <a:tcPr marT="108000" marB="108000">
                    <a:noFill/>
                  </a:tcPr>
                </a:tc>
                <a:tc>
                  <a:txBody>
                    <a:bodyPr/>
                    <a:lstStyle/>
                    <a:p>
                      <a:r>
                        <a:rPr lang="en-IN" sz="2400" dirty="0" smtClean="0"/>
                        <a:t>GR</a:t>
                      </a:r>
                      <a:r>
                        <a:rPr lang="en-IN" sz="2400" baseline="0" dirty="0" smtClean="0"/>
                        <a:t> (or MV)</a:t>
                      </a:r>
                      <a:endParaRPr lang="en-IN" sz="2400" dirty="0"/>
                    </a:p>
                  </a:txBody>
                  <a:tcPr marT="108000" marB="108000">
                    <a:noFill/>
                  </a:tcPr>
                </a:tc>
                <a:tc>
                  <a:txBody>
                    <a:bodyPr/>
                    <a:lstStyle/>
                    <a:p>
                      <a:r>
                        <a:rPr lang="en-IN" sz="2400" dirty="0" smtClean="0"/>
                        <a:t>GR</a:t>
                      </a:r>
                      <a:endParaRPr lang="en-IN" sz="2400" dirty="0"/>
                    </a:p>
                  </a:txBody>
                  <a:tcPr marT="108000" marB="108000">
                    <a:noFill/>
                  </a:tcPr>
                </a:tc>
              </a:tr>
              <a:tr h="370840">
                <a:tc>
                  <a:txBody>
                    <a:bodyPr/>
                    <a:lstStyle/>
                    <a:p>
                      <a:r>
                        <a:rPr lang="en-IN" sz="2400" dirty="0" smtClean="0"/>
                        <a:t>By Value</a:t>
                      </a:r>
                      <a:endParaRPr lang="en-IN" sz="2400" dirty="0">
                        <a:solidFill>
                          <a:schemeClr val="accent6"/>
                        </a:solidFill>
                      </a:endParaRPr>
                    </a:p>
                  </a:txBody>
                  <a:tcPr marT="108000" marB="108000">
                    <a:solidFill>
                      <a:srgbClr val="1D3064"/>
                    </a:solidFill>
                  </a:tcPr>
                </a:tc>
                <a:tc>
                  <a:txBody>
                    <a:bodyPr/>
                    <a:lstStyle/>
                    <a:p>
                      <a:r>
                        <a:rPr lang="en-IN" sz="2400" dirty="0" smtClean="0"/>
                        <a:t>CP (or MV, GR)</a:t>
                      </a:r>
                      <a:endParaRPr lang="en-IN" sz="2400" dirty="0"/>
                    </a:p>
                  </a:txBody>
                  <a:tcPr marT="108000" marB="108000">
                    <a:solidFill>
                      <a:schemeClr val="bg1">
                        <a:lumMod val="95000"/>
                      </a:schemeClr>
                    </a:solidFill>
                  </a:tcPr>
                </a:tc>
                <a:tc>
                  <a:txBody>
                    <a:bodyPr/>
                    <a:lstStyle/>
                    <a:p>
                      <a:r>
                        <a:rPr lang="en-IN" sz="2400" dirty="0" smtClean="0"/>
                        <a:t>GR</a:t>
                      </a:r>
                      <a:r>
                        <a:rPr lang="en-IN" sz="2400" baseline="0" dirty="0" smtClean="0"/>
                        <a:t> (or CP)</a:t>
                      </a:r>
                      <a:endParaRPr lang="en-IN" sz="2400" dirty="0"/>
                    </a:p>
                  </a:txBody>
                  <a:tcPr marT="108000" marB="108000">
                    <a:solidFill>
                      <a:schemeClr val="bg1">
                        <a:lumMod val="95000"/>
                      </a:schemeClr>
                    </a:solidFill>
                  </a:tcPr>
                </a:tc>
                <a:tc>
                  <a:txBody>
                    <a:bodyPr/>
                    <a:lstStyle/>
                    <a:p>
                      <a:r>
                        <a:rPr lang="en-IN" sz="2400" dirty="0" smtClean="0"/>
                        <a:t>GR</a:t>
                      </a:r>
                      <a:endParaRPr lang="en-IN" sz="2400" dirty="0"/>
                    </a:p>
                  </a:txBody>
                  <a:tcPr marT="108000" marB="108000">
                    <a:solidFill>
                      <a:schemeClr val="bg1">
                        <a:lumMod val="95000"/>
                      </a:schemeClr>
                    </a:solidFill>
                  </a:tcPr>
                </a:tc>
              </a:tr>
              <a:tr h="370840">
                <a:tc>
                  <a:txBody>
                    <a:bodyPr/>
                    <a:lstStyle/>
                    <a:p>
                      <a:r>
                        <a:rPr lang="en-IN" sz="2400" dirty="0" smtClean="0"/>
                        <a:t>By</a:t>
                      </a:r>
                      <a:r>
                        <a:rPr lang="en-IN" sz="2400" baseline="0" dirty="0" smtClean="0"/>
                        <a:t> Type</a:t>
                      </a:r>
                      <a:endParaRPr lang="en-IN" sz="2400" dirty="0">
                        <a:solidFill>
                          <a:schemeClr val="accent6"/>
                        </a:solidFill>
                      </a:endParaRPr>
                    </a:p>
                  </a:txBody>
                  <a:tcPr marT="108000" marB="108000">
                    <a:solidFill>
                      <a:srgbClr val="1D3064"/>
                    </a:solidFill>
                  </a:tcPr>
                </a:tc>
                <a:tc>
                  <a:txBody>
                    <a:bodyPr/>
                    <a:lstStyle/>
                    <a:p>
                      <a:r>
                        <a:rPr lang="en-IN" sz="2400" dirty="0" smtClean="0"/>
                        <a:t>RB (or MV, CP)</a:t>
                      </a:r>
                      <a:endParaRPr lang="en-IN" sz="2400" dirty="0"/>
                    </a:p>
                  </a:txBody>
                  <a:tcPr marT="108000" marB="108000">
                    <a:noFill/>
                  </a:tcPr>
                </a:tc>
                <a:tc>
                  <a:txBody>
                    <a:bodyPr/>
                    <a:lstStyle/>
                    <a:p>
                      <a:r>
                        <a:rPr lang="en-IN" sz="2400" dirty="0" smtClean="0"/>
                        <a:t>RB (or GR, CP)</a:t>
                      </a:r>
                      <a:endParaRPr lang="en-IN" sz="2400" dirty="0"/>
                    </a:p>
                  </a:txBody>
                  <a:tcPr marT="108000" marB="108000">
                    <a:noFill/>
                  </a:tcPr>
                </a:tc>
                <a:tc>
                  <a:txBody>
                    <a:bodyPr/>
                    <a:lstStyle/>
                    <a:p>
                      <a:r>
                        <a:rPr lang="en-IN" sz="2400" dirty="0" smtClean="0"/>
                        <a:t>RB (or GR)</a:t>
                      </a:r>
                      <a:endParaRPr lang="en-IN" sz="2400" dirty="0"/>
                    </a:p>
                  </a:txBody>
                  <a:tcPr marT="108000" marB="108000">
                    <a:noFill/>
                  </a:tcPr>
                </a:tc>
              </a:tr>
            </a:tbl>
          </a:graphicData>
        </a:graphic>
      </p:graphicFrame>
      <p:sp>
        <p:nvSpPr>
          <p:cNvPr id="7" name="Rounded Rectangle 6"/>
          <p:cNvSpPr/>
          <p:nvPr/>
        </p:nvSpPr>
        <p:spPr>
          <a:xfrm>
            <a:off x="3160832" y="4695124"/>
            <a:ext cx="4786306" cy="126682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b="1" dirty="0">
                <a:solidFill>
                  <a:schemeClr val="tx1"/>
                </a:solidFill>
              </a:rPr>
              <a:t>GR</a:t>
            </a:r>
            <a:r>
              <a:rPr lang="en-IN" sz="2000" dirty="0">
                <a:solidFill>
                  <a:schemeClr val="tx1"/>
                </a:solidFill>
              </a:rPr>
              <a:t>  Establish global </a:t>
            </a:r>
            <a:r>
              <a:rPr lang="en-IN" sz="2000" dirty="0" smtClean="0">
                <a:solidFill>
                  <a:schemeClr val="tx1"/>
                </a:solidFill>
              </a:rPr>
              <a:t>system wide </a:t>
            </a:r>
            <a:r>
              <a:rPr lang="en-IN" sz="2000" dirty="0">
                <a:solidFill>
                  <a:schemeClr val="tx1"/>
                </a:solidFill>
              </a:rPr>
              <a:t>reference </a:t>
            </a:r>
            <a:endParaRPr lang="en-IN" sz="2000" dirty="0" smtClean="0">
              <a:solidFill>
                <a:schemeClr val="tx1"/>
              </a:solidFill>
            </a:endParaRPr>
          </a:p>
          <a:p>
            <a:r>
              <a:rPr lang="en-IN" sz="2000" b="1" dirty="0">
                <a:solidFill>
                  <a:schemeClr val="tx1"/>
                </a:solidFill>
              </a:rPr>
              <a:t>MV</a:t>
            </a:r>
            <a:r>
              <a:rPr lang="en-IN" sz="2000" dirty="0">
                <a:solidFill>
                  <a:schemeClr val="tx1"/>
                </a:solidFill>
              </a:rPr>
              <a:t> Move the resource</a:t>
            </a:r>
            <a:endParaRPr lang="en-IN" sz="2000" dirty="0" smtClean="0">
              <a:solidFill>
                <a:schemeClr val="tx1"/>
              </a:solidFill>
            </a:endParaRPr>
          </a:p>
          <a:p>
            <a:r>
              <a:rPr lang="en-IN" sz="2000" b="1" dirty="0" smtClean="0">
                <a:solidFill>
                  <a:schemeClr val="tx1"/>
                </a:solidFill>
              </a:rPr>
              <a:t>CP</a:t>
            </a:r>
            <a:r>
              <a:rPr lang="en-IN" sz="2000" dirty="0" smtClean="0">
                <a:solidFill>
                  <a:schemeClr val="tx1"/>
                </a:solidFill>
              </a:rPr>
              <a:t> </a:t>
            </a:r>
            <a:r>
              <a:rPr lang="en-US" sz="2000" dirty="0">
                <a:solidFill>
                  <a:schemeClr val="tx1"/>
                </a:solidFill>
              </a:rPr>
              <a:t>Copy the value of the resource</a:t>
            </a:r>
            <a:endParaRPr lang="en-IN" sz="2000" dirty="0" smtClean="0">
              <a:solidFill>
                <a:schemeClr val="tx1"/>
              </a:solidFill>
            </a:endParaRPr>
          </a:p>
          <a:p>
            <a:r>
              <a:rPr lang="en-IN" sz="2000" b="1" dirty="0" smtClean="0">
                <a:solidFill>
                  <a:schemeClr val="tx1"/>
                </a:solidFill>
              </a:rPr>
              <a:t>RB</a:t>
            </a:r>
            <a:r>
              <a:rPr lang="en-IN" sz="2000" dirty="0" smtClean="0">
                <a:solidFill>
                  <a:schemeClr val="tx1"/>
                </a:solidFill>
              </a:rPr>
              <a:t> </a:t>
            </a:r>
            <a:r>
              <a:rPr lang="en-US" sz="2000" dirty="0" smtClean="0">
                <a:solidFill>
                  <a:schemeClr val="tx1"/>
                </a:solidFill>
              </a:rPr>
              <a:t>Re-bind </a:t>
            </a:r>
            <a:r>
              <a:rPr lang="en-US" sz="2000" dirty="0">
                <a:solidFill>
                  <a:schemeClr val="tx1"/>
                </a:solidFill>
              </a:rPr>
              <a:t>to a locally available resource</a:t>
            </a:r>
            <a:endParaRPr lang="en-IN" sz="2000" dirty="0">
              <a:solidFill>
                <a:schemeClr val="tx1"/>
              </a:solidFill>
            </a:endParaRPr>
          </a:p>
        </p:txBody>
      </p:sp>
      <p:sp>
        <p:nvSpPr>
          <p:cNvPr id="8" name="Rounded Rectangle 7"/>
          <p:cNvSpPr/>
          <p:nvPr/>
        </p:nvSpPr>
        <p:spPr>
          <a:xfrm>
            <a:off x="5015825" y="1628221"/>
            <a:ext cx="4069165" cy="44323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smtClean="0">
                <a:solidFill>
                  <a:srgbClr val="1D3064"/>
                </a:solidFill>
              </a:rPr>
              <a:t>Resource-to-machine Binding</a:t>
            </a:r>
            <a:endParaRPr lang="en-IN" sz="2400" b="1" dirty="0">
              <a:solidFill>
                <a:srgbClr val="1D3064"/>
              </a:solidFill>
            </a:endParaRPr>
          </a:p>
        </p:txBody>
      </p:sp>
      <p:sp>
        <p:nvSpPr>
          <p:cNvPr id="9" name="Rounded Rectangle 8"/>
          <p:cNvSpPr/>
          <p:nvPr/>
        </p:nvSpPr>
        <p:spPr>
          <a:xfrm>
            <a:off x="515808" y="2888137"/>
            <a:ext cx="1923543" cy="148748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Ins="0" rtlCol="0" anchor="ctr"/>
          <a:lstStyle/>
          <a:p>
            <a:r>
              <a:rPr lang="en-IN" sz="2400" b="1" dirty="0" smtClean="0">
                <a:solidFill>
                  <a:srgbClr val="1D3064"/>
                </a:solidFill>
              </a:rPr>
              <a:t>Process-to-resource Binding</a:t>
            </a:r>
            <a:endParaRPr lang="en-IN" sz="2400" b="1" dirty="0">
              <a:solidFill>
                <a:srgbClr val="1D3064"/>
              </a:solidFill>
            </a:endParaRPr>
          </a:p>
        </p:txBody>
      </p:sp>
    </p:spTree>
    <p:extLst>
      <p:ext uri="{BB962C8B-B14F-4D97-AF65-F5344CB8AC3E}">
        <p14:creationId xmlns:p14="http://schemas.microsoft.com/office/powerpoint/2010/main" val="241900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Migration in Heterogeneous Systems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en-US" altLang="en-US" sz="2400" dirty="0"/>
              <a:t>Heterogeneous System: different OS and </a:t>
            </a:r>
            <a:r>
              <a:rPr lang="en-US" altLang="en-US" sz="2400" dirty="0" smtClean="0"/>
              <a:t>machine architecture </a:t>
            </a:r>
            <a:endParaRPr lang="en-US" altLang="en-US" sz="2400" dirty="0"/>
          </a:p>
          <a:p>
            <a:pPr marL="265113" lvl="1" indent="-265113">
              <a:spcBef>
                <a:spcPts val="1000"/>
              </a:spcBef>
              <a:buFont typeface="Webdings" panose="05030102010509060703" pitchFamily="18" charset="2"/>
              <a:buChar char=""/>
            </a:pPr>
            <a:r>
              <a:rPr lang="en-US" altLang="en-US" sz="2400" dirty="0" smtClean="0"/>
              <a:t>If </a:t>
            </a:r>
            <a:r>
              <a:rPr lang="en-US" altLang="en-US" sz="2400" dirty="0"/>
              <a:t>week </a:t>
            </a:r>
            <a:r>
              <a:rPr lang="en-US" altLang="en-US" sz="2400" dirty="0" smtClean="0"/>
              <a:t>mobility </a:t>
            </a:r>
          </a:p>
          <a:p>
            <a:pPr lvl="1">
              <a:buFont typeface="Wingdings" panose="05000000000000000000" pitchFamily="2" charset="2"/>
              <a:buChar char="§"/>
            </a:pPr>
            <a:r>
              <a:rPr lang="en-US" altLang="en-US" sz="2400" dirty="0"/>
              <a:t>No runtime information (execution segment) needed to be transferred</a:t>
            </a:r>
          </a:p>
          <a:p>
            <a:pPr lvl="1">
              <a:buFont typeface="Wingdings" panose="05000000000000000000" pitchFamily="2" charset="2"/>
              <a:buChar char="§"/>
            </a:pPr>
            <a:r>
              <a:rPr lang="en-US" altLang="en-US" sz="2400" dirty="0"/>
              <a:t>Just compiler the source code to generate different code segments, one for each </a:t>
            </a:r>
            <a:r>
              <a:rPr lang="en-US" altLang="en-US" sz="2400" dirty="0" err="1"/>
              <a:t>potenital</a:t>
            </a:r>
            <a:r>
              <a:rPr lang="en-US" altLang="en-US" sz="2400" dirty="0"/>
              <a:t> target machine</a:t>
            </a:r>
          </a:p>
          <a:p>
            <a:pPr marL="265113" lvl="1" indent="-265113">
              <a:spcBef>
                <a:spcPts val="1000"/>
              </a:spcBef>
              <a:buFont typeface="Webdings" panose="05030102010509060703" pitchFamily="18" charset="2"/>
              <a:buChar char=""/>
            </a:pPr>
            <a:r>
              <a:rPr lang="en-US" altLang="en-US" sz="2400" dirty="0" smtClean="0"/>
              <a:t>But </a:t>
            </a:r>
            <a:r>
              <a:rPr lang="en-US" altLang="en-US" sz="2400" dirty="0"/>
              <a:t>how execution segment is migrated at </a:t>
            </a:r>
            <a:r>
              <a:rPr lang="en-US" altLang="en-US" sz="2400" dirty="0" smtClean="0"/>
              <a:t>strong mobility</a:t>
            </a:r>
            <a:r>
              <a:rPr lang="en-US" altLang="en-US" sz="2400" dirty="0"/>
              <a:t>?</a:t>
            </a:r>
          </a:p>
          <a:p>
            <a:pPr lvl="1">
              <a:buFont typeface="Wingdings" panose="05000000000000000000" pitchFamily="2" charset="2"/>
              <a:buChar char="§"/>
            </a:pPr>
            <a:r>
              <a:rPr lang="en-US" altLang="en-US" sz="2400" dirty="0"/>
              <a:t>Execution segment: data private to the process, stack, PC</a:t>
            </a:r>
          </a:p>
          <a:p>
            <a:pPr lvl="1">
              <a:buFont typeface="Wingdings" panose="05000000000000000000" pitchFamily="2" charset="2"/>
              <a:buChar char="§"/>
            </a:pPr>
            <a:r>
              <a:rPr lang="en-US" altLang="en-US" sz="2400" dirty="0"/>
              <a:t>Idea: avoid having execution depend on platform-specific data (like register values in the stack)</a:t>
            </a:r>
          </a:p>
        </p:txBody>
      </p:sp>
    </p:spTree>
    <p:extLst>
      <p:ext uri="{BB962C8B-B14F-4D97-AF65-F5344CB8AC3E}">
        <p14:creationId xmlns:p14="http://schemas.microsoft.com/office/powerpoint/2010/main" val="353463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Migration in Heterogeneous Systems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lvl="1" indent="0">
              <a:spcBef>
                <a:spcPts val="1000"/>
              </a:spcBef>
              <a:buNone/>
            </a:pPr>
            <a:r>
              <a:rPr lang="en-US" altLang="en-US" sz="2400" b="1" dirty="0">
                <a:solidFill>
                  <a:srgbClr val="1D3064"/>
                </a:solidFill>
              </a:rPr>
              <a:t>Solutions:</a:t>
            </a:r>
          </a:p>
          <a:p>
            <a:pPr marL="265113" lvl="1" indent="-265113">
              <a:spcBef>
                <a:spcPts val="1000"/>
              </a:spcBef>
              <a:buFont typeface="Webdings" panose="05030102010509060703" pitchFamily="18" charset="2"/>
              <a:buChar char=""/>
            </a:pPr>
            <a:r>
              <a:rPr lang="en-US" altLang="en-US" sz="2400" dirty="0" smtClean="0"/>
              <a:t>First</a:t>
            </a:r>
            <a:r>
              <a:rPr lang="en-US" altLang="en-US" sz="2400" dirty="0"/>
              <a:t>, code migration is restricted to specific points</a:t>
            </a:r>
          </a:p>
          <a:p>
            <a:pPr lvl="1">
              <a:buFont typeface="Wingdings" panose="05000000000000000000" pitchFamily="2" charset="2"/>
              <a:buChar char="§"/>
            </a:pPr>
            <a:r>
              <a:rPr lang="en-US" altLang="en-US" sz="2400" dirty="0"/>
              <a:t>Only when a next subroutine is called</a:t>
            </a:r>
          </a:p>
          <a:p>
            <a:pPr marL="265113" lvl="1" indent="-265113">
              <a:spcBef>
                <a:spcPts val="1000"/>
              </a:spcBef>
              <a:buFont typeface="Webdings" panose="05030102010509060703" pitchFamily="18" charset="2"/>
              <a:buChar char=""/>
            </a:pPr>
            <a:r>
              <a:rPr lang="en-US" altLang="en-US" sz="2400" dirty="0" smtClean="0"/>
              <a:t>Then</a:t>
            </a:r>
            <a:r>
              <a:rPr lang="en-US" altLang="en-US" sz="2400" dirty="0"/>
              <a:t>, running system maintains its own copy of the stack</a:t>
            </a:r>
            <a:r>
              <a:rPr lang="en-US" altLang="en-US" sz="2400" dirty="0" smtClean="0"/>
              <a:t>, called </a:t>
            </a:r>
            <a:r>
              <a:rPr lang="en-US" altLang="en-US" sz="2400" dirty="0"/>
              <a:t>migration stack, in a machine-independent way</a:t>
            </a:r>
          </a:p>
          <a:p>
            <a:pPr lvl="1">
              <a:buFont typeface="Wingdings" panose="05000000000000000000" pitchFamily="2" charset="2"/>
              <a:buChar char="§"/>
            </a:pPr>
            <a:r>
              <a:rPr lang="en-US" altLang="en-US" sz="2400" dirty="0"/>
              <a:t>Updated when call a subroutine or return from a subroutine</a:t>
            </a:r>
          </a:p>
          <a:p>
            <a:pPr marL="265113" lvl="1" indent="-265113">
              <a:spcBef>
                <a:spcPts val="1000"/>
              </a:spcBef>
              <a:buFont typeface="Webdings" panose="05030102010509060703" pitchFamily="18" charset="2"/>
              <a:buChar char=""/>
            </a:pPr>
            <a:r>
              <a:rPr lang="en-US" altLang="en-US" sz="2400" dirty="0" smtClean="0"/>
              <a:t>Finally</a:t>
            </a:r>
            <a:r>
              <a:rPr lang="en-US" altLang="en-US" sz="2400" dirty="0"/>
              <a:t>, when migrate</a:t>
            </a:r>
          </a:p>
          <a:p>
            <a:pPr lvl="1">
              <a:buFont typeface="Wingdings" panose="05000000000000000000" pitchFamily="2" charset="2"/>
              <a:buChar char="§"/>
            </a:pPr>
            <a:r>
              <a:rPr lang="en-US" altLang="en-US" sz="2400" dirty="0"/>
              <a:t>The global program-specific data are marshaled along with the migration stack are sent</a:t>
            </a:r>
          </a:p>
          <a:p>
            <a:pPr lvl="1">
              <a:buFont typeface="Wingdings" panose="05000000000000000000" pitchFamily="2" charset="2"/>
              <a:buChar char="§"/>
            </a:pPr>
            <a:r>
              <a:rPr lang="en-US" altLang="en-US" sz="2400" dirty="0"/>
              <a:t>The </a:t>
            </a:r>
            <a:r>
              <a:rPr lang="en-US" altLang="en-US" sz="2400" dirty="0" err="1"/>
              <a:t>dest</a:t>
            </a:r>
            <a:r>
              <a:rPr lang="en-US" altLang="en-US" sz="2400" dirty="0"/>
              <a:t>. load the code segment fit for its arch. and OS.</a:t>
            </a:r>
          </a:p>
          <a:p>
            <a:pPr marL="265113" lvl="1" indent="-265113">
              <a:spcBef>
                <a:spcPts val="1000"/>
              </a:spcBef>
              <a:buFont typeface="Webdings" panose="05030102010509060703" pitchFamily="18" charset="2"/>
              <a:buChar char=""/>
            </a:pPr>
            <a:r>
              <a:rPr lang="en-US" altLang="en-US" sz="2400" dirty="0" smtClean="0"/>
              <a:t>It </a:t>
            </a:r>
            <a:r>
              <a:rPr lang="en-US" altLang="en-US" sz="2400" dirty="0"/>
              <a:t>only works if compiler supports such as stack and </a:t>
            </a:r>
            <a:r>
              <a:rPr lang="en-US" altLang="en-US" sz="2400" dirty="0" smtClean="0"/>
              <a:t>a suitable </a:t>
            </a:r>
            <a:r>
              <a:rPr lang="en-US" altLang="en-US" sz="2400" dirty="0"/>
              <a:t>runtime system</a:t>
            </a:r>
          </a:p>
        </p:txBody>
      </p:sp>
    </p:spTree>
    <p:extLst>
      <p:ext uri="{BB962C8B-B14F-4D97-AF65-F5344CB8AC3E}">
        <p14:creationId xmlns:p14="http://schemas.microsoft.com/office/powerpoint/2010/main" val="3264709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Communication in a </a:t>
            </a:r>
            <a:r>
              <a:rPr lang="en-US" dirty="0" smtClean="0"/>
              <a:t>Distributed System</a:t>
            </a:r>
            <a:endParaRPr lang="en-US" dirty="0"/>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en-US" altLang="en-US" sz="2400" dirty="0"/>
              <a:t>In a distributed system, processes run on different machines.</a:t>
            </a:r>
          </a:p>
          <a:p>
            <a:pPr marL="265113" lvl="1" indent="-265113">
              <a:spcBef>
                <a:spcPts val="1000"/>
              </a:spcBef>
              <a:buFont typeface="Webdings" panose="05030102010509060703" pitchFamily="18" charset="2"/>
              <a:buChar char=""/>
            </a:pPr>
            <a:r>
              <a:rPr lang="en-US" altLang="en-US" sz="2400" dirty="0"/>
              <a:t>Processes can only exchange information through message passing.</a:t>
            </a:r>
          </a:p>
          <a:p>
            <a:pPr lvl="1">
              <a:buFont typeface="Wingdings" panose="05000000000000000000" pitchFamily="2" charset="2"/>
              <a:buChar char="§"/>
            </a:pPr>
            <a:r>
              <a:rPr lang="en-US" altLang="en-US" sz="2400" dirty="0"/>
              <a:t>H</a:t>
            </a:r>
            <a:r>
              <a:rPr lang="en-US" altLang="en-US" sz="2400" dirty="0" smtClean="0"/>
              <a:t>arder </a:t>
            </a:r>
            <a:r>
              <a:rPr lang="en-US" altLang="en-US" sz="2400" dirty="0"/>
              <a:t>to program than shared memory communication</a:t>
            </a:r>
          </a:p>
          <a:p>
            <a:pPr marL="265113" lvl="1" indent="-265113">
              <a:spcBef>
                <a:spcPts val="1000"/>
              </a:spcBef>
              <a:buFont typeface="Webdings" panose="05030102010509060703" pitchFamily="18" charset="2"/>
              <a:buChar char=""/>
            </a:pPr>
            <a:r>
              <a:rPr lang="en-US" altLang="en-US" sz="2400" dirty="0"/>
              <a:t>Successful distributed systems depend on communication models that hide or simplify message </a:t>
            </a:r>
            <a:r>
              <a:rPr lang="en-US" altLang="en-US" sz="2400" dirty="0" smtClean="0"/>
              <a:t>passing</a:t>
            </a:r>
          </a:p>
          <a:p>
            <a:pPr marL="265113" lvl="1" indent="-265113">
              <a:spcBef>
                <a:spcPts val="1000"/>
              </a:spcBef>
              <a:buFont typeface="Webdings" panose="05030102010509060703" pitchFamily="18" charset="2"/>
              <a:buChar char=""/>
            </a:pPr>
            <a:r>
              <a:rPr lang="en-US" altLang="en-US" sz="2400" dirty="0"/>
              <a:t>Communication in distributed systems is </a:t>
            </a:r>
            <a:r>
              <a:rPr lang="en-US" altLang="en-US" sz="2400" dirty="0" smtClean="0"/>
              <a:t>always based </a:t>
            </a:r>
            <a:r>
              <a:rPr lang="en-US" altLang="en-US" sz="2400" dirty="0"/>
              <a:t>on low-level message passing as offered by the underlying network</a:t>
            </a:r>
            <a:r>
              <a:rPr lang="en-US" altLang="en-US" sz="2400" dirty="0" smtClean="0"/>
              <a:t>.</a:t>
            </a:r>
            <a:endParaRPr lang="en-US" altLang="en-US" sz="2400" dirty="0"/>
          </a:p>
        </p:txBody>
      </p:sp>
    </p:spTree>
    <p:extLst>
      <p:ext uri="{BB962C8B-B14F-4D97-AF65-F5344CB8AC3E}">
        <p14:creationId xmlns:p14="http://schemas.microsoft.com/office/powerpoint/2010/main" val="1852233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Layered Network Communication Protocols</a:t>
            </a:r>
          </a:p>
        </p:txBody>
      </p:sp>
      <p:sp>
        <p:nvSpPr>
          <p:cNvPr id="112" name="Content Placeholder 111"/>
          <p:cNvSpPr>
            <a:spLocks noGrp="1"/>
          </p:cNvSpPr>
          <p:nvPr>
            <p:ph idx="1"/>
          </p:nvPr>
        </p:nvSpPr>
        <p:spPr>
          <a:xfrm>
            <a:off x="1" y="870244"/>
            <a:ext cx="6207725" cy="5590565"/>
          </a:xfrm>
        </p:spPr>
        <p:txBody>
          <a:bodyPr/>
          <a:lstStyle/>
          <a:p>
            <a:pPr marL="0" lvl="1" indent="0">
              <a:spcBef>
                <a:spcPts val="1000"/>
              </a:spcBef>
              <a:buNone/>
            </a:pPr>
            <a:r>
              <a:rPr lang="en-IN" sz="2400" b="1" dirty="0">
                <a:solidFill>
                  <a:srgbClr val="1D3064"/>
                </a:solidFill>
              </a:rPr>
              <a:t>Physical layer: </a:t>
            </a:r>
          </a:p>
          <a:p>
            <a:r>
              <a:rPr lang="en-IN" dirty="0"/>
              <a:t>T</a:t>
            </a:r>
            <a:r>
              <a:rPr lang="en-IN" dirty="0" smtClean="0"/>
              <a:t>ransmitting </a:t>
            </a:r>
            <a:r>
              <a:rPr lang="en-IN" dirty="0"/>
              <a:t>bits between sender and </a:t>
            </a:r>
            <a:r>
              <a:rPr lang="en-IN" dirty="0" smtClean="0"/>
              <a:t>receiver</a:t>
            </a:r>
          </a:p>
          <a:p>
            <a:r>
              <a:rPr lang="en-US" dirty="0"/>
              <a:t>Functions of a Physical layer: Line Configuration, Data Transmission, Topology, Signals</a:t>
            </a:r>
          </a:p>
          <a:p>
            <a:pPr marL="0" indent="0">
              <a:buNone/>
            </a:pPr>
            <a:r>
              <a:rPr lang="en-IN" sz="2400" b="1" dirty="0" smtClean="0">
                <a:solidFill>
                  <a:srgbClr val="1D3064"/>
                </a:solidFill>
              </a:rPr>
              <a:t>Data </a:t>
            </a:r>
            <a:r>
              <a:rPr lang="en-IN" sz="2400" b="1" dirty="0">
                <a:solidFill>
                  <a:srgbClr val="1D3064"/>
                </a:solidFill>
              </a:rPr>
              <a:t>link layer: </a:t>
            </a:r>
          </a:p>
          <a:p>
            <a:r>
              <a:rPr lang="en-IN" dirty="0" smtClean="0"/>
              <a:t>transmitting </a:t>
            </a:r>
            <a:r>
              <a:rPr lang="en-IN" dirty="0"/>
              <a:t>frames over a link, error detection and </a:t>
            </a:r>
            <a:r>
              <a:rPr lang="en-IN" dirty="0" smtClean="0"/>
              <a:t>correction</a:t>
            </a:r>
          </a:p>
          <a:p>
            <a:r>
              <a:rPr lang="en-US" dirty="0"/>
              <a:t>Functions of a Datalink layer: Framing, Flow Control, Error Control, Access Control</a:t>
            </a:r>
            <a:endParaRPr lang="en-IN" dirty="0" smtClean="0"/>
          </a:p>
          <a:p>
            <a:pPr marL="0" lvl="1" indent="0">
              <a:spcBef>
                <a:spcPts val="1000"/>
              </a:spcBef>
              <a:buNone/>
            </a:pPr>
            <a:r>
              <a:rPr lang="en-IN" sz="2400" b="1" dirty="0" smtClean="0">
                <a:solidFill>
                  <a:srgbClr val="1D3064"/>
                </a:solidFill>
              </a:rPr>
              <a:t>Network </a:t>
            </a:r>
            <a:r>
              <a:rPr lang="en-IN" sz="2400" b="1" dirty="0">
                <a:solidFill>
                  <a:srgbClr val="1D3064"/>
                </a:solidFill>
              </a:rPr>
              <a:t>layer: </a:t>
            </a:r>
          </a:p>
          <a:p>
            <a:r>
              <a:rPr lang="en-IN" dirty="0"/>
              <a:t>R</a:t>
            </a:r>
            <a:r>
              <a:rPr lang="en-IN" dirty="0" smtClean="0"/>
              <a:t>outing </a:t>
            </a:r>
            <a:r>
              <a:rPr lang="en-IN" dirty="0"/>
              <a:t>of packets between source host and destination host</a:t>
            </a:r>
          </a:p>
          <a:p>
            <a:pPr lvl="1">
              <a:buFont typeface="Wingdings" panose="05000000000000000000" pitchFamily="2" charset="2"/>
              <a:buChar char="§"/>
            </a:pPr>
            <a:r>
              <a:rPr lang="en-IN" sz="2400" dirty="0"/>
              <a:t>IP – Internet’s network layer </a:t>
            </a:r>
            <a:r>
              <a:rPr lang="en-IN" sz="2400" dirty="0" smtClean="0"/>
              <a:t>protocol</a:t>
            </a:r>
            <a:endParaRPr lang="en-IN" sz="2400" dirty="0"/>
          </a:p>
        </p:txBody>
      </p:sp>
      <p:grpSp>
        <p:nvGrpSpPr>
          <p:cNvPr id="4" name="Group 3"/>
          <p:cNvGrpSpPr/>
          <p:nvPr/>
        </p:nvGrpSpPr>
        <p:grpSpPr>
          <a:xfrm>
            <a:off x="6200773" y="906470"/>
            <a:ext cx="5891211" cy="5132115"/>
            <a:chOff x="6200773" y="906470"/>
            <a:chExt cx="5891211" cy="5132115"/>
          </a:xfrm>
        </p:grpSpPr>
        <p:sp>
          <p:nvSpPr>
            <p:cNvPr id="87" name="Rounded Rectangle 86"/>
            <p:cNvSpPr/>
            <p:nvPr/>
          </p:nvSpPr>
          <p:spPr>
            <a:xfrm>
              <a:off x="6200773" y="1935573"/>
              <a:ext cx="1551414"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Presentation</a:t>
              </a:r>
              <a:endParaRPr lang="en-IN" sz="2000" dirty="0">
                <a:solidFill>
                  <a:schemeClr val="tx1"/>
                </a:solidFill>
              </a:endParaRPr>
            </a:p>
          </p:txBody>
        </p:sp>
        <p:grpSp>
          <p:nvGrpSpPr>
            <p:cNvPr id="3" name="Group 2"/>
            <p:cNvGrpSpPr/>
            <p:nvPr/>
          </p:nvGrpSpPr>
          <p:grpSpPr>
            <a:xfrm>
              <a:off x="6245417" y="906470"/>
              <a:ext cx="5846567" cy="5132115"/>
              <a:chOff x="6245417" y="906470"/>
              <a:chExt cx="5846567" cy="5132115"/>
            </a:xfrm>
          </p:grpSpPr>
          <p:sp>
            <p:nvSpPr>
              <p:cNvPr id="98" name="Rounded Rectangle 97"/>
              <p:cNvSpPr/>
              <p:nvPr/>
            </p:nvSpPr>
            <p:spPr>
              <a:xfrm>
                <a:off x="8734943" y="5561572"/>
                <a:ext cx="11459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Network</a:t>
                </a:r>
                <a:endParaRPr lang="en-IN" sz="2000" dirty="0">
                  <a:solidFill>
                    <a:schemeClr val="tx1"/>
                  </a:solidFill>
                </a:endParaRPr>
              </a:p>
            </p:txBody>
          </p:sp>
          <p:sp>
            <p:nvSpPr>
              <p:cNvPr id="99" name="Rounded Rectangle 98"/>
              <p:cNvSpPr/>
              <p:nvPr/>
            </p:nvSpPr>
            <p:spPr>
              <a:xfrm>
                <a:off x="8594134" y="113907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Application protocol</a:t>
                </a:r>
                <a:endParaRPr lang="en-IN" sz="2000" dirty="0">
                  <a:solidFill>
                    <a:srgbClr val="1D3064"/>
                  </a:solidFill>
                </a:endParaRPr>
              </a:p>
            </p:txBody>
          </p:sp>
          <p:sp>
            <p:nvSpPr>
              <p:cNvPr id="100" name="Rounded Rectangle 99"/>
              <p:cNvSpPr/>
              <p:nvPr/>
            </p:nvSpPr>
            <p:spPr>
              <a:xfrm>
                <a:off x="8504232" y="1799465"/>
                <a:ext cx="2481886"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Presentation protocol</a:t>
                </a:r>
                <a:endParaRPr lang="en-IN" sz="2000" dirty="0">
                  <a:solidFill>
                    <a:srgbClr val="1D3064"/>
                  </a:solidFill>
                </a:endParaRPr>
              </a:p>
            </p:txBody>
          </p:sp>
          <p:sp>
            <p:nvSpPr>
              <p:cNvPr id="101" name="Rounded Rectangle 100"/>
              <p:cNvSpPr/>
              <p:nvPr/>
            </p:nvSpPr>
            <p:spPr>
              <a:xfrm>
                <a:off x="8651285" y="310280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Transport </a:t>
                </a:r>
                <a:r>
                  <a:rPr lang="en-IN" sz="2000" dirty="0">
                    <a:solidFill>
                      <a:srgbClr val="1D3064"/>
                    </a:solidFill>
                  </a:rPr>
                  <a:t>protocol</a:t>
                </a:r>
              </a:p>
            </p:txBody>
          </p:sp>
          <p:sp>
            <p:nvSpPr>
              <p:cNvPr id="102" name="Rounded Rectangle 101"/>
              <p:cNvSpPr/>
              <p:nvPr/>
            </p:nvSpPr>
            <p:spPr>
              <a:xfrm>
                <a:off x="8651285" y="377748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Network </a:t>
                </a:r>
                <a:r>
                  <a:rPr lang="en-IN" sz="2000" dirty="0">
                    <a:solidFill>
                      <a:srgbClr val="1D3064"/>
                    </a:solidFill>
                  </a:rPr>
                  <a:t>protocol</a:t>
                </a:r>
              </a:p>
            </p:txBody>
          </p:sp>
          <p:sp>
            <p:nvSpPr>
              <p:cNvPr id="103" name="Rounded Rectangle 102"/>
              <p:cNvSpPr/>
              <p:nvPr/>
            </p:nvSpPr>
            <p:spPr>
              <a:xfrm>
                <a:off x="8675709" y="4409299"/>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rgbClr val="1D3064"/>
                    </a:solidFill>
                  </a:rPr>
                  <a:t>Data </a:t>
                </a:r>
                <a:r>
                  <a:rPr lang="en-IN" sz="2000" dirty="0" smtClean="0">
                    <a:solidFill>
                      <a:srgbClr val="1D3064"/>
                    </a:solidFill>
                  </a:rPr>
                  <a:t>link </a:t>
                </a:r>
                <a:r>
                  <a:rPr lang="en-IN" sz="2000" dirty="0">
                    <a:solidFill>
                      <a:srgbClr val="1D3064"/>
                    </a:solidFill>
                  </a:rPr>
                  <a:t>protocol</a:t>
                </a:r>
              </a:p>
            </p:txBody>
          </p:sp>
          <p:sp>
            <p:nvSpPr>
              <p:cNvPr id="104" name="Rounded Rectangle 103"/>
              <p:cNvSpPr/>
              <p:nvPr/>
            </p:nvSpPr>
            <p:spPr>
              <a:xfrm>
                <a:off x="8682851" y="505540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Physical </a:t>
                </a:r>
                <a:r>
                  <a:rPr lang="en-IN" sz="2000" dirty="0">
                    <a:solidFill>
                      <a:srgbClr val="1D3064"/>
                    </a:solidFill>
                  </a:rPr>
                  <a:t>protocol</a:t>
                </a:r>
              </a:p>
            </p:txBody>
          </p:sp>
          <p:sp>
            <p:nvSpPr>
              <p:cNvPr id="92" name="Rounded Rectangle 91"/>
              <p:cNvSpPr/>
              <p:nvPr/>
            </p:nvSpPr>
            <p:spPr>
              <a:xfrm>
                <a:off x="11766922" y="1289469"/>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7</a:t>
                </a:r>
              </a:p>
            </p:txBody>
          </p:sp>
          <p:sp>
            <p:nvSpPr>
              <p:cNvPr id="93" name="Rounded Rectangle 92"/>
              <p:cNvSpPr/>
              <p:nvPr/>
            </p:nvSpPr>
            <p:spPr>
              <a:xfrm>
                <a:off x="11777058" y="1935573"/>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6</a:t>
                </a:r>
              </a:p>
            </p:txBody>
          </p:sp>
          <p:sp>
            <p:nvSpPr>
              <p:cNvPr id="94" name="Rounded Rectangle 93"/>
              <p:cNvSpPr/>
              <p:nvPr/>
            </p:nvSpPr>
            <p:spPr>
              <a:xfrm>
                <a:off x="11781209" y="3267487"/>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4</a:t>
                </a:r>
                <a:endParaRPr lang="en-IN" sz="2000" dirty="0">
                  <a:solidFill>
                    <a:schemeClr val="tx1"/>
                  </a:solidFill>
                </a:endParaRPr>
              </a:p>
            </p:txBody>
          </p:sp>
          <p:sp>
            <p:nvSpPr>
              <p:cNvPr id="95" name="Rounded Rectangle 94"/>
              <p:cNvSpPr/>
              <p:nvPr/>
            </p:nvSpPr>
            <p:spPr>
              <a:xfrm>
                <a:off x="11781209" y="3913591"/>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3</a:t>
                </a:r>
                <a:endParaRPr lang="en-IN" sz="2000" dirty="0">
                  <a:solidFill>
                    <a:schemeClr val="tx1"/>
                  </a:solidFill>
                </a:endParaRPr>
              </a:p>
            </p:txBody>
          </p:sp>
          <p:sp>
            <p:nvSpPr>
              <p:cNvPr id="96" name="Rounded Rectangle 95"/>
              <p:cNvSpPr/>
              <p:nvPr/>
            </p:nvSpPr>
            <p:spPr>
              <a:xfrm>
                <a:off x="11777057" y="4559695"/>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2</a:t>
                </a:r>
                <a:endParaRPr lang="en-IN" sz="2000" dirty="0">
                  <a:solidFill>
                    <a:schemeClr val="tx1"/>
                  </a:solidFill>
                </a:endParaRPr>
              </a:p>
            </p:txBody>
          </p:sp>
          <p:sp>
            <p:nvSpPr>
              <p:cNvPr id="97" name="Rounded Rectangle 96"/>
              <p:cNvSpPr/>
              <p:nvPr/>
            </p:nvSpPr>
            <p:spPr>
              <a:xfrm>
                <a:off x="11769911" y="5205799"/>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1</a:t>
                </a:r>
                <a:endParaRPr lang="en-IN" sz="2000" dirty="0">
                  <a:solidFill>
                    <a:schemeClr val="tx1"/>
                  </a:solidFill>
                </a:endParaRPr>
              </a:p>
            </p:txBody>
          </p:sp>
          <p:sp>
            <p:nvSpPr>
              <p:cNvPr id="86" name="Rounded Rectangle 85"/>
              <p:cNvSpPr/>
              <p:nvPr/>
            </p:nvSpPr>
            <p:spPr>
              <a:xfrm>
                <a:off x="6245418" y="1289469"/>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Application</a:t>
                </a:r>
                <a:endParaRPr lang="en-IN" sz="2000" dirty="0">
                  <a:solidFill>
                    <a:schemeClr val="tx1"/>
                  </a:solidFill>
                </a:endParaRPr>
              </a:p>
            </p:txBody>
          </p:sp>
          <p:sp>
            <p:nvSpPr>
              <p:cNvPr id="88" name="Rounded Rectangle 87"/>
              <p:cNvSpPr/>
              <p:nvPr/>
            </p:nvSpPr>
            <p:spPr>
              <a:xfrm>
                <a:off x="6245417" y="3267487"/>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Transport</a:t>
                </a:r>
              </a:p>
            </p:txBody>
          </p:sp>
          <p:sp>
            <p:nvSpPr>
              <p:cNvPr id="89" name="Rounded Rectangle 88"/>
              <p:cNvSpPr/>
              <p:nvPr/>
            </p:nvSpPr>
            <p:spPr>
              <a:xfrm>
                <a:off x="6245417" y="3913591"/>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Network</a:t>
                </a:r>
              </a:p>
            </p:txBody>
          </p:sp>
          <p:sp>
            <p:nvSpPr>
              <p:cNvPr id="90" name="Rounded Rectangle 89"/>
              <p:cNvSpPr/>
              <p:nvPr/>
            </p:nvSpPr>
            <p:spPr>
              <a:xfrm>
                <a:off x="6269841" y="4559695"/>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Data link</a:t>
                </a:r>
              </a:p>
            </p:txBody>
          </p:sp>
          <p:sp>
            <p:nvSpPr>
              <p:cNvPr id="91" name="Rounded Rectangle 90"/>
              <p:cNvSpPr/>
              <p:nvPr/>
            </p:nvSpPr>
            <p:spPr>
              <a:xfrm>
                <a:off x="6276983" y="5205799"/>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Physical</a:t>
                </a:r>
              </a:p>
            </p:txBody>
          </p:sp>
          <p:sp>
            <p:nvSpPr>
              <p:cNvPr id="5" name="Rectangle 4"/>
              <p:cNvSpPr/>
              <p:nvPr/>
            </p:nvSpPr>
            <p:spPr>
              <a:xfrm>
                <a:off x="7642040" y="132873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Rectangle 5"/>
              <p:cNvSpPr/>
              <p:nvPr/>
            </p:nvSpPr>
            <p:spPr>
              <a:xfrm>
                <a:off x="7642039" y="197484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8" name="Straight Connector 7"/>
              <p:cNvCxnSpPr>
                <a:stCxn id="5" idx="2"/>
                <a:endCxn id="6" idx="0"/>
              </p:cNvCxnSpPr>
              <p:nvPr/>
            </p:nvCxnSpPr>
            <p:spPr>
              <a:xfrm flipH="1">
                <a:off x="8049233" y="172721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endCxn id="40" idx="0"/>
              </p:cNvCxnSpPr>
              <p:nvPr/>
            </p:nvCxnSpPr>
            <p:spPr>
              <a:xfrm flipH="1">
                <a:off x="8049232" y="3030553"/>
                <a:ext cx="1" cy="27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7642038" y="3306756"/>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2" name="Rectangle 41"/>
              <p:cNvSpPr/>
              <p:nvPr/>
            </p:nvSpPr>
            <p:spPr>
              <a:xfrm>
                <a:off x="7637273" y="3952860"/>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3" name="Rectangle 42"/>
              <p:cNvSpPr/>
              <p:nvPr/>
            </p:nvSpPr>
            <p:spPr>
              <a:xfrm>
                <a:off x="7637272" y="4598964"/>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44" name="Straight Connector 43"/>
              <p:cNvCxnSpPr>
                <a:stCxn id="42" idx="2"/>
                <a:endCxn id="43" idx="0"/>
              </p:cNvCxnSpPr>
              <p:nvPr/>
            </p:nvCxnSpPr>
            <p:spPr>
              <a:xfrm flipH="1">
                <a:off x="8044466" y="4351337"/>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43" idx="2"/>
                <a:endCxn id="46" idx="0"/>
              </p:cNvCxnSpPr>
              <p:nvPr/>
            </p:nvCxnSpPr>
            <p:spPr>
              <a:xfrm flipH="1">
                <a:off x="8044465" y="4997441"/>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7637271" y="524506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48" name="Straight Connector 47"/>
              <p:cNvCxnSpPr>
                <a:stCxn id="40" idx="2"/>
                <a:endCxn id="42" idx="0"/>
              </p:cNvCxnSpPr>
              <p:nvPr/>
            </p:nvCxnSpPr>
            <p:spPr>
              <a:xfrm flipH="1">
                <a:off x="8044467" y="3705233"/>
                <a:ext cx="4765"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10980553" y="132873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0" name="Rectangle 49"/>
              <p:cNvSpPr/>
              <p:nvPr/>
            </p:nvSpPr>
            <p:spPr>
              <a:xfrm>
                <a:off x="10980552" y="197484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51" name="Straight Connector 50"/>
              <p:cNvCxnSpPr>
                <a:stCxn id="49" idx="2"/>
                <a:endCxn id="50" idx="0"/>
              </p:cNvCxnSpPr>
              <p:nvPr/>
            </p:nvCxnSpPr>
            <p:spPr>
              <a:xfrm flipH="1">
                <a:off x="11387746" y="172721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endCxn id="53" idx="0"/>
              </p:cNvCxnSpPr>
              <p:nvPr/>
            </p:nvCxnSpPr>
            <p:spPr>
              <a:xfrm flipH="1">
                <a:off x="11387745" y="3030553"/>
                <a:ext cx="1" cy="27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Rectangle 52"/>
              <p:cNvSpPr/>
              <p:nvPr/>
            </p:nvSpPr>
            <p:spPr>
              <a:xfrm>
                <a:off x="10980551" y="3306756"/>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4" name="Rectangle 53"/>
              <p:cNvSpPr/>
              <p:nvPr/>
            </p:nvSpPr>
            <p:spPr>
              <a:xfrm>
                <a:off x="10975786" y="3952860"/>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5" name="Rectangle 54"/>
              <p:cNvSpPr/>
              <p:nvPr/>
            </p:nvSpPr>
            <p:spPr>
              <a:xfrm>
                <a:off x="10975785" y="4598964"/>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56" name="Straight Connector 55"/>
              <p:cNvCxnSpPr>
                <a:stCxn id="54" idx="2"/>
                <a:endCxn id="55" idx="0"/>
              </p:cNvCxnSpPr>
              <p:nvPr/>
            </p:nvCxnSpPr>
            <p:spPr>
              <a:xfrm flipH="1">
                <a:off x="11382979" y="4351337"/>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55" idx="2"/>
                <a:endCxn id="58" idx="0"/>
              </p:cNvCxnSpPr>
              <p:nvPr/>
            </p:nvCxnSpPr>
            <p:spPr>
              <a:xfrm flipH="1">
                <a:off x="11382978" y="4997441"/>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10975784" y="524506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59" name="Straight Connector 58"/>
              <p:cNvCxnSpPr>
                <a:stCxn id="53" idx="2"/>
                <a:endCxn id="54" idx="0"/>
              </p:cNvCxnSpPr>
              <p:nvPr/>
            </p:nvCxnSpPr>
            <p:spPr>
              <a:xfrm flipH="1">
                <a:off x="11382980" y="3705233"/>
                <a:ext cx="4765"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5" idx="3"/>
                <a:endCxn id="49" idx="1"/>
              </p:cNvCxnSpPr>
              <p:nvPr/>
            </p:nvCxnSpPr>
            <p:spPr>
              <a:xfrm>
                <a:off x="8456427" y="1527977"/>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6" idx="3"/>
                <a:endCxn id="50" idx="1"/>
              </p:cNvCxnSpPr>
              <p:nvPr/>
            </p:nvCxnSpPr>
            <p:spPr>
              <a:xfrm>
                <a:off x="8456426" y="2174081"/>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42" idx="3"/>
                <a:endCxn id="54" idx="1"/>
              </p:cNvCxnSpPr>
              <p:nvPr/>
            </p:nvCxnSpPr>
            <p:spPr>
              <a:xfrm>
                <a:off x="8451660" y="4152099"/>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43" idx="3"/>
                <a:endCxn id="55" idx="1"/>
              </p:cNvCxnSpPr>
              <p:nvPr/>
            </p:nvCxnSpPr>
            <p:spPr>
              <a:xfrm>
                <a:off x="8451659" y="4798203"/>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40" idx="3"/>
                <a:endCxn id="53" idx="1"/>
              </p:cNvCxnSpPr>
              <p:nvPr/>
            </p:nvCxnSpPr>
            <p:spPr>
              <a:xfrm>
                <a:off x="8456425" y="3505995"/>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46" idx="3"/>
                <a:endCxn id="58" idx="1"/>
              </p:cNvCxnSpPr>
              <p:nvPr/>
            </p:nvCxnSpPr>
            <p:spPr>
              <a:xfrm>
                <a:off x="8451658" y="5444307"/>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5" idx="0"/>
              </p:cNvCxnSpPr>
              <p:nvPr/>
            </p:nvCxnSpPr>
            <p:spPr>
              <a:xfrm flipH="1" flipV="1">
                <a:off x="8044465" y="914400"/>
                <a:ext cx="4769" cy="41433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H="1" flipV="1">
                <a:off x="11382977" y="906470"/>
                <a:ext cx="4769" cy="41433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p:cNvCxnSpPr>
                <a:stCxn id="46" idx="2"/>
                <a:endCxn id="58" idx="2"/>
              </p:cNvCxnSpPr>
              <p:nvPr/>
            </p:nvCxnSpPr>
            <p:spPr>
              <a:xfrm rot="16200000" flipH="1">
                <a:off x="9713721" y="3974288"/>
                <a:ext cx="12700" cy="3338513"/>
              </a:xfrm>
              <a:prstGeom prst="bentConnector3">
                <a:avLst>
                  <a:gd name="adj1" fmla="val 2587528"/>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Rounded Rectangle 124"/>
              <p:cNvSpPr/>
              <p:nvPr/>
            </p:nvSpPr>
            <p:spPr>
              <a:xfrm>
                <a:off x="8565557" y="2451855"/>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Session protocol</a:t>
                </a:r>
                <a:endParaRPr lang="en-IN" sz="2000" dirty="0">
                  <a:solidFill>
                    <a:srgbClr val="1D3064"/>
                  </a:solidFill>
                </a:endParaRPr>
              </a:p>
            </p:txBody>
          </p:sp>
          <p:sp>
            <p:nvSpPr>
              <p:cNvPr id="126" name="Rounded Rectangle 125"/>
              <p:cNvSpPr/>
              <p:nvPr/>
            </p:nvSpPr>
            <p:spPr>
              <a:xfrm>
                <a:off x="11752633" y="2587963"/>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5</a:t>
                </a:r>
                <a:endParaRPr lang="en-IN" sz="2000" dirty="0">
                  <a:solidFill>
                    <a:schemeClr val="tx1"/>
                  </a:solidFill>
                </a:endParaRPr>
              </a:p>
            </p:txBody>
          </p:sp>
          <p:sp>
            <p:nvSpPr>
              <p:cNvPr id="127" name="Rounded Rectangle 126"/>
              <p:cNvSpPr/>
              <p:nvPr/>
            </p:nvSpPr>
            <p:spPr>
              <a:xfrm>
                <a:off x="6245417" y="2587963"/>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Session</a:t>
                </a:r>
                <a:endParaRPr lang="en-IN" sz="2000" dirty="0">
                  <a:solidFill>
                    <a:schemeClr val="tx1"/>
                  </a:solidFill>
                </a:endParaRPr>
              </a:p>
            </p:txBody>
          </p:sp>
          <p:sp>
            <p:nvSpPr>
              <p:cNvPr id="128" name="Rectangle 127"/>
              <p:cNvSpPr/>
              <p:nvPr/>
            </p:nvSpPr>
            <p:spPr>
              <a:xfrm>
                <a:off x="7617614" y="262723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29" name="Straight Connector 128"/>
              <p:cNvCxnSpPr>
                <a:endCxn id="128" idx="0"/>
              </p:cNvCxnSpPr>
              <p:nvPr/>
            </p:nvCxnSpPr>
            <p:spPr>
              <a:xfrm flipH="1">
                <a:off x="8024808" y="237960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Rectangle 129"/>
              <p:cNvSpPr/>
              <p:nvPr/>
            </p:nvSpPr>
            <p:spPr>
              <a:xfrm>
                <a:off x="10956127" y="262723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31" name="Straight Connector 130"/>
              <p:cNvCxnSpPr>
                <a:endCxn id="130" idx="0"/>
              </p:cNvCxnSpPr>
              <p:nvPr/>
            </p:nvCxnSpPr>
            <p:spPr>
              <a:xfrm flipH="1">
                <a:off x="11363321" y="237960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stCxn id="128" idx="3"/>
                <a:endCxn id="130" idx="1"/>
              </p:cNvCxnSpPr>
              <p:nvPr/>
            </p:nvCxnSpPr>
            <p:spPr>
              <a:xfrm>
                <a:off x="8432001" y="2826471"/>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grpSp>
      </p:grpSp>
      <p:sp>
        <p:nvSpPr>
          <p:cNvPr id="133" name="Rounded Rectangle 132"/>
          <p:cNvSpPr/>
          <p:nvPr/>
        </p:nvSpPr>
        <p:spPr>
          <a:xfrm>
            <a:off x="6287118" y="4494541"/>
            <a:ext cx="5800714" cy="55451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7" name="Rounded Rectangle 136"/>
          <p:cNvSpPr/>
          <p:nvPr/>
        </p:nvSpPr>
        <p:spPr>
          <a:xfrm>
            <a:off x="6269841" y="3860926"/>
            <a:ext cx="5800714" cy="55451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Rounded Rectangle 114"/>
          <p:cNvSpPr/>
          <p:nvPr/>
        </p:nvSpPr>
        <p:spPr>
          <a:xfrm>
            <a:off x="6286508" y="5153972"/>
            <a:ext cx="5800714" cy="114681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4" name="Straight Connector 113"/>
          <p:cNvCxnSpPr/>
          <p:nvPr/>
        </p:nvCxnSpPr>
        <p:spPr>
          <a:xfrm>
            <a:off x="6207726" y="870244"/>
            <a:ext cx="0" cy="55905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196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childTnLst>
                                  <p:subTnLst>
                                    <p:set>
                                      <p:cBhvr override="childStyle">
                                        <p:cTn dur="1" fill="hold" display="0" masterRel="nextClick" afterEffect="1"/>
                                        <p:tgtEl>
                                          <p:spTgt spid="115"/>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112">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
                                            <p:txEl>
                                              <p:pRg st="2" end="2"/>
                                            </p:txEl>
                                          </p:spTgt>
                                        </p:tgtEl>
                                        <p:attrNameLst>
                                          <p:attrName>style.visibility</p:attrName>
                                        </p:attrNameLst>
                                      </p:cBhvr>
                                      <p:to>
                                        <p:strVal val="visible"/>
                                      </p:to>
                                    </p:set>
                                  </p:childTnLst>
                                </p:cTn>
                              </p:par>
                              <p:par>
                                <p:cTn id="13" presetID="22" presetClass="entr" presetSubtype="1" fill="hold" nodeType="with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wipe(up)">
                                      <p:cBhvr>
                                        <p:cTn id="15" dur="500"/>
                                        <p:tgtEl>
                                          <p:spTgt spid="11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3"/>
                                        </p:tgtEl>
                                        <p:attrNameLst>
                                          <p:attrName>style.visibility</p:attrName>
                                        </p:attrNameLst>
                                      </p:cBhvr>
                                      <p:to>
                                        <p:strVal val="visible"/>
                                      </p:to>
                                    </p:set>
                                  </p:childTnLst>
                                  <p:subTnLst>
                                    <p:set>
                                      <p:cBhvr override="childStyle">
                                        <p:cTn dur="1" fill="hold" display="0" masterRel="nextClick" afterEffect="1"/>
                                        <p:tgtEl>
                                          <p:spTgt spid="133"/>
                                        </p:tgtEl>
                                        <p:attrNameLst>
                                          <p:attrName>style.visibility</p:attrName>
                                        </p:attrNameLst>
                                      </p:cBhvr>
                                      <p:to>
                                        <p:strVal val="hidden"/>
                                      </p:to>
                                    </p:set>
                                  </p:subTnLst>
                                </p:cTn>
                              </p:par>
                              <p:par>
                                <p:cTn id="20" presetID="1" presetClass="entr" presetSubtype="0" fill="hold" nodeType="withEffect">
                                  <p:stCondLst>
                                    <p:cond delay="0"/>
                                  </p:stCondLst>
                                  <p:childTnLst>
                                    <p:set>
                                      <p:cBhvr>
                                        <p:cTn id="21" dur="1" fill="hold">
                                          <p:stCondLst>
                                            <p:cond delay="0"/>
                                          </p:stCondLst>
                                        </p:cTn>
                                        <p:tgtEl>
                                          <p:spTgt spid="112">
                                            <p:txEl>
                                              <p:pRg st="3" end="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12">
                                            <p:txEl>
                                              <p:pRg st="4" end="4"/>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12">
                                            <p:txEl>
                                              <p:pRg st="5" end="5"/>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37"/>
                                        </p:tgtEl>
                                        <p:attrNameLst>
                                          <p:attrName>style.visibility</p:attrName>
                                        </p:attrNameLst>
                                      </p:cBhvr>
                                      <p:to>
                                        <p:strVal val="visible"/>
                                      </p:to>
                                    </p:set>
                                  </p:childTnLst>
                                  <p:subTnLst>
                                    <p:set>
                                      <p:cBhvr override="childStyle">
                                        <p:cTn dur="1" fill="hold" display="0" masterRel="nextClick" afterEffect="1"/>
                                        <p:tgtEl>
                                          <p:spTgt spid="137"/>
                                        </p:tgtEl>
                                        <p:attrNameLst>
                                          <p:attrName>style.visibility</p:attrName>
                                        </p:attrNameLst>
                                      </p:cBhvr>
                                      <p:to>
                                        <p:strVal val="hidden"/>
                                      </p:to>
                                    </p:set>
                                  </p:subTnLst>
                                </p:cTn>
                              </p:par>
                              <p:par>
                                <p:cTn id="30" presetID="1" presetClass="entr" presetSubtype="0" fill="hold" nodeType="withEffect">
                                  <p:stCondLst>
                                    <p:cond delay="0"/>
                                  </p:stCondLst>
                                  <p:childTnLst>
                                    <p:set>
                                      <p:cBhvr>
                                        <p:cTn id="31" dur="1" fill="hold">
                                          <p:stCondLst>
                                            <p:cond delay="0"/>
                                          </p:stCondLst>
                                        </p:cTn>
                                        <p:tgtEl>
                                          <p:spTgt spid="112">
                                            <p:txEl>
                                              <p:pRg st="6" end="6"/>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12">
                                            <p:txEl>
                                              <p:pRg st="7" end="7"/>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animBg="1"/>
      <p:bldP spid="137" grpId="0" animBg="1"/>
      <p:bldP spid="115"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Layered Network Communication Protocols</a:t>
            </a:r>
          </a:p>
        </p:txBody>
      </p:sp>
      <p:sp>
        <p:nvSpPr>
          <p:cNvPr id="112" name="Content Placeholder 111"/>
          <p:cNvSpPr>
            <a:spLocks noGrp="1"/>
          </p:cNvSpPr>
          <p:nvPr>
            <p:ph idx="1"/>
          </p:nvPr>
        </p:nvSpPr>
        <p:spPr>
          <a:xfrm>
            <a:off x="1" y="870244"/>
            <a:ext cx="6207725" cy="5590565"/>
          </a:xfrm>
        </p:spPr>
        <p:txBody>
          <a:bodyPr/>
          <a:lstStyle/>
          <a:p>
            <a:pPr marL="0" lvl="1" indent="0">
              <a:spcBef>
                <a:spcPts val="1000"/>
              </a:spcBef>
              <a:buNone/>
            </a:pPr>
            <a:r>
              <a:rPr lang="en-IN" sz="2400" b="1" dirty="0" smtClean="0">
                <a:solidFill>
                  <a:srgbClr val="1D3064"/>
                </a:solidFill>
              </a:rPr>
              <a:t>Transport layer</a:t>
            </a:r>
            <a:r>
              <a:rPr lang="en-IN" sz="2400" b="1" dirty="0">
                <a:solidFill>
                  <a:srgbClr val="1D3064"/>
                </a:solidFill>
              </a:rPr>
              <a:t>: </a:t>
            </a:r>
            <a:endParaRPr lang="en-IN" sz="2400" b="1" dirty="0" smtClean="0">
              <a:solidFill>
                <a:srgbClr val="1D3064"/>
              </a:solidFill>
            </a:endParaRPr>
          </a:p>
          <a:p>
            <a:pPr marL="265113" lvl="1" indent="-265113">
              <a:spcBef>
                <a:spcPts val="1000"/>
              </a:spcBef>
              <a:buFont typeface="Webdings" panose="05030102010509060703" pitchFamily="18" charset="2"/>
              <a:buChar char=""/>
            </a:pPr>
            <a:r>
              <a:rPr lang="en-IN" sz="2400" dirty="0" smtClean="0"/>
              <a:t>Process‐to‐process communication</a:t>
            </a:r>
          </a:p>
          <a:p>
            <a:pPr marL="265113" lvl="1" indent="-265113">
              <a:spcBef>
                <a:spcPts val="1000"/>
              </a:spcBef>
              <a:buFont typeface="Webdings" panose="05030102010509060703" pitchFamily="18" charset="2"/>
              <a:buChar char=""/>
            </a:pPr>
            <a:r>
              <a:rPr lang="en-IN" sz="2400" dirty="0" smtClean="0">
                <a:solidFill>
                  <a:schemeClr val="accent6"/>
                </a:solidFill>
              </a:rPr>
              <a:t>TCP </a:t>
            </a:r>
            <a:r>
              <a:rPr lang="en-IN" sz="2400" dirty="0">
                <a:solidFill>
                  <a:schemeClr val="accent6"/>
                </a:solidFill>
              </a:rPr>
              <a:t>and UDP </a:t>
            </a:r>
            <a:r>
              <a:rPr lang="en-IN" sz="2400" dirty="0" smtClean="0"/>
              <a:t>‐ Internet’s </a:t>
            </a:r>
            <a:r>
              <a:rPr lang="en-IN" sz="2400" dirty="0"/>
              <a:t>transport layer </a:t>
            </a:r>
            <a:r>
              <a:rPr lang="en-IN" sz="2400" dirty="0" smtClean="0"/>
              <a:t>protocols</a:t>
            </a:r>
          </a:p>
          <a:p>
            <a:pPr lvl="1">
              <a:buFont typeface="Wingdings" panose="05000000000000000000" pitchFamily="2" charset="2"/>
              <a:buChar char="§"/>
            </a:pPr>
            <a:r>
              <a:rPr lang="en-IN" sz="2400" dirty="0">
                <a:solidFill>
                  <a:schemeClr val="accent6"/>
                </a:solidFill>
              </a:rPr>
              <a:t>TCP</a:t>
            </a:r>
            <a:r>
              <a:rPr lang="en-IN" sz="2400" dirty="0"/>
              <a:t>: Connection‐oriented, Reliable communication</a:t>
            </a:r>
          </a:p>
          <a:p>
            <a:pPr lvl="1">
              <a:buFont typeface="Wingdings" panose="05000000000000000000" pitchFamily="2" charset="2"/>
              <a:buChar char="§"/>
            </a:pPr>
            <a:r>
              <a:rPr lang="en-IN" sz="2400" dirty="0" smtClean="0">
                <a:solidFill>
                  <a:schemeClr val="accent6"/>
                </a:solidFill>
              </a:rPr>
              <a:t>UDP</a:t>
            </a:r>
            <a:r>
              <a:rPr lang="en-IN" sz="2400" dirty="0" smtClean="0"/>
              <a:t>: Connectionless</a:t>
            </a:r>
            <a:r>
              <a:rPr lang="en-IN" sz="2400" dirty="0"/>
              <a:t>, Unreliable </a:t>
            </a:r>
            <a:r>
              <a:rPr lang="en-IN" sz="2400" dirty="0" smtClean="0"/>
              <a:t>communication</a:t>
            </a:r>
          </a:p>
          <a:p>
            <a:pPr marL="0" lvl="1" indent="0">
              <a:spcBef>
                <a:spcPts val="1000"/>
              </a:spcBef>
              <a:buNone/>
            </a:pPr>
            <a:r>
              <a:rPr lang="en-IN" sz="2400" b="1" dirty="0" smtClean="0">
                <a:solidFill>
                  <a:srgbClr val="1D3064"/>
                </a:solidFill>
              </a:rPr>
              <a:t>Session layer:</a:t>
            </a:r>
            <a:endParaRPr lang="en-IN" sz="2400" b="1" dirty="0">
              <a:solidFill>
                <a:srgbClr val="1D3064"/>
              </a:solidFill>
            </a:endParaRPr>
          </a:p>
          <a:p>
            <a:r>
              <a:rPr lang="en-US" dirty="0"/>
              <a:t>It establishes, manages, and terminates </a:t>
            </a:r>
            <a:r>
              <a:rPr lang="en-US" dirty="0" smtClean="0"/>
              <a:t>the connections </a:t>
            </a:r>
            <a:r>
              <a:rPr lang="en-US" dirty="0"/>
              <a:t>between the local and remote application</a:t>
            </a:r>
            <a:r>
              <a:rPr lang="en-US" dirty="0" smtClean="0"/>
              <a:t>.</a:t>
            </a:r>
          </a:p>
          <a:p>
            <a:r>
              <a:rPr lang="en-IN" dirty="0"/>
              <a:t>Functions of Session layer: Dialog </a:t>
            </a:r>
            <a:r>
              <a:rPr lang="en-IN" dirty="0" smtClean="0"/>
              <a:t>control</a:t>
            </a:r>
            <a:r>
              <a:rPr lang="en-IN" dirty="0"/>
              <a:t>, Synchronization</a:t>
            </a:r>
            <a:endParaRPr lang="en-IN" sz="2400" dirty="0"/>
          </a:p>
        </p:txBody>
      </p:sp>
      <p:grpSp>
        <p:nvGrpSpPr>
          <p:cNvPr id="3" name="Group 2"/>
          <p:cNvGrpSpPr/>
          <p:nvPr/>
        </p:nvGrpSpPr>
        <p:grpSpPr>
          <a:xfrm>
            <a:off x="6200773" y="906470"/>
            <a:ext cx="5891211" cy="5533576"/>
            <a:chOff x="6200773" y="906470"/>
            <a:chExt cx="5891211" cy="5533576"/>
          </a:xfrm>
        </p:grpSpPr>
        <p:sp>
          <p:nvSpPr>
            <p:cNvPr id="152" name="Rounded Rectangle 151"/>
            <p:cNvSpPr/>
            <p:nvPr/>
          </p:nvSpPr>
          <p:spPr>
            <a:xfrm>
              <a:off x="6200773" y="1935573"/>
              <a:ext cx="1551414"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Presentation</a:t>
              </a:r>
              <a:endParaRPr lang="en-IN" sz="2000" dirty="0">
                <a:solidFill>
                  <a:schemeClr val="tx1"/>
                </a:solidFill>
              </a:endParaRPr>
            </a:p>
          </p:txBody>
        </p:sp>
        <p:sp>
          <p:nvSpPr>
            <p:cNvPr id="68" name="Rounded Rectangle 67"/>
            <p:cNvSpPr/>
            <p:nvPr/>
          </p:nvSpPr>
          <p:spPr>
            <a:xfrm>
              <a:off x="8432001" y="5963033"/>
              <a:ext cx="11459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Network</a:t>
              </a:r>
              <a:endParaRPr lang="en-IN" sz="2000" dirty="0">
                <a:solidFill>
                  <a:schemeClr val="tx1"/>
                </a:solidFill>
              </a:endParaRPr>
            </a:p>
          </p:txBody>
        </p:sp>
        <p:sp>
          <p:nvSpPr>
            <p:cNvPr id="69" name="Rounded Rectangle 68"/>
            <p:cNvSpPr/>
            <p:nvPr/>
          </p:nvSpPr>
          <p:spPr>
            <a:xfrm>
              <a:off x="8594134" y="113907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Application protocol</a:t>
              </a:r>
              <a:endParaRPr lang="en-IN" sz="2000" dirty="0">
                <a:solidFill>
                  <a:srgbClr val="1D3064"/>
                </a:solidFill>
              </a:endParaRPr>
            </a:p>
          </p:txBody>
        </p:sp>
        <p:sp>
          <p:nvSpPr>
            <p:cNvPr id="70" name="Rounded Rectangle 69"/>
            <p:cNvSpPr/>
            <p:nvPr/>
          </p:nvSpPr>
          <p:spPr>
            <a:xfrm>
              <a:off x="8504232" y="1799465"/>
              <a:ext cx="2481886"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Presentation protocol</a:t>
              </a:r>
              <a:endParaRPr lang="en-IN" sz="2000" dirty="0">
                <a:solidFill>
                  <a:srgbClr val="1D3064"/>
                </a:solidFill>
              </a:endParaRPr>
            </a:p>
          </p:txBody>
        </p:sp>
        <p:sp>
          <p:nvSpPr>
            <p:cNvPr id="71" name="Rounded Rectangle 70"/>
            <p:cNvSpPr/>
            <p:nvPr/>
          </p:nvSpPr>
          <p:spPr>
            <a:xfrm>
              <a:off x="8651285" y="310280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Transport </a:t>
              </a:r>
              <a:r>
                <a:rPr lang="en-IN" sz="2000" dirty="0">
                  <a:solidFill>
                    <a:srgbClr val="1D3064"/>
                  </a:solidFill>
                </a:rPr>
                <a:t>protocol</a:t>
              </a:r>
            </a:p>
          </p:txBody>
        </p:sp>
        <p:sp>
          <p:nvSpPr>
            <p:cNvPr id="72" name="Rounded Rectangle 71"/>
            <p:cNvSpPr/>
            <p:nvPr/>
          </p:nvSpPr>
          <p:spPr>
            <a:xfrm>
              <a:off x="8651285" y="377748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Network </a:t>
              </a:r>
              <a:r>
                <a:rPr lang="en-IN" sz="2000" dirty="0">
                  <a:solidFill>
                    <a:srgbClr val="1D3064"/>
                  </a:solidFill>
                </a:rPr>
                <a:t>protocol</a:t>
              </a:r>
            </a:p>
          </p:txBody>
        </p:sp>
        <p:sp>
          <p:nvSpPr>
            <p:cNvPr id="73" name="Rounded Rectangle 72"/>
            <p:cNvSpPr/>
            <p:nvPr/>
          </p:nvSpPr>
          <p:spPr>
            <a:xfrm>
              <a:off x="8675709" y="4409299"/>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rgbClr val="1D3064"/>
                  </a:solidFill>
                </a:rPr>
                <a:t>Data </a:t>
              </a:r>
              <a:r>
                <a:rPr lang="en-IN" sz="2000" dirty="0" smtClean="0">
                  <a:solidFill>
                    <a:srgbClr val="1D3064"/>
                  </a:solidFill>
                </a:rPr>
                <a:t>link </a:t>
              </a:r>
              <a:r>
                <a:rPr lang="en-IN" sz="2000" dirty="0">
                  <a:solidFill>
                    <a:srgbClr val="1D3064"/>
                  </a:solidFill>
                </a:rPr>
                <a:t>protocol</a:t>
              </a:r>
            </a:p>
          </p:txBody>
        </p:sp>
        <p:sp>
          <p:nvSpPr>
            <p:cNvPr id="75" name="Rounded Rectangle 74"/>
            <p:cNvSpPr/>
            <p:nvPr/>
          </p:nvSpPr>
          <p:spPr>
            <a:xfrm>
              <a:off x="8682851" y="505540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Physical </a:t>
              </a:r>
              <a:r>
                <a:rPr lang="en-IN" sz="2000" dirty="0">
                  <a:solidFill>
                    <a:srgbClr val="1D3064"/>
                  </a:solidFill>
                </a:rPr>
                <a:t>protocol</a:t>
              </a:r>
            </a:p>
          </p:txBody>
        </p:sp>
        <p:sp>
          <p:nvSpPr>
            <p:cNvPr id="76" name="Rounded Rectangle 75"/>
            <p:cNvSpPr/>
            <p:nvPr/>
          </p:nvSpPr>
          <p:spPr>
            <a:xfrm>
              <a:off x="11766922" y="1289469"/>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7</a:t>
              </a:r>
            </a:p>
          </p:txBody>
        </p:sp>
        <p:sp>
          <p:nvSpPr>
            <p:cNvPr id="77" name="Rounded Rectangle 76"/>
            <p:cNvSpPr/>
            <p:nvPr/>
          </p:nvSpPr>
          <p:spPr>
            <a:xfrm>
              <a:off x="11777058" y="1935573"/>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6</a:t>
              </a:r>
            </a:p>
          </p:txBody>
        </p:sp>
        <p:sp>
          <p:nvSpPr>
            <p:cNvPr id="78" name="Rounded Rectangle 77"/>
            <p:cNvSpPr/>
            <p:nvPr/>
          </p:nvSpPr>
          <p:spPr>
            <a:xfrm>
              <a:off x="11781209" y="3267487"/>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4</a:t>
              </a:r>
              <a:endParaRPr lang="en-IN" sz="2000" dirty="0">
                <a:solidFill>
                  <a:schemeClr val="tx1"/>
                </a:solidFill>
              </a:endParaRPr>
            </a:p>
          </p:txBody>
        </p:sp>
        <p:sp>
          <p:nvSpPr>
            <p:cNvPr id="79" name="Rounded Rectangle 78"/>
            <p:cNvSpPr/>
            <p:nvPr/>
          </p:nvSpPr>
          <p:spPr>
            <a:xfrm>
              <a:off x="11781209" y="3913591"/>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3</a:t>
              </a:r>
              <a:endParaRPr lang="en-IN" sz="2000" dirty="0">
                <a:solidFill>
                  <a:schemeClr val="tx1"/>
                </a:solidFill>
              </a:endParaRPr>
            </a:p>
          </p:txBody>
        </p:sp>
        <p:sp>
          <p:nvSpPr>
            <p:cNvPr id="82" name="Rounded Rectangle 81"/>
            <p:cNvSpPr/>
            <p:nvPr/>
          </p:nvSpPr>
          <p:spPr>
            <a:xfrm>
              <a:off x="11777057" y="4559695"/>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2</a:t>
              </a:r>
              <a:endParaRPr lang="en-IN" sz="2000" dirty="0">
                <a:solidFill>
                  <a:schemeClr val="tx1"/>
                </a:solidFill>
              </a:endParaRPr>
            </a:p>
          </p:txBody>
        </p:sp>
        <p:sp>
          <p:nvSpPr>
            <p:cNvPr id="84" name="Rounded Rectangle 83"/>
            <p:cNvSpPr/>
            <p:nvPr/>
          </p:nvSpPr>
          <p:spPr>
            <a:xfrm>
              <a:off x="11769911" y="5205799"/>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1</a:t>
              </a:r>
              <a:endParaRPr lang="en-IN" sz="2000" dirty="0">
                <a:solidFill>
                  <a:schemeClr val="tx1"/>
                </a:solidFill>
              </a:endParaRPr>
            </a:p>
          </p:txBody>
        </p:sp>
        <p:sp>
          <p:nvSpPr>
            <p:cNvPr id="85" name="Rounded Rectangle 84"/>
            <p:cNvSpPr/>
            <p:nvPr/>
          </p:nvSpPr>
          <p:spPr>
            <a:xfrm>
              <a:off x="6245418" y="1289469"/>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Application</a:t>
              </a:r>
              <a:endParaRPr lang="en-IN" sz="2000" dirty="0">
                <a:solidFill>
                  <a:schemeClr val="tx1"/>
                </a:solidFill>
              </a:endParaRPr>
            </a:p>
          </p:txBody>
        </p:sp>
        <p:sp>
          <p:nvSpPr>
            <p:cNvPr id="105" name="Rounded Rectangle 104"/>
            <p:cNvSpPr/>
            <p:nvPr/>
          </p:nvSpPr>
          <p:spPr>
            <a:xfrm>
              <a:off x="6245417" y="3267487"/>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Transport</a:t>
              </a:r>
            </a:p>
          </p:txBody>
        </p:sp>
        <p:sp>
          <p:nvSpPr>
            <p:cNvPr id="106" name="Rounded Rectangle 105"/>
            <p:cNvSpPr/>
            <p:nvPr/>
          </p:nvSpPr>
          <p:spPr>
            <a:xfrm>
              <a:off x="6245417" y="3913591"/>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Network</a:t>
              </a:r>
            </a:p>
          </p:txBody>
        </p:sp>
        <p:sp>
          <p:nvSpPr>
            <p:cNvPr id="107" name="Rounded Rectangle 106"/>
            <p:cNvSpPr/>
            <p:nvPr/>
          </p:nvSpPr>
          <p:spPr>
            <a:xfrm>
              <a:off x="6269841" y="4559695"/>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Data link</a:t>
              </a:r>
            </a:p>
          </p:txBody>
        </p:sp>
        <p:sp>
          <p:nvSpPr>
            <p:cNvPr id="108" name="Rounded Rectangle 107"/>
            <p:cNvSpPr/>
            <p:nvPr/>
          </p:nvSpPr>
          <p:spPr>
            <a:xfrm>
              <a:off x="6276983" y="5205799"/>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Physical</a:t>
              </a:r>
            </a:p>
          </p:txBody>
        </p:sp>
        <p:sp>
          <p:nvSpPr>
            <p:cNvPr id="109" name="Rectangle 108"/>
            <p:cNvSpPr/>
            <p:nvPr/>
          </p:nvSpPr>
          <p:spPr>
            <a:xfrm>
              <a:off x="7642040" y="132873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0" name="Rectangle 109"/>
            <p:cNvSpPr/>
            <p:nvPr/>
          </p:nvSpPr>
          <p:spPr>
            <a:xfrm>
              <a:off x="7642039" y="197484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11" name="Straight Connector 110"/>
            <p:cNvCxnSpPr>
              <a:stCxn id="109" idx="2"/>
              <a:endCxn id="110" idx="0"/>
            </p:cNvCxnSpPr>
            <p:nvPr/>
          </p:nvCxnSpPr>
          <p:spPr>
            <a:xfrm flipH="1">
              <a:off x="8049233" y="172721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endCxn id="114" idx="0"/>
            </p:cNvCxnSpPr>
            <p:nvPr/>
          </p:nvCxnSpPr>
          <p:spPr>
            <a:xfrm flipH="1">
              <a:off x="8049232" y="3030553"/>
              <a:ext cx="1" cy="27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Rectangle 113"/>
            <p:cNvSpPr/>
            <p:nvPr/>
          </p:nvSpPr>
          <p:spPr>
            <a:xfrm>
              <a:off x="7642038" y="3306756"/>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5" name="Rectangle 114"/>
            <p:cNvSpPr/>
            <p:nvPr/>
          </p:nvSpPr>
          <p:spPr>
            <a:xfrm>
              <a:off x="7637273" y="3952860"/>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6" name="Rectangle 115"/>
            <p:cNvSpPr/>
            <p:nvPr/>
          </p:nvSpPr>
          <p:spPr>
            <a:xfrm>
              <a:off x="7637272" y="4598964"/>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17" name="Straight Connector 116"/>
            <p:cNvCxnSpPr>
              <a:stCxn id="115" idx="2"/>
              <a:endCxn id="116" idx="0"/>
            </p:cNvCxnSpPr>
            <p:nvPr/>
          </p:nvCxnSpPr>
          <p:spPr>
            <a:xfrm flipH="1">
              <a:off x="8044466" y="4351337"/>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a:stCxn id="116" idx="2"/>
              <a:endCxn id="119" idx="0"/>
            </p:cNvCxnSpPr>
            <p:nvPr/>
          </p:nvCxnSpPr>
          <p:spPr>
            <a:xfrm flipH="1">
              <a:off x="8044465" y="4997441"/>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9" name="Rectangle 118"/>
            <p:cNvSpPr/>
            <p:nvPr/>
          </p:nvSpPr>
          <p:spPr>
            <a:xfrm>
              <a:off x="7637271" y="524506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20" name="Straight Connector 119"/>
            <p:cNvCxnSpPr>
              <a:stCxn id="114" idx="2"/>
              <a:endCxn id="115" idx="0"/>
            </p:cNvCxnSpPr>
            <p:nvPr/>
          </p:nvCxnSpPr>
          <p:spPr>
            <a:xfrm flipH="1">
              <a:off x="8044467" y="3705233"/>
              <a:ext cx="4765"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Rectangle 120"/>
            <p:cNvSpPr/>
            <p:nvPr/>
          </p:nvSpPr>
          <p:spPr>
            <a:xfrm>
              <a:off x="10980553" y="132873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2" name="Rectangle 121"/>
            <p:cNvSpPr/>
            <p:nvPr/>
          </p:nvSpPr>
          <p:spPr>
            <a:xfrm>
              <a:off x="10980552" y="197484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23" name="Straight Connector 122"/>
            <p:cNvCxnSpPr>
              <a:stCxn id="121" idx="2"/>
              <a:endCxn id="122" idx="0"/>
            </p:cNvCxnSpPr>
            <p:nvPr/>
          </p:nvCxnSpPr>
          <p:spPr>
            <a:xfrm flipH="1">
              <a:off x="11387746" y="172721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a:endCxn id="125" idx="0"/>
            </p:cNvCxnSpPr>
            <p:nvPr/>
          </p:nvCxnSpPr>
          <p:spPr>
            <a:xfrm flipH="1">
              <a:off x="11387745" y="3030553"/>
              <a:ext cx="1" cy="27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Rectangle 124"/>
            <p:cNvSpPr/>
            <p:nvPr/>
          </p:nvSpPr>
          <p:spPr>
            <a:xfrm>
              <a:off x="10980551" y="3306756"/>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6" name="Rectangle 125"/>
            <p:cNvSpPr/>
            <p:nvPr/>
          </p:nvSpPr>
          <p:spPr>
            <a:xfrm>
              <a:off x="10975786" y="3952860"/>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7" name="Rectangle 126"/>
            <p:cNvSpPr/>
            <p:nvPr/>
          </p:nvSpPr>
          <p:spPr>
            <a:xfrm>
              <a:off x="10975785" y="4598964"/>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28" name="Straight Connector 127"/>
            <p:cNvCxnSpPr>
              <a:stCxn id="126" idx="2"/>
              <a:endCxn id="127" idx="0"/>
            </p:cNvCxnSpPr>
            <p:nvPr/>
          </p:nvCxnSpPr>
          <p:spPr>
            <a:xfrm flipH="1">
              <a:off x="11382979" y="4351337"/>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a:stCxn id="127" idx="2"/>
              <a:endCxn id="130" idx="0"/>
            </p:cNvCxnSpPr>
            <p:nvPr/>
          </p:nvCxnSpPr>
          <p:spPr>
            <a:xfrm flipH="1">
              <a:off x="11382978" y="4997441"/>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Rectangle 129"/>
            <p:cNvSpPr/>
            <p:nvPr/>
          </p:nvSpPr>
          <p:spPr>
            <a:xfrm>
              <a:off x="10975784" y="524506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31" name="Straight Connector 130"/>
            <p:cNvCxnSpPr>
              <a:stCxn id="125" idx="2"/>
              <a:endCxn id="126" idx="0"/>
            </p:cNvCxnSpPr>
            <p:nvPr/>
          </p:nvCxnSpPr>
          <p:spPr>
            <a:xfrm flipH="1">
              <a:off x="11382980" y="3705233"/>
              <a:ext cx="4765"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stCxn id="109" idx="3"/>
              <a:endCxn id="121" idx="1"/>
            </p:cNvCxnSpPr>
            <p:nvPr/>
          </p:nvCxnSpPr>
          <p:spPr>
            <a:xfrm>
              <a:off x="8456427" y="1527977"/>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a:stCxn id="110" idx="3"/>
              <a:endCxn id="122" idx="1"/>
            </p:cNvCxnSpPr>
            <p:nvPr/>
          </p:nvCxnSpPr>
          <p:spPr>
            <a:xfrm>
              <a:off x="8456426" y="2174081"/>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a:stCxn id="115" idx="3"/>
              <a:endCxn id="126" idx="1"/>
            </p:cNvCxnSpPr>
            <p:nvPr/>
          </p:nvCxnSpPr>
          <p:spPr>
            <a:xfrm>
              <a:off x="8451660" y="4152099"/>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p:cNvCxnSpPr>
              <a:stCxn id="116" idx="3"/>
              <a:endCxn id="127" idx="1"/>
            </p:cNvCxnSpPr>
            <p:nvPr/>
          </p:nvCxnSpPr>
          <p:spPr>
            <a:xfrm>
              <a:off x="8451659" y="4798203"/>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p:cNvCxnSpPr>
              <a:stCxn id="114" idx="3"/>
              <a:endCxn id="125" idx="1"/>
            </p:cNvCxnSpPr>
            <p:nvPr/>
          </p:nvCxnSpPr>
          <p:spPr>
            <a:xfrm>
              <a:off x="8456425" y="3505995"/>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p:cNvCxnSpPr>
              <a:stCxn id="119" idx="3"/>
              <a:endCxn id="130" idx="1"/>
            </p:cNvCxnSpPr>
            <p:nvPr/>
          </p:nvCxnSpPr>
          <p:spPr>
            <a:xfrm>
              <a:off x="8451658" y="5444307"/>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a:stCxn id="109" idx="0"/>
            </p:cNvCxnSpPr>
            <p:nvPr/>
          </p:nvCxnSpPr>
          <p:spPr>
            <a:xfrm flipH="1" flipV="1">
              <a:off x="8044465" y="914400"/>
              <a:ext cx="4769" cy="41433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p:cNvCxnSpPr/>
            <p:nvPr/>
          </p:nvCxnSpPr>
          <p:spPr>
            <a:xfrm flipH="1" flipV="1">
              <a:off x="11382977" y="906470"/>
              <a:ext cx="4769" cy="41433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Elbow Connector 139"/>
            <p:cNvCxnSpPr>
              <a:stCxn id="119" idx="2"/>
              <a:endCxn id="130" idx="2"/>
            </p:cNvCxnSpPr>
            <p:nvPr/>
          </p:nvCxnSpPr>
          <p:spPr>
            <a:xfrm rot="16200000" flipH="1">
              <a:off x="9713721" y="3974288"/>
              <a:ext cx="12700" cy="3338513"/>
            </a:xfrm>
            <a:prstGeom prst="bentConnector3">
              <a:avLst>
                <a:gd name="adj1" fmla="val 2587528"/>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Rounded Rectangle 141"/>
            <p:cNvSpPr/>
            <p:nvPr/>
          </p:nvSpPr>
          <p:spPr>
            <a:xfrm>
              <a:off x="8565557" y="2451855"/>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Session protocol</a:t>
              </a:r>
              <a:endParaRPr lang="en-IN" sz="2000" dirty="0">
                <a:solidFill>
                  <a:srgbClr val="1D3064"/>
                </a:solidFill>
              </a:endParaRPr>
            </a:p>
          </p:txBody>
        </p:sp>
        <p:sp>
          <p:nvSpPr>
            <p:cNvPr id="143" name="Rounded Rectangle 142"/>
            <p:cNvSpPr/>
            <p:nvPr/>
          </p:nvSpPr>
          <p:spPr>
            <a:xfrm>
              <a:off x="11752633" y="2587963"/>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5</a:t>
              </a:r>
              <a:endParaRPr lang="en-IN" sz="2000" dirty="0">
                <a:solidFill>
                  <a:schemeClr val="tx1"/>
                </a:solidFill>
              </a:endParaRPr>
            </a:p>
          </p:txBody>
        </p:sp>
        <p:sp>
          <p:nvSpPr>
            <p:cNvPr id="144" name="Rounded Rectangle 143"/>
            <p:cNvSpPr/>
            <p:nvPr/>
          </p:nvSpPr>
          <p:spPr>
            <a:xfrm>
              <a:off x="6245417" y="2587963"/>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Session</a:t>
              </a:r>
              <a:endParaRPr lang="en-IN" sz="2000" dirty="0">
                <a:solidFill>
                  <a:schemeClr val="tx1"/>
                </a:solidFill>
              </a:endParaRPr>
            </a:p>
          </p:txBody>
        </p:sp>
        <p:sp>
          <p:nvSpPr>
            <p:cNvPr id="145" name="Rectangle 144"/>
            <p:cNvSpPr/>
            <p:nvPr/>
          </p:nvSpPr>
          <p:spPr>
            <a:xfrm>
              <a:off x="7617614" y="262723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46" name="Straight Connector 145"/>
            <p:cNvCxnSpPr>
              <a:endCxn id="145" idx="0"/>
            </p:cNvCxnSpPr>
            <p:nvPr/>
          </p:nvCxnSpPr>
          <p:spPr>
            <a:xfrm flipH="1">
              <a:off x="8024808" y="237960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10956127" y="262723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48" name="Straight Connector 147"/>
            <p:cNvCxnSpPr>
              <a:endCxn id="147" idx="0"/>
            </p:cNvCxnSpPr>
            <p:nvPr/>
          </p:nvCxnSpPr>
          <p:spPr>
            <a:xfrm flipH="1">
              <a:off x="11363321" y="237960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Arrow Connector 148"/>
            <p:cNvCxnSpPr>
              <a:stCxn id="145" idx="3"/>
              <a:endCxn id="147" idx="1"/>
            </p:cNvCxnSpPr>
            <p:nvPr/>
          </p:nvCxnSpPr>
          <p:spPr>
            <a:xfrm>
              <a:off x="8432001" y="2826471"/>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53" name="Rounded Rectangle 152"/>
          <p:cNvSpPr/>
          <p:nvPr/>
        </p:nvSpPr>
        <p:spPr>
          <a:xfrm>
            <a:off x="6253780" y="2555270"/>
            <a:ext cx="5800714" cy="55451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1" name="Rounded Rectangle 150"/>
          <p:cNvSpPr/>
          <p:nvPr/>
        </p:nvSpPr>
        <p:spPr>
          <a:xfrm>
            <a:off x="6269841" y="3246927"/>
            <a:ext cx="5800714" cy="55451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6" name="Straight Connector 65"/>
          <p:cNvCxnSpPr/>
          <p:nvPr/>
        </p:nvCxnSpPr>
        <p:spPr>
          <a:xfrm>
            <a:off x="6207726" y="870244"/>
            <a:ext cx="0" cy="55905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162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wipe(up)">
                                      <p:cBhvr>
                                        <p:cTn id="11" dur="500"/>
                                        <p:tgtEl>
                                          <p:spTgt spid="66"/>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51"/>
                                        </p:tgtEl>
                                        <p:attrNameLst>
                                          <p:attrName>style.visibility</p:attrName>
                                        </p:attrNameLst>
                                      </p:cBhvr>
                                      <p:to>
                                        <p:strVal val="visible"/>
                                      </p:to>
                                    </p:set>
                                  </p:childTnLst>
                                  <p:subTnLst>
                                    <p:set>
                                      <p:cBhvr override="childStyle">
                                        <p:cTn dur="1" fill="hold" display="0" masterRel="nextClick" afterEffect="1"/>
                                        <p:tgtEl>
                                          <p:spTgt spid="151"/>
                                        </p:tgtEl>
                                        <p:attrNameLst>
                                          <p:attrName>style.visibility</p:attrName>
                                        </p:attrNameLst>
                                      </p:cBhvr>
                                      <p:to>
                                        <p:strVal val="hidden"/>
                                      </p:to>
                                    </p:set>
                                  </p:subTnLst>
                                </p:cTn>
                              </p:par>
                              <p:par>
                                <p:cTn id="14" presetID="1" presetClass="entr" presetSubtype="0" fill="hold" nodeType="withEffect">
                                  <p:stCondLst>
                                    <p:cond delay="0"/>
                                  </p:stCondLst>
                                  <p:childTnLst>
                                    <p:set>
                                      <p:cBhvr>
                                        <p:cTn id="15" dur="1" fill="hold">
                                          <p:stCondLst>
                                            <p:cond delay="0"/>
                                          </p:stCondLst>
                                        </p:cTn>
                                        <p:tgtEl>
                                          <p:spTgt spid="112">
                                            <p:txEl>
                                              <p:pRg st="0" end="0"/>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12">
                                            <p:txEl>
                                              <p:pRg st="1" end="1"/>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12">
                                            <p:txEl>
                                              <p:pRg st="2" end="2"/>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12">
                                            <p:txEl>
                                              <p:pRg st="3" end="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12">
                                            <p:txEl>
                                              <p:pRg st="4" end="4"/>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53"/>
                                        </p:tgtEl>
                                        <p:attrNameLst>
                                          <p:attrName>style.visibility</p:attrName>
                                        </p:attrNameLst>
                                      </p:cBhvr>
                                      <p:to>
                                        <p:strVal val="visible"/>
                                      </p:to>
                                    </p:set>
                                  </p:childTnLst>
                                  <p:subTnLst>
                                    <p:set>
                                      <p:cBhvr override="childStyle">
                                        <p:cTn dur="1" fill="hold" display="0" masterRel="nextClick" afterEffect="1"/>
                                        <p:tgtEl>
                                          <p:spTgt spid="153"/>
                                        </p:tgtEl>
                                        <p:attrNameLst>
                                          <p:attrName>style.visibility</p:attrName>
                                        </p:attrNameLst>
                                      </p:cBhvr>
                                      <p:to>
                                        <p:strVal val="hidden"/>
                                      </p:to>
                                    </p:set>
                                  </p:subTnLst>
                                </p:cTn>
                              </p:par>
                              <p:par>
                                <p:cTn id="28" presetID="1" presetClass="entr" presetSubtype="0" fill="hold" nodeType="withEffect">
                                  <p:stCondLst>
                                    <p:cond delay="0"/>
                                  </p:stCondLst>
                                  <p:childTnLst>
                                    <p:set>
                                      <p:cBhvr>
                                        <p:cTn id="29" dur="1" fill="hold">
                                          <p:stCondLst>
                                            <p:cond delay="0"/>
                                          </p:stCondLst>
                                        </p:cTn>
                                        <p:tgtEl>
                                          <p:spTgt spid="112">
                                            <p:txEl>
                                              <p:pRg st="5" end="5"/>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12">
                                            <p:txEl>
                                              <p:pRg st="6" end="6"/>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 grpId="0" animBg="1"/>
      <p:bldP spid="151"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Layered Network Communication Protocols</a:t>
            </a:r>
          </a:p>
        </p:txBody>
      </p:sp>
      <p:sp>
        <p:nvSpPr>
          <p:cNvPr id="112" name="Content Placeholder 111"/>
          <p:cNvSpPr>
            <a:spLocks noGrp="1"/>
          </p:cNvSpPr>
          <p:nvPr>
            <p:ph idx="1"/>
          </p:nvPr>
        </p:nvSpPr>
        <p:spPr>
          <a:xfrm>
            <a:off x="1" y="870244"/>
            <a:ext cx="6207725" cy="5590565"/>
          </a:xfrm>
        </p:spPr>
        <p:txBody>
          <a:bodyPr/>
          <a:lstStyle/>
          <a:p>
            <a:pPr marL="0" lvl="1" indent="0">
              <a:spcBef>
                <a:spcPts val="1000"/>
              </a:spcBef>
              <a:buNone/>
            </a:pPr>
            <a:r>
              <a:rPr lang="en-IN" sz="2400" b="1" dirty="0">
                <a:solidFill>
                  <a:srgbClr val="1D3064"/>
                </a:solidFill>
              </a:rPr>
              <a:t>Presentation layer: </a:t>
            </a:r>
          </a:p>
          <a:p>
            <a:pPr marL="265113" lvl="1" indent="-265113">
              <a:spcBef>
                <a:spcPts val="1000"/>
              </a:spcBef>
              <a:buFont typeface="Webdings" panose="05030102010509060703" pitchFamily="18" charset="2"/>
              <a:buChar char=""/>
            </a:pPr>
            <a:r>
              <a:rPr lang="en-US" sz="2400" dirty="0"/>
              <a:t>Transforms data to provide a standard interface </a:t>
            </a:r>
            <a:r>
              <a:rPr lang="en-US" sz="2400" dirty="0" smtClean="0"/>
              <a:t>for the </a:t>
            </a:r>
            <a:r>
              <a:rPr lang="en-US" sz="2400" dirty="0"/>
              <a:t>Application layer</a:t>
            </a:r>
            <a:r>
              <a:rPr lang="en-US" sz="2400" dirty="0" smtClean="0"/>
              <a:t>.</a:t>
            </a:r>
          </a:p>
          <a:p>
            <a:pPr marL="265113" lvl="1" indent="-265113">
              <a:spcBef>
                <a:spcPts val="1000"/>
              </a:spcBef>
              <a:buFont typeface="Webdings" panose="05030102010509060703" pitchFamily="18" charset="2"/>
              <a:buChar char=""/>
            </a:pPr>
            <a:r>
              <a:rPr lang="en-US" sz="2400" dirty="0"/>
              <a:t>Functions of Presentation layer</a:t>
            </a:r>
            <a:r>
              <a:rPr lang="en-US" sz="2400" dirty="0" smtClean="0"/>
              <a:t>:</a:t>
            </a:r>
          </a:p>
          <a:p>
            <a:pPr lvl="1">
              <a:buFont typeface="Wingdings" panose="05000000000000000000" pitchFamily="2" charset="2"/>
              <a:buChar char="§"/>
            </a:pPr>
            <a:r>
              <a:rPr lang="en-US" sz="2400" dirty="0"/>
              <a:t>MIME encoding</a:t>
            </a:r>
          </a:p>
          <a:p>
            <a:pPr lvl="1">
              <a:buFont typeface="Wingdings" panose="05000000000000000000" pitchFamily="2" charset="2"/>
              <a:buChar char="§"/>
            </a:pPr>
            <a:r>
              <a:rPr lang="en-US" sz="2400" dirty="0"/>
              <a:t>Data compression</a:t>
            </a:r>
          </a:p>
          <a:p>
            <a:pPr lvl="1">
              <a:buFont typeface="Wingdings" panose="05000000000000000000" pitchFamily="2" charset="2"/>
              <a:buChar char="§"/>
            </a:pPr>
            <a:r>
              <a:rPr lang="en-US" sz="2400" dirty="0"/>
              <a:t>Data encryption</a:t>
            </a:r>
            <a:endParaRPr lang="en-IN" sz="2400" dirty="0"/>
          </a:p>
          <a:p>
            <a:pPr marL="0" lvl="1" indent="0">
              <a:spcBef>
                <a:spcPts val="1000"/>
              </a:spcBef>
              <a:buNone/>
            </a:pPr>
            <a:r>
              <a:rPr lang="en-IN" sz="2400" b="1" dirty="0">
                <a:solidFill>
                  <a:srgbClr val="1D3064"/>
                </a:solidFill>
              </a:rPr>
              <a:t>Application layer:</a:t>
            </a:r>
          </a:p>
          <a:p>
            <a:r>
              <a:rPr lang="en-US" dirty="0"/>
              <a:t>Provides means for the user to access information </a:t>
            </a:r>
            <a:r>
              <a:rPr lang="en-US" dirty="0" smtClean="0"/>
              <a:t>on the </a:t>
            </a:r>
            <a:r>
              <a:rPr lang="en-US" dirty="0"/>
              <a:t>network through an application</a:t>
            </a:r>
          </a:p>
          <a:p>
            <a:r>
              <a:rPr lang="en-US" dirty="0" smtClean="0"/>
              <a:t>It serves as </a:t>
            </a:r>
            <a:r>
              <a:rPr lang="en-US" dirty="0"/>
              <a:t>a window for </a:t>
            </a:r>
            <a:r>
              <a:rPr lang="en-US" dirty="0" smtClean="0"/>
              <a:t>users </a:t>
            </a:r>
            <a:r>
              <a:rPr lang="en-US" dirty="0"/>
              <a:t>and application processes to access network service.</a:t>
            </a:r>
            <a:endParaRPr lang="en-IN" sz="2400" dirty="0"/>
          </a:p>
        </p:txBody>
      </p:sp>
      <p:cxnSp>
        <p:nvCxnSpPr>
          <p:cNvPr id="60" name="Straight Connector 59"/>
          <p:cNvCxnSpPr/>
          <p:nvPr/>
        </p:nvCxnSpPr>
        <p:spPr>
          <a:xfrm>
            <a:off x="6179150" y="870244"/>
            <a:ext cx="0" cy="55905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200773" y="906470"/>
            <a:ext cx="5891211" cy="5491863"/>
            <a:chOff x="6200773" y="906470"/>
            <a:chExt cx="5891211" cy="5491863"/>
          </a:xfrm>
        </p:grpSpPr>
        <p:sp>
          <p:nvSpPr>
            <p:cNvPr id="152" name="Rounded Rectangle 151"/>
            <p:cNvSpPr/>
            <p:nvPr/>
          </p:nvSpPr>
          <p:spPr>
            <a:xfrm>
              <a:off x="6200773" y="1935573"/>
              <a:ext cx="1551414"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Presentation</a:t>
              </a:r>
              <a:endParaRPr lang="en-IN" sz="2000" dirty="0">
                <a:solidFill>
                  <a:schemeClr val="tx1"/>
                </a:solidFill>
              </a:endParaRPr>
            </a:p>
          </p:txBody>
        </p:sp>
        <p:sp>
          <p:nvSpPr>
            <p:cNvPr id="68" name="Rounded Rectangle 67"/>
            <p:cNvSpPr/>
            <p:nvPr/>
          </p:nvSpPr>
          <p:spPr>
            <a:xfrm>
              <a:off x="8451658" y="5921320"/>
              <a:ext cx="11459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Network</a:t>
              </a:r>
              <a:endParaRPr lang="en-IN" sz="2000" dirty="0">
                <a:solidFill>
                  <a:schemeClr val="tx1"/>
                </a:solidFill>
              </a:endParaRPr>
            </a:p>
          </p:txBody>
        </p:sp>
        <p:sp>
          <p:nvSpPr>
            <p:cNvPr id="69" name="Rounded Rectangle 68"/>
            <p:cNvSpPr/>
            <p:nvPr/>
          </p:nvSpPr>
          <p:spPr>
            <a:xfrm>
              <a:off x="8594134" y="113907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Application protocol</a:t>
              </a:r>
              <a:endParaRPr lang="en-IN" sz="2000" dirty="0">
                <a:solidFill>
                  <a:srgbClr val="1D3064"/>
                </a:solidFill>
              </a:endParaRPr>
            </a:p>
          </p:txBody>
        </p:sp>
        <p:sp>
          <p:nvSpPr>
            <p:cNvPr id="70" name="Rounded Rectangle 69"/>
            <p:cNvSpPr/>
            <p:nvPr/>
          </p:nvSpPr>
          <p:spPr>
            <a:xfrm>
              <a:off x="8504232" y="1799465"/>
              <a:ext cx="2481886"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Presentation protocol</a:t>
              </a:r>
              <a:endParaRPr lang="en-IN" sz="2000" dirty="0">
                <a:solidFill>
                  <a:srgbClr val="1D3064"/>
                </a:solidFill>
              </a:endParaRPr>
            </a:p>
          </p:txBody>
        </p:sp>
        <p:sp>
          <p:nvSpPr>
            <p:cNvPr id="71" name="Rounded Rectangle 70"/>
            <p:cNvSpPr/>
            <p:nvPr/>
          </p:nvSpPr>
          <p:spPr>
            <a:xfrm>
              <a:off x="8651285" y="310280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Transport </a:t>
              </a:r>
              <a:r>
                <a:rPr lang="en-IN" sz="2000" dirty="0">
                  <a:solidFill>
                    <a:srgbClr val="1D3064"/>
                  </a:solidFill>
                </a:rPr>
                <a:t>protocol</a:t>
              </a:r>
            </a:p>
          </p:txBody>
        </p:sp>
        <p:sp>
          <p:nvSpPr>
            <p:cNvPr id="72" name="Rounded Rectangle 71"/>
            <p:cNvSpPr/>
            <p:nvPr/>
          </p:nvSpPr>
          <p:spPr>
            <a:xfrm>
              <a:off x="8651285" y="377748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Network </a:t>
              </a:r>
              <a:r>
                <a:rPr lang="en-IN" sz="2000" dirty="0">
                  <a:solidFill>
                    <a:srgbClr val="1D3064"/>
                  </a:solidFill>
                </a:rPr>
                <a:t>protocol</a:t>
              </a:r>
            </a:p>
          </p:txBody>
        </p:sp>
        <p:sp>
          <p:nvSpPr>
            <p:cNvPr id="73" name="Rounded Rectangle 72"/>
            <p:cNvSpPr/>
            <p:nvPr/>
          </p:nvSpPr>
          <p:spPr>
            <a:xfrm>
              <a:off x="8675709" y="4409299"/>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rgbClr val="1D3064"/>
                  </a:solidFill>
                </a:rPr>
                <a:t>Data </a:t>
              </a:r>
              <a:r>
                <a:rPr lang="en-IN" sz="2000" dirty="0" smtClean="0">
                  <a:solidFill>
                    <a:srgbClr val="1D3064"/>
                  </a:solidFill>
                </a:rPr>
                <a:t>link </a:t>
              </a:r>
              <a:r>
                <a:rPr lang="en-IN" sz="2000" dirty="0">
                  <a:solidFill>
                    <a:srgbClr val="1D3064"/>
                  </a:solidFill>
                </a:rPr>
                <a:t>protocol</a:t>
              </a:r>
            </a:p>
          </p:txBody>
        </p:sp>
        <p:sp>
          <p:nvSpPr>
            <p:cNvPr id="75" name="Rounded Rectangle 74"/>
            <p:cNvSpPr/>
            <p:nvPr/>
          </p:nvSpPr>
          <p:spPr>
            <a:xfrm>
              <a:off x="8682851" y="505540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Physical </a:t>
              </a:r>
              <a:r>
                <a:rPr lang="en-IN" sz="2000" dirty="0">
                  <a:solidFill>
                    <a:srgbClr val="1D3064"/>
                  </a:solidFill>
                </a:rPr>
                <a:t>protocol</a:t>
              </a:r>
            </a:p>
          </p:txBody>
        </p:sp>
        <p:sp>
          <p:nvSpPr>
            <p:cNvPr id="76" name="Rounded Rectangle 75"/>
            <p:cNvSpPr/>
            <p:nvPr/>
          </p:nvSpPr>
          <p:spPr>
            <a:xfrm>
              <a:off x="11766922" y="1289469"/>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7</a:t>
              </a:r>
            </a:p>
          </p:txBody>
        </p:sp>
        <p:sp>
          <p:nvSpPr>
            <p:cNvPr id="77" name="Rounded Rectangle 76"/>
            <p:cNvSpPr/>
            <p:nvPr/>
          </p:nvSpPr>
          <p:spPr>
            <a:xfrm>
              <a:off x="11777058" y="1935573"/>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6</a:t>
              </a:r>
            </a:p>
          </p:txBody>
        </p:sp>
        <p:sp>
          <p:nvSpPr>
            <p:cNvPr id="78" name="Rounded Rectangle 77"/>
            <p:cNvSpPr/>
            <p:nvPr/>
          </p:nvSpPr>
          <p:spPr>
            <a:xfrm>
              <a:off x="11781209" y="3267487"/>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4</a:t>
              </a:r>
              <a:endParaRPr lang="en-IN" sz="2000" dirty="0">
                <a:solidFill>
                  <a:schemeClr val="tx1"/>
                </a:solidFill>
              </a:endParaRPr>
            </a:p>
          </p:txBody>
        </p:sp>
        <p:sp>
          <p:nvSpPr>
            <p:cNvPr id="79" name="Rounded Rectangle 78"/>
            <p:cNvSpPr/>
            <p:nvPr/>
          </p:nvSpPr>
          <p:spPr>
            <a:xfrm>
              <a:off x="11781209" y="3913591"/>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3</a:t>
              </a:r>
              <a:endParaRPr lang="en-IN" sz="2000" dirty="0">
                <a:solidFill>
                  <a:schemeClr val="tx1"/>
                </a:solidFill>
              </a:endParaRPr>
            </a:p>
          </p:txBody>
        </p:sp>
        <p:sp>
          <p:nvSpPr>
            <p:cNvPr id="82" name="Rounded Rectangle 81"/>
            <p:cNvSpPr/>
            <p:nvPr/>
          </p:nvSpPr>
          <p:spPr>
            <a:xfrm>
              <a:off x="11777057" y="4559695"/>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2</a:t>
              </a:r>
              <a:endParaRPr lang="en-IN" sz="2000" dirty="0">
                <a:solidFill>
                  <a:schemeClr val="tx1"/>
                </a:solidFill>
              </a:endParaRPr>
            </a:p>
          </p:txBody>
        </p:sp>
        <p:sp>
          <p:nvSpPr>
            <p:cNvPr id="84" name="Rounded Rectangle 83"/>
            <p:cNvSpPr/>
            <p:nvPr/>
          </p:nvSpPr>
          <p:spPr>
            <a:xfrm>
              <a:off x="11769911" y="5205799"/>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1</a:t>
              </a:r>
              <a:endParaRPr lang="en-IN" sz="2000" dirty="0">
                <a:solidFill>
                  <a:schemeClr val="tx1"/>
                </a:solidFill>
              </a:endParaRPr>
            </a:p>
          </p:txBody>
        </p:sp>
        <p:sp>
          <p:nvSpPr>
            <p:cNvPr id="85" name="Rounded Rectangle 84"/>
            <p:cNvSpPr/>
            <p:nvPr/>
          </p:nvSpPr>
          <p:spPr>
            <a:xfrm>
              <a:off x="6245418" y="1289469"/>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Application</a:t>
              </a:r>
              <a:endParaRPr lang="en-IN" sz="2000" dirty="0">
                <a:solidFill>
                  <a:schemeClr val="tx1"/>
                </a:solidFill>
              </a:endParaRPr>
            </a:p>
          </p:txBody>
        </p:sp>
        <p:sp>
          <p:nvSpPr>
            <p:cNvPr id="105" name="Rounded Rectangle 104"/>
            <p:cNvSpPr/>
            <p:nvPr/>
          </p:nvSpPr>
          <p:spPr>
            <a:xfrm>
              <a:off x="6245417" y="3267487"/>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Transport</a:t>
              </a:r>
            </a:p>
          </p:txBody>
        </p:sp>
        <p:sp>
          <p:nvSpPr>
            <p:cNvPr id="106" name="Rounded Rectangle 105"/>
            <p:cNvSpPr/>
            <p:nvPr/>
          </p:nvSpPr>
          <p:spPr>
            <a:xfrm>
              <a:off x="6245417" y="3913591"/>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Network</a:t>
              </a:r>
            </a:p>
          </p:txBody>
        </p:sp>
        <p:sp>
          <p:nvSpPr>
            <p:cNvPr id="107" name="Rounded Rectangle 106"/>
            <p:cNvSpPr/>
            <p:nvPr/>
          </p:nvSpPr>
          <p:spPr>
            <a:xfrm>
              <a:off x="6269841" y="4559695"/>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Data link</a:t>
              </a:r>
            </a:p>
          </p:txBody>
        </p:sp>
        <p:sp>
          <p:nvSpPr>
            <p:cNvPr id="108" name="Rounded Rectangle 107"/>
            <p:cNvSpPr/>
            <p:nvPr/>
          </p:nvSpPr>
          <p:spPr>
            <a:xfrm>
              <a:off x="6276983" y="5205799"/>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Physical</a:t>
              </a:r>
            </a:p>
          </p:txBody>
        </p:sp>
        <p:sp>
          <p:nvSpPr>
            <p:cNvPr id="109" name="Rectangle 108"/>
            <p:cNvSpPr/>
            <p:nvPr/>
          </p:nvSpPr>
          <p:spPr>
            <a:xfrm>
              <a:off x="7642040" y="132873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0" name="Rectangle 109"/>
            <p:cNvSpPr/>
            <p:nvPr/>
          </p:nvSpPr>
          <p:spPr>
            <a:xfrm>
              <a:off x="7642039" y="197484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11" name="Straight Connector 110"/>
            <p:cNvCxnSpPr>
              <a:stCxn id="109" idx="2"/>
              <a:endCxn id="110" idx="0"/>
            </p:cNvCxnSpPr>
            <p:nvPr/>
          </p:nvCxnSpPr>
          <p:spPr>
            <a:xfrm flipH="1">
              <a:off x="8049233" y="172721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endCxn id="114" idx="0"/>
            </p:cNvCxnSpPr>
            <p:nvPr/>
          </p:nvCxnSpPr>
          <p:spPr>
            <a:xfrm flipH="1">
              <a:off x="8049232" y="3030553"/>
              <a:ext cx="1" cy="27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Rectangle 113"/>
            <p:cNvSpPr/>
            <p:nvPr/>
          </p:nvSpPr>
          <p:spPr>
            <a:xfrm>
              <a:off x="7642038" y="3306756"/>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5" name="Rectangle 114"/>
            <p:cNvSpPr/>
            <p:nvPr/>
          </p:nvSpPr>
          <p:spPr>
            <a:xfrm>
              <a:off x="7637273" y="3952860"/>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6" name="Rectangle 115"/>
            <p:cNvSpPr/>
            <p:nvPr/>
          </p:nvSpPr>
          <p:spPr>
            <a:xfrm>
              <a:off x="7637272" y="4598964"/>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17" name="Straight Connector 116"/>
            <p:cNvCxnSpPr>
              <a:stCxn id="115" idx="2"/>
              <a:endCxn id="116" idx="0"/>
            </p:cNvCxnSpPr>
            <p:nvPr/>
          </p:nvCxnSpPr>
          <p:spPr>
            <a:xfrm flipH="1">
              <a:off x="8044466" y="4351337"/>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a:stCxn id="116" idx="2"/>
              <a:endCxn id="119" idx="0"/>
            </p:cNvCxnSpPr>
            <p:nvPr/>
          </p:nvCxnSpPr>
          <p:spPr>
            <a:xfrm flipH="1">
              <a:off x="8044465" y="4997441"/>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9" name="Rectangle 118"/>
            <p:cNvSpPr/>
            <p:nvPr/>
          </p:nvSpPr>
          <p:spPr>
            <a:xfrm>
              <a:off x="7637271" y="524506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20" name="Straight Connector 119"/>
            <p:cNvCxnSpPr>
              <a:stCxn id="114" idx="2"/>
              <a:endCxn id="115" idx="0"/>
            </p:cNvCxnSpPr>
            <p:nvPr/>
          </p:nvCxnSpPr>
          <p:spPr>
            <a:xfrm flipH="1">
              <a:off x="8044467" y="3705233"/>
              <a:ext cx="4765"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Rectangle 120"/>
            <p:cNvSpPr/>
            <p:nvPr/>
          </p:nvSpPr>
          <p:spPr>
            <a:xfrm>
              <a:off x="10980553" y="132873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2" name="Rectangle 121"/>
            <p:cNvSpPr/>
            <p:nvPr/>
          </p:nvSpPr>
          <p:spPr>
            <a:xfrm>
              <a:off x="10980552" y="197484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23" name="Straight Connector 122"/>
            <p:cNvCxnSpPr>
              <a:stCxn id="121" idx="2"/>
              <a:endCxn id="122" idx="0"/>
            </p:cNvCxnSpPr>
            <p:nvPr/>
          </p:nvCxnSpPr>
          <p:spPr>
            <a:xfrm flipH="1">
              <a:off x="11387746" y="172721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a:endCxn id="125" idx="0"/>
            </p:cNvCxnSpPr>
            <p:nvPr/>
          </p:nvCxnSpPr>
          <p:spPr>
            <a:xfrm flipH="1">
              <a:off x="11387745" y="3030553"/>
              <a:ext cx="1" cy="27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Rectangle 124"/>
            <p:cNvSpPr/>
            <p:nvPr/>
          </p:nvSpPr>
          <p:spPr>
            <a:xfrm>
              <a:off x="10980551" y="3306756"/>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6" name="Rectangle 125"/>
            <p:cNvSpPr/>
            <p:nvPr/>
          </p:nvSpPr>
          <p:spPr>
            <a:xfrm>
              <a:off x="10975786" y="3952860"/>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7" name="Rectangle 126"/>
            <p:cNvSpPr/>
            <p:nvPr/>
          </p:nvSpPr>
          <p:spPr>
            <a:xfrm>
              <a:off x="10975785" y="4598964"/>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28" name="Straight Connector 127"/>
            <p:cNvCxnSpPr>
              <a:stCxn id="126" idx="2"/>
              <a:endCxn id="127" idx="0"/>
            </p:cNvCxnSpPr>
            <p:nvPr/>
          </p:nvCxnSpPr>
          <p:spPr>
            <a:xfrm flipH="1">
              <a:off x="11382979" y="4351337"/>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a:stCxn id="127" idx="2"/>
              <a:endCxn id="130" idx="0"/>
            </p:cNvCxnSpPr>
            <p:nvPr/>
          </p:nvCxnSpPr>
          <p:spPr>
            <a:xfrm flipH="1">
              <a:off x="11382978" y="4997441"/>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Rectangle 129"/>
            <p:cNvSpPr/>
            <p:nvPr/>
          </p:nvSpPr>
          <p:spPr>
            <a:xfrm>
              <a:off x="10975784" y="524506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31" name="Straight Connector 130"/>
            <p:cNvCxnSpPr>
              <a:stCxn id="125" idx="2"/>
              <a:endCxn id="126" idx="0"/>
            </p:cNvCxnSpPr>
            <p:nvPr/>
          </p:nvCxnSpPr>
          <p:spPr>
            <a:xfrm flipH="1">
              <a:off x="11382980" y="3705233"/>
              <a:ext cx="4765"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stCxn id="109" idx="3"/>
              <a:endCxn id="121" idx="1"/>
            </p:cNvCxnSpPr>
            <p:nvPr/>
          </p:nvCxnSpPr>
          <p:spPr>
            <a:xfrm>
              <a:off x="8456427" y="1527977"/>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a:stCxn id="110" idx="3"/>
              <a:endCxn id="122" idx="1"/>
            </p:cNvCxnSpPr>
            <p:nvPr/>
          </p:nvCxnSpPr>
          <p:spPr>
            <a:xfrm>
              <a:off x="8456426" y="2174081"/>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a:stCxn id="115" idx="3"/>
              <a:endCxn id="126" idx="1"/>
            </p:cNvCxnSpPr>
            <p:nvPr/>
          </p:nvCxnSpPr>
          <p:spPr>
            <a:xfrm>
              <a:off x="8451660" y="4152099"/>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p:cNvCxnSpPr>
              <a:stCxn id="116" idx="3"/>
              <a:endCxn id="127" idx="1"/>
            </p:cNvCxnSpPr>
            <p:nvPr/>
          </p:nvCxnSpPr>
          <p:spPr>
            <a:xfrm>
              <a:off x="8451659" y="4798203"/>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p:cNvCxnSpPr>
              <a:stCxn id="114" idx="3"/>
              <a:endCxn id="125" idx="1"/>
            </p:cNvCxnSpPr>
            <p:nvPr/>
          </p:nvCxnSpPr>
          <p:spPr>
            <a:xfrm>
              <a:off x="8456425" y="3505995"/>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p:cNvCxnSpPr>
              <a:stCxn id="119" idx="3"/>
              <a:endCxn id="130" idx="1"/>
            </p:cNvCxnSpPr>
            <p:nvPr/>
          </p:nvCxnSpPr>
          <p:spPr>
            <a:xfrm>
              <a:off x="8451658" y="5444307"/>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a:stCxn id="109" idx="0"/>
            </p:cNvCxnSpPr>
            <p:nvPr/>
          </p:nvCxnSpPr>
          <p:spPr>
            <a:xfrm flipH="1" flipV="1">
              <a:off x="8044465" y="914400"/>
              <a:ext cx="4769" cy="41433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p:cNvCxnSpPr/>
            <p:nvPr/>
          </p:nvCxnSpPr>
          <p:spPr>
            <a:xfrm flipH="1" flipV="1">
              <a:off x="11382977" y="906470"/>
              <a:ext cx="4769" cy="41433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Elbow Connector 139"/>
            <p:cNvCxnSpPr>
              <a:stCxn id="119" idx="2"/>
              <a:endCxn id="130" idx="2"/>
            </p:cNvCxnSpPr>
            <p:nvPr/>
          </p:nvCxnSpPr>
          <p:spPr>
            <a:xfrm rot="16200000" flipH="1">
              <a:off x="9713721" y="3974288"/>
              <a:ext cx="12700" cy="3338513"/>
            </a:xfrm>
            <a:prstGeom prst="bentConnector3">
              <a:avLst>
                <a:gd name="adj1" fmla="val 2587528"/>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Rounded Rectangle 141"/>
            <p:cNvSpPr/>
            <p:nvPr/>
          </p:nvSpPr>
          <p:spPr>
            <a:xfrm>
              <a:off x="8565557" y="2451855"/>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Session protocol</a:t>
              </a:r>
              <a:endParaRPr lang="en-IN" sz="2000" dirty="0">
                <a:solidFill>
                  <a:srgbClr val="1D3064"/>
                </a:solidFill>
              </a:endParaRPr>
            </a:p>
          </p:txBody>
        </p:sp>
        <p:sp>
          <p:nvSpPr>
            <p:cNvPr id="143" name="Rounded Rectangle 142"/>
            <p:cNvSpPr/>
            <p:nvPr/>
          </p:nvSpPr>
          <p:spPr>
            <a:xfrm>
              <a:off x="11752633" y="2587963"/>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5</a:t>
              </a:r>
              <a:endParaRPr lang="en-IN" sz="2000" dirty="0">
                <a:solidFill>
                  <a:schemeClr val="tx1"/>
                </a:solidFill>
              </a:endParaRPr>
            </a:p>
          </p:txBody>
        </p:sp>
        <p:sp>
          <p:nvSpPr>
            <p:cNvPr id="144" name="Rounded Rectangle 143"/>
            <p:cNvSpPr/>
            <p:nvPr/>
          </p:nvSpPr>
          <p:spPr>
            <a:xfrm>
              <a:off x="6245417" y="2587963"/>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Session</a:t>
              </a:r>
              <a:endParaRPr lang="en-IN" sz="2000" dirty="0">
                <a:solidFill>
                  <a:schemeClr val="tx1"/>
                </a:solidFill>
              </a:endParaRPr>
            </a:p>
          </p:txBody>
        </p:sp>
        <p:sp>
          <p:nvSpPr>
            <p:cNvPr id="145" name="Rectangle 144"/>
            <p:cNvSpPr/>
            <p:nvPr/>
          </p:nvSpPr>
          <p:spPr>
            <a:xfrm>
              <a:off x="7617614" y="262723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46" name="Straight Connector 145"/>
            <p:cNvCxnSpPr>
              <a:endCxn id="145" idx="0"/>
            </p:cNvCxnSpPr>
            <p:nvPr/>
          </p:nvCxnSpPr>
          <p:spPr>
            <a:xfrm flipH="1">
              <a:off x="8024808" y="237960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10956127" y="262723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48" name="Straight Connector 147"/>
            <p:cNvCxnSpPr>
              <a:endCxn id="147" idx="0"/>
            </p:cNvCxnSpPr>
            <p:nvPr/>
          </p:nvCxnSpPr>
          <p:spPr>
            <a:xfrm flipH="1">
              <a:off x="11363321" y="237960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Arrow Connector 148"/>
            <p:cNvCxnSpPr>
              <a:stCxn id="145" idx="3"/>
              <a:endCxn id="147" idx="1"/>
            </p:cNvCxnSpPr>
            <p:nvPr/>
          </p:nvCxnSpPr>
          <p:spPr>
            <a:xfrm>
              <a:off x="8432001" y="2826471"/>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51" name="Rounded Rectangle 150"/>
          <p:cNvSpPr/>
          <p:nvPr/>
        </p:nvSpPr>
        <p:spPr>
          <a:xfrm>
            <a:off x="6287118" y="1902955"/>
            <a:ext cx="5800714" cy="55451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Rounded Rectangle 63"/>
          <p:cNvSpPr/>
          <p:nvPr/>
        </p:nvSpPr>
        <p:spPr>
          <a:xfrm>
            <a:off x="6287118" y="1226386"/>
            <a:ext cx="5800714" cy="55451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9165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2">
                                            <p:txEl>
                                              <p:pRg st="5" end="5"/>
                                            </p:txEl>
                                          </p:spTgt>
                                        </p:tgtEl>
                                        <p:attrNameLst>
                                          <p:attrName>style.visibility</p:attrName>
                                        </p:attrNameLst>
                                      </p:cBhvr>
                                      <p:to>
                                        <p:strVal val="visible"/>
                                      </p:to>
                                    </p:set>
                                  </p:childTnLst>
                                </p:cTn>
                              </p:par>
                              <p:par>
                                <p:cTn id="21" presetID="22" presetClass="entr" presetSubtype="1" fill="hold" nodeType="withEffect">
                                  <p:stCondLst>
                                    <p:cond delay="0"/>
                                  </p:stCondLst>
                                  <p:childTnLst>
                                    <p:set>
                                      <p:cBhvr>
                                        <p:cTn id="22" dur="1" fill="hold">
                                          <p:stCondLst>
                                            <p:cond delay="0"/>
                                          </p:stCondLst>
                                        </p:cTn>
                                        <p:tgtEl>
                                          <p:spTgt spid="60"/>
                                        </p:tgtEl>
                                        <p:attrNameLst>
                                          <p:attrName>style.visibility</p:attrName>
                                        </p:attrNameLst>
                                      </p:cBhvr>
                                      <p:to>
                                        <p:strVal val="visible"/>
                                      </p:to>
                                    </p:set>
                                    <p:animEffect transition="in" filter="wipe(up)">
                                      <p:cBhvr>
                                        <p:cTn id="23" dur="500"/>
                                        <p:tgtEl>
                                          <p:spTgt spid="60"/>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151"/>
                                        </p:tgtEl>
                                        <p:attrNameLst>
                                          <p:attrName>style.visibility</p:attrName>
                                        </p:attrNameLst>
                                      </p:cBhvr>
                                      <p:to>
                                        <p:strVal val="visible"/>
                                      </p:to>
                                    </p:set>
                                  </p:childTnLst>
                                  <p:subTnLst>
                                    <p:set>
                                      <p:cBhvr override="childStyle">
                                        <p:cTn dur="1" fill="hold" display="0" masterRel="nextClick" afterEffect="1"/>
                                        <p:tgtEl>
                                          <p:spTgt spid="151"/>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12">
                                            <p:txEl>
                                              <p:pRg st="6" end="6"/>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12">
                                            <p:txEl>
                                              <p:pRg st="7" end="7"/>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12">
                                            <p:txEl>
                                              <p:pRg st="8" end="8"/>
                                            </p:txEl>
                                          </p:spTgt>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64"/>
                                        </p:tgtEl>
                                        <p:attrNameLst>
                                          <p:attrName>style.visibility</p:attrName>
                                        </p:attrNameLst>
                                      </p:cBhvr>
                                      <p:to>
                                        <p:strVal val="visible"/>
                                      </p:to>
                                    </p:set>
                                  </p:childTnLst>
                                  <p:subTnLst>
                                    <p:set>
                                      <p:cBhvr override="childStyle">
                                        <p:cTn dur="1" fill="hold" display="0" masterRel="nextClick" afterEffect="1"/>
                                        <p:tgtEl>
                                          <p:spTgt spid="6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6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Middleware Layer</a:t>
            </a:r>
          </a:p>
        </p:txBody>
      </p:sp>
      <p:sp>
        <p:nvSpPr>
          <p:cNvPr id="112" name="Content Placeholder 111"/>
          <p:cNvSpPr>
            <a:spLocks noGrp="1"/>
          </p:cNvSpPr>
          <p:nvPr>
            <p:ph idx="1"/>
          </p:nvPr>
        </p:nvSpPr>
        <p:spPr>
          <a:xfrm>
            <a:off x="1" y="870244"/>
            <a:ext cx="6207725" cy="5590565"/>
          </a:xfrm>
        </p:spPr>
        <p:txBody>
          <a:bodyPr/>
          <a:lstStyle/>
          <a:p>
            <a:pPr marL="265113" lvl="1" indent="-265113">
              <a:spcBef>
                <a:spcPts val="1000"/>
              </a:spcBef>
              <a:buFont typeface="Webdings" panose="05030102010509060703" pitchFamily="18" charset="2"/>
              <a:buChar char=""/>
            </a:pPr>
            <a:r>
              <a:rPr lang="en-IN" sz="2400" dirty="0">
                <a:solidFill>
                  <a:schemeClr val="accent6"/>
                </a:solidFill>
              </a:rPr>
              <a:t>Middleware</a:t>
            </a:r>
            <a:r>
              <a:rPr lang="en-IN" sz="2400" dirty="0"/>
              <a:t> provides common services and protocols that can be used by many different applications</a:t>
            </a:r>
          </a:p>
          <a:p>
            <a:pPr lvl="1">
              <a:buFont typeface="Wingdings" panose="05000000000000000000" pitchFamily="2" charset="2"/>
              <a:buChar char="§"/>
            </a:pPr>
            <a:r>
              <a:rPr lang="en-IN" sz="2400" dirty="0"/>
              <a:t>High‐level communication services, e.g., RPC, multicasting</a:t>
            </a:r>
          </a:p>
          <a:p>
            <a:pPr lvl="1">
              <a:buFont typeface="Wingdings" panose="05000000000000000000" pitchFamily="2" charset="2"/>
              <a:buChar char="§"/>
            </a:pPr>
            <a:r>
              <a:rPr lang="en-IN" sz="2400" dirty="0"/>
              <a:t>Security protocols, e.g., authentication protocols, authorization protocols</a:t>
            </a:r>
          </a:p>
          <a:p>
            <a:pPr lvl="1">
              <a:buFont typeface="Wingdings" panose="05000000000000000000" pitchFamily="2" charset="2"/>
              <a:buChar char="§"/>
            </a:pPr>
            <a:r>
              <a:rPr lang="en-IN" sz="2400" dirty="0"/>
              <a:t>Distributed locking protocols for mutual exclusion</a:t>
            </a:r>
          </a:p>
          <a:p>
            <a:pPr lvl="1">
              <a:buFont typeface="Wingdings" panose="05000000000000000000" pitchFamily="2" charset="2"/>
              <a:buChar char="§"/>
            </a:pPr>
            <a:r>
              <a:rPr lang="en-IN" sz="2400" dirty="0"/>
              <a:t>Distributed commit protocols</a:t>
            </a:r>
          </a:p>
        </p:txBody>
      </p:sp>
      <p:grpSp>
        <p:nvGrpSpPr>
          <p:cNvPr id="3" name="Group 2"/>
          <p:cNvGrpSpPr/>
          <p:nvPr/>
        </p:nvGrpSpPr>
        <p:grpSpPr>
          <a:xfrm>
            <a:off x="6345433" y="906470"/>
            <a:ext cx="5846567" cy="4755298"/>
            <a:chOff x="6345433" y="906470"/>
            <a:chExt cx="5846567" cy="4755298"/>
          </a:xfrm>
        </p:grpSpPr>
        <p:sp>
          <p:nvSpPr>
            <p:cNvPr id="98" name="Rounded Rectangle 97"/>
            <p:cNvSpPr/>
            <p:nvPr/>
          </p:nvSpPr>
          <p:spPr>
            <a:xfrm>
              <a:off x="9429761" y="5184755"/>
              <a:ext cx="11459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Network</a:t>
              </a:r>
              <a:endParaRPr lang="en-IN" sz="2000" dirty="0">
                <a:solidFill>
                  <a:schemeClr val="tx1"/>
                </a:solidFill>
              </a:endParaRPr>
            </a:p>
          </p:txBody>
        </p:sp>
        <p:sp>
          <p:nvSpPr>
            <p:cNvPr id="99" name="Rounded Rectangle 98"/>
            <p:cNvSpPr/>
            <p:nvPr/>
          </p:nvSpPr>
          <p:spPr>
            <a:xfrm>
              <a:off x="8694150" y="113907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Application protocol</a:t>
              </a:r>
              <a:endParaRPr lang="en-IN" sz="2000" dirty="0">
                <a:solidFill>
                  <a:srgbClr val="1D3064"/>
                </a:solidFill>
              </a:endParaRPr>
            </a:p>
          </p:txBody>
        </p:sp>
        <p:sp>
          <p:nvSpPr>
            <p:cNvPr id="100" name="Rounded Rectangle 99"/>
            <p:cNvSpPr/>
            <p:nvPr/>
          </p:nvSpPr>
          <p:spPr>
            <a:xfrm>
              <a:off x="8689998" y="1799465"/>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Middleware </a:t>
              </a:r>
              <a:r>
                <a:rPr lang="en-IN" sz="2000" dirty="0">
                  <a:solidFill>
                    <a:srgbClr val="1D3064"/>
                  </a:solidFill>
                </a:rPr>
                <a:t>protocol</a:t>
              </a:r>
            </a:p>
          </p:txBody>
        </p:sp>
        <p:sp>
          <p:nvSpPr>
            <p:cNvPr id="101" name="Rounded Rectangle 100"/>
            <p:cNvSpPr/>
            <p:nvPr/>
          </p:nvSpPr>
          <p:spPr>
            <a:xfrm>
              <a:off x="8751301" y="2445569"/>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Transport </a:t>
              </a:r>
              <a:r>
                <a:rPr lang="en-IN" sz="2000" dirty="0">
                  <a:solidFill>
                    <a:srgbClr val="1D3064"/>
                  </a:solidFill>
                </a:rPr>
                <a:t>protocol</a:t>
              </a:r>
            </a:p>
          </p:txBody>
        </p:sp>
        <p:sp>
          <p:nvSpPr>
            <p:cNvPr id="102" name="Rounded Rectangle 101"/>
            <p:cNvSpPr/>
            <p:nvPr/>
          </p:nvSpPr>
          <p:spPr>
            <a:xfrm>
              <a:off x="8751301" y="309167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Network </a:t>
              </a:r>
              <a:r>
                <a:rPr lang="en-IN" sz="2000" dirty="0">
                  <a:solidFill>
                    <a:srgbClr val="1D3064"/>
                  </a:solidFill>
                </a:rPr>
                <a:t>protocol</a:t>
              </a:r>
            </a:p>
          </p:txBody>
        </p:sp>
        <p:sp>
          <p:nvSpPr>
            <p:cNvPr id="103" name="Rounded Rectangle 102"/>
            <p:cNvSpPr/>
            <p:nvPr/>
          </p:nvSpPr>
          <p:spPr>
            <a:xfrm>
              <a:off x="8775725" y="3723489"/>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rgbClr val="1D3064"/>
                  </a:solidFill>
                </a:rPr>
                <a:t>Data </a:t>
              </a:r>
              <a:r>
                <a:rPr lang="en-IN" sz="2000" dirty="0" smtClean="0">
                  <a:solidFill>
                    <a:srgbClr val="1D3064"/>
                  </a:solidFill>
                </a:rPr>
                <a:t>link </a:t>
              </a:r>
              <a:r>
                <a:rPr lang="en-IN" sz="2000" dirty="0">
                  <a:solidFill>
                    <a:srgbClr val="1D3064"/>
                  </a:solidFill>
                </a:rPr>
                <a:t>protocol</a:t>
              </a:r>
            </a:p>
          </p:txBody>
        </p:sp>
        <p:sp>
          <p:nvSpPr>
            <p:cNvPr id="104" name="Rounded Rectangle 103"/>
            <p:cNvSpPr/>
            <p:nvPr/>
          </p:nvSpPr>
          <p:spPr>
            <a:xfrm>
              <a:off x="8782867" y="4369593"/>
              <a:ext cx="239613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rgbClr val="1D3064"/>
                  </a:solidFill>
                </a:rPr>
                <a:t>Physical </a:t>
              </a:r>
              <a:r>
                <a:rPr lang="en-IN" sz="2000" dirty="0">
                  <a:solidFill>
                    <a:srgbClr val="1D3064"/>
                  </a:solidFill>
                </a:rPr>
                <a:t>protocol</a:t>
              </a:r>
            </a:p>
          </p:txBody>
        </p:sp>
        <p:sp>
          <p:nvSpPr>
            <p:cNvPr id="92" name="Rounded Rectangle 91"/>
            <p:cNvSpPr/>
            <p:nvPr/>
          </p:nvSpPr>
          <p:spPr>
            <a:xfrm>
              <a:off x="11866938" y="1289469"/>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6</a:t>
              </a:r>
              <a:endParaRPr lang="en-IN" sz="2000" dirty="0">
                <a:solidFill>
                  <a:schemeClr val="tx1"/>
                </a:solidFill>
              </a:endParaRPr>
            </a:p>
          </p:txBody>
        </p:sp>
        <p:sp>
          <p:nvSpPr>
            <p:cNvPr id="93" name="Rounded Rectangle 92"/>
            <p:cNvSpPr/>
            <p:nvPr/>
          </p:nvSpPr>
          <p:spPr>
            <a:xfrm>
              <a:off x="11877074" y="1935573"/>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5</a:t>
              </a:r>
              <a:endParaRPr lang="en-IN" sz="2000" dirty="0">
                <a:solidFill>
                  <a:schemeClr val="tx1"/>
                </a:solidFill>
              </a:endParaRPr>
            </a:p>
          </p:txBody>
        </p:sp>
        <p:sp>
          <p:nvSpPr>
            <p:cNvPr id="94" name="Rounded Rectangle 93"/>
            <p:cNvSpPr/>
            <p:nvPr/>
          </p:nvSpPr>
          <p:spPr>
            <a:xfrm>
              <a:off x="11881225" y="2581677"/>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4</a:t>
              </a:r>
              <a:endParaRPr lang="en-IN" sz="2000" dirty="0">
                <a:solidFill>
                  <a:schemeClr val="tx1"/>
                </a:solidFill>
              </a:endParaRPr>
            </a:p>
          </p:txBody>
        </p:sp>
        <p:sp>
          <p:nvSpPr>
            <p:cNvPr id="95" name="Rounded Rectangle 94"/>
            <p:cNvSpPr/>
            <p:nvPr/>
          </p:nvSpPr>
          <p:spPr>
            <a:xfrm>
              <a:off x="11881225" y="3227781"/>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3</a:t>
              </a:r>
              <a:endParaRPr lang="en-IN" sz="2000" dirty="0">
                <a:solidFill>
                  <a:schemeClr val="tx1"/>
                </a:solidFill>
              </a:endParaRPr>
            </a:p>
          </p:txBody>
        </p:sp>
        <p:sp>
          <p:nvSpPr>
            <p:cNvPr id="96" name="Rounded Rectangle 95"/>
            <p:cNvSpPr/>
            <p:nvPr/>
          </p:nvSpPr>
          <p:spPr>
            <a:xfrm>
              <a:off x="11877073" y="3873885"/>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2</a:t>
              </a:r>
              <a:endParaRPr lang="en-IN" sz="2000" dirty="0">
                <a:solidFill>
                  <a:schemeClr val="tx1"/>
                </a:solidFill>
              </a:endParaRPr>
            </a:p>
          </p:txBody>
        </p:sp>
        <p:sp>
          <p:nvSpPr>
            <p:cNvPr id="97" name="Rounded Rectangle 96"/>
            <p:cNvSpPr/>
            <p:nvPr/>
          </p:nvSpPr>
          <p:spPr>
            <a:xfrm>
              <a:off x="11869927" y="4519989"/>
              <a:ext cx="31077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1</a:t>
              </a:r>
              <a:endParaRPr lang="en-IN" sz="2000" dirty="0">
                <a:solidFill>
                  <a:schemeClr val="tx1"/>
                </a:solidFill>
              </a:endParaRPr>
            </a:p>
          </p:txBody>
        </p:sp>
        <p:sp>
          <p:nvSpPr>
            <p:cNvPr id="86" name="Rounded Rectangle 85"/>
            <p:cNvSpPr/>
            <p:nvPr/>
          </p:nvSpPr>
          <p:spPr>
            <a:xfrm>
              <a:off x="6345434" y="1289469"/>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rPr>
                <a:t>Application</a:t>
              </a:r>
              <a:endParaRPr lang="en-IN" sz="2000" dirty="0">
                <a:solidFill>
                  <a:schemeClr val="tx1"/>
                </a:solidFill>
              </a:endParaRPr>
            </a:p>
          </p:txBody>
        </p:sp>
        <p:sp>
          <p:nvSpPr>
            <p:cNvPr id="87" name="Rounded Rectangle 86"/>
            <p:cNvSpPr/>
            <p:nvPr/>
          </p:nvSpPr>
          <p:spPr>
            <a:xfrm>
              <a:off x="6369858" y="1935573"/>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Middleware</a:t>
              </a:r>
            </a:p>
          </p:txBody>
        </p:sp>
        <p:sp>
          <p:nvSpPr>
            <p:cNvPr id="88" name="Rounded Rectangle 87"/>
            <p:cNvSpPr/>
            <p:nvPr/>
          </p:nvSpPr>
          <p:spPr>
            <a:xfrm>
              <a:off x="6345433" y="2581677"/>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Transport</a:t>
              </a:r>
            </a:p>
          </p:txBody>
        </p:sp>
        <p:sp>
          <p:nvSpPr>
            <p:cNvPr id="89" name="Rounded Rectangle 88"/>
            <p:cNvSpPr/>
            <p:nvPr/>
          </p:nvSpPr>
          <p:spPr>
            <a:xfrm>
              <a:off x="6345433" y="3227781"/>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Network</a:t>
              </a:r>
            </a:p>
          </p:txBody>
        </p:sp>
        <p:sp>
          <p:nvSpPr>
            <p:cNvPr id="90" name="Rounded Rectangle 89"/>
            <p:cNvSpPr/>
            <p:nvPr/>
          </p:nvSpPr>
          <p:spPr>
            <a:xfrm>
              <a:off x="6369857" y="3873885"/>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Data link</a:t>
              </a:r>
            </a:p>
          </p:txBody>
        </p:sp>
        <p:sp>
          <p:nvSpPr>
            <p:cNvPr id="91" name="Rounded Rectangle 90"/>
            <p:cNvSpPr/>
            <p:nvPr/>
          </p:nvSpPr>
          <p:spPr>
            <a:xfrm>
              <a:off x="6376999" y="4519989"/>
              <a:ext cx="1553785" cy="4770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Physical</a:t>
              </a:r>
            </a:p>
          </p:txBody>
        </p:sp>
        <p:sp>
          <p:nvSpPr>
            <p:cNvPr id="5" name="Rectangle 4"/>
            <p:cNvSpPr/>
            <p:nvPr/>
          </p:nvSpPr>
          <p:spPr>
            <a:xfrm>
              <a:off x="7742056" y="132873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Rectangle 5"/>
            <p:cNvSpPr/>
            <p:nvPr/>
          </p:nvSpPr>
          <p:spPr>
            <a:xfrm>
              <a:off x="7742055" y="197484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8" name="Straight Connector 7"/>
            <p:cNvCxnSpPr>
              <a:stCxn id="5" idx="2"/>
              <a:endCxn id="6" idx="0"/>
            </p:cNvCxnSpPr>
            <p:nvPr/>
          </p:nvCxnSpPr>
          <p:spPr>
            <a:xfrm flipH="1">
              <a:off x="8149249" y="172721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6" idx="2"/>
              <a:endCxn id="40" idx="0"/>
            </p:cNvCxnSpPr>
            <p:nvPr/>
          </p:nvCxnSpPr>
          <p:spPr>
            <a:xfrm flipH="1">
              <a:off x="8149248" y="2373319"/>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7742054" y="2620946"/>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2" name="Rectangle 41"/>
            <p:cNvSpPr/>
            <p:nvPr/>
          </p:nvSpPr>
          <p:spPr>
            <a:xfrm>
              <a:off x="7737289" y="3267050"/>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3" name="Rectangle 42"/>
            <p:cNvSpPr/>
            <p:nvPr/>
          </p:nvSpPr>
          <p:spPr>
            <a:xfrm>
              <a:off x="7737288" y="3913154"/>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44" name="Straight Connector 43"/>
            <p:cNvCxnSpPr>
              <a:stCxn id="42" idx="2"/>
              <a:endCxn id="43" idx="0"/>
            </p:cNvCxnSpPr>
            <p:nvPr/>
          </p:nvCxnSpPr>
          <p:spPr>
            <a:xfrm flipH="1">
              <a:off x="8144482" y="3665527"/>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43" idx="2"/>
              <a:endCxn id="46" idx="0"/>
            </p:cNvCxnSpPr>
            <p:nvPr/>
          </p:nvCxnSpPr>
          <p:spPr>
            <a:xfrm flipH="1">
              <a:off x="8144481" y="4311631"/>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7737287" y="455925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48" name="Straight Connector 47"/>
            <p:cNvCxnSpPr>
              <a:stCxn id="40" idx="2"/>
              <a:endCxn id="42" idx="0"/>
            </p:cNvCxnSpPr>
            <p:nvPr/>
          </p:nvCxnSpPr>
          <p:spPr>
            <a:xfrm flipH="1">
              <a:off x="8144483" y="3019423"/>
              <a:ext cx="4765"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11080569" y="132873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0" name="Rectangle 49"/>
            <p:cNvSpPr/>
            <p:nvPr/>
          </p:nvSpPr>
          <p:spPr>
            <a:xfrm>
              <a:off x="11080568" y="1974842"/>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51" name="Straight Connector 50"/>
            <p:cNvCxnSpPr>
              <a:stCxn id="49" idx="2"/>
              <a:endCxn id="50" idx="0"/>
            </p:cNvCxnSpPr>
            <p:nvPr/>
          </p:nvCxnSpPr>
          <p:spPr>
            <a:xfrm flipH="1">
              <a:off x="11487762" y="1727215"/>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50" idx="2"/>
              <a:endCxn id="53" idx="0"/>
            </p:cNvCxnSpPr>
            <p:nvPr/>
          </p:nvCxnSpPr>
          <p:spPr>
            <a:xfrm flipH="1">
              <a:off x="11487761" y="2373319"/>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Rectangle 52"/>
            <p:cNvSpPr/>
            <p:nvPr/>
          </p:nvSpPr>
          <p:spPr>
            <a:xfrm>
              <a:off x="11080567" y="2620946"/>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4" name="Rectangle 53"/>
            <p:cNvSpPr/>
            <p:nvPr/>
          </p:nvSpPr>
          <p:spPr>
            <a:xfrm>
              <a:off x="11075802" y="3267050"/>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5" name="Rectangle 54"/>
            <p:cNvSpPr/>
            <p:nvPr/>
          </p:nvSpPr>
          <p:spPr>
            <a:xfrm>
              <a:off x="11075801" y="3913154"/>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56" name="Straight Connector 55"/>
            <p:cNvCxnSpPr>
              <a:stCxn id="54" idx="2"/>
              <a:endCxn id="55" idx="0"/>
            </p:cNvCxnSpPr>
            <p:nvPr/>
          </p:nvCxnSpPr>
          <p:spPr>
            <a:xfrm flipH="1">
              <a:off x="11482995" y="3665527"/>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55" idx="2"/>
              <a:endCxn id="58" idx="0"/>
            </p:cNvCxnSpPr>
            <p:nvPr/>
          </p:nvCxnSpPr>
          <p:spPr>
            <a:xfrm flipH="1">
              <a:off x="11482994" y="4311631"/>
              <a:ext cx="1"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11075800" y="4559258"/>
              <a:ext cx="814387" cy="3984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59" name="Straight Connector 58"/>
            <p:cNvCxnSpPr>
              <a:stCxn id="53" idx="2"/>
              <a:endCxn id="54" idx="0"/>
            </p:cNvCxnSpPr>
            <p:nvPr/>
          </p:nvCxnSpPr>
          <p:spPr>
            <a:xfrm flipH="1">
              <a:off x="11482996" y="3019423"/>
              <a:ext cx="4765" cy="247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5" idx="3"/>
              <a:endCxn id="49" idx="1"/>
            </p:cNvCxnSpPr>
            <p:nvPr/>
          </p:nvCxnSpPr>
          <p:spPr>
            <a:xfrm>
              <a:off x="8556443" y="1527977"/>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6" idx="3"/>
              <a:endCxn id="50" idx="1"/>
            </p:cNvCxnSpPr>
            <p:nvPr/>
          </p:nvCxnSpPr>
          <p:spPr>
            <a:xfrm>
              <a:off x="8556442" y="2174081"/>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42" idx="3"/>
              <a:endCxn id="54" idx="1"/>
            </p:cNvCxnSpPr>
            <p:nvPr/>
          </p:nvCxnSpPr>
          <p:spPr>
            <a:xfrm>
              <a:off x="8551676" y="3466289"/>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43" idx="3"/>
              <a:endCxn id="55" idx="1"/>
            </p:cNvCxnSpPr>
            <p:nvPr/>
          </p:nvCxnSpPr>
          <p:spPr>
            <a:xfrm>
              <a:off x="8551675" y="4112393"/>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40" idx="3"/>
              <a:endCxn id="53" idx="1"/>
            </p:cNvCxnSpPr>
            <p:nvPr/>
          </p:nvCxnSpPr>
          <p:spPr>
            <a:xfrm>
              <a:off x="8556441" y="2820185"/>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46" idx="3"/>
              <a:endCxn id="58" idx="1"/>
            </p:cNvCxnSpPr>
            <p:nvPr/>
          </p:nvCxnSpPr>
          <p:spPr>
            <a:xfrm>
              <a:off x="8551674" y="4758497"/>
              <a:ext cx="2524126" cy="0"/>
            </a:xfrm>
            <a:prstGeom prst="straightConnector1">
              <a:avLst/>
            </a:prstGeom>
            <a:ln w="1905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5" idx="0"/>
            </p:cNvCxnSpPr>
            <p:nvPr/>
          </p:nvCxnSpPr>
          <p:spPr>
            <a:xfrm flipH="1" flipV="1">
              <a:off x="8144481" y="914400"/>
              <a:ext cx="4769" cy="41433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H="1" flipV="1">
              <a:off x="11482993" y="906470"/>
              <a:ext cx="4769" cy="41433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p:cNvCxnSpPr>
              <a:stCxn id="46" idx="2"/>
              <a:endCxn id="58" idx="2"/>
            </p:cNvCxnSpPr>
            <p:nvPr/>
          </p:nvCxnSpPr>
          <p:spPr>
            <a:xfrm rot="16200000" flipH="1">
              <a:off x="9813737" y="3288478"/>
              <a:ext cx="12700" cy="3338513"/>
            </a:xfrm>
            <a:prstGeom prst="bentConnector3">
              <a:avLst>
                <a:gd name="adj1" fmla="val 2587528"/>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 name="Straight Connector 59"/>
          <p:cNvCxnSpPr/>
          <p:nvPr/>
        </p:nvCxnSpPr>
        <p:spPr>
          <a:xfrm>
            <a:off x="6279166" y="870244"/>
            <a:ext cx="0" cy="55905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Rounded Rectangle 62"/>
          <p:cNvSpPr/>
          <p:nvPr/>
        </p:nvSpPr>
        <p:spPr>
          <a:xfrm>
            <a:off x="6391286" y="1809106"/>
            <a:ext cx="5800714" cy="682226"/>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07011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par>
                                <p:cTn id="11" presetID="22" presetClass="entr" presetSubtype="1"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wipe(up)">
                                      <p:cBhvr>
                                        <p:cTn id="13" dur="500"/>
                                        <p:tgtEl>
                                          <p:spTgt spid="60"/>
                                        </p:tgtEl>
                                      </p:cBhvr>
                                    </p:animEffect>
                                  </p:childTnLst>
                                </p:cTn>
                              </p:par>
                              <p:par>
                                <p:cTn id="14" presetID="1" presetClass="entr" presetSubtype="0" fill="hold" nodeType="withEffect">
                                  <p:stCondLst>
                                    <p:cond delay="0"/>
                                  </p:stCondLst>
                                  <p:childTnLst>
                                    <p:set>
                                      <p:cBhvr>
                                        <p:cTn id="15" dur="1" fill="hold">
                                          <p:stCondLst>
                                            <p:cond delay="0"/>
                                          </p:stCondLst>
                                        </p:cTn>
                                        <p:tgtEl>
                                          <p:spTgt spid="112">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2">
                                            <p:txEl>
                                              <p:pRg st="1" end="1"/>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12">
                                            <p:txEl>
                                              <p:pRg st="2" end="2"/>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12">
                                            <p:txEl>
                                              <p:pRg st="3" end="3"/>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OSI Model</a:t>
            </a:r>
          </a:p>
        </p:txBody>
      </p:sp>
      <p:sp>
        <p:nvSpPr>
          <p:cNvPr id="107" name="Content Placeholder 2">
            <a:extLst>
              <a:ext uri="{FF2B5EF4-FFF2-40B4-BE49-F238E27FC236}">
                <a16:creationId xmlns="" xmlns:a16="http://schemas.microsoft.com/office/drawing/2014/main" id="{84D5B697-1EFD-42AD-A439-3C2DB249A892}"/>
              </a:ext>
            </a:extLst>
          </p:cNvPr>
          <p:cNvSpPr>
            <a:spLocks noGrp="1"/>
          </p:cNvSpPr>
          <p:nvPr>
            <p:ph idx="1"/>
          </p:nvPr>
        </p:nvSpPr>
        <p:spPr>
          <a:xfrm>
            <a:off x="190500" y="914400"/>
            <a:ext cx="8763000" cy="5334000"/>
          </a:xfrm>
        </p:spPr>
        <p:txBody>
          <a:bodyPr/>
          <a:lstStyle/>
          <a:p>
            <a:pPr marL="0" indent="0" algn="just">
              <a:buNone/>
            </a:pPr>
            <a:endParaRPr lang="en-IN" dirty="0"/>
          </a:p>
          <a:p>
            <a:pPr marL="0" indent="0" algn="just">
              <a:buNone/>
            </a:pPr>
            <a:endParaRPr lang="en-IN" dirty="0"/>
          </a:p>
        </p:txBody>
      </p:sp>
      <p:sp>
        <p:nvSpPr>
          <p:cNvPr id="108" name="Flowchart: Terminator 107">
            <a:extLst>
              <a:ext uri="{FF2B5EF4-FFF2-40B4-BE49-F238E27FC236}">
                <a16:creationId xmlns="" xmlns:a16="http://schemas.microsoft.com/office/drawing/2014/main" id="{FD37A700-873E-44CC-944B-3AB0363EDF9C}"/>
              </a:ext>
            </a:extLst>
          </p:cNvPr>
          <p:cNvSpPr/>
          <p:nvPr/>
        </p:nvSpPr>
        <p:spPr>
          <a:xfrm>
            <a:off x="228600" y="986513"/>
            <a:ext cx="2438400" cy="533400"/>
          </a:xfrm>
          <a:prstGeom prst="flowChartTerminator">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Application Layer</a:t>
            </a:r>
          </a:p>
        </p:txBody>
      </p:sp>
      <p:cxnSp>
        <p:nvCxnSpPr>
          <p:cNvPr id="109" name="Straight Arrow Connector 108">
            <a:extLst>
              <a:ext uri="{FF2B5EF4-FFF2-40B4-BE49-F238E27FC236}">
                <a16:creationId xmlns="" xmlns:a16="http://schemas.microsoft.com/office/drawing/2014/main" id="{8EF99053-D761-4294-80A0-EDF7541358D7}"/>
              </a:ext>
            </a:extLst>
          </p:cNvPr>
          <p:cNvCxnSpPr>
            <a:cxnSpLocks/>
          </p:cNvCxnSpPr>
          <p:nvPr/>
        </p:nvCxnSpPr>
        <p:spPr>
          <a:xfrm>
            <a:off x="2667000" y="1253213"/>
            <a:ext cx="48292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 xmlns:a16="http://schemas.microsoft.com/office/drawing/2014/main" id="{E825DB70-D36B-4B3D-8142-15791511B23F}"/>
              </a:ext>
            </a:extLst>
          </p:cNvPr>
          <p:cNvSpPr txBox="1"/>
          <p:nvPr/>
        </p:nvSpPr>
        <p:spPr>
          <a:xfrm>
            <a:off x="3164058" y="914400"/>
            <a:ext cx="5789442" cy="707886"/>
          </a:xfrm>
          <a:prstGeom prst="rect">
            <a:avLst/>
          </a:prstGeom>
          <a:solidFill>
            <a:schemeClr val="bg1">
              <a:lumMod val="95000"/>
            </a:schemeClr>
          </a:solidFill>
        </p:spPr>
        <p:txBody>
          <a:bodyPr wrap="square" rtlCol="0">
            <a:spAutoFit/>
          </a:bodyPr>
          <a:lstStyle/>
          <a:p>
            <a:pPr algn="just"/>
            <a:r>
              <a:rPr lang="en-IN" sz="2000" dirty="0"/>
              <a:t>Application layer is used by </a:t>
            </a:r>
            <a:r>
              <a:rPr lang="en-IN" sz="2000" dirty="0">
                <a:solidFill>
                  <a:srgbClr val="FF0000"/>
                </a:solidFill>
              </a:rPr>
              <a:t>Network applications.</a:t>
            </a:r>
          </a:p>
          <a:p>
            <a:pPr algn="just"/>
            <a:r>
              <a:rPr lang="en-IN" sz="2000" dirty="0"/>
              <a:t>Example: browsers</a:t>
            </a:r>
          </a:p>
        </p:txBody>
      </p:sp>
      <p:sp>
        <p:nvSpPr>
          <p:cNvPr id="111" name="Flowchart: Terminator 110">
            <a:extLst>
              <a:ext uri="{FF2B5EF4-FFF2-40B4-BE49-F238E27FC236}">
                <a16:creationId xmlns="" xmlns:a16="http://schemas.microsoft.com/office/drawing/2014/main" id="{0FA42558-187D-4CD5-B366-10B6433C710D}"/>
              </a:ext>
            </a:extLst>
          </p:cNvPr>
          <p:cNvSpPr/>
          <p:nvPr/>
        </p:nvSpPr>
        <p:spPr>
          <a:xfrm>
            <a:off x="228600" y="2005777"/>
            <a:ext cx="2438400" cy="533400"/>
          </a:xfrm>
          <a:prstGeom prst="flowChartTerminator">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Presentation Layer</a:t>
            </a:r>
          </a:p>
        </p:txBody>
      </p:sp>
      <p:cxnSp>
        <p:nvCxnSpPr>
          <p:cNvPr id="113" name="Straight Arrow Connector 112">
            <a:extLst>
              <a:ext uri="{FF2B5EF4-FFF2-40B4-BE49-F238E27FC236}">
                <a16:creationId xmlns="" xmlns:a16="http://schemas.microsoft.com/office/drawing/2014/main" id="{391E9CD1-05C1-4840-9704-C70BF5BB728D}"/>
              </a:ext>
            </a:extLst>
          </p:cNvPr>
          <p:cNvCxnSpPr>
            <a:cxnSpLocks/>
          </p:cNvCxnSpPr>
          <p:nvPr/>
        </p:nvCxnSpPr>
        <p:spPr>
          <a:xfrm>
            <a:off x="1427871" y="1519913"/>
            <a:ext cx="0" cy="4572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 xmlns:a16="http://schemas.microsoft.com/office/drawing/2014/main" id="{666DEC49-EC76-424A-BDC1-E18FA7A8BAB5}"/>
              </a:ext>
            </a:extLst>
          </p:cNvPr>
          <p:cNvSpPr txBox="1"/>
          <p:nvPr/>
        </p:nvSpPr>
        <p:spPr>
          <a:xfrm>
            <a:off x="2754277" y="2053161"/>
            <a:ext cx="1407758" cy="369332"/>
          </a:xfrm>
          <a:prstGeom prst="rect">
            <a:avLst/>
          </a:prstGeom>
          <a:noFill/>
        </p:spPr>
        <p:txBody>
          <a:bodyPr wrap="none" rtlCol="0">
            <a:spAutoFit/>
          </a:bodyPr>
          <a:lstStyle/>
          <a:p>
            <a:r>
              <a:rPr lang="en-US" dirty="0"/>
              <a:t>EDB12345AB</a:t>
            </a:r>
            <a:endParaRPr lang="en-IN" dirty="0"/>
          </a:p>
        </p:txBody>
      </p:sp>
      <p:sp>
        <p:nvSpPr>
          <p:cNvPr id="115" name="TextBox 114">
            <a:extLst>
              <a:ext uri="{FF2B5EF4-FFF2-40B4-BE49-F238E27FC236}">
                <a16:creationId xmlns="" xmlns:a16="http://schemas.microsoft.com/office/drawing/2014/main" id="{5A9DD3B3-C027-4D5C-BA5C-DA42FB77F91F}"/>
              </a:ext>
            </a:extLst>
          </p:cNvPr>
          <p:cNvSpPr txBox="1"/>
          <p:nvPr/>
        </p:nvSpPr>
        <p:spPr>
          <a:xfrm>
            <a:off x="4668108" y="2049047"/>
            <a:ext cx="1354858" cy="369332"/>
          </a:xfrm>
          <a:prstGeom prst="rect">
            <a:avLst/>
          </a:prstGeom>
          <a:noFill/>
        </p:spPr>
        <p:txBody>
          <a:bodyPr wrap="none" rtlCol="0">
            <a:spAutoFit/>
          </a:bodyPr>
          <a:lstStyle/>
          <a:p>
            <a:r>
              <a:rPr lang="en-US" dirty="0"/>
              <a:t>1010110010</a:t>
            </a:r>
            <a:endParaRPr lang="en-IN" dirty="0"/>
          </a:p>
        </p:txBody>
      </p:sp>
      <p:sp>
        <p:nvSpPr>
          <p:cNvPr id="116" name="TextBox 115">
            <a:extLst>
              <a:ext uri="{FF2B5EF4-FFF2-40B4-BE49-F238E27FC236}">
                <a16:creationId xmlns="" xmlns:a16="http://schemas.microsoft.com/office/drawing/2014/main" id="{502B2835-3C2B-46A1-95B9-0CF4EEEEA6B9}"/>
              </a:ext>
            </a:extLst>
          </p:cNvPr>
          <p:cNvSpPr txBox="1"/>
          <p:nvPr/>
        </p:nvSpPr>
        <p:spPr>
          <a:xfrm>
            <a:off x="6529039" y="2048537"/>
            <a:ext cx="1120820" cy="369332"/>
          </a:xfrm>
          <a:prstGeom prst="rect">
            <a:avLst/>
          </a:prstGeom>
          <a:noFill/>
        </p:spPr>
        <p:txBody>
          <a:bodyPr wrap="none" rtlCol="0">
            <a:spAutoFit/>
          </a:bodyPr>
          <a:lstStyle/>
          <a:p>
            <a:r>
              <a:rPr lang="en-US" dirty="0"/>
              <a:t>10110100</a:t>
            </a:r>
            <a:endParaRPr lang="en-IN" dirty="0"/>
          </a:p>
        </p:txBody>
      </p:sp>
      <p:sp>
        <p:nvSpPr>
          <p:cNvPr id="117" name="TextBox 116">
            <a:extLst>
              <a:ext uri="{FF2B5EF4-FFF2-40B4-BE49-F238E27FC236}">
                <a16:creationId xmlns="" xmlns:a16="http://schemas.microsoft.com/office/drawing/2014/main" id="{D9958591-28EE-4C49-9422-A6A3AC3C9F2E}"/>
              </a:ext>
            </a:extLst>
          </p:cNvPr>
          <p:cNvSpPr txBox="1"/>
          <p:nvPr/>
        </p:nvSpPr>
        <p:spPr>
          <a:xfrm>
            <a:off x="3781083" y="1301323"/>
            <a:ext cx="1215076" cy="369332"/>
          </a:xfrm>
          <a:prstGeom prst="rect">
            <a:avLst/>
          </a:prstGeom>
          <a:noFill/>
        </p:spPr>
        <p:txBody>
          <a:bodyPr wrap="none" rtlCol="0">
            <a:spAutoFit/>
          </a:bodyPr>
          <a:lstStyle/>
          <a:p>
            <a:r>
              <a:rPr lang="en-US" dirty="0"/>
              <a:t>Translation</a:t>
            </a:r>
            <a:endParaRPr lang="en-IN" dirty="0"/>
          </a:p>
        </p:txBody>
      </p:sp>
      <p:sp>
        <p:nvSpPr>
          <p:cNvPr id="118" name="TextBox 117">
            <a:extLst>
              <a:ext uri="{FF2B5EF4-FFF2-40B4-BE49-F238E27FC236}">
                <a16:creationId xmlns="" xmlns:a16="http://schemas.microsoft.com/office/drawing/2014/main" id="{E762132A-2927-42EF-9E53-D4E4E417D526}"/>
              </a:ext>
            </a:extLst>
          </p:cNvPr>
          <p:cNvSpPr txBox="1"/>
          <p:nvPr/>
        </p:nvSpPr>
        <p:spPr>
          <a:xfrm>
            <a:off x="5537405" y="1115412"/>
            <a:ext cx="1404744" cy="646331"/>
          </a:xfrm>
          <a:prstGeom prst="rect">
            <a:avLst/>
          </a:prstGeom>
          <a:noFill/>
        </p:spPr>
        <p:txBody>
          <a:bodyPr wrap="none" rtlCol="0">
            <a:spAutoFit/>
          </a:bodyPr>
          <a:lstStyle/>
          <a:p>
            <a:pPr algn="ctr"/>
            <a:r>
              <a:rPr lang="en-US" dirty="0"/>
              <a:t>Data </a:t>
            </a:r>
          </a:p>
          <a:p>
            <a:pPr algn="ctr"/>
            <a:r>
              <a:rPr lang="en-US" dirty="0"/>
              <a:t>Compression</a:t>
            </a:r>
            <a:endParaRPr lang="en-IN" dirty="0"/>
          </a:p>
        </p:txBody>
      </p:sp>
      <p:sp>
        <p:nvSpPr>
          <p:cNvPr id="119" name="TextBox 118">
            <a:extLst>
              <a:ext uri="{FF2B5EF4-FFF2-40B4-BE49-F238E27FC236}">
                <a16:creationId xmlns="" xmlns:a16="http://schemas.microsoft.com/office/drawing/2014/main" id="{CF7C8626-9B66-4ADA-B5F6-470CA56EED32}"/>
              </a:ext>
            </a:extLst>
          </p:cNvPr>
          <p:cNvSpPr txBox="1"/>
          <p:nvPr/>
        </p:nvSpPr>
        <p:spPr>
          <a:xfrm>
            <a:off x="8040479" y="2093645"/>
            <a:ext cx="1120820" cy="369332"/>
          </a:xfrm>
          <a:prstGeom prst="rect">
            <a:avLst/>
          </a:prstGeom>
          <a:noFill/>
        </p:spPr>
        <p:txBody>
          <a:bodyPr wrap="square" rtlCol="0">
            <a:spAutoFit/>
          </a:bodyPr>
          <a:lstStyle/>
          <a:p>
            <a:r>
              <a:rPr lang="en-US" dirty="0"/>
              <a:t>01010101</a:t>
            </a:r>
            <a:endParaRPr lang="en-IN" dirty="0"/>
          </a:p>
        </p:txBody>
      </p:sp>
      <p:sp>
        <p:nvSpPr>
          <p:cNvPr id="120" name="TextBox 119">
            <a:extLst>
              <a:ext uri="{FF2B5EF4-FFF2-40B4-BE49-F238E27FC236}">
                <a16:creationId xmlns="" xmlns:a16="http://schemas.microsoft.com/office/drawing/2014/main" id="{55BCF5E5-F706-4FA9-ABA3-DEBFDCE345DA}"/>
              </a:ext>
            </a:extLst>
          </p:cNvPr>
          <p:cNvSpPr txBox="1"/>
          <p:nvPr/>
        </p:nvSpPr>
        <p:spPr>
          <a:xfrm>
            <a:off x="7269412" y="1301323"/>
            <a:ext cx="1196290" cy="369332"/>
          </a:xfrm>
          <a:prstGeom prst="rect">
            <a:avLst/>
          </a:prstGeom>
          <a:noFill/>
        </p:spPr>
        <p:txBody>
          <a:bodyPr wrap="none" rtlCol="0">
            <a:spAutoFit/>
          </a:bodyPr>
          <a:lstStyle/>
          <a:p>
            <a:pPr algn="ctr"/>
            <a:r>
              <a:rPr lang="en-US" dirty="0"/>
              <a:t>Encryption</a:t>
            </a:r>
            <a:endParaRPr lang="en-IN" dirty="0"/>
          </a:p>
        </p:txBody>
      </p:sp>
      <p:cxnSp>
        <p:nvCxnSpPr>
          <p:cNvPr id="121" name="Curved Connector 10">
            <a:extLst>
              <a:ext uri="{FF2B5EF4-FFF2-40B4-BE49-F238E27FC236}">
                <a16:creationId xmlns="" xmlns:a16="http://schemas.microsoft.com/office/drawing/2014/main" id="{F95632E2-4864-48D0-9674-61E811FC406A}"/>
              </a:ext>
            </a:extLst>
          </p:cNvPr>
          <p:cNvCxnSpPr>
            <a:cxnSpLocks/>
          </p:cNvCxnSpPr>
          <p:nvPr/>
        </p:nvCxnSpPr>
        <p:spPr>
          <a:xfrm rot="5400000" flipH="1">
            <a:off x="4385037" y="1743416"/>
            <a:ext cx="7168" cy="700458"/>
          </a:xfrm>
          <a:prstGeom prst="curvedConnector3">
            <a:avLst>
              <a:gd name="adj1" fmla="val 4616633"/>
            </a:avLst>
          </a:prstGeom>
          <a:ln w="25400">
            <a:solidFill>
              <a:schemeClr val="tx1"/>
            </a:solidFill>
            <a:prstDash val="lg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122" name="Curved Connector 10">
            <a:extLst>
              <a:ext uri="{FF2B5EF4-FFF2-40B4-BE49-F238E27FC236}">
                <a16:creationId xmlns="" xmlns:a16="http://schemas.microsoft.com/office/drawing/2014/main" id="{AD1AAA5D-A9AF-4129-904F-27C5DB19AC0C}"/>
              </a:ext>
            </a:extLst>
          </p:cNvPr>
          <p:cNvCxnSpPr>
            <a:cxnSpLocks/>
          </p:cNvCxnSpPr>
          <p:nvPr/>
        </p:nvCxnSpPr>
        <p:spPr>
          <a:xfrm rot="5400000" flipH="1">
            <a:off x="6238809" y="1739832"/>
            <a:ext cx="7168" cy="700458"/>
          </a:xfrm>
          <a:prstGeom prst="curvedConnector3">
            <a:avLst>
              <a:gd name="adj1" fmla="val 4616633"/>
            </a:avLst>
          </a:prstGeom>
          <a:ln w="25400">
            <a:solidFill>
              <a:schemeClr val="tx1"/>
            </a:solidFill>
            <a:prstDash val="lg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123" name="Curved Connector 10">
            <a:extLst>
              <a:ext uri="{FF2B5EF4-FFF2-40B4-BE49-F238E27FC236}">
                <a16:creationId xmlns="" xmlns:a16="http://schemas.microsoft.com/office/drawing/2014/main" id="{A0A6AC6A-F6C4-4F6F-9B24-D5403E93C2D9}"/>
              </a:ext>
            </a:extLst>
          </p:cNvPr>
          <p:cNvCxnSpPr>
            <a:cxnSpLocks/>
          </p:cNvCxnSpPr>
          <p:nvPr/>
        </p:nvCxnSpPr>
        <p:spPr>
          <a:xfrm rot="5400000" flipH="1">
            <a:off x="7832162" y="1790414"/>
            <a:ext cx="7168" cy="700458"/>
          </a:xfrm>
          <a:prstGeom prst="curvedConnector3">
            <a:avLst>
              <a:gd name="adj1" fmla="val 4616633"/>
            </a:avLst>
          </a:prstGeom>
          <a:ln w="25400">
            <a:solidFill>
              <a:schemeClr val="tx1"/>
            </a:solidFill>
            <a:prstDash val="lgDash"/>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 xmlns:a16="http://schemas.microsoft.com/office/drawing/2014/main" id="{F2A3B14A-2153-49CA-BCFB-04804D352BC1}"/>
              </a:ext>
            </a:extLst>
          </p:cNvPr>
          <p:cNvSpPr txBox="1"/>
          <p:nvPr/>
        </p:nvSpPr>
        <p:spPr>
          <a:xfrm>
            <a:off x="7225578" y="2804879"/>
            <a:ext cx="1220334" cy="369332"/>
          </a:xfrm>
          <a:prstGeom prst="rect">
            <a:avLst/>
          </a:prstGeom>
          <a:noFill/>
        </p:spPr>
        <p:txBody>
          <a:bodyPr wrap="none" rtlCol="0">
            <a:spAutoFit/>
          </a:bodyPr>
          <a:lstStyle/>
          <a:p>
            <a:pPr algn="ctr"/>
            <a:r>
              <a:rPr lang="en-US" dirty="0"/>
              <a:t>Decryption</a:t>
            </a:r>
            <a:endParaRPr lang="en-IN" dirty="0"/>
          </a:p>
        </p:txBody>
      </p:sp>
      <p:cxnSp>
        <p:nvCxnSpPr>
          <p:cNvPr id="125" name="Curved Connector 10">
            <a:extLst>
              <a:ext uri="{FF2B5EF4-FFF2-40B4-BE49-F238E27FC236}">
                <a16:creationId xmlns="" xmlns:a16="http://schemas.microsoft.com/office/drawing/2014/main" id="{47E3FC22-23D5-4E06-AD85-0C3CCF338CF8}"/>
              </a:ext>
            </a:extLst>
          </p:cNvPr>
          <p:cNvCxnSpPr>
            <a:cxnSpLocks/>
          </p:cNvCxnSpPr>
          <p:nvPr/>
        </p:nvCxnSpPr>
        <p:spPr>
          <a:xfrm rot="16200000" flipH="1">
            <a:off x="7832162" y="2116333"/>
            <a:ext cx="7168" cy="700458"/>
          </a:xfrm>
          <a:prstGeom prst="curvedConnector3">
            <a:avLst>
              <a:gd name="adj1" fmla="val 4616633"/>
            </a:avLst>
          </a:prstGeom>
          <a:ln w="25400">
            <a:solidFill>
              <a:schemeClr val="tx1"/>
            </a:solidFill>
            <a:prstDash val="lgDash"/>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126" name="Flowchart: Terminator 125">
            <a:extLst>
              <a:ext uri="{FF2B5EF4-FFF2-40B4-BE49-F238E27FC236}">
                <a16:creationId xmlns="" xmlns:a16="http://schemas.microsoft.com/office/drawing/2014/main" id="{F368015B-825C-49DD-A385-1C203561CE35}"/>
              </a:ext>
            </a:extLst>
          </p:cNvPr>
          <p:cNvSpPr/>
          <p:nvPr/>
        </p:nvSpPr>
        <p:spPr>
          <a:xfrm>
            <a:off x="228600" y="2996377"/>
            <a:ext cx="2438400" cy="533400"/>
          </a:xfrm>
          <a:prstGeom prst="flowChartTerminator">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Session Layer</a:t>
            </a:r>
          </a:p>
        </p:txBody>
      </p:sp>
      <p:cxnSp>
        <p:nvCxnSpPr>
          <p:cNvPr id="127" name="Straight Arrow Connector 126">
            <a:extLst>
              <a:ext uri="{FF2B5EF4-FFF2-40B4-BE49-F238E27FC236}">
                <a16:creationId xmlns="" xmlns:a16="http://schemas.microsoft.com/office/drawing/2014/main" id="{208EC3C2-5561-4BAE-9979-6D2EEA0BBE68}"/>
              </a:ext>
            </a:extLst>
          </p:cNvPr>
          <p:cNvCxnSpPr>
            <a:cxnSpLocks/>
          </p:cNvCxnSpPr>
          <p:nvPr/>
        </p:nvCxnSpPr>
        <p:spPr>
          <a:xfrm>
            <a:off x="2681132" y="3224977"/>
            <a:ext cx="48292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 xmlns:a16="http://schemas.microsoft.com/office/drawing/2014/main" id="{A71DCC93-E136-422F-9870-46008A951AF6}"/>
              </a:ext>
            </a:extLst>
          </p:cNvPr>
          <p:cNvSpPr txBox="1"/>
          <p:nvPr/>
        </p:nvSpPr>
        <p:spPr>
          <a:xfrm>
            <a:off x="3164058" y="2436003"/>
            <a:ext cx="5789442" cy="1631216"/>
          </a:xfrm>
          <a:prstGeom prst="rect">
            <a:avLst/>
          </a:prstGeom>
          <a:solidFill>
            <a:schemeClr val="bg1">
              <a:lumMod val="95000"/>
            </a:schemeClr>
          </a:solidFill>
        </p:spPr>
        <p:txBody>
          <a:bodyPr wrap="square" rtlCol="0">
            <a:spAutoFit/>
          </a:bodyPr>
          <a:lstStyle/>
          <a:p>
            <a:pPr marL="342900" indent="-342900" algn="just">
              <a:buAutoNum type="arabicPeriod"/>
            </a:pPr>
            <a:r>
              <a:rPr lang="en-IN" sz="2000" b="1" dirty="0">
                <a:solidFill>
                  <a:schemeClr val="tx2"/>
                </a:solidFill>
              </a:rPr>
              <a:t>Session Management</a:t>
            </a:r>
            <a:r>
              <a:rPr lang="en-IN" sz="2000" dirty="0"/>
              <a:t> – Securing multiple requests to a service from the same user.</a:t>
            </a:r>
          </a:p>
          <a:p>
            <a:pPr marL="342900" indent="-342900" algn="just">
              <a:buAutoNum type="arabicPeriod"/>
            </a:pPr>
            <a:r>
              <a:rPr lang="en-IN" sz="2000" b="1" dirty="0">
                <a:solidFill>
                  <a:schemeClr val="tx2"/>
                </a:solidFill>
              </a:rPr>
              <a:t>Authentication </a:t>
            </a:r>
            <a:r>
              <a:rPr lang="en-IN" sz="2000" dirty="0"/>
              <a:t>- Who you are?</a:t>
            </a:r>
          </a:p>
          <a:p>
            <a:pPr marL="342900" indent="-342900" algn="just">
              <a:buAutoNum type="arabicPeriod"/>
            </a:pPr>
            <a:r>
              <a:rPr lang="en-IN" sz="2000" b="1" dirty="0">
                <a:solidFill>
                  <a:schemeClr val="tx2"/>
                </a:solidFill>
              </a:rPr>
              <a:t>Authorization </a:t>
            </a:r>
            <a:r>
              <a:rPr lang="en-IN" sz="2000" dirty="0"/>
              <a:t>-  Rules that determine who is allowed to do what. </a:t>
            </a:r>
          </a:p>
        </p:txBody>
      </p:sp>
      <p:cxnSp>
        <p:nvCxnSpPr>
          <p:cNvPr id="129" name="Straight Arrow Connector 128">
            <a:extLst>
              <a:ext uri="{FF2B5EF4-FFF2-40B4-BE49-F238E27FC236}">
                <a16:creationId xmlns="" xmlns:a16="http://schemas.microsoft.com/office/drawing/2014/main" id="{38528DFA-B039-44AB-AB93-215A0F6791A8}"/>
              </a:ext>
            </a:extLst>
          </p:cNvPr>
          <p:cNvCxnSpPr>
            <a:cxnSpLocks/>
          </p:cNvCxnSpPr>
          <p:nvPr/>
        </p:nvCxnSpPr>
        <p:spPr>
          <a:xfrm>
            <a:off x="1427871" y="2539177"/>
            <a:ext cx="0" cy="4572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0" name="Flowchart: Terminator 129">
            <a:extLst>
              <a:ext uri="{FF2B5EF4-FFF2-40B4-BE49-F238E27FC236}">
                <a16:creationId xmlns="" xmlns:a16="http://schemas.microsoft.com/office/drawing/2014/main" id="{7B49DFB0-AC80-48E4-B87F-31005DB36FF1}"/>
              </a:ext>
            </a:extLst>
          </p:cNvPr>
          <p:cNvSpPr/>
          <p:nvPr/>
        </p:nvSpPr>
        <p:spPr>
          <a:xfrm>
            <a:off x="208671" y="3986977"/>
            <a:ext cx="2438400" cy="533400"/>
          </a:xfrm>
          <a:prstGeom prst="flowChartTerminator">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Transport Layer</a:t>
            </a:r>
          </a:p>
        </p:txBody>
      </p:sp>
      <p:cxnSp>
        <p:nvCxnSpPr>
          <p:cNvPr id="131" name="Straight Arrow Connector 130">
            <a:extLst>
              <a:ext uri="{FF2B5EF4-FFF2-40B4-BE49-F238E27FC236}">
                <a16:creationId xmlns="" xmlns:a16="http://schemas.microsoft.com/office/drawing/2014/main" id="{837033CC-2031-46D8-8862-0378A8ADC044}"/>
              </a:ext>
            </a:extLst>
          </p:cNvPr>
          <p:cNvCxnSpPr>
            <a:cxnSpLocks/>
          </p:cNvCxnSpPr>
          <p:nvPr/>
        </p:nvCxnSpPr>
        <p:spPr>
          <a:xfrm>
            <a:off x="1427871" y="3529777"/>
            <a:ext cx="0" cy="4572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 xmlns:a16="http://schemas.microsoft.com/office/drawing/2014/main" id="{FD9DBC7E-B284-483B-8778-09F38B831EA5}"/>
              </a:ext>
            </a:extLst>
          </p:cNvPr>
          <p:cNvCxnSpPr>
            <a:cxnSpLocks/>
          </p:cNvCxnSpPr>
          <p:nvPr/>
        </p:nvCxnSpPr>
        <p:spPr>
          <a:xfrm>
            <a:off x="2667000" y="4242551"/>
            <a:ext cx="48292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 xmlns:a16="http://schemas.microsoft.com/office/drawing/2014/main" id="{FFD621F1-033C-47D5-8664-1094DB9C2943}"/>
              </a:ext>
            </a:extLst>
          </p:cNvPr>
          <p:cNvSpPr txBox="1"/>
          <p:nvPr/>
        </p:nvSpPr>
        <p:spPr>
          <a:xfrm>
            <a:off x="3149926" y="3453577"/>
            <a:ext cx="5789442" cy="1938992"/>
          </a:xfrm>
          <a:prstGeom prst="rect">
            <a:avLst/>
          </a:prstGeom>
          <a:solidFill>
            <a:schemeClr val="bg1">
              <a:lumMod val="95000"/>
            </a:schemeClr>
          </a:solidFill>
        </p:spPr>
        <p:txBody>
          <a:bodyPr wrap="square" rtlCol="0">
            <a:spAutoFit/>
          </a:bodyPr>
          <a:lstStyle/>
          <a:p>
            <a:pPr marL="342900" indent="-342900" algn="just">
              <a:buAutoNum type="arabicPeriod"/>
            </a:pPr>
            <a:r>
              <a:rPr lang="en-IN" sz="2000" b="1" dirty="0">
                <a:solidFill>
                  <a:schemeClr val="tx2"/>
                </a:solidFill>
              </a:rPr>
              <a:t>Segmentation: </a:t>
            </a:r>
            <a:r>
              <a:rPr lang="en-IN" sz="2000" dirty="0"/>
              <a:t>Received data divided into small data units called segments.</a:t>
            </a:r>
          </a:p>
          <a:p>
            <a:pPr marL="342900" indent="-342900" algn="just">
              <a:buAutoNum type="arabicPeriod"/>
            </a:pPr>
            <a:r>
              <a:rPr lang="en-IN" sz="2000" b="1" dirty="0">
                <a:solidFill>
                  <a:schemeClr val="tx2"/>
                </a:solidFill>
              </a:rPr>
              <a:t>Flow control: </a:t>
            </a:r>
            <a:r>
              <a:rPr lang="en-IN" sz="2000" dirty="0"/>
              <a:t>It controls amount of data being transmitted.</a:t>
            </a:r>
          </a:p>
          <a:p>
            <a:pPr marL="342900" indent="-342900" algn="just">
              <a:buAutoNum type="arabicPeriod"/>
            </a:pPr>
            <a:r>
              <a:rPr lang="en-IN" sz="2000" b="1" dirty="0">
                <a:solidFill>
                  <a:schemeClr val="tx2"/>
                </a:solidFill>
              </a:rPr>
              <a:t>Error Control: </a:t>
            </a:r>
            <a:r>
              <a:rPr lang="en-IN" sz="2000" dirty="0"/>
              <a:t>It is the process of detecting and correcting corrupted segments.</a:t>
            </a:r>
          </a:p>
        </p:txBody>
      </p:sp>
      <p:sp>
        <p:nvSpPr>
          <p:cNvPr id="134" name="Flowchart: Terminator 133">
            <a:extLst>
              <a:ext uri="{FF2B5EF4-FFF2-40B4-BE49-F238E27FC236}">
                <a16:creationId xmlns="" xmlns:a16="http://schemas.microsoft.com/office/drawing/2014/main" id="{7EAB56AD-7AB1-4D2A-B987-A6BEAC9C2579}"/>
              </a:ext>
            </a:extLst>
          </p:cNvPr>
          <p:cNvSpPr/>
          <p:nvPr/>
        </p:nvSpPr>
        <p:spPr>
          <a:xfrm>
            <a:off x="228600" y="4977577"/>
            <a:ext cx="2438400" cy="533400"/>
          </a:xfrm>
          <a:prstGeom prst="flowChartTerminator">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Network Layer</a:t>
            </a:r>
          </a:p>
        </p:txBody>
      </p:sp>
      <p:cxnSp>
        <p:nvCxnSpPr>
          <p:cNvPr id="135" name="Straight Arrow Connector 134">
            <a:extLst>
              <a:ext uri="{FF2B5EF4-FFF2-40B4-BE49-F238E27FC236}">
                <a16:creationId xmlns="" xmlns:a16="http://schemas.microsoft.com/office/drawing/2014/main" id="{464468FB-2508-492C-83FB-DF4BBACD2466}"/>
              </a:ext>
            </a:extLst>
          </p:cNvPr>
          <p:cNvCxnSpPr>
            <a:cxnSpLocks/>
          </p:cNvCxnSpPr>
          <p:nvPr/>
        </p:nvCxnSpPr>
        <p:spPr>
          <a:xfrm>
            <a:off x="1447800" y="4520377"/>
            <a:ext cx="0" cy="4572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 xmlns:a16="http://schemas.microsoft.com/office/drawing/2014/main" id="{E0E66032-943C-41B0-89D3-E0F41D015514}"/>
              </a:ext>
            </a:extLst>
          </p:cNvPr>
          <p:cNvCxnSpPr>
            <a:cxnSpLocks/>
          </p:cNvCxnSpPr>
          <p:nvPr/>
        </p:nvCxnSpPr>
        <p:spPr>
          <a:xfrm>
            <a:off x="2652868" y="5267165"/>
            <a:ext cx="48292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 xmlns:a16="http://schemas.microsoft.com/office/drawing/2014/main" id="{B837EE3C-BCF1-4A97-8268-6630ECB5FE3B}"/>
              </a:ext>
            </a:extLst>
          </p:cNvPr>
          <p:cNvSpPr txBox="1"/>
          <p:nvPr/>
        </p:nvSpPr>
        <p:spPr>
          <a:xfrm>
            <a:off x="3149926" y="4717651"/>
            <a:ext cx="5789442" cy="1015663"/>
          </a:xfrm>
          <a:prstGeom prst="rect">
            <a:avLst/>
          </a:prstGeom>
          <a:solidFill>
            <a:schemeClr val="bg1">
              <a:lumMod val="95000"/>
            </a:schemeClr>
          </a:solidFill>
        </p:spPr>
        <p:txBody>
          <a:bodyPr wrap="square" rtlCol="0">
            <a:spAutoFit/>
          </a:bodyPr>
          <a:lstStyle/>
          <a:p>
            <a:pPr marL="457200" indent="-457200" algn="just">
              <a:buFont typeface="+mj-lt"/>
              <a:buAutoNum type="arabicPeriod"/>
            </a:pPr>
            <a:r>
              <a:rPr lang="en-IN" sz="2000" b="1" dirty="0">
                <a:solidFill>
                  <a:schemeClr val="tx2"/>
                </a:solidFill>
              </a:rPr>
              <a:t>Logical addressing</a:t>
            </a:r>
          </a:p>
          <a:p>
            <a:pPr marL="457200" indent="-457200" algn="just">
              <a:buFont typeface="+mj-lt"/>
              <a:buAutoNum type="arabicPeriod"/>
            </a:pPr>
            <a:r>
              <a:rPr lang="en-IN" sz="2000" b="1" dirty="0">
                <a:solidFill>
                  <a:schemeClr val="tx2"/>
                </a:solidFill>
              </a:rPr>
              <a:t>Routing</a:t>
            </a:r>
          </a:p>
          <a:p>
            <a:pPr marL="457200" indent="-457200" algn="just">
              <a:buFont typeface="+mj-lt"/>
              <a:buAutoNum type="arabicPeriod"/>
            </a:pPr>
            <a:r>
              <a:rPr lang="en-IN" sz="2000" b="1" dirty="0">
                <a:solidFill>
                  <a:schemeClr val="tx2"/>
                </a:solidFill>
              </a:rPr>
              <a:t>Path determination</a:t>
            </a:r>
          </a:p>
        </p:txBody>
      </p:sp>
      <p:sp>
        <p:nvSpPr>
          <p:cNvPr id="138" name="Flowchart: Terminator 137">
            <a:extLst>
              <a:ext uri="{FF2B5EF4-FFF2-40B4-BE49-F238E27FC236}">
                <a16:creationId xmlns="" xmlns:a16="http://schemas.microsoft.com/office/drawing/2014/main" id="{1207B8C3-2375-4AFB-A789-6C0B66190257}"/>
              </a:ext>
            </a:extLst>
          </p:cNvPr>
          <p:cNvSpPr/>
          <p:nvPr/>
        </p:nvSpPr>
        <p:spPr>
          <a:xfrm>
            <a:off x="208671" y="5913134"/>
            <a:ext cx="2438400" cy="533400"/>
          </a:xfrm>
          <a:prstGeom prst="flowChartTerminator">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Data Link Layer</a:t>
            </a:r>
          </a:p>
        </p:txBody>
      </p:sp>
      <p:cxnSp>
        <p:nvCxnSpPr>
          <p:cNvPr id="139" name="Straight Arrow Connector 138">
            <a:extLst>
              <a:ext uri="{FF2B5EF4-FFF2-40B4-BE49-F238E27FC236}">
                <a16:creationId xmlns="" xmlns:a16="http://schemas.microsoft.com/office/drawing/2014/main" id="{C2611D74-E65C-44C1-B222-859A36CB6F16}"/>
              </a:ext>
            </a:extLst>
          </p:cNvPr>
          <p:cNvCxnSpPr>
            <a:cxnSpLocks/>
          </p:cNvCxnSpPr>
          <p:nvPr/>
        </p:nvCxnSpPr>
        <p:spPr>
          <a:xfrm>
            <a:off x="1426215" y="5510977"/>
            <a:ext cx="0" cy="37785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 xmlns:a16="http://schemas.microsoft.com/office/drawing/2014/main" id="{CA2A9577-CB77-47AE-AA90-9B249202E2E4}"/>
              </a:ext>
            </a:extLst>
          </p:cNvPr>
          <p:cNvCxnSpPr>
            <a:cxnSpLocks/>
          </p:cNvCxnSpPr>
          <p:nvPr/>
        </p:nvCxnSpPr>
        <p:spPr>
          <a:xfrm>
            <a:off x="2628900" y="6172200"/>
            <a:ext cx="48292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1" name="TextBox 140">
            <a:extLst>
              <a:ext uri="{FF2B5EF4-FFF2-40B4-BE49-F238E27FC236}">
                <a16:creationId xmlns="" xmlns:a16="http://schemas.microsoft.com/office/drawing/2014/main" id="{ED0ACB5E-71F1-4FFD-B8C1-97FD6E3B1B11}"/>
              </a:ext>
            </a:extLst>
          </p:cNvPr>
          <p:cNvSpPr txBox="1"/>
          <p:nvPr/>
        </p:nvSpPr>
        <p:spPr>
          <a:xfrm>
            <a:off x="3108412" y="5419666"/>
            <a:ext cx="5789442" cy="1015663"/>
          </a:xfrm>
          <a:prstGeom prst="rect">
            <a:avLst/>
          </a:prstGeom>
          <a:solidFill>
            <a:schemeClr val="bg1">
              <a:lumMod val="95000"/>
            </a:schemeClr>
          </a:solidFill>
        </p:spPr>
        <p:txBody>
          <a:bodyPr wrap="square" rtlCol="0">
            <a:spAutoFit/>
          </a:bodyPr>
          <a:lstStyle/>
          <a:p>
            <a:pPr marL="457200" indent="-457200" algn="just">
              <a:buFont typeface="+mj-lt"/>
              <a:buAutoNum type="arabicPeriod"/>
            </a:pPr>
            <a:r>
              <a:rPr lang="en-IN" sz="2000" b="1" dirty="0">
                <a:solidFill>
                  <a:schemeClr val="tx2"/>
                </a:solidFill>
              </a:rPr>
              <a:t>Physical addressing</a:t>
            </a:r>
          </a:p>
          <a:p>
            <a:pPr marL="457200" indent="-457200" algn="just">
              <a:buFont typeface="+mj-lt"/>
              <a:buAutoNum type="arabicPeriod"/>
            </a:pPr>
            <a:r>
              <a:rPr lang="en-IN" sz="2000" b="1" dirty="0">
                <a:solidFill>
                  <a:schemeClr val="tx2"/>
                </a:solidFill>
              </a:rPr>
              <a:t>Media access control</a:t>
            </a:r>
          </a:p>
          <a:p>
            <a:pPr marL="457200" indent="-457200" algn="just">
              <a:buFont typeface="+mj-lt"/>
              <a:buAutoNum type="arabicPeriod"/>
            </a:pPr>
            <a:r>
              <a:rPr lang="en-IN" sz="2000" b="1" dirty="0">
                <a:solidFill>
                  <a:schemeClr val="tx2"/>
                </a:solidFill>
              </a:rPr>
              <a:t>Error correction</a:t>
            </a:r>
          </a:p>
        </p:txBody>
      </p:sp>
      <p:cxnSp>
        <p:nvCxnSpPr>
          <p:cNvPr id="142" name="Straight Arrow Connector 141">
            <a:extLst>
              <a:ext uri="{FF2B5EF4-FFF2-40B4-BE49-F238E27FC236}">
                <a16:creationId xmlns="" xmlns:a16="http://schemas.microsoft.com/office/drawing/2014/main" id="{841424B5-B8D6-4717-9C98-33122A4669AC}"/>
              </a:ext>
            </a:extLst>
          </p:cNvPr>
          <p:cNvCxnSpPr>
            <a:cxnSpLocks/>
          </p:cNvCxnSpPr>
          <p:nvPr/>
        </p:nvCxnSpPr>
        <p:spPr>
          <a:xfrm>
            <a:off x="2652868" y="6158947"/>
            <a:ext cx="48292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3" name="Flowchart: Terminator 142">
            <a:extLst>
              <a:ext uri="{FF2B5EF4-FFF2-40B4-BE49-F238E27FC236}">
                <a16:creationId xmlns="" xmlns:a16="http://schemas.microsoft.com/office/drawing/2014/main" id="{A73B5BB3-058F-4C20-9AB0-29DE6E77121E}"/>
              </a:ext>
            </a:extLst>
          </p:cNvPr>
          <p:cNvSpPr/>
          <p:nvPr/>
        </p:nvSpPr>
        <p:spPr>
          <a:xfrm>
            <a:off x="3135794" y="5875575"/>
            <a:ext cx="2438400" cy="533400"/>
          </a:xfrm>
          <a:prstGeom prst="flowChartTerminator">
            <a:avLst/>
          </a:prstGeom>
          <a:solidFill>
            <a:srgbClr val="1D30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Physical Layer</a:t>
            </a:r>
          </a:p>
        </p:txBody>
      </p:sp>
    </p:spTree>
    <p:extLst>
      <p:ext uri="{BB962C8B-B14F-4D97-AF65-F5344CB8AC3E}">
        <p14:creationId xmlns:p14="http://schemas.microsoft.com/office/powerpoint/2010/main" val="146556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09"/>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10">
                                            <p:txEl>
                                              <p:pRg st="0" end="0"/>
                                            </p:txEl>
                                          </p:spTgt>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10">
                                            <p:txEl>
                                              <p:pRg st="1" end="1"/>
                                            </p:txEl>
                                          </p:spTgt>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10">
                                            <p:bg/>
                                          </p:spTgt>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0"/>
                                          </p:stCondLst>
                                        </p:cTn>
                                        <p:tgtEl>
                                          <p:spTgt spid="1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1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2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2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117"/>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114"/>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121"/>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115"/>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118"/>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122"/>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116"/>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120"/>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123"/>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119"/>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124"/>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125"/>
                                        </p:tgtEl>
                                        <p:attrNameLst>
                                          <p:attrName>style.visibility</p:attrName>
                                        </p:attrNameLst>
                                      </p:cBhvr>
                                      <p:to>
                                        <p:strVal val="hidden"/>
                                      </p:to>
                                    </p:set>
                                  </p:childTnLst>
                                </p:cTn>
                              </p:par>
                              <p:par>
                                <p:cTn id="113" presetID="1" presetClass="entr" presetSubtype="0" fill="hold" nodeType="withEffect">
                                  <p:stCondLst>
                                    <p:cond delay="0"/>
                                  </p:stCondLst>
                                  <p:childTnLst>
                                    <p:set>
                                      <p:cBhvr>
                                        <p:cTn id="114" dur="1" fill="hold">
                                          <p:stCondLst>
                                            <p:cond delay="0"/>
                                          </p:stCondLst>
                                        </p:cTn>
                                        <p:tgtEl>
                                          <p:spTgt spid="129"/>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2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2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28"/>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28">
                                            <p:txEl>
                                              <p:pRg st="0" end="0"/>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28">
                                            <p:txEl>
                                              <p:pRg st="1" end="1"/>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28">
                                            <p:txEl>
                                              <p:pRg st="2" end="2"/>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nodeType="clickEffect">
                                  <p:stCondLst>
                                    <p:cond delay="0"/>
                                  </p:stCondLst>
                                  <p:childTnLst>
                                    <p:set>
                                      <p:cBhvr>
                                        <p:cTn id="142" dur="1" fill="hold">
                                          <p:stCondLst>
                                            <p:cond delay="0"/>
                                          </p:stCondLst>
                                        </p:cTn>
                                        <p:tgtEl>
                                          <p:spTgt spid="127"/>
                                        </p:tgtEl>
                                        <p:attrNameLst>
                                          <p:attrName>style.visibility</p:attrName>
                                        </p:attrNameLst>
                                      </p:cBhvr>
                                      <p:to>
                                        <p:strVal val="hidden"/>
                                      </p:to>
                                    </p:set>
                                  </p:childTnLst>
                                </p:cTn>
                              </p:par>
                              <p:par>
                                <p:cTn id="143" presetID="1" presetClass="exit" presetSubtype="0" fill="hold" grpId="1" nodeType="withEffect">
                                  <p:stCondLst>
                                    <p:cond delay="0"/>
                                  </p:stCondLst>
                                  <p:childTnLst>
                                    <p:set>
                                      <p:cBhvr>
                                        <p:cTn id="144" dur="1" fill="hold">
                                          <p:stCondLst>
                                            <p:cond delay="0"/>
                                          </p:stCondLst>
                                        </p:cTn>
                                        <p:tgtEl>
                                          <p:spTgt spid="128">
                                            <p:txEl>
                                              <p:pRg st="0" end="0"/>
                                            </p:txEl>
                                          </p:spTgt>
                                        </p:tgtEl>
                                        <p:attrNameLst>
                                          <p:attrName>style.visibility</p:attrName>
                                        </p:attrNameLst>
                                      </p:cBhvr>
                                      <p:to>
                                        <p:strVal val="hidden"/>
                                      </p:to>
                                    </p:set>
                                  </p:childTnLst>
                                </p:cTn>
                              </p:par>
                              <p:par>
                                <p:cTn id="145" presetID="1" presetClass="exit" presetSubtype="0" fill="hold" grpId="1" nodeType="withEffect">
                                  <p:stCondLst>
                                    <p:cond delay="0"/>
                                  </p:stCondLst>
                                  <p:childTnLst>
                                    <p:set>
                                      <p:cBhvr>
                                        <p:cTn id="146" dur="1" fill="hold">
                                          <p:stCondLst>
                                            <p:cond delay="0"/>
                                          </p:stCondLst>
                                        </p:cTn>
                                        <p:tgtEl>
                                          <p:spTgt spid="128">
                                            <p:txEl>
                                              <p:pRg st="1" end="1"/>
                                            </p:txEl>
                                          </p:spTgt>
                                        </p:tgtEl>
                                        <p:attrNameLst>
                                          <p:attrName>style.visibility</p:attrName>
                                        </p:attrNameLst>
                                      </p:cBhvr>
                                      <p:to>
                                        <p:strVal val="hidden"/>
                                      </p:to>
                                    </p:set>
                                  </p:childTnLst>
                                </p:cTn>
                              </p:par>
                              <p:par>
                                <p:cTn id="147" presetID="1" presetClass="exit" presetSubtype="0" fill="hold" grpId="1" nodeType="withEffect">
                                  <p:stCondLst>
                                    <p:cond delay="0"/>
                                  </p:stCondLst>
                                  <p:childTnLst>
                                    <p:set>
                                      <p:cBhvr>
                                        <p:cTn id="148" dur="1" fill="hold">
                                          <p:stCondLst>
                                            <p:cond delay="0"/>
                                          </p:stCondLst>
                                        </p:cTn>
                                        <p:tgtEl>
                                          <p:spTgt spid="128">
                                            <p:txEl>
                                              <p:pRg st="2" end="2"/>
                                            </p:txEl>
                                          </p:spTgt>
                                        </p:tgtEl>
                                        <p:attrNameLst>
                                          <p:attrName>style.visibility</p:attrName>
                                        </p:attrNameLst>
                                      </p:cBhvr>
                                      <p:to>
                                        <p:strVal val="hidden"/>
                                      </p:to>
                                    </p:set>
                                  </p:childTnLst>
                                </p:cTn>
                              </p:par>
                              <p:par>
                                <p:cTn id="149" presetID="1" presetClass="exit" presetSubtype="0" fill="hold" grpId="1" nodeType="withEffect">
                                  <p:stCondLst>
                                    <p:cond delay="0"/>
                                  </p:stCondLst>
                                  <p:childTnLst>
                                    <p:set>
                                      <p:cBhvr>
                                        <p:cTn id="150" dur="1" fill="hold">
                                          <p:stCondLst>
                                            <p:cond delay="0"/>
                                          </p:stCondLst>
                                        </p:cTn>
                                        <p:tgtEl>
                                          <p:spTgt spid="128">
                                            <p:bg/>
                                          </p:spTgt>
                                        </p:tgtEl>
                                        <p:attrNameLst>
                                          <p:attrName>style.visibility</p:attrName>
                                        </p:attrNameLst>
                                      </p:cBhvr>
                                      <p:to>
                                        <p:strVal val="hidden"/>
                                      </p:to>
                                    </p:set>
                                  </p:childTnLst>
                                </p:cTn>
                              </p:par>
                              <p:par>
                                <p:cTn id="151" presetID="1" presetClass="entr" presetSubtype="0" fill="hold" nodeType="withEffect">
                                  <p:stCondLst>
                                    <p:cond delay="0"/>
                                  </p:stCondLst>
                                  <p:childTnLst>
                                    <p:set>
                                      <p:cBhvr>
                                        <p:cTn id="152" dur="1" fill="hold">
                                          <p:stCondLst>
                                            <p:cond delay="0"/>
                                          </p:stCondLst>
                                        </p:cTn>
                                        <p:tgtEl>
                                          <p:spTgt spid="131"/>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130"/>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132"/>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133"/>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nodeType="clickEffect">
                                  <p:stCondLst>
                                    <p:cond delay="0"/>
                                  </p:stCondLst>
                                  <p:childTnLst>
                                    <p:set>
                                      <p:cBhvr>
                                        <p:cTn id="176" dur="1" fill="hold">
                                          <p:stCondLst>
                                            <p:cond delay="0"/>
                                          </p:stCondLst>
                                        </p:cTn>
                                        <p:tgtEl>
                                          <p:spTgt spid="133">
                                            <p:txEl>
                                              <p:pRg st="2" end="2"/>
                                            </p:txEl>
                                          </p:spTgt>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xit" presetSubtype="0" fill="hold" nodeType="clickEffect">
                                  <p:stCondLst>
                                    <p:cond delay="0"/>
                                  </p:stCondLst>
                                  <p:childTnLst>
                                    <p:set>
                                      <p:cBhvr>
                                        <p:cTn id="180" dur="1" fill="hold">
                                          <p:stCondLst>
                                            <p:cond delay="0"/>
                                          </p:stCondLst>
                                        </p:cTn>
                                        <p:tgtEl>
                                          <p:spTgt spid="132"/>
                                        </p:tgtEl>
                                        <p:attrNameLst>
                                          <p:attrName>style.visibility</p:attrName>
                                        </p:attrNameLst>
                                      </p:cBhvr>
                                      <p:to>
                                        <p:strVal val="hidden"/>
                                      </p:to>
                                    </p:set>
                                  </p:childTnLst>
                                </p:cTn>
                              </p:par>
                              <p:par>
                                <p:cTn id="181" presetID="1" presetClass="exit" presetSubtype="0" fill="hold" grpId="1" nodeType="withEffect">
                                  <p:stCondLst>
                                    <p:cond delay="0"/>
                                  </p:stCondLst>
                                  <p:childTnLst>
                                    <p:set>
                                      <p:cBhvr>
                                        <p:cTn id="182" dur="1" fill="hold">
                                          <p:stCondLst>
                                            <p:cond delay="0"/>
                                          </p:stCondLst>
                                        </p:cTn>
                                        <p:tgtEl>
                                          <p:spTgt spid="133">
                                            <p:txEl>
                                              <p:pRg st="0" end="0"/>
                                            </p:txEl>
                                          </p:spTgt>
                                        </p:tgtEl>
                                        <p:attrNameLst>
                                          <p:attrName>style.visibility</p:attrName>
                                        </p:attrNameLst>
                                      </p:cBhvr>
                                      <p:to>
                                        <p:strVal val="hidden"/>
                                      </p:to>
                                    </p:set>
                                  </p:childTnLst>
                                </p:cTn>
                              </p:par>
                              <p:par>
                                <p:cTn id="183" presetID="1" presetClass="exit" presetSubtype="0" fill="hold" grpId="1" nodeType="withEffect">
                                  <p:stCondLst>
                                    <p:cond delay="0"/>
                                  </p:stCondLst>
                                  <p:childTnLst>
                                    <p:set>
                                      <p:cBhvr>
                                        <p:cTn id="184" dur="1" fill="hold">
                                          <p:stCondLst>
                                            <p:cond delay="0"/>
                                          </p:stCondLst>
                                        </p:cTn>
                                        <p:tgtEl>
                                          <p:spTgt spid="133">
                                            <p:txEl>
                                              <p:pRg st="1" end="1"/>
                                            </p:txEl>
                                          </p:spTgt>
                                        </p:tgtEl>
                                        <p:attrNameLst>
                                          <p:attrName>style.visibility</p:attrName>
                                        </p:attrNameLst>
                                      </p:cBhvr>
                                      <p:to>
                                        <p:strVal val="hidden"/>
                                      </p:to>
                                    </p:set>
                                  </p:childTnLst>
                                </p:cTn>
                              </p:par>
                              <p:par>
                                <p:cTn id="185" presetID="1" presetClass="exit" presetSubtype="0" fill="hold" grpId="1" nodeType="withEffect">
                                  <p:stCondLst>
                                    <p:cond delay="0"/>
                                  </p:stCondLst>
                                  <p:childTnLst>
                                    <p:set>
                                      <p:cBhvr>
                                        <p:cTn id="186" dur="1" fill="hold">
                                          <p:stCondLst>
                                            <p:cond delay="0"/>
                                          </p:stCondLst>
                                        </p:cTn>
                                        <p:tgtEl>
                                          <p:spTgt spid="133">
                                            <p:txEl>
                                              <p:pRg st="2" end="2"/>
                                            </p:txEl>
                                          </p:spTgt>
                                        </p:tgtEl>
                                        <p:attrNameLst>
                                          <p:attrName>style.visibility</p:attrName>
                                        </p:attrNameLst>
                                      </p:cBhvr>
                                      <p:to>
                                        <p:strVal val="hidden"/>
                                      </p:to>
                                    </p:set>
                                  </p:childTnLst>
                                </p:cTn>
                              </p:par>
                              <p:par>
                                <p:cTn id="187" presetID="1" presetClass="exit" presetSubtype="0" fill="hold" grpId="1" nodeType="withEffect">
                                  <p:stCondLst>
                                    <p:cond delay="0"/>
                                  </p:stCondLst>
                                  <p:childTnLst>
                                    <p:set>
                                      <p:cBhvr>
                                        <p:cTn id="188" dur="1" fill="hold">
                                          <p:stCondLst>
                                            <p:cond delay="0"/>
                                          </p:stCondLst>
                                        </p:cTn>
                                        <p:tgtEl>
                                          <p:spTgt spid="133">
                                            <p:bg/>
                                          </p:spTgt>
                                        </p:tgtEl>
                                        <p:attrNameLst>
                                          <p:attrName>style.visibility</p:attrName>
                                        </p:attrNameLst>
                                      </p:cBhvr>
                                      <p:to>
                                        <p:strVal val="hidden"/>
                                      </p:to>
                                    </p:set>
                                  </p:childTnLst>
                                </p:cTn>
                              </p:par>
                              <p:par>
                                <p:cTn id="189" presetID="1" presetClass="entr" presetSubtype="0" fill="hold" nodeType="withEffect">
                                  <p:stCondLst>
                                    <p:cond delay="0"/>
                                  </p:stCondLst>
                                  <p:childTnLst>
                                    <p:set>
                                      <p:cBhvr>
                                        <p:cTn id="190" dur="1" fill="hold">
                                          <p:stCondLst>
                                            <p:cond delay="0"/>
                                          </p:stCondLst>
                                        </p:cTn>
                                        <p:tgtEl>
                                          <p:spTgt spid="135"/>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134"/>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36"/>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137"/>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137">
                                            <p:txEl>
                                              <p:pRg st="1" end="1"/>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xit" presetSubtype="0" fill="hold" nodeType="clickEffect">
                                  <p:stCondLst>
                                    <p:cond delay="0"/>
                                  </p:stCondLst>
                                  <p:childTnLst>
                                    <p:set>
                                      <p:cBhvr>
                                        <p:cTn id="218" dur="1" fill="hold">
                                          <p:stCondLst>
                                            <p:cond delay="0"/>
                                          </p:stCondLst>
                                        </p:cTn>
                                        <p:tgtEl>
                                          <p:spTgt spid="136"/>
                                        </p:tgtEl>
                                        <p:attrNameLst>
                                          <p:attrName>style.visibility</p:attrName>
                                        </p:attrNameLst>
                                      </p:cBhvr>
                                      <p:to>
                                        <p:strVal val="hidden"/>
                                      </p:to>
                                    </p:set>
                                  </p:childTnLst>
                                </p:cTn>
                              </p:par>
                              <p:par>
                                <p:cTn id="219" presetID="1" presetClass="exit" presetSubtype="0" fill="hold" grpId="1" nodeType="withEffect">
                                  <p:stCondLst>
                                    <p:cond delay="0"/>
                                  </p:stCondLst>
                                  <p:childTnLst>
                                    <p:set>
                                      <p:cBhvr>
                                        <p:cTn id="220" dur="1" fill="hold">
                                          <p:stCondLst>
                                            <p:cond delay="0"/>
                                          </p:stCondLst>
                                        </p:cTn>
                                        <p:tgtEl>
                                          <p:spTgt spid="137">
                                            <p:txEl>
                                              <p:pRg st="0" end="0"/>
                                            </p:txEl>
                                          </p:spTgt>
                                        </p:tgtEl>
                                        <p:attrNameLst>
                                          <p:attrName>style.visibility</p:attrName>
                                        </p:attrNameLst>
                                      </p:cBhvr>
                                      <p:to>
                                        <p:strVal val="hidden"/>
                                      </p:to>
                                    </p:set>
                                  </p:childTnLst>
                                </p:cTn>
                              </p:par>
                              <p:par>
                                <p:cTn id="221" presetID="1" presetClass="exit" presetSubtype="0" fill="hold" grpId="1" nodeType="withEffect">
                                  <p:stCondLst>
                                    <p:cond delay="0"/>
                                  </p:stCondLst>
                                  <p:childTnLst>
                                    <p:set>
                                      <p:cBhvr>
                                        <p:cTn id="222" dur="1" fill="hold">
                                          <p:stCondLst>
                                            <p:cond delay="0"/>
                                          </p:stCondLst>
                                        </p:cTn>
                                        <p:tgtEl>
                                          <p:spTgt spid="137">
                                            <p:txEl>
                                              <p:pRg st="1" end="1"/>
                                            </p:txEl>
                                          </p:spTgt>
                                        </p:tgtEl>
                                        <p:attrNameLst>
                                          <p:attrName>style.visibility</p:attrName>
                                        </p:attrNameLst>
                                      </p:cBhvr>
                                      <p:to>
                                        <p:strVal val="hidden"/>
                                      </p:to>
                                    </p:set>
                                  </p:childTnLst>
                                </p:cTn>
                              </p:par>
                              <p:par>
                                <p:cTn id="223" presetID="1" presetClass="exit" presetSubtype="0" fill="hold" grpId="1" nodeType="withEffect">
                                  <p:stCondLst>
                                    <p:cond delay="0"/>
                                  </p:stCondLst>
                                  <p:childTnLst>
                                    <p:set>
                                      <p:cBhvr>
                                        <p:cTn id="224" dur="1" fill="hold">
                                          <p:stCondLst>
                                            <p:cond delay="0"/>
                                          </p:stCondLst>
                                        </p:cTn>
                                        <p:tgtEl>
                                          <p:spTgt spid="137">
                                            <p:txEl>
                                              <p:pRg st="2" end="2"/>
                                            </p:txEl>
                                          </p:spTgt>
                                        </p:tgtEl>
                                        <p:attrNameLst>
                                          <p:attrName>style.visibility</p:attrName>
                                        </p:attrNameLst>
                                      </p:cBhvr>
                                      <p:to>
                                        <p:strVal val="hidden"/>
                                      </p:to>
                                    </p:set>
                                  </p:childTnLst>
                                </p:cTn>
                              </p:par>
                              <p:par>
                                <p:cTn id="225" presetID="1" presetClass="exit" presetSubtype="0" fill="hold" grpId="1" nodeType="withEffect">
                                  <p:stCondLst>
                                    <p:cond delay="0"/>
                                  </p:stCondLst>
                                  <p:childTnLst>
                                    <p:set>
                                      <p:cBhvr>
                                        <p:cTn id="226" dur="1" fill="hold">
                                          <p:stCondLst>
                                            <p:cond delay="0"/>
                                          </p:stCondLst>
                                        </p:cTn>
                                        <p:tgtEl>
                                          <p:spTgt spid="137">
                                            <p:bg/>
                                          </p:spTgt>
                                        </p:tgtEl>
                                        <p:attrNameLst>
                                          <p:attrName>style.visibility</p:attrName>
                                        </p:attrNameLst>
                                      </p:cBhvr>
                                      <p:to>
                                        <p:strVal val="hidden"/>
                                      </p:to>
                                    </p:set>
                                  </p:childTnLst>
                                </p:cTn>
                              </p:par>
                              <p:par>
                                <p:cTn id="227" presetID="1" presetClass="entr" presetSubtype="0" fill="hold" nodeType="withEffect">
                                  <p:stCondLst>
                                    <p:cond delay="0"/>
                                  </p:stCondLst>
                                  <p:childTnLst>
                                    <p:set>
                                      <p:cBhvr>
                                        <p:cTn id="228" dur="1" fill="hold">
                                          <p:stCondLst>
                                            <p:cond delay="0"/>
                                          </p:stCondLst>
                                        </p:cTn>
                                        <p:tgtEl>
                                          <p:spTgt spid="139"/>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presetID="1" presetClass="entr" presetSubtype="0" fill="hold" grpId="0" nodeType="clickEffect">
                                  <p:stCondLst>
                                    <p:cond delay="0"/>
                                  </p:stCondLst>
                                  <p:childTnLst>
                                    <p:set>
                                      <p:cBhvr>
                                        <p:cTn id="232" dur="1" fill="hold">
                                          <p:stCondLst>
                                            <p:cond delay="0"/>
                                          </p:stCondLst>
                                        </p:cTn>
                                        <p:tgtEl>
                                          <p:spTgt spid="138"/>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0"/>
                                          </p:stCondLst>
                                        </p:cTn>
                                        <p:tgtEl>
                                          <p:spTgt spid="140"/>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grpId="0" nodeType="clickEffect">
                                  <p:stCondLst>
                                    <p:cond delay="0"/>
                                  </p:stCondLst>
                                  <p:childTnLst>
                                    <p:set>
                                      <p:cBhvr>
                                        <p:cTn id="240" dur="1" fill="hold">
                                          <p:stCondLst>
                                            <p:cond delay="0"/>
                                          </p:stCondLst>
                                        </p:cTn>
                                        <p:tgtEl>
                                          <p:spTgt spid="141"/>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presetID="1" presetClass="entr" presetSubtype="0" fill="hold" nodeType="clickEffect">
                                  <p:stCondLst>
                                    <p:cond delay="0"/>
                                  </p:stCondLst>
                                  <p:childTnLst>
                                    <p:set>
                                      <p:cBhvr>
                                        <p:cTn id="244"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presetID="1" presetClass="entr" presetSubtype="0" fill="hold" nodeType="clickEffect">
                                  <p:stCondLst>
                                    <p:cond delay="0"/>
                                  </p:stCondLst>
                                  <p:childTnLst>
                                    <p:set>
                                      <p:cBhvr>
                                        <p:cTn id="248" dur="1" fill="hold">
                                          <p:stCondLst>
                                            <p:cond delay="0"/>
                                          </p:stCondLst>
                                        </p:cTn>
                                        <p:tgtEl>
                                          <p:spTgt spid="141">
                                            <p:txEl>
                                              <p:pRg st="1" end="1"/>
                                            </p:txEl>
                                          </p:spTgt>
                                        </p:tgtEl>
                                        <p:attrNameLst>
                                          <p:attrName>style.visibility</p:attrName>
                                        </p:attrNameLst>
                                      </p:cBhvr>
                                      <p:to>
                                        <p:strVal val="visible"/>
                                      </p:to>
                                    </p:set>
                                  </p:childTnLst>
                                </p:cTn>
                              </p:par>
                            </p:childTnLst>
                          </p:cTn>
                        </p:par>
                      </p:childTnLst>
                    </p:cTn>
                  </p:par>
                  <p:par>
                    <p:cTn id="249" fill="hold">
                      <p:stCondLst>
                        <p:cond delay="indefinite"/>
                      </p:stCondLst>
                      <p:childTnLst>
                        <p:par>
                          <p:cTn id="250" fill="hold">
                            <p:stCondLst>
                              <p:cond delay="0"/>
                            </p:stCondLst>
                            <p:childTnLst>
                              <p:par>
                                <p:cTn id="251" presetID="1" presetClass="entr" presetSubtype="0" fill="hold" nodeType="clickEffect">
                                  <p:stCondLst>
                                    <p:cond delay="0"/>
                                  </p:stCondLst>
                                  <p:childTnLst>
                                    <p:set>
                                      <p:cBhvr>
                                        <p:cTn id="252" dur="1" fill="hold">
                                          <p:stCondLst>
                                            <p:cond delay="0"/>
                                          </p:stCondLst>
                                        </p:cTn>
                                        <p:tgtEl>
                                          <p:spTgt spid="141">
                                            <p:txEl>
                                              <p:pRg st="2" end="2"/>
                                            </p:txEl>
                                          </p:spTgt>
                                        </p:tgtEl>
                                        <p:attrNameLst>
                                          <p:attrName>style.visibility</p:attrName>
                                        </p:attrNameLst>
                                      </p:cBhvr>
                                      <p:to>
                                        <p:strVal val="visible"/>
                                      </p:to>
                                    </p:set>
                                  </p:childTnLst>
                                </p:cTn>
                              </p:par>
                            </p:childTnLst>
                          </p:cTn>
                        </p:par>
                      </p:childTnLst>
                    </p:cTn>
                  </p:par>
                  <p:par>
                    <p:cTn id="253" fill="hold">
                      <p:stCondLst>
                        <p:cond delay="indefinite"/>
                      </p:stCondLst>
                      <p:childTnLst>
                        <p:par>
                          <p:cTn id="254" fill="hold">
                            <p:stCondLst>
                              <p:cond delay="0"/>
                            </p:stCondLst>
                            <p:childTnLst>
                              <p:par>
                                <p:cTn id="255" presetID="1" presetClass="exit" presetSubtype="0" fill="hold" nodeType="clickEffect">
                                  <p:stCondLst>
                                    <p:cond delay="0"/>
                                  </p:stCondLst>
                                  <p:childTnLst>
                                    <p:set>
                                      <p:cBhvr>
                                        <p:cTn id="256" dur="1" fill="hold">
                                          <p:stCondLst>
                                            <p:cond delay="0"/>
                                          </p:stCondLst>
                                        </p:cTn>
                                        <p:tgtEl>
                                          <p:spTgt spid="140"/>
                                        </p:tgtEl>
                                        <p:attrNameLst>
                                          <p:attrName>style.visibility</p:attrName>
                                        </p:attrNameLst>
                                      </p:cBhvr>
                                      <p:to>
                                        <p:strVal val="hidden"/>
                                      </p:to>
                                    </p:set>
                                  </p:childTnLst>
                                </p:cTn>
                              </p:par>
                              <p:par>
                                <p:cTn id="257" presetID="1" presetClass="exit" presetSubtype="0" fill="hold" grpId="1" nodeType="withEffect">
                                  <p:stCondLst>
                                    <p:cond delay="0"/>
                                  </p:stCondLst>
                                  <p:childTnLst>
                                    <p:set>
                                      <p:cBhvr>
                                        <p:cTn id="258" dur="1" fill="hold">
                                          <p:stCondLst>
                                            <p:cond delay="0"/>
                                          </p:stCondLst>
                                        </p:cTn>
                                        <p:tgtEl>
                                          <p:spTgt spid="141">
                                            <p:txEl>
                                              <p:pRg st="0" end="0"/>
                                            </p:txEl>
                                          </p:spTgt>
                                        </p:tgtEl>
                                        <p:attrNameLst>
                                          <p:attrName>style.visibility</p:attrName>
                                        </p:attrNameLst>
                                      </p:cBhvr>
                                      <p:to>
                                        <p:strVal val="hidden"/>
                                      </p:to>
                                    </p:set>
                                  </p:childTnLst>
                                </p:cTn>
                              </p:par>
                              <p:par>
                                <p:cTn id="259" presetID="1" presetClass="exit" presetSubtype="0" fill="hold" grpId="1" nodeType="withEffect">
                                  <p:stCondLst>
                                    <p:cond delay="0"/>
                                  </p:stCondLst>
                                  <p:childTnLst>
                                    <p:set>
                                      <p:cBhvr>
                                        <p:cTn id="260" dur="1" fill="hold">
                                          <p:stCondLst>
                                            <p:cond delay="0"/>
                                          </p:stCondLst>
                                        </p:cTn>
                                        <p:tgtEl>
                                          <p:spTgt spid="141">
                                            <p:txEl>
                                              <p:pRg st="1" end="1"/>
                                            </p:txEl>
                                          </p:spTgt>
                                        </p:tgtEl>
                                        <p:attrNameLst>
                                          <p:attrName>style.visibility</p:attrName>
                                        </p:attrNameLst>
                                      </p:cBhvr>
                                      <p:to>
                                        <p:strVal val="hidden"/>
                                      </p:to>
                                    </p:set>
                                  </p:childTnLst>
                                </p:cTn>
                              </p:par>
                              <p:par>
                                <p:cTn id="261" presetID="1" presetClass="exit" presetSubtype="0" fill="hold" grpId="1" nodeType="withEffect">
                                  <p:stCondLst>
                                    <p:cond delay="0"/>
                                  </p:stCondLst>
                                  <p:childTnLst>
                                    <p:set>
                                      <p:cBhvr>
                                        <p:cTn id="262" dur="1" fill="hold">
                                          <p:stCondLst>
                                            <p:cond delay="0"/>
                                          </p:stCondLst>
                                        </p:cTn>
                                        <p:tgtEl>
                                          <p:spTgt spid="141">
                                            <p:txEl>
                                              <p:pRg st="2" end="2"/>
                                            </p:txEl>
                                          </p:spTgt>
                                        </p:tgtEl>
                                        <p:attrNameLst>
                                          <p:attrName>style.visibility</p:attrName>
                                        </p:attrNameLst>
                                      </p:cBhvr>
                                      <p:to>
                                        <p:strVal val="hidden"/>
                                      </p:to>
                                    </p:set>
                                  </p:childTnLst>
                                </p:cTn>
                              </p:par>
                              <p:par>
                                <p:cTn id="263" presetID="1" presetClass="exit" presetSubtype="0" fill="hold" grpId="1" nodeType="withEffect">
                                  <p:stCondLst>
                                    <p:cond delay="0"/>
                                  </p:stCondLst>
                                  <p:childTnLst>
                                    <p:set>
                                      <p:cBhvr>
                                        <p:cTn id="264" dur="1" fill="hold">
                                          <p:stCondLst>
                                            <p:cond delay="0"/>
                                          </p:stCondLst>
                                        </p:cTn>
                                        <p:tgtEl>
                                          <p:spTgt spid="141">
                                            <p:bg/>
                                          </p:spTgt>
                                        </p:tgtEl>
                                        <p:attrNameLst>
                                          <p:attrName>style.visibility</p:attrName>
                                        </p:attrNameLst>
                                      </p:cBhvr>
                                      <p:to>
                                        <p:strVal val="hidden"/>
                                      </p:to>
                                    </p:set>
                                  </p:childTnLst>
                                </p:cTn>
                              </p:par>
                            </p:childTnLst>
                          </p:cTn>
                        </p:par>
                      </p:childTnLst>
                    </p:cTn>
                  </p:par>
                  <p:par>
                    <p:cTn id="265" fill="hold">
                      <p:stCondLst>
                        <p:cond delay="indefinite"/>
                      </p:stCondLst>
                      <p:childTnLst>
                        <p:par>
                          <p:cTn id="266" fill="hold">
                            <p:stCondLst>
                              <p:cond delay="0"/>
                            </p:stCondLst>
                            <p:childTnLst>
                              <p:par>
                                <p:cTn id="267" presetID="1" presetClass="entr" presetSubtype="0" fill="hold" nodeType="clickEffect">
                                  <p:stCondLst>
                                    <p:cond delay="0"/>
                                  </p:stCondLst>
                                  <p:childTnLst>
                                    <p:set>
                                      <p:cBhvr>
                                        <p:cTn id="268" dur="1" fill="hold">
                                          <p:stCondLst>
                                            <p:cond delay="0"/>
                                          </p:stCondLst>
                                        </p:cTn>
                                        <p:tgtEl>
                                          <p:spTgt spid="142"/>
                                        </p:tgtEl>
                                        <p:attrNameLst>
                                          <p:attrName>style.visibility</p:attrName>
                                        </p:attrNameLst>
                                      </p:cBhvr>
                                      <p:to>
                                        <p:strVal val="visible"/>
                                      </p:to>
                                    </p:set>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grpId="0" nodeType="clickEffect">
                                  <p:stCondLst>
                                    <p:cond delay="0"/>
                                  </p:stCondLst>
                                  <p:childTnLst>
                                    <p:set>
                                      <p:cBhvr>
                                        <p:cTn id="272"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10" grpId="0" animBg="1"/>
      <p:bldP spid="110" grpId="1" build="allAtOnce" animBg="1"/>
      <p:bldP spid="111" grpId="0" animBg="1"/>
      <p:bldP spid="114" grpId="0"/>
      <p:bldP spid="114" grpId="1"/>
      <p:bldP spid="115" grpId="0"/>
      <p:bldP spid="115" grpId="1"/>
      <p:bldP spid="116" grpId="0"/>
      <p:bldP spid="116" grpId="1"/>
      <p:bldP spid="117" grpId="0"/>
      <p:bldP spid="117" grpId="1"/>
      <p:bldP spid="118" grpId="0"/>
      <p:bldP spid="118" grpId="1"/>
      <p:bldP spid="119" grpId="0"/>
      <p:bldP spid="119" grpId="1"/>
      <p:bldP spid="120" grpId="0"/>
      <p:bldP spid="120" grpId="1"/>
      <p:bldP spid="124" grpId="0"/>
      <p:bldP spid="124" grpId="1"/>
      <p:bldP spid="126" grpId="0" animBg="1"/>
      <p:bldP spid="128" grpId="0" animBg="1"/>
      <p:bldP spid="128" grpId="1" build="allAtOnce" animBg="1"/>
      <p:bldP spid="130" grpId="0" animBg="1"/>
      <p:bldP spid="133" grpId="0" animBg="1"/>
      <p:bldP spid="133" grpId="1" build="allAtOnce" animBg="1"/>
      <p:bldP spid="134" grpId="0" animBg="1"/>
      <p:bldP spid="137" grpId="0" animBg="1"/>
      <p:bldP spid="137" grpId="1" build="allAtOnce" animBg="1"/>
      <p:bldP spid="138" grpId="0" animBg="1"/>
      <p:bldP spid="141" grpId="0" animBg="1"/>
      <p:bldP spid="141" grpId="1" build="allAtOnce" animBg="1"/>
      <p:bldP spid="143"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OSI Model (Layers &amp; Activities)</a:t>
            </a:r>
          </a:p>
        </p:txBody>
      </p:sp>
      <p:sp>
        <p:nvSpPr>
          <p:cNvPr id="64" name="Rectangle 3"/>
          <p:cNvSpPr>
            <a:spLocks noChangeArrowheads="1"/>
          </p:cNvSpPr>
          <p:nvPr/>
        </p:nvSpPr>
        <p:spPr bwMode="auto">
          <a:xfrm>
            <a:off x="285750" y="952500"/>
            <a:ext cx="2286000" cy="457200"/>
          </a:xfrm>
          <a:prstGeom prst="rect">
            <a:avLst/>
          </a:prstGeom>
          <a:solidFill>
            <a:srgbClr val="1D3064"/>
          </a:solidFill>
          <a:ln>
            <a:noFill/>
          </a:ln>
          <a:effectLst/>
          <a:extLst/>
        </p:spPr>
        <p:txBody>
          <a:bodyPr wrap="none" lIns="0" tIns="0" rIns="0" bIns="0" anchor="ctr"/>
          <a:lstStyle/>
          <a:p>
            <a:pPr algn="ctr"/>
            <a:r>
              <a:rPr lang="en-US" altLang="en-US" sz="2000" b="1" dirty="0">
                <a:solidFill>
                  <a:schemeClr val="bg1"/>
                </a:solidFill>
              </a:rPr>
              <a:t>OSI Layers</a:t>
            </a:r>
          </a:p>
        </p:txBody>
      </p:sp>
      <p:sp>
        <p:nvSpPr>
          <p:cNvPr id="68" name="Rectangle 11"/>
          <p:cNvSpPr>
            <a:spLocks noChangeArrowheads="1"/>
          </p:cNvSpPr>
          <p:nvPr/>
        </p:nvSpPr>
        <p:spPr bwMode="auto">
          <a:xfrm>
            <a:off x="285750" y="1562100"/>
            <a:ext cx="2286000" cy="533400"/>
          </a:xfrm>
          <a:prstGeom prst="rect">
            <a:avLst/>
          </a:prstGeom>
          <a:solidFill>
            <a:srgbClr val="1D3064"/>
          </a:solidFill>
          <a:ln>
            <a:solidFill>
              <a:schemeClr val="tx2"/>
            </a:solidFill>
          </a:ln>
          <a:effectLst/>
          <a:extLst/>
        </p:spPr>
        <p:txBody>
          <a:bodyPr wrap="none" lIns="0" tIns="0" rIns="0" bIns="0" anchor="ctr"/>
          <a:lstStyle/>
          <a:p>
            <a:pPr algn="ctr"/>
            <a:r>
              <a:rPr lang="en-US" altLang="en-US" sz="2000" b="1" dirty="0">
                <a:solidFill>
                  <a:schemeClr val="bg1"/>
                </a:solidFill>
              </a:rPr>
              <a:t>Application</a:t>
            </a:r>
          </a:p>
        </p:txBody>
      </p:sp>
      <p:sp>
        <p:nvSpPr>
          <p:cNvPr id="69" name="Rectangle 12"/>
          <p:cNvSpPr>
            <a:spLocks noChangeArrowheads="1"/>
          </p:cNvSpPr>
          <p:nvPr/>
        </p:nvSpPr>
        <p:spPr bwMode="auto">
          <a:xfrm>
            <a:off x="285750" y="2781300"/>
            <a:ext cx="2286000" cy="533400"/>
          </a:xfrm>
          <a:prstGeom prst="rect">
            <a:avLst/>
          </a:prstGeom>
          <a:solidFill>
            <a:srgbClr val="1D3064"/>
          </a:solidFill>
          <a:ln>
            <a:noFill/>
          </a:ln>
          <a:effectLst/>
          <a:extLst/>
        </p:spPr>
        <p:txBody>
          <a:bodyPr wrap="none" lIns="0" tIns="0" rIns="0" bIns="0" anchor="ctr"/>
          <a:lstStyle/>
          <a:p>
            <a:pPr algn="ctr"/>
            <a:r>
              <a:rPr lang="en-US" altLang="en-US" sz="2000" b="1" dirty="0">
                <a:solidFill>
                  <a:schemeClr val="bg1"/>
                </a:solidFill>
              </a:rPr>
              <a:t>Session</a:t>
            </a:r>
          </a:p>
        </p:txBody>
      </p:sp>
      <p:sp>
        <p:nvSpPr>
          <p:cNvPr id="70" name="Rectangle 13"/>
          <p:cNvSpPr>
            <a:spLocks noChangeArrowheads="1"/>
          </p:cNvSpPr>
          <p:nvPr/>
        </p:nvSpPr>
        <p:spPr bwMode="auto">
          <a:xfrm>
            <a:off x="285750" y="2171700"/>
            <a:ext cx="2286000" cy="533400"/>
          </a:xfrm>
          <a:prstGeom prst="rect">
            <a:avLst/>
          </a:prstGeom>
          <a:solidFill>
            <a:srgbClr val="1D3064"/>
          </a:solidFill>
          <a:ln>
            <a:noFill/>
          </a:ln>
          <a:effectLst/>
          <a:extLst/>
        </p:spPr>
        <p:txBody>
          <a:bodyPr wrap="none" lIns="0" tIns="0" rIns="0" bIns="0" anchor="ctr"/>
          <a:lstStyle/>
          <a:p>
            <a:pPr algn="ctr"/>
            <a:r>
              <a:rPr lang="en-US" altLang="en-US" sz="2000" b="1" dirty="0">
                <a:solidFill>
                  <a:schemeClr val="bg1"/>
                </a:solidFill>
              </a:rPr>
              <a:t>Presentation</a:t>
            </a:r>
          </a:p>
        </p:txBody>
      </p:sp>
      <p:sp>
        <p:nvSpPr>
          <p:cNvPr id="71" name="Rectangle 14"/>
          <p:cNvSpPr>
            <a:spLocks noChangeArrowheads="1"/>
          </p:cNvSpPr>
          <p:nvPr/>
        </p:nvSpPr>
        <p:spPr bwMode="auto">
          <a:xfrm>
            <a:off x="285750" y="3390900"/>
            <a:ext cx="2286000" cy="586740"/>
          </a:xfrm>
          <a:prstGeom prst="rect">
            <a:avLst/>
          </a:prstGeom>
          <a:solidFill>
            <a:srgbClr val="1D3064"/>
          </a:solidFill>
          <a:ln>
            <a:noFill/>
          </a:ln>
          <a:effectLst/>
          <a:extLst/>
        </p:spPr>
        <p:txBody>
          <a:bodyPr wrap="none" lIns="0" tIns="0" rIns="0" bIns="0" anchor="ctr"/>
          <a:lstStyle/>
          <a:p>
            <a:pPr algn="ctr"/>
            <a:r>
              <a:rPr lang="en-US" altLang="en-US" sz="2000" b="1" dirty="0">
                <a:solidFill>
                  <a:schemeClr val="bg1"/>
                </a:solidFill>
              </a:rPr>
              <a:t>Transport</a:t>
            </a:r>
          </a:p>
        </p:txBody>
      </p:sp>
      <p:sp>
        <p:nvSpPr>
          <p:cNvPr id="72" name="Rectangle 15"/>
          <p:cNvSpPr>
            <a:spLocks noChangeArrowheads="1"/>
          </p:cNvSpPr>
          <p:nvPr/>
        </p:nvSpPr>
        <p:spPr bwMode="auto">
          <a:xfrm>
            <a:off x="285750" y="4126230"/>
            <a:ext cx="2286000" cy="586740"/>
          </a:xfrm>
          <a:prstGeom prst="rect">
            <a:avLst/>
          </a:prstGeom>
          <a:solidFill>
            <a:srgbClr val="1D3064"/>
          </a:solidFill>
          <a:ln>
            <a:noFill/>
          </a:ln>
          <a:effectLst/>
          <a:extLst/>
        </p:spPr>
        <p:txBody>
          <a:bodyPr wrap="none" lIns="0" tIns="0" rIns="0" bIns="0" anchor="ctr"/>
          <a:lstStyle/>
          <a:p>
            <a:pPr algn="ctr"/>
            <a:r>
              <a:rPr lang="en-US" altLang="en-US" sz="2000" b="1" dirty="0">
                <a:solidFill>
                  <a:schemeClr val="bg1"/>
                </a:solidFill>
              </a:rPr>
              <a:t>Network</a:t>
            </a:r>
          </a:p>
        </p:txBody>
      </p:sp>
      <p:sp>
        <p:nvSpPr>
          <p:cNvPr id="73" name="Rectangle 16"/>
          <p:cNvSpPr>
            <a:spLocks noChangeArrowheads="1"/>
          </p:cNvSpPr>
          <p:nvPr/>
        </p:nvSpPr>
        <p:spPr bwMode="auto">
          <a:xfrm>
            <a:off x="285750" y="4812030"/>
            <a:ext cx="2286000" cy="586740"/>
          </a:xfrm>
          <a:prstGeom prst="rect">
            <a:avLst/>
          </a:prstGeom>
          <a:solidFill>
            <a:srgbClr val="1D3064"/>
          </a:solidFill>
          <a:ln>
            <a:noFill/>
          </a:ln>
          <a:effectLst/>
          <a:extLst/>
        </p:spPr>
        <p:txBody>
          <a:bodyPr wrap="none" lIns="0" tIns="0" rIns="0" bIns="0" anchor="ctr"/>
          <a:lstStyle/>
          <a:p>
            <a:pPr algn="ctr"/>
            <a:r>
              <a:rPr lang="en-US" altLang="en-US" sz="2000" b="1" dirty="0">
                <a:solidFill>
                  <a:schemeClr val="bg1"/>
                </a:solidFill>
              </a:rPr>
              <a:t>Data</a:t>
            </a:r>
            <a:r>
              <a:rPr lang="en-US" altLang="en-US" sz="1400" b="1" dirty="0">
                <a:solidFill>
                  <a:schemeClr val="bg1"/>
                </a:solidFill>
              </a:rPr>
              <a:t> </a:t>
            </a:r>
            <a:r>
              <a:rPr lang="en-US" altLang="en-US" sz="2000" b="1" dirty="0">
                <a:solidFill>
                  <a:schemeClr val="bg1"/>
                </a:solidFill>
              </a:rPr>
              <a:t>Link</a:t>
            </a:r>
          </a:p>
        </p:txBody>
      </p:sp>
      <p:sp>
        <p:nvSpPr>
          <p:cNvPr id="75" name="Rectangle 18"/>
          <p:cNvSpPr>
            <a:spLocks noChangeArrowheads="1"/>
          </p:cNvSpPr>
          <p:nvPr/>
        </p:nvSpPr>
        <p:spPr bwMode="auto">
          <a:xfrm>
            <a:off x="2876550" y="952500"/>
            <a:ext cx="6134100" cy="457200"/>
          </a:xfrm>
          <a:prstGeom prst="rect">
            <a:avLst/>
          </a:prstGeom>
          <a:solidFill>
            <a:srgbClr val="1D3064"/>
          </a:solidFill>
          <a:ln>
            <a:noFill/>
          </a:ln>
          <a:effectLst/>
          <a:extLst/>
        </p:spPr>
        <p:txBody>
          <a:bodyPr wrap="none" lIns="0" tIns="0" rIns="0" bIns="0" anchor="ctr"/>
          <a:lstStyle/>
          <a:p>
            <a:pPr algn="ctr"/>
            <a:r>
              <a:rPr lang="en-US" altLang="en-US" sz="2000" b="1" dirty="0">
                <a:solidFill>
                  <a:schemeClr val="bg1"/>
                </a:solidFill>
              </a:rPr>
              <a:t>Activities </a:t>
            </a:r>
          </a:p>
        </p:txBody>
      </p:sp>
      <p:sp>
        <p:nvSpPr>
          <p:cNvPr id="76" name="Rectangle 19"/>
          <p:cNvSpPr>
            <a:spLocks noChangeArrowheads="1"/>
          </p:cNvSpPr>
          <p:nvPr/>
        </p:nvSpPr>
        <p:spPr bwMode="auto">
          <a:xfrm>
            <a:off x="2876550" y="1562100"/>
            <a:ext cx="6134100" cy="533400"/>
          </a:xfrm>
          <a:prstGeom prst="rect">
            <a:avLst/>
          </a:prstGeom>
          <a:solidFill>
            <a:schemeClr val="bg1">
              <a:lumMod val="95000"/>
              <a:alpha val="80000"/>
            </a:schemeClr>
          </a:solidFill>
          <a:ln>
            <a:solidFill>
              <a:schemeClr val="tx2">
                <a:lumMod val="20000"/>
                <a:lumOff val="80000"/>
              </a:schemeClr>
            </a:solidFill>
          </a:ln>
          <a:effectLst/>
          <a:extLst/>
        </p:spPr>
        <p:txBody>
          <a:bodyPr wrap="none" lIns="0" tIns="0" rIns="0" bIns="0" anchor="ctr"/>
          <a:lstStyle/>
          <a:p>
            <a:pPr algn="ctr"/>
            <a:r>
              <a:rPr lang="en-US" altLang="en-US" sz="2000" dirty="0"/>
              <a:t>To allow access to network resources.</a:t>
            </a:r>
          </a:p>
        </p:txBody>
      </p:sp>
      <p:sp>
        <p:nvSpPr>
          <p:cNvPr id="77" name="Rectangle 20"/>
          <p:cNvSpPr>
            <a:spLocks noChangeArrowheads="1"/>
          </p:cNvSpPr>
          <p:nvPr/>
        </p:nvSpPr>
        <p:spPr bwMode="auto">
          <a:xfrm>
            <a:off x="2876550" y="2781300"/>
            <a:ext cx="6134100" cy="533400"/>
          </a:xfrm>
          <a:prstGeom prst="rect">
            <a:avLst/>
          </a:prstGeom>
          <a:solidFill>
            <a:schemeClr val="bg1">
              <a:lumMod val="95000"/>
              <a:alpha val="80000"/>
            </a:schemeClr>
          </a:solidFill>
          <a:ln>
            <a:solidFill>
              <a:schemeClr val="tx2">
                <a:lumMod val="20000"/>
                <a:lumOff val="80000"/>
              </a:schemeClr>
            </a:solidFill>
          </a:ln>
          <a:effectLst/>
          <a:extLst/>
        </p:spPr>
        <p:txBody>
          <a:bodyPr wrap="none" lIns="0" tIns="0" rIns="0" bIns="0" anchor="ctr"/>
          <a:lstStyle/>
          <a:p>
            <a:pPr algn="ctr"/>
            <a:r>
              <a:rPr lang="en-US" altLang="en-US" sz="2000" dirty="0"/>
              <a:t>To establish, manage, and terminate session.</a:t>
            </a:r>
          </a:p>
        </p:txBody>
      </p:sp>
      <p:sp>
        <p:nvSpPr>
          <p:cNvPr id="78" name="Rectangle 21"/>
          <p:cNvSpPr>
            <a:spLocks noChangeArrowheads="1"/>
          </p:cNvSpPr>
          <p:nvPr/>
        </p:nvSpPr>
        <p:spPr bwMode="auto">
          <a:xfrm>
            <a:off x="2876550" y="2171700"/>
            <a:ext cx="6134100" cy="533400"/>
          </a:xfrm>
          <a:prstGeom prst="rect">
            <a:avLst/>
          </a:prstGeom>
          <a:solidFill>
            <a:schemeClr val="bg1">
              <a:lumMod val="95000"/>
              <a:alpha val="80000"/>
            </a:schemeClr>
          </a:solidFill>
          <a:ln>
            <a:solidFill>
              <a:schemeClr val="tx2">
                <a:lumMod val="20000"/>
                <a:lumOff val="80000"/>
              </a:schemeClr>
            </a:solidFill>
          </a:ln>
          <a:effectLst/>
          <a:extLst/>
        </p:spPr>
        <p:txBody>
          <a:bodyPr wrap="none" lIns="0" tIns="0" rIns="0" bIns="0" anchor="ctr"/>
          <a:lstStyle/>
          <a:p>
            <a:pPr algn="ctr"/>
            <a:r>
              <a:rPr lang="en-US" altLang="en-US" sz="2000" dirty="0"/>
              <a:t>To translate, compress, and encrypt/decrypt data.</a:t>
            </a:r>
          </a:p>
        </p:txBody>
      </p:sp>
      <p:sp>
        <p:nvSpPr>
          <p:cNvPr id="79" name="Rectangle 22"/>
          <p:cNvSpPr>
            <a:spLocks noChangeArrowheads="1"/>
          </p:cNvSpPr>
          <p:nvPr/>
        </p:nvSpPr>
        <p:spPr bwMode="auto">
          <a:xfrm>
            <a:off x="2876550" y="3417570"/>
            <a:ext cx="6134100" cy="609600"/>
          </a:xfrm>
          <a:prstGeom prst="rect">
            <a:avLst/>
          </a:prstGeom>
          <a:solidFill>
            <a:schemeClr val="bg1">
              <a:lumMod val="95000"/>
              <a:alpha val="80000"/>
            </a:schemeClr>
          </a:solidFill>
          <a:ln>
            <a:solidFill>
              <a:schemeClr val="tx2">
                <a:lumMod val="20000"/>
                <a:lumOff val="80000"/>
              </a:schemeClr>
            </a:solidFill>
          </a:ln>
          <a:effectLst/>
          <a:extLst/>
        </p:spPr>
        <p:txBody>
          <a:bodyPr wrap="none" lIns="0" tIns="0" rIns="0" bIns="0" anchor="ctr"/>
          <a:lstStyle/>
          <a:p>
            <a:pPr algn="ctr"/>
            <a:r>
              <a:rPr lang="en-US" altLang="en-US" sz="2000" dirty="0"/>
              <a:t>To provide reliable process-to-process </a:t>
            </a:r>
          </a:p>
          <a:p>
            <a:pPr algn="ctr"/>
            <a:r>
              <a:rPr lang="en-US" altLang="en-US" sz="2000" dirty="0"/>
              <a:t>message delivery and error recovery. </a:t>
            </a:r>
          </a:p>
        </p:txBody>
      </p:sp>
      <p:sp>
        <p:nvSpPr>
          <p:cNvPr id="82" name="Rectangle 23"/>
          <p:cNvSpPr>
            <a:spLocks noChangeArrowheads="1"/>
          </p:cNvSpPr>
          <p:nvPr/>
        </p:nvSpPr>
        <p:spPr bwMode="auto">
          <a:xfrm>
            <a:off x="2876550" y="4126230"/>
            <a:ext cx="6134100" cy="586740"/>
          </a:xfrm>
          <a:prstGeom prst="rect">
            <a:avLst/>
          </a:prstGeom>
          <a:solidFill>
            <a:schemeClr val="bg1">
              <a:lumMod val="95000"/>
              <a:alpha val="80000"/>
            </a:schemeClr>
          </a:solidFill>
          <a:ln>
            <a:solidFill>
              <a:schemeClr val="tx2">
                <a:lumMod val="20000"/>
                <a:lumOff val="80000"/>
              </a:schemeClr>
            </a:solidFill>
          </a:ln>
          <a:effectLst/>
          <a:extLst/>
        </p:spPr>
        <p:txBody>
          <a:bodyPr wrap="none" lIns="0" tIns="0" rIns="0" bIns="0" anchor="ctr"/>
          <a:lstStyle/>
          <a:p>
            <a:pPr algn="ctr"/>
            <a:r>
              <a:rPr lang="en-US" altLang="en-US" sz="2000" dirty="0"/>
              <a:t>To move packets from source to destination;  </a:t>
            </a:r>
          </a:p>
          <a:p>
            <a:pPr algn="ctr"/>
            <a:r>
              <a:rPr lang="en-US" altLang="en-US" sz="2000" dirty="0"/>
              <a:t>To provide internetworking.</a:t>
            </a:r>
          </a:p>
        </p:txBody>
      </p:sp>
      <p:sp>
        <p:nvSpPr>
          <p:cNvPr id="84" name="Rectangle 24"/>
          <p:cNvSpPr>
            <a:spLocks noChangeArrowheads="1"/>
          </p:cNvSpPr>
          <p:nvPr/>
        </p:nvSpPr>
        <p:spPr bwMode="auto">
          <a:xfrm>
            <a:off x="2876550" y="4812030"/>
            <a:ext cx="6134100" cy="586740"/>
          </a:xfrm>
          <a:prstGeom prst="rect">
            <a:avLst/>
          </a:prstGeom>
          <a:solidFill>
            <a:schemeClr val="bg1">
              <a:lumMod val="95000"/>
              <a:alpha val="80000"/>
            </a:schemeClr>
          </a:solidFill>
          <a:ln>
            <a:solidFill>
              <a:schemeClr val="tx2">
                <a:lumMod val="20000"/>
                <a:lumOff val="80000"/>
              </a:schemeClr>
            </a:solidFill>
          </a:ln>
          <a:effectLst/>
          <a:extLst/>
        </p:spPr>
        <p:txBody>
          <a:bodyPr wrap="none" lIns="0" tIns="0" rIns="0" bIns="0" anchor="ctr"/>
          <a:lstStyle/>
          <a:p>
            <a:pPr algn="ctr"/>
            <a:r>
              <a:rPr lang="en-US" altLang="en-US" sz="2000" dirty="0"/>
              <a:t>To organize bits into frames; </a:t>
            </a:r>
          </a:p>
          <a:p>
            <a:pPr algn="ctr"/>
            <a:r>
              <a:rPr lang="en-US" altLang="en-US" sz="2000" dirty="0"/>
              <a:t>To provide hop-to-hop delivery.</a:t>
            </a:r>
          </a:p>
        </p:txBody>
      </p:sp>
      <p:sp>
        <p:nvSpPr>
          <p:cNvPr id="85" name="Rectangle 27"/>
          <p:cNvSpPr>
            <a:spLocks noChangeArrowheads="1"/>
          </p:cNvSpPr>
          <p:nvPr/>
        </p:nvSpPr>
        <p:spPr bwMode="auto">
          <a:xfrm>
            <a:off x="209550" y="5905500"/>
            <a:ext cx="89916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 name="Rectangle 29"/>
          <p:cNvSpPr>
            <a:spLocks noChangeArrowheads="1"/>
          </p:cNvSpPr>
          <p:nvPr/>
        </p:nvSpPr>
        <p:spPr bwMode="auto">
          <a:xfrm>
            <a:off x="285750" y="5497830"/>
            <a:ext cx="2286000" cy="586740"/>
          </a:xfrm>
          <a:prstGeom prst="rect">
            <a:avLst/>
          </a:prstGeom>
          <a:solidFill>
            <a:srgbClr val="1D3064"/>
          </a:solidFill>
          <a:ln>
            <a:noFill/>
          </a:ln>
          <a:effectLst/>
          <a:extLst/>
        </p:spPr>
        <p:txBody>
          <a:bodyPr wrap="none" lIns="0" tIns="0" rIns="0" bIns="0" anchor="ctr"/>
          <a:lstStyle/>
          <a:p>
            <a:pPr algn="ctr"/>
            <a:r>
              <a:rPr lang="en-US" altLang="en-US" sz="2000" b="1" dirty="0">
                <a:solidFill>
                  <a:schemeClr val="bg1"/>
                </a:solidFill>
              </a:rPr>
              <a:t>Physical</a:t>
            </a:r>
          </a:p>
        </p:txBody>
      </p:sp>
      <p:sp>
        <p:nvSpPr>
          <p:cNvPr id="106" name="Rectangle 30"/>
          <p:cNvSpPr>
            <a:spLocks noChangeArrowheads="1"/>
          </p:cNvSpPr>
          <p:nvPr/>
        </p:nvSpPr>
        <p:spPr bwMode="auto">
          <a:xfrm>
            <a:off x="2876550" y="5497830"/>
            <a:ext cx="6134100" cy="586740"/>
          </a:xfrm>
          <a:prstGeom prst="rect">
            <a:avLst/>
          </a:prstGeom>
          <a:solidFill>
            <a:schemeClr val="bg1">
              <a:lumMod val="95000"/>
              <a:alpha val="80000"/>
            </a:schemeClr>
          </a:solidFill>
          <a:ln>
            <a:solidFill>
              <a:schemeClr val="tx2">
                <a:lumMod val="20000"/>
                <a:lumOff val="80000"/>
              </a:schemeClr>
            </a:solidFill>
          </a:ln>
          <a:effectLst/>
          <a:extLst/>
        </p:spPr>
        <p:txBody>
          <a:bodyPr wrap="none" lIns="0" tIns="0" rIns="0" bIns="0" anchor="ctr"/>
          <a:lstStyle/>
          <a:p>
            <a:pPr algn="ctr"/>
            <a:r>
              <a:rPr lang="en-US" altLang="en-US" sz="2000" dirty="0"/>
              <a:t>To transmit bits over a medium; </a:t>
            </a:r>
          </a:p>
          <a:p>
            <a:pPr algn="ctr"/>
            <a:r>
              <a:rPr lang="en-US" altLang="en-US" sz="2000" dirty="0"/>
              <a:t>To provide mechanical and electrical specifications.</a:t>
            </a:r>
          </a:p>
        </p:txBody>
      </p:sp>
    </p:spTree>
    <p:extLst>
      <p:ext uri="{BB962C8B-B14F-4D97-AF65-F5344CB8AC3E}">
        <p14:creationId xmlns:p14="http://schemas.microsoft.com/office/powerpoint/2010/main" val="248953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8" grpId="0" animBg="1"/>
      <p:bldP spid="69" grpId="0" animBg="1"/>
      <p:bldP spid="70" grpId="0" animBg="1"/>
      <p:bldP spid="71" grpId="0" animBg="1"/>
      <p:bldP spid="72" grpId="0" animBg="1"/>
      <p:bldP spid="73" grpId="0" animBg="1"/>
      <p:bldP spid="75" grpId="0" animBg="1"/>
      <p:bldP spid="76" grpId="0" animBg="1"/>
      <p:bldP spid="77" grpId="0" animBg="1"/>
      <p:bldP spid="78" grpId="0" animBg="1"/>
      <p:bldP spid="79" grpId="0" animBg="1"/>
      <p:bldP spid="82" grpId="0" animBg="1"/>
      <p:bldP spid="84" grpId="0" animBg="1"/>
      <p:bldP spid="105" grpId="0" animBg="1"/>
      <p:bldP spid="10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Types of Communication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spcBef>
                <a:spcPts val="1000"/>
              </a:spcBef>
              <a:buFont typeface="Webdings" panose="05030102010509060703" pitchFamily="18" charset="2"/>
              <a:buChar char=""/>
            </a:pPr>
            <a:r>
              <a:rPr lang="fr-FR" altLang="en-US" sz="2400" dirty="0" err="1"/>
              <a:t>Transient</a:t>
            </a:r>
            <a:r>
              <a:rPr lang="fr-FR" altLang="en-US" sz="2400" dirty="0"/>
              <a:t> </a:t>
            </a:r>
            <a:r>
              <a:rPr lang="fr-FR" altLang="en-US" sz="2400" dirty="0" smtClean="0"/>
              <a:t>Vs</a:t>
            </a:r>
            <a:r>
              <a:rPr lang="fr-FR" altLang="en-US" sz="2400" dirty="0"/>
              <a:t>. </a:t>
            </a:r>
            <a:r>
              <a:rPr lang="fr-FR" altLang="en-US" sz="2400" dirty="0" smtClean="0"/>
              <a:t>Persistent </a:t>
            </a:r>
            <a:r>
              <a:rPr lang="fr-FR" altLang="en-US" sz="2400" dirty="0"/>
              <a:t>communication</a:t>
            </a:r>
          </a:p>
          <a:p>
            <a:pPr marL="265113" lvl="1" indent="-265113">
              <a:spcBef>
                <a:spcPts val="1000"/>
              </a:spcBef>
              <a:buFont typeface="Webdings" panose="05030102010509060703" pitchFamily="18" charset="2"/>
              <a:buChar char=""/>
            </a:pPr>
            <a:r>
              <a:rPr lang="fr-FR" altLang="en-US" sz="2400" dirty="0" err="1" smtClean="0"/>
              <a:t>Synchronous</a:t>
            </a:r>
            <a:r>
              <a:rPr lang="fr-FR" altLang="en-US" sz="2400" dirty="0" smtClean="0"/>
              <a:t> Vs</a:t>
            </a:r>
            <a:r>
              <a:rPr lang="fr-FR" altLang="en-US" sz="2400" dirty="0"/>
              <a:t>. </a:t>
            </a:r>
            <a:r>
              <a:rPr lang="fr-FR" altLang="en-US" sz="2400" dirty="0" err="1" smtClean="0"/>
              <a:t>Asynchronous</a:t>
            </a:r>
            <a:r>
              <a:rPr lang="fr-FR" altLang="en-US" sz="2400" dirty="0" smtClean="0"/>
              <a:t> </a:t>
            </a:r>
            <a:r>
              <a:rPr lang="fr-FR" altLang="en-US" sz="2400" dirty="0"/>
              <a:t>communication</a:t>
            </a:r>
            <a:endParaRPr lang="en-US" altLang="en-US" sz="2400" dirty="0"/>
          </a:p>
        </p:txBody>
      </p:sp>
    </p:spTree>
    <p:extLst>
      <p:ext uri="{BB962C8B-B14F-4D97-AF65-F5344CB8AC3E}">
        <p14:creationId xmlns:p14="http://schemas.microsoft.com/office/powerpoint/2010/main" val="1218322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Transient Vs. Persistent communication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lvl="1" indent="0">
              <a:spcBef>
                <a:spcPts val="1000"/>
              </a:spcBef>
              <a:buNone/>
            </a:pPr>
            <a:r>
              <a:rPr lang="en-US" altLang="en-US" sz="2400" b="1" dirty="0">
                <a:solidFill>
                  <a:srgbClr val="1D3064"/>
                </a:solidFill>
              </a:rPr>
              <a:t>Transient </a:t>
            </a:r>
            <a:r>
              <a:rPr lang="en-US" altLang="en-US" sz="2400" b="1" dirty="0" smtClean="0">
                <a:solidFill>
                  <a:srgbClr val="1D3064"/>
                </a:solidFill>
              </a:rPr>
              <a:t>Communication</a:t>
            </a:r>
          </a:p>
          <a:p>
            <a:pPr marL="265113" lvl="1" indent="-265113">
              <a:spcBef>
                <a:spcPts val="1000"/>
              </a:spcBef>
              <a:buFont typeface="Webdings" panose="05030102010509060703" pitchFamily="18" charset="2"/>
              <a:buChar char=""/>
            </a:pPr>
            <a:r>
              <a:rPr lang="en-US" altLang="en-US" sz="2400" dirty="0"/>
              <a:t>Here, Sender and receiver run at the same time based on request/response protocol, the message is expected otherwise it will be discarded</a:t>
            </a:r>
            <a:r>
              <a:rPr lang="en-US" altLang="en-US" sz="2400" dirty="0" smtClean="0"/>
              <a:t>.</a:t>
            </a:r>
            <a:endParaRPr lang="en-US" altLang="en-US" sz="2400" dirty="0"/>
          </a:p>
          <a:p>
            <a:pPr marL="265113" lvl="1" indent="-265113">
              <a:spcBef>
                <a:spcPts val="1000"/>
              </a:spcBef>
              <a:buFont typeface="Webdings" panose="05030102010509060703" pitchFamily="18" charset="2"/>
              <a:buChar char=""/>
            </a:pPr>
            <a:r>
              <a:rPr lang="en-US" altLang="en-US" sz="2400" dirty="0" smtClean="0"/>
              <a:t>Middleware </a:t>
            </a:r>
            <a:r>
              <a:rPr lang="en-US" altLang="en-US" sz="2400" dirty="0"/>
              <a:t>discards a message if it cannot be delivered to receiver </a:t>
            </a:r>
            <a:r>
              <a:rPr lang="en-US" altLang="en-US" sz="2400" dirty="0" smtClean="0"/>
              <a:t>immediately</a:t>
            </a:r>
          </a:p>
          <a:p>
            <a:pPr marL="265113" lvl="1" indent="-265113">
              <a:spcBef>
                <a:spcPts val="1000"/>
              </a:spcBef>
              <a:buFont typeface="Webdings" panose="05030102010509060703" pitchFamily="18" charset="2"/>
              <a:buChar char=""/>
            </a:pPr>
            <a:r>
              <a:rPr lang="en-US" altLang="en-US" sz="2400" dirty="0" smtClean="0"/>
              <a:t>Messages </a:t>
            </a:r>
            <a:r>
              <a:rPr lang="en-US" altLang="en-US" sz="2400" dirty="0"/>
              <a:t>exist only while the sender and receiver are </a:t>
            </a:r>
            <a:r>
              <a:rPr lang="en-US" altLang="en-US" sz="2400" dirty="0" smtClean="0"/>
              <a:t>running.</a:t>
            </a:r>
          </a:p>
          <a:p>
            <a:pPr marL="265113" lvl="1" indent="-265113">
              <a:spcBef>
                <a:spcPts val="1000"/>
              </a:spcBef>
              <a:buFont typeface="Webdings" panose="05030102010509060703" pitchFamily="18" charset="2"/>
              <a:buChar char=""/>
            </a:pPr>
            <a:r>
              <a:rPr lang="en-US" altLang="en-US" sz="2400" dirty="0"/>
              <a:t>Communication errors or inactive receiver cause the message to be discarded.</a:t>
            </a:r>
          </a:p>
          <a:p>
            <a:pPr marL="265113" lvl="1" indent="-265113">
              <a:spcBef>
                <a:spcPts val="1000"/>
              </a:spcBef>
              <a:buFont typeface="Webdings" panose="05030102010509060703" pitchFamily="18" charset="2"/>
              <a:buChar char=""/>
            </a:pPr>
            <a:r>
              <a:rPr lang="en-US" altLang="en-US" sz="2400" dirty="0"/>
              <a:t>Transport-level communication is transient </a:t>
            </a:r>
          </a:p>
          <a:p>
            <a:pPr marL="0" lvl="1" indent="0">
              <a:spcBef>
                <a:spcPts val="1000"/>
              </a:spcBef>
              <a:buNone/>
            </a:pPr>
            <a:r>
              <a:rPr lang="en-US" altLang="en-US" sz="2400" b="1" dirty="0">
                <a:solidFill>
                  <a:srgbClr val="1D3064"/>
                </a:solidFill>
              </a:rPr>
              <a:t>Persistent Communication</a:t>
            </a:r>
          </a:p>
          <a:p>
            <a:pPr marL="265113" lvl="1" indent="-265113">
              <a:spcBef>
                <a:spcPts val="1000"/>
              </a:spcBef>
              <a:buFont typeface="Webdings" panose="05030102010509060703" pitchFamily="18" charset="2"/>
              <a:buChar char=""/>
            </a:pPr>
            <a:r>
              <a:rPr lang="en-US" altLang="en-US" sz="2400" dirty="0"/>
              <a:t>M</a:t>
            </a:r>
            <a:r>
              <a:rPr lang="en-US" altLang="en-US" sz="2400" dirty="0" smtClean="0"/>
              <a:t>essages </a:t>
            </a:r>
            <a:r>
              <a:rPr lang="en-US" altLang="en-US" sz="2400" dirty="0"/>
              <a:t>are stored by middleware until receiver can accept it</a:t>
            </a:r>
          </a:p>
          <a:p>
            <a:pPr marL="265113" lvl="1" indent="-265113">
              <a:spcBef>
                <a:spcPts val="1000"/>
              </a:spcBef>
              <a:buFont typeface="Webdings" panose="05030102010509060703" pitchFamily="18" charset="2"/>
              <a:buChar char=""/>
            </a:pPr>
            <a:r>
              <a:rPr lang="en-US" altLang="en-US" sz="2400" dirty="0" smtClean="0"/>
              <a:t>Receiving </a:t>
            </a:r>
            <a:r>
              <a:rPr lang="en-US" altLang="en-US" sz="2400" dirty="0"/>
              <a:t>application need not be executing when the message is submitted.</a:t>
            </a:r>
          </a:p>
          <a:p>
            <a:pPr marL="265113" lvl="1" indent="-265113">
              <a:spcBef>
                <a:spcPts val="1000"/>
              </a:spcBef>
              <a:buFont typeface="Webdings" panose="05030102010509060703" pitchFamily="18" charset="2"/>
              <a:buChar char=""/>
            </a:pPr>
            <a:r>
              <a:rPr lang="en-US" altLang="en-US" sz="2400" dirty="0" smtClean="0"/>
              <a:t>Example</a:t>
            </a:r>
            <a:r>
              <a:rPr lang="en-US" altLang="en-US" sz="2400" dirty="0"/>
              <a:t>: Email</a:t>
            </a:r>
          </a:p>
          <a:p>
            <a:pPr marL="265113" lvl="1" indent="-265113">
              <a:spcBef>
                <a:spcPts val="1000"/>
              </a:spcBef>
              <a:buFont typeface="Webdings" panose="05030102010509060703" pitchFamily="18" charset="2"/>
              <a:buChar char=""/>
            </a:pPr>
            <a:endParaRPr lang="en-US" altLang="en-US" sz="2400" dirty="0"/>
          </a:p>
        </p:txBody>
      </p:sp>
    </p:spTree>
    <p:extLst>
      <p:ext uri="{BB962C8B-B14F-4D97-AF65-F5344CB8AC3E}">
        <p14:creationId xmlns:p14="http://schemas.microsoft.com/office/powerpoint/2010/main" val="1026881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Synchronous </a:t>
            </a:r>
            <a:r>
              <a:rPr lang="en-US" dirty="0" smtClean="0"/>
              <a:t>Vs </a:t>
            </a:r>
            <a:r>
              <a:rPr lang="en-US" dirty="0"/>
              <a:t>Asynchronous Communication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79" y="863444"/>
            <a:ext cx="11890931" cy="5590565"/>
          </a:xfrm>
        </p:spPr>
        <p:txBody>
          <a:bodyPr/>
          <a:lstStyle/>
          <a:p>
            <a:pPr marL="0" lvl="1" indent="0">
              <a:spcBef>
                <a:spcPts val="1000"/>
              </a:spcBef>
              <a:buNone/>
            </a:pPr>
            <a:r>
              <a:rPr lang="en-US" altLang="en-US" sz="2400" b="1" dirty="0">
                <a:solidFill>
                  <a:srgbClr val="1D3064"/>
                </a:solidFill>
              </a:rPr>
              <a:t>Synchronous Communication</a:t>
            </a:r>
            <a:endParaRPr lang="en-US" altLang="en-US" sz="2400" b="1" dirty="0" smtClean="0">
              <a:solidFill>
                <a:srgbClr val="1D3064"/>
              </a:solidFill>
            </a:endParaRPr>
          </a:p>
          <a:p>
            <a:pPr marL="265113" lvl="1" indent="-265113">
              <a:spcBef>
                <a:spcPts val="1000"/>
              </a:spcBef>
              <a:buFont typeface="Webdings" panose="05030102010509060703" pitchFamily="18" charset="2"/>
              <a:buChar char=""/>
            </a:pPr>
            <a:r>
              <a:rPr lang="en-US" altLang="en-US" sz="2400" dirty="0"/>
              <a:t>S</a:t>
            </a:r>
            <a:r>
              <a:rPr lang="en-US" altLang="en-US" sz="2400" dirty="0" smtClean="0"/>
              <a:t>ender </a:t>
            </a:r>
            <a:r>
              <a:rPr lang="en-US" altLang="en-US" sz="2400" dirty="0"/>
              <a:t>blocks until its request is known to be </a:t>
            </a:r>
            <a:r>
              <a:rPr lang="en-US" altLang="en-US" sz="2400" dirty="0" smtClean="0"/>
              <a:t>accepted</a:t>
            </a:r>
          </a:p>
          <a:p>
            <a:pPr marL="265113" lvl="1" indent="-265113">
              <a:spcBef>
                <a:spcPts val="1000"/>
              </a:spcBef>
              <a:buFont typeface="Webdings" panose="05030102010509060703" pitchFamily="18" charset="2"/>
              <a:buChar char=""/>
            </a:pPr>
            <a:r>
              <a:rPr lang="en-US" altLang="en-US" sz="2400" dirty="0"/>
              <a:t>Sender and receiver must be active at the same time</a:t>
            </a:r>
          </a:p>
          <a:p>
            <a:pPr marL="265113" lvl="1" indent="-265113">
              <a:spcBef>
                <a:spcPts val="1000"/>
              </a:spcBef>
              <a:buFont typeface="Webdings" panose="05030102010509060703" pitchFamily="18" charset="2"/>
              <a:buChar char=""/>
            </a:pPr>
            <a:r>
              <a:rPr lang="en-US" altLang="en-US" sz="2400" dirty="0" smtClean="0"/>
              <a:t>Sender </a:t>
            </a:r>
            <a:r>
              <a:rPr lang="en-US" altLang="en-US" sz="2400" dirty="0"/>
              <a:t>execution is continued only if the previous message is received and processed</a:t>
            </a:r>
            <a:r>
              <a:rPr lang="en-US" altLang="en-US" sz="2400" dirty="0" smtClean="0"/>
              <a:t>.</a:t>
            </a:r>
          </a:p>
          <a:p>
            <a:pPr marL="0" lvl="1" indent="0">
              <a:spcBef>
                <a:spcPts val="1000"/>
              </a:spcBef>
              <a:buNone/>
            </a:pPr>
            <a:endParaRPr lang="en-US" altLang="en-US" sz="2400" dirty="0"/>
          </a:p>
          <a:p>
            <a:pPr marL="0" lvl="1" indent="0">
              <a:spcBef>
                <a:spcPts val="1000"/>
              </a:spcBef>
              <a:buNone/>
            </a:pPr>
            <a:r>
              <a:rPr lang="en-US" altLang="en-US" sz="2400" b="1" dirty="0">
                <a:solidFill>
                  <a:srgbClr val="1D3064"/>
                </a:solidFill>
              </a:rPr>
              <a:t>Asynchronous Communication</a:t>
            </a:r>
          </a:p>
          <a:p>
            <a:pPr marL="265113" lvl="1" indent="-265113">
              <a:spcBef>
                <a:spcPts val="1000"/>
              </a:spcBef>
              <a:buFont typeface="Webdings" panose="05030102010509060703" pitchFamily="18" charset="2"/>
              <a:buChar char=""/>
            </a:pPr>
            <a:r>
              <a:rPr lang="en-US" altLang="en-US" sz="2400" dirty="0" smtClean="0"/>
              <a:t>Sender </a:t>
            </a:r>
            <a:r>
              <a:rPr lang="en-US" altLang="en-US" sz="2400" dirty="0"/>
              <a:t>continues execution immediately after sending a </a:t>
            </a:r>
            <a:r>
              <a:rPr lang="en-US" altLang="en-US" sz="2400" dirty="0" smtClean="0"/>
              <a:t>message</a:t>
            </a:r>
          </a:p>
          <a:p>
            <a:pPr marL="265113" lvl="1" indent="-265113">
              <a:spcBef>
                <a:spcPts val="1000"/>
              </a:spcBef>
              <a:buFont typeface="Webdings" panose="05030102010509060703" pitchFamily="18" charset="2"/>
              <a:buChar char=""/>
            </a:pPr>
            <a:r>
              <a:rPr lang="en-US" altLang="en-US" sz="2400" dirty="0"/>
              <a:t>Message stored by middleware upon submission</a:t>
            </a:r>
          </a:p>
          <a:p>
            <a:pPr marL="265113" lvl="1" indent="-265113">
              <a:spcBef>
                <a:spcPts val="1000"/>
              </a:spcBef>
              <a:buFont typeface="Webdings" panose="05030102010509060703" pitchFamily="18" charset="2"/>
              <a:buChar char=""/>
            </a:pPr>
            <a:r>
              <a:rPr lang="en-US" altLang="en-US" sz="2400" dirty="0" smtClean="0"/>
              <a:t>Message </a:t>
            </a:r>
            <a:r>
              <a:rPr lang="en-US" altLang="en-US" sz="2400" dirty="0"/>
              <a:t>may be processed later at receiver’s </a:t>
            </a:r>
            <a:r>
              <a:rPr lang="en-US" altLang="en-US" sz="2400" dirty="0" smtClean="0"/>
              <a:t>convenience</a:t>
            </a:r>
            <a:endParaRPr lang="en-US" altLang="en-US" sz="2400" dirty="0"/>
          </a:p>
        </p:txBody>
      </p:sp>
    </p:spTree>
    <p:extLst>
      <p:ext uri="{BB962C8B-B14F-4D97-AF65-F5344CB8AC3E}">
        <p14:creationId xmlns:p14="http://schemas.microsoft.com/office/powerpoint/2010/main" val="1047933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Distributed Communications Classifications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457200" lvl="1" indent="-457200">
              <a:spcBef>
                <a:spcPts val="1000"/>
              </a:spcBef>
              <a:buFont typeface="+mj-lt"/>
              <a:buAutoNum type="arabicPeriod"/>
            </a:pPr>
            <a:r>
              <a:rPr lang="fr-FR" altLang="en-US" sz="2400" dirty="0" smtClean="0"/>
              <a:t>Persistent </a:t>
            </a:r>
            <a:r>
              <a:rPr lang="fr-FR" altLang="en-US" sz="2400" dirty="0" err="1"/>
              <a:t>asynchronous</a:t>
            </a:r>
            <a:r>
              <a:rPr lang="fr-FR" altLang="en-US" sz="2400" dirty="0"/>
              <a:t> communication.</a:t>
            </a:r>
          </a:p>
          <a:p>
            <a:pPr marL="457200" lvl="1" indent="-457200">
              <a:spcBef>
                <a:spcPts val="1000"/>
              </a:spcBef>
              <a:buFont typeface="+mj-lt"/>
              <a:buAutoNum type="arabicPeriod"/>
            </a:pPr>
            <a:r>
              <a:rPr lang="fr-FR" altLang="en-US" sz="2400" dirty="0" smtClean="0"/>
              <a:t>Persistent </a:t>
            </a:r>
            <a:r>
              <a:rPr lang="fr-FR" altLang="en-US" sz="2400" dirty="0" err="1"/>
              <a:t>synchronous</a:t>
            </a:r>
            <a:r>
              <a:rPr lang="fr-FR" altLang="en-US" sz="2400" dirty="0"/>
              <a:t> communication</a:t>
            </a:r>
            <a:r>
              <a:rPr lang="fr-FR" altLang="en-US" sz="2400" dirty="0" smtClean="0"/>
              <a:t>.</a:t>
            </a:r>
          </a:p>
          <a:p>
            <a:pPr marL="457200" lvl="1" indent="-457200">
              <a:spcBef>
                <a:spcPts val="1000"/>
              </a:spcBef>
              <a:buFont typeface="+mj-lt"/>
              <a:buAutoNum type="arabicPeriod"/>
            </a:pPr>
            <a:r>
              <a:rPr lang="fr-FR" altLang="en-US" sz="2400" dirty="0" err="1"/>
              <a:t>Transient</a:t>
            </a:r>
            <a:r>
              <a:rPr lang="fr-FR" altLang="en-US" sz="2400" dirty="0"/>
              <a:t> </a:t>
            </a:r>
            <a:r>
              <a:rPr lang="fr-FR" altLang="en-US" sz="2400" dirty="0" err="1"/>
              <a:t>asynchronous</a:t>
            </a:r>
            <a:r>
              <a:rPr lang="fr-FR" altLang="en-US" sz="2400" dirty="0"/>
              <a:t> communication</a:t>
            </a:r>
            <a:r>
              <a:rPr lang="fr-FR" altLang="en-US" sz="2400" dirty="0" smtClean="0"/>
              <a:t>.</a:t>
            </a:r>
          </a:p>
          <a:p>
            <a:pPr marL="457200" lvl="1" indent="-457200">
              <a:spcBef>
                <a:spcPts val="1000"/>
              </a:spcBef>
              <a:buFont typeface="+mj-lt"/>
              <a:buAutoNum type="arabicPeriod"/>
            </a:pPr>
            <a:r>
              <a:rPr lang="fr-FR" altLang="en-US" sz="2400" dirty="0" err="1"/>
              <a:t>Transient</a:t>
            </a:r>
            <a:r>
              <a:rPr lang="fr-FR" altLang="en-US" sz="2400" dirty="0"/>
              <a:t> </a:t>
            </a:r>
            <a:r>
              <a:rPr lang="fr-FR" altLang="en-US" sz="2400" dirty="0" err="1" smtClean="0"/>
              <a:t>synchronous</a:t>
            </a:r>
            <a:r>
              <a:rPr lang="fr-FR" altLang="en-US" sz="2400" dirty="0" smtClean="0"/>
              <a:t> </a:t>
            </a:r>
            <a:r>
              <a:rPr lang="fr-FR" altLang="en-US" sz="2400" dirty="0"/>
              <a:t>communication</a:t>
            </a:r>
            <a:r>
              <a:rPr lang="fr-FR" altLang="en-US" sz="2400" dirty="0" smtClean="0"/>
              <a:t>.</a:t>
            </a:r>
            <a:endParaRPr lang="fr-FR" altLang="en-US" sz="2400" dirty="0"/>
          </a:p>
          <a:p>
            <a:pPr lvl="1">
              <a:buFont typeface="Wingdings" panose="05000000000000000000" pitchFamily="2" charset="2"/>
              <a:buChar char="§"/>
            </a:pPr>
            <a:r>
              <a:rPr lang="fr-FR" altLang="en-US" sz="2400" dirty="0" err="1"/>
              <a:t>Receipt-based</a:t>
            </a:r>
            <a:r>
              <a:rPr lang="fr-FR" altLang="en-US" sz="2400" dirty="0"/>
              <a:t> </a:t>
            </a:r>
            <a:r>
              <a:rPr lang="fr-FR" altLang="en-US" sz="2400" dirty="0" err="1"/>
              <a:t>transient</a:t>
            </a:r>
            <a:r>
              <a:rPr lang="fr-FR" altLang="en-US" sz="2400" dirty="0"/>
              <a:t> </a:t>
            </a:r>
            <a:r>
              <a:rPr lang="fr-FR" altLang="en-US" sz="2400" dirty="0" err="1"/>
              <a:t>synchronous</a:t>
            </a:r>
            <a:r>
              <a:rPr lang="fr-FR" altLang="en-US" sz="2400" dirty="0"/>
              <a:t> communication.</a:t>
            </a:r>
          </a:p>
          <a:p>
            <a:pPr lvl="1">
              <a:buFont typeface="Wingdings" panose="05000000000000000000" pitchFamily="2" charset="2"/>
              <a:buChar char="§"/>
            </a:pPr>
            <a:r>
              <a:rPr lang="en-US" altLang="en-US" sz="2400" dirty="0"/>
              <a:t>Delivery-based transient synchronous communication at message delivery.</a:t>
            </a:r>
          </a:p>
          <a:p>
            <a:pPr lvl="1">
              <a:buFont typeface="Wingdings" panose="05000000000000000000" pitchFamily="2" charset="2"/>
              <a:buChar char="§"/>
            </a:pPr>
            <a:r>
              <a:rPr lang="en-US" altLang="en-US" sz="2400" dirty="0"/>
              <a:t>Response-based transient synchronous communication.</a:t>
            </a:r>
          </a:p>
        </p:txBody>
      </p:sp>
    </p:spTree>
    <p:extLst>
      <p:ext uri="{BB962C8B-B14F-4D97-AF65-F5344CB8AC3E}">
        <p14:creationId xmlns:p14="http://schemas.microsoft.com/office/powerpoint/2010/main" val="3604272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Distributed Communications Classifications</a:t>
            </a:r>
          </a:p>
        </p:txBody>
      </p:sp>
      <p:grpSp>
        <p:nvGrpSpPr>
          <p:cNvPr id="51" name="Group 50"/>
          <p:cNvGrpSpPr/>
          <p:nvPr/>
        </p:nvGrpSpPr>
        <p:grpSpPr>
          <a:xfrm>
            <a:off x="5515656" y="1249274"/>
            <a:ext cx="6526440" cy="3717874"/>
            <a:chOff x="5515656" y="1249274"/>
            <a:chExt cx="6526440" cy="3717874"/>
          </a:xfrm>
        </p:grpSpPr>
        <p:sp>
          <p:nvSpPr>
            <p:cNvPr id="12" name="Line 14"/>
            <p:cNvSpPr>
              <a:spLocks noChangeShapeType="1"/>
            </p:cNvSpPr>
            <p:nvPr/>
          </p:nvSpPr>
          <p:spPr bwMode="auto">
            <a:xfrm>
              <a:off x="7166656" y="2278062"/>
              <a:ext cx="1295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3" name="Line 15"/>
            <p:cNvSpPr>
              <a:spLocks noChangeShapeType="1"/>
            </p:cNvSpPr>
            <p:nvPr/>
          </p:nvSpPr>
          <p:spPr bwMode="auto">
            <a:xfrm>
              <a:off x="8487456" y="2278062"/>
              <a:ext cx="5080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 name="Line 16"/>
            <p:cNvSpPr>
              <a:spLocks noChangeShapeType="1"/>
            </p:cNvSpPr>
            <p:nvPr/>
          </p:nvSpPr>
          <p:spPr bwMode="auto">
            <a:xfrm>
              <a:off x="8919256" y="2278062"/>
              <a:ext cx="914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 name="Line 17"/>
            <p:cNvSpPr>
              <a:spLocks noChangeShapeType="1"/>
            </p:cNvSpPr>
            <p:nvPr/>
          </p:nvSpPr>
          <p:spPr bwMode="auto">
            <a:xfrm>
              <a:off x="9833656" y="2278062"/>
              <a:ext cx="10668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 name="Line 18"/>
            <p:cNvSpPr>
              <a:spLocks noChangeShapeType="1"/>
            </p:cNvSpPr>
            <p:nvPr/>
          </p:nvSpPr>
          <p:spPr bwMode="auto">
            <a:xfrm>
              <a:off x="9986056" y="3725862"/>
              <a:ext cx="914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7" name="Line 19"/>
            <p:cNvSpPr>
              <a:spLocks noChangeShapeType="1"/>
            </p:cNvSpPr>
            <p:nvPr/>
          </p:nvSpPr>
          <p:spPr bwMode="auto">
            <a:xfrm>
              <a:off x="7242856" y="3725862"/>
              <a:ext cx="26670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 name="Oval 20"/>
            <p:cNvSpPr>
              <a:spLocks noChangeArrowheads="1"/>
            </p:cNvSpPr>
            <p:nvPr/>
          </p:nvSpPr>
          <p:spPr bwMode="auto">
            <a:xfrm>
              <a:off x="8309656" y="2201862"/>
              <a:ext cx="152400" cy="152400"/>
            </a:xfrm>
            <a:prstGeom prst="ellipse">
              <a:avLst/>
            </a:prstGeom>
            <a:solidFill>
              <a:schemeClr val="bg1"/>
            </a:solidFill>
            <a:ln w="9525">
              <a:solidFill>
                <a:schemeClr val="tx1"/>
              </a:solidFill>
              <a:round/>
              <a:headEnd/>
              <a:tailEnd/>
            </a:ln>
            <a:effectLst/>
          </p:spPr>
          <p:txBody>
            <a:bodyPr wrap="none" anchor="ctr"/>
            <a:lstStyle/>
            <a:p>
              <a:endParaRPr lang="en-IN"/>
            </a:p>
          </p:txBody>
        </p:sp>
        <p:sp>
          <p:nvSpPr>
            <p:cNvPr id="19" name="Oval 21"/>
            <p:cNvSpPr>
              <a:spLocks noChangeArrowheads="1"/>
            </p:cNvSpPr>
            <p:nvPr/>
          </p:nvSpPr>
          <p:spPr bwMode="auto">
            <a:xfrm>
              <a:off x="8919256" y="2201862"/>
              <a:ext cx="152400" cy="152400"/>
            </a:xfrm>
            <a:prstGeom prst="ellipse">
              <a:avLst/>
            </a:prstGeom>
            <a:solidFill>
              <a:schemeClr val="bg1"/>
            </a:solidFill>
            <a:ln w="9525">
              <a:solidFill>
                <a:schemeClr val="tx1"/>
              </a:solidFill>
              <a:round/>
              <a:headEnd/>
              <a:tailEnd/>
            </a:ln>
            <a:effectLst/>
          </p:spPr>
          <p:txBody>
            <a:bodyPr wrap="none" anchor="ctr"/>
            <a:lstStyle/>
            <a:p>
              <a:endParaRPr lang="en-IN"/>
            </a:p>
          </p:txBody>
        </p:sp>
        <p:sp>
          <p:nvSpPr>
            <p:cNvPr id="20" name="Oval 22"/>
            <p:cNvSpPr>
              <a:spLocks noChangeArrowheads="1"/>
            </p:cNvSpPr>
            <p:nvPr/>
          </p:nvSpPr>
          <p:spPr bwMode="auto">
            <a:xfrm>
              <a:off x="8690656" y="3649662"/>
              <a:ext cx="152400" cy="152400"/>
            </a:xfrm>
            <a:prstGeom prst="ellipse">
              <a:avLst/>
            </a:prstGeom>
            <a:solidFill>
              <a:schemeClr val="bg1"/>
            </a:solidFill>
            <a:ln w="9525">
              <a:solidFill>
                <a:schemeClr val="tx1"/>
              </a:solidFill>
              <a:round/>
              <a:headEnd/>
              <a:tailEnd/>
            </a:ln>
            <a:effectLst/>
          </p:spPr>
          <p:txBody>
            <a:bodyPr wrap="none" anchor="ctr"/>
            <a:lstStyle/>
            <a:p>
              <a:endParaRPr lang="en-IN"/>
            </a:p>
          </p:txBody>
        </p:sp>
        <p:sp>
          <p:nvSpPr>
            <p:cNvPr id="21" name="Oval 23"/>
            <p:cNvSpPr>
              <a:spLocks noChangeArrowheads="1"/>
            </p:cNvSpPr>
            <p:nvPr/>
          </p:nvSpPr>
          <p:spPr bwMode="auto">
            <a:xfrm>
              <a:off x="9909856" y="3649662"/>
              <a:ext cx="152400" cy="152400"/>
            </a:xfrm>
            <a:prstGeom prst="ellipse">
              <a:avLst/>
            </a:prstGeom>
            <a:solidFill>
              <a:schemeClr val="bg1"/>
            </a:solidFill>
            <a:ln w="9525">
              <a:solidFill>
                <a:schemeClr val="tx1"/>
              </a:solidFill>
              <a:round/>
              <a:headEnd/>
              <a:tailEnd/>
            </a:ln>
            <a:effectLst/>
          </p:spPr>
          <p:txBody>
            <a:bodyPr wrap="none" anchor="ctr"/>
            <a:lstStyle/>
            <a:p>
              <a:endParaRPr lang="en-IN"/>
            </a:p>
          </p:txBody>
        </p:sp>
        <p:sp>
          <p:nvSpPr>
            <p:cNvPr id="22" name="Line 24"/>
            <p:cNvSpPr>
              <a:spLocks noChangeShapeType="1"/>
            </p:cNvSpPr>
            <p:nvPr/>
          </p:nvSpPr>
          <p:spPr bwMode="auto">
            <a:xfrm>
              <a:off x="8385856" y="2354262"/>
              <a:ext cx="381000" cy="1295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4" name="Text Box 26"/>
            <p:cNvSpPr txBox="1">
              <a:spLocks noChangeArrowheads="1"/>
            </p:cNvSpPr>
            <p:nvPr/>
          </p:nvSpPr>
          <p:spPr bwMode="auto">
            <a:xfrm>
              <a:off x="6824662" y="3592355"/>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dirty="0">
                  <a:solidFill>
                    <a:schemeClr val="accent6"/>
                  </a:solidFill>
                </a:rPr>
                <a:t>B</a:t>
              </a:r>
            </a:p>
          </p:txBody>
        </p:sp>
        <p:sp>
          <p:nvSpPr>
            <p:cNvPr id="25" name="Text Box 27"/>
            <p:cNvSpPr txBox="1">
              <a:spLocks noChangeArrowheads="1"/>
            </p:cNvSpPr>
            <p:nvPr/>
          </p:nvSpPr>
          <p:spPr bwMode="auto">
            <a:xfrm>
              <a:off x="6771368" y="2050612"/>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dirty="0">
                  <a:solidFill>
                    <a:schemeClr val="accent6"/>
                  </a:solidFill>
                </a:rPr>
                <a:t>A</a:t>
              </a:r>
            </a:p>
          </p:txBody>
        </p:sp>
        <p:sp>
          <p:nvSpPr>
            <p:cNvPr id="28" name="Text Box 30"/>
            <p:cNvSpPr txBox="1">
              <a:spLocks noChangeArrowheads="1"/>
            </p:cNvSpPr>
            <p:nvPr/>
          </p:nvSpPr>
          <p:spPr bwMode="auto">
            <a:xfrm>
              <a:off x="10469336" y="2927548"/>
              <a:ext cx="106544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Time</a:t>
              </a:r>
              <a:br>
                <a:rPr lang="en-US" altLang="en-US" sz="2000" dirty="0"/>
              </a:br>
              <a:r>
                <a:rPr lang="en-US" altLang="en-US" sz="2000" dirty="0">
                  <a:sym typeface="Wingdings" panose="05000000000000000000" pitchFamily="2" charset="2"/>
                </a:rPr>
                <a:t></a:t>
              </a:r>
              <a:endParaRPr lang="en-US" altLang="en-US" sz="2000" dirty="0"/>
            </a:p>
          </p:txBody>
        </p:sp>
        <p:sp>
          <p:nvSpPr>
            <p:cNvPr id="35" name="Text Box 37"/>
            <p:cNvSpPr txBox="1">
              <a:spLocks noChangeArrowheads="1"/>
            </p:cNvSpPr>
            <p:nvPr/>
          </p:nvSpPr>
          <p:spPr bwMode="auto">
            <a:xfrm>
              <a:off x="5515656" y="2659062"/>
              <a:ext cx="28702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Message is stored at B’s location for later delivery.</a:t>
              </a:r>
            </a:p>
          </p:txBody>
        </p:sp>
        <p:sp>
          <p:nvSpPr>
            <p:cNvPr id="36" name="Line 38"/>
            <p:cNvSpPr>
              <a:spLocks noChangeShapeType="1"/>
            </p:cNvSpPr>
            <p:nvPr/>
          </p:nvSpPr>
          <p:spPr bwMode="auto">
            <a:xfrm>
              <a:off x="7852456" y="3268662"/>
              <a:ext cx="6858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7" name="Line 39"/>
            <p:cNvSpPr>
              <a:spLocks noChangeShapeType="1"/>
            </p:cNvSpPr>
            <p:nvPr/>
          </p:nvSpPr>
          <p:spPr bwMode="auto">
            <a:xfrm flipV="1">
              <a:off x="8766856" y="2354262"/>
              <a:ext cx="228600" cy="1295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9" name="Text Box 41"/>
            <p:cNvSpPr txBox="1">
              <a:spLocks noChangeArrowheads="1"/>
            </p:cNvSpPr>
            <p:nvPr/>
          </p:nvSpPr>
          <p:spPr bwMode="auto">
            <a:xfrm>
              <a:off x="9071656" y="2659062"/>
              <a:ext cx="12065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000" dirty="0"/>
                <a:t>Accepted</a:t>
              </a:r>
            </a:p>
          </p:txBody>
        </p:sp>
        <p:sp>
          <p:nvSpPr>
            <p:cNvPr id="40" name="AutoShape 42"/>
            <p:cNvSpPr>
              <a:spLocks/>
            </p:cNvSpPr>
            <p:nvPr/>
          </p:nvSpPr>
          <p:spPr bwMode="auto">
            <a:xfrm rot="16200000" flipV="1">
              <a:off x="8423956" y="2620962"/>
              <a:ext cx="228600" cy="2590800"/>
            </a:xfrm>
            <a:prstGeom prst="leftBrace">
              <a:avLst>
                <a:gd name="adj1" fmla="val 9444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1" name="Text Box 43"/>
            <p:cNvSpPr txBox="1">
              <a:spLocks noChangeArrowheads="1"/>
            </p:cNvSpPr>
            <p:nvPr/>
          </p:nvSpPr>
          <p:spPr bwMode="auto">
            <a:xfrm>
              <a:off x="7781926" y="4106862"/>
              <a:ext cx="113733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B is not running</a:t>
              </a:r>
            </a:p>
          </p:txBody>
        </p:sp>
        <p:sp>
          <p:nvSpPr>
            <p:cNvPr id="43" name="Text Box 45"/>
            <p:cNvSpPr txBox="1">
              <a:spLocks noChangeArrowheads="1"/>
            </p:cNvSpPr>
            <p:nvPr/>
          </p:nvSpPr>
          <p:spPr bwMode="auto">
            <a:xfrm>
              <a:off x="9833656" y="4259262"/>
              <a:ext cx="220844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B starts and receives message.</a:t>
              </a:r>
            </a:p>
          </p:txBody>
        </p:sp>
        <p:sp>
          <p:nvSpPr>
            <p:cNvPr id="44" name="Line 46"/>
            <p:cNvSpPr>
              <a:spLocks noChangeShapeType="1"/>
            </p:cNvSpPr>
            <p:nvPr/>
          </p:nvSpPr>
          <p:spPr bwMode="auto">
            <a:xfrm flipH="1" flipV="1">
              <a:off x="10011456" y="3789362"/>
              <a:ext cx="203200" cy="469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5" name="Text Box 47"/>
            <p:cNvSpPr txBox="1">
              <a:spLocks noChangeArrowheads="1"/>
            </p:cNvSpPr>
            <p:nvPr/>
          </p:nvSpPr>
          <p:spPr bwMode="auto">
            <a:xfrm>
              <a:off x="6076497" y="1249274"/>
              <a:ext cx="2514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A sends message and waits until accepted.</a:t>
              </a:r>
            </a:p>
          </p:txBody>
        </p:sp>
        <p:sp>
          <p:nvSpPr>
            <p:cNvPr id="46" name="Line 48"/>
            <p:cNvSpPr>
              <a:spLocks noChangeShapeType="1"/>
            </p:cNvSpPr>
            <p:nvPr/>
          </p:nvSpPr>
          <p:spPr bwMode="auto">
            <a:xfrm>
              <a:off x="7928656" y="1973262"/>
              <a:ext cx="4572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7" name="AutoShape 49"/>
            <p:cNvSpPr>
              <a:spLocks/>
            </p:cNvSpPr>
            <p:nvPr/>
          </p:nvSpPr>
          <p:spPr bwMode="auto">
            <a:xfrm rot="5400000" flipV="1">
              <a:off x="10214656" y="1592262"/>
              <a:ext cx="228600" cy="990600"/>
            </a:xfrm>
            <a:prstGeom prst="leftBrace">
              <a:avLst>
                <a:gd name="adj1" fmla="val 3611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 name="Text Box 50"/>
            <p:cNvSpPr txBox="1">
              <a:spLocks noChangeArrowheads="1"/>
            </p:cNvSpPr>
            <p:nvPr/>
          </p:nvSpPr>
          <p:spPr bwMode="auto">
            <a:xfrm>
              <a:off x="9763806" y="1279735"/>
              <a:ext cx="12065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000" dirty="0"/>
                <a:t>A stopped running.</a:t>
              </a:r>
            </a:p>
          </p:txBody>
        </p:sp>
      </p:grpSp>
      <p:sp>
        <p:nvSpPr>
          <p:cNvPr id="49" name="Text Box 51"/>
          <p:cNvSpPr txBox="1">
            <a:spLocks noChangeArrowheads="1"/>
          </p:cNvSpPr>
          <p:nvPr/>
        </p:nvSpPr>
        <p:spPr bwMode="auto">
          <a:xfrm>
            <a:off x="315912" y="5272087"/>
            <a:ext cx="4267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dirty="0" smtClean="0">
                <a:solidFill>
                  <a:srgbClr val="1D3064"/>
                </a:solidFill>
              </a:rPr>
              <a:t>Persistent </a:t>
            </a:r>
            <a:r>
              <a:rPr lang="en-US" altLang="en-US" sz="2400" b="1" dirty="0">
                <a:solidFill>
                  <a:srgbClr val="1D3064"/>
                </a:solidFill>
              </a:rPr>
              <a:t>asynchronous communication</a:t>
            </a:r>
          </a:p>
        </p:txBody>
      </p:sp>
      <p:sp>
        <p:nvSpPr>
          <p:cNvPr id="50" name="Text Box 52"/>
          <p:cNvSpPr txBox="1">
            <a:spLocks noChangeArrowheads="1"/>
          </p:cNvSpPr>
          <p:nvPr/>
        </p:nvSpPr>
        <p:spPr bwMode="auto">
          <a:xfrm>
            <a:off x="7242856" y="5120183"/>
            <a:ext cx="4038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dirty="0" smtClean="0">
                <a:solidFill>
                  <a:srgbClr val="1D3064"/>
                </a:solidFill>
              </a:rPr>
              <a:t>Persistent </a:t>
            </a:r>
            <a:r>
              <a:rPr lang="en-US" altLang="en-US" sz="2400" b="1" dirty="0">
                <a:solidFill>
                  <a:srgbClr val="1D3064"/>
                </a:solidFill>
              </a:rPr>
              <a:t>synchronous communication</a:t>
            </a:r>
          </a:p>
        </p:txBody>
      </p:sp>
      <p:cxnSp>
        <p:nvCxnSpPr>
          <p:cNvPr id="53" name="Straight Connector 52"/>
          <p:cNvCxnSpPr/>
          <p:nvPr/>
        </p:nvCxnSpPr>
        <p:spPr>
          <a:xfrm>
            <a:off x="4862286" y="986971"/>
            <a:ext cx="0" cy="5116113"/>
          </a:xfrm>
          <a:prstGeom prst="line">
            <a:avLst/>
          </a:prstGeom>
          <a:ln w="25400"/>
        </p:spPr>
        <p:style>
          <a:lnRef idx="1">
            <a:schemeClr val="dk1"/>
          </a:lnRef>
          <a:fillRef idx="0">
            <a:schemeClr val="dk1"/>
          </a:fillRef>
          <a:effectRef idx="0">
            <a:schemeClr val="dk1"/>
          </a:effectRef>
          <a:fontRef idx="minor">
            <a:schemeClr val="tx1"/>
          </a:fontRef>
        </p:style>
      </p:cxnSp>
      <p:grpSp>
        <p:nvGrpSpPr>
          <p:cNvPr id="67" name="Group 66"/>
          <p:cNvGrpSpPr/>
          <p:nvPr/>
        </p:nvGrpSpPr>
        <p:grpSpPr>
          <a:xfrm>
            <a:off x="366712" y="1220212"/>
            <a:ext cx="4279900" cy="3721338"/>
            <a:chOff x="366712" y="1220212"/>
            <a:chExt cx="4279900" cy="3721338"/>
          </a:xfrm>
        </p:grpSpPr>
        <p:grpSp>
          <p:nvGrpSpPr>
            <p:cNvPr id="4" name="Group 3"/>
            <p:cNvGrpSpPr/>
            <p:nvPr/>
          </p:nvGrpSpPr>
          <p:grpSpPr>
            <a:xfrm>
              <a:off x="366712" y="1220212"/>
              <a:ext cx="4279900" cy="3721338"/>
              <a:chOff x="366712" y="1220212"/>
              <a:chExt cx="4279900" cy="3721338"/>
            </a:xfrm>
          </p:grpSpPr>
          <p:sp>
            <p:nvSpPr>
              <p:cNvPr id="5" name="Line 5"/>
              <p:cNvSpPr>
                <a:spLocks noChangeShapeType="1"/>
              </p:cNvSpPr>
              <p:nvPr/>
            </p:nvSpPr>
            <p:spPr bwMode="auto">
              <a:xfrm>
                <a:off x="1090612" y="2262187"/>
                <a:ext cx="1295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6" name="Line 6"/>
              <p:cNvSpPr>
                <a:spLocks noChangeShapeType="1"/>
              </p:cNvSpPr>
              <p:nvPr/>
            </p:nvSpPr>
            <p:spPr bwMode="auto">
              <a:xfrm>
                <a:off x="2386012" y="2262187"/>
                <a:ext cx="10668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8" name="Oval 8"/>
              <p:cNvSpPr>
                <a:spLocks noChangeArrowheads="1"/>
              </p:cNvSpPr>
              <p:nvPr/>
            </p:nvSpPr>
            <p:spPr bwMode="auto">
              <a:xfrm>
                <a:off x="1471612" y="2185987"/>
                <a:ext cx="152400" cy="152400"/>
              </a:xfrm>
              <a:prstGeom prst="ellipse">
                <a:avLst/>
              </a:prstGeom>
              <a:solidFill>
                <a:schemeClr val="bg1"/>
              </a:solidFill>
              <a:ln w="9525">
                <a:solidFill>
                  <a:schemeClr val="tx1"/>
                </a:solidFill>
                <a:round/>
                <a:headEnd/>
                <a:tailEnd/>
              </a:ln>
              <a:effectLst/>
            </p:spPr>
            <p:txBody>
              <a:bodyPr wrap="none" anchor="ctr"/>
              <a:lstStyle/>
              <a:p>
                <a:endParaRPr lang="en-IN" sz="2000"/>
              </a:p>
            </p:txBody>
          </p:sp>
          <p:sp>
            <p:nvSpPr>
              <p:cNvPr id="9" name="Line 11"/>
              <p:cNvSpPr>
                <a:spLocks noChangeShapeType="1"/>
              </p:cNvSpPr>
              <p:nvPr/>
            </p:nvSpPr>
            <p:spPr bwMode="auto">
              <a:xfrm>
                <a:off x="1243012" y="3646487"/>
                <a:ext cx="10668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10" name="Line 12"/>
              <p:cNvSpPr>
                <a:spLocks noChangeShapeType="1"/>
              </p:cNvSpPr>
              <p:nvPr/>
            </p:nvSpPr>
            <p:spPr bwMode="auto">
              <a:xfrm>
                <a:off x="2513012" y="3646487"/>
                <a:ext cx="1295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11" name="Oval 13"/>
              <p:cNvSpPr>
                <a:spLocks noChangeArrowheads="1"/>
              </p:cNvSpPr>
              <p:nvPr/>
            </p:nvSpPr>
            <p:spPr bwMode="auto">
              <a:xfrm>
                <a:off x="2347912" y="3608387"/>
                <a:ext cx="152400" cy="152400"/>
              </a:xfrm>
              <a:prstGeom prst="ellipse">
                <a:avLst/>
              </a:prstGeom>
              <a:solidFill>
                <a:schemeClr val="bg1"/>
              </a:solidFill>
              <a:ln w="9525">
                <a:solidFill>
                  <a:schemeClr val="tx1"/>
                </a:solidFill>
                <a:round/>
                <a:headEnd/>
                <a:tailEnd/>
              </a:ln>
              <a:effectLst/>
            </p:spPr>
            <p:txBody>
              <a:bodyPr wrap="none" anchor="ctr"/>
              <a:lstStyle/>
              <a:p>
                <a:endParaRPr lang="en-IN" sz="2000"/>
              </a:p>
            </p:txBody>
          </p:sp>
          <p:sp>
            <p:nvSpPr>
              <p:cNvPr id="23" name="Text Box 25"/>
              <p:cNvSpPr txBox="1">
                <a:spLocks noChangeArrowheads="1"/>
              </p:cNvSpPr>
              <p:nvPr/>
            </p:nvSpPr>
            <p:spPr bwMode="auto">
              <a:xfrm>
                <a:off x="671512" y="2023566"/>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dirty="0">
                    <a:solidFill>
                      <a:schemeClr val="accent6"/>
                    </a:solidFill>
                  </a:rPr>
                  <a:t>A</a:t>
                </a:r>
              </a:p>
            </p:txBody>
          </p:sp>
          <p:sp>
            <p:nvSpPr>
              <p:cNvPr id="26" name="Text Box 28"/>
              <p:cNvSpPr txBox="1">
                <a:spLocks noChangeArrowheads="1"/>
              </p:cNvSpPr>
              <p:nvPr/>
            </p:nvSpPr>
            <p:spPr bwMode="auto">
              <a:xfrm>
                <a:off x="811212" y="3479154"/>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dirty="0">
                    <a:solidFill>
                      <a:schemeClr val="accent6"/>
                    </a:solidFill>
                  </a:rPr>
                  <a:t>B</a:t>
                </a:r>
              </a:p>
            </p:txBody>
          </p:sp>
          <p:sp>
            <p:nvSpPr>
              <p:cNvPr id="27" name="Text Box 29"/>
              <p:cNvSpPr txBox="1">
                <a:spLocks noChangeArrowheads="1"/>
              </p:cNvSpPr>
              <p:nvPr/>
            </p:nvSpPr>
            <p:spPr bwMode="auto">
              <a:xfrm>
                <a:off x="3148012" y="2925901"/>
                <a:ext cx="1498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Time</a:t>
                </a:r>
                <a:br>
                  <a:rPr lang="en-US" altLang="en-US" sz="2000" dirty="0"/>
                </a:br>
                <a:r>
                  <a:rPr lang="en-US" altLang="en-US" sz="2000" dirty="0" smtClean="0">
                    <a:sym typeface="Wingdings" panose="05000000000000000000" pitchFamily="2" charset="2"/>
                  </a:rPr>
                  <a:t></a:t>
                </a:r>
                <a:endParaRPr lang="en-US" altLang="en-US" sz="2000" dirty="0"/>
              </a:p>
            </p:txBody>
          </p:sp>
          <p:sp>
            <p:nvSpPr>
              <p:cNvPr id="29" name="Text Box 31"/>
              <p:cNvSpPr txBox="1">
                <a:spLocks noChangeArrowheads="1"/>
              </p:cNvSpPr>
              <p:nvPr/>
            </p:nvSpPr>
            <p:spPr bwMode="auto">
              <a:xfrm>
                <a:off x="366712" y="1220212"/>
                <a:ext cx="228940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A sends message and continues.</a:t>
                </a:r>
              </a:p>
            </p:txBody>
          </p:sp>
          <p:sp>
            <p:nvSpPr>
              <p:cNvPr id="30" name="Line 32"/>
              <p:cNvSpPr>
                <a:spLocks noChangeShapeType="1"/>
              </p:cNvSpPr>
              <p:nvPr/>
            </p:nvSpPr>
            <p:spPr bwMode="auto">
              <a:xfrm>
                <a:off x="1243012" y="1881187"/>
                <a:ext cx="2286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31" name="AutoShape 33"/>
              <p:cNvSpPr>
                <a:spLocks/>
              </p:cNvSpPr>
              <p:nvPr/>
            </p:nvSpPr>
            <p:spPr bwMode="auto">
              <a:xfrm rot="5400000" flipV="1">
                <a:off x="2805112" y="1614487"/>
                <a:ext cx="228600" cy="914400"/>
              </a:xfrm>
              <a:prstGeom prst="leftBrace">
                <a:avLst>
                  <a:gd name="adj1" fmla="val 3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32" name="Text Box 34"/>
              <p:cNvSpPr txBox="1">
                <a:spLocks noChangeArrowheads="1"/>
              </p:cNvSpPr>
              <p:nvPr/>
            </p:nvSpPr>
            <p:spPr bwMode="auto">
              <a:xfrm>
                <a:off x="2578326" y="1223263"/>
                <a:ext cx="12065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000" dirty="0"/>
                  <a:t>A stopped running.</a:t>
                </a:r>
              </a:p>
            </p:txBody>
          </p:sp>
          <p:sp>
            <p:nvSpPr>
              <p:cNvPr id="33" name="Text Box 35"/>
              <p:cNvSpPr txBox="1">
                <a:spLocks noChangeArrowheads="1"/>
              </p:cNvSpPr>
              <p:nvPr/>
            </p:nvSpPr>
            <p:spPr bwMode="auto">
              <a:xfrm>
                <a:off x="1014412" y="3913187"/>
                <a:ext cx="1143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B is not running</a:t>
                </a:r>
              </a:p>
            </p:txBody>
          </p:sp>
          <p:sp>
            <p:nvSpPr>
              <p:cNvPr id="34" name="Text Box 36"/>
              <p:cNvSpPr txBox="1">
                <a:spLocks noChangeArrowheads="1"/>
              </p:cNvSpPr>
              <p:nvPr/>
            </p:nvSpPr>
            <p:spPr bwMode="auto">
              <a:xfrm>
                <a:off x="2462211" y="3925887"/>
                <a:ext cx="174693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B starts and receives message.</a:t>
                </a:r>
              </a:p>
            </p:txBody>
          </p:sp>
          <p:sp>
            <p:nvSpPr>
              <p:cNvPr id="38" name="AutoShape 40"/>
              <p:cNvSpPr>
                <a:spLocks/>
              </p:cNvSpPr>
              <p:nvPr/>
            </p:nvSpPr>
            <p:spPr bwMode="auto">
              <a:xfrm rot="16200000" flipV="1">
                <a:off x="1624012" y="3252787"/>
                <a:ext cx="228600" cy="990600"/>
              </a:xfrm>
              <a:prstGeom prst="leftBrace">
                <a:avLst>
                  <a:gd name="adj1" fmla="val 3611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42" name="Line 44"/>
              <p:cNvSpPr>
                <a:spLocks noChangeShapeType="1"/>
              </p:cNvSpPr>
              <p:nvPr/>
            </p:nvSpPr>
            <p:spPr bwMode="auto">
              <a:xfrm flipH="1" flipV="1">
                <a:off x="2538412" y="3709987"/>
                <a:ext cx="2286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cxnSp>
            <p:nvCxnSpPr>
              <p:cNvPr id="7" name="AutoShape 7"/>
              <p:cNvCxnSpPr>
                <a:cxnSpLocks noChangeShapeType="1"/>
              </p:cNvCxnSpPr>
              <p:nvPr/>
            </p:nvCxnSpPr>
            <p:spPr bwMode="auto">
              <a:xfrm rot="16200000" flipH="1">
                <a:off x="1344612" y="2528887"/>
                <a:ext cx="1295400" cy="914400"/>
              </a:xfrm>
              <a:prstGeom prst="bentConnector3">
                <a:avLst>
                  <a:gd name="adj1" fmla="val 51157"/>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66" name="Picture 65"/>
            <p:cNvPicPr>
              <a:picLocks noChangeAspect="1"/>
            </p:cNvPicPr>
            <p:nvPr/>
          </p:nvPicPr>
          <p:blipFill>
            <a:blip r:embed="rId2"/>
            <a:stretch>
              <a:fillRect/>
            </a:stretch>
          </p:blipFill>
          <p:spPr>
            <a:xfrm>
              <a:off x="1789579" y="2727597"/>
              <a:ext cx="485775" cy="495300"/>
            </a:xfrm>
            <a:prstGeom prst="rect">
              <a:avLst/>
            </a:prstGeom>
          </p:spPr>
        </p:pic>
      </p:grpSp>
    </p:spTree>
    <p:extLst>
      <p:ext uri="{BB962C8B-B14F-4D97-AF65-F5344CB8AC3E}">
        <p14:creationId xmlns:p14="http://schemas.microsoft.com/office/powerpoint/2010/main" val="100677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wipe(up)">
                                      <p:cBhvr>
                                        <p:cTn id="15" dur="500"/>
                                        <p:tgtEl>
                                          <p:spTgt spid="5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Distributed Communications Classifications</a:t>
            </a:r>
          </a:p>
        </p:txBody>
      </p:sp>
      <p:sp>
        <p:nvSpPr>
          <p:cNvPr id="86" name="Text Box 48"/>
          <p:cNvSpPr txBox="1">
            <a:spLocks noChangeArrowheads="1"/>
          </p:cNvSpPr>
          <p:nvPr/>
        </p:nvSpPr>
        <p:spPr bwMode="auto">
          <a:xfrm>
            <a:off x="401637" y="5014913"/>
            <a:ext cx="393813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b="1" dirty="0">
                <a:solidFill>
                  <a:srgbClr val="1D3064"/>
                </a:solidFill>
              </a:rPr>
              <a:t>Transient asynchronous </a:t>
            </a:r>
            <a:r>
              <a:rPr lang="en-US" altLang="en-US" sz="2400" b="1" dirty="0" smtClean="0">
                <a:solidFill>
                  <a:srgbClr val="1D3064"/>
                </a:solidFill>
              </a:rPr>
              <a:t>communication</a:t>
            </a:r>
            <a:endParaRPr lang="en-US" altLang="en-US" sz="2400" b="1" dirty="0">
              <a:solidFill>
                <a:srgbClr val="1D3064"/>
              </a:solidFill>
            </a:endParaRPr>
          </a:p>
        </p:txBody>
      </p:sp>
      <p:sp>
        <p:nvSpPr>
          <p:cNvPr id="87" name="Text Box 49"/>
          <p:cNvSpPr txBox="1">
            <a:spLocks noChangeArrowheads="1"/>
          </p:cNvSpPr>
          <p:nvPr/>
        </p:nvSpPr>
        <p:spPr bwMode="auto">
          <a:xfrm>
            <a:off x="6700837" y="5027613"/>
            <a:ext cx="41558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400" b="1" dirty="0">
                <a:solidFill>
                  <a:srgbClr val="1D3064"/>
                </a:solidFill>
              </a:rPr>
              <a:t>R</a:t>
            </a:r>
            <a:r>
              <a:rPr lang="en-US" altLang="en-US" sz="2400" b="1" dirty="0" smtClean="0">
                <a:solidFill>
                  <a:srgbClr val="1D3064"/>
                </a:solidFill>
              </a:rPr>
              <a:t>eceipt-based </a:t>
            </a:r>
            <a:r>
              <a:rPr lang="en-US" altLang="en-US" sz="2400" b="1" dirty="0">
                <a:solidFill>
                  <a:srgbClr val="1D3064"/>
                </a:solidFill>
              </a:rPr>
              <a:t>synchronous communication</a:t>
            </a:r>
          </a:p>
        </p:txBody>
      </p:sp>
      <p:grpSp>
        <p:nvGrpSpPr>
          <p:cNvPr id="3" name="Group 2"/>
          <p:cNvGrpSpPr/>
          <p:nvPr/>
        </p:nvGrpSpPr>
        <p:grpSpPr>
          <a:xfrm>
            <a:off x="427037" y="921374"/>
            <a:ext cx="4181588" cy="3763002"/>
            <a:chOff x="427037" y="921374"/>
            <a:chExt cx="4181588" cy="3763002"/>
          </a:xfrm>
        </p:grpSpPr>
        <p:sp>
          <p:nvSpPr>
            <p:cNvPr id="51" name="Line 4"/>
            <p:cNvSpPr>
              <a:spLocks noChangeShapeType="1"/>
            </p:cNvSpPr>
            <p:nvPr/>
          </p:nvSpPr>
          <p:spPr bwMode="auto">
            <a:xfrm>
              <a:off x="1176337" y="2005013"/>
              <a:ext cx="1295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52" name="Line 5"/>
            <p:cNvSpPr>
              <a:spLocks noChangeShapeType="1"/>
            </p:cNvSpPr>
            <p:nvPr/>
          </p:nvSpPr>
          <p:spPr bwMode="auto">
            <a:xfrm>
              <a:off x="2471737" y="2005013"/>
              <a:ext cx="10668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53" name="Oval 7"/>
            <p:cNvSpPr>
              <a:spLocks noChangeArrowheads="1"/>
            </p:cNvSpPr>
            <p:nvPr/>
          </p:nvSpPr>
          <p:spPr bwMode="auto">
            <a:xfrm>
              <a:off x="1760537" y="1928813"/>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54" name="Line 8"/>
            <p:cNvSpPr>
              <a:spLocks noChangeShapeType="1"/>
            </p:cNvSpPr>
            <p:nvPr/>
          </p:nvSpPr>
          <p:spPr bwMode="auto">
            <a:xfrm flipV="1">
              <a:off x="1112837" y="3363913"/>
              <a:ext cx="533400" cy="1270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55" name="Line 9"/>
            <p:cNvSpPr>
              <a:spLocks noChangeShapeType="1"/>
            </p:cNvSpPr>
            <p:nvPr/>
          </p:nvSpPr>
          <p:spPr bwMode="auto">
            <a:xfrm>
              <a:off x="1595437" y="3376613"/>
              <a:ext cx="1879600" cy="127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56" name="Oval 10"/>
            <p:cNvSpPr>
              <a:spLocks noChangeArrowheads="1"/>
            </p:cNvSpPr>
            <p:nvPr/>
          </p:nvSpPr>
          <p:spPr bwMode="auto">
            <a:xfrm>
              <a:off x="2319337" y="3300413"/>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68" name="Text Box 22"/>
            <p:cNvSpPr txBox="1">
              <a:spLocks noChangeArrowheads="1"/>
            </p:cNvSpPr>
            <p:nvPr/>
          </p:nvSpPr>
          <p:spPr bwMode="auto">
            <a:xfrm>
              <a:off x="668337" y="1806389"/>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a:solidFill>
                    <a:schemeClr val="accent6"/>
                  </a:solidFill>
                </a:rPr>
                <a:t>A</a:t>
              </a:r>
            </a:p>
          </p:txBody>
        </p:sp>
        <p:sp>
          <p:nvSpPr>
            <p:cNvPr id="71" name="Text Box 25"/>
            <p:cNvSpPr txBox="1">
              <a:spLocks noChangeArrowheads="1"/>
            </p:cNvSpPr>
            <p:nvPr/>
          </p:nvSpPr>
          <p:spPr bwMode="auto">
            <a:xfrm>
              <a:off x="674460" y="3221980"/>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dirty="0">
                  <a:solidFill>
                    <a:schemeClr val="accent6"/>
                  </a:solidFill>
                </a:rPr>
                <a:t>B</a:t>
              </a:r>
            </a:p>
          </p:txBody>
        </p:sp>
        <p:sp>
          <p:nvSpPr>
            <p:cNvPr id="72" name="Text Box 26"/>
            <p:cNvSpPr txBox="1">
              <a:spLocks noChangeArrowheads="1"/>
            </p:cNvSpPr>
            <p:nvPr/>
          </p:nvSpPr>
          <p:spPr bwMode="auto">
            <a:xfrm>
              <a:off x="3247117" y="2726853"/>
              <a:ext cx="12827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a:t>Time</a:t>
              </a:r>
              <a:br>
                <a:rPr lang="en-US" altLang="en-US" sz="2000"/>
              </a:br>
              <a:r>
                <a:rPr lang="en-US" altLang="en-US" sz="2000">
                  <a:sym typeface="Wingdings" panose="05000000000000000000" pitchFamily="2" charset="2"/>
                </a:rPr>
                <a:t></a:t>
              </a:r>
              <a:endParaRPr lang="en-US" altLang="en-US" sz="2000"/>
            </a:p>
          </p:txBody>
        </p:sp>
        <p:sp>
          <p:nvSpPr>
            <p:cNvPr id="74" name="Text Box 28"/>
            <p:cNvSpPr txBox="1">
              <a:spLocks noChangeArrowheads="1"/>
            </p:cNvSpPr>
            <p:nvPr/>
          </p:nvSpPr>
          <p:spPr bwMode="auto">
            <a:xfrm>
              <a:off x="427037" y="921374"/>
              <a:ext cx="21209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A sends message and continues.</a:t>
              </a:r>
            </a:p>
          </p:txBody>
        </p:sp>
        <p:sp>
          <p:nvSpPr>
            <p:cNvPr id="75" name="Line 29"/>
            <p:cNvSpPr>
              <a:spLocks noChangeShapeType="1"/>
            </p:cNvSpPr>
            <p:nvPr/>
          </p:nvSpPr>
          <p:spPr bwMode="auto">
            <a:xfrm>
              <a:off x="1176337" y="1624013"/>
              <a:ext cx="2286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76" name="Text Box 33"/>
            <p:cNvSpPr txBox="1">
              <a:spLocks noChangeArrowheads="1"/>
            </p:cNvSpPr>
            <p:nvPr/>
          </p:nvSpPr>
          <p:spPr bwMode="auto">
            <a:xfrm>
              <a:off x="2547937" y="3668713"/>
              <a:ext cx="12065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000"/>
                <a:t>B receives message.</a:t>
              </a:r>
            </a:p>
          </p:txBody>
        </p:sp>
        <p:sp>
          <p:nvSpPr>
            <p:cNvPr id="82" name="Line 41"/>
            <p:cNvSpPr>
              <a:spLocks noChangeShapeType="1"/>
            </p:cNvSpPr>
            <p:nvPr/>
          </p:nvSpPr>
          <p:spPr bwMode="auto">
            <a:xfrm flipH="1" flipV="1">
              <a:off x="2624137" y="3452813"/>
              <a:ext cx="2286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88" name="Line 50"/>
            <p:cNvSpPr>
              <a:spLocks noChangeShapeType="1"/>
            </p:cNvSpPr>
            <p:nvPr/>
          </p:nvSpPr>
          <p:spPr bwMode="auto">
            <a:xfrm>
              <a:off x="1862137" y="2081213"/>
              <a:ext cx="533400" cy="1219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89" name="Text Box 51"/>
            <p:cNvSpPr txBox="1">
              <a:spLocks noChangeArrowheads="1"/>
            </p:cNvSpPr>
            <p:nvPr/>
          </p:nvSpPr>
          <p:spPr bwMode="auto">
            <a:xfrm>
              <a:off x="2189048" y="2086184"/>
              <a:ext cx="241957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Message can be sent only if B is running.</a:t>
              </a:r>
            </a:p>
          </p:txBody>
        </p:sp>
        <p:sp>
          <p:nvSpPr>
            <p:cNvPr id="90" name="Line 52"/>
            <p:cNvSpPr>
              <a:spLocks noChangeShapeType="1"/>
            </p:cNvSpPr>
            <p:nvPr/>
          </p:nvSpPr>
          <p:spPr bwMode="auto">
            <a:xfrm flipH="1">
              <a:off x="2243137" y="2843213"/>
              <a:ext cx="3048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grpSp>
      <p:grpSp>
        <p:nvGrpSpPr>
          <p:cNvPr id="4" name="Group 3"/>
          <p:cNvGrpSpPr/>
          <p:nvPr/>
        </p:nvGrpSpPr>
        <p:grpSpPr>
          <a:xfrm>
            <a:off x="6434137" y="863599"/>
            <a:ext cx="4699000" cy="3779700"/>
            <a:chOff x="6434137" y="863599"/>
            <a:chExt cx="4699000" cy="3779700"/>
          </a:xfrm>
        </p:grpSpPr>
        <p:sp>
          <p:nvSpPr>
            <p:cNvPr id="57" name="Line 11"/>
            <p:cNvSpPr>
              <a:spLocks noChangeShapeType="1"/>
            </p:cNvSpPr>
            <p:nvPr/>
          </p:nvSpPr>
          <p:spPr bwMode="auto">
            <a:xfrm>
              <a:off x="7005637" y="2005013"/>
              <a:ext cx="1295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58" name="Line 12"/>
            <p:cNvSpPr>
              <a:spLocks noChangeShapeType="1"/>
            </p:cNvSpPr>
            <p:nvPr/>
          </p:nvSpPr>
          <p:spPr bwMode="auto">
            <a:xfrm>
              <a:off x="8326437" y="2005013"/>
              <a:ext cx="5080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59" name="Line 13"/>
            <p:cNvSpPr>
              <a:spLocks noChangeShapeType="1"/>
            </p:cNvSpPr>
            <p:nvPr/>
          </p:nvSpPr>
          <p:spPr bwMode="auto">
            <a:xfrm>
              <a:off x="8758237" y="2005013"/>
              <a:ext cx="13716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60" name="Line 14"/>
            <p:cNvSpPr>
              <a:spLocks noChangeShapeType="1"/>
            </p:cNvSpPr>
            <p:nvPr/>
          </p:nvSpPr>
          <p:spPr bwMode="auto">
            <a:xfrm>
              <a:off x="9901237" y="2005013"/>
              <a:ext cx="7620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61" name="Line 15"/>
            <p:cNvSpPr>
              <a:spLocks noChangeShapeType="1"/>
            </p:cNvSpPr>
            <p:nvPr/>
          </p:nvSpPr>
          <p:spPr bwMode="auto">
            <a:xfrm>
              <a:off x="7081837" y="3452813"/>
              <a:ext cx="27432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62" name="Line 16"/>
            <p:cNvSpPr>
              <a:spLocks noChangeShapeType="1"/>
            </p:cNvSpPr>
            <p:nvPr/>
          </p:nvSpPr>
          <p:spPr bwMode="auto">
            <a:xfrm>
              <a:off x="9596437" y="3452813"/>
              <a:ext cx="11430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63" name="Oval 17"/>
            <p:cNvSpPr>
              <a:spLocks noChangeArrowheads="1"/>
            </p:cNvSpPr>
            <p:nvPr/>
          </p:nvSpPr>
          <p:spPr bwMode="auto">
            <a:xfrm>
              <a:off x="8148637" y="1928813"/>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64" name="Oval 18"/>
            <p:cNvSpPr>
              <a:spLocks noChangeArrowheads="1"/>
            </p:cNvSpPr>
            <p:nvPr/>
          </p:nvSpPr>
          <p:spPr bwMode="auto">
            <a:xfrm>
              <a:off x="8758237" y="1928813"/>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65" name="Oval 19"/>
            <p:cNvSpPr>
              <a:spLocks noChangeArrowheads="1"/>
            </p:cNvSpPr>
            <p:nvPr/>
          </p:nvSpPr>
          <p:spPr bwMode="auto">
            <a:xfrm>
              <a:off x="8529637" y="3376613"/>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66" name="Oval 20"/>
            <p:cNvSpPr>
              <a:spLocks noChangeArrowheads="1"/>
            </p:cNvSpPr>
            <p:nvPr/>
          </p:nvSpPr>
          <p:spPr bwMode="auto">
            <a:xfrm>
              <a:off x="9063037" y="3376613"/>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67" name="Line 21"/>
            <p:cNvSpPr>
              <a:spLocks noChangeShapeType="1"/>
            </p:cNvSpPr>
            <p:nvPr/>
          </p:nvSpPr>
          <p:spPr bwMode="auto">
            <a:xfrm>
              <a:off x="8224837" y="2081213"/>
              <a:ext cx="381000" cy="1295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69" name="Text Box 23"/>
            <p:cNvSpPr txBox="1">
              <a:spLocks noChangeArrowheads="1"/>
            </p:cNvSpPr>
            <p:nvPr/>
          </p:nvSpPr>
          <p:spPr bwMode="auto">
            <a:xfrm>
              <a:off x="6463845" y="3232448"/>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dirty="0">
                  <a:solidFill>
                    <a:schemeClr val="accent6"/>
                  </a:solidFill>
                </a:rPr>
                <a:t>B</a:t>
              </a:r>
            </a:p>
          </p:txBody>
        </p:sp>
        <p:sp>
          <p:nvSpPr>
            <p:cNvPr id="70" name="Text Box 24"/>
            <p:cNvSpPr txBox="1">
              <a:spLocks noChangeArrowheads="1"/>
            </p:cNvSpPr>
            <p:nvPr/>
          </p:nvSpPr>
          <p:spPr bwMode="auto">
            <a:xfrm>
              <a:off x="6463845" y="1796266"/>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dirty="0">
                  <a:solidFill>
                    <a:schemeClr val="accent6"/>
                  </a:solidFill>
                </a:rPr>
                <a:t>A</a:t>
              </a:r>
            </a:p>
          </p:txBody>
        </p:sp>
        <p:sp>
          <p:nvSpPr>
            <p:cNvPr id="73" name="Text Box 27"/>
            <p:cNvSpPr txBox="1">
              <a:spLocks noChangeArrowheads="1"/>
            </p:cNvSpPr>
            <p:nvPr/>
          </p:nvSpPr>
          <p:spPr bwMode="auto">
            <a:xfrm>
              <a:off x="10282237" y="2843213"/>
              <a:ext cx="8509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a:t>Time</a:t>
              </a:r>
              <a:br>
                <a:rPr lang="en-US" altLang="en-US" sz="2000"/>
              </a:br>
              <a:r>
                <a:rPr lang="en-US" altLang="en-US" sz="2000">
                  <a:sym typeface="Wingdings" panose="05000000000000000000" pitchFamily="2" charset="2"/>
                </a:rPr>
                <a:t></a:t>
              </a:r>
              <a:endParaRPr lang="en-US" altLang="en-US" sz="2000"/>
            </a:p>
          </p:txBody>
        </p:sp>
        <p:sp>
          <p:nvSpPr>
            <p:cNvPr id="77" name="Text Box 34"/>
            <p:cNvSpPr txBox="1">
              <a:spLocks noChangeArrowheads="1"/>
            </p:cNvSpPr>
            <p:nvPr/>
          </p:nvSpPr>
          <p:spPr bwMode="auto">
            <a:xfrm>
              <a:off x="6472237" y="2386013"/>
              <a:ext cx="1295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000" dirty="0"/>
                <a:t>Request is received.</a:t>
              </a:r>
            </a:p>
          </p:txBody>
        </p:sp>
        <p:sp>
          <p:nvSpPr>
            <p:cNvPr id="78" name="Line 35"/>
            <p:cNvSpPr>
              <a:spLocks noChangeShapeType="1"/>
            </p:cNvSpPr>
            <p:nvPr/>
          </p:nvSpPr>
          <p:spPr bwMode="auto">
            <a:xfrm>
              <a:off x="7691437" y="2995613"/>
              <a:ext cx="6858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79" name="Line 36"/>
            <p:cNvSpPr>
              <a:spLocks noChangeShapeType="1"/>
            </p:cNvSpPr>
            <p:nvPr/>
          </p:nvSpPr>
          <p:spPr bwMode="auto">
            <a:xfrm flipV="1">
              <a:off x="8605837" y="2081213"/>
              <a:ext cx="228600" cy="1295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80" name="Text Box 38"/>
            <p:cNvSpPr txBox="1">
              <a:spLocks noChangeArrowheads="1"/>
            </p:cNvSpPr>
            <p:nvPr/>
          </p:nvSpPr>
          <p:spPr bwMode="auto">
            <a:xfrm>
              <a:off x="8910637" y="2386013"/>
              <a:ext cx="8382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ACK</a:t>
              </a:r>
            </a:p>
          </p:txBody>
        </p:sp>
        <p:sp>
          <p:nvSpPr>
            <p:cNvPr id="81" name="Text Box 40"/>
            <p:cNvSpPr txBox="1">
              <a:spLocks noChangeArrowheads="1"/>
            </p:cNvSpPr>
            <p:nvPr/>
          </p:nvSpPr>
          <p:spPr bwMode="auto">
            <a:xfrm>
              <a:off x="6521790" y="3935413"/>
              <a:ext cx="249169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B is running but doing something else.</a:t>
              </a:r>
            </a:p>
          </p:txBody>
        </p:sp>
        <p:sp>
          <p:nvSpPr>
            <p:cNvPr id="83" name="Text Box 42"/>
            <p:cNvSpPr txBox="1">
              <a:spLocks noChangeArrowheads="1"/>
            </p:cNvSpPr>
            <p:nvPr/>
          </p:nvSpPr>
          <p:spPr bwMode="auto">
            <a:xfrm>
              <a:off x="9215437" y="3910013"/>
              <a:ext cx="1524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B processes request.</a:t>
              </a:r>
            </a:p>
          </p:txBody>
        </p:sp>
        <p:sp>
          <p:nvSpPr>
            <p:cNvPr id="84" name="Text Box 44"/>
            <p:cNvSpPr txBox="1">
              <a:spLocks noChangeArrowheads="1"/>
            </p:cNvSpPr>
            <p:nvPr/>
          </p:nvSpPr>
          <p:spPr bwMode="auto">
            <a:xfrm>
              <a:off x="6434137" y="863599"/>
              <a:ext cx="26289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A sends message and waits until received.</a:t>
              </a:r>
            </a:p>
          </p:txBody>
        </p:sp>
        <p:sp>
          <p:nvSpPr>
            <p:cNvPr id="85" name="Line 45"/>
            <p:cNvSpPr>
              <a:spLocks noChangeShapeType="1"/>
            </p:cNvSpPr>
            <p:nvPr/>
          </p:nvSpPr>
          <p:spPr bwMode="auto">
            <a:xfrm>
              <a:off x="7767637" y="1700213"/>
              <a:ext cx="4572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91" name="AutoShape 53"/>
            <p:cNvSpPr>
              <a:spLocks/>
            </p:cNvSpPr>
            <p:nvPr/>
          </p:nvSpPr>
          <p:spPr bwMode="auto">
            <a:xfrm rot="16200000" flipV="1">
              <a:off x="8034337" y="2652713"/>
              <a:ext cx="152400" cy="2057400"/>
            </a:xfrm>
            <a:prstGeom prst="leftBrace">
              <a:avLst>
                <a:gd name="adj1" fmla="val 112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92" name="AutoShape 54"/>
            <p:cNvSpPr>
              <a:spLocks/>
            </p:cNvSpPr>
            <p:nvPr/>
          </p:nvSpPr>
          <p:spPr bwMode="auto">
            <a:xfrm rot="16200000" flipV="1">
              <a:off x="9405937" y="3414713"/>
              <a:ext cx="228600" cy="609600"/>
            </a:xfrm>
            <a:prstGeom prst="leftBrace">
              <a:avLst>
                <a:gd name="adj1" fmla="val 2222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grpSp>
      <p:cxnSp>
        <p:nvCxnSpPr>
          <p:cNvPr id="47" name="Straight Connector 46"/>
          <p:cNvCxnSpPr/>
          <p:nvPr/>
        </p:nvCxnSpPr>
        <p:spPr>
          <a:xfrm>
            <a:off x="4862286" y="986971"/>
            <a:ext cx="0" cy="5116113"/>
          </a:xfrm>
          <a:prstGeom prst="line">
            <a:avLst/>
          </a:prstGeom>
          <a:ln w="254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13334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wipe(up)">
                                      <p:cBhvr>
                                        <p:cTn id="15" dur="500"/>
                                        <p:tgtEl>
                                          <p:spTgt spid="4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87"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Distributed Communications Classifications</a:t>
            </a:r>
          </a:p>
        </p:txBody>
      </p:sp>
      <p:sp>
        <p:nvSpPr>
          <p:cNvPr id="116" name="Text Box 48"/>
          <p:cNvSpPr txBox="1">
            <a:spLocks noChangeArrowheads="1"/>
          </p:cNvSpPr>
          <p:nvPr/>
        </p:nvSpPr>
        <p:spPr bwMode="auto">
          <a:xfrm>
            <a:off x="391658" y="5137864"/>
            <a:ext cx="44100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400" b="1" dirty="0" smtClean="0">
                <a:solidFill>
                  <a:srgbClr val="1D3064"/>
                </a:solidFill>
              </a:rPr>
              <a:t>Delivery-based </a:t>
            </a:r>
            <a:r>
              <a:rPr lang="en-US" altLang="en-US" sz="2400" b="1" dirty="0">
                <a:solidFill>
                  <a:srgbClr val="1D3064"/>
                </a:solidFill>
              </a:rPr>
              <a:t>synchronous communication</a:t>
            </a:r>
          </a:p>
        </p:txBody>
      </p:sp>
      <p:sp>
        <p:nvSpPr>
          <p:cNvPr id="117" name="Text Box 49"/>
          <p:cNvSpPr txBox="1">
            <a:spLocks noChangeArrowheads="1"/>
          </p:cNvSpPr>
          <p:nvPr/>
        </p:nvSpPr>
        <p:spPr bwMode="auto">
          <a:xfrm>
            <a:off x="6364741" y="5129074"/>
            <a:ext cx="432026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400" b="1" dirty="0" smtClean="0">
                <a:solidFill>
                  <a:srgbClr val="1D3064"/>
                </a:solidFill>
              </a:rPr>
              <a:t>Response-based </a:t>
            </a:r>
            <a:r>
              <a:rPr lang="en-US" altLang="en-US" sz="2400" b="1" dirty="0">
                <a:solidFill>
                  <a:srgbClr val="1D3064"/>
                </a:solidFill>
              </a:rPr>
              <a:t>synchronous communication</a:t>
            </a:r>
          </a:p>
        </p:txBody>
      </p:sp>
      <p:grpSp>
        <p:nvGrpSpPr>
          <p:cNvPr id="3" name="Group 2"/>
          <p:cNvGrpSpPr/>
          <p:nvPr/>
        </p:nvGrpSpPr>
        <p:grpSpPr>
          <a:xfrm>
            <a:off x="159657" y="1046302"/>
            <a:ext cx="4197577" cy="3485872"/>
            <a:chOff x="159657" y="1046302"/>
            <a:chExt cx="4197577" cy="3485872"/>
          </a:xfrm>
        </p:grpSpPr>
        <p:sp>
          <p:nvSpPr>
            <p:cNvPr id="45" name="Line 4"/>
            <p:cNvSpPr>
              <a:spLocks noChangeShapeType="1"/>
            </p:cNvSpPr>
            <p:nvPr/>
          </p:nvSpPr>
          <p:spPr bwMode="auto">
            <a:xfrm>
              <a:off x="1453696" y="2147888"/>
              <a:ext cx="533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46" name="Line 5"/>
            <p:cNvSpPr>
              <a:spLocks noChangeShapeType="1"/>
            </p:cNvSpPr>
            <p:nvPr/>
          </p:nvSpPr>
          <p:spPr bwMode="auto">
            <a:xfrm>
              <a:off x="1987096" y="2147888"/>
              <a:ext cx="8382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47" name="Oval 7"/>
            <p:cNvSpPr>
              <a:spLocks noChangeArrowheads="1"/>
            </p:cNvSpPr>
            <p:nvPr/>
          </p:nvSpPr>
          <p:spPr bwMode="auto">
            <a:xfrm>
              <a:off x="1834696" y="2071688"/>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48" name="Line 9"/>
            <p:cNvSpPr>
              <a:spLocks noChangeShapeType="1"/>
            </p:cNvSpPr>
            <p:nvPr/>
          </p:nvSpPr>
          <p:spPr bwMode="auto">
            <a:xfrm>
              <a:off x="1453696" y="3519488"/>
              <a:ext cx="18288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49" name="Oval 10"/>
            <p:cNvSpPr>
              <a:spLocks noChangeArrowheads="1"/>
            </p:cNvSpPr>
            <p:nvPr/>
          </p:nvSpPr>
          <p:spPr bwMode="auto">
            <a:xfrm>
              <a:off x="2063296" y="3443288"/>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101" name="Text Box 22"/>
            <p:cNvSpPr txBox="1">
              <a:spLocks noChangeArrowheads="1"/>
            </p:cNvSpPr>
            <p:nvPr/>
          </p:nvSpPr>
          <p:spPr bwMode="auto">
            <a:xfrm>
              <a:off x="1047296" y="1906588"/>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dirty="0">
                  <a:solidFill>
                    <a:schemeClr val="accent6"/>
                  </a:solidFill>
                </a:rPr>
                <a:t>A</a:t>
              </a:r>
            </a:p>
          </p:txBody>
        </p:sp>
        <p:sp>
          <p:nvSpPr>
            <p:cNvPr id="104" name="Text Box 25"/>
            <p:cNvSpPr txBox="1">
              <a:spLocks noChangeArrowheads="1"/>
            </p:cNvSpPr>
            <p:nvPr/>
          </p:nvSpPr>
          <p:spPr bwMode="auto">
            <a:xfrm>
              <a:off x="1047296" y="3284383"/>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dirty="0">
                  <a:solidFill>
                    <a:schemeClr val="accent6"/>
                  </a:solidFill>
                </a:rPr>
                <a:t>B</a:t>
              </a:r>
            </a:p>
          </p:txBody>
        </p:sp>
        <p:sp>
          <p:nvSpPr>
            <p:cNvPr id="105" name="Text Box 26"/>
            <p:cNvSpPr txBox="1">
              <a:spLocks noChangeArrowheads="1"/>
            </p:cNvSpPr>
            <p:nvPr/>
          </p:nvSpPr>
          <p:spPr bwMode="auto">
            <a:xfrm>
              <a:off x="3366634" y="2860745"/>
              <a:ext cx="990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Time</a:t>
              </a:r>
              <a:br>
                <a:rPr lang="en-US" altLang="en-US" sz="2000" dirty="0"/>
              </a:br>
              <a:r>
                <a:rPr lang="en-US" altLang="en-US" sz="2000" dirty="0">
                  <a:sym typeface="Wingdings" panose="05000000000000000000" pitchFamily="2" charset="2"/>
                </a:rPr>
                <a:t></a:t>
              </a:r>
              <a:endParaRPr lang="en-US" altLang="en-US" sz="2000" dirty="0"/>
            </a:p>
          </p:txBody>
        </p:sp>
        <p:sp>
          <p:nvSpPr>
            <p:cNvPr id="107" name="Text Box 28"/>
            <p:cNvSpPr txBox="1">
              <a:spLocks noChangeArrowheads="1"/>
            </p:cNvSpPr>
            <p:nvPr/>
          </p:nvSpPr>
          <p:spPr bwMode="auto">
            <a:xfrm>
              <a:off x="691696" y="1046302"/>
              <a:ext cx="25908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A sends request and waits until accepted.</a:t>
              </a:r>
            </a:p>
          </p:txBody>
        </p:sp>
        <p:sp>
          <p:nvSpPr>
            <p:cNvPr id="108" name="Line 29"/>
            <p:cNvSpPr>
              <a:spLocks noChangeShapeType="1"/>
            </p:cNvSpPr>
            <p:nvPr/>
          </p:nvSpPr>
          <p:spPr bwMode="auto">
            <a:xfrm>
              <a:off x="1606096" y="1766888"/>
              <a:ext cx="2286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109" name="Text Box 32"/>
            <p:cNvSpPr txBox="1">
              <a:spLocks noChangeArrowheads="1"/>
            </p:cNvSpPr>
            <p:nvPr/>
          </p:nvSpPr>
          <p:spPr bwMode="auto">
            <a:xfrm>
              <a:off x="159657" y="3824288"/>
              <a:ext cx="243703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B is running but doing something else.</a:t>
              </a:r>
            </a:p>
          </p:txBody>
        </p:sp>
        <p:sp>
          <p:nvSpPr>
            <p:cNvPr id="110" name="Text Box 33"/>
            <p:cNvSpPr txBox="1">
              <a:spLocks noChangeArrowheads="1"/>
            </p:cNvSpPr>
            <p:nvPr/>
          </p:nvSpPr>
          <p:spPr bwMode="auto">
            <a:xfrm>
              <a:off x="2549978" y="3802202"/>
              <a:ext cx="12065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000" dirty="0"/>
                <a:t>Process request</a:t>
              </a:r>
            </a:p>
          </p:txBody>
        </p:sp>
        <p:sp>
          <p:nvSpPr>
            <p:cNvPr id="118" name="Line 50"/>
            <p:cNvSpPr>
              <a:spLocks noChangeShapeType="1"/>
            </p:cNvSpPr>
            <p:nvPr/>
          </p:nvSpPr>
          <p:spPr bwMode="auto">
            <a:xfrm>
              <a:off x="2901496" y="2173288"/>
              <a:ext cx="914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119" name="Oval 52"/>
            <p:cNvSpPr>
              <a:spLocks noChangeArrowheads="1"/>
            </p:cNvSpPr>
            <p:nvPr/>
          </p:nvSpPr>
          <p:spPr bwMode="auto">
            <a:xfrm>
              <a:off x="2825296" y="2071688"/>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120" name="Oval 53"/>
            <p:cNvSpPr>
              <a:spLocks noChangeArrowheads="1"/>
            </p:cNvSpPr>
            <p:nvPr/>
          </p:nvSpPr>
          <p:spPr bwMode="auto">
            <a:xfrm>
              <a:off x="2507796" y="3443288"/>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121" name="Line 54"/>
            <p:cNvSpPr>
              <a:spLocks noChangeShapeType="1"/>
            </p:cNvSpPr>
            <p:nvPr/>
          </p:nvSpPr>
          <p:spPr bwMode="auto">
            <a:xfrm>
              <a:off x="3282496" y="3519488"/>
              <a:ext cx="5080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122" name="Line 55"/>
            <p:cNvSpPr>
              <a:spLocks noChangeShapeType="1"/>
            </p:cNvSpPr>
            <p:nvPr/>
          </p:nvSpPr>
          <p:spPr bwMode="auto">
            <a:xfrm>
              <a:off x="1910896" y="2224088"/>
              <a:ext cx="228600" cy="1219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123" name="Line 56"/>
            <p:cNvSpPr>
              <a:spLocks noChangeShapeType="1"/>
            </p:cNvSpPr>
            <p:nvPr/>
          </p:nvSpPr>
          <p:spPr bwMode="auto">
            <a:xfrm flipV="1">
              <a:off x="2596696" y="2224088"/>
              <a:ext cx="304800" cy="1219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124" name="Text Box 58"/>
            <p:cNvSpPr txBox="1">
              <a:spLocks noChangeArrowheads="1"/>
            </p:cNvSpPr>
            <p:nvPr/>
          </p:nvSpPr>
          <p:spPr bwMode="auto">
            <a:xfrm>
              <a:off x="539296" y="2528888"/>
              <a:ext cx="13589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a:t>Request is received.</a:t>
              </a:r>
            </a:p>
          </p:txBody>
        </p:sp>
        <p:sp>
          <p:nvSpPr>
            <p:cNvPr id="125" name="Line 59"/>
            <p:cNvSpPr>
              <a:spLocks noChangeShapeType="1"/>
            </p:cNvSpPr>
            <p:nvPr/>
          </p:nvSpPr>
          <p:spPr bwMode="auto">
            <a:xfrm>
              <a:off x="1682296" y="2986088"/>
              <a:ext cx="3810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126" name="Text Box 60"/>
            <p:cNvSpPr txBox="1">
              <a:spLocks noChangeArrowheads="1"/>
            </p:cNvSpPr>
            <p:nvPr/>
          </p:nvSpPr>
          <p:spPr bwMode="auto">
            <a:xfrm>
              <a:off x="2779712" y="2472145"/>
              <a:ext cx="12065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000" dirty="0"/>
                <a:t>Accepted</a:t>
              </a:r>
            </a:p>
          </p:txBody>
        </p:sp>
        <p:sp>
          <p:nvSpPr>
            <p:cNvPr id="127" name="AutoShape 61"/>
            <p:cNvSpPr>
              <a:spLocks/>
            </p:cNvSpPr>
            <p:nvPr/>
          </p:nvSpPr>
          <p:spPr bwMode="auto">
            <a:xfrm rot="16200000" flipV="1">
              <a:off x="1948996" y="3176588"/>
              <a:ext cx="228600" cy="1066800"/>
            </a:xfrm>
            <a:prstGeom prst="leftBrace">
              <a:avLst>
                <a:gd name="adj1" fmla="val 3888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128" name="AutoShape 62"/>
            <p:cNvSpPr>
              <a:spLocks/>
            </p:cNvSpPr>
            <p:nvPr/>
          </p:nvSpPr>
          <p:spPr bwMode="auto">
            <a:xfrm rot="16200000" flipV="1">
              <a:off x="2825296" y="3367088"/>
              <a:ext cx="228600" cy="685800"/>
            </a:xfrm>
            <a:prstGeom prst="leftBrace">
              <a:avLst>
                <a:gd name="adj1" fmla="val 25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grpSp>
      <p:grpSp>
        <p:nvGrpSpPr>
          <p:cNvPr id="4" name="Group 3"/>
          <p:cNvGrpSpPr/>
          <p:nvPr/>
        </p:nvGrpSpPr>
        <p:grpSpPr>
          <a:xfrm>
            <a:off x="5934075" y="1160602"/>
            <a:ext cx="4953000" cy="3739872"/>
            <a:chOff x="5934075" y="1160602"/>
            <a:chExt cx="4953000" cy="3739872"/>
          </a:xfrm>
        </p:grpSpPr>
        <p:sp>
          <p:nvSpPr>
            <p:cNvPr id="50" name="Line 11"/>
            <p:cNvSpPr>
              <a:spLocks noChangeShapeType="1"/>
            </p:cNvSpPr>
            <p:nvPr/>
          </p:nvSpPr>
          <p:spPr bwMode="auto">
            <a:xfrm>
              <a:off x="6848475" y="2287588"/>
              <a:ext cx="6096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93" name="Line 12"/>
            <p:cNvSpPr>
              <a:spLocks noChangeShapeType="1"/>
            </p:cNvSpPr>
            <p:nvPr/>
          </p:nvSpPr>
          <p:spPr bwMode="auto">
            <a:xfrm>
              <a:off x="7534275" y="2287588"/>
              <a:ext cx="23622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94" name="Line 13"/>
            <p:cNvSpPr>
              <a:spLocks noChangeShapeType="1"/>
            </p:cNvSpPr>
            <p:nvPr/>
          </p:nvSpPr>
          <p:spPr bwMode="auto">
            <a:xfrm>
              <a:off x="9972675" y="2287588"/>
              <a:ext cx="914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95" name="Line 15"/>
            <p:cNvSpPr>
              <a:spLocks noChangeShapeType="1"/>
            </p:cNvSpPr>
            <p:nvPr/>
          </p:nvSpPr>
          <p:spPr bwMode="auto">
            <a:xfrm>
              <a:off x="6924675" y="3735388"/>
              <a:ext cx="26670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96" name="Oval 17"/>
            <p:cNvSpPr>
              <a:spLocks noChangeArrowheads="1"/>
            </p:cNvSpPr>
            <p:nvPr/>
          </p:nvSpPr>
          <p:spPr bwMode="auto">
            <a:xfrm>
              <a:off x="7381875" y="2211388"/>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97" name="Oval 18"/>
            <p:cNvSpPr>
              <a:spLocks noChangeArrowheads="1"/>
            </p:cNvSpPr>
            <p:nvPr/>
          </p:nvSpPr>
          <p:spPr bwMode="auto">
            <a:xfrm>
              <a:off x="9896475" y="2211388"/>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98" name="Oval 19"/>
            <p:cNvSpPr>
              <a:spLocks noChangeArrowheads="1"/>
            </p:cNvSpPr>
            <p:nvPr/>
          </p:nvSpPr>
          <p:spPr bwMode="auto">
            <a:xfrm>
              <a:off x="7915275" y="3659188"/>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99" name="Oval 20"/>
            <p:cNvSpPr>
              <a:spLocks noChangeArrowheads="1"/>
            </p:cNvSpPr>
            <p:nvPr/>
          </p:nvSpPr>
          <p:spPr bwMode="auto">
            <a:xfrm>
              <a:off x="9591675" y="3659188"/>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100" name="Line 21"/>
            <p:cNvSpPr>
              <a:spLocks noChangeShapeType="1"/>
            </p:cNvSpPr>
            <p:nvPr/>
          </p:nvSpPr>
          <p:spPr bwMode="auto">
            <a:xfrm>
              <a:off x="7534275" y="2363788"/>
              <a:ext cx="381000" cy="1295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102" name="Text Box 23"/>
            <p:cNvSpPr txBox="1">
              <a:spLocks noChangeArrowheads="1"/>
            </p:cNvSpPr>
            <p:nvPr/>
          </p:nvSpPr>
          <p:spPr bwMode="auto">
            <a:xfrm>
              <a:off x="6403975" y="3529012"/>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dirty="0">
                  <a:solidFill>
                    <a:schemeClr val="accent6"/>
                  </a:solidFill>
                </a:rPr>
                <a:t>B</a:t>
              </a:r>
            </a:p>
          </p:txBody>
        </p:sp>
        <p:sp>
          <p:nvSpPr>
            <p:cNvPr id="103" name="Text Box 24"/>
            <p:cNvSpPr txBox="1">
              <a:spLocks noChangeArrowheads="1"/>
            </p:cNvSpPr>
            <p:nvPr/>
          </p:nvSpPr>
          <p:spPr bwMode="auto">
            <a:xfrm>
              <a:off x="6391275" y="2046080"/>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dirty="0">
                  <a:solidFill>
                    <a:schemeClr val="accent6"/>
                  </a:solidFill>
                </a:rPr>
                <a:t>A</a:t>
              </a:r>
            </a:p>
          </p:txBody>
        </p:sp>
        <p:sp>
          <p:nvSpPr>
            <p:cNvPr id="106" name="Text Box 27"/>
            <p:cNvSpPr txBox="1">
              <a:spLocks noChangeArrowheads="1"/>
            </p:cNvSpPr>
            <p:nvPr/>
          </p:nvSpPr>
          <p:spPr bwMode="auto">
            <a:xfrm>
              <a:off x="10067925" y="3022532"/>
              <a:ext cx="8191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Time</a:t>
              </a:r>
              <a:br>
                <a:rPr lang="en-US" altLang="en-US" sz="2000" dirty="0"/>
              </a:br>
              <a:r>
                <a:rPr lang="en-US" altLang="en-US" sz="2000" dirty="0">
                  <a:sym typeface="Wingdings" panose="05000000000000000000" pitchFamily="2" charset="2"/>
                </a:rPr>
                <a:t></a:t>
              </a:r>
              <a:endParaRPr lang="en-US" altLang="en-US" sz="2000" dirty="0"/>
            </a:p>
          </p:txBody>
        </p:sp>
        <p:sp>
          <p:nvSpPr>
            <p:cNvPr id="111" name="Line 35"/>
            <p:cNvSpPr>
              <a:spLocks noChangeShapeType="1"/>
            </p:cNvSpPr>
            <p:nvPr/>
          </p:nvSpPr>
          <p:spPr bwMode="auto">
            <a:xfrm>
              <a:off x="7115175" y="3341688"/>
              <a:ext cx="6858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112" name="Line 36"/>
            <p:cNvSpPr>
              <a:spLocks noChangeShapeType="1"/>
            </p:cNvSpPr>
            <p:nvPr/>
          </p:nvSpPr>
          <p:spPr bwMode="auto">
            <a:xfrm flipV="1">
              <a:off x="9667875" y="2363788"/>
              <a:ext cx="228600" cy="1295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113" name="Text Box 38"/>
            <p:cNvSpPr txBox="1">
              <a:spLocks noChangeArrowheads="1"/>
            </p:cNvSpPr>
            <p:nvPr/>
          </p:nvSpPr>
          <p:spPr bwMode="auto">
            <a:xfrm>
              <a:off x="8677275" y="2597968"/>
              <a:ext cx="12065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000" dirty="0"/>
                <a:t>Accepted</a:t>
              </a:r>
            </a:p>
          </p:txBody>
        </p:sp>
        <p:sp>
          <p:nvSpPr>
            <p:cNvPr id="114" name="AutoShape 39"/>
            <p:cNvSpPr>
              <a:spLocks/>
            </p:cNvSpPr>
            <p:nvPr/>
          </p:nvSpPr>
          <p:spPr bwMode="auto">
            <a:xfrm rot="16200000" flipV="1">
              <a:off x="7686675" y="3125788"/>
              <a:ext cx="152400" cy="1676400"/>
            </a:xfrm>
            <a:prstGeom prst="leftBrace">
              <a:avLst>
                <a:gd name="adj1" fmla="val 9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115" name="Text Box 44"/>
            <p:cNvSpPr txBox="1">
              <a:spLocks noChangeArrowheads="1"/>
            </p:cNvSpPr>
            <p:nvPr/>
          </p:nvSpPr>
          <p:spPr bwMode="auto">
            <a:xfrm>
              <a:off x="7686675" y="1160602"/>
              <a:ext cx="2184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A sends request and waits for reply.</a:t>
              </a:r>
            </a:p>
          </p:txBody>
        </p:sp>
        <p:sp>
          <p:nvSpPr>
            <p:cNvPr id="129" name="Line 63"/>
            <p:cNvSpPr>
              <a:spLocks noChangeShapeType="1"/>
            </p:cNvSpPr>
            <p:nvPr/>
          </p:nvSpPr>
          <p:spPr bwMode="auto">
            <a:xfrm>
              <a:off x="9794875" y="3735388"/>
              <a:ext cx="8382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a:p>
          </p:txBody>
        </p:sp>
        <p:sp>
          <p:nvSpPr>
            <p:cNvPr id="130" name="Oval 64"/>
            <p:cNvSpPr>
              <a:spLocks noChangeArrowheads="1"/>
            </p:cNvSpPr>
            <p:nvPr/>
          </p:nvSpPr>
          <p:spPr bwMode="auto">
            <a:xfrm>
              <a:off x="8524875" y="3659188"/>
              <a:ext cx="152400" cy="152400"/>
            </a:xfrm>
            <a:prstGeom prst="ellipse">
              <a:avLst/>
            </a:prstGeom>
            <a:solidFill>
              <a:schemeClr val="bg1"/>
            </a:solidFill>
            <a:ln w="9525">
              <a:solidFill>
                <a:schemeClr val="tx1"/>
              </a:solidFill>
              <a:round/>
              <a:headEnd/>
              <a:tailEnd/>
            </a:ln>
            <a:effectLst/>
            <a:extLst/>
          </p:spPr>
          <p:txBody>
            <a:bodyPr wrap="none" anchor="ctr"/>
            <a:lstStyle/>
            <a:p>
              <a:endParaRPr lang="en-IN" sz="2000"/>
            </a:p>
          </p:txBody>
        </p:sp>
        <p:sp>
          <p:nvSpPr>
            <p:cNvPr id="131" name="Line 66"/>
            <p:cNvSpPr>
              <a:spLocks noChangeShapeType="1"/>
            </p:cNvSpPr>
            <p:nvPr/>
          </p:nvSpPr>
          <p:spPr bwMode="auto">
            <a:xfrm flipH="1">
              <a:off x="7534275" y="1906588"/>
              <a:ext cx="3048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132" name="Line 67"/>
            <p:cNvSpPr>
              <a:spLocks noChangeShapeType="1"/>
            </p:cNvSpPr>
            <p:nvPr/>
          </p:nvSpPr>
          <p:spPr bwMode="auto">
            <a:xfrm>
              <a:off x="9515475" y="1906588"/>
              <a:ext cx="381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133" name="Text Box 68"/>
            <p:cNvSpPr txBox="1">
              <a:spLocks noChangeArrowheads="1"/>
            </p:cNvSpPr>
            <p:nvPr/>
          </p:nvSpPr>
          <p:spPr bwMode="auto">
            <a:xfrm>
              <a:off x="6156779" y="2779852"/>
              <a:ext cx="14097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Request is received.</a:t>
              </a:r>
            </a:p>
          </p:txBody>
        </p:sp>
        <p:sp>
          <p:nvSpPr>
            <p:cNvPr id="134" name="Text Box 69"/>
            <p:cNvSpPr txBox="1">
              <a:spLocks noChangeArrowheads="1"/>
            </p:cNvSpPr>
            <p:nvPr/>
          </p:nvSpPr>
          <p:spPr bwMode="auto">
            <a:xfrm>
              <a:off x="5934075" y="4002088"/>
              <a:ext cx="25527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B is running but doing something else.</a:t>
              </a:r>
            </a:p>
          </p:txBody>
        </p:sp>
        <p:sp>
          <p:nvSpPr>
            <p:cNvPr id="135" name="AutoShape 70"/>
            <p:cNvSpPr>
              <a:spLocks/>
            </p:cNvSpPr>
            <p:nvPr/>
          </p:nvSpPr>
          <p:spPr bwMode="auto">
            <a:xfrm rot="16200000" flipV="1">
              <a:off x="9020175" y="3468688"/>
              <a:ext cx="304800" cy="990600"/>
            </a:xfrm>
            <a:prstGeom prst="leftBrace">
              <a:avLst>
                <a:gd name="adj1" fmla="val 2708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p>
          </p:txBody>
        </p:sp>
        <p:sp>
          <p:nvSpPr>
            <p:cNvPr id="136" name="Text Box 71"/>
            <p:cNvSpPr txBox="1">
              <a:spLocks noChangeArrowheads="1"/>
            </p:cNvSpPr>
            <p:nvPr/>
          </p:nvSpPr>
          <p:spPr bwMode="auto">
            <a:xfrm>
              <a:off x="8829674" y="4192588"/>
              <a:ext cx="141741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en-US" sz="2000" dirty="0"/>
                <a:t>Process request</a:t>
              </a:r>
            </a:p>
          </p:txBody>
        </p:sp>
      </p:grpSp>
      <p:cxnSp>
        <p:nvCxnSpPr>
          <p:cNvPr id="55" name="Straight Connector 54"/>
          <p:cNvCxnSpPr/>
          <p:nvPr/>
        </p:nvCxnSpPr>
        <p:spPr>
          <a:xfrm>
            <a:off x="5147099" y="1088431"/>
            <a:ext cx="0" cy="5116113"/>
          </a:xfrm>
          <a:prstGeom prst="line">
            <a:avLst/>
          </a:prstGeom>
          <a:ln w="254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9315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wipe(up)">
                                      <p:cBhvr>
                                        <p:cTn id="15" dur="500"/>
                                        <p:tgtEl>
                                          <p:spTgt spid="5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p:bldP spid="117"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Message Passing</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lvl="0"/>
            <a:r>
              <a:rPr lang="en-US" dirty="0"/>
              <a:t>It refers to means of communication between</a:t>
            </a:r>
          </a:p>
          <a:p>
            <a:pPr lvl="1">
              <a:buFont typeface="Wingdings" panose="05000000000000000000" pitchFamily="2" charset="2"/>
              <a:buChar char="§"/>
            </a:pPr>
            <a:r>
              <a:rPr lang="en-US" sz="2400" dirty="0" smtClean="0"/>
              <a:t>Different </a:t>
            </a:r>
            <a:r>
              <a:rPr lang="en-US" sz="2400" dirty="0"/>
              <a:t>thread with in a process .</a:t>
            </a:r>
          </a:p>
          <a:p>
            <a:pPr lvl="1">
              <a:buFont typeface="Wingdings" panose="05000000000000000000" pitchFamily="2" charset="2"/>
              <a:buChar char="§"/>
            </a:pPr>
            <a:r>
              <a:rPr lang="en-US" sz="2400" dirty="0" smtClean="0"/>
              <a:t>Different </a:t>
            </a:r>
            <a:r>
              <a:rPr lang="en-US" sz="2400" dirty="0"/>
              <a:t>processes running on same node.</a:t>
            </a:r>
          </a:p>
          <a:p>
            <a:pPr lvl="1">
              <a:buFont typeface="Wingdings" panose="05000000000000000000" pitchFamily="2" charset="2"/>
              <a:buChar char="§"/>
            </a:pPr>
            <a:r>
              <a:rPr lang="en-US" sz="2400" dirty="0" smtClean="0"/>
              <a:t>Different </a:t>
            </a:r>
            <a:r>
              <a:rPr lang="en-US" sz="2400" dirty="0"/>
              <a:t>processes running on different node.</a:t>
            </a:r>
          </a:p>
          <a:p>
            <a:pPr lvl="0"/>
            <a:r>
              <a:rPr lang="en-US" dirty="0"/>
              <a:t>In this a sender or a source process send a message to a non receiver or destination process. </a:t>
            </a:r>
            <a:endParaRPr lang="en-US" dirty="0" smtClean="0"/>
          </a:p>
          <a:p>
            <a:pPr lvl="0"/>
            <a:r>
              <a:rPr lang="en-US" dirty="0" smtClean="0"/>
              <a:t>Message </a:t>
            </a:r>
            <a:r>
              <a:rPr lang="en-US" dirty="0"/>
              <a:t>has a predefined structure and message passing uses two system call: Send and </a:t>
            </a:r>
            <a:r>
              <a:rPr lang="en-US" dirty="0" smtClean="0"/>
              <a:t>Receive</a:t>
            </a:r>
          </a:p>
          <a:p>
            <a:pPr lvl="1"/>
            <a:r>
              <a:rPr lang="en-US" sz="2400" dirty="0">
                <a:solidFill>
                  <a:srgbClr val="1D3064"/>
                </a:solidFill>
              </a:rPr>
              <a:t>send(name of destination process, message)</a:t>
            </a:r>
          </a:p>
          <a:p>
            <a:pPr lvl="1"/>
            <a:r>
              <a:rPr lang="en-US" sz="2400" dirty="0">
                <a:solidFill>
                  <a:srgbClr val="1D3064"/>
                </a:solidFill>
              </a:rPr>
              <a:t>receive(name of source process, message)</a:t>
            </a:r>
          </a:p>
          <a:p>
            <a:pPr lvl="0"/>
            <a:r>
              <a:rPr lang="en-US" dirty="0"/>
              <a:t>Mode of communication between two process can take place through two </a:t>
            </a:r>
            <a:r>
              <a:rPr lang="en-US" dirty="0" smtClean="0"/>
              <a:t>methods</a:t>
            </a:r>
          </a:p>
          <a:p>
            <a:pPr marL="914400" lvl="1" indent="-457200">
              <a:buFont typeface="+mj-lt"/>
              <a:buAutoNum type="arabicPeriod"/>
            </a:pPr>
            <a:r>
              <a:rPr lang="en-US" sz="2400" dirty="0"/>
              <a:t>Direct Addressing</a:t>
            </a:r>
          </a:p>
          <a:p>
            <a:pPr marL="914400" lvl="1" indent="-457200">
              <a:buFont typeface="+mj-lt"/>
              <a:buAutoNum type="arabicPeriod"/>
            </a:pPr>
            <a:r>
              <a:rPr lang="en-US" sz="2400" dirty="0"/>
              <a:t>Indirect Addressing</a:t>
            </a:r>
          </a:p>
        </p:txBody>
      </p:sp>
      <p:grpSp>
        <p:nvGrpSpPr>
          <p:cNvPr id="10" name="Group 9"/>
          <p:cNvGrpSpPr/>
          <p:nvPr/>
        </p:nvGrpSpPr>
        <p:grpSpPr>
          <a:xfrm>
            <a:off x="7085119" y="964542"/>
            <a:ext cx="4816372" cy="1459143"/>
            <a:chOff x="7085119" y="964542"/>
            <a:chExt cx="4816372" cy="1459143"/>
          </a:xfrm>
        </p:grpSpPr>
        <p:sp>
          <p:nvSpPr>
            <p:cNvPr id="4" name="Oval 3"/>
            <p:cNvSpPr/>
            <p:nvPr/>
          </p:nvSpPr>
          <p:spPr>
            <a:xfrm>
              <a:off x="7085119" y="1033696"/>
              <a:ext cx="1092958" cy="969818"/>
            </a:xfrm>
            <a:prstGeom prst="ellipse">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P1</a:t>
              </a:r>
            </a:p>
          </p:txBody>
        </p:sp>
        <p:sp>
          <p:nvSpPr>
            <p:cNvPr id="5" name="Oval 4"/>
            <p:cNvSpPr/>
            <p:nvPr/>
          </p:nvSpPr>
          <p:spPr>
            <a:xfrm>
              <a:off x="10630279" y="995829"/>
              <a:ext cx="1092958" cy="969818"/>
            </a:xfrm>
            <a:prstGeom prst="ellipse">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P2</a:t>
              </a:r>
            </a:p>
          </p:txBody>
        </p:sp>
        <p:cxnSp>
          <p:nvCxnSpPr>
            <p:cNvPr id="6" name="Straight Arrow Connector 5"/>
            <p:cNvCxnSpPr>
              <a:cxnSpLocks/>
            </p:cNvCxnSpPr>
            <p:nvPr/>
          </p:nvCxnSpPr>
          <p:spPr>
            <a:xfrm>
              <a:off x="8178077" y="1385888"/>
              <a:ext cx="2452202" cy="0"/>
            </a:xfrm>
            <a:prstGeom prst="straightConnector1">
              <a:avLst/>
            </a:prstGeom>
            <a:ln w="38100">
              <a:solidFill>
                <a:schemeClr val="tx2"/>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cxnSpLocks/>
            </p:cNvCxnSpPr>
            <p:nvPr/>
          </p:nvCxnSpPr>
          <p:spPr>
            <a:xfrm flipH="1">
              <a:off x="8154113" y="1658159"/>
              <a:ext cx="2476166" cy="3401"/>
            </a:xfrm>
            <a:prstGeom prst="straightConnector1">
              <a:avLst/>
            </a:prstGeom>
            <a:ln w="38100">
              <a:solidFill>
                <a:schemeClr val="tx2"/>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9123719" y="964542"/>
              <a:ext cx="723900" cy="377172"/>
            </a:xfrm>
            <a:prstGeom prst="rect">
              <a:avLst/>
            </a:prstGeom>
          </p:spPr>
          <p:txBody>
            <a:bodyPr vert="horz" lIns="91440" tIns="45720" rIns="91440" bIns="45720" rtlCol="0">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IN" sz="2000" dirty="0"/>
                <a:t>Send</a:t>
              </a:r>
            </a:p>
          </p:txBody>
        </p:sp>
        <p:sp>
          <p:nvSpPr>
            <p:cNvPr id="9" name="Content Placeholder 2"/>
            <p:cNvSpPr txBox="1">
              <a:spLocks/>
            </p:cNvSpPr>
            <p:nvPr/>
          </p:nvSpPr>
          <p:spPr>
            <a:xfrm>
              <a:off x="9123719" y="1675572"/>
              <a:ext cx="1028700" cy="377172"/>
            </a:xfrm>
            <a:prstGeom prst="rect">
              <a:avLst/>
            </a:prstGeom>
          </p:spPr>
          <p:txBody>
            <a:bodyPr vert="horz" lIns="91440" tIns="45720" rIns="91440" bIns="45720" rtlCol="0">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IN" sz="2000" dirty="0"/>
                <a:t>Receive</a:t>
              </a:r>
              <a:endParaRPr lang="en-IN" sz="1600" dirty="0"/>
            </a:p>
          </p:txBody>
        </p:sp>
        <p:sp>
          <p:nvSpPr>
            <p:cNvPr id="15" name="Content Placeholder 2"/>
            <p:cNvSpPr txBox="1">
              <a:spLocks/>
            </p:cNvSpPr>
            <p:nvPr/>
          </p:nvSpPr>
          <p:spPr>
            <a:xfrm>
              <a:off x="7228949" y="2046513"/>
              <a:ext cx="986361" cy="377172"/>
            </a:xfrm>
            <a:prstGeom prst="rect">
              <a:avLst/>
            </a:prstGeom>
          </p:spPr>
          <p:txBody>
            <a:bodyPr vert="horz" lIns="91440" tIns="45720" rIns="91440" bIns="45720" rtlCol="0">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IN" sz="2000" b="1" dirty="0" smtClean="0">
                  <a:solidFill>
                    <a:schemeClr val="accent6"/>
                  </a:solidFill>
                </a:rPr>
                <a:t>Sender</a:t>
              </a:r>
              <a:endParaRPr lang="en-IN" sz="2000" b="1" dirty="0">
                <a:solidFill>
                  <a:schemeClr val="accent6"/>
                </a:solidFill>
              </a:endParaRPr>
            </a:p>
          </p:txBody>
        </p:sp>
        <p:sp>
          <p:nvSpPr>
            <p:cNvPr id="16" name="Content Placeholder 2"/>
            <p:cNvSpPr txBox="1">
              <a:spLocks/>
            </p:cNvSpPr>
            <p:nvPr/>
          </p:nvSpPr>
          <p:spPr>
            <a:xfrm>
              <a:off x="10737400" y="2003514"/>
              <a:ext cx="1164091" cy="377172"/>
            </a:xfrm>
            <a:prstGeom prst="rect">
              <a:avLst/>
            </a:prstGeom>
          </p:spPr>
          <p:txBody>
            <a:bodyPr vert="horz" lIns="91440" tIns="45720" rIns="91440" bIns="45720" rtlCol="0">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IN" sz="2000" b="1" dirty="0" smtClean="0">
                  <a:solidFill>
                    <a:schemeClr val="accent6"/>
                  </a:solidFill>
                </a:rPr>
                <a:t>Receiver</a:t>
              </a:r>
              <a:endParaRPr lang="en-IN" sz="1600" b="1" dirty="0">
                <a:solidFill>
                  <a:schemeClr val="accent6"/>
                </a:solidFill>
              </a:endParaRPr>
            </a:p>
          </p:txBody>
        </p:sp>
      </p:grpSp>
    </p:spTree>
    <p:extLst>
      <p:ext uri="{BB962C8B-B14F-4D97-AF65-F5344CB8AC3E}">
        <p14:creationId xmlns:p14="http://schemas.microsoft.com/office/powerpoint/2010/main" val="409891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Client Server Model</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lvl="0"/>
            <a:r>
              <a:rPr lang="en-US" dirty="0"/>
              <a:t>Following are different types of packets transmitted across the network.</a:t>
            </a:r>
          </a:p>
          <a:p>
            <a:pPr lvl="1"/>
            <a:r>
              <a:rPr lang="en-US" sz="2400" b="1" dirty="0">
                <a:solidFill>
                  <a:srgbClr val="1D3064"/>
                </a:solidFill>
              </a:rPr>
              <a:t>REQ</a:t>
            </a:r>
            <a:r>
              <a:rPr lang="en-US" sz="2400" dirty="0">
                <a:solidFill>
                  <a:schemeClr val="tx2"/>
                </a:solidFill>
              </a:rPr>
              <a:t>:</a:t>
            </a:r>
            <a:r>
              <a:rPr lang="en-US" sz="2400" dirty="0"/>
              <a:t> Request packet is used to </a:t>
            </a:r>
            <a:r>
              <a:rPr lang="en-US" sz="2400" dirty="0">
                <a:solidFill>
                  <a:schemeClr val="accent6"/>
                </a:solidFill>
              </a:rPr>
              <a:t>send the request </a:t>
            </a:r>
            <a:r>
              <a:rPr lang="en-US" sz="2400" dirty="0"/>
              <a:t>from the client to the server.</a:t>
            </a:r>
          </a:p>
          <a:p>
            <a:pPr lvl="1"/>
            <a:r>
              <a:rPr lang="en-US" sz="2400" b="1" dirty="0">
                <a:solidFill>
                  <a:srgbClr val="1D3064"/>
                </a:solidFill>
              </a:rPr>
              <a:t>Reply</a:t>
            </a:r>
            <a:r>
              <a:rPr lang="en-US" sz="2400" dirty="0">
                <a:solidFill>
                  <a:schemeClr val="tx2"/>
                </a:solidFill>
              </a:rPr>
              <a:t>:</a:t>
            </a:r>
            <a:r>
              <a:rPr lang="en-US" sz="2400" dirty="0"/>
              <a:t> This message is used to </a:t>
            </a:r>
            <a:r>
              <a:rPr lang="en-US" sz="2400" dirty="0">
                <a:solidFill>
                  <a:schemeClr val="accent6"/>
                </a:solidFill>
              </a:rPr>
              <a:t>carry the result </a:t>
            </a:r>
            <a:r>
              <a:rPr lang="en-US" sz="2400" dirty="0"/>
              <a:t>from the server to the client.</a:t>
            </a:r>
          </a:p>
          <a:p>
            <a:pPr lvl="1"/>
            <a:r>
              <a:rPr lang="en-US" sz="2400" b="1" dirty="0">
                <a:solidFill>
                  <a:srgbClr val="1D3064"/>
                </a:solidFill>
              </a:rPr>
              <a:t>ACK</a:t>
            </a:r>
            <a:r>
              <a:rPr lang="en-US" sz="2400" dirty="0">
                <a:solidFill>
                  <a:schemeClr val="tx2"/>
                </a:solidFill>
              </a:rPr>
              <a:t>:</a:t>
            </a:r>
            <a:r>
              <a:rPr lang="en-US" sz="2400" dirty="0"/>
              <a:t> Acknowledgement packet is used to send the </a:t>
            </a:r>
            <a:r>
              <a:rPr lang="en-US" sz="2400" dirty="0">
                <a:solidFill>
                  <a:schemeClr val="accent6"/>
                </a:solidFill>
              </a:rPr>
              <a:t>correct receipt </a:t>
            </a:r>
            <a:r>
              <a:rPr lang="en-US" sz="2400" dirty="0"/>
              <a:t>of the packet to the sender.</a:t>
            </a:r>
          </a:p>
          <a:p>
            <a:pPr lvl="1"/>
            <a:r>
              <a:rPr lang="en-US" sz="2400" b="1" dirty="0">
                <a:solidFill>
                  <a:srgbClr val="1D3064"/>
                </a:solidFill>
              </a:rPr>
              <a:t>Are You Alive (AYA)?</a:t>
            </a:r>
            <a:r>
              <a:rPr lang="en-US" sz="2400" b="1" dirty="0">
                <a:solidFill>
                  <a:schemeClr val="tx2"/>
                </a:solidFill>
              </a:rPr>
              <a:t>: </a:t>
            </a:r>
            <a:r>
              <a:rPr lang="en-US" sz="2400" dirty="0"/>
              <a:t>This packet is sent in case the server takes a long time to complete the client's request.</a:t>
            </a:r>
          </a:p>
          <a:p>
            <a:pPr lvl="1"/>
            <a:r>
              <a:rPr lang="en-US" sz="2400" b="1" dirty="0">
                <a:solidFill>
                  <a:srgbClr val="1D3064"/>
                </a:solidFill>
              </a:rPr>
              <a:t>I am Alive (IAA)</a:t>
            </a:r>
            <a:r>
              <a:rPr lang="en-US" sz="2400" dirty="0">
                <a:solidFill>
                  <a:schemeClr val="tx2"/>
                </a:solidFill>
              </a:rPr>
              <a:t>: </a:t>
            </a:r>
            <a:r>
              <a:rPr lang="en-US" sz="2400" dirty="0"/>
              <a:t>The server, if active, replies with this packet</a:t>
            </a:r>
            <a:r>
              <a:rPr lang="en-US" sz="2400" dirty="0" smtClean="0"/>
              <a:t>.</a:t>
            </a:r>
            <a:endParaRPr lang="en-US" sz="2400" dirty="0"/>
          </a:p>
        </p:txBody>
      </p:sp>
    </p:spTree>
    <p:extLst>
      <p:ext uri="{BB962C8B-B14F-4D97-AF65-F5344CB8AC3E}">
        <p14:creationId xmlns:p14="http://schemas.microsoft.com/office/powerpoint/2010/main" val="3875596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Client Server Model Interaction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6641095" cy="5590565"/>
          </a:xfrm>
        </p:spPr>
        <p:txBody>
          <a:bodyPr/>
          <a:lstStyle/>
          <a:p>
            <a:r>
              <a:rPr lang="en-US" dirty="0"/>
              <a:t>Two processes in client-server model can interact in various ways:</a:t>
            </a:r>
          </a:p>
          <a:p>
            <a:pPr lvl="1"/>
            <a:r>
              <a:rPr lang="en-US" sz="2400" dirty="0"/>
              <a:t>Sockets</a:t>
            </a:r>
          </a:p>
          <a:p>
            <a:pPr lvl="1"/>
            <a:r>
              <a:rPr lang="en-US" sz="2400" dirty="0"/>
              <a:t>Remote Procedure Calls (RPC</a:t>
            </a:r>
            <a:r>
              <a:rPr lang="en-US" sz="2400" dirty="0" smtClean="0"/>
              <a:t>)</a:t>
            </a:r>
            <a:endParaRPr lang="en-US" sz="2400" dirty="0"/>
          </a:p>
          <a:p>
            <a:pPr marL="457200" lvl="1" indent="0">
              <a:buNone/>
            </a:pPr>
            <a:endParaRPr lang="en-US" sz="2400" dirty="0"/>
          </a:p>
          <a:p>
            <a:pPr marL="0" indent="0">
              <a:buNone/>
            </a:pPr>
            <a:r>
              <a:rPr lang="en-US" sz="2800" b="1" dirty="0">
                <a:solidFill>
                  <a:srgbClr val="1D3064"/>
                </a:solidFill>
              </a:rPr>
              <a:t>Socket</a:t>
            </a:r>
          </a:p>
          <a:p>
            <a:r>
              <a:rPr lang="en-US" dirty="0"/>
              <a:t>The process acting as server opens a socket using a well-known port and waits until some client request comes. </a:t>
            </a:r>
          </a:p>
          <a:p>
            <a:r>
              <a:rPr lang="en-US" dirty="0"/>
              <a:t>The second process acting as a client also opens a socket but instead of waiting for an incoming request, the client processes ‘requests first’.</a:t>
            </a:r>
            <a:endParaRPr lang="en-US" b="1" dirty="0"/>
          </a:p>
        </p:txBody>
      </p:sp>
      <p:grpSp>
        <p:nvGrpSpPr>
          <p:cNvPr id="23" name="Group 22"/>
          <p:cNvGrpSpPr/>
          <p:nvPr/>
        </p:nvGrpSpPr>
        <p:grpSpPr>
          <a:xfrm>
            <a:off x="7415212" y="863444"/>
            <a:ext cx="4038600" cy="4953000"/>
            <a:chOff x="7415212" y="863444"/>
            <a:chExt cx="4038600" cy="4953000"/>
          </a:xfrm>
        </p:grpSpPr>
        <p:sp>
          <p:nvSpPr>
            <p:cNvPr id="4" name="Rectangle 3"/>
            <p:cNvSpPr/>
            <p:nvPr/>
          </p:nvSpPr>
          <p:spPr>
            <a:xfrm>
              <a:off x="7415212" y="863444"/>
              <a:ext cx="1905000" cy="457200"/>
            </a:xfrm>
            <a:prstGeom prst="rect">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Server Program</a:t>
              </a:r>
            </a:p>
          </p:txBody>
        </p:sp>
        <p:sp>
          <p:nvSpPr>
            <p:cNvPr id="5" name="Rectangle 4"/>
            <p:cNvSpPr/>
            <p:nvPr/>
          </p:nvSpPr>
          <p:spPr>
            <a:xfrm>
              <a:off x="9548812" y="863444"/>
              <a:ext cx="1905000" cy="457200"/>
            </a:xfrm>
            <a:prstGeom prst="rect">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Client Program</a:t>
              </a:r>
            </a:p>
          </p:txBody>
        </p:sp>
        <p:sp>
          <p:nvSpPr>
            <p:cNvPr id="6" name="Oval 5"/>
            <p:cNvSpPr/>
            <p:nvPr/>
          </p:nvSpPr>
          <p:spPr>
            <a:xfrm>
              <a:off x="7567612" y="1930244"/>
              <a:ext cx="1600200" cy="609600"/>
            </a:xfrm>
            <a:prstGeom prst="ellipse">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Socket</a:t>
              </a:r>
            </a:p>
          </p:txBody>
        </p:sp>
        <p:sp>
          <p:nvSpPr>
            <p:cNvPr id="7" name="Oval 6"/>
            <p:cNvSpPr/>
            <p:nvPr/>
          </p:nvSpPr>
          <p:spPr>
            <a:xfrm>
              <a:off x="9701212" y="1930244"/>
              <a:ext cx="1600200" cy="609600"/>
            </a:xfrm>
            <a:prstGeom prst="ellipse">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Socket</a:t>
              </a:r>
            </a:p>
          </p:txBody>
        </p:sp>
        <p:sp>
          <p:nvSpPr>
            <p:cNvPr id="8" name="Rectangle 7"/>
            <p:cNvSpPr/>
            <p:nvPr/>
          </p:nvSpPr>
          <p:spPr>
            <a:xfrm>
              <a:off x="7415212" y="3055101"/>
              <a:ext cx="1905000" cy="457200"/>
            </a:xfrm>
            <a:prstGeom prst="rect">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Transport</a:t>
              </a:r>
            </a:p>
          </p:txBody>
        </p:sp>
        <p:sp>
          <p:nvSpPr>
            <p:cNvPr id="9" name="Rectangle 8"/>
            <p:cNvSpPr/>
            <p:nvPr/>
          </p:nvSpPr>
          <p:spPr>
            <a:xfrm>
              <a:off x="7415212" y="3682844"/>
              <a:ext cx="1905000" cy="457200"/>
            </a:xfrm>
            <a:prstGeom prst="rect">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Network</a:t>
              </a:r>
            </a:p>
          </p:txBody>
        </p:sp>
        <p:sp>
          <p:nvSpPr>
            <p:cNvPr id="10" name="Rectangle 9"/>
            <p:cNvSpPr/>
            <p:nvPr/>
          </p:nvSpPr>
          <p:spPr>
            <a:xfrm>
              <a:off x="7415212" y="4292444"/>
              <a:ext cx="1905000" cy="457200"/>
            </a:xfrm>
            <a:prstGeom prst="rect">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Data link</a:t>
              </a:r>
            </a:p>
          </p:txBody>
        </p:sp>
        <p:sp>
          <p:nvSpPr>
            <p:cNvPr id="11" name="Rectangle 10"/>
            <p:cNvSpPr/>
            <p:nvPr/>
          </p:nvSpPr>
          <p:spPr>
            <a:xfrm>
              <a:off x="7415212" y="4902044"/>
              <a:ext cx="1905000" cy="457200"/>
            </a:xfrm>
            <a:prstGeom prst="rect">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Physical</a:t>
              </a:r>
            </a:p>
          </p:txBody>
        </p:sp>
        <p:sp>
          <p:nvSpPr>
            <p:cNvPr id="12" name="Rectangle 11"/>
            <p:cNvSpPr/>
            <p:nvPr/>
          </p:nvSpPr>
          <p:spPr>
            <a:xfrm>
              <a:off x="9548812" y="3055101"/>
              <a:ext cx="1905000" cy="457200"/>
            </a:xfrm>
            <a:prstGeom prst="rect">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Transport</a:t>
              </a:r>
            </a:p>
          </p:txBody>
        </p:sp>
        <p:sp>
          <p:nvSpPr>
            <p:cNvPr id="13" name="Rectangle 12"/>
            <p:cNvSpPr/>
            <p:nvPr/>
          </p:nvSpPr>
          <p:spPr>
            <a:xfrm>
              <a:off x="9548812" y="3682844"/>
              <a:ext cx="1905000" cy="457200"/>
            </a:xfrm>
            <a:prstGeom prst="rect">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Network</a:t>
              </a:r>
            </a:p>
          </p:txBody>
        </p:sp>
        <p:sp>
          <p:nvSpPr>
            <p:cNvPr id="14" name="Rectangle 13"/>
            <p:cNvSpPr/>
            <p:nvPr/>
          </p:nvSpPr>
          <p:spPr>
            <a:xfrm>
              <a:off x="9548812" y="4292444"/>
              <a:ext cx="1905000" cy="457200"/>
            </a:xfrm>
            <a:prstGeom prst="rect">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Data link</a:t>
              </a:r>
            </a:p>
          </p:txBody>
        </p:sp>
        <p:sp>
          <p:nvSpPr>
            <p:cNvPr id="15" name="Rectangle 14"/>
            <p:cNvSpPr/>
            <p:nvPr/>
          </p:nvSpPr>
          <p:spPr>
            <a:xfrm>
              <a:off x="9548812" y="4902044"/>
              <a:ext cx="1905000" cy="457200"/>
            </a:xfrm>
            <a:prstGeom prst="rect">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Physical</a:t>
              </a:r>
            </a:p>
          </p:txBody>
        </p:sp>
        <p:cxnSp>
          <p:nvCxnSpPr>
            <p:cNvPr id="16" name="Straight Arrow Connector 15"/>
            <p:cNvCxnSpPr>
              <a:stCxn id="5" idx="2"/>
              <a:endCxn id="7" idx="0"/>
            </p:cNvCxnSpPr>
            <p:nvPr/>
          </p:nvCxnSpPr>
          <p:spPr>
            <a:xfrm>
              <a:off x="10501312" y="1320644"/>
              <a:ext cx="0" cy="609600"/>
            </a:xfrm>
            <a:prstGeom prst="straightConnector1">
              <a:avLst/>
            </a:prstGeom>
            <a:ln w="28575">
              <a:solidFill>
                <a:srgbClr val="1D3064"/>
              </a:solidFill>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7" idx="4"/>
              <a:endCxn id="12" idx="0"/>
            </p:cNvCxnSpPr>
            <p:nvPr/>
          </p:nvCxnSpPr>
          <p:spPr>
            <a:xfrm>
              <a:off x="10501312" y="2539844"/>
              <a:ext cx="0" cy="515257"/>
            </a:xfrm>
            <a:prstGeom prst="straightConnector1">
              <a:avLst/>
            </a:prstGeom>
            <a:ln w="28575">
              <a:solidFill>
                <a:srgbClr val="1D3064"/>
              </a:solidFill>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6" idx="0"/>
              <a:endCxn id="4" idx="2"/>
            </p:cNvCxnSpPr>
            <p:nvPr/>
          </p:nvCxnSpPr>
          <p:spPr>
            <a:xfrm flipV="1">
              <a:off x="8367712" y="1320644"/>
              <a:ext cx="0" cy="609600"/>
            </a:xfrm>
            <a:prstGeom prst="straightConnector1">
              <a:avLst/>
            </a:prstGeom>
            <a:ln w="28575">
              <a:solidFill>
                <a:srgbClr val="1D3064"/>
              </a:solidFill>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8" idx="0"/>
              <a:endCxn id="6" idx="4"/>
            </p:cNvCxnSpPr>
            <p:nvPr/>
          </p:nvCxnSpPr>
          <p:spPr>
            <a:xfrm flipV="1">
              <a:off x="8367712" y="2539844"/>
              <a:ext cx="0" cy="515257"/>
            </a:xfrm>
            <a:prstGeom prst="straightConnector1">
              <a:avLst/>
            </a:prstGeom>
            <a:ln w="28575">
              <a:solidFill>
                <a:srgbClr val="1D3064"/>
              </a:solidFill>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5" idx="2"/>
            </p:cNvCxnSpPr>
            <p:nvPr/>
          </p:nvCxnSpPr>
          <p:spPr>
            <a:xfrm>
              <a:off x="10501312" y="5359244"/>
              <a:ext cx="0" cy="457200"/>
            </a:xfrm>
            <a:prstGeom prst="straightConnector1">
              <a:avLst/>
            </a:prstGeom>
            <a:ln w="28575">
              <a:solidFill>
                <a:srgbClr val="1D3064"/>
              </a:solidFill>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a:endCxn id="11" idx="2"/>
            </p:cNvCxnSpPr>
            <p:nvPr/>
          </p:nvCxnSpPr>
          <p:spPr>
            <a:xfrm flipV="1">
              <a:off x="8367712" y="5359244"/>
              <a:ext cx="0" cy="457200"/>
            </a:xfrm>
            <a:prstGeom prst="straightConnector1">
              <a:avLst/>
            </a:prstGeom>
            <a:ln w="28575">
              <a:solidFill>
                <a:srgbClr val="1D3064"/>
              </a:solidFill>
              <a:tailEnd type="triangle"/>
            </a:ln>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a:off x="8367712" y="5816444"/>
              <a:ext cx="2133600" cy="0"/>
            </a:xfrm>
            <a:prstGeom prst="line">
              <a:avLst/>
            </a:prstGeom>
            <a:ln w="28575">
              <a:solidFill>
                <a:srgbClr val="1D3064"/>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037992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Remote Procedure Call (RPC)</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lvl="0"/>
            <a:r>
              <a:rPr lang="en-US" dirty="0"/>
              <a:t>Low level message passing is based on send and receive primitives</a:t>
            </a:r>
            <a:r>
              <a:rPr lang="en-US" dirty="0" smtClean="0"/>
              <a:t>.</a:t>
            </a:r>
          </a:p>
          <a:p>
            <a:pPr lvl="0"/>
            <a:r>
              <a:rPr lang="en-US" dirty="0" smtClean="0"/>
              <a:t>Remote </a:t>
            </a:r>
            <a:r>
              <a:rPr lang="en-US" dirty="0"/>
              <a:t>Procedure Call (RPC) is a protocol that one program can use to request a service from a program located in another computer on a network without having to understand the network's details. </a:t>
            </a:r>
          </a:p>
          <a:p>
            <a:pPr lvl="0"/>
            <a:r>
              <a:rPr lang="en-US" dirty="0"/>
              <a:t>A procedure call is also sometimes known as a </a:t>
            </a:r>
            <a:r>
              <a:rPr lang="en-US" dirty="0">
                <a:solidFill>
                  <a:schemeClr val="accent6"/>
                </a:solidFill>
              </a:rPr>
              <a:t>function call </a:t>
            </a:r>
            <a:r>
              <a:rPr lang="en-US" dirty="0"/>
              <a:t>or a </a:t>
            </a:r>
            <a:r>
              <a:rPr lang="en-US" dirty="0">
                <a:solidFill>
                  <a:schemeClr val="accent6"/>
                </a:solidFill>
              </a:rPr>
              <a:t>subroutine call</a:t>
            </a:r>
            <a:r>
              <a:rPr lang="en-US" dirty="0"/>
              <a:t>.</a:t>
            </a:r>
          </a:p>
          <a:p>
            <a:pPr lvl="0"/>
            <a:r>
              <a:rPr lang="en-US" dirty="0" smtClean="0"/>
              <a:t>More </a:t>
            </a:r>
            <a:r>
              <a:rPr lang="en-US" dirty="0"/>
              <a:t>sophisticated is allowing programs to </a:t>
            </a:r>
            <a:r>
              <a:rPr lang="en-US" dirty="0" smtClean="0"/>
              <a:t>call procedures </a:t>
            </a:r>
            <a:r>
              <a:rPr lang="en-US" dirty="0"/>
              <a:t>located on other machines</a:t>
            </a:r>
            <a:r>
              <a:rPr lang="en-US" dirty="0" smtClean="0"/>
              <a:t>.</a:t>
            </a:r>
          </a:p>
          <a:p>
            <a:pPr lvl="0"/>
            <a:r>
              <a:rPr lang="en-US" dirty="0"/>
              <a:t>RPC is a request–response protocol, i.e., it follows the </a:t>
            </a:r>
            <a:r>
              <a:rPr lang="en-US" dirty="0">
                <a:solidFill>
                  <a:schemeClr val="accent6"/>
                </a:solidFill>
              </a:rPr>
              <a:t>client-server </a:t>
            </a:r>
            <a:r>
              <a:rPr lang="en-US" dirty="0" smtClean="0">
                <a:solidFill>
                  <a:schemeClr val="accent6"/>
                </a:solidFill>
              </a:rPr>
              <a:t>model</a:t>
            </a:r>
          </a:p>
          <a:p>
            <a:pPr lvl="0"/>
            <a:endParaRPr lang="en-US" dirty="0"/>
          </a:p>
        </p:txBody>
      </p:sp>
      <p:grpSp>
        <p:nvGrpSpPr>
          <p:cNvPr id="6" name="Group 5">
            <a:extLst>
              <a:ext uri="{FF2B5EF4-FFF2-40B4-BE49-F238E27FC236}">
                <a16:creationId xmlns="" xmlns:a16="http://schemas.microsoft.com/office/drawing/2014/main" id="{041DCCD2-BBD1-4943-BF4D-97E238B3D702}"/>
              </a:ext>
            </a:extLst>
          </p:cNvPr>
          <p:cNvGrpSpPr/>
          <p:nvPr/>
        </p:nvGrpSpPr>
        <p:grpSpPr>
          <a:xfrm>
            <a:off x="1674115" y="4031312"/>
            <a:ext cx="5167732" cy="2032838"/>
            <a:chOff x="25774" y="1667635"/>
            <a:chExt cx="5167732" cy="2032838"/>
          </a:xfrm>
        </p:grpSpPr>
        <p:cxnSp>
          <p:nvCxnSpPr>
            <p:cNvPr id="7" name="Straight Connector 6">
              <a:extLst>
                <a:ext uri="{FF2B5EF4-FFF2-40B4-BE49-F238E27FC236}">
                  <a16:creationId xmlns="" xmlns:a16="http://schemas.microsoft.com/office/drawing/2014/main" id="{2C7A6D39-94D8-4FA5-B579-DEB826D65181}"/>
                </a:ext>
              </a:extLst>
            </p:cNvPr>
            <p:cNvCxnSpPr/>
            <p:nvPr/>
          </p:nvCxnSpPr>
          <p:spPr>
            <a:xfrm>
              <a:off x="762000" y="1981200"/>
              <a:ext cx="3810000" cy="1588"/>
            </a:xfrm>
            <a:prstGeom prst="line">
              <a:avLst/>
            </a:prstGeom>
            <a:noFill/>
            <a:ln w="9525" cap="flat" cmpd="sng" algn="ctr">
              <a:solidFill>
                <a:srgbClr val="4F81BD">
                  <a:shade val="95000"/>
                  <a:satMod val="105000"/>
                </a:srgbClr>
              </a:solidFill>
              <a:prstDash val="dash"/>
            </a:ln>
            <a:effectLst/>
          </p:spPr>
        </p:cxnSp>
        <p:cxnSp>
          <p:nvCxnSpPr>
            <p:cNvPr id="8" name="Straight Connector 7">
              <a:extLst>
                <a:ext uri="{FF2B5EF4-FFF2-40B4-BE49-F238E27FC236}">
                  <a16:creationId xmlns="" xmlns:a16="http://schemas.microsoft.com/office/drawing/2014/main" id="{2BE3FFEC-313C-466C-BF41-88B4FE4EF011}"/>
                </a:ext>
              </a:extLst>
            </p:cNvPr>
            <p:cNvCxnSpPr/>
            <p:nvPr/>
          </p:nvCxnSpPr>
          <p:spPr>
            <a:xfrm>
              <a:off x="758667" y="3355008"/>
              <a:ext cx="3810000" cy="1588"/>
            </a:xfrm>
            <a:prstGeom prst="line">
              <a:avLst/>
            </a:prstGeom>
            <a:noFill/>
            <a:ln w="9525" cap="flat" cmpd="sng" algn="ctr">
              <a:solidFill>
                <a:srgbClr val="4F81BD">
                  <a:shade val="95000"/>
                  <a:satMod val="105000"/>
                </a:srgbClr>
              </a:solidFill>
              <a:prstDash val="dash"/>
            </a:ln>
            <a:effectLst/>
          </p:spPr>
        </p:cxnSp>
        <p:sp>
          <p:nvSpPr>
            <p:cNvPr id="9" name="TextBox 8">
              <a:extLst>
                <a:ext uri="{FF2B5EF4-FFF2-40B4-BE49-F238E27FC236}">
                  <a16:creationId xmlns="" xmlns:a16="http://schemas.microsoft.com/office/drawing/2014/main" id="{179DCDCA-1D05-4FE9-AFA2-A15D36826B8D}"/>
                </a:ext>
              </a:extLst>
            </p:cNvPr>
            <p:cNvSpPr txBox="1"/>
            <p:nvPr/>
          </p:nvSpPr>
          <p:spPr>
            <a:xfrm>
              <a:off x="36989" y="1821448"/>
              <a:ext cx="676788"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u="none" strike="noStrike" kern="0" cap="none" spc="0" normalizeH="0" baseline="0" noProof="0" dirty="0">
                  <a:ln>
                    <a:noFill/>
                  </a:ln>
                  <a:solidFill>
                    <a:prstClr val="black"/>
                  </a:solidFill>
                  <a:effectLst/>
                  <a:uLnTx/>
                  <a:uFillTx/>
                  <a:latin typeface="+mj-lt"/>
                  <a:cs typeface="+mn-cs"/>
                </a:rPr>
                <a:t>Client</a:t>
              </a:r>
            </a:p>
          </p:txBody>
        </p:sp>
        <p:sp>
          <p:nvSpPr>
            <p:cNvPr id="10" name="TextBox 9">
              <a:extLst>
                <a:ext uri="{FF2B5EF4-FFF2-40B4-BE49-F238E27FC236}">
                  <a16:creationId xmlns="" xmlns:a16="http://schemas.microsoft.com/office/drawing/2014/main" id="{C9E7FAA9-A59B-4471-A4B4-274A24A70437}"/>
                </a:ext>
              </a:extLst>
            </p:cNvPr>
            <p:cNvSpPr txBox="1"/>
            <p:nvPr/>
          </p:nvSpPr>
          <p:spPr>
            <a:xfrm>
              <a:off x="25774" y="3165405"/>
              <a:ext cx="732893"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u="none" strike="noStrike" kern="0" cap="none" spc="0" normalizeH="0" baseline="0" noProof="0" dirty="0">
                  <a:ln>
                    <a:noFill/>
                  </a:ln>
                  <a:solidFill>
                    <a:prstClr val="black"/>
                  </a:solidFill>
                  <a:effectLst/>
                  <a:uLnTx/>
                  <a:uFillTx/>
                  <a:latin typeface="+mj-lt"/>
                  <a:cs typeface="+mn-cs"/>
                </a:rPr>
                <a:t>Server</a:t>
              </a:r>
            </a:p>
          </p:txBody>
        </p:sp>
        <p:cxnSp>
          <p:nvCxnSpPr>
            <p:cNvPr id="11" name="Straight Connector 10">
              <a:extLst>
                <a:ext uri="{FF2B5EF4-FFF2-40B4-BE49-F238E27FC236}">
                  <a16:creationId xmlns="" xmlns:a16="http://schemas.microsoft.com/office/drawing/2014/main" id="{AD290B8A-86DB-4EB4-BDB2-2597AEBFEFC0}"/>
                </a:ext>
              </a:extLst>
            </p:cNvPr>
            <p:cNvCxnSpPr/>
            <p:nvPr/>
          </p:nvCxnSpPr>
          <p:spPr>
            <a:xfrm>
              <a:off x="1219200" y="1981200"/>
              <a:ext cx="838200" cy="1588"/>
            </a:xfrm>
            <a:prstGeom prst="line">
              <a:avLst/>
            </a:prstGeom>
            <a:noFill/>
            <a:ln w="57150" cap="flat" cmpd="sng" algn="ctr">
              <a:solidFill>
                <a:srgbClr val="4F81BD">
                  <a:shade val="95000"/>
                  <a:satMod val="105000"/>
                </a:srgbClr>
              </a:solidFill>
              <a:prstDash val="solid"/>
            </a:ln>
            <a:effectLst/>
          </p:spPr>
        </p:cxnSp>
        <p:cxnSp>
          <p:nvCxnSpPr>
            <p:cNvPr id="12" name="Straight Connector 11">
              <a:extLst>
                <a:ext uri="{FF2B5EF4-FFF2-40B4-BE49-F238E27FC236}">
                  <a16:creationId xmlns="" xmlns:a16="http://schemas.microsoft.com/office/drawing/2014/main" id="{301D2584-7785-4D5C-96EE-DFF878B1792B}"/>
                </a:ext>
              </a:extLst>
            </p:cNvPr>
            <p:cNvCxnSpPr>
              <a:cxnSpLocks/>
            </p:cNvCxnSpPr>
            <p:nvPr/>
          </p:nvCxnSpPr>
          <p:spPr>
            <a:xfrm>
              <a:off x="2067754" y="2025666"/>
              <a:ext cx="330200" cy="1297920"/>
            </a:xfrm>
            <a:prstGeom prst="line">
              <a:avLst/>
            </a:prstGeom>
            <a:noFill/>
            <a:ln w="28575" cap="flat" cmpd="sng" algn="ctr">
              <a:solidFill>
                <a:srgbClr val="4F81BD">
                  <a:shade val="95000"/>
                  <a:satMod val="105000"/>
                </a:srgbClr>
              </a:solidFill>
              <a:prstDash val="solid"/>
              <a:tailEnd type="stealth" w="med" len="lg"/>
            </a:ln>
            <a:effectLst/>
          </p:spPr>
        </p:cxnSp>
        <p:cxnSp>
          <p:nvCxnSpPr>
            <p:cNvPr id="13" name="Straight Connector 12">
              <a:extLst>
                <a:ext uri="{FF2B5EF4-FFF2-40B4-BE49-F238E27FC236}">
                  <a16:creationId xmlns="" xmlns:a16="http://schemas.microsoft.com/office/drawing/2014/main" id="{16DBEE89-C0F8-480D-824C-E8DBE1EAD98C}"/>
                </a:ext>
              </a:extLst>
            </p:cNvPr>
            <p:cNvCxnSpPr>
              <a:cxnSpLocks/>
            </p:cNvCxnSpPr>
            <p:nvPr/>
          </p:nvCxnSpPr>
          <p:spPr>
            <a:xfrm>
              <a:off x="2399127" y="3368576"/>
              <a:ext cx="663427" cy="2589"/>
            </a:xfrm>
            <a:prstGeom prst="line">
              <a:avLst/>
            </a:prstGeom>
            <a:noFill/>
            <a:ln w="57150" cap="flat" cmpd="sng" algn="ctr">
              <a:solidFill>
                <a:srgbClr val="4F81BD">
                  <a:shade val="95000"/>
                  <a:satMod val="105000"/>
                </a:srgbClr>
              </a:solidFill>
              <a:prstDash val="solid"/>
            </a:ln>
            <a:effectLst/>
          </p:spPr>
        </p:cxnSp>
        <p:cxnSp>
          <p:nvCxnSpPr>
            <p:cNvPr id="14" name="Straight Connector 13">
              <a:extLst>
                <a:ext uri="{FF2B5EF4-FFF2-40B4-BE49-F238E27FC236}">
                  <a16:creationId xmlns="" xmlns:a16="http://schemas.microsoft.com/office/drawing/2014/main" id="{EB30F8F5-DAE2-4683-9C8A-E6C921F9F3E1}"/>
                </a:ext>
              </a:extLst>
            </p:cNvPr>
            <p:cNvCxnSpPr/>
            <p:nvPr/>
          </p:nvCxnSpPr>
          <p:spPr>
            <a:xfrm>
              <a:off x="3352800" y="1981200"/>
              <a:ext cx="762000" cy="1588"/>
            </a:xfrm>
            <a:prstGeom prst="line">
              <a:avLst/>
            </a:prstGeom>
            <a:noFill/>
            <a:ln w="57150" cap="flat" cmpd="sng" algn="ctr">
              <a:solidFill>
                <a:srgbClr val="4F81BD">
                  <a:shade val="95000"/>
                  <a:satMod val="105000"/>
                </a:srgbClr>
              </a:solidFill>
              <a:prstDash val="solid"/>
            </a:ln>
            <a:effectLst/>
          </p:spPr>
        </p:cxnSp>
        <p:sp>
          <p:nvSpPr>
            <p:cNvPr id="15" name="TextBox 14">
              <a:extLst>
                <a:ext uri="{FF2B5EF4-FFF2-40B4-BE49-F238E27FC236}">
                  <a16:creationId xmlns="" xmlns:a16="http://schemas.microsoft.com/office/drawing/2014/main" id="{7778B14D-437D-4452-B060-E7E73A460CCD}"/>
                </a:ext>
              </a:extLst>
            </p:cNvPr>
            <p:cNvSpPr txBox="1"/>
            <p:nvPr/>
          </p:nvSpPr>
          <p:spPr>
            <a:xfrm>
              <a:off x="685800" y="2298562"/>
              <a:ext cx="1066800"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call remote procedure</a:t>
              </a:r>
            </a:p>
          </p:txBody>
        </p:sp>
        <p:cxnSp>
          <p:nvCxnSpPr>
            <p:cNvPr id="16" name="Straight Arrow Connector 15">
              <a:extLst>
                <a:ext uri="{FF2B5EF4-FFF2-40B4-BE49-F238E27FC236}">
                  <a16:creationId xmlns="" xmlns:a16="http://schemas.microsoft.com/office/drawing/2014/main" id="{9B9ED93C-9F5C-45DB-BCEA-AE2378F4C624}"/>
                </a:ext>
              </a:extLst>
            </p:cNvPr>
            <p:cNvCxnSpPr/>
            <p:nvPr/>
          </p:nvCxnSpPr>
          <p:spPr>
            <a:xfrm rot="5400000" flipH="1" flipV="1">
              <a:off x="1638300" y="2095500"/>
              <a:ext cx="381000" cy="304800"/>
            </a:xfrm>
            <a:prstGeom prst="straightConnector1">
              <a:avLst/>
            </a:prstGeom>
            <a:noFill/>
            <a:ln w="9525" cap="flat" cmpd="sng" algn="ctr">
              <a:solidFill>
                <a:sysClr val="windowText" lastClr="000000"/>
              </a:solidFill>
              <a:prstDash val="solid"/>
              <a:tailEnd type="arrow"/>
            </a:ln>
            <a:effectLst/>
          </p:spPr>
        </p:cxnSp>
        <p:sp>
          <p:nvSpPr>
            <p:cNvPr id="17" name="TextBox 16">
              <a:extLst>
                <a:ext uri="{FF2B5EF4-FFF2-40B4-BE49-F238E27FC236}">
                  <a16:creationId xmlns="" xmlns:a16="http://schemas.microsoft.com/office/drawing/2014/main" id="{2DBE0D57-408A-4E78-BCEC-4F98956416D9}"/>
                </a:ext>
              </a:extLst>
            </p:cNvPr>
            <p:cNvSpPr txBox="1"/>
            <p:nvPr/>
          </p:nvSpPr>
          <p:spPr>
            <a:xfrm>
              <a:off x="3715923" y="2189003"/>
              <a:ext cx="867066"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return from call</a:t>
              </a:r>
            </a:p>
          </p:txBody>
        </p:sp>
        <p:cxnSp>
          <p:nvCxnSpPr>
            <p:cNvPr id="18" name="Straight Arrow Connector 17">
              <a:extLst>
                <a:ext uri="{FF2B5EF4-FFF2-40B4-BE49-F238E27FC236}">
                  <a16:creationId xmlns="" xmlns:a16="http://schemas.microsoft.com/office/drawing/2014/main" id="{88F40E58-DDD7-45D6-A02F-B4D350152D89}"/>
                </a:ext>
              </a:extLst>
            </p:cNvPr>
            <p:cNvCxnSpPr/>
            <p:nvPr/>
          </p:nvCxnSpPr>
          <p:spPr>
            <a:xfrm rot="16200000" flipV="1">
              <a:off x="3390900" y="2095500"/>
              <a:ext cx="381000" cy="304800"/>
            </a:xfrm>
            <a:prstGeom prst="straightConnector1">
              <a:avLst/>
            </a:prstGeom>
            <a:noFill/>
            <a:ln w="9525" cap="flat" cmpd="sng" algn="ctr">
              <a:solidFill>
                <a:sysClr val="windowText" lastClr="000000"/>
              </a:solidFill>
              <a:prstDash val="solid"/>
              <a:tailEnd type="arrow"/>
            </a:ln>
            <a:effectLst/>
          </p:spPr>
        </p:cxnSp>
        <p:sp>
          <p:nvSpPr>
            <p:cNvPr id="19" name="TextBox 18">
              <a:extLst>
                <a:ext uri="{FF2B5EF4-FFF2-40B4-BE49-F238E27FC236}">
                  <a16:creationId xmlns="" xmlns:a16="http://schemas.microsoft.com/office/drawing/2014/main" id="{56C905E0-35F6-4F47-9780-B6FD8A3EE0FD}"/>
                </a:ext>
              </a:extLst>
            </p:cNvPr>
            <p:cNvSpPr txBox="1"/>
            <p:nvPr/>
          </p:nvSpPr>
          <p:spPr>
            <a:xfrm>
              <a:off x="2095500" y="1667635"/>
              <a:ext cx="144780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wait for result</a:t>
              </a:r>
            </a:p>
          </p:txBody>
        </p:sp>
        <p:sp>
          <p:nvSpPr>
            <p:cNvPr id="20" name="TextBox 19">
              <a:extLst>
                <a:ext uri="{FF2B5EF4-FFF2-40B4-BE49-F238E27FC236}">
                  <a16:creationId xmlns="" xmlns:a16="http://schemas.microsoft.com/office/drawing/2014/main" id="{209878E8-CBB3-4647-9DC1-277D01E1580C}"/>
                </a:ext>
              </a:extLst>
            </p:cNvPr>
            <p:cNvSpPr txBox="1"/>
            <p:nvPr/>
          </p:nvSpPr>
          <p:spPr>
            <a:xfrm>
              <a:off x="1030026" y="3378678"/>
              <a:ext cx="3313374"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call local procedure and return results</a:t>
              </a:r>
            </a:p>
          </p:txBody>
        </p:sp>
        <p:sp>
          <p:nvSpPr>
            <p:cNvPr id="21" name="TextBox 20">
              <a:extLst>
                <a:ext uri="{FF2B5EF4-FFF2-40B4-BE49-F238E27FC236}">
                  <a16:creationId xmlns="" xmlns:a16="http://schemas.microsoft.com/office/drawing/2014/main" id="{FE14B6B1-6882-405C-BAE4-275986CF9CE5}"/>
                </a:ext>
              </a:extLst>
            </p:cNvPr>
            <p:cNvSpPr txBox="1"/>
            <p:nvPr/>
          </p:nvSpPr>
          <p:spPr>
            <a:xfrm>
              <a:off x="1491180" y="2727402"/>
              <a:ext cx="965324"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400" kern="0" dirty="0">
                  <a:solidFill>
                    <a:prstClr val="black"/>
                  </a:solidFill>
                  <a:latin typeface="+mj-lt"/>
                </a:rPr>
                <a:t>R</a:t>
              </a:r>
              <a:r>
                <a:rPr kumimoji="0" lang="en-US" sz="1400" b="0" u="none" strike="noStrike" kern="0" cap="none" spc="0" normalizeH="0" baseline="0" noProof="0" dirty="0" err="1" smtClean="0">
                  <a:ln>
                    <a:noFill/>
                  </a:ln>
                  <a:solidFill>
                    <a:prstClr val="black"/>
                  </a:solidFill>
                  <a:effectLst/>
                  <a:uLnTx/>
                  <a:uFillTx/>
                  <a:latin typeface="+mj-lt"/>
                </a:rPr>
                <a:t>equest</a:t>
              </a:r>
              <a:endParaRPr kumimoji="0" lang="en-US" sz="1400" b="0" u="none" strike="noStrike" kern="0" cap="none" spc="0" normalizeH="0" baseline="0" noProof="0" dirty="0">
                <a:ln>
                  <a:noFill/>
                </a:ln>
                <a:solidFill>
                  <a:prstClr val="black"/>
                </a:solidFill>
                <a:effectLst/>
                <a:uLnTx/>
                <a:uFillTx/>
                <a:latin typeface="+mj-lt"/>
              </a:endParaRPr>
            </a:p>
          </p:txBody>
        </p:sp>
        <p:sp>
          <p:nvSpPr>
            <p:cNvPr id="22" name="TextBox 21">
              <a:extLst>
                <a:ext uri="{FF2B5EF4-FFF2-40B4-BE49-F238E27FC236}">
                  <a16:creationId xmlns="" xmlns:a16="http://schemas.microsoft.com/office/drawing/2014/main" id="{BC66EF6F-CF76-4D1B-93EF-205EDA957B58}"/>
                </a:ext>
              </a:extLst>
            </p:cNvPr>
            <p:cNvSpPr txBox="1"/>
            <p:nvPr/>
          </p:nvSpPr>
          <p:spPr>
            <a:xfrm>
              <a:off x="3162301" y="2657553"/>
              <a:ext cx="68580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400" kern="0" dirty="0">
                  <a:solidFill>
                    <a:prstClr val="black"/>
                  </a:solidFill>
                  <a:latin typeface="+mj-lt"/>
                </a:rPr>
                <a:t>R</a:t>
              </a:r>
              <a:r>
                <a:rPr kumimoji="0" lang="en-US" sz="1400" b="0" u="none" strike="noStrike" kern="0" cap="none" spc="0" normalizeH="0" baseline="0" noProof="0" dirty="0" err="1" smtClean="0">
                  <a:ln>
                    <a:noFill/>
                  </a:ln>
                  <a:solidFill>
                    <a:prstClr val="black"/>
                  </a:solidFill>
                  <a:effectLst/>
                  <a:uLnTx/>
                  <a:uFillTx/>
                  <a:latin typeface="+mj-lt"/>
                </a:rPr>
                <a:t>eply</a:t>
              </a:r>
              <a:endParaRPr kumimoji="0" lang="en-US" sz="1400" b="0" u="none" strike="noStrike" kern="0" cap="none" spc="0" normalizeH="0" baseline="0" noProof="0" dirty="0">
                <a:ln>
                  <a:noFill/>
                </a:ln>
                <a:solidFill>
                  <a:prstClr val="black"/>
                </a:solidFill>
                <a:effectLst/>
                <a:uLnTx/>
                <a:uFillTx/>
                <a:latin typeface="+mj-lt"/>
              </a:endParaRPr>
            </a:p>
          </p:txBody>
        </p:sp>
        <p:cxnSp>
          <p:nvCxnSpPr>
            <p:cNvPr id="23" name="Straight Arrow Connector 22">
              <a:extLst>
                <a:ext uri="{FF2B5EF4-FFF2-40B4-BE49-F238E27FC236}">
                  <a16:creationId xmlns="" xmlns:a16="http://schemas.microsoft.com/office/drawing/2014/main" id="{3EA25FB7-B526-4D30-BE74-4FB8A60D9336}"/>
                </a:ext>
              </a:extLst>
            </p:cNvPr>
            <p:cNvCxnSpPr/>
            <p:nvPr/>
          </p:nvCxnSpPr>
          <p:spPr>
            <a:xfrm>
              <a:off x="4736306" y="3532566"/>
              <a:ext cx="457200" cy="1588"/>
            </a:xfrm>
            <a:prstGeom prst="straightConnector1">
              <a:avLst/>
            </a:prstGeom>
            <a:noFill/>
            <a:ln w="9525" cap="flat" cmpd="sng" algn="ctr">
              <a:solidFill>
                <a:srgbClr val="4F81BD">
                  <a:shade val="95000"/>
                  <a:satMod val="105000"/>
                </a:srgbClr>
              </a:solidFill>
              <a:prstDash val="solid"/>
              <a:tailEnd type="arrow"/>
            </a:ln>
            <a:effectLst/>
          </p:spPr>
        </p:cxnSp>
        <p:sp>
          <p:nvSpPr>
            <p:cNvPr id="24" name="TextBox 23">
              <a:extLst>
                <a:ext uri="{FF2B5EF4-FFF2-40B4-BE49-F238E27FC236}">
                  <a16:creationId xmlns="" xmlns:a16="http://schemas.microsoft.com/office/drawing/2014/main" id="{92B5B4D7-A53B-4C32-9F14-CB4AC287DFAB}"/>
                </a:ext>
              </a:extLst>
            </p:cNvPr>
            <p:cNvSpPr txBox="1"/>
            <p:nvPr/>
          </p:nvSpPr>
          <p:spPr>
            <a:xfrm>
              <a:off x="4198939" y="3361919"/>
              <a:ext cx="54213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u="none" strike="noStrike" kern="0" cap="none" spc="0" normalizeH="0" baseline="0" noProof="0" dirty="0">
                  <a:ln>
                    <a:noFill/>
                  </a:ln>
                  <a:solidFill>
                    <a:prstClr val="black"/>
                  </a:solidFill>
                  <a:effectLst/>
                  <a:uLnTx/>
                  <a:uFillTx/>
                  <a:latin typeface="+mj-lt"/>
                  <a:cs typeface="+mn-cs"/>
                </a:rPr>
                <a:t>time</a:t>
              </a:r>
            </a:p>
          </p:txBody>
        </p:sp>
        <p:cxnSp>
          <p:nvCxnSpPr>
            <p:cNvPr id="25" name="Straight Connector 24">
              <a:extLst>
                <a:ext uri="{FF2B5EF4-FFF2-40B4-BE49-F238E27FC236}">
                  <a16:creationId xmlns="" xmlns:a16="http://schemas.microsoft.com/office/drawing/2014/main" id="{94BD0BFC-DC1A-4322-A2D6-C8618D6BCD01}"/>
                </a:ext>
              </a:extLst>
            </p:cNvPr>
            <p:cNvCxnSpPr>
              <a:cxnSpLocks/>
            </p:cNvCxnSpPr>
            <p:nvPr/>
          </p:nvCxnSpPr>
          <p:spPr>
            <a:xfrm flipV="1">
              <a:off x="3060384" y="2014571"/>
              <a:ext cx="297178" cy="1320111"/>
            </a:xfrm>
            <a:prstGeom prst="line">
              <a:avLst/>
            </a:prstGeom>
            <a:noFill/>
            <a:ln w="28575" cap="flat" cmpd="sng" algn="ctr">
              <a:solidFill>
                <a:srgbClr val="4F81BD">
                  <a:shade val="95000"/>
                  <a:satMod val="105000"/>
                </a:srgbClr>
              </a:solidFill>
              <a:prstDash val="solid"/>
              <a:tailEnd type="stealth" w="med" len="lg"/>
            </a:ln>
            <a:effectLst/>
          </p:spPr>
        </p:cxnSp>
      </p:grpSp>
    </p:spTree>
    <p:extLst>
      <p:ext uri="{BB962C8B-B14F-4D97-AF65-F5344CB8AC3E}">
        <p14:creationId xmlns:p14="http://schemas.microsoft.com/office/powerpoint/2010/main" val="1863956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RPC Model </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r>
              <a:rPr lang="en-US" dirty="0"/>
              <a:t>It is similar to commonly used procedure call model. It works in the following manner: </a:t>
            </a:r>
          </a:p>
          <a:p>
            <a:pPr marL="914400" lvl="1" indent="-457200">
              <a:buFont typeface="+mj-lt"/>
              <a:buAutoNum type="arabicPeriod"/>
            </a:pPr>
            <a:r>
              <a:rPr lang="en-US" sz="2400" dirty="0"/>
              <a:t>For making a procedure call, the </a:t>
            </a:r>
            <a:r>
              <a:rPr lang="en-US" sz="2400" dirty="0">
                <a:solidFill>
                  <a:schemeClr val="accent6"/>
                </a:solidFill>
              </a:rPr>
              <a:t>caller places arguments </a:t>
            </a:r>
            <a:r>
              <a:rPr lang="en-US" sz="2400" dirty="0"/>
              <a:t>to the procedure in some well specified location. </a:t>
            </a:r>
          </a:p>
          <a:p>
            <a:pPr marL="914400" lvl="1" indent="-457200">
              <a:buFont typeface="+mj-lt"/>
              <a:buAutoNum type="arabicPeriod"/>
            </a:pPr>
            <a:r>
              <a:rPr lang="en-US" sz="2400" dirty="0">
                <a:solidFill>
                  <a:schemeClr val="accent6"/>
                </a:solidFill>
              </a:rPr>
              <a:t>Control is then transferred </a:t>
            </a:r>
            <a:r>
              <a:rPr lang="en-US" sz="2400" dirty="0"/>
              <a:t>to the sequence of instructions that constitutes the body of the procedure. </a:t>
            </a:r>
          </a:p>
          <a:p>
            <a:pPr marL="914400" lvl="1" indent="-457200">
              <a:buFont typeface="+mj-lt"/>
              <a:buAutoNum type="arabicPeriod"/>
            </a:pPr>
            <a:r>
              <a:rPr lang="en-US" sz="2400" dirty="0"/>
              <a:t>The </a:t>
            </a:r>
            <a:r>
              <a:rPr lang="en-US" sz="2400" dirty="0">
                <a:solidFill>
                  <a:schemeClr val="accent6"/>
                </a:solidFill>
              </a:rPr>
              <a:t>procedure body is executed </a:t>
            </a:r>
            <a:r>
              <a:rPr lang="en-US" sz="2400" dirty="0"/>
              <a:t>in a newly created execution environment that includes copies of the arguments given in the calling instruction. </a:t>
            </a:r>
          </a:p>
          <a:p>
            <a:pPr marL="914400" lvl="1" indent="-457200">
              <a:buFont typeface="+mj-lt"/>
              <a:buAutoNum type="arabicPeriod"/>
            </a:pPr>
            <a:r>
              <a:rPr lang="en-US" sz="2400" dirty="0"/>
              <a:t>After the procedure execution is over, </a:t>
            </a:r>
            <a:r>
              <a:rPr lang="en-US" sz="2400" dirty="0">
                <a:solidFill>
                  <a:schemeClr val="accent6"/>
                </a:solidFill>
              </a:rPr>
              <a:t>control returns </a:t>
            </a:r>
            <a:r>
              <a:rPr lang="en-US" sz="2400" dirty="0"/>
              <a:t>to the calling point, returning a result.</a:t>
            </a:r>
            <a:endParaRPr lang="en-IN" sz="2400" dirty="0"/>
          </a:p>
        </p:txBody>
      </p:sp>
    </p:spTree>
    <p:extLst>
      <p:ext uri="{BB962C8B-B14F-4D97-AF65-F5344CB8AC3E}">
        <p14:creationId xmlns:p14="http://schemas.microsoft.com/office/powerpoint/2010/main" val="403698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Conventional Procedure Call</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4883733" cy="5590565"/>
          </a:xfrm>
        </p:spPr>
        <p:txBody>
          <a:bodyPr/>
          <a:lstStyle/>
          <a:p>
            <a:pPr lvl="0"/>
            <a:r>
              <a:rPr lang="en-US" dirty="0"/>
              <a:t>Consider a call in C </a:t>
            </a:r>
            <a:r>
              <a:rPr lang="en-US" dirty="0" smtClean="0"/>
              <a:t>like</a:t>
            </a:r>
          </a:p>
          <a:p>
            <a:pPr lvl="0"/>
            <a:endParaRPr lang="en-US" dirty="0"/>
          </a:p>
          <a:p>
            <a:pPr lvl="0"/>
            <a:r>
              <a:rPr lang="en-US" dirty="0"/>
              <a:t>where</a:t>
            </a:r>
          </a:p>
          <a:p>
            <a:pPr lvl="1"/>
            <a:r>
              <a:rPr lang="en-US" sz="2400" b="1" dirty="0" err="1"/>
              <a:t>fd</a:t>
            </a:r>
            <a:r>
              <a:rPr lang="en-US" sz="2400" dirty="0"/>
              <a:t> is an integer indicating a file</a:t>
            </a:r>
          </a:p>
          <a:p>
            <a:pPr lvl="1"/>
            <a:r>
              <a:rPr lang="en-US" sz="2400" b="1" dirty="0" err="1"/>
              <a:t>buf</a:t>
            </a:r>
            <a:r>
              <a:rPr lang="en-US" sz="2400" dirty="0"/>
              <a:t> is an array of characters into which data are read</a:t>
            </a:r>
          </a:p>
          <a:p>
            <a:pPr lvl="1"/>
            <a:r>
              <a:rPr lang="en-US" sz="2400" b="1" dirty="0" err="1"/>
              <a:t>nbytes</a:t>
            </a:r>
            <a:r>
              <a:rPr lang="en-US" sz="2400" dirty="0"/>
              <a:t> is another integer telling how many bytes to read</a:t>
            </a:r>
          </a:p>
          <a:p>
            <a:pPr lvl="0"/>
            <a:endParaRPr lang="en-US" dirty="0"/>
          </a:p>
        </p:txBody>
      </p:sp>
      <p:sp>
        <p:nvSpPr>
          <p:cNvPr id="5" name="Text Box 48"/>
          <p:cNvSpPr txBox="1">
            <a:spLocks noChangeArrowheads="1"/>
          </p:cNvSpPr>
          <p:nvPr/>
        </p:nvSpPr>
        <p:spPr bwMode="auto">
          <a:xfrm>
            <a:off x="563109" y="1280240"/>
            <a:ext cx="39489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b="1" i="1" dirty="0">
                <a:solidFill>
                  <a:srgbClr val="1D3064"/>
                </a:solidFill>
              </a:rPr>
              <a:t>count </a:t>
            </a:r>
            <a:r>
              <a:rPr lang="en-US" altLang="en-US" sz="2400" b="1" i="1" dirty="0" smtClean="0">
                <a:solidFill>
                  <a:srgbClr val="1D3064"/>
                </a:solidFill>
              </a:rPr>
              <a:t>= read(</a:t>
            </a:r>
            <a:r>
              <a:rPr lang="en-US" altLang="en-US" sz="2400" b="1" i="1" dirty="0" err="1" smtClean="0">
                <a:solidFill>
                  <a:srgbClr val="1D3064"/>
                </a:solidFill>
              </a:rPr>
              <a:t>fd</a:t>
            </a:r>
            <a:r>
              <a:rPr lang="en-US" altLang="en-US" sz="2400" b="1" i="1" dirty="0">
                <a:solidFill>
                  <a:srgbClr val="1D3064"/>
                </a:solidFill>
              </a:rPr>
              <a:t>, </a:t>
            </a:r>
            <a:r>
              <a:rPr lang="en-US" altLang="en-US" sz="2400" b="1" i="1" dirty="0" err="1">
                <a:solidFill>
                  <a:srgbClr val="1D3064"/>
                </a:solidFill>
              </a:rPr>
              <a:t>buf</a:t>
            </a:r>
            <a:r>
              <a:rPr lang="en-US" altLang="en-US" sz="2400" b="1" i="1" dirty="0">
                <a:solidFill>
                  <a:srgbClr val="1D3064"/>
                </a:solidFill>
              </a:rPr>
              <a:t>, </a:t>
            </a:r>
            <a:r>
              <a:rPr lang="en-US" altLang="en-US" sz="2400" b="1" i="1" dirty="0" err="1">
                <a:solidFill>
                  <a:srgbClr val="1D3064"/>
                </a:solidFill>
              </a:rPr>
              <a:t>nbytes</a:t>
            </a:r>
            <a:r>
              <a:rPr lang="en-US" altLang="en-US" sz="2400" b="1" i="1" dirty="0">
                <a:solidFill>
                  <a:srgbClr val="1D3064"/>
                </a:solidFill>
              </a:rPr>
              <a:t>);</a:t>
            </a:r>
          </a:p>
        </p:txBody>
      </p:sp>
      <p:sp>
        <p:nvSpPr>
          <p:cNvPr id="4" name="TextBox 3"/>
          <p:cNvSpPr txBox="1"/>
          <p:nvPr/>
        </p:nvSpPr>
        <p:spPr>
          <a:xfrm>
            <a:off x="5045076" y="5244341"/>
            <a:ext cx="3200400" cy="461665"/>
          </a:xfrm>
          <a:prstGeom prst="rect">
            <a:avLst/>
          </a:prstGeom>
          <a:noFill/>
        </p:spPr>
        <p:txBody>
          <a:bodyPr wrap="square" rtlCol="0">
            <a:spAutoFit/>
          </a:bodyPr>
          <a:lstStyle/>
          <a:p>
            <a:r>
              <a:rPr lang="en-US" sz="2400" dirty="0">
                <a:solidFill>
                  <a:srgbClr val="1D3064"/>
                </a:solidFill>
              </a:rPr>
              <a:t>The stack before the call</a:t>
            </a:r>
            <a:endParaRPr lang="en-IN" sz="2400" dirty="0">
              <a:solidFill>
                <a:srgbClr val="1D3064"/>
              </a:solidFill>
            </a:endParaRPr>
          </a:p>
        </p:txBody>
      </p:sp>
      <p:sp>
        <p:nvSpPr>
          <p:cNvPr id="7" name="TextBox 6"/>
          <p:cNvSpPr txBox="1"/>
          <p:nvPr/>
        </p:nvSpPr>
        <p:spPr>
          <a:xfrm>
            <a:off x="8615492" y="5071546"/>
            <a:ext cx="3386138" cy="830997"/>
          </a:xfrm>
          <a:prstGeom prst="rect">
            <a:avLst/>
          </a:prstGeom>
          <a:noFill/>
        </p:spPr>
        <p:txBody>
          <a:bodyPr wrap="square" rtlCol="0">
            <a:spAutoFit/>
          </a:bodyPr>
          <a:lstStyle/>
          <a:p>
            <a:r>
              <a:rPr lang="en-US" sz="2400" dirty="0">
                <a:solidFill>
                  <a:srgbClr val="1D3064"/>
                </a:solidFill>
              </a:rPr>
              <a:t>The stack while the called procedure </a:t>
            </a:r>
            <a:r>
              <a:rPr lang="en-US" sz="2400" dirty="0" smtClean="0">
                <a:solidFill>
                  <a:srgbClr val="1D3064"/>
                </a:solidFill>
              </a:rPr>
              <a:t>is active</a:t>
            </a:r>
            <a:endParaRPr lang="en-IN" sz="2400" dirty="0">
              <a:solidFill>
                <a:srgbClr val="1D3064"/>
              </a:solidFill>
            </a:endParaRPr>
          </a:p>
        </p:txBody>
      </p:sp>
      <p:grpSp>
        <p:nvGrpSpPr>
          <p:cNvPr id="11" name="Group 10"/>
          <p:cNvGrpSpPr/>
          <p:nvPr/>
        </p:nvGrpSpPr>
        <p:grpSpPr>
          <a:xfrm>
            <a:off x="5322239" y="863444"/>
            <a:ext cx="3671859" cy="4157818"/>
            <a:chOff x="659566" y="1221955"/>
            <a:chExt cx="3671859" cy="4157818"/>
          </a:xfrm>
        </p:grpSpPr>
        <p:grpSp>
          <p:nvGrpSpPr>
            <p:cNvPr id="12" name="Group 11"/>
            <p:cNvGrpSpPr/>
            <p:nvPr/>
          </p:nvGrpSpPr>
          <p:grpSpPr>
            <a:xfrm>
              <a:off x="659566" y="1753849"/>
              <a:ext cx="1753850" cy="3625924"/>
              <a:chOff x="659566" y="1753849"/>
              <a:chExt cx="1753850" cy="3625924"/>
            </a:xfrm>
          </p:grpSpPr>
          <p:sp>
            <p:nvSpPr>
              <p:cNvPr id="17" name="Rectangle 16"/>
              <p:cNvSpPr/>
              <p:nvPr/>
            </p:nvSpPr>
            <p:spPr>
              <a:xfrm>
                <a:off x="659567" y="1753849"/>
                <a:ext cx="1753849" cy="6745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smtClean="0">
                    <a:solidFill>
                      <a:srgbClr val="1D3064"/>
                    </a:solidFill>
                  </a:rPr>
                  <a:t>Main </a:t>
                </a:r>
                <a:r>
                  <a:rPr lang="en-IN" dirty="0" err="1" smtClean="0">
                    <a:solidFill>
                      <a:srgbClr val="1D3064"/>
                    </a:solidFill>
                  </a:rPr>
                  <a:t>programs’s</a:t>
                </a:r>
                <a:endParaRPr lang="en-IN" dirty="0" smtClean="0">
                  <a:solidFill>
                    <a:srgbClr val="1D3064"/>
                  </a:solidFill>
                </a:endParaRPr>
              </a:p>
              <a:p>
                <a:r>
                  <a:rPr lang="en-IN" dirty="0" smtClean="0">
                    <a:solidFill>
                      <a:srgbClr val="1D3064"/>
                    </a:solidFill>
                  </a:rPr>
                  <a:t>Local variables</a:t>
                </a:r>
                <a:endParaRPr lang="en-IN" dirty="0">
                  <a:solidFill>
                    <a:srgbClr val="1D3064"/>
                  </a:solidFill>
                </a:endParaRPr>
              </a:p>
            </p:txBody>
          </p:sp>
          <p:sp>
            <p:nvSpPr>
              <p:cNvPr id="18" name="Rectangle 17"/>
              <p:cNvSpPr/>
              <p:nvPr/>
            </p:nvSpPr>
            <p:spPr>
              <a:xfrm>
                <a:off x="659566" y="2428406"/>
                <a:ext cx="1753849" cy="29513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solidFill>
                    <a:srgbClr val="1D3064"/>
                  </a:solidFill>
                </a:endParaRPr>
              </a:p>
            </p:txBody>
          </p:sp>
        </p:grpSp>
        <p:grpSp>
          <p:nvGrpSpPr>
            <p:cNvPr id="13" name="Group 12"/>
            <p:cNvGrpSpPr/>
            <p:nvPr/>
          </p:nvGrpSpPr>
          <p:grpSpPr>
            <a:xfrm>
              <a:off x="2413416" y="1221955"/>
              <a:ext cx="1918009" cy="1274214"/>
              <a:chOff x="2413416" y="1221955"/>
              <a:chExt cx="1918009" cy="1274214"/>
            </a:xfrm>
          </p:grpSpPr>
          <p:sp>
            <p:nvSpPr>
              <p:cNvPr id="14" name="TextBox 13"/>
              <p:cNvSpPr txBox="1"/>
              <p:nvPr/>
            </p:nvSpPr>
            <p:spPr>
              <a:xfrm>
                <a:off x="2420910" y="1221955"/>
                <a:ext cx="1910515" cy="461665"/>
              </a:xfrm>
              <a:prstGeom prst="rect">
                <a:avLst/>
              </a:prstGeom>
              <a:noFill/>
            </p:spPr>
            <p:txBody>
              <a:bodyPr wrap="square" rtlCol="0">
                <a:spAutoFit/>
              </a:bodyPr>
              <a:lstStyle/>
              <a:p>
                <a:r>
                  <a:rPr lang="en-IN" sz="2400" b="1" dirty="0" smtClean="0"/>
                  <a:t>Stack pointer</a:t>
                </a:r>
                <a:endParaRPr lang="en-IN" sz="2400" b="1" dirty="0"/>
              </a:p>
            </p:txBody>
          </p:sp>
          <p:cxnSp>
            <p:nvCxnSpPr>
              <p:cNvPr id="15" name="Straight Arrow Connector 14"/>
              <p:cNvCxnSpPr/>
              <p:nvPr/>
            </p:nvCxnSpPr>
            <p:spPr>
              <a:xfrm flipH="1">
                <a:off x="2413416" y="2496169"/>
                <a:ext cx="704538"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2878111" y="1576583"/>
                <a:ext cx="239843" cy="8547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9" name="Group 18"/>
          <p:cNvGrpSpPr/>
          <p:nvPr/>
        </p:nvGrpSpPr>
        <p:grpSpPr>
          <a:xfrm>
            <a:off x="8766953" y="1395338"/>
            <a:ext cx="2474160" cy="3625924"/>
            <a:chOff x="3475425" y="1821612"/>
            <a:chExt cx="2474160" cy="3625924"/>
          </a:xfrm>
        </p:grpSpPr>
        <p:grpSp>
          <p:nvGrpSpPr>
            <p:cNvPr id="20" name="Group 19"/>
            <p:cNvGrpSpPr/>
            <p:nvPr/>
          </p:nvGrpSpPr>
          <p:grpSpPr>
            <a:xfrm>
              <a:off x="3475425" y="1821612"/>
              <a:ext cx="1756468" cy="3625924"/>
              <a:chOff x="3037236" y="1753849"/>
              <a:chExt cx="1756468" cy="3625924"/>
            </a:xfrm>
          </p:grpSpPr>
          <p:sp>
            <p:nvSpPr>
              <p:cNvPr id="22" name="Rectangle 21"/>
              <p:cNvSpPr/>
              <p:nvPr/>
            </p:nvSpPr>
            <p:spPr>
              <a:xfrm>
                <a:off x="3037236" y="1753849"/>
                <a:ext cx="1753849" cy="6745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smtClean="0">
                    <a:solidFill>
                      <a:srgbClr val="1D3064"/>
                    </a:solidFill>
                  </a:rPr>
                  <a:t>Main </a:t>
                </a:r>
                <a:r>
                  <a:rPr lang="en-IN" dirty="0" err="1" smtClean="0">
                    <a:solidFill>
                      <a:srgbClr val="1D3064"/>
                    </a:solidFill>
                  </a:rPr>
                  <a:t>programs’s</a:t>
                </a:r>
                <a:endParaRPr lang="en-IN" dirty="0" smtClean="0">
                  <a:solidFill>
                    <a:srgbClr val="1D3064"/>
                  </a:solidFill>
                </a:endParaRPr>
              </a:p>
              <a:p>
                <a:r>
                  <a:rPr lang="en-IN" dirty="0" smtClean="0">
                    <a:solidFill>
                      <a:srgbClr val="1D3064"/>
                    </a:solidFill>
                  </a:rPr>
                  <a:t>Local variables</a:t>
                </a:r>
                <a:endParaRPr lang="en-IN" dirty="0">
                  <a:solidFill>
                    <a:srgbClr val="1D3064"/>
                  </a:solidFill>
                </a:endParaRPr>
              </a:p>
            </p:txBody>
          </p:sp>
          <p:sp>
            <p:nvSpPr>
              <p:cNvPr id="23" name="Rectangle 22"/>
              <p:cNvSpPr/>
              <p:nvPr/>
            </p:nvSpPr>
            <p:spPr>
              <a:xfrm>
                <a:off x="3037236" y="2428406"/>
                <a:ext cx="1753849" cy="404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err="1" smtClean="0">
                    <a:solidFill>
                      <a:srgbClr val="1D3064"/>
                    </a:solidFill>
                  </a:rPr>
                  <a:t>nbytes</a:t>
                </a:r>
                <a:endParaRPr lang="en-IN" dirty="0">
                  <a:solidFill>
                    <a:srgbClr val="1D3064"/>
                  </a:solidFill>
                </a:endParaRPr>
              </a:p>
            </p:txBody>
          </p:sp>
          <p:sp>
            <p:nvSpPr>
              <p:cNvPr id="24" name="Rectangle 23"/>
              <p:cNvSpPr/>
              <p:nvPr/>
            </p:nvSpPr>
            <p:spPr>
              <a:xfrm>
                <a:off x="3037236" y="2828406"/>
                <a:ext cx="1753849" cy="404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err="1" smtClean="0">
                    <a:solidFill>
                      <a:srgbClr val="1D3064"/>
                    </a:solidFill>
                  </a:rPr>
                  <a:t>buf</a:t>
                </a:r>
                <a:endParaRPr lang="en-IN" dirty="0">
                  <a:solidFill>
                    <a:srgbClr val="1D3064"/>
                  </a:solidFill>
                </a:endParaRPr>
              </a:p>
            </p:txBody>
          </p:sp>
          <p:sp>
            <p:nvSpPr>
              <p:cNvPr id="25" name="Rectangle 24"/>
              <p:cNvSpPr/>
              <p:nvPr/>
            </p:nvSpPr>
            <p:spPr>
              <a:xfrm>
                <a:off x="3037236" y="3238707"/>
                <a:ext cx="1753849" cy="404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err="1" smtClean="0">
                    <a:solidFill>
                      <a:srgbClr val="1D3064"/>
                    </a:solidFill>
                  </a:rPr>
                  <a:t>fd</a:t>
                </a:r>
                <a:endParaRPr lang="en-IN" dirty="0">
                  <a:solidFill>
                    <a:srgbClr val="1D3064"/>
                  </a:solidFill>
                </a:endParaRPr>
              </a:p>
            </p:txBody>
          </p:sp>
          <p:sp>
            <p:nvSpPr>
              <p:cNvPr id="26" name="Rectangle 25"/>
              <p:cNvSpPr/>
              <p:nvPr/>
            </p:nvSpPr>
            <p:spPr>
              <a:xfrm>
                <a:off x="3037236" y="3646400"/>
                <a:ext cx="1753849" cy="404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rgbClr val="1D3064"/>
                    </a:solidFill>
                  </a:rPr>
                  <a:t>r</a:t>
                </a:r>
                <a:r>
                  <a:rPr lang="en-IN" dirty="0" smtClean="0">
                    <a:solidFill>
                      <a:srgbClr val="1D3064"/>
                    </a:solidFill>
                  </a:rPr>
                  <a:t>eturn address</a:t>
                </a:r>
                <a:endParaRPr lang="en-IN" dirty="0">
                  <a:solidFill>
                    <a:srgbClr val="1D3064"/>
                  </a:solidFill>
                </a:endParaRPr>
              </a:p>
            </p:txBody>
          </p:sp>
          <p:sp>
            <p:nvSpPr>
              <p:cNvPr id="27" name="Rectangle 26"/>
              <p:cNvSpPr/>
              <p:nvPr/>
            </p:nvSpPr>
            <p:spPr>
              <a:xfrm>
                <a:off x="3037236" y="4046566"/>
                <a:ext cx="1753849" cy="5780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smtClean="0">
                    <a:solidFill>
                      <a:srgbClr val="1D3064"/>
                    </a:solidFill>
                  </a:rPr>
                  <a:t>read’s local</a:t>
                </a:r>
              </a:p>
              <a:p>
                <a:r>
                  <a:rPr lang="en-IN" dirty="0" smtClean="0">
                    <a:solidFill>
                      <a:srgbClr val="1D3064"/>
                    </a:solidFill>
                  </a:rPr>
                  <a:t>variables</a:t>
                </a:r>
                <a:endParaRPr lang="en-IN" dirty="0">
                  <a:solidFill>
                    <a:srgbClr val="1D3064"/>
                  </a:solidFill>
                </a:endParaRPr>
              </a:p>
            </p:txBody>
          </p:sp>
          <p:sp>
            <p:nvSpPr>
              <p:cNvPr id="28" name="Rectangle 27"/>
              <p:cNvSpPr/>
              <p:nvPr/>
            </p:nvSpPr>
            <p:spPr>
              <a:xfrm>
                <a:off x="3039855" y="4631798"/>
                <a:ext cx="1753849" cy="7479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solidFill>
                    <a:srgbClr val="1D3064"/>
                  </a:solidFill>
                </a:endParaRPr>
              </a:p>
            </p:txBody>
          </p:sp>
        </p:grpSp>
        <p:cxnSp>
          <p:nvCxnSpPr>
            <p:cNvPr id="21" name="Straight Arrow Connector 20"/>
            <p:cNvCxnSpPr/>
            <p:nvPr/>
          </p:nvCxnSpPr>
          <p:spPr>
            <a:xfrm flipH="1">
              <a:off x="5245047" y="4761535"/>
              <a:ext cx="704538"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4058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Functions of RPC Elements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lvl="1" indent="0">
              <a:spcBef>
                <a:spcPts val="1000"/>
              </a:spcBef>
              <a:buNone/>
            </a:pPr>
            <a:r>
              <a:rPr lang="en-US" altLang="en-US" sz="2400" b="1" dirty="0">
                <a:solidFill>
                  <a:srgbClr val="1D3064"/>
                </a:solidFill>
              </a:rPr>
              <a:t>The Client</a:t>
            </a:r>
          </a:p>
          <a:p>
            <a:pPr marL="265113" lvl="1" indent="-265113">
              <a:spcBef>
                <a:spcPts val="1000"/>
              </a:spcBef>
              <a:buFont typeface="Webdings" panose="05030102010509060703" pitchFamily="18" charset="2"/>
              <a:buChar char=""/>
            </a:pPr>
            <a:r>
              <a:rPr lang="en-US" altLang="en-US" sz="2400" dirty="0"/>
              <a:t>It is user process which initiates a remote procedure call</a:t>
            </a:r>
          </a:p>
          <a:p>
            <a:pPr marL="265113" lvl="1" indent="-265113">
              <a:spcBef>
                <a:spcPts val="1000"/>
              </a:spcBef>
              <a:buFont typeface="Webdings" panose="05030102010509060703" pitchFamily="18" charset="2"/>
              <a:buChar char=""/>
            </a:pPr>
            <a:r>
              <a:rPr lang="en-US" altLang="en-US" sz="2400" dirty="0"/>
              <a:t>The client makes a perfectly normal call that invokes a corresponding procedure in the client stub. </a:t>
            </a:r>
          </a:p>
          <a:p>
            <a:pPr marL="0" lvl="1" indent="0">
              <a:spcBef>
                <a:spcPts val="1000"/>
              </a:spcBef>
              <a:buNone/>
            </a:pPr>
            <a:r>
              <a:rPr lang="en-US" altLang="en-US" sz="2400" b="1" dirty="0" smtClean="0">
                <a:solidFill>
                  <a:srgbClr val="1D3064"/>
                </a:solidFill>
              </a:rPr>
              <a:t>The </a:t>
            </a:r>
            <a:r>
              <a:rPr lang="en-US" altLang="en-US" sz="2400" b="1" dirty="0">
                <a:solidFill>
                  <a:srgbClr val="1D3064"/>
                </a:solidFill>
              </a:rPr>
              <a:t>Client stub</a:t>
            </a:r>
          </a:p>
          <a:p>
            <a:pPr marL="265113" lvl="1" indent="-265113">
              <a:spcBef>
                <a:spcPts val="1000"/>
              </a:spcBef>
              <a:buFont typeface="Webdings" panose="05030102010509060703" pitchFamily="18" charset="2"/>
              <a:buChar char=""/>
            </a:pPr>
            <a:r>
              <a:rPr lang="en-US" altLang="en-US" sz="2400" dirty="0"/>
              <a:t>On receipt of a request it packs a requirements into a message and asks the local </a:t>
            </a:r>
            <a:r>
              <a:rPr lang="en-US" altLang="en-US" sz="2400" dirty="0" err="1"/>
              <a:t>RPCRuntime</a:t>
            </a:r>
            <a:r>
              <a:rPr lang="en-US" altLang="en-US" sz="2400" dirty="0"/>
              <a:t> to send it to the server stub.</a:t>
            </a:r>
          </a:p>
          <a:p>
            <a:pPr marL="265113" lvl="1" indent="-265113">
              <a:spcBef>
                <a:spcPts val="1000"/>
              </a:spcBef>
              <a:buFont typeface="Webdings" panose="05030102010509060703" pitchFamily="18" charset="2"/>
              <a:buChar char=""/>
            </a:pPr>
            <a:r>
              <a:rPr lang="en-US" altLang="en-US" sz="2400" dirty="0"/>
              <a:t>On receipt of a result it unpacks the result and passes it to client</a:t>
            </a:r>
            <a:r>
              <a:rPr lang="en-US" altLang="en-US" sz="2400" dirty="0" smtClean="0"/>
              <a:t>.</a:t>
            </a:r>
            <a:endParaRPr lang="en-US" altLang="en-US" sz="2400" dirty="0"/>
          </a:p>
        </p:txBody>
      </p:sp>
    </p:spTree>
    <p:extLst>
      <p:ext uri="{BB962C8B-B14F-4D97-AF65-F5344CB8AC3E}">
        <p14:creationId xmlns:p14="http://schemas.microsoft.com/office/powerpoint/2010/main" val="1519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Functions of RPC Elements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lvl="1" indent="0">
              <a:spcBef>
                <a:spcPts val="1000"/>
              </a:spcBef>
              <a:buNone/>
            </a:pPr>
            <a:r>
              <a:rPr lang="en-US" altLang="en-US" sz="2400" b="1" dirty="0" err="1">
                <a:solidFill>
                  <a:srgbClr val="1D3064"/>
                </a:solidFill>
              </a:rPr>
              <a:t>RPCRuntime</a:t>
            </a:r>
            <a:endParaRPr lang="en-US" altLang="en-US" sz="2400" b="1" dirty="0">
              <a:solidFill>
                <a:srgbClr val="1D3064"/>
              </a:solidFill>
            </a:endParaRPr>
          </a:p>
          <a:p>
            <a:pPr marL="265113" lvl="1" indent="-265113">
              <a:spcBef>
                <a:spcPts val="1000"/>
              </a:spcBef>
              <a:buFont typeface="Webdings" panose="05030102010509060703" pitchFamily="18" charset="2"/>
              <a:buChar char=""/>
            </a:pPr>
            <a:r>
              <a:rPr lang="en-US" altLang="en-US" sz="2400" dirty="0"/>
              <a:t>It handles transmission of messages between client and server.</a:t>
            </a:r>
          </a:p>
          <a:p>
            <a:pPr marL="265113" lvl="1" indent="-265113">
              <a:spcBef>
                <a:spcPts val="1000"/>
              </a:spcBef>
              <a:buFont typeface="Webdings" panose="05030102010509060703" pitchFamily="18" charset="2"/>
              <a:buChar char=""/>
            </a:pPr>
            <a:r>
              <a:rPr lang="en-US" altLang="en-US" sz="2400" dirty="0"/>
              <a:t>It is responsible for</a:t>
            </a:r>
          </a:p>
          <a:p>
            <a:pPr lvl="1">
              <a:buFont typeface="Wingdings" panose="05000000000000000000" pitchFamily="2" charset="2"/>
              <a:buChar char="§"/>
            </a:pPr>
            <a:r>
              <a:rPr lang="en-US" altLang="en-US" sz="2400" dirty="0"/>
              <a:t>Retransmission</a:t>
            </a:r>
          </a:p>
          <a:p>
            <a:pPr lvl="1">
              <a:buFont typeface="Wingdings" panose="05000000000000000000" pitchFamily="2" charset="2"/>
              <a:buChar char="§"/>
            </a:pPr>
            <a:r>
              <a:rPr lang="en-US" altLang="en-US" sz="2400" dirty="0"/>
              <a:t>Acknowledgement</a:t>
            </a:r>
          </a:p>
          <a:p>
            <a:pPr lvl="1">
              <a:buFont typeface="Wingdings" panose="05000000000000000000" pitchFamily="2" charset="2"/>
              <a:buChar char="§"/>
            </a:pPr>
            <a:r>
              <a:rPr lang="en-US" altLang="en-US" sz="2400" dirty="0"/>
              <a:t>Routing and Encryption</a:t>
            </a:r>
          </a:p>
          <a:p>
            <a:pPr marL="0" lvl="1" indent="0">
              <a:spcBef>
                <a:spcPts val="1000"/>
              </a:spcBef>
              <a:buNone/>
            </a:pPr>
            <a:r>
              <a:rPr lang="en-US" altLang="en-US" sz="2400" b="1" dirty="0" smtClean="0">
                <a:solidFill>
                  <a:srgbClr val="1D3064"/>
                </a:solidFill>
              </a:rPr>
              <a:t>The </a:t>
            </a:r>
            <a:r>
              <a:rPr lang="en-US" altLang="en-US" sz="2400" b="1" dirty="0">
                <a:solidFill>
                  <a:srgbClr val="1D3064"/>
                </a:solidFill>
              </a:rPr>
              <a:t>Server stub</a:t>
            </a:r>
          </a:p>
          <a:p>
            <a:pPr marL="265113" lvl="1" indent="-265113">
              <a:spcBef>
                <a:spcPts val="1000"/>
              </a:spcBef>
              <a:buFont typeface="Webdings" panose="05030102010509060703" pitchFamily="18" charset="2"/>
              <a:buChar char=""/>
            </a:pPr>
            <a:r>
              <a:rPr lang="en-US" altLang="en-US" sz="2400" dirty="0"/>
              <a:t>It unpacks a call request and make a perfectly normal call to invoke the appropriate procedure in the server.</a:t>
            </a:r>
          </a:p>
          <a:p>
            <a:pPr marL="265113" lvl="1" indent="-265113">
              <a:spcBef>
                <a:spcPts val="1000"/>
              </a:spcBef>
              <a:buFont typeface="Webdings" panose="05030102010509060703" pitchFamily="18" charset="2"/>
              <a:buChar char=""/>
            </a:pPr>
            <a:r>
              <a:rPr lang="en-US" altLang="en-US" sz="2400" dirty="0"/>
              <a:t>On receipt of a result of procedure execution it packs the result and asks to </a:t>
            </a:r>
            <a:r>
              <a:rPr lang="en-US" altLang="en-US" sz="2400" dirty="0" err="1"/>
              <a:t>RPCRuntime</a:t>
            </a:r>
            <a:r>
              <a:rPr lang="en-US" altLang="en-US" sz="2400" dirty="0"/>
              <a:t> to send</a:t>
            </a:r>
            <a:r>
              <a:rPr lang="en-US" altLang="en-US" sz="2400" dirty="0" smtClean="0"/>
              <a:t>.</a:t>
            </a:r>
            <a:endParaRPr lang="en-US" altLang="en-US" sz="2400" dirty="0"/>
          </a:p>
          <a:p>
            <a:pPr marL="0" lvl="1" indent="0">
              <a:spcBef>
                <a:spcPts val="1000"/>
              </a:spcBef>
              <a:buNone/>
            </a:pPr>
            <a:r>
              <a:rPr lang="en-US" altLang="en-US" sz="2400" b="1" dirty="0">
                <a:solidFill>
                  <a:srgbClr val="1D3064"/>
                </a:solidFill>
              </a:rPr>
              <a:t>The Server</a:t>
            </a:r>
          </a:p>
          <a:p>
            <a:pPr marL="265113" lvl="1" indent="-265113">
              <a:spcBef>
                <a:spcPts val="1000"/>
              </a:spcBef>
              <a:buFont typeface="Webdings" panose="05030102010509060703" pitchFamily="18" charset="2"/>
              <a:buChar char=""/>
            </a:pPr>
            <a:r>
              <a:rPr lang="en-US" altLang="en-US" sz="2400" dirty="0"/>
              <a:t>It executes a appropriate procedure and returns the result from a server stub</a:t>
            </a:r>
            <a:r>
              <a:rPr lang="en-US" altLang="en-US" sz="2400" dirty="0" smtClean="0"/>
              <a:t>.</a:t>
            </a:r>
            <a:endParaRPr lang="en-US" altLang="en-US" sz="2400" dirty="0"/>
          </a:p>
        </p:txBody>
      </p:sp>
    </p:spTree>
    <p:extLst>
      <p:ext uri="{BB962C8B-B14F-4D97-AF65-F5344CB8AC3E}">
        <p14:creationId xmlns:p14="http://schemas.microsoft.com/office/powerpoint/2010/main" val="2604474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RPC Mechanism</a:t>
            </a:r>
          </a:p>
        </p:txBody>
      </p:sp>
      <p:sp>
        <p:nvSpPr>
          <p:cNvPr id="5" name="Rectangle 4">
            <a:extLst>
              <a:ext uri="{FF2B5EF4-FFF2-40B4-BE49-F238E27FC236}">
                <a16:creationId xmlns:a16="http://schemas.microsoft.com/office/drawing/2014/main" xmlns="" id="{D5EADD9F-E33F-4B16-8833-C0DCD73C5132}"/>
              </a:ext>
            </a:extLst>
          </p:cNvPr>
          <p:cNvSpPr/>
          <p:nvPr/>
        </p:nvSpPr>
        <p:spPr>
          <a:xfrm>
            <a:off x="909638" y="1313646"/>
            <a:ext cx="2931087" cy="4191000"/>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lowchart: Terminator 5">
            <a:extLst>
              <a:ext uri="{FF2B5EF4-FFF2-40B4-BE49-F238E27FC236}">
                <a16:creationId xmlns:a16="http://schemas.microsoft.com/office/drawing/2014/main" xmlns="" id="{5BE86F4A-46EA-4EC1-BD5B-1D46497011E9}"/>
              </a:ext>
            </a:extLst>
          </p:cNvPr>
          <p:cNvSpPr/>
          <p:nvPr/>
        </p:nvSpPr>
        <p:spPr>
          <a:xfrm>
            <a:off x="1134428" y="1746215"/>
            <a:ext cx="2598420" cy="685292"/>
          </a:xfrm>
          <a:prstGeom prst="flowChartTermina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Flowchart: Terminator 6">
            <a:extLst>
              <a:ext uri="{FF2B5EF4-FFF2-40B4-BE49-F238E27FC236}">
                <a16:creationId xmlns:a16="http://schemas.microsoft.com/office/drawing/2014/main" xmlns="" id="{6E5411F2-5907-4B13-88A2-7982D27DF387}"/>
              </a:ext>
            </a:extLst>
          </p:cNvPr>
          <p:cNvSpPr/>
          <p:nvPr/>
        </p:nvSpPr>
        <p:spPr>
          <a:xfrm>
            <a:off x="1094423" y="3130034"/>
            <a:ext cx="2640330" cy="794266"/>
          </a:xfrm>
          <a:prstGeom prst="flowChartTermina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Flowchart: Terminator 7">
            <a:extLst>
              <a:ext uri="{FF2B5EF4-FFF2-40B4-BE49-F238E27FC236}">
                <a16:creationId xmlns:a16="http://schemas.microsoft.com/office/drawing/2014/main" xmlns="" id="{9787364F-F07E-4381-9BA4-71E5A1D2830B}"/>
              </a:ext>
            </a:extLst>
          </p:cNvPr>
          <p:cNvSpPr/>
          <p:nvPr/>
        </p:nvSpPr>
        <p:spPr>
          <a:xfrm>
            <a:off x="1134428" y="4533585"/>
            <a:ext cx="2598420" cy="704050"/>
          </a:xfrm>
          <a:prstGeom prst="flowChartTermina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xmlns="" id="{A55E632B-DBC8-49A0-8E47-2366E6CFCC29}"/>
              </a:ext>
            </a:extLst>
          </p:cNvPr>
          <p:cNvSpPr txBox="1"/>
          <p:nvPr/>
        </p:nvSpPr>
        <p:spPr>
          <a:xfrm flipH="1">
            <a:off x="1969480" y="1409700"/>
            <a:ext cx="1059181" cy="369332"/>
          </a:xfrm>
          <a:prstGeom prst="rect">
            <a:avLst/>
          </a:prstGeom>
          <a:noFill/>
        </p:spPr>
        <p:txBody>
          <a:bodyPr wrap="square" rtlCol="0">
            <a:spAutoFit/>
          </a:bodyPr>
          <a:lstStyle/>
          <a:p>
            <a:pPr algn="ctr"/>
            <a:r>
              <a:rPr lang="en-IN" dirty="0"/>
              <a:t>Client</a:t>
            </a:r>
          </a:p>
        </p:txBody>
      </p:sp>
      <p:sp>
        <p:nvSpPr>
          <p:cNvPr id="10" name="TextBox 9">
            <a:extLst>
              <a:ext uri="{FF2B5EF4-FFF2-40B4-BE49-F238E27FC236}">
                <a16:creationId xmlns:a16="http://schemas.microsoft.com/office/drawing/2014/main" xmlns="" id="{ABF428B2-731B-4760-A94D-38FDEDCCD7C6}"/>
              </a:ext>
            </a:extLst>
          </p:cNvPr>
          <p:cNvSpPr txBox="1"/>
          <p:nvPr/>
        </p:nvSpPr>
        <p:spPr>
          <a:xfrm flipH="1">
            <a:off x="1904047" y="2792968"/>
            <a:ext cx="1226159" cy="369332"/>
          </a:xfrm>
          <a:prstGeom prst="rect">
            <a:avLst/>
          </a:prstGeom>
          <a:noFill/>
        </p:spPr>
        <p:txBody>
          <a:bodyPr wrap="square" rtlCol="0">
            <a:spAutoFit/>
          </a:bodyPr>
          <a:lstStyle/>
          <a:p>
            <a:pPr algn="ctr"/>
            <a:r>
              <a:rPr lang="en-IN" dirty="0"/>
              <a:t>Client Stub</a:t>
            </a:r>
          </a:p>
        </p:txBody>
      </p:sp>
      <p:sp>
        <p:nvSpPr>
          <p:cNvPr id="11" name="TextBox 10">
            <a:extLst>
              <a:ext uri="{FF2B5EF4-FFF2-40B4-BE49-F238E27FC236}">
                <a16:creationId xmlns:a16="http://schemas.microsoft.com/office/drawing/2014/main" xmlns="" id="{727D5814-F8AC-4AA9-B82E-A7AE74DF2E6E}"/>
              </a:ext>
            </a:extLst>
          </p:cNvPr>
          <p:cNvSpPr txBox="1"/>
          <p:nvPr/>
        </p:nvSpPr>
        <p:spPr>
          <a:xfrm flipH="1">
            <a:off x="1755125" y="4152960"/>
            <a:ext cx="1523999" cy="369332"/>
          </a:xfrm>
          <a:prstGeom prst="rect">
            <a:avLst/>
          </a:prstGeom>
          <a:noFill/>
        </p:spPr>
        <p:txBody>
          <a:bodyPr wrap="square" rtlCol="0">
            <a:spAutoFit/>
          </a:bodyPr>
          <a:lstStyle/>
          <a:p>
            <a:pPr algn="ctr"/>
            <a:r>
              <a:rPr lang="en-IN" dirty="0"/>
              <a:t>RPCRuntime</a:t>
            </a:r>
          </a:p>
        </p:txBody>
      </p:sp>
      <p:sp>
        <p:nvSpPr>
          <p:cNvPr id="12" name="TextBox 11">
            <a:extLst>
              <a:ext uri="{FF2B5EF4-FFF2-40B4-BE49-F238E27FC236}">
                <a16:creationId xmlns:a16="http://schemas.microsoft.com/office/drawing/2014/main" xmlns="" id="{7BB6D6A1-91F1-47D2-A5AF-0AAA740AD90B}"/>
              </a:ext>
            </a:extLst>
          </p:cNvPr>
          <p:cNvSpPr txBox="1"/>
          <p:nvPr/>
        </p:nvSpPr>
        <p:spPr>
          <a:xfrm flipH="1">
            <a:off x="1532281" y="890320"/>
            <a:ext cx="1969689" cy="400110"/>
          </a:xfrm>
          <a:prstGeom prst="rect">
            <a:avLst/>
          </a:prstGeom>
          <a:noFill/>
        </p:spPr>
        <p:txBody>
          <a:bodyPr wrap="square" rtlCol="0">
            <a:spAutoFit/>
          </a:bodyPr>
          <a:lstStyle/>
          <a:p>
            <a:pPr algn="ctr"/>
            <a:r>
              <a:rPr lang="en-IN" sz="2000" dirty="0"/>
              <a:t>Client Machine</a:t>
            </a:r>
          </a:p>
        </p:txBody>
      </p:sp>
      <p:sp>
        <p:nvSpPr>
          <p:cNvPr id="13" name="TextBox 12">
            <a:extLst>
              <a:ext uri="{FF2B5EF4-FFF2-40B4-BE49-F238E27FC236}">
                <a16:creationId xmlns:a16="http://schemas.microsoft.com/office/drawing/2014/main" xmlns="" id="{5E89303D-9055-4555-9185-F9056743BEAB}"/>
              </a:ext>
            </a:extLst>
          </p:cNvPr>
          <p:cNvSpPr txBox="1"/>
          <p:nvPr/>
        </p:nvSpPr>
        <p:spPr>
          <a:xfrm flipH="1">
            <a:off x="4790122" y="5360943"/>
            <a:ext cx="1411606" cy="369332"/>
          </a:xfrm>
          <a:prstGeom prst="rect">
            <a:avLst/>
          </a:prstGeom>
          <a:noFill/>
        </p:spPr>
        <p:txBody>
          <a:bodyPr wrap="square" rtlCol="0">
            <a:spAutoFit/>
          </a:bodyPr>
          <a:lstStyle/>
          <a:p>
            <a:pPr algn="ctr"/>
            <a:r>
              <a:rPr lang="en-IN" dirty="0"/>
              <a:t>Call Packet</a:t>
            </a:r>
          </a:p>
        </p:txBody>
      </p:sp>
      <p:sp>
        <p:nvSpPr>
          <p:cNvPr id="14" name="TextBox 13">
            <a:extLst>
              <a:ext uri="{FF2B5EF4-FFF2-40B4-BE49-F238E27FC236}">
                <a16:creationId xmlns:a16="http://schemas.microsoft.com/office/drawing/2014/main" xmlns="" id="{6A68FD89-AA78-4925-8BAA-7744B8B923ED}"/>
              </a:ext>
            </a:extLst>
          </p:cNvPr>
          <p:cNvSpPr txBox="1"/>
          <p:nvPr/>
        </p:nvSpPr>
        <p:spPr>
          <a:xfrm flipH="1">
            <a:off x="4540566" y="5753100"/>
            <a:ext cx="1910717" cy="369332"/>
          </a:xfrm>
          <a:prstGeom prst="rect">
            <a:avLst/>
          </a:prstGeom>
          <a:noFill/>
        </p:spPr>
        <p:txBody>
          <a:bodyPr wrap="square" rtlCol="0">
            <a:spAutoFit/>
          </a:bodyPr>
          <a:lstStyle/>
          <a:p>
            <a:pPr algn="ctr"/>
            <a:r>
              <a:rPr lang="en-IN" dirty="0"/>
              <a:t>Request Packet</a:t>
            </a:r>
          </a:p>
        </p:txBody>
      </p:sp>
      <p:sp>
        <p:nvSpPr>
          <p:cNvPr id="15" name="Oval 14">
            <a:extLst>
              <a:ext uri="{FF2B5EF4-FFF2-40B4-BE49-F238E27FC236}">
                <a16:creationId xmlns:a16="http://schemas.microsoft.com/office/drawing/2014/main" xmlns="" id="{F49BB9A5-A2BC-4853-839A-3C9925F2C75E}"/>
              </a:ext>
            </a:extLst>
          </p:cNvPr>
          <p:cNvSpPr/>
          <p:nvPr/>
        </p:nvSpPr>
        <p:spPr>
          <a:xfrm>
            <a:off x="2796188" y="1817998"/>
            <a:ext cx="772561" cy="552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Call</a:t>
            </a:r>
          </a:p>
        </p:txBody>
      </p:sp>
      <p:sp>
        <p:nvSpPr>
          <p:cNvPr id="16" name="Oval 15">
            <a:extLst>
              <a:ext uri="{FF2B5EF4-FFF2-40B4-BE49-F238E27FC236}">
                <a16:creationId xmlns:a16="http://schemas.microsoft.com/office/drawing/2014/main" xmlns="" id="{CC573F24-E7AE-436C-8C67-FDC6F59C0ED7}"/>
              </a:ext>
            </a:extLst>
          </p:cNvPr>
          <p:cNvSpPr/>
          <p:nvPr/>
        </p:nvSpPr>
        <p:spPr>
          <a:xfrm>
            <a:off x="1196585" y="1765838"/>
            <a:ext cx="1186989" cy="56744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Return</a:t>
            </a:r>
          </a:p>
        </p:txBody>
      </p:sp>
      <p:sp>
        <p:nvSpPr>
          <p:cNvPr id="17" name="Oval 16">
            <a:extLst>
              <a:ext uri="{FF2B5EF4-FFF2-40B4-BE49-F238E27FC236}">
                <a16:creationId xmlns:a16="http://schemas.microsoft.com/office/drawing/2014/main" xmlns="" id="{AC29F6FE-58E8-49D8-AE13-6CF4234C58E6}"/>
              </a:ext>
            </a:extLst>
          </p:cNvPr>
          <p:cNvSpPr/>
          <p:nvPr/>
        </p:nvSpPr>
        <p:spPr>
          <a:xfrm>
            <a:off x="2709428" y="3219002"/>
            <a:ext cx="932314" cy="552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Pack</a:t>
            </a:r>
          </a:p>
        </p:txBody>
      </p:sp>
      <p:cxnSp>
        <p:nvCxnSpPr>
          <p:cNvPr id="18" name="Straight Arrow Connector 17">
            <a:extLst>
              <a:ext uri="{FF2B5EF4-FFF2-40B4-BE49-F238E27FC236}">
                <a16:creationId xmlns:a16="http://schemas.microsoft.com/office/drawing/2014/main" xmlns="" id="{BDD1EC3D-954E-4132-9771-5469A5218E76}"/>
              </a:ext>
            </a:extLst>
          </p:cNvPr>
          <p:cNvCxnSpPr>
            <a:cxnSpLocks/>
          </p:cNvCxnSpPr>
          <p:nvPr/>
        </p:nvCxnSpPr>
        <p:spPr>
          <a:xfrm>
            <a:off x="3195638" y="2243790"/>
            <a:ext cx="0" cy="1141860"/>
          </a:xfrm>
          <a:prstGeom prst="straightConnector1">
            <a:avLst/>
          </a:prstGeom>
          <a:ln w="25400">
            <a:headEnd type="none" w="lg" len="lg"/>
            <a:tailEnd type="triangle" w="lg" len="lg"/>
          </a:ln>
        </p:spPr>
        <p:style>
          <a:lnRef idx="1">
            <a:schemeClr val="dk1"/>
          </a:lnRef>
          <a:fillRef idx="0">
            <a:schemeClr val="dk1"/>
          </a:fillRef>
          <a:effectRef idx="0">
            <a:schemeClr val="dk1"/>
          </a:effectRef>
          <a:fontRef idx="minor">
            <a:schemeClr val="tx1"/>
          </a:fontRef>
        </p:style>
      </p:cxnSp>
      <p:sp>
        <p:nvSpPr>
          <p:cNvPr id="19" name="Oval 18">
            <a:extLst>
              <a:ext uri="{FF2B5EF4-FFF2-40B4-BE49-F238E27FC236}">
                <a16:creationId xmlns:a16="http://schemas.microsoft.com/office/drawing/2014/main" xmlns="" id="{8BBF3301-4537-4D6E-A8AA-BD2BB1366101}"/>
              </a:ext>
            </a:extLst>
          </p:cNvPr>
          <p:cNvSpPr/>
          <p:nvPr/>
        </p:nvSpPr>
        <p:spPr>
          <a:xfrm>
            <a:off x="1138238" y="3238500"/>
            <a:ext cx="1271850" cy="56744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Unpack</a:t>
            </a:r>
          </a:p>
        </p:txBody>
      </p:sp>
      <p:cxnSp>
        <p:nvCxnSpPr>
          <p:cNvPr id="20" name="Straight Arrow Connector 19">
            <a:extLst>
              <a:ext uri="{FF2B5EF4-FFF2-40B4-BE49-F238E27FC236}">
                <a16:creationId xmlns:a16="http://schemas.microsoft.com/office/drawing/2014/main" xmlns="" id="{6C63E2AC-CC9F-40DB-91F6-FDF53965AEFA}"/>
              </a:ext>
            </a:extLst>
          </p:cNvPr>
          <p:cNvCxnSpPr>
            <a:cxnSpLocks/>
          </p:cNvCxnSpPr>
          <p:nvPr/>
        </p:nvCxnSpPr>
        <p:spPr>
          <a:xfrm>
            <a:off x="1739514" y="2188580"/>
            <a:ext cx="0" cy="1197070"/>
          </a:xfrm>
          <a:prstGeom prst="straightConnector1">
            <a:avLst/>
          </a:prstGeom>
          <a:ln w="25400">
            <a:headEnd type="triangle" w="lg" len="lg"/>
            <a:tailEnd type="none" w="lg" len="lg"/>
          </a:ln>
        </p:spPr>
        <p:style>
          <a:lnRef idx="1">
            <a:schemeClr val="dk1"/>
          </a:lnRef>
          <a:fillRef idx="0">
            <a:schemeClr val="dk1"/>
          </a:fillRef>
          <a:effectRef idx="0">
            <a:schemeClr val="dk1"/>
          </a:effectRef>
          <a:fontRef idx="minor">
            <a:schemeClr val="tx1"/>
          </a:fontRef>
        </p:style>
      </p:cxnSp>
      <p:sp>
        <p:nvSpPr>
          <p:cNvPr id="21" name="Oval 20">
            <a:extLst>
              <a:ext uri="{FF2B5EF4-FFF2-40B4-BE49-F238E27FC236}">
                <a16:creationId xmlns:a16="http://schemas.microsoft.com/office/drawing/2014/main" xmlns="" id="{1EB77B4A-3B4F-43BA-B8D8-215727D98CB3}"/>
              </a:ext>
            </a:extLst>
          </p:cNvPr>
          <p:cNvSpPr/>
          <p:nvPr/>
        </p:nvSpPr>
        <p:spPr>
          <a:xfrm>
            <a:off x="2738438" y="4597688"/>
            <a:ext cx="951233" cy="552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Send</a:t>
            </a:r>
          </a:p>
        </p:txBody>
      </p:sp>
      <p:cxnSp>
        <p:nvCxnSpPr>
          <p:cNvPr id="22" name="Straight Arrow Connector 21">
            <a:extLst>
              <a:ext uri="{FF2B5EF4-FFF2-40B4-BE49-F238E27FC236}">
                <a16:creationId xmlns:a16="http://schemas.microsoft.com/office/drawing/2014/main" xmlns="" id="{F6E1725E-DD75-4674-B755-FD72FD036310}"/>
              </a:ext>
            </a:extLst>
          </p:cNvPr>
          <p:cNvCxnSpPr>
            <a:cxnSpLocks/>
          </p:cNvCxnSpPr>
          <p:nvPr/>
        </p:nvCxnSpPr>
        <p:spPr>
          <a:xfrm>
            <a:off x="3195638" y="3647651"/>
            <a:ext cx="0" cy="1129180"/>
          </a:xfrm>
          <a:prstGeom prst="straightConnector1">
            <a:avLst/>
          </a:prstGeom>
          <a:ln w="25400">
            <a:headEnd type="none" w="lg" len="lg"/>
            <a:tailEnd type="triangle" w="lg" len="lg"/>
          </a:ln>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xmlns="" id="{861CD487-79B3-4EAF-8BAF-21B5F9C041B8}"/>
              </a:ext>
            </a:extLst>
          </p:cNvPr>
          <p:cNvSpPr/>
          <p:nvPr/>
        </p:nvSpPr>
        <p:spPr>
          <a:xfrm>
            <a:off x="1160754" y="4607963"/>
            <a:ext cx="1272886" cy="56744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Receive</a:t>
            </a:r>
          </a:p>
        </p:txBody>
      </p:sp>
      <p:cxnSp>
        <p:nvCxnSpPr>
          <p:cNvPr id="24" name="Straight Arrow Connector 23">
            <a:extLst>
              <a:ext uri="{FF2B5EF4-FFF2-40B4-BE49-F238E27FC236}">
                <a16:creationId xmlns:a16="http://schemas.microsoft.com/office/drawing/2014/main" xmlns="" id="{2870B386-B654-40BC-8E14-23A9A7B42D71}"/>
              </a:ext>
            </a:extLst>
          </p:cNvPr>
          <p:cNvCxnSpPr>
            <a:cxnSpLocks/>
          </p:cNvCxnSpPr>
          <p:nvPr/>
        </p:nvCxnSpPr>
        <p:spPr>
          <a:xfrm>
            <a:off x="1739514" y="3647651"/>
            <a:ext cx="0" cy="1114849"/>
          </a:xfrm>
          <a:prstGeom prst="straightConnector1">
            <a:avLst/>
          </a:prstGeom>
          <a:ln w="25400">
            <a:headEnd type="triangle" w="lg" len="lg"/>
            <a:tailEnd type="none" w="lg" len="lg"/>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xmlns="" id="{E6F93323-A86D-475F-94D3-99BD6797AAE4}"/>
              </a:ext>
            </a:extLst>
          </p:cNvPr>
          <p:cNvSpPr/>
          <p:nvPr/>
        </p:nvSpPr>
        <p:spPr>
          <a:xfrm>
            <a:off x="6817751" y="1299626"/>
            <a:ext cx="2931087" cy="4191000"/>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lowchart: Terminator 25">
            <a:extLst>
              <a:ext uri="{FF2B5EF4-FFF2-40B4-BE49-F238E27FC236}">
                <a16:creationId xmlns:a16="http://schemas.microsoft.com/office/drawing/2014/main" xmlns="" id="{FD5C41F0-A706-4D2B-8197-E7C72D63B54D}"/>
              </a:ext>
            </a:extLst>
          </p:cNvPr>
          <p:cNvSpPr/>
          <p:nvPr/>
        </p:nvSpPr>
        <p:spPr>
          <a:xfrm>
            <a:off x="7042541" y="1732195"/>
            <a:ext cx="2598420" cy="685292"/>
          </a:xfrm>
          <a:prstGeom prst="flowChartTermina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Flowchart: Terminator 26">
            <a:extLst>
              <a:ext uri="{FF2B5EF4-FFF2-40B4-BE49-F238E27FC236}">
                <a16:creationId xmlns:a16="http://schemas.microsoft.com/office/drawing/2014/main" xmlns="" id="{40CA48DA-140C-4599-BD8E-78C741737FB3}"/>
              </a:ext>
            </a:extLst>
          </p:cNvPr>
          <p:cNvSpPr/>
          <p:nvPr/>
        </p:nvSpPr>
        <p:spPr>
          <a:xfrm>
            <a:off x="7002536" y="3116014"/>
            <a:ext cx="2640330" cy="794266"/>
          </a:xfrm>
          <a:prstGeom prst="flowChartTermina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Flowchart: Terminator 27">
            <a:extLst>
              <a:ext uri="{FF2B5EF4-FFF2-40B4-BE49-F238E27FC236}">
                <a16:creationId xmlns:a16="http://schemas.microsoft.com/office/drawing/2014/main" xmlns="" id="{455591AB-233B-418E-A057-0381586DC066}"/>
              </a:ext>
            </a:extLst>
          </p:cNvPr>
          <p:cNvSpPr/>
          <p:nvPr/>
        </p:nvSpPr>
        <p:spPr>
          <a:xfrm>
            <a:off x="7042541" y="4519565"/>
            <a:ext cx="2598420" cy="704050"/>
          </a:xfrm>
          <a:prstGeom prst="flowChartTermina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TextBox 28">
            <a:extLst>
              <a:ext uri="{FF2B5EF4-FFF2-40B4-BE49-F238E27FC236}">
                <a16:creationId xmlns:a16="http://schemas.microsoft.com/office/drawing/2014/main" xmlns="" id="{A753A10B-4251-48FD-8DBD-F0804944F6F0}"/>
              </a:ext>
            </a:extLst>
          </p:cNvPr>
          <p:cNvSpPr txBox="1"/>
          <p:nvPr/>
        </p:nvSpPr>
        <p:spPr>
          <a:xfrm flipH="1">
            <a:off x="7877593" y="1395680"/>
            <a:ext cx="1059181" cy="369332"/>
          </a:xfrm>
          <a:prstGeom prst="rect">
            <a:avLst/>
          </a:prstGeom>
          <a:noFill/>
        </p:spPr>
        <p:txBody>
          <a:bodyPr wrap="square" rtlCol="0">
            <a:spAutoFit/>
          </a:bodyPr>
          <a:lstStyle/>
          <a:p>
            <a:pPr algn="ctr"/>
            <a:r>
              <a:rPr lang="en-IN" dirty="0"/>
              <a:t>Server</a:t>
            </a:r>
          </a:p>
        </p:txBody>
      </p:sp>
      <p:sp>
        <p:nvSpPr>
          <p:cNvPr id="30" name="TextBox 29">
            <a:extLst>
              <a:ext uri="{FF2B5EF4-FFF2-40B4-BE49-F238E27FC236}">
                <a16:creationId xmlns:a16="http://schemas.microsoft.com/office/drawing/2014/main" xmlns="" id="{A1A83ADE-70EE-47A1-B4EB-872D10A87579}"/>
              </a:ext>
            </a:extLst>
          </p:cNvPr>
          <p:cNvSpPr txBox="1"/>
          <p:nvPr/>
        </p:nvSpPr>
        <p:spPr>
          <a:xfrm flipH="1">
            <a:off x="7767829" y="2789425"/>
            <a:ext cx="1335915" cy="369332"/>
          </a:xfrm>
          <a:prstGeom prst="rect">
            <a:avLst/>
          </a:prstGeom>
          <a:noFill/>
        </p:spPr>
        <p:txBody>
          <a:bodyPr wrap="square" rtlCol="0">
            <a:spAutoFit/>
          </a:bodyPr>
          <a:lstStyle/>
          <a:p>
            <a:pPr algn="ctr"/>
            <a:r>
              <a:rPr lang="en-IN" dirty="0"/>
              <a:t>Server Stub</a:t>
            </a:r>
          </a:p>
        </p:txBody>
      </p:sp>
      <p:sp>
        <p:nvSpPr>
          <p:cNvPr id="31" name="TextBox 30">
            <a:extLst>
              <a:ext uri="{FF2B5EF4-FFF2-40B4-BE49-F238E27FC236}">
                <a16:creationId xmlns:a16="http://schemas.microsoft.com/office/drawing/2014/main" xmlns="" id="{A857A7B2-FF57-400A-B728-D4A72A6DA496}"/>
              </a:ext>
            </a:extLst>
          </p:cNvPr>
          <p:cNvSpPr txBox="1"/>
          <p:nvPr/>
        </p:nvSpPr>
        <p:spPr>
          <a:xfrm flipH="1">
            <a:off x="7663238" y="4138940"/>
            <a:ext cx="1523999" cy="369332"/>
          </a:xfrm>
          <a:prstGeom prst="rect">
            <a:avLst/>
          </a:prstGeom>
          <a:noFill/>
        </p:spPr>
        <p:txBody>
          <a:bodyPr wrap="square" rtlCol="0">
            <a:spAutoFit/>
          </a:bodyPr>
          <a:lstStyle/>
          <a:p>
            <a:pPr algn="ctr"/>
            <a:r>
              <a:rPr lang="en-IN" dirty="0"/>
              <a:t>RPCRuntime</a:t>
            </a:r>
          </a:p>
        </p:txBody>
      </p:sp>
      <p:sp>
        <p:nvSpPr>
          <p:cNvPr id="32" name="TextBox 31">
            <a:extLst>
              <a:ext uri="{FF2B5EF4-FFF2-40B4-BE49-F238E27FC236}">
                <a16:creationId xmlns:a16="http://schemas.microsoft.com/office/drawing/2014/main" xmlns="" id="{A43DE8CA-2DCC-482B-A338-25BE99327B43}"/>
              </a:ext>
            </a:extLst>
          </p:cNvPr>
          <p:cNvSpPr txBox="1"/>
          <p:nvPr/>
        </p:nvSpPr>
        <p:spPr>
          <a:xfrm flipH="1">
            <a:off x="7440394" y="876300"/>
            <a:ext cx="1969689" cy="400110"/>
          </a:xfrm>
          <a:prstGeom prst="rect">
            <a:avLst/>
          </a:prstGeom>
          <a:noFill/>
        </p:spPr>
        <p:txBody>
          <a:bodyPr wrap="square" rtlCol="0">
            <a:spAutoFit/>
          </a:bodyPr>
          <a:lstStyle/>
          <a:p>
            <a:pPr algn="ctr"/>
            <a:r>
              <a:rPr lang="en-IN" sz="2000" dirty="0"/>
              <a:t>Server Machine</a:t>
            </a:r>
          </a:p>
        </p:txBody>
      </p:sp>
      <p:sp>
        <p:nvSpPr>
          <p:cNvPr id="33" name="Oval 32">
            <a:extLst>
              <a:ext uri="{FF2B5EF4-FFF2-40B4-BE49-F238E27FC236}">
                <a16:creationId xmlns:a16="http://schemas.microsoft.com/office/drawing/2014/main" xmlns="" id="{4DC02ABE-079B-4CEC-84B2-746619F415BD}"/>
              </a:ext>
            </a:extLst>
          </p:cNvPr>
          <p:cNvSpPr/>
          <p:nvPr/>
        </p:nvSpPr>
        <p:spPr>
          <a:xfrm>
            <a:off x="7261343" y="1762478"/>
            <a:ext cx="772561" cy="552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Call</a:t>
            </a:r>
          </a:p>
        </p:txBody>
      </p:sp>
      <p:sp>
        <p:nvSpPr>
          <p:cNvPr id="34" name="Oval 33">
            <a:extLst>
              <a:ext uri="{FF2B5EF4-FFF2-40B4-BE49-F238E27FC236}">
                <a16:creationId xmlns:a16="http://schemas.microsoft.com/office/drawing/2014/main" xmlns="" id="{764497B3-52C3-4749-BFF6-DB642ED09341}"/>
              </a:ext>
            </a:extLst>
          </p:cNvPr>
          <p:cNvSpPr/>
          <p:nvPr/>
        </p:nvSpPr>
        <p:spPr>
          <a:xfrm>
            <a:off x="8420188" y="1763685"/>
            <a:ext cx="1186989" cy="55172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Return</a:t>
            </a:r>
          </a:p>
        </p:txBody>
      </p:sp>
      <p:sp>
        <p:nvSpPr>
          <p:cNvPr id="35" name="Oval 34">
            <a:extLst>
              <a:ext uri="{FF2B5EF4-FFF2-40B4-BE49-F238E27FC236}">
                <a16:creationId xmlns:a16="http://schemas.microsoft.com/office/drawing/2014/main" xmlns="" id="{2A7EDFEC-DBED-485C-8D5D-A6736DCDD5E9}"/>
              </a:ext>
            </a:extLst>
          </p:cNvPr>
          <p:cNvSpPr/>
          <p:nvPr/>
        </p:nvSpPr>
        <p:spPr>
          <a:xfrm>
            <a:off x="8617541" y="3204982"/>
            <a:ext cx="932314" cy="552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Pack</a:t>
            </a:r>
          </a:p>
        </p:txBody>
      </p:sp>
      <p:cxnSp>
        <p:nvCxnSpPr>
          <p:cNvPr id="36" name="Straight Arrow Connector 35">
            <a:extLst>
              <a:ext uri="{FF2B5EF4-FFF2-40B4-BE49-F238E27FC236}">
                <a16:creationId xmlns:a16="http://schemas.microsoft.com/office/drawing/2014/main" xmlns="" id="{E33710D0-30F7-4594-AA4D-C3A3C4F91F02}"/>
              </a:ext>
            </a:extLst>
          </p:cNvPr>
          <p:cNvCxnSpPr>
            <a:cxnSpLocks/>
          </p:cNvCxnSpPr>
          <p:nvPr/>
        </p:nvCxnSpPr>
        <p:spPr>
          <a:xfrm>
            <a:off x="9103751" y="2188580"/>
            <a:ext cx="0" cy="1183050"/>
          </a:xfrm>
          <a:prstGeom prst="straightConnector1">
            <a:avLst/>
          </a:prstGeom>
          <a:ln w="25400">
            <a:headEnd type="none" w="lg" len="lg"/>
            <a:tailEnd type="triangle" w="lg" len="lg"/>
          </a:ln>
        </p:spPr>
        <p:style>
          <a:lnRef idx="1">
            <a:schemeClr val="dk1"/>
          </a:lnRef>
          <a:fillRef idx="0">
            <a:schemeClr val="dk1"/>
          </a:fillRef>
          <a:effectRef idx="0">
            <a:schemeClr val="dk1"/>
          </a:effectRef>
          <a:fontRef idx="minor">
            <a:schemeClr val="tx1"/>
          </a:fontRef>
        </p:style>
      </p:cxnSp>
      <p:sp>
        <p:nvSpPr>
          <p:cNvPr id="37" name="Oval 36">
            <a:extLst>
              <a:ext uri="{FF2B5EF4-FFF2-40B4-BE49-F238E27FC236}">
                <a16:creationId xmlns:a16="http://schemas.microsoft.com/office/drawing/2014/main" xmlns="" id="{87E642EA-6C38-40E9-B2ED-6085DBCFF62E}"/>
              </a:ext>
            </a:extLst>
          </p:cNvPr>
          <p:cNvSpPr/>
          <p:nvPr/>
        </p:nvSpPr>
        <p:spPr>
          <a:xfrm>
            <a:off x="7046351" y="3224480"/>
            <a:ext cx="1271850" cy="56744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Unpack</a:t>
            </a:r>
          </a:p>
        </p:txBody>
      </p:sp>
      <p:cxnSp>
        <p:nvCxnSpPr>
          <p:cNvPr id="38" name="Straight Arrow Connector 37">
            <a:extLst>
              <a:ext uri="{FF2B5EF4-FFF2-40B4-BE49-F238E27FC236}">
                <a16:creationId xmlns:a16="http://schemas.microsoft.com/office/drawing/2014/main" xmlns="" id="{18DBDAAD-9369-4DA7-A73B-F270CBAFA4A1}"/>
              </a:ext>
            </a:extLst>
          </p:cNvPr>
          <p:cNvCxnSpPr>
            <a:cxnSpLocks/>
          </p:cNvCxnSpPr>
          <p:nvPr/>
        </p:nvCxnSpPr>
        <p:spPr>
          <a:xfrm>
            <a:off x="7647627" y="2174560"/>
            <a:ext cx="0" cy="1197070"/>
          </a:xfrm>
          <a:prstGeom prst="straightConnector1">
            <a:avLst/>
          </a:prstGeom>
          <a:ln w="25400">
            <a:headEnd type="triangle" w="lg" len="lg"/>
            <a:tailEnd type="none" w="lg" len="lg"/>
          </a:ln>
        </p:spPr>
        <p:style>
          <a:lnRef idx="1">
            <a:schemeClr val="dk1"/>
          </a:lnRef>
          <a:fillRef idx="0">
            <a:schemeClr val="dk1"/>
          </a:fillRef>
          <a:effectRef idx="0">
            <a:schemeClr val="dk1"/>
          </a:effectRef>
          <a:fontRef idx="minor">
            <a:schemeClr val="tx1"/>
          </a:fontRef>
        </p:style>
      </p:cxnSp>
      <p:sp>
        <p:nvSpPr>
          <p:cNvPr id="39" name="Oval 38">
            <a:extLst>
              <a:ext uri="{FF2B5EF4-FFF2-40B4-BE49-F238E27FC236}">
                <a16:creationId xmlns:a16="http://schemas.microsoft.com/office/drawing/2014/main" xmlns="" id="{46FEC3B5-D7AC-46E1-8DC0-60F55D9D0F53}"/>
              </a:ext>
            </a:extLst>
          </p:cNvPr>
          <p:cNvSpPr/>
          <p:nvPr/>
        </p:nvSpPr>
        <p:spPr>
          <a:xfrm>
            <a:off x="8646551" y="4583668"/>
            <a:ext cx="951233" cy="552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Send</a:t>
            </a:r>
          </a:p>
        </p:txBody>
      </p:sp>
      <p:cxnSp>
        <p:nvCxnSpPr>
          <p:cNvPr id="40" name="Straight Arrow Connector 39">
            <a:extLst>
              <a:ext uri="{FF2B5EF4-FFF2-40B4-BE49-F238E27FC236}">
                <a16:creationId xmlns:a16="http://schemas.microsoft.com/office/drawing/2014/main" xmlns="" id="{DFCBE98C-80F6-4AF9-BEAA-4143C6B0AE21}"/>
              </a:ext>
            </a:extLst>
          </p:cNvPr>
          <p:cNvCxnSpPr>
            <a:cxnSpLocks/>
          </p:cNvCxnSpPr>
          <p:nvPr/>
        </p:nvCxnSpPr>
        <p:spPr>
          <a:xfrm>
            <a:off x="9103751" y="3633631"/>
            <a:ext cx="0" cy="1129180"/>
          </a:xfrm>
          <a:prstGeom prst="straightConnector1">
            <a:avLst/>
          </a:prstGeom>
          <a:ln w="25400">
            <a:headEnd type="none" w="lg" len="lg"/>
            <a:tailEnd type="triangle" w="lg" len="lg"/>
          </a:ln>
        </p:spPr>
        <p:style>
          <a:lnRef idx="1">
            <a:schemeClr val="dk1"/>
          </a:lnRef>
          <a:fillRef idx="0">
            <a:schemeClr val="dk1"/>
          </a:fillRef>
          <a:effectRef idx="0">
            <a:schemeClr val="dk1"/>
          </a:effectRef>
          <a:fontRef idx="minor">
            <a:schemeClr val="tx1"/>
          </a:fontRef>
        </p:style>
      </p:cxnSp>
      <p:sp>
        <p:nvSpPr>
          <p:cNvPr id="41" name="Oval 40">
            <a:extLst>
              <a:ext uri="{FF2B5EF4-FFF2-40B4-BE49-F238E27FC236}">
                <a16:creationId xmlns:a16="http://schemas.microsoft.com/office/drawing/2014/main" xmlns="" id="{7CEADF47-46D3-476D-A9BC-A2EB75479092}"/>
              </a:ext>
            </a:extLst>
          </p:cNvPr>
          <p:cNvSpPr/>
          <p:nvPr/>
        </p:nvSpPr>
        <p:spPr>
          <a:xfrm>
            <a:off x="7068867" y="4593943"/>
            <a:ext cx="1272886" cy="56744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Receive</a:t>
            </a:r>
          </a:p>
        </p:txBody>
      </p:sp>
      <p:cxnSp>
        <p:nvCxnSpPr>
          <p:cNvPr id="42" name="Straight Arrow Connector 41">
            <a:extLst>
              <a:ext uri="{FF2B5EF4-FFF2-40B4-BE49-F238E27FC236}">
                <a16:creationId xmlns:a16="http://schemas.microsoft.com/office/drawing/2014/main" xmlns="" id="{E0B66D6F-80D1-40E5-B1B2-625BFF222F6E}"/>
              </a:ext>
            </a:extLst>
          </p:cNvPr>
          <p:cNvCxnSpPr>
            <a:cxnSpLocks/>
          </p:cNvCxnSpPr>
          <p:nvPr/>
        </p:nvCxnSpPr>
        <p:spPr>
          <a:xfrm>
            <a:off x="7647627" y="3633631"/>
            <a:ext cx="0" cy="1114849"/>
          </a:xfrm>
          <a:prstGeom prst="straightConnector1">
            <a:avLst/>
          </a:prstGeom>
          <a:ln w="25400">
            <a:headEnd type="triangle" w="lg" len="lg"/>
            <a:tailEnd type="none" w="lg" len="lg"/>
          </a:ln>
        </p:spPr>
        <p:style>
          <a:lnRef idx="1">
            <a:schemeClr val="dk1"/>
          </a:lnRef>
          <a:fillRef idx="0">
            <a:schemeClr val="dk1"/>
          </a:fillRef>
          <a:effectRef idx="0">
            <a:schemeClr val="dk1"/>
          </a:effectRef>
          <a:fontRef idx="minor">
            <a:schemeClr val="tx1"/>
          </a:fontRef>
        </p:style>
      </p:cxnSp>
      <p:sp>
        <p:nvSpPr>
          <p:cNvPr id="43" name="Freeform: Shape 96">
            <a:extLst>
              <a:ext uri="{FF2B5EF4-FFF2-40B4-BE49-F238E27FC236}">
                <a16:creationId xmlns:a16="http://schemas.microsoft.com/office/drawing/2014/main" xmlns="" id="{3BFA7EC7-F4CA-4F58-8270-72E4078C6683}"/>
              </a:ext>
            </a:extLst>
          </p:cNvPr>
          <p:cNvSpPr/>
          <p:nvPr/>
        </p:nvSpPr>
        <p:spPr>
          <a:xfrm>
            <a:off x="3186112" y="5025736"/>
            <a:ext cx="4461509" cy="727364"/>
          </a:xfrm>
          <a:custGeom>
            <a:avLst/>
            <a:gdLst>
              <a:gd name="connsiteX0" fmla="*/ 0 w 4267200"/>
              <a:gd name="connsiteY0" fmla="*/ 38100 h 800100"/>
              <a:gd name="connsiteX1" fmla="*/ 0 w 4267200"/>
              <a:gd name="connsiteY1" fmla="*/ 800100 h 800100"/>
              <a:gd name="connsiteX2" fmla="*/ 4267200 w 4267200"/>
              <a:gd name="connsiteY2" fmla="*/ 800100 h 800100"/>
              <a:gd name="connsiteX3" fmla="*/ 4267200 w 4267200"/>
              <a:gd name="connsiteY3" fmla="*/ 0 h 800100"/>
            </a:gdLst>
            <a:ahLst/>
            <a:cxnLst>
              <a:cxn ang="0">
                <a:pos x="connsiteX0" y="connsiteY0"/>
              </a:cxn>
              <a:cxn ang="0">
                <a:pos x="connsiteX1" y="connsiteY1"/>
              </a:cxn>
              <a:cxn ang="0">
                <a:pos x="connsiteX2" y="connsiteY2"/>
              </a:cxn>
              <a:cxn ang="0">
                <a:pos x="connsiteX3" y="connsiteY3"/>
              </a:cxn>
            </a:cxnLst>
            <a:rect l="l" t="t" r="r" b="b"/>
            <a:pathLst>
              <a:path w="4267200" h="800100">
                <a:moveTo>
                  <a:pt x="0" y="38100"/>
                </a:moveTo>
                <a:lnTo>
                  <a:pt x="0" y="800100"/>
                </a:lnTo>
                <a:lnTo>
                  <a:pt x="4267200" y="800100"/>
                </a:lnTo>
                <a:lnTo>
                  <a:pt x="4267200" y="0"/>
                </a:lnTo>
              </a:path>
            </a:pathLst>
          </a:custGeom>
          <a:noFill/>
          <a:ln>
            <a:solidFill>
              <a:schemeClr val="tx1"/>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xmlns="" id="{E8E216F4-3E57-404F-AFF2-27EE9022F66D}"/>
              </a:ext>
            </a:extLst>
          </p:cNvPr>
          <p:cNvSpPr txBox="1"/>
          <p:nvPr/>
        </p:nvSpPr>
        <p:spPr>
          <a:xfrm flipH="1">
            <a:off x="7705310" y="1820230"/>
            <a:ext cx="1059181" cy="307777"/>
          </a:xfrm>
          <a:prstGeom prst="rect">
            <a:avLst/>
          </a:prstGeom>
          <a:noFill/>
        </p:spPr>
        <p:txBody>
          <a:bodyPr wrap="square" rtlCol="0">
            <a:spAutoFit/>
          </a:bodyPr>
          <a:lstStyle/>
          <a:p>
            <a:pPr algn="ctr"/>
            <a:r>
              <a:rPr lang="en-IN" sz="1400" dirty="0"/>
              <a:t>Execute</a:t>
            </a:r>
          </a:p>
        </p:txBody>
      </p:sp>
      <p:cxnSp>
        <p:nvCxnSpPr>
          <p:cNvPr id="45" name="Straight Arrow Connector 44">
            <a:extLst>
              <a:ext uri="{FF2B5EF4-FFF2-40B4-BE49-F238E27FC236}">
                <a16:creationId xmlns:a16="http://schemas.microsoft.com/office/drawing/2014/main" xmlns="" id="{3C41A84B-90EC-4FEB-8CD9-7DA2C7574762}"/>
              </a:ext>
            </a:extLst>
          </p:cNvPr>
          <p:cNvCxnSpPr/>
          <p:nvPr/>
        </p:nvCxnSpPr>
        <p:spPr>
          <a:xfrm flipH="1">
            <a:off x="7863775" y="2074421"/>
            <a:ext cx="839037" cy="0"/>
          </a:xfrm>
          <a:prstGeom prst="straightConnector1">
            <a:avLst/>
          </a:prstGeom>
          <a:ln w="25400">
            <a:headEnd type="triangle" w="lg" len="lg"/>
            <a:tailEnd type="none" w="lg" len="lg"/>
          </a:ln>
        </p:spPr>
        <p:style>
          <a:lnRef idx="1">
            <a:schemeClr val="dk1"/>
          </a:lnRef>
          <a:fillRef idx="0">
            <a:schemeClr val="dk1"/>
          </a:fillRef>
          <a:effectRef idx="0">
            <a:schemeClr val="dk1"/>
          </a:effectRef>
          <a:fontRef idx="minor">
            <a:schemeClr val="tx1"/>
          </a:fontRef>
        </p:style>
      </p:cxnSp>
      <p:sp>
        <p:nvSpPr>
          <p:cNvPr id="46" name="Freeform: Shape 117">
            <a:extLst>
              <a:ext uri="{FF2B5EF4-FFF2-40B4-BE49-F238E27FC236}">
                <a16:creationId xmlns:a16="http://schemas.microsoft.com/office/drawing/2014/main" xmlns="" id="{8A108200-F5E7-484F-A22D-BAF7028F1560}"/>
              </a:ext>
            </a:extLst>
          </p:cNvPr>
          <p:cNvSpPr/>
          <p:nvPr/>
        </p:nvSpPr>
        <p:spPr>
          <a:xfrm>
            <a:off x="1739514" y="5010773"/>
            <a:ext cx="7364220" cy="1199527"/>
          </a:xfrm>
          <a:custGeom>
            <a:avLst/>
            <a:gdLst>
              <a:gd name="connsiteX0" fmla="*/ 0 w 4267200"/>
              <a:gd name="connsiteY0" fmla="*/ 38100 h 800100"/>
              <a:gd name="connsiteX1" fmla="*/ 0 w 4267200"/>
              <a:gd name="connsiteY1" fmla="*/ 800100 h 800100"/>
              <a:gd name="connsiteX2" fmla="*/ 4267200 w 4267200"/>
              <a:gd name="connsiteY2" fmla="*/ 800100 h 800100"/>
              <a:gd name="connsiteX3" fmla="*/ 4267200 w 4267200"/>
              <a:gd name="connsiteY3" fmla="*/ 0 h 800100"/>
            </a:gdLst>
            <a:ahLst/>
            <a:cxnLst>
              <a:cxn ang="0">
                <a:pos x="connsiteX0" y="connsiteY0"/>
              </a:cxn>
              <a:cxn ang="0">
                <a:pos x="connsiteX1" y="connsiteY1"/>
              </a:cxn>
              <a:cxn ang="0">
                <a:pos x="connsiteX2" y="connsiteY2"/>
              </a:cxn>
              <a:cxn ang="0">
                <a:pos x="connsiteX3" y="connsiteY3"/>
              </a:cxn>
            </a:cxnLst>
            <a:rect l="l" t="t" r="r" b="b"/>
            <a:pathLst>
              <a:path w="4267200" h="800100">
                <a:moveTo>
                  <a:pt x="0" y="38100"/>
                </a:moveTo>
                <a:lnTo>
                  <a:pt x="0" y="800100"/>
                </a:lnTo>
                <a:lnTo>
                  <a:pt x="4267200" y="800100"/>
                </a:lnTo>
                <a:lnTo>
                  <a:pt x="4267200" y="0"/>
                </a:lnTo>
              </a:path>
            </a:pathLst>
          </a:custGeom>
          <a:noFill/>
          <a:ln>
            <a:solidFill>
              <a:schemeClr val="tx1"/>
            </a:solidFill>
            <a:headEnd type="triangle"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31722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5"/>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40"/>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39"/>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4"/>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23"/>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2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9"/>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20"/>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p:bldP spid="10" grpId="0"/>
      <p:bldP spid="11" grpId="0"/>
      <p:bldP spid="12" grpId="0"/>
      <p:bldP spid="13" grpId="0"/>
      <p:bldP spid="14" grpId="0"/>
      <p:bldP spid="15" grpId="0" animBg="1"/>
      <p:bldP spid="16" grpId="0" animBg="1"/>
      <p:bldP spid="17" grpId="0" animBg="1"/>
      <p:bldP spid="19" grpId="0" animBg="1"/>
      <p:bldP spid="21" grpId="0" animBg="1"/>
      <p:bldP spid="23" grpId="0" animBg="1"/>
      <p:bldP spid="25" grpId="0" animBg="1"/>
      <p:bldP spid="26" grpId="0" animBg="1"/>
      <p:bldP spid="27" grpId="0" animBg="1"/>
      <p:bldP spid="28" grpId="0" animBg="1"/>
      <p:bldP spid="29" grpId="0"/>
      <p:bldP spid="30" grpId="0"/>
      <p:bldP spid="31" grpId="0"/>
      <p:bldP spid="32" grpId="0"/>
      <p:bldP spid="33" grpId="0" animBg="1"/>
      <p:bldP spid="34" grpId="0" animBg="1"/>
      <p:bldP spid="35" grpId="0" animBg="1"/>
      <p:bldP spid="37" grpId="0" animBg="1"/>
      <p:bldP spid="39" grpId="0" animBg="1"/>
      <p:bldP spid="41" grpId="0" animBg="1"/>
      <p:bldP spid="43" grpId="0" animBg="1"/>
      <p:bldP spid="44" grpId="0"/>
      <p:bldP spid="46"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RPC Mechanism</a:t>
            </a:r>
          </a:p>
        </p:txBody>
      </p:sp>
      <p:sp>
        <p:nvSpPr>
          <p:cNvPr id="47" name="Rectangle 46">
            <a:extLst>
              <a:ext uri="{FF2B5EF4-FFF2-40B4-BE49-F238E27FC236}">
                <a16:creationId xmlns:a16="http://schemas.microsoft.com/office/drawing/2014/main" xmlns="" id="{D5EADD9F-E33F-4B16-8833-C0DCD73C5132}"/>
              </a:ext>
            </a:extLst>
          </p:cNvPr>
          <p:cNvSpPr/>
          <p:nvPr/>
        </p:nvSpPr>
        <p:spPr>
          <a:xfrm>
            <a:off x="152400" y="1427946"/>
            <a:ext cx="2931087" cy="4191000"/>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Flowchart: Terminator 47">
            <a:extLst>
              <a:ext uri="{FF2B5EF4-FFF2-40B4-BE49-F238E27FC236}">
                <a16:creationId xmlns:a16="http://schemas.microsoft.com/office/drawing/2014/main" xmlns="" id="{5BE86F4A-46EA-4EC1-BD5B-1D46497011E9}"/>
              </a:ext>
            </a:extLst>
          </p:cNvPr>
          <p:cNvSpPr/>
          <p:nvPr/>
        </p:nvSpPr>
        <p:spPr>
          <a:xfrm>
            <a:off x="377190" y="1860515"/>
            <a:ext cx="2598420" cy="685292"/>
          </a:xfrm>
          <a:prstGeom prst="flowChartTermina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9" name="TextBox 48">
            <a:extLst>
              <a:ext uri="{FF2B5EF4-FFF2-40B4-BE49-F238E27FC236}">
                <a16:creationId xmlns:a16="http://schemas.microsoft.com/office/drawing/2014/main" xmlns="" id="{F37E9CF7-3A9B-4CEC-830D-5458ACBAC31B}"/>
              </a:ext>
            </a:extLst>
          </p:cNvPr>
          <p:cNvSpPr txBox="1"/>
          <p:nvPr/>
        </p:nvSpPr>
        <p:spPr>
          <a:xfrm flipH="1">
            <a:off x="457200" y="2025134"/>
            <a:ext cx="914401" cy="369332"/>
          </a:xfrm>
          <a:prstGeom prst="rect">
            <a:avLst/>
          </a:prstGeom>
          <a:noFill/>
        </p:spPr>
        <p:txBody>
          <a:bodyPr wrap="square" rtlCol="0">
            <a:spAutoFit/>
          </a:bodyPr>
          <a:lstStyle/>
          <a:p>
            <a:pPr algn="ctr"/>
            <a:r>
              <a:rPr lang="en-IN" dirty="0"/>
              <a:t>Return</a:t>
            </a:r>
          </a:p>
        </p:txBody>
      </p:sp>
      <p:sp>
        <p:nvSpPr>
          <p:cNvPr id="50" name="Flowchart: Terminator 49">
            <a:extLst>
              <a:ext uri="{FF2B5EF4-FFF2-40B4-BE49-F238E27FC236}">
                <a16:creationId xmlns:a16="http://schemas.microsoft.com/office/drawing/2014/main" xmlns="" id="{6E5411F2-5907-4B13-88A2-7982D27DF387}"/>
              </a:ext>
            </a:extLst>
          </p:cNvPr>
          <p:cNvSpPr/>
          <p:nvPr/>
        </p:nvSpPr>
        <p:spPr>
          <a:xfrm>
            <a:off x="337185" y="3244334"/>
            <a:ext cx="2640330" cy="794266"/>
          </a:xfrm>
          <a:prstGeom prst="flowChartTermina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1" name="Flowchart: Terminator 50">
            <a:extLst>
              <a:ext uri="{FF2B5EF4-FFF2-40B4-BE49-F238E27FC236}">
                <a16:creationId xmlns:a16="http://schemas.microsoft.com/office/drawing/2014/main" xmlns="" id="{9787364F-F07E-4381-9BA4-71E5A1D2830B}"/>
              </a:ext>
            </a:extLst>
          </p:cNvPr>
          <p:cNvSpPr/>
          <p:nvPr/>
        </p:nvSpPr>
        <p:spPr>
          <a:xfrm>
            <a:off x="377190" y="4647885"/>
            <a:ext cx="2598420" cy="704050"/>
          </a:xfrm>
          <a:prstGeom prst="flowChartTermina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2" name="TextBox 51">
            <a:extLst>
              <a:ext uri="{FF2B5EF4-FFF2-40B4-BE49-F238E27FC236}">
                <a16:creationId xmlns:a16="http://schemas.microsoft.com/office/drawing/2014/main" xmlns="" id="{A55E632B-DBC8-49A0-8E47-2366E6CFCC29}"/>
              </a:ext>
            </a:extLst>
          </p:cNvPr>
          <p:cNvSpPr txBox="1"/>
          <p:nvPr/>
        </p:nvSpPr>
        <p:spPr>
          <a:xfrm flipH="1">
            <a:off x="1212242" y="1524000"/>
            <a:ext cx="1059181" cy="369332"/>
          </a:xfrm>
          <a:prstGeom prst="rect">
            <a:avLst/>
          </a:prstGeom>
          <a:noFill/>
        </p:spPr>
        <p:txBody>
          <a:bodyPr wrap="square" rtlCol="0">
            <a:spAutoFit/>
          </a:bodyPr>
          <a:lstStyle/>
          <a:p>
            <a:pPr algn="ctr"/>
            <a:r>
              <a:rPr lang="en-IN" dirty="0"/>
              <a:t>Client</a:t>
            </a:r>
          </a:p>
        </p:txBody>
      </p:sp>
      <p:sp>
        <p:nvSpPr>
          <p:cNvPr id="53" name="TextBox 52">
            <a:extLst>
              <a:ext uri="{FF2B5EF4-FFF2-40B4-BE49-F238E27FC236}">
                <a16:creationId xmlns:a16="http://schemas.microsoft.com/office/drawing/2014/main" xmlns="" id="{ABF428B2-731B-4760-A94D-38FDEDCCD7C6}"/>
              </a:ext>
            </a:extLst>
          </p:cNvPr>
          <p:cNvSpPr txBox="1"/>
          <p:nvPr/>
        </p:nvSpPr>
        <p:spPr>
          <a:xfrm flipH="1">
            <a:off x="1146809" y="2907268"/>
            <a:ext cx="1226159" cy="369332"/>
          </a:xfrm>
          <a:prstGeom prst="rect">
            <a:avLst/>
          </a:prstGeom>
          <a:noFill/>
        </p:spPr>
        <p:txBody>
          <a:bodyPr wrap="square" rtlCol="0">
            <a:spAutoFit/>
          </a:bodyPr>
          <a:lstStyle/>
          <a:p>
            <a:pPr algn="ctr"/>
            <a:r>
              <a:rPr lang="en-IN" dirty="0"/>
              <a:t>Client Stub</a:t>
            </a:r>
          </a:p>
        </p:txBody>
      </p:sp>
      <p:sp>
        <p:nvSpPr>
          <p:cNvPr id="54" name="TextBox 53">
            <a:extLst>
              <a:ext uri="{FF2B5EF4-FFF2-40B4-BE49-F238E27FC236}">
                <a16:creationId xmlns:a16="http://schemas.microsoft.com/office/drawing/2014/main" xmlns="" id="{727D5814-F8AC-4AA9-B82E-A7AE74DF2E6E}"/>
              </a:ext>
            </a:extLst>
          </p:cNvPr>
          <p:cNvSpPr txBox="1"/>
          <p:nvPr/>
        </p:nvSpPr>
        <p:spPr>
          <a:xfrm flipH="1">
            <a:off x="997887" y="4267260"/>
            <a:ext cx="1523999" cy="369332"/>
          </a:xfrm>
          <a:prstGeom prst="rect">
            <a:avLst/>
          </a:prstGeom>
          <a:noFill/>
        </p:spPr>
        <p:txBody>
          <a:bodyPr wrap="square" rtlCol="0">
            <a:spAutoFit/>
          </a:bodyPr>
          <a:lstStyle/>
          <a:p>
            <a:pPr algn="ctr"/>
            <a:r>
              <a:rPr lang="en-IN" dirty="0"/>
              <a:t>RPCRuntime</a:t>
            </a:r>
          </a:p>
        </p:txBody>
      </p:sp>
      <p:sp>
        <p:nvSpPr>
          <p:cNvPr id="55" name="TextBox 54">
            <a:extLst>
              <a:ext uri="{FF2B5EF4-FFF2-40B4-BE49-F238E27FC236}">
                <a16:creationId xmlns:a16="http://schemas.microsoft.com/office/drawing/2014/main" xmlns="" id="{7BB6D6A1-91F1-47D2-A5AF-0AAA740AD90B}"/>
              </a:ext>
            </a:extLst>
          </p:cNvPr>
          <p:cNvSpPr txBox="1"/>
          <p:nvPr/>
        </p:nvSpPr>
        <p:spPr>
          <a:xfrm flipH="1">
            <a:off x="775043" y="1004620"/>
            <a:ext cx="1969689" cy="400110"/>
          </a:xfrm>
          <a:prstGeom prst="rect">
            <a:avLst/>
          </a:prstGeom>
          <a:noFill/>
        </p:spPr>
        <p:txBody>
          <a:bodyPr wrap="square" rtlCol="0">
            <a:spAutoFit/>
          </a:bodyPr>
          <a:lstStyle/>
          <a:p>
            <a:pPr algn="ctr"/>
            <a:r>
              <a:rPr lang="en-IN" sz="2000" dirty="0"/>
              <a:t>Client Machine</a:t>
            </a:r>
          </a:p>
        </p:txBody>
      </p:sp>
      <p:sp>
        <p:nvSpPr>
          <p:cNvPr id="56" name="TextBox 55">
            <a:extLst>
              <a:ext uri="{FF2B5EF4-FFF2-40B4-BE49-F238E27FC236}">
                <a16:creationId xmlns:a16="http://schemas.microsoft.com/office/drawing/2014/main" xmlns="" id="{95A8A2C2-C4EA-49CB-882B-874FD827632B}"/>
              </a:ext>
            </a:extLst>
          </p:cNvPr>
          <p:cNvSpPr txBox="1"/>
          <p:nvPr/>
        </p:nvSpPr>
        <p:spPr>
          <a:xfrm flipH="1">
            <a:off x="1303019" y="4724400"/>
            <a:ext cx="1059181" cy="307777"/>
          </a:xfrm>
          <a:prstGeom prst="rect">
            <a:avLst/>
          </a:prstGeom>
          <a:noFill/>
        </p:spPr>
        <p:txBody>
          <a:bodyPr wrap="square" rtlCol="0">
            <a:spAutoFit/>
          </a:bodyPr>
          <a:lstStyle/>
          <a:p>
            <a:pPr algn="ctr"/>
            <a:r>
              <a:rPr lang="en-IN" sz="1400" dirty="0"/>
              <a:t>Wait</a:t>
            </a:r>
          </a:p>
        </p:txBody>
      </p:sp>
      <p:sp>
        <p:nvSpPr>
          <p:cNvPr id="57" name="TextBox 56">
            <a:extLst>
              <a:ext uri="{FF2B5EF4-FFF2-40B4-BE49-F238E27FC236}">
                <a16:creationId xmlns:a16="http://schemas.microsoft.com/office/drawing/2014/main" xmlns="" id="{5E89303D-9055-4555-9185-F9056743BEAB}"/>
              </a:ext>
            </a:extLst>
          </p:cNvPr>
          <p:cNvSpPr txBox="1"/>
          <p:nvPr/>
        </p:nvSpPr>
        <p:spPr>
          <a:xfrm flipH="1">
            <a:off x="4032884" y="5475243"/>
            <a:ext cx="1411606" cy="369332"/>
          </a:xfrm>
          <a:prstGeom prst="rect">
            <a:avLst/>
          </a:prstGeom>
          <a:noFill/>
        </p:spPr>
        <p:txBody>
          <a:bodyPr wrap="square" rtlCol="0">
            <a:spAutoFit/>
          </a:bodyPr>
          <a:lstStyle/>
          <a:p>
            <a:pPr algn="ctr"/>
            <a:r>
              <a:rPr lang="en-IN" dirty="0"/>
              <a:t>Call Packet</a:t>
            </a:r>
          </a:p>
        </p:txBody>
      </p:sp>
      <p:sp>
        <p:nvSpPr>
          <p:cNvPr id="58" name="TextBox 57">
            <a:extLst>
              <a:ext uri="{FF2B5EF4-FFF2-40B4-BE49-F238E27FC236}">
                <a16:creationId xmlns:a16="http://schemas.microsoft.com/office/drawing/2014/main" xmlns="" id="{6A68FD89-AA78-4925-8BAA-7744B8B923ED}"/>
              </a:ext>
            </a:extLst>
          </p:cNvPr>
          <p:cNvSpPr txBox="1"/>
          <p:nvPr/>
        </p:nvSpPr>
        <p:spPr>
          <a:xfrm flipH="1">
            <a:off x="3783328" y="5955268"/>
            <a:ext cx="1910717" cy="369332"/>
          </a:xfrm>
          <a:prstGeom prst="rect">
            <a:avLst/>
          </a:prstGeom>
          <a:noFill/>
        </p:spPr>
        <p:txBody>
          <a:bodyPr wrap="square" rtlCol="0">
            <a:spAutoFit/>
          </a:bodyPr>
          <a:lstStyle/>
          <a:p>
            <a:pPr algn="ctr"/>
            <a:r>
              <a:rPr lang="en-IN" dirty="0"/>
              <a:t>Request Packet</a:t>
            </a:r>
          </a:p>
        </p:txBody>
      </p:sp>
      <p:sp>
        <p:nvSpPr>
          <p:cNvPr id="59" name="TextBox 58">
            <a:extLst>
              <a:ext uri="{FF2B5EF4-FFF2-40B4-BE49-F238E27FC236}">
                <a16:creationId xmlns:a16="http://schemas.microsoft.com/office/drawing/2014/main" xmlns="" id="{84BA269D-99DB-498A-BCEE-0DE96408A23B}"/>
              </a:ext>
            </a:extLst>
          </p:cNvPr>
          <p:cNvSpPr txBox="1"/>
          <p:nvPr/>
        </p:nvSpPr>
        <p:spPr>
          <a:xfrm>
            <a:off x="3087691" y="1404952"/>
            <a:ext cx="2939587" cy="1200329"/>
          </a:xfrm>
          <a:prstGeom prst="rect">
            <a:avLst/>
          </a:prstGeom>
          <a:noFill/>
        </p:spPr>
        <p:txBody>
          <a:bodyPr wrap="square" rtlCol="0">
            <a:spAutoFit/>
          </a:bodyPr>
          <a:lstStyle/>
          <a:p>
            <a:pPr marL="342900" indent="-342900" algn="just">
              <a:buFont typeface="+mj-lt"/>
              <a:buAutoNum type="arabicPeriod"/>
            </a:pPr>
            <a:r>
              <a:rPr lang="en-IN" dirty="0"/>
              <a:t>During the execution of a program, the client feels the need to </a:t>
            </a:r>
            <a:r>
              <a:rPr lang="en-IN" dirty="0">
                <a:solidFill>
                  <a:schemeClr val="accent6"/>
                </a:solidFill>
              </a:rPr>
              <a:t>call the server procedure.</a:t>
            </a:r>
          </a:p>
        </p:txBody>
      </p:sp>
      <p:sp>
        <p:nvSpPr>
          <p:cNvPr id="60" name="Oval 59">
            <a:extLst>
              <a:ext uri="{FF2B5EF4-FFF2-40B4-BE49-F238E27FC236}">
                <a16:creationId xmlns:a16="http://schemas.microsoft.com/office/drawing/2014/main" xmlns="" id="{F49BB9A5-A2BC-4853-839A-3C9925F2C75E}"/>
              </a:ext>
            </a:extLst>
          </p:cNvPr>
          <p:cNvSpPr/>
          <p:nvPr/>
        </p:nvSpPr>
        <p:spPr>
          <a:xfrm>
            <a:off x="2038950" y="1932298"/>
            <a:ext cx="772561" cy="552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Call</a:t>
            </a:r>
          </a:p>
        </p:txBody>
      </p:sp>
      <p:sp>
        <p:nvSpPr>
          <p:cNvPr id="61" name="Oval 60">
            <a:extLst>
              <a:ext uri="{FF2B5EF4-FFF2-40B4-BE49-F238E27FC236}">
                <a16:creationId xmlns:a16="http://schemas.microsoft.com/office/drawing/2014/main" xmlns="" id="{CC573F24-E7AE-436C-8C67-FDC6F59C0ED7}"/>
              </a:ext>
            </a:extLst>
          </p:cNvPr>
          <p:cNvSpPr/>
          <p:nvPr/>
        </p:nvSpPr>
        <p:spPr>
          <a:xfrm>
            <a:off x="413211" y="1905000"/>
            <a:ext cx="1186989" cy="56744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Return</a:t>
            </a:r>
          </a:p>
        </p:txBody>
      </p:sp>
      <p:sp>
        <p:nvSpPr>
          <p:cNvPr id="62" name="Oval 61">
            <a:extLst>
              <a:ext uri="{FF2B5EF4-FFF2-40B4-BE49-F238E27FC236}">
                <a16:creationId xmlns:a16="http://schemas.microsoft.com/office/drawing/2014/main" xmlns="" id="{AC29F6FE-58E8-49D8-AE13-6CF4234C58E6}"/>
              </a:ext>
            </a:extLst>
          </p:cNvPr>
          <p:cNvSpPr/>
          <p:nvPr/>
        </p:nvSpPr>
        <p:spPr>
          <a:xfrm>
            <a:off x="1952190" y="3333302"/>
            <a:ext cx="932314" cy="552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Pack</a:t>
            </a:r>
          </a:p>
        </p:txBody>
      </p:sp>
      <p:cxnSp>
        <p:nvCxnSpPr>
          <p:cNvPr id="63" name="Straight Arrow Connector 62">
            <a:extLst>
              <a:ext uri="{FF2B5EF4-FFF2-40B4-BE49-F238E27FC236}">
                <a16:creationId xmlns:a16="http://schemas.microsoft.com/office/drawing/2014/main" xmlns="" id="{BDD1EC3D-954E-4132-9771-5469A5218E76}"/>
              </a:ext>
            </a:extLst>
          </p:cNvPr>
          <p:cNvCxnSpPr>
            <a:cxnSpLocks/>
          </p:cNvCxnSpPr>
          <p:nvPr/>
        </p:nvCxnSpPr>
        <p:spPr>
          <a:xfrm>
            <a:off x="2438400" y="2358090"/>
            <a:ext cx="0" cy="1141860"/>
          </a:xfrm>
          <a:prstGeom prst="straightConnector1">
            <a:avLst/>
          </a:prstGeom>
          <a:ln w="25400">
            <a:headEnd type="none" w="lg" len="lg"/>
            <a:tailEnd type="triangle" w="lg" len="lg"/>
          </a:ln>
        </p:spPr>
        <p:style>
          <a:lnRef idx="1">
            <a:schemeClr val="dk1"/>
          </a:lnRef>
          <a:fillRef idx="0">
            <a:schemeClr val="dk1"/>
          </a:fillRef>
          <a:effectRef idx="0">
            <a:schemeClr val="dk1"/>
          </a:effectRef>
          <a:fontRef idx="minor">
            <a:schemeClr val="tx1"/>
          </a:fontRef>
        </p:style>
      </p:cxnSp>
      <p:sp>
        <p:nvSpPr>
          <p:cNvPr id="64" name="Oval 63">
            <a:extLst>
              <a:ext uri="{FF2B5EF4-FFF2-40B4-BE49-F238E27FC236}">
                <a16:creationId xmlns:a16="http://schemas.microsoft.com/office/drawing/2014/main" xmlns="" id="{8BBF3301-4537-4D6E-A8AA-BD2BB1366101}"/>
              </a:ext>
            </a:extLst>
          </p:cNvPr>
          <p:cNvSpPr/>
          <p:nvPr/>
        </p:nvSpPr>
        <p:spPr>
          <a:xfrm>
            <a:off x="381000" y="3352800"/>
            <a:ext cx="1271850" cy="56744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Unpack</a:t>
            </a:r>
          </a:p>
        </p:txBody>
      </p:sp>
      <p:cxnSp>
        <p:nvCxnSpPr>
          <p:cNvPr id="65" name="Straight Arrow Connector 64">
            <a:extLst>
              <a:ext uri="{FF2B5EF4-FFF2-40B4-BE49-F238E27FC236}">
                <a16:creationId xmlns:a16="http://schemas.microsoft.com/office/drawing/2014/main" xmlns="" id="{6C63E2AC-CC9F-40DB-91F6-FDF53965AEFA}"/>
              </a:ext>
            </a:extLst>
          </p:cNvPr>
          <p:cNvCxnSpPr>
            <a:cxnSpLocks/>
          </p:cNvCxnSpPr>
          <p:nvPr/>
        </p:nvCxnSpPr>
        <p:spPr>
          <a:xfrm>
            <a:off x="982276" y="2302880"/>
            <a:ext cx="0" cy="1197070"/>
          </a:xfrm>
          <a:prstGeom prst="straightConnector1">
            <a:avLst/>
          </a:prstGeom>
          <a:ln w="25400">
            <a:headEnd type="triangle" w="lg" len="lg"/>
            <a:tailEnd type="none" w="lg" len="lg"/>
          </a:ln>
        </p:spPr>
        <p:style>
          <a:lnRef idx="1">
            <a:schemeClr val="dk1"/>
          </a:lnRef>
          <a:fillRef idx="0">
            <a:schemeClr val="dk1"/>
          </a:fillRef>
          <a:effectRef idx="0">
            <a:schemeClr val="dk1"/>
          </a:effectRef>
          <a:fontRef idx="minor">
            <a:schemeClr val="tx1"/>
          </a:fontRef>
        </p:style>
      </p:cxnSp>
      <p:sp>
        <p:nvSpPr>
          <p:cNvPr id="66" name="Oval 65">
            <a:extLst>
              <a:ext uri="{FF2B5EF4-FFF2-40B4-BE49-F238E27FC236}">
                <a16:creationId xmlns:a16="http://schemas.microsoft.com/office/drawing/2014/main" xmlns="" id="{1EB77B4A-3B4F-43BA-B8D8-215727D98CB3}"/>
              </a:ext>
            </a:extLst>
          </p:cNvPr>
          <p:cNvSpPr/>
          <p:nvPr/>
        </p:nvSpPr>
        <p:spPr>
          <a:xfrm>
            <a:off x="1981200" y="4711988"/>
            <a:ext cx="951233" cy="552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Send</a:t>
            </a:r>
          </a:p>
        </p:txBody>
      </p:sp>
      <p:cxnSp>
        <p:nvCxnSpPr>
          <p:cNvPr id="67" name="Straight Arrow Connector 66">
            <a:extLst>
              <a:ext uri="{FF2B5EF4-FFF2-40B4-BE49-F238E27FC236}">
                <a16:creationId xmlns:a16="http://schemas.microsoft.com/office/drawing/2014/main" xmlns="" id="{F6E1725E-DD75-4674-B755-FD72FD036310}"/>
              </a:ext>
            </a:extLst>
          </p:cNvPr>
          <p:cNvCxnSpPr>
            <a:cxnSpLocks/>
          </p:cNvCxnSpPr>
          <p:nvPr/>
        </p:nvCxnSpPr>
        <p:spPr>
          <a:xfrm>
            <a:off x="2438400" y="3761951"/>
            <a:ext cx="0" cy="1129180"/>
          </a:xfrm>
          <a:prstGeom prst="straightConnector1">
            <a:avLst/>
          </a:prstGeom>
          <a:ln w="25400">
            <a:headEnd type="none" w="lg" len="lg"/>
            <a:tailEnd type="triangle" w="lg" len="lg"/>
          </a:ln>
        </p:spPr>
        <p:style>
          <a:lnRef idx="1">
            <a:schemeClr val="dk1"/>
          </a:lnRef>
          <a:fillRef idx="0">
            <a:schemeClr val="dk1"/>
          </a:fillRef>
          <a:effectRef idx="0">
            <a:schemeClr val="dk1"/>
          </a:effectRef>
          <a:fontRef idx="minor">
            <a:schemeClr val="tx1"/>
          </a:fontRef>
        </p:style>
      </p:cxnSp>
      <p:sp>
        <p:nvSpPr>
          <p:cNvPr id="68" name="Oval 67">
            <a:extLst>
              <a:ext uri="{FF2B5EF4-FFF2-40B4-BE49-F238E27FC236}">
                <a16:creationId xmlns:a16="http://schemas.microsoft.com/office/drawing/2014/main" xmlns="" id="{861CD487-79B3-4EAF-8BAF-21B5F9C041B8}"/>
              </a:ext>
            </a:extLst>
          </p:cNvPr>
          <p:cNvSpPr/>
          <p:nvPr/>
        </p:nvSpPr>
        <p:spPr>
          <a:xfrm>
            <a:off x="403516" y="4722263"/>
            <a:ext cx="1272886" cy="56744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Receive</a:t>
            </a:r>
          </a:p>
        </p:txBody>
      </p:sp>
      <p:cxnSp>
        <p:nvCxnSpPr>
          <p:cNvPr id="69" name="Straight Arrow Connector 68">
            <a:extLst>
              <a:ext uri="{FF2B5EF4-FFF2-40B4-BE49-F238E27FC236}">
                <a16:creationId xmlns:a16="http://schemas.microsoft.com/office/drawing/2014/main" xmlns="" id="{2870B386-B654-40BC-8E14-23A9A7B42D71}"/>
              </a:ext>
            </a:extLst>
          </p:cNvPr>
          <p:cNvCxnSpPr>
            <a:cxnSpLocks/>
          </p:cNvCxnSpPr>
          <p:nvPr/>
        </p:nvCxnSpPr>
        <p:spPr>
          <a:xfrm>
            <a:off x="982276" y="3761951"/>
            <a:ext cx="0" cy="1114849"/>
          </a:xfrm>
          <a:prstGeom prst="straightConnector1">
            <a:avLst/>
          </a:prstGeom>
          <a:ln w="25400">
            <a:headEnd type="triangle" w="lg" len="lg"/>
            <a:tailEnd type="none" w="lg" len="lg"/>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xmlns="" id="{08C1AA0A-1D0D-442B-AF27-FA11FC94CCE4}"/>
              </a:ext>
            </a:extLst>
          </p:cNvPr>
          <p:cNvCxnSpPr>
            <a:cxnSpLocks/>
          </p:cNvCxnSpPr>
          <p:nvPr/>
        </p:nvCxnSpPr>
        <p:spPr>
          <a:xfrm flipH="1">
            <a:off x="1443292" y="4999910"/>
            <a:ext cx="693419" cy="0"/>
          </a:xfrm>
          <a:prstGeom prst="straightConnector1">
            <a:avLst/>
          </a:prstGeom>
          <a:ln w="25400">
            <a:tailEnd type="triangle" w="lg" len="lg"/>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xmlns="" id="{E6F93323-A86D-475F-94D3-99BD6797AAE4}"/>
              </a:ext>
            </a:extLst>
          </p:cNvPr>
          <p:cNvSpPr/>
          <p:nvPr/>
        </p:nvSpPr>
        <p:spPr>
          <a:xfrm>
            <a:off x="6060513" y="1413926"/>
            <a:ext cx="2931087" cy="4191000"/>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Flowchart: Terminator 71">
            <a:extLst>
              <a:ext uri="{FF2B5EF4-FFF2-40B4-BE49-F238E27FC236}">
                <a16:creationId xmlns:a16="http://schemas.microsoft.com/office/drawing/2014/main" xmlns="" id="{FD5C41F0-A706-4D2B-8197-E7C72D63B54D}"/>
              </a:ext>
            </a:extLst>
          </p:cNvPr>
          <p:cNvSpPr/>
          <p:nvPr/>
        </p:nvSpPr>
        <p:spPr>
          <a:xfrm>
            <a:off x="6285303" y="1846495"/>
            <a:ext cx="2598420" cy="685292"/>
          </a:xfrm>
          <a:prstGeom prst="flowChartTermina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3" name="Flowchart: Terminator 72">
            <a:extLst>
              <a:ext uri="{FF2B5EF4-FFF2-40B4-BE49-F238E27FC236}">
                <a16:creationId xmlns:a16="http://schemas.microsoft.com/office/drawing/2014/main" xmlns="" id="{40CA48DA-140C-4599-BD8E-78C741737FB3}"/>
              </a:ext>
            </a:extLst>
          </p:cNvPr>
          <p:cNvSpPr/>
          <p:nvPr/>
        </p:nvSpPr>
        <p:spPr>
          <a:xfrm>
            <a:off x="6245298" y="3230314"/>
            <a:ext cx="2640330" cy="794266"/>
          </a:xfrm>
          <a:prstGeom prst="flowChartTermina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4" name="Flowchart: Terminator 73">
            <a:extLst>
              <a:ext uri="{FF2B5EF4-FFF2-40B4-BE49-F238E27FC236}">
                <a16:creationId xmlns:a16="http://schemas.microsoft.com/office/drawing/2014/main" xmlns="" id="{455591AB-233B-418E-A057-0381586DC066}"/>
              </a:ext>
            </a:extLst>
          </p:cNvPr>
          <p:cNvSpPr/>
          <p:nvPr/>
        </p:nvSpPr>
        <p:spPr>
          <a:xfrm>
            <a:off x="6285303" y="4633865"/>
            <a:ext cx="2598420" cy="704050"/>
          </a:xfrm>
          <a:prstGeom prst="flowChartTermina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5" name="TextBox 74">
            <a:extLst>
              <a:ext uri="{FF2B5EF4-FFF2-40B4-BE49-F238E27FC236}">
                <a16:creationId xmlns:a16="http://schemas.microsoft.com/office/drawing/2014/main" xmlns="" id="{A753A10B-4251-48FD-8DBD-F0804944F6F0}"/>
              </a:ext>
            </a:extLst>
          </p:cNvPr>
          <p:cNvSpPr txBox="1"/>
          <p:nvPr/>
        </p:nvSpPr>
        <p:spPr>
          <a:xfrm flipH="1">
            <a:off x="7120355" y="1509980"/>
            <a:ext cx="1059181" cy="369332"/>
          </a:xfrm>
          <a:prstGeom prst="rect">
            <a:avLst/>
          </a:prstGeom>
          <a:noFill/>
        </p:spPr>
        <p:txBody>
          <a:bodyPr wrap="square" rtlCol="0">
            <a:spAutoFit/>
          </a:bodyPr>
          <a:lstStyle/>
          <a:p>
            <a:pPr algn="ctr"/>
            <a:r>
              <a:rPr lang="en-IN" dirty="0"/>
              <a:t>Server</a:t>
            </a:r>
          </a:p>
        </p:txBody>
      </p:sp>
      <p:sp>
        <p:nvSpPr>
          <p:cNvPr id="76" name="TextBox 75">
            <a:extLst>
              <a:ext uri="{FF2B5EF4-FFF2-40B4-BE49-F238E27FC236}">
                <a16:creationId xmlns:a16="http://schemas.microsoft.com/office/drawing/2014/main" xmlns="" id="{A1A83ADE-70EE-47A1-B4EB-872D10A87579}"/>
              </a:ext>
            </a:extLst>
          </p:cNvPr>
          <p:cNvSpPr txBox="1"/>
          <p:nvPr/>
        </p:nvSpPr>
        <p:spPr>
          <a:xfrm flipH="1">
            <a:off x="7010591" y="2903725"/>
            <a:ext cx="1335915" cy="369332"/>
          </a:xfrm>
          <a:prstGeom prst="rect">
            <a:avLst/>
          </a:prstGeom>
          <a:noFill/>
        </p:spPr>
        <p:txBody>
          <a:bodyPr wrap="square" rtlCol="0">
            <a:spAutoFit/>
          </a:bodyPr>
          <a:lstStyle/>
          <a:p>
            <a:pPr algn="ctr"/>
            <a:r>
              <a:rPr lang="en-IN" dirty="0"/>
              <a:t>Server Stub</a:t>
            </a:r>
          </a:p>
        </p:txBody>
      </p:sp>
      <p:sp>
        <p:nvSpPr>
          <p:cNvPr id="77" name="TextBox 76">
            <a:extLst>
              <a:ext uri="{FF2B5EF4-FFF2-40B4-BE49-F238E27FC236}">
                <a16:creationId xmlns:a16="http://schemas.microsoft.com/office/drawing/2014/main" xmlns="" id="{A857A7B2-FF57-400A-B728-D4A72A6DA496}"/>
              </a:ext>
            </a:extLst>
          </p:cNvPr>
          <p:cNvSpPr txBox="1"/>
          <p:nvPr/>
        </p:nvSpPr>
        <p:spPr>
          <a:xfrm flipH="1">
            <a:off x="6906000" y="4253240"/>
            <a:ext cx="1523999" cy="369332"/>
          </a:xfrm>
          <a:prstGeom prst="rect">
            <a:avLst/>
          </a:prstGeom>
          <a:noFill/>
        </p:spPr>
        <p:txBody>
          <a:bodyPr wrap="square" rtlCol="0">
            <a:spAutoFit/>
          </a:bodyPr>
          <a:lstStyle/>
          <a:p>
            <a:pPr algn="ctr"/>
            <a:r>
              <a:rPr lang="en-IN" dirty="0"/>
              <a:t>RPCRuntime</a:t>
            </a:r>
          </a:p>
        </p:txBody>
      </p:sp>
      <p:sp>
        <p:nvSpPr>
          <p:cNvPr id="78" name="TextBox 77">
            <a:extLst>
              <a:ext uri="{FF2B5EF4-FFF2-40B4-BE49-F238E27FC236}">
                <a16:creationId xmlns:a16="http://schemas.microsoft.com/office/drawing/2014/main" xmlns="" id="{A43DE8CA-2DCC-482B-A338-25BE99327B43}"/>
              </a:ext>
            </a:extLst>
          </p:cNvPr>
          <p:cNvSpPr txBox="1"/>
          <p:nvPr/>
        </p:nvSpPr>
        <p:spPr>
          <a:xfrm flipH="1">
            <a:off x="6683156" y="990600"/>
            <a:ext cx="1969689" cy="400110"/>
          </a:xfrm>
          <a:prstGeom prst="rect">
            <a:avLst/>
          </a:prstGeom>
          <a:noFill/>
        </p:spPr>
        <p:txBody>
          <a:bodyPr wrap="square" rtlCol="0">
            <a:spAutoFit/>
          </a:bodyPr>
          <a:lstStyle/>
          <a:p>
            <a:pPr algn="ctr"/>
            <a:r>
              <a:rPr lang="en-IN" sz="2000" dirty="0"/>
              <a:t>Client Machine</a:t>
            </a:r>
          </a:p>
        </p:txBody>
      </p:sp>
      <p:sp>
        <p:nvSpPr>
          <p:cNvPr id="79" name="Oval 78">
            <a:extLst>
              <a:ext uri="{FF2B5EF4-FFF2-40B4-BE49-F238E27FC236}">
                <a16:creationId xmlns:a16="http://schemas.microsoft.com/office/drawing/2014/main" xmlns="" id="{4DC02ABE-079B-4CEC-84B2-746619F415BD}"/>
              </a:ext>
            </a:extLst>
          </p:cNvPr>
          <p:cNvSpPr/>
          <p:nvPr/>
        </p:nvSpPr>
        <p:spPr>
          <a:xfrm>
            <a:off x="6400800" y="1876778"/>
            <a:ext cx="772561" cy="552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Call</a:t>
            </a:r>
          </a:p>
        </p:txBody>
      </p:sp>
      <p:sp>
        <p:nvSpPr>
          <p:cNvPr id="80" name="Oval 79">
            <a:extLst>
              <a:ext uri="{FF2B5EF4-FFF2-40B4-BE49-F238E27FC236}">
                <a16:creationId xmlns:a16="http://schemas.microsoft.com/office/drawing/2014/main" xmlns="" id="{764497B3-52C3-4749-BFF6-DB642ED09341}"/>
              </a:ext>
            </a:extLst>
          </p:cNvPr>
          <p:cNvSpPr/>
          <p:nvPr/>
        </p:nvSpPr>
        <p:spPr>
          <a:xfrm>
            <a:off x="7678561" y="1877985"/>
            <a:ext cx="1160639" cy="55172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Return</a:t>
            </a:r>
          </a:p>
        </p:txBody>
      </p:sp>
      <p:sp>
        <p:nvSpPr>
          <p:cNvPr id="81" name="Oval 80">
            <a:extLst>
              <a:ext uri="{FF2B5EF4-FFF2-40B4-BE49-F238E27FC236}">
                <a16:creationId xmlns:a16="http://schemas.microsoft.com/office/drawing/2014/main" xmlns="" id="{2A7EDFEC-DBED-485C-8D5D-A6736DCDD5E9}"/>
              </a:ext>
            </a:extLst>
          </p:cNvPr>
          <p:cNvSpPr/>
          <p:nvPr/>
        </p:nvSpPr>
        <p:spPr>
          <a:xfrm>
            <a:off x="7860303" y="3319282"/>
            <a:ext cx="932314" cy="552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Pack</a:t>
            </a:r>
          </a:p>
        </p:txBody>
      </p:sp>
      <p:cxnSp>
        <p:nvCxnSpPr>
          <p:cNvPr id="82" name="Straight Arrow Connector 81">
            <a:extLst>
              <a:ext uri="{FF2B5EF4-FFF2-40B4-BE49-F238E27FC236}">
                <a16:creationId xmlns:a16="http://schemas.microsoft.com/office/drawing/2014/main" xmlns="" id="{E33710D0-30F7-4594-AA4D-C3A3C4F91F02}"/>
              </a:ext>
            </a:extLst>
          </p:cNvPr>
          <p:cNvCxnSpPr>
            <a:cxnSpLocks/>
          </p:cNvCxnSpPr>
          <p:nvPr/>
        </p:nvCxnSpPr>
        <p:spPr>
          <a:xfrm>
            <a:off x="8346513" y="2302880"/>
            <a:ext cx="0" cy="1183050"/>
          </a:xfrm>
          <a:prstGeom prst="straightConnector1">
            <a:avLst/>
          </a:prstGeom>
          <a:ln w="25400">
            <a:headEnd type="none" w="lg" len="lg"/>
            <a:tailEnd type="triangle" w="lg" len="lg"/>
          </a:ln>
        </p:spPr>
        <p:style>
          <a:lnRef idx="1">
            <a:schemeClr val="dk1"/>
          </a:lnRef>
          <a:fillRef idx="0">
            <a:schemeClr val="dk1"/>
          </a:fillRef>
          <a:effectRef idx="0">
            <a:schemeClr val="dk1"/>
          </a:effectRef>
          <a:fontRef idx="minor">
            <a:schemeClr val="tx1"/>
          </a:fontRef>
        </p:style>
      </p:cxnSp>
      <p:sp>
        <p:nvSpPr>
          <p:cNvPr id="83" name="Oval 82">
            <a:extLst>
              <a:ext uri="{FF2B5EF4-FFF2-40B4-BE49-F238E27FC236}">
                <a16:creationId xmlns:a16="http://schemas.microsoft.com/office/drawing/2014/main" xmlns="" id="{87E642EA-6C38-40E9-B2ED-6085DBCFF62E}"/>
              </a:ext>
            </a:extLst>
          </p:cNvPr>
          <p:cNvSpPr/>
          <p:nvPr/>
        </p:nvSpPr>
        <p:spPr>
          <a:xfrm>
            <a:off x="6289113" y="3338780"/>
            <a:ext cx="1271850" cy="56744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Unpack</a:t>
            </a:r>
          </a:p>
        </p:txBody>
      </p:sp>
      <p:cxnSp>
        <p:nvCxnSpPr>
          <p:cNvPr id="84" name="Straight Arrow Connector 83">
            <a:extLst>
              <a:ext uri="{FF2B5EF4-FFF2-40B4-BE49-F238E27FC236}">
                <a16:creationId xmlns:a16="http://schemas.microsoft.com/office/drawing/2014/main" xmlns="" id="{18DBDAAD-9369-4DA7-A73B-F270CBAFA4A1}"/>
              </a:ext>
            </a:extLst>
          </p:cNvPr>
          <p:cNvCxnSpPr>
            <a:cxnSpLocks/>
          </p:cNvCxnSpPr>
          <p:nvPr/>
        </p:nvCxnSpPr>
        <p:spPr>
          <a:xfrm>
            <a:off x="6890389" y="2288860"/>
            <a:ext cx="0" cy="1197070"/>
          </a:xfrm>
          <a:prstGeom prst="straightConnector1">
            <a:avLst/>
          </a:prstGeom>
          <a:ln w="25400">
            <a:headEnd type="triangle" w="lg" len="lg"/>
            <a:tailEnd type="none" w="lg" len="lg"/>
          </a:ln>
        </p:spPr>
        <p:style>
          <a:lnRef idx="1">
            <a:schemeClr val="dk1"/>
          </a:lnRef>
          <a:fillRef idx="0">
            <a:schemeClr val="dk1"/>
          </a:fillRef>
          <a:effectRef idx="0">
            <a:schemeClr val="dk1"/>
          </a:effectRef>
          <a:fontRef idx="minor">
            <a:schemeClr val="tx1"/>
          </a:fontRef>
        </p:style>
      </p:cxnSp>
      <p:sp>
        <p:nvSpPr>
          <p:cNvPr id="85" name="Oval 84">
            <a:extLst>
              <a:ext uri="{FF2B5EF4-FFF2-40B4-BE49-F238E27FC236}">
                <a16:creationId xmlns:a16="http://schemas.microsoft.com/office/drawing/2014/main" xmlns="" id="{46FEC3B5-D7AC-46E1-8DC0-60F55D9D0F53}"/>
              </a:ext>
            </a:extLst>
          </p:cNvPr>
          <p:cNvSpPr/>
          <p:nvPr/>
        </p:nvSpPr>
        <p:spPr>
          <a:xfrm>
            <a:off x="7889313" y="4697968"/>
            <a:ext cx="951233" cy="552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Send</a:t>
            </a:r>
          </a:p>
        </p:txBody>
      </p:sp>
      <p:cxnSp>
        <p:nvCxnSpPr>
          <p:cNvPr id="86" name="Straight Arrow Connector 85">
            <a:extLst>
              <a:ext uri="{FF2B5EF4-FFF2-40B4-BE49-F238E27FC236}">
                <a16:creationId xmlns:a16="http://schemas.microsoft.com/office/drawing/2014/main" xmlns="" id="{DFCBE98C-80F6-4AF9-BEAA-4143C6B0AE21}"/>
              </a:ext>
            </a:extLst>
          </p:cNvPr>
          <p:cNvCxnSpPr>
            <a:cxnSpLocks/>
          </p:cNvCxnSpPr>
          <p:nvPr/>
        </p:nvCxnSpPr>
        <p:spPr>
          <a:xfrm>
            <a:off x="8346513" y="3747931"/>
            <a:ext cx="0" cy="1129180"/>
          </a:xfrm>
          <a:prstGeom prst="straightConnector1">
            <a:avLst/>
          </a:prstGeom>
          <a:ln w="25400">
            <a:headEnd type="none" w="lg" len="lg"/>
            <a:tailEnd type="triangle" w="lg" len="lg"/>
          </a:ln>
        </p:spPr>
        <p:style>
          <a:lnRef idx="1">
            <a:schemeClr val="dk1"/>
          </a:lnRef>
          <a:fillRef idx="0">
            <a:schemeClr val="dk1"/>
          </a:fillRef>
          <a:effectRef idx="0">
            <a:schemeClr val="dk1"/>
          </a:effectRef>
          <a:fontRef idx="minor">
            <a:schemeClr val="tx1"/>
          </a:fontRef>
        </p:style>
      </p:cxnSp>
      <p:sp>
        <p:nvSpPr>
          <p:cNvPr id="87" name="Oval 86">
            <a:extLst>
              <a:ext uri="{FF2B5EF4-FFF2-40B4-BE49-F238E27FC236}">
                <a16:creationId xmlns:a16="http://schemas.microsoft.com/office/drawing/2014/main" xmlns="" id="{7CEADF47-46D3-476D-A9BC-A2EB75479092}"/>
              </a:ext>
            </a:extLst>
          </p:cNvPr>
          <p:cNvSpPr/>
          <p:nvPr/>
        </p:nvSpPr>
        <p:spPr>
          <a:xfrm>
            <a:off x="6311629" y="4708243"/>
            <a:ext cx="1272886" cy="56744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Receive</a:t>
            </a:r>
          </a:p>
        </p:txBody>
      </p:sp>
      <p:cxnSp>
        <p:nvCxnSpPr>
          <p:cNvPr id="88" name="Straight Arrow Connector 87">
            <a:extLst>
              <a:ext uri="{FF2B5EF4-FFF2-40B4-BE49-F238E27FC236}">
                <a16:creationId xmlns:a16="http://schemas.microsoft.com/office/drawing/2014/main" xmlns="" id="{E0B66D6F-80D1-40E5-B1B2-625BFF222F6E}"/>
              </a:ext>
            </a:extLst>
          </p:cNvPr>
          <p:cNvCxnSpPr>
            <a:cxnSpLocks/>
          </p:cNvCxnSpPr>
          <p:nvPr/>
        </p:nvCxnSpPr>
        <p:spPr>
          <a:xfrm>
            <a:off x="6890389" y="3747931"/>
            <a:ext cx="0" cy="1114849"/>
          </a:xfrm>
          <a:prstGeom prst="straightConnector1">
            <a:avLst/>
          </a:prstGeom>
          <a:ln w="25400">
            <a:headEnd type="triangle" w="lg" len="lg"/>
            <a:tailEnd type="none" w="lg" len="lg"/>
          </a:ln>
        </p:spPr>
        <p:style>
          <a:lnRef idx="1">
            <a:schemeClr val="dk1"/>
          </a:lnRef>
          <a:fillRef idx="0">
            <a:schemeClr val="dk1"/>
          </a:fillRef>
          <a:effectRef idx="0">
            <a:schemeClr val="dk1"/>
          </a:effectRef>
          <a:fontRef idx="minor">
            <a:schemeClr val="tx1"/>
          </a:fontRef>
        </p:style>
      </p:cxnSp>
      <p:sp>
        <p:nvSpPr>
          <p:cNvPr id="89" name="Freeform: Shape 96">
            <a:extLst>
              <a:ext uri="{FF2B5EF4-FFF2-40B4-BE49-F238E27FC236}">
                <a16:creationId xmlns:a16="http://schemas.microsoft.com/office/drawing/2014/main" xmlns="" id="{3BFA7EC7-F4CA-4F58-8270-72E4078C6683}"/>
              </a:ext>
            </a:extLst>
          </p:cNvPr>
          <p:cNvSpPr/>
          <p:nvPr/>
        </p:nvSpPr>
        <p:spPr>
          <a:xfrm>
            <a:off x="2428874" y="5140036"/>
            <a:ext cx="4461509" cy="727364"/>
          </a:xfrm>
          <a:custGeom>
            <a:avLst/>
            <a:gdLst>
              <a:gd name="connsiteX0" fmla="*/ 0 w 4267200"/>
              <a:gd name="connsiteY0" fmla="*/ 38100 h 800100"/>
              <a:gd name="connsiteX1" fmla="*/ 0 w 4267200"/>
              <a:gd name="connsiteY1" fmla="*/ 800100 h 800100"/>
              <a:gd name="connsiteX2" fmla="*/ 4267200 w 4267200"/>
              <a:gd name="connsiteY2" fmla="*/ 800100 h 800100"/>
              <a:gd name="connsiteX3" fmla="*/ 4267200 w 4267200"/>
              <a:gd name="connsiteY3" fmla="*/ 0 h 800100"/>
            </a:gdLst>
            <a:ahLst/>
            <a:cxnLst>
              <a:cxn ang="0">
                <a:pos x="connsiteX0" y="connsiteY0"/>
              </a:cxn>
              <a:cxn ang="0">
                <a:pos x="connsiteX1" y="connsiteY1"/>
              </a:cxn>
              <a:cxn ang="0">
                <a:pos x="connsiteX2" y="connsiteY2"/>
              </a:cxn>
              <a:cxn ang="0">
                <a:pos x="connsiteX3" y="connsiteY3"/>
              </a:cxn>
            </a:cxnLst>
            <a:rect l="l" t="t" r="r" b="b"/>
            <a:pathLst>
              <a:path w="4267200" h="800100">
                <a:moveTo>
                  <a:pt x="0" y="38100"/>
                </a:moveTo>
                <a:lnTo>
                  <a:pt x="0" y="800100"/>
                </a:lnTo>
                <a:lnTo>
                  <a:pt x="4267200" y="800100"/>
                </a:lnTo>
                <a:lnTo>
                  <a:pt x="4267200" y="0"/>
                </a:lnTo>
              </a:path>
            </a:pathLst>
          </a:custGeom>
          <a:noFill/>
          <a:ln>
            <a:solidFill>
              <a:schemeClr val="tx1"/>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TextBox 89">
            <a:extLst>
              <a:ext uri="{FF2B5EF4-FFF2-40B4-BE49-F238E27FC236}">
                <a16:creationId xmlns:a16="http://schemas.microsoft.com/office/drawing/2014/main" xmlns="" id="{E8E216F4-3E57-404F-AFF2-27EE9022F66D}"/>
              </a:ext>
            </a:extLst>
          </p:cNvPr>
          <p:cNvSpPr txBox="1"/>
          <p:nvPr/>
        </p:nvSpPr>
        <p:spPr>
          <a:xfrm flipH="1">
            <a:off x="6906000" y="1933576"/>
            <a:ext cx="1059181" cy="307777"/>
          </a:xfrm>
          <a:prstGeom prst="rect">
            <a:avLst/>
          </a:prstGeom>
          <a:noFill/>
        </p:spPr>
        <p:txBody>
          <a:bodyPr wrap="square" rtlCol="0">
            <a:spAutoFit/>
          </a:bodyPr>
          <a:lstStyle/>
          <a:p>
            <a:pPr algn="ctr"/>
            <a:r>
              <a:rPr lang="en-IN" sz="1400" dirty="0"/>
              <a:t>Execute</a:t>
            </a:r>
          </a:p>
        </p:txBody>
      </p:sp>
      <p:cxnSp>
        <p:nvCxnSpPr>
          <p:cNvPr id="91" name="Straight Arrow Connector 90">
            <a:extLst>
              <a:ext uri="{FF2B5EF4-FFF2-40B4-BE49-F238E27FC236}">
                <a16:creationId xmlns:a16="http://schemas.microsoft.com/office/drawing/2014/main" xmlns="" id="{3C41A84B-90EC-4FEB-8CD9-7DA2C7574762}"/>
              </a:ext>
            </a:extLst>
          </p:cNvPr>
          <p:cNvCxnSpPr/>
          <p:nvPr/>
        </p:nvCxnSpPr>
        <p:spPr>
          <a:xfrm flipH="1">
            <a:off x="7106537" y="2188721"/>
            <a:ext cx="839037" cy="0"/>
          </a:xfrm>
          <a:prstGeom prst="straightConnector1">
            <a:avLst/>
          </a:prstGeom>
          <a:ln w="25400">
            <a:headEnd type="triangle" w="lg" len="lg"/>
            <a:tailEnd type="none" w="lg" len="lg"/>
          </a:ln>
        </p:spPr>
        <p:style>
          <a:lnRef idx="1">
            <a:schemeClr val="dk1"/>
          </a:lnRef>
          <a:fillRef idx="0">
            <a:schemeClr val="dk1"/>
          </a:fillRef>
          <a:effectRef idx="0">
            <a:schemeClr val="dk1"/>
          </a:effectRef>
          <a:fontRef idx="minor">
            <a:schemeClr val="tx1"/>
          </a:fontRef>
        </p:style>
      </p:cxnSp>
      <p:sp>
        <p:nvSpPr>
          <p:cNvPr id="92" name="Freeform: Shape 117">
            <a:extLst>
              <a:ext uri="{FF2B5EF4-FFF2-40B4-BE49-F238E27FC236}">
                <a16:creationId xmlns:a16="http://schemas.microsoft.com/office/drawing/2014/main" xmlns="" id="{8A108200-F5E7-484F-A22D-BAF7028F1560}"/>
              </a:ext>
            </a:extLst>
          </p:cNvPr>
          <p:cNvSpPr/>
          <p:nvPr/>
        </p:nvSpPr>
        <p:spPr>
          <a:xfrm>
            <a:off x="982276" y="5125073"/>
            <a:ext cx="7364220" cy="1199527"/>
          </a:xfrm>
          <a:custGeom>
            <a:avLst/>
            <a:gdLst>
              <a:gd name="connsiteX0" fmla="*/ 0 w 4267200"/>
              <a:gd name="connsiteY0" fmla="*/ 38100 h 800100"/>
              <a:gd name="connsiteX1" fmla="*/ 0 w 4267200"/>
              <a:gd name="connsiteY1" fmla="*/ 800100 h 800100"/>
              <a:gd name="connsiteX2" fmla="*/ 4267200 w 4267200"/>
              <a:gd name="connsiteY2" fmla="*/ 800100 h 800100"/>
              <a:gd name="connsiteX3" fmla="*/ 4267200 w 4267200"/>
              <a:gd name="connsiteY3" fmla="*/ 0 h 800100"/>
            </a:gdLst>
            <a:ahLst/>
            <a:cxnLst>
              <a:cxn ang="0">
                <a:pos x="connsiteX0" y="connsiteY0"/>
              </a:cxn>
              <a:cxn ang="0">
                <a:pos x="connsiteX1" y="connsiteY1"/>
              </a:cxn>
              <a:cxn ang="0">
                <a:pos x="connsiteX2" y="connsiteY2"/>
              </a:cxn>
              <a:cxn ang="0">
                <a:pos x="connsiteX3" y="connsiteY3"/>
              </a:cxn>
            </a:cxnLst>
            <a:rect l="l" t="t" r="r" b="b"/>
            <a:pathLst>
              <a:path w="4267200" h="800100">
                <a:moveTo>
                  <a:pt x="0" y="38100"/>
                </a:moveTo>
                <a:lnTo>
                  <a:pt x="0" y="800100"/>
                </a:lnTo>
                <a:lnTo>
                  <a:pt x="4267200" y="800100"/>
                </a:lnTo>
                <a:lnTo>
                  <a:pt x="4267200" y="0"/>
                </a:lnTo>
              </a:path>
            </a:pathLst>
          </a:custGeom>
          <a:noFill/>
          <a:ln>
            <a:solidFill>
              <a:schemeClr val="tx1"/>
            </a:solidFill>
            <a:headEnd type="triangle"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3" name="TextBox 92">
            <a:extLst>
              <a:ext uri="{FF2B5EF4-FFF2-40B4-BE49-F238E27FC236}">
                <a16:creationId xmlns:a16="http://schemas.microsoft.com/office/drawing/2014/main" xmlns="" id="{F5C976B5-16B1-435F-85D4-D734F7033224}"/>
              </a:ext>
            </a:extLst>
          </p:cNvPr>
          <p:cNvSpPr txBox="1"/>
          <p:nvPr/>
        </p:nvSpPr>
        <p:spPr>
          <a:xfrm>
            <a:off x="3115041" y="1391645"/>
            <a:ext cx="2939587" cy="2308324"/>
          </a:xfrm>
          <a:prstGeom prst="rect">
            <a:avLst/>
          </a:prstGeom>
          <a:noFill/>
        </p:spPr>
        <p:txBody>
          <a:bodyPr wrap="square" rtlCol="0">
            <a:spAutoFit/>
          </a:bodyPr>
          <a:lstStyle/>
          <a:p>
            <a:pPr marL="342900" indent="-342900" algn="just">
              <a:buFont typeface="+mj-lt"/>
              <a:buAutoNum type="arabicPeriod" startAt="2"/>
            </a:pPr>
            <a:r>
              <a:rPr lang="en-IN" dirty="0"/>
              <a:t>The client process call the server procedure.</a:t>
            </a:r>
          </a:p>
          <a:p>
            <a:pPr algn="just"/>
            <a:endParaRPr lang="en-IN" dirty="0"/>
          </a:p>
          <a:p>
            <a:pPr marL="285750" indent="-285750" algn="just">
              <a:buFont typeface="Wingdings" panose="05000000000000000000" pitchFamily="2" charset="2"/>
              <a:buChar char="§"/>
            </a:pPr>
            <a:r>
              <a:rPr lang="en-IN" dirty="0"/>
              <a:t>Just</a:t>
            </a:r>
            <a:r>
              <a:rPr lang="en-IN" dirty="0">
                <a:solidFill>
                  <a:schemeClr val="accent6"/>
                </a:solidFill>
              </a:rPr>
              <a:t> like local procedure call, </a:t>
            </a:r>
            <a:r>
              <a:rPr lang="en-IN" dirty="0"/>
              <a:t>the client process </a:t>
            </a:r>
            <a:r>
              <a:rPr lang="en-IN" dirty="0">
                <a:solidFill>
                  <a:schemeClr val="accent6"/>
                </a:solidFill>
              </a:rPr>
              <a:t>sends the arguments </a:t>
            </a:r>
            <a:r>
              <a:rPr lang="en-IN" dirty="0"/>
              <a:t>required for the execution of the program.</a:t>
            </a:r>
          </a:p>
        </p:txBody>
      </p:sp>
      <p:sp>
        <p:nvSpPr>
          <p:cNvPr id="94" name="TextBox 93">
            <a:extLst>
              <a:ext uri="{FF2B5EF4-FFF2-40B4-BE49-F238E27FC236}">
                <a16:creationId xmlns:a16="http://schemas.microsoft.com/office/drawing/2014/main" xmlns="" id="{1A5970F4-34CF-478D-BA04-672B5CF4F550}"/>
              </a:ext>
            </a:extLst>
          </p:cNvPr>
          <p:cNvSpPr txBox="1"/>
          <p:nvPr/>
        </p:nvSpPr>
        <p:spPr>
          <a:xfrm>
            <a:off x="3138738" y="1422082"/>
            <a:ext cx="2939587" cy="2862322"/>
          </a:xfrm>
          <a:prstGeom prst="rect">
            <a:avLst/>
          </a:prstGeom>
          <a:noFill/>
        </p:spPr>
        <p:txBody>
          <a:bodyPr wrap="square" rtlCol="0">
            <a:spAutoFit/>
          </a:bodyPr>
          <a:lstStyle/>
          <a:p>
            <a:pPr marL="342900" indent="-342900" algn="just">
              <a:buFont typeface="+mj-lt"/>
              <a:buAutoNum type="arabicPeriod" startAt="3"/>
            </a:pPr>
            <a:r>
              <a:rPr lang="en-IN" dirty="0"/>
              <a:t>The client process has </a:t>
            </a:r>
            <a:r>
              <a:rPr lang="en-IN" dirty="0">
                <a:solidFill>
                  <a:schemeClr val="accent6"/>
                </a:solidFill>
              </a:rPr>
              <a:t>passed the parameter </a:t>
            </a:r>
            <a:r>
              <a:rPr lang="en-IN" dirty="0"/>
              <a:t>for the </a:t>
            </a:r>
            <a:r>
              <a:rPr lang="en-IN" dirty="0">
                <a:solidFill>
                  <a:schemeClr val="accent6"/>
                </a:solidFill>
              </a:rPr>
              <a:t>server process, </a:t>
            </a:r>
            <a:r>
              <a:rPr lang="en-IN" dirty="0"/>
              <a:t>but server can only </a:t>
            </a:r>
            <a:r>
              <a:rPr lang="en-IN" dirty="0">
                <a:solidFill>
                  <a:schemeClr val="accent6"/>
                </a:solidFill>
              </a:rPr>
              <a:t>understand message, not parameters. </a:t>
            </a:r>
          </a:p>
          <a:p>
            <a:pPr marL="342900" indent="-342900" algn="just">
              <a:buFont typeface="+mj-lt"/>
              <a:buAutoNum type="arabicPeriod" startAt="3"/>
            </a:pPr>
            <a:endParaRPr lang="en-IN" dirty="0"/>
          </a:p>
          <a:p>
            <a:pPr marL="285750" indent="-285750" algn="just">
              <a:buFont typeface="Wingdings" panose="05000000000000000000" pitchFamily="2" charset="2"/>
              <a:buChar char="§"/>
            </a:pPr>
            <a:r>
              <a:rPr lang="en-IN" dirty="0">
                <a:solidFill>
                  <a:schemeClr val="accent6"/>
                </a:solidFill>
              </a:rPr>
              <a:t>The client stub packs the arguments in the form of message.</a:t>
            </a:r>
          </a:p>
        </p:txBody>
      </p:sp>
      <p:sp>
        <p:nvSpPr>
          <p:cNvPr id="95" name="TextBox 94">
            <a:extLst>
              <a:ext uri="{FF2B5EF4-FFF2-40B4-BE49-F238E27FC236}">
                <a16:creationId xmlns:a16="http://schemas.microsoft.com/office/drawing/2014/main" xmlns="" id="{CA1F2662-1578-45DC-90EC-4B4E4FA6171C}"/>
              </a:ext>
            </a:extLst>
          </p:cNvPr>
          <p:cNvSpPr txBox="1"/>
          <p:nvPr/>
        </p:nvSpPr>
        <p:spPr>
          <a:xfrm>
            <a:off x="3121542" y="1431667"/>
            <a:ext cx="2646962" cy="923330"/>
          </a:xfrm>
          <a:prstGeom prst="rect">
            <a:avLst/>
          </a:prstGeom>
          <a:noFill/>
        </p:spPr>
        <p:txBody>
          <a:bodyPr wrap="square" rtlCol="0">
            <a:spAutoFit/>
          </a:bodyPr>
          <a:lstStyle/>
          <a:p>
            <a:pPr marL="342900" indent="-342900" algn="just">
              <a:buFont typeface="+mj-lt"/>
              <a:buAutoNum type="arabicPeriod" startAt="4"/>
            </a:pPr>
            <a:r>
              <a:rPr lang="en-IN" dirty="0"/>
              <a:t>It passes the message to the underlying communication layers.</a:t>
            </a:r>
          </a:p>
        </p:txBody>
      </p:sp>
      <p:sp>
        <p:nvSpPr>
          <p:cNvPr id="96" name="TextBox 95">
            <a:extLst>
              <a:ext uri="{FF2B5EF4-FFF2-40B4-BE49-F238E27FC236}">
                <a16:creationId xmlns:a16="http://schemas.microsoft.com/office/drawing/2014/main" xmlns="" id="{2B9BE5F2-013E-4A89-8D4C-4214C3FD651B}"/>
              </a:ext>
            </a:extLst>
          </p:cNvPr>
          <p:cNvSpPr txBox="1"/>
          <p:nvPr/>
        </p:nvSpPr>
        <p:spPr>
          <a:xfrm>
            <a:off x="3131234" y="1425717"/>
            <a:ext cx="2881531" cy="1754326"/>
          </a:xfrm>
          <a:prstGeom prst="rect">
            <a:avLst/>
          </a:prstGeom>
          <a:noFill/>
        </p:spPr>
        <p:txBody>
          <a:bodyPr wrap="square" rtlCol="0">
            <a:spAutoFit/>
          </a:bodyPr>
          <a:lstStyle/>
          <a:p>
            <a:pPr marL="342900" indent="-342900" algn="just">
              <a:buFont typeface="+mj-lt"/>
              <a:buAutoNum type="arabicPeriod" startAt="5"/>
            </a:pPr>
            <a:r>
              <a:rPr lang="en-IN" dirty="0"/>
              <a:t>It sends the message to the server system.</a:t>
            </a:r>
          </a:p>
          <a:p>
            <a:pPr marL="342900" indent="-342900" algn="just">
              <a:buFont typeface="+mj-lt"/>
              <a:buAutoNum type="arabicPeriod" startAt="5"/>
            </a:pPr>
            <a:endParaRPr lang="en-IN" dirty="0"/>
          </a:p>
          <a:p>
            <a:pPr marL="285750" indent="-285750" algn="just">
              <a:buFont typeface="Wingdings" panose="05000000000000000000" pitchFamily="2" charset="2"/>
              <a:buChar char="§"/>
            </a:pPr>
            <a:r>
              <a:rPr lang="en-IN" dirty="0"/>
              <a:t>Sockets are used in the communication between the client and server.</a:t>
            </a:r>
          </a:p>
        </p:txBody>
      </p:sp>
      <p:sp>
        <p:nvSpPr>
          <p:cNvPr id="97" name="TextBox 96">
            <a:extLst>
              <a:ext uri="{FF2B5EF4-FFF2-40B4-BE49-F238E27FC236}">
                <a16:creationId xmlns:a16="http://schemas.microsoft.com/office/drawing/2014/main" xmlns="" id="{EDB4B317-6DD2-4C37-A515-22D0CF46DF9B}"/>
              </a:ext>
            </a:extLst>
          </p:cNvPr>
          <p:cNvSpPr txBox="1"/>
          <p:nvPr/>
        </p:nvSpPr>
        <p:spPr>
          <a:xfrm>
            <a:off x="3125183" y="1463620"/>
            <a:ext cx="2881531" cy="2585323"/>
          </a:xfrm>
          <a:prstGeom prst="rect">
            <a:avLst/>
          </a:prstGeom>
          <a:noFill/>
        </p:spPr>
        <p:txBody>
          <a:bodyPr wrap="square" rtlCol="0">
            <a:spAutoFit/>
          </a:bodyPr>
          <a:lstStyle/>
          <a:p>
            <a:pPr marL="342900" indent="-342900" algn="just">
              <a:buFont typeface="+mj-lt"/>
              <a:buAutoNum type="arabicPeriod" startAt="6"/>
            </a:pPr>
            <a:r>
              <a:rPr lang="en-IN" dirty="0"/>
              <a:t>The receiver socket at the server end receives the packets from the client and recognized that it is a procedure call.</a:t>
            </a:r>
          </a:p>
          <a:p>
            <a:pPr marL="342900" indent="-342900" algn="just">
              <a:buFont typeface="+mj-lt"/>
              <a:buAutoNum type="arabicPeriod" startAt="5"/>
            </a:pPr>
            <a:endParaRPr lang="en-IN" dirty="0"/>
          </a:p>
          <a:p>
            <a:pPr marL="285750" indent="-285750" algn="just">
              <a:buFont typeface="Wingdings" panose="05000000000000000000" pitchFamily="2" charset="2"/>
              <a:buChar char="§"/>
            </a:pPr>
            <a:r>
              <a:rPr lang="en-IN" dirty="0"/>
              <a:t>The message is then redirected to the server stub.</a:t>
            </a:r>
          </a:p>
        </p:txBody>
      </p:sp>
      <p:sp>
        <p:nvSpPr>
          <p:cNvPr id="98" name="TextBox 97">
            <a:extLst>
              <a:ext uri="{FF2B5EF4-FFF2-40B4-BE49-F238E27FC236}">
                <a16:creationId xmlns:a16="http://schemas.microsoft.com/office/drawing/2014/main" xmlns="" id="{E82647B1-AA73-4427-B337-6959E0906617}"/>
              </a:ext>
            </a:extLst>
          </p:cNvPr>
          <p:cNvSpPr txBox="1"/>
          <p:nvPr/>
        </p:nvSpPr>
        <p:spPr>
          <a:xfrm>
            <a:off x="3040128" y="1435049"/>
            <a:ext cx="3039677" cy="3693319"/>
          </a:xfrm>
          <a:prstGeom prst="rect">
            <a:avLst/>
          </a:prstGeom>
          <a:noFill/>
        </p:spPr>
        <p:txBody>
          <a:bodyPr wrap="square" rtlCol="0">
            <a:spAutoFit/>
          </a:bodyPr>
          <a:lstStyle/>
          <a:p>
            <a:pPr marL="342900" indent="-342900" algn="just">
              <a:buFont typeface="+mj-lt"/>
              <a:buAutoNum type="arabicPeriod" startAt="7"/>
            </a:pPr>
            <a:r>
              <a:rPr lang="en-IN" dirty="0"/>
              <a:t>The server stub unpack the parameters. </a:t>
            </a:r>
          </a:p>
          <a:p>
            <a:pPr marL="342900" indent="-342900" algn="just">
              <a:buFont typeface="+mj-lt"/>
              <a:buAutoNum type="arabicPeriod" startAt="7"/>
            </a:pPr>
            <a:endParaRPr lang="en-IN" dirty="0"/>
          </a:p>
          <a:p>
            <a:pPr marL="285750" indent="-285750" algn="just">
              <a:buFont typeface="Wingdings" panose="05000000000000000000" pitchFamily="2" charset="2"/>
              <a:buChar char="§"/>
            </a:pPr>
            <a:r>
              <a:rPr lang="en-IN" dirty="0"/>
              <a:t>It calls the desired server routine using the regular procedure call mechanism.</a:t>
            </a:r>
          </a:p>
          <a:p>
            <a:pPr marL="285750" indent="-285750" algn="just">
              <a:buFont typeface="Arial" panose="020B0604020202020204" pitchFamily="34" charset="0"/>
              <a:buChar char="•"/>
            </a:pPr>
            <a:endParaRPr lang="en-IN" dirty="0"/>
          </a:p>
          <a:p>
            <a:pPr marL="285750" indent="-285750" algn="just">
              <a:buFont typeface="Wingdings" panose="05000000000000000000" pitchFamily="2" charset="2"/>
              <a:buChar char="§"/>
            </a:pPr>
            <a:r>
              <a:rPr lang="en-IN" dirty="0"/>
              <a:t>The server stub and the client stub </a:t>
            </a:r>
            <a:r>
              <a:rPr lang="en-IN" dirty="0">
                <a:solidFill>
                  <a:schemeClr val="accent6"/>
                </a:solidFill>
              </a:rPr>
              <a:t>must share the same standards of encoding the parameters, </a:t>
            </a:r>
            <a:r>
              <a:rPr lang="en-IN" dirty="0"/>
              <a:t>else the parameters could be misread at the server end.</a:t>
            </a:r>
          </a:p>
        </p:txBody>
      </p:sp>
      <p:sp>
        <p:nvSpPr>
          <p:cNvPr id="99" name="TextBox 98">
            <a:extLst>
              <a:ext uri="{FF2B5EF4-FFF2-40B4-BE49-F238E27FC236}">
                <a16:creationId xmlns:a16="http://schemas.microsoft.com/office/drawing/2014/main" xmlns="" id="{3CB0C253-F044-4200-B12E-67F55658BCFE}"/>
              </a:ext>
            </a:extLst>
          </p:cNvPr>
          <p:cNvSpPr txBox="1"/>
          <p:nvPr/>
        </p:nvSpPr>
        <p:spPr>
          <a:xfrm>
            <a:off x="3085005" y="1458469"/>
            <a:ext cx="3039677" cy="3416320"/>
          </a:xfrm>
          <a:prstGeom prst="rect">
            <a:avLst/>
          </a:prstGeom>
          <a:noFill/>
        </p:spPr>
        <p:txBody>
          <a:bodyPr wrap="square" rtlCol="0">
            <a:spAutoFit/>
          </a:bodyPr>
          <a:lstStyle/>
          <a:p>
            <a:pPr marL="342900" indent="-342900" algn="just">
              <a:buFont typeface="+mj-lt"/>
              <a:buAutoNum type="arabicPeriod" startAt="8"/>
            </a:pPr>
            <a:r>
              <a:rPr lang="en-IN" dirty="0"/>
              <a:t>The process running on the server recognizes the parameters and performs the required operations, and sends the return value to the server stub.</a:t>
            </a:r>
          </a:p>
          <a:p>
            <a:pPr algn="just"/>
            <a:endParaRPr lang="en-IN" dirty="0"/>
          </a:p>
          <a:p>
            <a:pPr marL="285750" indent="-285750" algn="just">
              <a:buFont typeface="Wingdings" panose="05000000000000000000" pitchFamily="2" charset="2"/>
              <a:buChar char="§"/>
            </a:pPr>
            <a:r>
              <a:rPr lang="en-IN" dirty="0"/>
              <a:t>The server procedure feels that the caller process is the server stub, and has no idea about the client process.</a:t>
            </a:r>
          </a:p>
        </p:txBody>
      </p:sp>
      <p:sp>
        <p:nvSpPr>
          <p:cNvPr id="100" name="TextBox 99">
            <a:extLst>
              <a:ext uri="{FF2B5EF4-FFF2-40B4-BE49-F238E27FC236}">
                <a16:creationId xmlns:a16="http://schemas.microsoft.com/office/drawing/2014/main" xmlns="" id="{4268BB73-8668-4F33-8A92-3CBDFA579448}"/>
              </a:ext>
            </a:extLst>
          </p:cNvPr>
          <p:cNvSpPr txBox="1"/>
          <p:nvPr/>
        </p:nvSpPr>
        <p:spPr>
          <a:xfrm>
            <a:off x="3097744" y="1404730"/>
            <a:ext cx="3039677" cy="3139321"/>
          </a:xfrm>
          <a:prstGeom prst="rect">
            <a:avLst/>
          </a:prstGeom>
          <a:noFill/>
        </p:spPr>
        <p:txBody>
          <a:bodyPr wrap="square" rtlCol="0">
            <a:spAutoFit/>
          </a:bodyPr>
          <a:lstStyle/>
          <a:p>
            <a:pPr marL="342900" indent="-342900" algn="just">
              <a:buFont typeface="+mj-lt"/>
              <a:buAutoNum type="arabicPeriod" startAt="9"/>
            </a:pPr>
            <a:r>
              <a:rPr lang="en-IN" dirty="0"/>
              <a:t>As it happened the client system, the server stub packs the return value into a message, and sends it to the RPC runtime system.</a:t>
            </a:r>
          </a:p>
          <a:p>
            <a:pPr marL="342900" indent="-342900" algn="just">
              <a:buFont typeface="+mj-lt"/>
              <a:buAutoNum type="arabicPeriod" startAt="9"/>
            </a:pPr>
            <a:endParaRPr lang="en-IN" dirty="0"/>
          </a:p>
          <a:p>
            <a:pPr marL="342900" indent="-342900" algn="just">
              <a:buFont typeface="Wingdings" panose="05000000000000000000" pitchFamily="2" charset="2"/>
              <a:buChar char="§"/>
            </a:pPr>
            <a:r>
              <a:rPr lang="en-IN" dirty="0"/>
              <a:t>The underlying layers of the communication system will then send the message back to the client system. </a:t>
            </a:r>
          </a:p>
        </p:txBody>
      </p:sp>
      <p:sp>
        <p:nvSpPr>
          <p:cNvPr id="101" name="TextBox 100">
            <a:extLst>
              <a:ext uri="{FF2B5EF4-FFF2-40B4-BE49-F238E27FC236}">
                <a16:creationId xmlns:a16="http://schemas.microsoft.com/office/drawing/2014/main" xmlns="" id="{446F2C9B-3254-45AA-80B5-4B22BF5E8CA7}"/>
              </a:ext>
            </a:extLst>
          </p:cNvPr>
          <p:cNvSpPr txBox="1"/>
          <p:nvPr/>
        </p:nvSpPr>
        <p:spPr>
          <a:xfrm>
            <a:off x="3105352" y="1442885"/>
            <a:ext cx="3039677" cy="3970318"/>
          </a:xfrm>
          <a:prstGeom prst="rect">
            <a:avLst/>
          </a:prstGeom>
          <a:noFill/>
        </p:spPr>
        <p:txBody>
          <a:bodyPr wrap="square" rtlCol="0">
            <a:spAutoFit/>
          </a:bodyPr>
          <a:lstStyle/>
          <a:p>
            <a:pPr marL="342900" indent="-342900" algn="just">
              <a:buFont typeface="+mj-lt"/>
              <a:buAutoNum type="arabicPeriod" startAt="10"/>
            </a:pPr>
            <a:r>
              <a:rPr lang="en-IN" dirty="0"/>
              <a:t>The client system captures the packets, parses and sends the message to the client stub.</a:t>
            </a:r>
          </a:p>
          <a:p>
            <a:pPr marL="342900" indent="-342900" algn="just">
              <a:buFont typeface="+mj-lt"/>
              <a:buAutoNum type="arabicPeriod" startAt="10"/>
            </a:pPr>
            <a:endParaRPr lang="en-IN" dirty="0"/>
          </a:p>
          <a:p>
            <a:pPr marL="342900" indent="-342900" algn="just">
              <a:buFont typeface="Wingdings" panose="05000000000000000000" pitchFamily="2" charset="2"/>
              <a:buChar char="§"/>
            </a:pPr>
            <a:r>
              <a:rPr lang="en-IN" dirty="0"/>
              <a:t>Client stub unpacks the parameters and sends the return value to the client process.</a:t>
            </a:r>
          </a:p>
          <a:p>
            <a:pPr marL="342900" indent="-342900" algn="just">
              <a:buFont typeface="Wingdings" panose="05000000000000000000" pitchFamily="2" charset="2"/>
              <a:buChar char="§"/>
            </a:pPr>
            <a:endParaRPr lang="en-IN" dirty="0"/>
          </a:p>
          <a:p>
            <a:pPr marL="342900" indent="-342900" algn="just">
              <a:buFont typeface="Wingdings" panose="05000000000000000000" pitchFamily="2" charset="2"/>
              <a:buChar char="§"/>
            </a:pPr>
            <a:r>
              <a:rPr lang="en-IN" dirty="0"/>
              <a:t>The client process which was blocked till now, is activated and the process continues its execution.</a:t>
            </a:r>
          </a:p>
        </p:txBody>
      </p:sp>
    </p:spTree>
    <p:extLst>
      <p:ext uri="{BB962C8B-B14F-4D97-AF65-F5344CB8AC3E}">
        <p14:creationId xmlns:p14="http://schemas.microsoft.com/office/powerpoint/2010/main" val="329715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2" fill="hold" nodeType="clickEffect">
                                  <p:stCondLst>
                                    <p:cond delay="0"/>
                                  </p:stCondLst>
                                  <p:childTnLst>
                                    <p:animClr clrSpc="rgb" dir="cw">
                                      <p:cBhvr>
                                        <p:cTn id="10" dur="500" fill="hold"/>
                                        <p:tgtEl>
                                          <p:spTgt spid="60"/>
                                        </p:tgtEl>
                                        <p:attrNameLst>
                                          <p:attrName>fillcolor</p:attrName>
                                        </p:attrNameLst>
                                      </p:cBhvr>
                                      <p:to>
                                        <a:srgbClr val="4F81BD"/>
                                      </p:to>
                                    </p:animClr>
                                    <p:set>
                                      <p:cBhvr>
                                        <p:cTn id="11" dur="500" fill="hold"/>
                                        <p:tgtEl>
                                          <p:spTgt spid="60"/>
                                        </p:tgtEl>
                                        <p:attrNameLst>
                                          <p:attrName>fill.type</p:attrName>
                                        </p:attrNameLst>
                                      </p:cBhvr>
                                      <p:to>
                                        <p:strVal val="solid"/>
                                      </p:to>
                                    </p:set>
                                    <p:set>
                                      <p:cBhvr>
                                        <p:cTn id="12" dur="500" fill="hold"/>
                                        <p:tgtEl>
                                          <p:spTgt spid="60"/>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59"/>
                                        </p:tgtEl>
                                        <p:attrNameLst>
                                          <p:attrName>style.visibility</p:attrName>
                                        </p:attrNameLst>
                                      </p:cBhvr>
                                      <p:to>
                                        <p:strVal val="hidden"/>
                                      </p:to>
                                    </p:set>
                                  </p:childTnLst>
                                </p:cTn>
                              </p:par>
                              <p:par>
                                <p:cTn id="17" presetID="1" presetClass="emph" presetSubtype="1" nodeType="withEffect">
                                  <p:stCondLst>
                                    <p:cond delay="0"/>
                                  </p:stCondLst>
                                  <p:childTnLst>
                                    <p:set>
                                      <p:cBhvr>
                                        <p:cTn id="18" dur="indefinite"/>
                                        <p:tgtEl>
                                          <p:spTgt spid="60"/>
                                        </p:tgtEl>
                                        <p:attrNameLst>
                                          <p:attrName>fillcolor</p:attrName>
                                        </p:attrNameLst>
                                      </p:cBhvr>
                                      <p:to>
                                        <p:clrVal>
                                          <a:srgbClr val="FFFFFF"/>
                                        </p:clrVal>
                                      </p:to>
                                    </p:set>
                                    <p:set>
                                      <p:cBhvr>
                                        <p:cTn id="19" dur="indefinite"/>
                                        <p:tgtEl>
                                          <p:spTgt spid="60"/>
                                        </p:tgtEl>
                                        <p:attrNameLst>
                                          <p:attrName>fill.type</p:attrName>
                                        </p:attrNameLst>
                                      </p:cBhvr>
                                      <p:to>
                                        <p:strVal val="solid"/>
                                      </p:to>
                                    </p:set>
                                    <p:set>
                                      <p:cBhvr>
                                        <p:cTn id="20" dur="indefinite"/>
                                        <p:tgtEl>
                                          <p:spTgt spid="60"/>
                                        </p:tgtEl>
                                        <p:attrNameLst>
                                          <p:attrName>fill.on</p:attrName>
                                        </p:attrNameLst>
                                      </p:cBhvr>
                                      <p:to>
                                        <p:strVal val="true"/>
                                      </p:to>
                                    </p:set>
                                  </p:childTnLst>
                                </p:cTn>
                              </p:par>
                              <p:par>
                                <p:cTn id="21" presetID="1" presetClass="entr" presetSubtype="0" fill="hold" nodeType="withEffect">
                                  <p:stCondLst>
                                    <p:cond delay="0"/>
                                  </p:stCondLst>
                                  <p:childTnLst>
                                    <p:set>
                                      <p:cBhvr>
                                        <p:cTn id="22"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7" presetClass="emph" presetSubtype="1" nodeType="clickEffect">
                                  <p:stCondLst>
                                    <p:cond delay="0"/>
                                  </p:stCondLst>
                                  <p:childTnLst>
                                    <p:set>
                                      <p:cBhvr>
                                        <p:cTn id="30" dur="indefinite"/>
                                        <p:tgtEl>
                                          <p:spTgt spid="63"/>
                                        </p:tgtEl>
                                        <p:attrNameLst>
                                          <p:attrName>stroke.color</p:attrName>
                                        </p:attrNameLst>
                                      </p:cBhvr>
                                      <p:to>
                                        <p:clrVal>
                                          <a:srgbClr val="FF0000"/>
                                        </p:clrVal>
                                      </p:to>
                                    </p:set>
                                    <p:set>
                                      <p:cBhvr>
                                        <p:cTn id="31" dur="indefinite"/>
                                        <p:tgtEl>
                                          <p:spTgt spid="63"/>
                                        </p:tgtEl>
                                        <p:attrNameLst>
                                          <p:attrName>stroke.on</p:attrName>
                                        </p:attrNameLst>
                                      </p:cBhvr>
                                      <p:to>
                                        <p:strVal val="true"/>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nodeType="clickEffect">
                                  <p:stCondLst>
                                    <p:cond delay="0"/>
                                  </p:stCondLst>
                                  <p:childTnLst>
                                    <p:set>
                                      <p:cBhvr>
                                        <p:cTn id="35" dur="1" fill="hold">
                                          <p:stCondLst>
                                            <p:cond delay="0"/>
                                          </p:stCondLst>
                                        </p:cTn>
                                        <p:tgtEl>
                                          <p:spTgt spid="93">
                                            <p:txEl>
                                              <p:pRg st="0" end="0"/>
                                            </p:txEl>
                                          </p:spTgt>
                                        </p:tgtEl>
                                        <p:attrNameLst>
                                          <p:attrName>style.visibility</p:attrName>
                                        </p:attrNameLst>
                                      </p:cBhvr>
                                      <p:to>
                                        <p:strVal val="hidden"/>
                                      </p:to>
                                    </p:set>
                                  </p:childTnLst>
                                </p:cTn>
                              </p:par>
                              <p:par>
                                <p:cTn id="36" presetID="1" presetClass="exit" presetSubtype="0" fill="hold" nodeType="withEffect">
                                  <p:stCondLst>
                                    <p:cond delay="0"/>
                                  </p:stCondLst>
                                  <p:childTnLst>
                                    <p:set>
                                      <p:cBhvr>
                                        <p:cTn id="37" dur="1" fill="hold">
                                          <p:stCondLst>
                                            <p:cond delay="0"/>
                                          </p:stCondLst>
                                        </p:cTn>
                                        <p:tgtEl>
                                          <p:spTgt spid="93">
                                            <p:txEl>
                                              <p:pRg st="2" end="2"/>
                                            </p:txEl>
                                          </p:spTgt>
                                        </p:tgtEl>
                                        <p:attrNameLst>
                                          <p:attrName>style.visibility</p:attrName>
                                        </p:attrNameLst>
                                      </p:cBhvr>
                                      <p:to>
                                        <p:strVal val="hidden"/>
                                      </p:to>
                                    </p:set>
                                  </p:childTnLst>
                                </p:cTn>
                              </p:par>
                              <p:par>
                                <p:cTn id="38" presetID="7" presetClass="emph" presetSubtype="1" nodeType="withEffect">
                                  <p:stCondLst>
                                    <p:cond delay="0"/>
                                  </p:stCondLst>
                                  <p:childTnLst>
                                    <p:set>
                                      <p:cBhvr>
                                        <p:cTn id="39" dur="indefinite"/>
                                        <p:tgtEl>
                                          <p:spTgt spid="63"/>
                                        </p:tgtEl>
                                        <p:attrNameLst>
                                          <p:attrName>stroke.color</p:attrName>
                                        </p:attrNameLst>
                                      </p:cBhvr>
                                      <p:to>
                                        <p:clrVal>
                                          <a:srgbClr val="000000"/>
                                        </p:clrVal>
                                      </p:to>
                                    </p:set>
                                    <p:set>
                                      <p:cBhvr>
                                        <p:cTn id="40" dur="indefinite"/>
                                        <p:tgtEl>
                                          <p:spTgt spid="63"/>
                                        </p:tgtEl>
                                        <p:attrNameLst>
                                          <p:attrName>stroke.on</p:attrName>
                                        </p:attrNameLst>
                                      </p:cBhvr>
                                      <p:to>
                                        <p:strVal val="true"/>
                                      </p:to>
                                    </p:set>
                                  </p:childTnLst>
                                </p:cTn>
                              </p:par>
                            </p:childTnLst>
                          </p:cTn>
                        </p:par>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94">
                                            <p:txEl>
                                              <p:pRg st="0" end="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94">
                                            <p:txEl>
                                              <p:pRg st="2" end="2"/>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mph" presetSubtype="1" nodeType="clickEffect">
                                  <p:stCondLst>
                                    <p:cond delay="0"/>
                                  </p:stCondLst>
                                  <p:childTnLst>
                                    <p:set>
                                      <p:cBhvr>
                                        <p:cTn id="51" dur="indefinite"/>
                                        <p:tgtEl>
                                          <p:spTgt spid="62"/>
                                        </p:tgtEl>
                                        <p:attrNameLst>
                                          <p:attrName>fillcolor</p:attrName>
                                        </p:attrNameLst>
                                      </p:cBhvr>
                                      <p:to>
                                        <p:clrVal>
                                          <a:srgbClr val="4F81BD"/>
                                        </p:clrVal>
                                      </p:to>
                                    </p:set>
                                    <p:set>
                                      <p:cBhvr>
                                        <p:cTn id="52" dur="indefinite"/>
                                        <p:tgtEl>
                                          <p:spTgt spid="62"/>
                                        </p:tgtEl>
                                        <p:attrNameLst>
                                          <p:attrName>fill.type</p:attrName>
                                        </p:attrNameLst>
                                      </p:cBhvr>
                                      <p:to>
                                        <p:strVal val="solid"/>
                                      </p:to>
                                    </p:set>
                                    <p:set>
                                      <p:cBhvr>
                                        <p:cTn id="53" dur="indefinite"/>
                                        <p:tgtEl>
                                          <p:spTgt spid="62"/>
                                        </p:tgtEl>
                                        <p:attrNameLst>
                                          <p:attrName>fill.on</p:attrName>
                                        </p:attrNameLst>
                                      </p:cBhvr>
                                      <p:to>
                                        <p:strVal val="true"/>
                                      </p:to>
                                    </p:se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nodeType="clickEffect">
                                  <p:stCondLst>
                                    <p:cond delay="0"/>
                                  </p:stCondLst>
                                  <p:childTnLst>
                                    <p:set>
                                      <p:cBhvr>
                                        <p:cTn id="57" dur="1" fill="hold">
                                          <p:stCondLst>
                                            <p:cond delay="0"/>
                                          </p:stCondLst>
                                        </p:cTn>
                                        <p:tgtEl>
                                          <p:spTgt spid="94">
                                            <p:txEl>
                                              <p:pRg st="0" end="0"/>
                                            </p:txEl>
                                          </p:spTgt>
                                        </p:tgtEl>
                                        <p:attrNameLst>
                                          <p:attrName>style.visibility</p:attrName>
                                        </p:attrNameLst>
                                      </p:cBhvr>
                                      <p:to>
                                        <p:strVal val="hidden"/>
                                      </p:to>
                                    </p:set>
                                  </p:childTnLst>
                                </p:cTn>
                              </p:par>
                              <p:par>
                                <p:cTn id="58" presetID="1" presetClass="exit" presetSubtype="0" fill="hold" nodeType="withEffect">
                                  <p:stCondLst>
                                    <p:cond delay="0"/>
                                  </p:stCondLst>
                                  <p:childTnLst>
                                    <p:set>
                                      <p:cBhvr>
                                        <p:cTn id="59" dur="1" fill="hold">
                                          <p:stCondLst>
                                            <p:cond delay="0"/>
                                          </p:stCondLst>
                                        </p:cTn>
                                        <p:tgtEl>
                                          <p:spTgt spid="94">
                                            <p:txEl>
                                              <p:pRg st="2" end="2"/>
                                            </p:txEl>
                                          </p:spTgt>
                                        </p:tgtEl>
                                        <p:attrNameLst>
                                          <p:attrName>style.visibility</p:attrName>
                                        </p:attrNameLst>
                                      </p:cBhvr>
                                      <p:to>
                                        <p:strVal val="hidden"/>
                                      </p:to>
                                    </p:set>
                                  </p:childTnLst>
                                </p:cTn>
                              </p:par>
                              <p:par>
                                <p:cTn id="60" presetID="1" presetClass="emph" presetSubtype="1" nodeType="withEffect">
                                  <p:stCondLst>
                                    <p:cond delay="0"/>
                                  </p:stCondLst>
                                  <p:childTnLst>
                                    <p:set>
                                      <p:cBhvr>
                                        <p:cTn id="61" dur="indefinite"/>
                                        <p:tgtEl>
                                          <p:spTgt spid="62"/>
                                        </p:tgtEl>
                                        <p:attrNameLst>
                                          <p:attrName>fillcolor</p:attrName>
                                        </p:attrNameLst>
                                      </p:cBhvr>
                                      <p:to>
                                        <p:clrVal>
                                          <a:srgbClr val="FFFFFF"/>
                                        </p:clrVal>
                                      </p:to>
                                    </p:set>
                                    <p:set>
                                      <p:cBhvr>
                                        <p:cTn id="62" dur="indefinite"/>
                                        <p:tgtEl>
                                          <p:spTgt spid="62"/>
                                        </p:tgtEl>
                                        <p:attrNameLst>
                                          <p:attrName>fill.type</p:attrName>
                                        </p:attrNameLst>
                                      </p:cBhvr>
                                      <p:to>
                                        <p:strVal val="solid"/>
                                      </p:to>
                                    </p:set>
                                    <p:set>
                                      <p:cBhvr>
                                        <p:cTn id="63" dur="indefinite"/>
                                        <p:tgtEl>
                                          <p:spTgt spid="62"/>
                                        </p:tgtEl>
                                        <p:attrNameLst>
                                          <p:attrName>fill.on</p:attrName>
                                        </p:attrNameLst>
                                      </p:cBhvr>
                                      <p:to>
                                        <p:strVal val="true"/>
                                      </p:to>
                                    </p:set>
                                  </p:childTnLst>
                                </p:cTn>
                              </p:par>
                              <p:par>
                                <p:cTn id="64" presetID="1" presetClass="entr" presetSubtype="0" fill="hold" grpId="0" nodeType="withEffect">
                                  <p:stCondLst>
                                    <p:cond delay="0"/>
                                  </p:stCondLst>
                                  <p:childTnLst>
                                    <p:set>
                                      <p:cBhvr>
                                        <p:cTn id="65" dur="1" fill="hold">
                                          <p:stCondLst>
                                            <p:cond delay="0"/>
                                          </p:stCondLst>
                                        </p:cTn>
                                        <p:tgtEl>
                                          <p:spTgt spid="9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7" presetClass="emph" presetSubtype="1" nodeType="clickEffect">
                                  <p:stCondLst>
                                    <p:cond delay="0"/>
                                  </p:stCondLst>
                                  <p:childTnLst>
                                    <p:set>
                                      <p:cBhvr>
                                        <p:cTn id="69" dur="indefinite"/>
                                        <p:tgtEl>
                                          <p:spTgt spid="67"/>
                                        </p:tgtEl>
                                        <p:attrNameLst>
                                          <p:attrName>stroke.color</p:attrName>
                                        </p:attrNameLst>
                                      </p:cBhvr>
                                      <p:to>
                                        <p:clrVal>
                                          <a:srgbClr val="FF0000"/>
                                        </p:clrVal>
                                      </p:to>
                                    </p:set>
                                    <p:set>
                                      <p:cBhvr>
                                        <p:cTn id="70" dur="indefinite"/>
                                        <p:tgtEl>
                                          <p:spTgt spid="67"/>
                                        </p:tgtEl>
                                        <p:attrNameLst>
                                          <p:attrName>stroke.on</p:attrName>
                                        </p:attrNameLst>
                                      </p:cBhvr>
                                      <p:to>
                                        <p:strVal val="true"/>
                                      </p:to>
                                    </p:set>
                                  </p:childTnLst>
                                </p:cTn>
                              </p:par>
                            </p:childTnLst>
                          </p:cTn>
                        </p:par>
                      </p:childTnLst>
                    </p:cTn>
                  </p:par>
                  <p:par>
                    <p:cTn id="71" fill="hold">
                      <p:stCondLst>
                        <p:cond delay="indefinite"/>
                      </p:stCondLst>
                      <p:childTnLst>
                        <p:par>
                          <p:cTn id="72" fill="hold">
                            <p:stCondLst>
                              <p:cond delay="0"/>
                            </p:stCondLst>
                            <p:childTnLst>
                              <p:par>
                                <p:cTn id="73" presetID="7" presetClass="emph" presetSubtype="1" nodeType="clickEffect">
                                  <p:stCondLst>
                                    <p:cond delay="0"/>
                                  </p:stCondLst>
                                  <p:childTnLst>
                                    <p:set>
                                      <p:cBhvr>
                                        <p:cTn id="74" dur="indefinite"/>
                                        <p:tgtEl>
                                          <p:spTgt spid="67"/>
                                        </p:tgtEl>
                                        <p:attrNameLst>
                                          <p:attrName>stroke.color</p:attrName>
                                        </p:attrNameLst>
                                      </p:cBhvr>
                                      <p:to>
                                        <p:clrVal>
                                          <a:srgbClr val="000000"/>
                                        </p:clrVal>
                                      </p:to>
                                    </p:set>
                                    <p:set>
                                      <p:cBhvr>
                                        <p:cTn id="75" dur="indefinite"/>
                                        <p:tgtEl>
                                          <p:spTgt spid="67"/>
                                        </p:tgtEl>
                                        <p:attrNameLst>
                                          <p:attrName>stroke.on</p:attrName>
                                        </p:attrNameLst>
                                      </p:cBhvr>
                                      <p:to>
                                        <p:strVal val="true"/>
                                      </p:to>
                                    </p:set>
                                  </p:childTnLst>
                                </p:cTn>
                              </p:par>
                              <p:par>
                                <p:cTn id="76" presetID="1" presetClass="exit" presetSubtype="0" fill="hold" grpId="1" nodeType="withEffect">
                                  <p:stCondLst>
                                    <p:cond delay="0"/>
                                  </p:stCondLst>
                                  <p:childTnLst>
                                    <p:set>
                                      <p:cBhvr>
                                        <p:cTn id="77" dur="1" fill="hold">
                                          <p:stCondLst>
                                            <p:cond delay="0"/>
                                          </p:stCondLst>
                                        </p:cTn>
                                        <p:tgtEl>
                                          <p:spTgt spid="95"/>
                                        </p:tgtEl>
                                        <p:attrNameLst>
                                          <p:attrName>style.visibility</p:attrName>
                                        </p:attrNameLst>
                                      </p:cBhvr>
                                      <p:to>
                                        <p:strVal val="hidden"/>
                                      </p:to>
                                    </p:set>
                                  </p:childTnLst>
                                </p:cTn>
                              </p:par>
                              <p:par>
                                <p:cTn id="78" presetID="1" presetClass="entr" presetSubtype="0" fill="hold" nodeType="withEffect">
                                  <p:stCondLst>
                                    <p:cond delay="0"/>
                                  </p:stCondLst>
                                  <p:childTnLst>
                                    <p:set>
                                      <p:cBhvr>
                                        <p:cTn id="79" dur="1" fill="hold">
                                          <p:stCondLst>
                                            <p:cond delay="0"/>
                                          </p:stCondLst>
                                        </p:cTn>
                                        <p:tgtEl>
                                          <p:spTgt spid="96">
                                            <p:txEl>
                                              <p:pRg st="0" end="0"/>
                                            </p:txEl>
                                          </p:spTgt>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96">
                                            <p:txEl>
                                              <p:pRg st="2" end="2"/>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mph" presetSubtype="1" nodeType="clickEffect">
                                  <p:stCondLst>
                                    <p:cond delay="0"/>
                                  </p:stCondLst>
                                  <p:childTnLst>
                                    <p:set>
                                      <p:cBhvr>
                                        <p:cTn id="87" dur="indefinite"/>
                                        <p:tgtEl>
                                          <p:spTgt spid="66"/>
                                        </p:tgtEl>
                                        <p:attrNameLst>
                                          <p:attrName>fillcolor</p:attrName>
                                        </p:attrNameLst>
                                      </p:cBhvr>
                                      <p:to>
                                        <p:clrVal>
                                          <a:srgbClr val="4F81BD"/>
                                        </p:clrVal>
                                      </p:to>
                                    </p:set>
                                    <p:set>
                                      <p:cBhvr>
                                        <p:cTn id="88" dur="indefinite"/>
                                        <p:tgtEl>
                                          <p:spTgt spid="66"/>
                                        </p:tgtEl>
                                        <p:attrNameLst>
                                          <p:attrName>fill.type</p:attrName>
                                        </p:attrNameLst>
                                      </p:cBhvr>
                                      <p:to>
                                        <p:strVal val="solid"/>
                                      </p:to>
                                    </p:set>
                                    <p:set>
                                      <p:cBhvr>
                                        <p:cTn id="89" dur="indefinite"/>
                                        <p:tgtEl>
                                          <p:spTgt spid="66"/>
                                        </p:tgtEl>
                                        <p:attrNameLst>
                                          <p:attrName>fill.on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7" presetClass="emph" presetSubtype="1" nodeType="clickEffect">
                                  <p:stCondLst>
                                    <p:cond delay="0"/>
                                  </p:stCondLst>
                                  <p:childTnLst>
                                    <p:set>
                                      <p:cBhvr>
                                        <p:cTn id="93" dur="indefinite"/>
                                        <p:tgtEl>
                                          <p:spTgt spid="89"/>
                                        </p:tgtEl>
                                        <p:attrNameLst>
                                          <p:attrName>stroke.color</p:attrName>
                                        </p:attrNameLst>
                                      </p:cBhvr>
                                      <p:to>
                                        <p:clrVal>
                                          <a:srgbClr val="FF0000"/>
                                        </p:clrVal>
                                      </p:to>
                                    </p:set>
                                    <p:set>
                                      <p:cBhvr>
                                        <p:cTn id="94" dur="indefinite"/>
                                        <p:tgtEl>
                                          <p:spTgt spid="89"/>
                                        </p:tgtEl>
                                        <p:attrNameLst>
                                          <p:attrName>stroke.on</p:attrName>
                                        </p:attrNameLst>
                                      </p:cBhvr>
                                      <p:to>
                                        <p:strVal val="true"/>
                                      </p:to>
                                    </p:set>
                                  </p:childTnLst>
                                </p:cTn>
                              </p:par>
                            </p:childTnLst>
                          </p:cTn>
                        </p:par>
                      </p:childTnLst>
                    </p:cTn>
                  </p:par>
                  <p:par>
                    <p:cTn id="95" fill="hold">
                      <p:stCondLst>
                        <p:cond delay="indefinite"/>
                      </p:stCondLst>
                      <p:childTnLst>
                        <p:par>
                          <p:cTn id="96" fill="hold">
                            <p:stCondLst>
                              <p:cond delay="0"/>
                            </p:stCondLst>
                            <p:childTnLst>
                              <p:par>
                                <p:cTn id="97" presetID="1" presetClass="exit" presetSubtype="0" fill="hold" nodeType="clickEffect">
                                  <p:stCondLst>
                                    <p:cond delay="0"/>
                                  </p:stCondLst>
                                  <p:childTnLst>
                                    <p:set>
                                      <p:cBhvr>
                                        <p:cTn id="98" dur="1" fill="hold">
                                          <p:stCondLst>
                                            <p:cond delay="0"/>
                                          </p:stCondLst>
                                        </p:cTn>
                                        <p:tgtEl>
                                          <p:spTgt spid="96">
                                            <p:txEl>
                                              <p:pRg st="0" end="0"/>
                                            </p:txEl>
                                          </p:spTgt>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96">
                                            <p:txEl>
                                              <p:pRg st="2" end="2"/>
                                            </p:txEl>
                                          </p:spTgt>
                                        </p:tgtEl>
                                        <p:attrNameLst>
                                          <p:attrName>style.visibility</p:attrName>
                                        </p:attrNameLst>
                                      </p:cBhvr>
                                      <p:to>
                                        <p:strVal val="hidden"/>
                                      </p:to>
                                    </p:set>
                                  </p:childTnLst>
                                </p:cTn>
                              </p:par>
                              <p:par>
                                <p:cTn id="101" presetID="1" presetClass="emph" presetSubtype="1" nodeType="withEffect">
                                  <p:stCondLst>
                                    <p:cond delay="0"/>
                                  </p:stCondLst>
                                  <p:childTnLst>
                                    <p:set>
                                      <p:cBhvr>
                                        <p:cTn id="102" dur="indefinite"/>
                                        <p:tgtEl>
                                          <p:spTgt spid="66"/>
                                        </p:tgtEl>
                                        <p:attrNameLst>
                                          <p:attrName>fillcolor</p:attrName>
                                        </p:attrNameLst>
                                      </p:cBhvr>
                                      <p:to>
                                        <p:clrVal>
                                          <a:srgbClr val="FFFFFF"/>
                                        </p:clrVal>
                                      </p:to>
                                    </p:set>
                                    <p:set>
                                      <p:cBhvr>
                                        <p:cTn id="103" dur="indefinite"/>
                                        <p:tgtEl>
                                          <p:spTgt spid="66"/>
                                        </p:tgtEl>
                                        <p:attrNameLst>
                                          <p:attrName>fill.type</p:attrName>
                                        </p:attrNameLst>
                                      </p:cBhvr>
                                      <p:to>
                                        <p:strVal val="solid"/>
                                      </p:to>
                                    </p:set>
                                    <p:set>
                                      <p:cBhvr>
                                        <p:cTn id="104" dur="indefinite"/>
                                        <p:tgtEl>
                                          <p:spTgt spid="66"/>
                                        </p:tgtEl>
                                        <p:attrNameLst>
                                          <p:attrName>fill.on</p:attrName>
                                        </p:attrNameLst>
                                      </p:cBhvr>
                                      <p:to>
                                        <p:strVal val="true"/>
                                      </p:to>
                                    </p:set>
                                  </p:childTnLst>
                                </p:cTn>
                              </p:par>
                              <p:par>
                                <p:cTn id="105" presetID="7" presetClass="emph" presetSubtype="1" nodeType="withEffect">
                                  <p:stCondLst>
                                    <p:cond delay="0"/>
                                  </p:stCondLst>
                                  <p:childTnLst>
                                    <p:set>
                                      <p:cBhvr>
                                        <p:cTn id="106" dur="indefinite"/>
                                        <p:tgtEl>
                                          <p:spTgt spid="89"/>
                                        </p:tgtEl>
                                        <p:attrNameLst>
                                          <p:attrName>stroke.color</p:attrName>
                                        </p:attrNameLst>
                                      </p:cBhvr>
                                      <p:to>
                                        <p:clrVal>
                                          <a:srgbClr val="000000"/>
                                        </p:clrVal>
                                      </p:to>
                                    </p:set>
                                    <p:set>
                                      <p:cBhvr>
                                        <p:cTn id="107" dur="indefinite"/>
                                        <p:tgtEl>
                                          <p:spTgt spid="89"/>
                                        </p:tgtEl>
                                        <p:attrNameLst>
                                          <p:attrName>stroke.on</p:attrName>
                                        </p:attrNameLst>
                                      </p:cBhvr>
                                      <p:to>
                                        <p:strVal val="true"/>
                                      </p:to>
                                    </p:set>
                                  </p:childTnLst>
                                </p:cTn>
                              </p:par>
                              <p:par>
                                <p:cTn id="108" presetID="1" presetClass="entr" presetSubtype="0" fill="hold" nodeType="withEffect">
                                  <p:stCondLst>
                                    <p:cond delay="0"/>
                                  </p:stCondLst>
                                  <p:childTnLst>
                                    <p:set>
                                      <p:cBhvr>
                                        <p:cTn id="109"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mph" presetSubtype="1" nodeType="clickEffect">
                                  <p:stCondLst>
                                    <p:cond delay="0"/>
                                  </p:stCondLst>
                                  <p:childTnLst>
                                    <p:set>
                                      <p:cBhvr>
                                        <p:cTn id="113" dur="indefinite"/>
                                        <p:tgtEl>
                                          <p:spTgt spid="87"/>
                                        </p:tgtEl>
                                        <p:attrNameLst>
                                          <p:attrName>fillcolor</p:attrName>
                                        </p:attrNameLst>
                                      </p:cBhvr>
                                      <p:to>
                                        <p:clrVal>
                                          <a:srgbClr val="4F81BD"/>
                                        </p:clrVal>
                                      </p:to>
                                    </p:set>
                                    <p:set>
                                      <p:cBhvr>
                                        <p:cTn id="114" dur="indefinite"/>
                                        <p:tgtEl>
                                          <p:spTgt spid="87"/>
                                        </p:tgtEl>
                                        <p:attrNameLst>
                                          <p:attrName>fill.type</p:attrName>
                                        </p:attrNameLst>
                                      </p:cBhvr>
                                      <p:to>
                                        <p:strVal val="solid"/>
                                      </p:to>
                                    </p:set>
                                    <p:set>
                                      <p:cBhvr>
                                        <p:cTn id="115" dur="indefinite"/>
                                        <p:tgtEl>
                                          <p:spTgt spid="87"/>
                                        </p:tgtEl>
                                        <p:attrNameLst>
                                          <p:attrName>fill.on</p:attrName>
                                        </p:attrNameLst>
                                      </p:cBhvr>
                                      <p:to>
                                        <p:strVal val="tru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7" presetClass="emph" presetSubtype="1" nodeType="clickEffect">
                                  <p:stCondLst>
                                    <p:cond delay="0"/>
                                  </p:stCondLst>
                                  <p:childTnLst>
                                    <p:set>
                                      <p:cBhvr>
                                        <p:cTn id="123" dur="indefinite"/>
                                        <p:tgtEl>
                                          <p:spTgt spid="88"/>
                                        </p:tgtEl>
                                        <p:attrNameLst>
                                          <p:attrName>stroke.color</p:attrName>
                                        </p:attrNameLst>
                                      </p:cBhvr>
                                      <p:to>
                                        <p:clrVal>
                                          <a:srgbClr val="FF0000"/>
                                        </p:clrVal>
                                      </p:to>
                                    </p:set>
                                    <p:set>
                                      <p:cBhvr>
                                        <p:cTn id="124" dur="indefinite"/>
                                        <p:tgtEl>
                                          <p:spTgt spid="88"/>
                                        </p:tgtEl>
                                        <p:attrNameLst>
                                          <p:attrName>stroke.on</p:attrName>
                                        </p:attrNameLst>
                                      </p:cBhvr>
                                      <p:to>
                                        <p:strVal val="true"/>
                                      </p:to>
                                    </p:set>
                                  </p:childTnLst>
                                </p:cTn>
                              </p:par>
                            </p:childTnLst>
                          </p:cTn>
                        </p:par>
                      </p:childTnLst>
                    </p:cTn>
                  </p:par>
                  <p:par>
                    <p:cTn id="125" fill="hold">
                      <p:stCondLst>
                        <p:cond delay="indefinite"/>
                      </p:stCondLst>
                      <p:childTnLst>
                        <p:par>
                          <p:cTn id="126" fill="hold">
                            <p:stCondLst>
                              <p:cond delay="0"/>
                            </p:stCondLst>
                            <p:childTnLst>
                              <p:par>
                                <p:cTn id="127" presetID="1" presetClass="exit" presetSubtype="0" fill="hold" nodeType="clickEffect">
                                  <p:stCondLst>
                                    <p:cond delay="0"/>
                                  </p:stCondLst>
                                  <p:childTnLst>
                                    <p:set>
                                      <p:cBhvr>
                                        <p:cTn id="128" dur="1" fill="hold">
                                          <p:stCondLst>
                                            <p:cond delay="0"/>
                                          </p:stCondLst>
                                        </p:cTn>
                                        <p:tgtEl>
                                          <p:spTgt spid="97">
                                            <p:txEl>
                                              <p:pRg st="0" end="0"/>
                                            </p:txEl>
                                          </p:spTgt>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0"/>
                                          </p:stCondLst>
                                        </p:cTn>
                                        <p:tgtEl>
                                          <p:spTgt spid="97">
                                            <p:txEl>
                                              <p:pRg st="2" end="2"/>
                                            </p:txEl>
                                          </p:spTgt>
                                        </p:tgtEl>
                                        <p:attrNameLst>
                                          <p:attrName>style.visibility</p:attrName>
                                        </p:attrNameLst>
                                      </p:cBhvr>
                                      <p:to>
                                        <p:strVal val="hidden"/>
                                      </p:to>
                                    </p:set>
                                  </p:childTnLst>
                                </p:cTn>
                              </p:par>
                              <p:par>
                                <p:cTn id="131" presetID="1" presetClass="emph" presetSubtype="1" nodeType="withEffect">
                                  <p:stCondLst>
                                    <p:cond delay="0"/>
                                  </p:stCondLst>
                                  <p:childTnLst>
                                    <p:set>
                                      <p:cBhvr>
                                        <p:cTn id="132" dur="indefinite"/>
                                        <p:tgtEl>
                                          <p:spTgt spid="87"/>
                                        </p:tgtEl>
                                        <p:attrNameLst>
                                          <p:attrName>fillcolor</p:attrName>
                                        </p:attrNameLst>
                                      </p:cBhvr>
                                      <p:to>
                                        <p:clrVal>
                                          <a:srgbClr val="FFFFFF"/>
                                        </p:clrVal>
                                      </p:to>
                                    </p:set>
                                    <p:set>
                                      <p:cBhvr>
                                        <p:cTn id="133" dur="indefinite"/>
                                        <p:tgtEl>
                                          <p:spTgt spid="87"/>
                                        </p:tgtEl>
                                        <p:attrNameLst>
                                          <p:attrName>fill.type</p:attrName>
                                        </p:attrNameLst>
                                      </p:cBhvr>
                                      <p:to>
                                        <p:strVal val="solid"/>
                                      </p:to>
                                    </p:set>
                                    <p:set>
                                      <p:cBhvr>
                                        <p:cTn id="134" dur="indefinite"/>
                                        <p:tgtEl>
                                          <p:spTgt spid="87"/>
                                        </p:tgtEl>
                                        <p:attrNameLst>
                                          <p:attrName>fill.on</p:attrName>
                                        </p:attrNameLst>
                                      </p:cBhvr>
                                      <p:to>
                                        <p:strVal val="true"/>
                                      </p:to>
                                    </p:set>
                                  </p:childTnLst>
                                </p:cTn>
                              </p:par>
                              <p:par>
                                <p:cTn id="135" presetID="7" presetClass="emph" presetSubtype="1" nodeType="withEffect">
                                  <p:stCondLst>
                                    <p:cond delay="0"/>
                                  </p:stCondLst>
                                  <p:childTnLst>
                                    <p:set>
                                      <p:cBhvr>
                                        <p:cTn id="136" dur="indefinite"/>
                                        <p:tgtEl>
                                          <p:spTgt spid="88"/>
                                        </p:tgtEl>
                                        <p:attrNameLst>
                                          <p:attrName>stroke.color</p:attrName>
                                        </p:attrNameLst>
                                      </p:cBhvr>
                                      <p:to>
                                        <p:clrVal>
                                          <a:srgbClr val="000000"/>
                                        </p:clrVal>
                                      </p:to>
                                    </p:set>
                                    <p:set>
                                      <p:cBhvr>
                                        <p:cTn id="137" dur="indefinite"/>
                                        <p:tgtEl>
                                          <p:spTgt spid="88"/>
                                        </p:tgtEl>
                                        <p:attrNameLst>
                                          <p:attrName>stroke.on</p:attrName>
                                        </p:attrNameLst>
                                      </p:cBhvr>
                                      <p:to>
                                        <p:strVal val="true"/>
                                      </p:to>
                                    </p:set>
                                  </p:childTnLst>
                                </p:cTn>
                              </p:par>
                              <p:par>
                                <p:cTn id="138" presetID="1" presetClass="entr" presetSubtype="0" fill="hold" nodeType="withEffect">
                                  <p:stCondLst>
                                    <p:cond delay="0"/>
                                  </p:stCondLst>
                                  <p:childTnLst>
                                    <p:set>
                                      <p:cBhvr>
                                        <p:cTn id="139" dur="1" fill="hold">
                                          <p:stCondLst>
                                            <p:cond delay="0"/>
                                          </p:stCondLst>
                                        </p:cTn>
                                        <p:tgtEl>
                                          <p:spTgt spid="98">
                                            <p:txEl>
                                              <p:pRg st="0" end="0"/>
                                            </p:txEl>
                                          </p:spTgt>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mph" presetSubtype="1" nodeType="clickEffect">
                                  <p:stCondLst>
                                    <p:cond delay="0"/>
                                  </p:stCondLst>
                                  <p:childTnLst>
                                    <p:set>
                                      <p:cBhvr>
                                        <p:cTn id="143" dur="indefinite"/>
                                        <p:tgtEl>
                                          <p:spTgt spid="83"/>
                                        </p:tgtEl>
                                        <p:attrNameLst>
                                          <p:attrName>fillcolor</p:attrName>
                                        </p:attrNameLst>
                                      </p:cBhvr>
                                      <p:to>
                                        <p:clrVal>
                                          <a:srgbClr val="4F81BD"/>
                                        </p:clrVal>
                                      </p:to>
                                    </p:set>
                                    <p:set>
                                      <p:cBhvr>
                                        <p:cTn id="144" dur="indefinite"/>
                                        <p:tgtEl>
                                          <p:spTgt spid="83"/>
                                        </p:tgtEl>
                                        <p:attrNameLst>
                                          <p:attrName>fill.type</p:attrName>
                                        </p:attrNameLst>
                                      </p:cBhvr>
                                      <p:to>
                                        <p:strVal val="solid"/>
                                      </p:to>
                                    </p:set>
                                    <p:set>
                                      <p:cBhvr>
                                        <p:cTn id="145" dur="indefinite"/>
                                        <p:tgtEl>
                                          <p:spTgt spid="83"/>
                                        </p:tgtEl>
                                        <p:attrNameLst>
                                          <p:attrName>fill.on</p:attrName>
                                        </p:attrNameLst>
                                      </p:cBhvr>
                                      <p:to>
                                        <p:strVal val="tru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nodeType="clickEffect">
                                  <p:stCondLst>
                                    <p:cond delay="0"/>
                                  </p:stCondLst>
                                  <p:childTnLst>
                                    <p:set>
                                      <p:cBhvr>
                                        <p:cTn id="149" dur="1" fill="hold">
                                          <p:stCondLst>
                                            <p:cond delay="0"/>
                                          </p:stCondLst>
                                        </p:cTn>
                                        <p:tgtEl>
                                          <p:spTgt spid="98">
                                            <p:txEl>
                                              <p:pRg st="2" end="2"/>
                                            </p:txEl>
                                          </p:spTgt>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7" presetClass="emph" presetSubtype="1" nodeType="clickEffect">
                                  <p:stCondLst>
                                    <p:cond delay="0"/>
                                  </p:stCondLst>
                                  <p:childTnLst>
                                    <p:set>
                                      <p:cBhvr>
                                        <p:cTn id="153" dur="indefinite"/>
                                        <p:tgtEl>
                                          <p:spTgt spid="84"/>
                                        </p:tgtEl>
                                        <p:attrNameLst>
                                          <p:attrName>stroke.color</p:attrName>
                                        </p:attrNameLst>
                                      </p:cBhvr>
                                      <p:to>
                                        <p:clrVal>
                                          <a:srgbClr val="FF0000"/>
                                        </p:clrVal>
                                      </p:to>
                                    </p:set>
                                    <p:set>
                                      <p:cBhvr>
                                        <p:cTn id="154" dur="indefinite"/>
                                        <p:tgtEl>
                                          <p:spTgt spid="84"/>
                                        </p:tgtEl>
                                        <p:attrNameLst>
                                          <p:attrName>stroke.on</p:attrName>
                                        </p:attrNameLst>
                                      </p:cBhvr>
                                      <p:to>
                                        <p:strVal val="tru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98">
                                            <p:txEl>
                                              <p:pRg st="4" end="4"/>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xit" presetSubtype="0" fill="hold" nodeType="clickEffect">
                                  <p:stCondLst>
                                    <p:cond delay="0"/>
                                  </p:stCondLst>
                                  <p:childTnLst>
                                    <p:set>
                                      <p:cBhvr>
                                        <p:cTn id="162" dur="1" fill="hold">
                                          <p:stCondLst>
                                            <p:cond delay="0"/>
                                          </p:stCondLst>
                                        </p:cTn>
                                        <p:tgtEl>
                                          <p:spTgt spid="98">
                                            <p:txEl>
                                              <p:pRg st="0" end="0"/>
                                            </p:txEl>
                                          </p:spTgt>
                                        </p:tgtEl>
                                        <p:attrNameLst>
                                          <p:attrName>style.visibility</p:attrName>
                                        </p:attrNameLst>
                                      </p:cBhvr>
                                      <p:to>
                                        <p:strVal val="hidden"/>
                                      </p:to>
                                    </p:set>
                                  </p:childTnLst>
                                </p:cTn>
                              </p:par>
                              <p:par>
                                <p:cTn id="163" presetID="1" presetClass="exit" presetSubtype="0" fill="hold" nodeType="withEffect">
                                  <p:stCondLst>
                                    <p:cond delay="0"/>
                                  </p:stCondLst>
                                  <p:childTnLst>
                                    <p:set>
                                      <p:cBhvr>
                                        <p:cTn id="164" dur="1" fill="hold">
                                          <p:stCondLst>
                                            <p:cond delay="0"/>
                                          </p:stCondLst>
                                        </p:cTn>
                                        <p:tgtEl>
                                          <p:spTgt spid="98">
                                            <p:txEl>
                                              <p:pRg st="2" end="2"/>
                                            </p:txEl>
                                          </p:spTgt>
                                        </p:tgtEl>
                                        <p:attrNameLst>
                                          <p:attrName>style.visibility</p:attrName>
                                        </p:attrNameLst>
                                      </p:cBhvr>
                                      <p:to>
                                        <p:strVal val="hidden"/>
                                      </p:to>
                                    </p:set>
                                  </p:childTnLst>
                                </p:cTn>
                              </p:par>
                              <p:par>
                                <p:cTn id="165" presetID="1" presetClass="exit" presetSubtype="0" fill="hold" nodeType="withEffect">
                                  <p:stCondLst>
                                    <p:cond delay="0"/>
                                  </p:stCondLst>
                                  <p:childTnLst>
                                    <p:set>
                                      <p:cBhvr>
                                        <p:cTn id="166" dur="1" fill="hold">
                                          <p:stCondLst>
                                            <p:cond delay="0"/>
                                          </p:stCondLst>
                                        </p:cTn>
                                        <p:tgtEl>
                                          <p:spTgt spid="98">
                                            <p:txEl>
                                              <p:pRg st="4" end="4"/>
                                            </p:txEl>
                                          </p:spTgt>
                                        </p:tgtEl>
                                        <p:attrNameLst>
                                          <p:attrName>style.visibility</p:attrName>
                                        </p:attrNameLst>
                                      </p:cBhvr>
                                      <p:to>
                                        <p:strVal val="hidden"/>
                                      </p:to>
                                    </p:set>
                                  </p:childTnLst>
                                </p:cTn>
                              </p:par>
                              <p:par>
                                <p:cTn id="167" presetID="1" presetClass="emph" presetSubtype="1" nodeType="withEffect">
                                  <p:stCondLst>
                                    <p:cond delay="0"/>
                                  </p:stCondLst>
                                  <p:childTnLst>
                                    <p:set>
                                      <p:cBhvr>
                                        <p:cTn id="168" dur="indefinite"/>
                                        <p:tgtEl>
                                          <p:spTgt spid="83"/>
                                        </p:tgtEl>
                                        <p:attrNameLst>
                                          <p:attrName>fillcolor</p:attrName>
                                        </p:attrNameLst>
                                      </p:cBhvr>
                                      <p:to>
                                        <p:clrVal>
                                          <a:srgbClr val="FFFFFF"/>
                                        </p:clrVal>
                                      </p:to>
                                    </p:set>
                                    <p:set>
                                      <p:cBhvr>
                                        <p:cTn id="169" dur="indefinite"/>
                                        <p:tgtEl>
                                          <p:spTgt spid="83"/>
                                        </p:tgtEl>
                                        <p:attrNameLst>
                                          <p:attrName>fill.type</p:attrName>
                                        </p:attrNameLst>
                                      </p:cBhvr>
                                      <p:to>
                                        <p:strVal val="solid"/>
                                      </p:to>
                                    </p:set>
                                    <p:set>
                                      <p:cBhvr>
                                        <p:cTn id="170" dur="indefinite"/>
                                        <p:tgtEl>
                                          <p:spTgt spid="83"/>
                                        </p:tgtEl>
                                        <p:attrNameLst>
                                          <p:attrName>fill.on</p:attrName>
                                        </p:attrNameLst>
                                      </p:cBhvr>
                                      <p:to>
                                        <p:strVal val="true"/>
                                      </p:to>
                                    </p:set>
                                  </p:childTnLst>
                                </p:cTn>
                              </p:par>
                              <p:par>
                                <p:cTn id="171" presetID="7" presetClass="emph" presetSubtype="1" nodeType="withEffect">
                                  <p:stCondLst>
                                    <p:cond delay="0"/>
                                  </p:stCondLst>
                                  <p:childTnLst>
                                    <p:set>
                                      <p:cBhvr>
                                        <p:cTn id="172" dur="indefinite"/>
                                        <p:tgtEl>
                                          <p:spTgt spid="84"/>
                                        </p:tgtEl>
                                        <p:attrNameLst>
                                          <p:attrName>stroke.color</p:attrName>
                                        </p:attrNameLst>
                                      </p:cBhvr>
                                      <p:to>
                                        <p:clrVal>
                                          <a:srgbClr val="000000"/>
                                        </p:clrVal>
                                      </p:to>
                                    </p:set>
                                    <p:set>
                                      <p:cBhvr>
                                        <p:cTn id="173" dur="indefinite"/>
                                        <p:tgtEl>
                                          <p:spTgt spid="84"/>
                                        </p:tgtEl>
                                        <p:attrNameLst>
                                          <p:attrName>stroke.on</p:attrName>
                                        </p:attrNameLst>
                                      </p:cBhvr>
                                      <p:to>
                                        <p:strVal val="true"/>
                                      </p:to>
                                    </p:set>
                                  </p:childTnLst>
                                </p:cTn>
                              </p:par>
                              <p:par>
                                <p:cTn id="174" presetID="1" presetClass="entr" presetSubtype="0" fill="hold" nodeType="withEffect">
                                  <p:stCondLst>
                                    <p:cond delay="0"/>
                                  </p:stCondLst>
                                  <p:childTnLst>
                                    <p:set>
                                      <p:cBhvr>
                                        <p:cTn id="175"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nodeType="clickEffect">
                                  <p:stCondLst>
                                    <p:cond delay="0"/>
                                  </p:stCondLst>
                                  <p:childTnLst>
                                    <p:set>
                                      <p:cBhvr>
                                        <p:cTn id="179"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mph" presetSubtype="1" nodeType="clickEffect">
                                  <p:stCondLst>
                                    <p:cond delay="0"/>
                                  </p:stCondLst>
                                  <p:childTnLst>
                                    <p:set>
                                      <p:cBhvr>
                                        <p:cTn id="183" dur="indefinite"/>
                                        <p:tgtEl>
                                          <p:spTgt spid="79"/>
                                        </p:tgtEl>
                                        <p:attrNameLst>
                                          <p:attrName>fillcolor</p:attrName>
                                        </p:attrNameLst>
                                      </p:cBhvr>
                                      <p:to>
                                        <p:clrVal>
                                          <a:srgbClr val="4F81BD"/>
                                        </p:clrVal>
                                      </p:to>
                                    </p:set>
                                    <p:set>
                                      <p:cBhvr>
                                        <p:cTn id="184" dur="indefinite"/>
                                        <p:tgtEl>
                                          <p:spTgt spid="79"/>
                                        </p:tgtEl>
                                        <p:attrNameLst>
                                          <p:attrName>fill.type</p:attrName>
                                        </p:attrNameLst>
                                      </p:cBhvr>
                                      <p:to>
                                        <p:strVal val="solid"/>
                                      </p:to>
                                    </p:set>
                                    <p:set>
                                      <p:cBhvr>
                                        <p:cTn id="185" dur="indefinite"/>
                                        <p:tgtEl>
                                          <p:spTgt spid="79"/>
                                        </p:tgtEl>
                                        <p:attrNameLst>
                                          <p:attrName>fill.on</p:attrName>
                                        </p:attrNameLst>
                                      </p:cBhvr>
                                      <p:to>
                                        <p:strVal val="true"/>
                                      </p:to>
                                    </p:set>
                                  </p:childTnLst>
                                </p:cTn>
                              </p:par>
                            </p:childTnLst>
                          </p:cTn>
                        </p:par>
                      </p:childTnLst>
                    </p:cTn>
                  </p:par>
                  <p:par>
                    <p:cTn id="186" fill="hold">
                      <p:stCondLst>
                        <p:cond delay="indefinite"/>
                      </p:stCondLst>
                      <p:childTnLst>
                        <p:par>
                          <p:cTn id="187" fill="hold">
                            <p:stCondLst>
                              <p:cond delay="0"/>
                            </p:stCondLst>
                            <p:childTnLst>
                              <p:par>
                                <p:cTn id="188" presetID="7" presetClass="emph" presetSubtype="1" nodeType="clickEffect">
                                  <p:stCondLst>
                                    <p:cond delay="0"/>
                                  </p:stCondLst>
                                  <p:childTnLst>
                                    <p:set>
                                      <p:cBhvr>
                                        <p:cTn id="189" dur="indefinite"/>
                                        <p:tgtEl>
                                          <p:spTgt spid="91"/>
                                        </p:tgtEl>
                                        <p:attrNameLst>
                                          <p:attrName>stroke.color</p:attrName>
                                        </p:attrNameLst>
                                      </p:cBhvr>
                                      <p:to>
                                        <p:clrVal>
                                          <a:srgbClr val="FF0000"/>
                                        </p:clrVal>
                                      </p:to>
                                    </p:set>
                                    <p:set>
                                      <p:cBhvr>
                                        <p:cTn id="190" dur="indefinite"/>
                                        <p:tgtEl>
                                          <p:spTgt spid="91"/>
                                        </p:tgtEl>
                                        <p:attrNameLst>
                                          <p:attrName>stroke.on</p:attrName>
                                        </p:attrNameLst>
                                      </p:cBhvr>
                                      <p:to>
                                        <p:strVal val="true"/>
                                      </p:to>
                                    </p:set>
                                  </p:childTnLst>
                                </p:cTn>
                              </p:par>
                              <p:par>
                                <p:cTn id="191" presetID="3" presetClass="emph" presetSubtype="1" grpId="0" nodeType="withEffect">
                                  <p:stCondLst>
                                    <p:cond delay="0"/>
                                  </p:stCondLst>
                                  <p:childTnLst>
                                    <p:set>
                                      <p:cBhvr override="childStyle">
                                        <p:cTn id="192" dur="indefinite"/>
                                        <p:tgtEl>
                                          <p:spTgt spid="90"/>
                                        </p:tgtEl>
                                        <p:attrNameLst>
                                          <p:attrName>style.color</p:attrName>
                                        </p:attrNameLst>
                                      </p:cBhvr>
                                      <p:to>
                                        <p:clrVal>
                                          <a:srgbClr val="FF0000"/>
                                        </p:clrVal>
                                      </p:to>
                                    </p:set>
                                  </p:childTnLst>
                                </p:cTn>
                              </p:par>
                            </p:childTnLst>
                          </p:cTn>
                        </p:par>
                      </p:childTnLst>
                    </p:cTn>
                  </p:par>
                  <p:par>
                    <p:cTn id="193" fill="hold">
                      <p:stCondLst>
                        <p:cond delay="indefinite"/>
                      </p:stCondLst>
                      <p:childTnLst>
                        <p:par>
                          <p:cTn id="194" fill="hold">
                            <p:stCondLst>
                              <p:cond delay="0"/>
                            </p:stCondLst>
                            <p:childTnLst>
                              <p:par>
                                <p:cTn id="195" presetID="1" presetClass="emph" presetSubtype="1" nodeType="clickEffect">
                                  <p:stCondLst>
                                    <p:cond delay="0"/>
                                  </p:stCondLst>
                                  <p:childTnLst>
                                    <p:set>
                                      <p:cBhvr>
                                        <p:cTn id="196" dur="indefinite"/>
                                        <p:tgtEl>
                                          <p:spTgt spid="80"/>
                                        </p:tgtEl>
                                        <p:attrNameLst>
                                          <p:attrName>fillcolor</p:attrName>
                                        </p:attrNameLst>
                                      </p:cBhvr>
                                      <p:to>
                                        <p:clrVal>
                                          <a:srgbClr val="4F81BD"/>
                                        </p:clrVal>
                                      </p:to>
                                    </p:set>
                                    <p:set>
                                      <p:cBhvr>
                                        <p:cTn id="197" dur="indefinite"/>
                                        <p:tgtEl>
                                          <p:spTgt spid="80"/>
                                        </p:tgtEl>
                                        <p:attrNameLst>
                                          <p:attrName>fill.type</p:attrName>
                                        </p:attrNameLst>
                                      </p:cBhvr>
                                      <p:to>
                                        <p:strVal val="solid"/>
                                      </p:to>
                                    </p:set>
                                    <p:set>
                                      <p:cBhvr>
                                        <p:cTn id="198" dur="indefinite"/>
                                        <p:tgtEl>
                                          <p:spTgt spid="80"/>
                                        </p:tgtEl>
                                        <p:attrNameLst>
                                          <p:attrName>fill.on</p:attrName>
                                        </p:attrNameLst>
                                      </p:cBhvr>
                                      <p:to>
                                        <p:strVal val="true"/>
                                      </p:to>
                                    </p:set>
                                  </p:childTnLst>
                                </p:cTn>
                              </p:par>
                            </p:childTnLst>
                          </p:cTn>
                        </p:par>
                      </p:childTnLst>
                    </p:cTn>
                  </p:par>
                  <p:par>
                    <p:cTn id="199" fill="hold">
                      <p:stCondLst>
                        <p:cond delay="indefinite"/>
                      </p:stCondLst>
                      <p:childTnLst>
                        <p:par>
                          <p:cTn id="200" fill="hold">
                            <p:stCondLst>
                              <p:cond delay="0"/>
                            </p:stCondLst>
                            <p:childTnLst>
                              <p:par>
                                <p:cTn id="201" presetID="7" presetClass="emph" presetSubtype="1" nodeType="clickEffect">
                                  <p:stCondLst>
                                    <p:cond delay="0"/>
                                  </p:stCondLst>
                                  <p:childTnLst>
                                    <p:set>
                                      <p:cBhvr>
                                        <p:cTn id="202" dur="indefinite"/>
                                        <p:tgtEl>
                                          <p:spTgt spid="82"/>
                                        </p:tgtEl>
                                        <p:attrNameLst>
                                          <p:attrName>stroke.color</p:attrName>
                                        </p:attrNameLst>
                                      </p:cBhvr>
                                      <p:to>
                                        <p:clrVal>
                                          <a:srgbClr val="FF0000"/>
                                        </p:clrVal>
                                      </p:to>
                                    </p:set>
                                    <p:set>
                                      <p:cBhvr>
                                        <p:cTn id="203" dur="indefinite"/>
                                        <p:tgtEl>
                                          <p:spTgt spid="82"/>
                                        </p:tgtEl>
                                        <p:attrNameLst>
                                          <p:attrName>stroke.on</p:attrName>
                                        </p:attrNameLst>
                                      </p:cBhvr>
                                      <p:to>
                                        <p:strVal val="true"/>
                                      </p:to>
                                    </p:set>
                                  </p:childTnLst>
                                </p:cTn>
                              </p:par>
                            </p:childTnLst>
                          </p:cTn>
                        </p:par>
                      </p:childTnLst>
                    </p:cTn>
                  </p:par>
                  <p:par>
                    <p:cTn id="204" fill="hold">
                      <p:stCondLst>
                        <p:cond delay="indefinite"/>
                      </p:stCondLst>
                      <p:childTnLst>
                        <p:par>
                          <p:cTn id="205" fill="hold">
                            <p:stCondLst>
                              <p:cond delay="0"/>
                            </p:stCondLst>
                            <p:childTnLst>
                              <p:par>
                                <p:cTn id="206" presetID="1" presetClass="emph" presetSubtype="1" nodeType="clickEffect">
                                  <p:stCondLst>
                                    <p:cond delay="0"/>
                                  </p:stCondLst>
                                  <p:childTnLst>
                                    <p:set>
                                      <p:cBhvr>
                                        <p:cTn id="207" dur="indefinite"/>
                                        <p:tgtEl>
                                          <p:spTgt spid="79"/>
                                        </p:tgtEl>
                                        <p:attrNameLst>
                                          <p:attrName>fillcolor</p:attrName>
                                        </p:attrNameLst>
                                      </p:cBhvr>
                                      <p:to>
                                        <p:clrVal>
                                          <a:srgbClr val="FFFFFF"/>
                                        </p:clrVal>
                                      </p:to>
                                    </p:set>
                                    <p:set>
                                      <p:cBhvr>
                                        <p:cTn id="208" dur="indefinite"/>
                                        <p:tgtEl>
                                          <p:spTgt spid="79"/>
                                        </p:tgtEl>
                                        <p:attrNameLst>
                                          <p:attrName>fill.type</p:attrName>
                                        </p:attrNameLst>
                                      </p:cBhvr>
                                      <p:to>
                                        <p:strVal val="solid"/>
                                      </p:to>
                                    </p:set>
                                    <p:set>
                                      <p:cBhvr>
                                        <p:cTn id="209" dur="indefinite"/>
                                        <p:tgtEl>
                                          <p:spTgt spid="79"/>
                                        </p:tgtEl>
                                        <p:attrNameLst>
                                          <p:attrName>fill.on</p:attrName>
                                        </p:attrNameLst>
                                      </p:cBhvr>
                                      <p:to>
                                        <p:strVal val="true"/>
                                      </p:to>
                                    </p:set>
                                  </p:childTnLst>
                                </p:cTn>
                              </p:par>
                              <p:par>
                                <p:cTn id="210" presetID="7" presetClass="emph" presetSubtype="1" nodeType="withEffect">
                                  <p:stCondLst>
                                    <p:cond delay="0"/>
                                  </p:stCondLst>
                                  <p:childTnLst>
                                    <p:set>
                                      <p:cBhvr>
                                        <p:cTn id="211" dur="indefinite"/>
                                        <p:tgtEl>
                                          <p:spTgt spid="91"/>
                                        </p:tgtEl>
                                        <p:attrNameLst>
                                          <p:attrName>stroke.color</p:attrName>
                                        </p:attrNameLst>
                                      </p:cBhvr>
                                      <p:to>
                                        <p:clrVal>
                                          <a:srgbClr val="000000"/>
                                        </p:clrVal>
                                      </p:to>
                                    </p:set>
                                    <p:set>
                                      <p:cBhvr>
                                        <p:cTn id="212" dur="indefinite"/>
                                        <p:tgtEl>
                                          <p:spTgt spid="91"/>
                                        </p:tgtEl>
                                        <p:attrNameLst>
                                          <p:attrName>stroke.on</p:attrName>
                                        </p:attrNameLst>
                                      </p:cBhvr>
                                      <p:to>
                                        <p:strVal val="true"/>
                                      </p:to>
                                    </p:set>
                                  </p:childTnLst>
                                </p:cTn>
                              </p:par>
                              <p:par>
                                <p:cTn id="213" presetID="3" presetClass="emph" presetSubtype="1" grpId="1" nodeType="withEffect">
                                  <p:stCondLst>
                                    <p:cond delay="0"/>
                                  </p:stCondLst>
                                  <p:childTnLst>
                                    <p:set>
                                      <p:cBhvr override="childStyle">
                                        <p:cTn id="214" dur="indefinite"/>
                                        <p:tgtEl>
                                          <p:spTgt spid="90"/>
                                        </p:tgtEl>
                                        <p:attrNameLst>
                                          <p:attrName>style.color</p:attrName>
                                        </p:attrNameLst>
                                      </p:cBhvr>
                                      <p:to>
                                        <p:clrVal>
                                          <a:srgbClr val="000000"/>
                                        </p:clrVal>
                                      </p:to>
                                    </p:set>
                                  </p:childTnLst>
                                </p:cTn>
                              </p:par>
                              <p:par>
                                <p:cTn id="215" presetID="1" presetClass="emph" presetSubtype="1" nodeType="withEffect">
                                  <p:stCondLst>
                                    <p:cond delay="0"/>
                                  </p:stCondLst>
                                  <p:childTnLst>
                                    <p:set>
                                      <p:cBhvr>
                                        <p:cTn id="216" dur="indefinite"/>
                                        <p:tgtEl>
                                          <p:spTgt spid="80"/>
                                        </p:tgtEl>
                                        <p:attrNameLst>
                                          <p:attrName>fillcolor</p:attrName>
                                        </p:attrNameLst>
                                      </p:cBhvr>
                                      <p:to>
                                        <p:clrVal>
                                          <a:srgbClr val="FFFFFF"/>
                                        </p:clrVal>
                                      </p:to>
                                    </p:set>
                                    <p:set>
                                      <p:cBhvr>
                                        <p:cTn id="217" dur="indefinite"/>
                                        <p:tgtEl>
                                          <p:spTgt spid="80"/>
                                        </p:tgtEl>
                                        <p:attrNameLst>
                                          <p:attrName>fill.type</p:attrName>
                                        </p:attrNameLst>
                                      </p:cBhvr>
                                      <p:to>
                                        <p:strVal val="solid"/>
                                      </p:to>
                                    </p:set>
                                    <p:set>
                                      <p:cBhvr>
                                        <p:cTn id="218" dur="indefinite"/>
                                        <p:tgtEl>
                                          <p:spTgt spid="80"/>
                                        </p:tgtEl>
                                        <p:attrNameLst>
                                          <p:attrName>fill.on</p:attrName>
                                        </p:attrNameLst>
                                      </p:cBhvr>
                                      <p:to>
                                        <p:strVal val="true"/>
                                      </p:to>
                                    </p:set>
                                  </p:childTnLst>
                                </p:cTn>
                              </p:par>
                              <p:par>
                                <p:cTn id="219" presetID="7" presetClass="emph" presetSubtype="1" nodeType="withEffect">
                                  <p:stCondLst>
                                    <p:cond delay="0"/>
                                  </p:stCondLst>
                                  <p:childTnLst>
                                    <p:set>
                                      <p:cBhvr>
                                        <p:cTn id="220" dur="indefinite"/>
                                        <p:tgtEl>
                                          <p:spTgt spid="82"/>
                                        </p:tgtEl>
                                        <p:attrNameLst>
                                          <p:attrName>stroke.color</p:attrName>
                                        </p:attrNameLst>
                                      </p:cBhvr>
                                      <p:to>
                                        <p:clrVal>
                                          <a:srgbClr val="000000"/>
                                        </p:clrVal>
                                      </p:to>
                                    </p:set>
                                    <p:set>
                                      <p:cBhvr>
                                        <p:cTn id="221" dur="indefinite"/>
                                        <p:tgtEl>
                                          <p:spTgt spid="82"/>
                                        </p:tgtEl>
                                        <p:attrNameLst>
                                          <p:attrName>stroke.on</p:attrName>
                                        </p:attrNameLst>
                                      </p:cBhvr>
                                      <p:to>
                                        <p:strVal val="true"/>
                                      </p:to>
                                    </p:set>
                                  </p:childTnLst>
                                </p:cTn>
                              </p:par>
                              <p:par>
                                <p:cTn id="222" presetID="1" presetClass="exit" presetSubtype="0" fill="hold" grpId="0" nodeType="withEffect">
                                  <p:stCondLst>
                                    <p:cond delay="0"/>
                                  </p:stCondLst>
                                  <p:childTnLst>
                                    <p:set>
                                      <p:cBhvr>
                                        <p:cTn id="223" dur="1" fill="hold">
                                          <p:stCondLst>
                                            <p:cond delay="0"/>
                                          </p:stCondLst>
                                        </p:cTn>
                                        <p:tgtEl>
                                          <p:spTgt spid="99">
                                            <p:txEl>
                                              <p:pRg st="0" end="0"/>
                                            </p:txEl>
                                          </p:spTgt>
                                        </p:tgtEl>
                                        <p:attrNameLst>
                                          <p:attrName>style.visibility</p:attrName>
                                        </p:attrNameLst>
                                      </p:cBhvr>
                                      <p:to>
                                        <p:strVal val="hidden"/>
                                      </p:to>
                                    </p:set>
                                  </p:childTnLst>
                                </p:cTn>
                              </p:par>
                              <p:par>
                                <p:cTn id="224" presetID="1" presetClass="exit" presetSubtype="0" fill="hold" grpId="0" nodeType="withEffect">
                                  <p:stCondLst>
                                    <p:cond delay="0"/>
                                  </p:stCondLst>
                                  <p:childTnLst>
                                    <p:set>
                                      <p:cBhvr>
                                        <p:cTn id="225" dur="1" fill="hold">
                                          <p:stCondLst>
                                            <p:cond delay="0"/>
                                          </p:stCondLst>
                                        </p:cTn>
                                        <p:tgtEl>
                                          <p:spTgt spid="99">
                                            <p:txEl>
                                              <p:pRg st="2" end="2"/>
                                            </p:txEl>
                                          </p:spTgt>
                                        </p:tgtEl>
                                        <p:attrNameLst>
                                          <p:attrName>style.visibility</p:attrName>
                                        </p:attrNameLst>
                                      </p:cBhvr>
                                      <p:to>
                                        <p:strVal val="hidden"/>
                                      </p:to>
                                    </p:set>
                                  </p:childTnLst>
                                </p:cTn>
                              </p:par>
                              <p:par>
                                <p:cTn id="226" presetID="1" presetClass="entr" presetSubtype="0" fill="hold" nodeType="withEffect">
                                  <p:stCondLst>
                                    <p:cond delay="0"/>
                                  </p:stCondLst>
                                  <p:childTnLst>
                                    <p:set>
                                      <p:cBhvr>
                                        <p:cTn id="227" dur="1" fill="hold">
                                          <p:stCondLst>
                                            <p:cond delay="0"/>
                                          </p:stCondLst>
                                        </p:cTn>
                                        <p:tgtEl>
                                          <p:spTgt spid="100">
                                            <p:txEl>
                                              <p:pRg st="0" end="0"/>
                                            </p:txEl>
                                          </p:spTgt>
                                        </p:tgtEl>
                                        <p:attrNameLst>
                                          <p:attrName>style.visibility</p:attrName>
                                        </p:attrNameLst>
                                      </p:cBhvr>
                                      <p:to>
                                        <p:strVal val="visible"/>
                                      </p:to>
                                    </p:set>
                                  </p:childTnLst>
                                </p:cTn>
                              </p:par>
                            </p:childTnLst>
                          </p:cTn>
                        </p:par>
                      </p:childTnLst>
                    </p:cTn>
                  </p:par>
                  <p:par>
                    <p:cTn id="228" fill="hold">
                      <p:stCondLst>
                        <p:cond delay="indefinite"/>
                      </p:stCondLst>
                      <p:childTnLst>
                        <p:par>
                          <p:cTn id="229" fill="hold">
                            <p:stCondLst>
                              <p:cond delay="0"/>
                            </p:stCondLst>
                            <p:childTnLst>
                              <p:par>
                                <p:cTn id="230" presetID="1" presetClass="emph" presetSubtype="1" nodeType="clickEffect">
                                  <p:stCondLst>
                                    <p:cond delay="0"/>
                                  </p:stCondLst>
                                  <p:childTnLst>
                                    <p:set>
                                      <p:cBhvr>
                                        <p:cTn id="231" dur="indefinite"/>
                                        <p:tgtEl>
                                          <p:spTgt spid="81"/>
                                        </p:tgtEl>
                                        <p:attrNameLst>
                                          <p:attrName>fillcolor</p:attrName>
                                        </p:attrNameLst>
                                      </p:cBhvr>
                                      <p:to>
                                        <p:clrVal>
                                          <a:srgbClr val="4F81BD"/>
                                        </p:clrVal>
                                      </p:to>
                                    </p:set>
                                    <p:set>
                                      <p:cBhvr>
                                        <p:cTn id="232" dur="indefinite"/>
                                        <p:tgtEl>
                                          <p:spTgt spid="81"/>
                                        </p:tgtEl>
                                        <p:attrNameLst>
                                          <p:attrName>fill.type</p:attrName>
                                        </p:attrNameLst>
                                      </p:cBhvr>
                                      <p:to>
                                        <p:strVal val="solid"/>
                                      </p:to>
                                    </p:set>
                                    <p:set>
                                      <p:cBhvr>
                                        <p:cTn id="233" dur="indefinite"/>
                                        <p:tgtEl>
                                          <p:spTgt spid="81"/>
                                        </p:tgtEl>
                                        <p:attrNameLst>
                                          <p:attrName>fill.on</p:attrName>
                                        </p:attrNameLst>
                                      </p:cBhvr>
                                      <p:to>
                                        <p:strVal val="true"/>
                                      </p:to>
                                    </p:set>
                                  </p:childTnLst>
                                </p:cTn>
                              </p:par>
                            </p:childTnLst>
                          </p:cTn>
                        </p:par>
                      </p:childTnLst>
                    </p:cTn>
                  </p:par>
                  <p:par>
                    <p:cTn id="234" fill="hold">
                      <p:stCondLst>
                        <p:cond delay="indefinite"/>
                      </p:stCondLst>
                      <p:childTnLst>
                        <p:par>
                          <p:cTn id="235" fill="hold">
                            <p:stCondLst>
                              <p:cond delay="0"/>
                            </p:stCondLst>
                            <p:childTnLst>
                              <p:par>
                                <p:cTn id="236" presetID="7" presetClass="emph" presetSubtype="1" nodeType="clickEffect">
                                  <p:stCondLst>
                                    <p:cond delay="0"/>
                                  </p:stCondLst>
                                  <p:childTnLst>
                                    <p:set>
                                      <p:cBhvr>
                                        <p:cTn id="237" dur="indefinite"/>
                                        <p:tgtEl>
                                          <p:spTgt spid="86"/>
                                        </p:tgtEl>
                                        <p:attrNameLst>
                                          <p:attrName>stroke.color</p:attrName>
                                        </p:attrNameLst>
                                      </p:cBhvr>
                                      <p:to>
                                        <p:clrVal>
                                          <a:srgbClr val="FF0000"/>
                                        </p:clrVal>
                                      </p:to>
                                    </p:set>
                                    <p:set>
                                      <p:cBhvr>
                                        <p:cTn id="238" dur="indefinite"/>
                                        <p:tgtEl>
                                          <p:spTgt spid="86"/>
                                        </p:tgtEl>
                                        <p:attrNameLst>
                                          <p:attrName>stroke.on</p:attrName>
                                        </p:attrNameLst>
                                      </p:cBhvr>
                                      <p:to>
                                        <p:strVal val="tru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100">
                                            <p:txEl>
                                              <p:pRg st="2" end="2"/>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mph" presetSubtype="1" nodeType="clickEffect">
                                  <p:stCondLst>
                                    <p:cond delay="0"/>
                                  </p:stCondLst>
                                  <p:childTnLst>
                                    <p:set>
                                      <p:cBhvr>
                                        <p:cTn id="246" dur="indefinite"/>
                                        <p:tgtEl>
                                          <p:spTgt spid="85"/>
                                        </p:tgtEl>
                                        <p:attrNameLst>
                                          <p:attrName>fillcolor</p:attrName>
                                        </p:attrNameLst>
                                      </p:cBhvr>
                                      <p:to>
                                        <p:clrVal>
                                          <a:srgbClr val="4F81BD"/>
                                        </p:clrVal>
                                      </p:to>
                                    </p:set>
                                    <p:set>
                                      <p:cBhvr>
                                        <p:cTn id="247" dur="indefinite"/>
                                        <p:tgtEl>
                                          <p:spTgt spid="85"/>
                                        </p:tgtEl>
                                        <p:attrNameLst>
                                          <p:attrName>fill.type</p:attrName>
                                        </p:attrNameLst>
                                      </p:cBhvr>
                                      <p:to>
                                        <p:strVal val="solid"/>
                                      </p:to>
                                    </p:set>
                                    <p:set>
                                      <p:cBhvr>
                                        <p:cTn id="248" dur="indefinite"/>
                                        <p:tgtEl>
                                          <p:spTgt spid="85"/>
                                        </p:tgtEl>
                                        <p:attrNameLst>
                                          <p:attrName>fill.on</p:attrName>
                                        </p:attrNameLst>
                                      </p:cBhvr>
                                      <p:to>
                                        <p:strVal val="true"/>
                                      </p:to>
                                    </p:set>
                                  </p:childTnLst>
                                </p:cTn>
                              </p:par>
                            </p:childTnLst>
                          </p:cTn>
                        </p:par>
                      </p:childTnLst>
                    </p:cTn>
                  </p:par>
                  <p:par>
                    <p:cTn id="249" fill="hold">
                      <p:stCondLst>
                        <p:cond delay="indefinite"/>
                      </p:stCondLst>
                      <p:childTnLst>
                        <p:par>
                          <p:cTn id="250" fill="hold">
                            <p:stCondLst>
                              <p:cond delay="0"/>
                            </p:stCondLst>
                            <p:childTnLst>
                              <p:par>
                                <p:cTn id="251" presetID="7" presetClass="emph" presetSubtype="1" nodeType="clickEffect">
                                  <p:stCondLst>
                                    <p:cond delay="0"/>
                                  </p:stCondLst>
                                  <p:childTnLst>
                                    <p:set>
                                      <p:cBhvr>
                                        <p:cTn id="252" dur="indefinite"/>
                                        <p:tgtEl>
                                          <p:spTgt spid="92"/>
                                        </p:tgtEl>
                                        <p:attrNameLst>
                                          <p:attrName>stroke.color</p:attrName>
                                        </p:attrNameLst>
                                      </p:cBhvr>
                                      <p:to>
                                        <p:clrVal>
                                          <a:srgbClr val="FF0000"/>
                                        </p:clrVal>
                                      </p:to>
                                    </p:set>
                                    <p:set>
                                      <p:cBhvr>
                                        <p:cTn id="253" dur="indefinite"/>
                                        <p:tgtEl>
                                          <p:spTgt spid="92"/>
                                        </p:tgtEl>
                                        <p:attrNameLst>
                                          <p:attrName>stroke.on</p:attrName>
                                        </p:attrNameLst>
                                      </p:cBhvr>
                                      <p:to>
                                        <p:strVal val="true"/>
                                      </p:to>
                                    </p:set>
                                  </p:childTnLst>
                                </p:cTn>
                              </p:par>
                            </p:childTnLst>
                          </p:cTn>
                        </p:par>
                      </p:childTnLst>
                    </p:cTn>
                  </p:par>
                  <p:par>
                    <p:cTn id="254" fill="hold">
                      <p:stCondLst>
                        <p:cond delay="indefinite"/>
                      </p:stCondLst>
                      <p:childTnLst>
                        <p:par>
                          <p:cTn id="255" fill="hold">
                            <p:stCondLst>
                              <p:cond delay="0"/>
                            </p:stCondLst>
                            <p:childTnLst>
                              <p:par>
                                <p:cTn id="256" presetID="1" presetClass="emph" presetSubtype="1" nodeType="clickEffect">
                                  <p:stCondLst>
                                    <p:cond delay="0"/>
                                  </p:stCondLst>
                                  <p:childTnLst>
                                    <p:set>
                                      <p:cBhvr>
                                        <p:cTn id="257" dur="indefinite"/>
                                        <p:tgtEl>
                                          <p:spTgt spid="81"/>
                                        </p:tgtEl>
                                        <p:attrNameLst>
                                          <p:attrName>fillcolor</p:attrName>
                                        </p:attrNameLst>
                                      </p:cBhvr>
                                      <p:to>
                                        <p:clrVal>
                                          <a:srgbClr val="FFFFFF"/>
                                        </p:clrVal>
                                      </p:to>
                                    </p:set>
                                    <p:set>
                                      <p:cBhvr>
                                        <p:cTn id="258" dur="indefinite"/>
                                        <p:tgtEl>
                                          <p:spTgt spid="81"/>
                                        </p:tgtEl>
                                        <p:attrNameLst>
                                          <p:attrName>fill.type</p:attrName>
                                        </p:attrNameLst>
                                      </p:cBhvr>
                                      <p:to>
                                        <p:strVal val="solid"/>
                                      </p:to>
                                    </p:set>
                                    <p:set>
                                      <p:cBhvr>
                                        <p:cTn id="259" dur="indefinite"/>
                                        <p:tgtEl>
                                          <p:spTgt spid="81"/>
                                        </p:tgtEl>
                                        <p:attrNameLst>
                                          <p:attrName>fill.on</p:attrName>
                                        </p:attrNameLst>
                                      </p:cBhvr>
                                      <p:to>
                                        <p:strVal val="true"/>
                                      </p:to>
                                    </p:set>
                                  </p:childTnLst>
                                </p:cTn>
                              </p:par>
                              <p:par>
                                <p:cTn id="260" presetID="7" presetClass="emph" presetSubtype="1" nodeType="withEffect">
                                  <p:stCondLst>
                                    <p:cond delay="0"/>
                                  </p:stCondLst>
                                  <p:childTnLst>
                                    <p:set>
                                      <p:cBhvr>
                                        <p:cTn id="261" dur="indefinite"/>
                                        <p:tgtEl>
                                          <p:spTgt spid="86"/>
                                        </p:tgtEl>
                                        <p:attrNameLst>
                                          <p:attrName>stroke.color</p:attrName>
                                        </p:attrNameLst>
                                      </p:cBhvr>
                                      <p:to>
                                        <p:clrVal>
                                          <a:srgbClr val="000000"/>
                                        </p:clrVal>
                                      </p:to>
                                    </p:set>
                                    <p:set>
                                      <p:cBhvr>
                                        <p:cTn id="262" dur="indefinite"/>
                                        <p:tgtEl>
                                          <p:spTgt spid="86"/>
                                        </p:tgtEl>
                                        <p:attrNameLst>
                                          <p:attrName>stroke.on</p:attrName>
                                        </p:attrNameLst>
                                      </p:cBhvr>
                                      <p:to>
                                        <p:strVal val="true"/>
                                      </p:to>
                                    </p:set>
                                  </p:childTnLst>
                                </p:cTn>
                              </p:par>
                              <p:par>
                                <p:cTn id="263" presetID="1" presetClass="emph" presetSubtype="1" nodeType="withEffect">
                                  <p:stCondLst>
                                    <p:cond delay="0"/>
                                  </p:stCondLst>
                                  <p:childTnLst>
                                    <p:set>
                                      <p:cBhvr>
                                        <p:cTn id="264" dur="indefinite"/>
                                        <p:tgtEl>
                                          <p:spTgt spid="85"/>
                                        </p:tgtEl>
                                        <p:attrNameLst>
                                          <p:attrName>fillcolor</p:attrName>
                                        </p:attrNameLst>
                                      </p:cBhvr>
                                      <p:to>
                                        <p:clrVal>
                                          <a:srgbClr val="FFFFFF"/>
                                        </p:clrVal>
                                      </p:to>
                                    </p:set>
                                    <p:set>
                                      <p:cBhvr>
                                        <p:cTn id="265" dur="indefinite"/>
                                        <p:tgtEl>
                                          <p:spTgt spid="85"/>
                                        </p:tgtEl>
                                        <p:attrNameLst>
                                          <p:attrName>fill.type</p:attrName>
                                        </p:attrNameLst>
                                      </p:cBhvr>
                                      <p:to>
                                        <p:strVal val="solid"/>
                                      </p:to>
                                    </p:set>
                                    <p:set>
                                      <p:cBhvr>
                                        <p:cTn id="266" dur="indefinite"/>
                                        <p:tgtEl>
                                          <p:spTgt spid="85"/>
                                        </p:tgtEl>
                                        <p:attrNameLst>
                                          <p:attrName>fill.on</p:attrName>
                                        </p:attrNameLst>
                                      </p:cBhvr>
                                      <p:to>
                                        <p:strVal val="true"/>
                                      </p:to>
                                    </p:set>
                                  </p:childTnLst>
                                </p:cTn>
                              </p:par>
                              <p:par>
                                <p:cTn id="267" presetID="7" presetClass="emph" presetSubtype="1" nodeType="withEffect">
                                  <p:stCondLst>
                                    <p:cond delay="0"/>
                                  </p:stCondLst>
                                  <p:childTnLst>
                                    <p:set>
                                      <p:cBhvr>
                                        <p:cTn id="268" dur="indefinite"/>
                                        <p:tgtEl>
                                          <p:spTgt spid="92"/>
                                        </p:tgtEl>
                                        <p:attrNameLst>
                                          <p:attrName>stroke.color</p:attrName>
                                        </p:attrNameLst>
                                      </p:cBhvr>
                                      <p:to>
                                        <p:clrVal>
                                          <a:srgbClr val="000000"/>
                                        </p:clrVal>
                                      </p:to>
                                    </p:set>
                                    <p:set>
                                      <p:cBhvr>
                                        <p:cTn id="269" dur="indefinite"/>
                                        <p:tgtEl>
                                          <p:spTgt spid="92"/>
                                        </p:tgtEl>
                                        <p:attrNameLst>
                                          <p:attrName>stroke.on</p:attrName>
                                        </p:attrNameLst>
                                      </p:cBhvr>
                                      <p:to>
                                        <p:strVal val="true"/>
                                      </p:to>
                                    </p:set>
                                  </p:childTnLst>
                                </p:cTn>
                              </p:par>
                              <p:par>
                                <p:cTn id="270" presetID="1" presetClass="exit" presetSubtype="0" fill="hold" grpId="0" nodeType="withEffect">
                                  <p:stCondLst>
                                    <p:cond delay="0"/>
                                  </p:stCondLst>
                                  <p:childTnLst>
                                    <p:set>
                                      <p:cBhvr>
                                        <p:cTn id="271" dur="1" fill="hold">
                                          <p:stCondLst>
                                            <p:cond delay="0"/>
                                          </p:stCondLst>
                                        </p:cTn>
                                        <p:tgtEl>
                                          <p:spTgt spid="100">
                                            <p:txEl>
                                              <p:pRg st="0" end="0"/>
                                            </p:txEl>
                                          </p:spTgt>
                                        </p:tgtEl>
                                        <p:attrNameLst>
                                          <p:attrName>style.visibility</p:attrName>
                                        </p:attrNameLst>
                                      </p:cBhvr>
                                      <p:to>
                                        <p:strVal val="hidden"/>
                                      </p:to>
                                    </p:set>
                                  </p:childTnLst>
                                </p:cTn>
                              </p:par>
                              <p:par>
                                <p:cTn id="272" presetID="1" presetClass="exit" presetSubtype="0" fill="hold" grpId="0" nodeType="withEffect">
                                  <p:stCondLst>
                                    <p:cond delay="0"/>
                                  </p:stCondLst>
                                  <p:childTnLst>
                                    <p:set>
                                      <p:cBhvr>
                                        <p:cTn id="273" dur="1" fill="hold">
                                          <p:stCondLst>
                                            <p:cond delay="0"/>
                                          </p:stCondLst>
                                        </p:cTn>
                                        <p:tgtEl>
                                          <p:spTgt spid="100">
                                            <p:txEl>
                                              <p:pRg st="2" end="2"/>
                                            </p:txEl>
                                          </p:spTgt>
                                        </p:tgtEl>
                                        <p:attrNameLst>
                                          <p:attrName>style.visibility</p:attrName>
                                        </p:attrNameLst>
                                      </p:cBhvr>
                                      <p:to>
                                        <p:strVal val="hidden"/>
                                      </p:to>
                                    </p:set>
                                  </p:childTnLst>
                                </p:cTn>
                              </p:par>
                              <p:par>
                                <p:cTn id="274" presetID="1" presetClass="entr" presetSubtype="0" fill="hold" nodeType="withEffect">
                                  <p:stCondLst>
                                    <p:cond delay="0"/>
                                  </p:stCondLst>
                                  <p:childTnLst>
                                    <p:set>
                                      <p:cBhvr>
                                        <p:cTn id="275" dur="1" fill="hold">
                                          <p:stCondLst>
                                            <p:cond delay="0"/>
                                          </p:stCondLst>
                                        </p:cTn>
                                        <p:tgtEl>
                                          <p:spTgt spid="101">
                                            <p:txEl>
                                              <p:pRg st="0" end="0"/>
                                            </p:txEl>
                                          </p:spTgt>
                                        </p:tgtEl>
                                        <p:attrNameLst>
                                          <p:attrName>style.visibility</p:attrName>
                                        </p:attrNameLst>
                                      </p:cBhvr>
                                      <p:to>
                                        <p:strVal val="visible"/>
                                      </p:to>
                                    </p:set>
                                  </p:childTnLst>
                                </p:cTn>
                              </p:par>
                            </p:childTnLst>
                          </p:cTn>
                        </p:par>
                      </p:childTnLst>
                    </p:cTn>
                  </p:par>
                  <p:par>
                    <p:cTn id="276" fill="hold">
                      <p:stCondLst>
                        <p:cond delay="indefinite"/>
                      </p:stCondLst>
                      <p:childTnLst>
                        <p:par>
                          <p:cTn id="277" fill="hold">
                            <p:stCondLst>
                              <p:cond delay="0"/>
                            </p:stCondLst>
                            <p:childTnLst>
                              <p:par>
                                <p:cTn id="278" presetID="1" presetClass="emph" presetSubtype="1" nodeType="clickEffect">
                                  <p:stCondLst>
                                    <p:cond delay="0"/>
                                  </p:stCondLst>
                                  <p:childTnLst>
                                    <p:set>
                                      <p:cBhvr>
                                        <p:cTn id="279" dur="indefinite"/>
                                        <p:tgtEl>
                                          <p:spTgt spid="68"/>
                                        </p:tgtEl>
                                        <p:attrNameLst>
                                          <p:attrName>fillcolor</p:attrName>
                                        </p:attrNameLst>
                                      </p:cBhvr>
                                      <p:to>
                                        <p:clrVal>
                                          <a:srgbClr val="4F81BD"/>
                                        </p:clrVal>
                                      </p:to>
                                    </p:set>
                                    <p:set>
                                      <p:cBhvr>
                                        <p:cTn id="280" dur="indefinite"/>
                                        <p:tgtEl>
                                          <p:spTgt spid="68"/>
                                        </p:tgtEl>
                                        <p:attrNameLst>
                                          <p:attrName>fill.type</p:attrName>
                                        </p:attrNameLst>
                                      </p:cBhvr>
                                      <p:to>
                                        <p:strVal val="solid"/>
                                      </p:to>
                                    </p:set>
                                    <p:set>
                                      <p:cBhvr>
                                        <p:cTn id="281" dur="indefinite"/>
                                        <p:tgtEl>
                                          <p:spTgt spid="68"/>
                                        </p:tgtEl>
                                        <p:attrNameLst>
                                          <p:attrName>fill.on</p:attrName>
                                        </p:attrNameLst>
                                      </p:cBhvr>
                                      <p:to>
                                        <p:strVal val="true"/>
                                      </p:to>
                                    </p:set>
                                  </p:childTnLst>
                                </p:cTn>
                              </p:par>
                            </p:childTnLst>
                          </p:cTn>
                        </p:par>
                      </p:childTnLst>
                    </p:cTn>
                  </p:par>
                  <p:par>
                    <p:cTn id="282" fill="hold">
                      <p:stCondLst>
                        <p:cond delay="indefinite"/>
                      </p:stCondLst>
                      <p:childTnLst>
                        <p:par>
                          <p:cTn id="283" fill="hold">
                            <p:stCondLst>
                              <p:cond delay="0"/>
                            </p:stCondLst>
                            <p:childTnLst>
                              <p:par>
                                <p:cTn id="284" presetID="7" presetClass="emph" presetSubtype="1" nodeType="clickEffect">
                                  <p:stCondLst>
                                    <p:cond delay="0"/>
                                  </p:stCondLst>
                                  <p:childTnLst>
                                    <p:set>
                                      <p:cBhvr>
                                        <p:cTn id="285" dur="indefinite"/>
                                        <p:tgtEl>
                                          <p:spTgt spid="69"/>
                                        </p:tgtEl>
                                        <p:attrNameLst>
                                          <p:attrName>stroke.color</p:attrName>
                                        </p:attrNameLst>
                                      </p:cBhvr>
                                      <p:to>
                                        <p:clrVal>
                                          <a:srgbClr val="FF0000"/>
                                        </p:clrVal>
                                      </p:to>
                                    </p:set>
                                    <p:set>
                                      <p:cBhvr>
                                        <p:cTn id="286" dur="indefinite"/>
                                        <p:tgtEl>
                                          <p:spTgt spid="69"/>
                                        </p:tgtEl>
                                        <p:attrNameLst>
                                          <p:attrName>stroke.on</p:attrName>
                                        </p:attrNameLst>
                                      </p:cBhvr>
                                      <p:to>
                                        <p:strVal val="tru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101">
                                            <p:txEl>
                                              <p:pRg st="2" end="2"/>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mph" presetSubtype="1" nodeType="clickEffect">
                                  <p:stCondLst>
                                    <p:cond delay="0"/>
                                  </p:stCondLst>
                                  <p:childTnLst>
                                    <p:set>
                                      <p:cBhvr>
                                        <p:cTn id="294" dur="indefinite"/>
                                        <p:tgtEl>
                                          <p:spTgt spid="64"/>
                                        </p:tgtEl>
                                        <p:attrNameLst>
                                          <p:attrName>fillcolor</p:attrName>
                                        </p:attrNameLst>
                                      </p:cBhvr>
                                      <p:to>
                                        <p:clrVal>
                                          <a:srgbClr val="4F81BD"/>
                                        </p:clrVal>
                                      </p:to>
                                    </p:set>
                                    <p:set>
                                      <p:cBhvr>
                                        <p:cTn id="295" dur="indefinite"/>
                                        <p:tgtEl>
                                          <p:spTgt spid="64"/>
                                        </p:tgtEl>
                                        <p:attrNameLst>
                                          <p:attrName>fill.type</p:attrName>
                                        </p:attrNameLst>
                                      </p:cBhvr>
                                      <p:to>
                                        <p:strVal val="solid"/>
                                      </p:to>
                                    </p:set>
                                    <p:set>
                                      <p:cBhvr>
                                        <p:cTn id="296" dur="indefinite"/>
                                        <p:tgtEl>
                                          <p:spTgt spid="64"/>
                                        </p:tgtEl>
                                        <p:attrNameLst>
                                          <p:attrName>fill.on</p:attrName>
                                        </p:attrNameLst>
                                      </p:cBhvr>
                                      <p:to>
                                        <p:strVal val="true"/>
                                      </p:to>
                                    </p:set>
                                  </p:childTnLst>
                                </p:cTn>
                              </p:par>
                            </p:childTnLst>
                          </p:cTn>
                        </p:par>
                      </p:childTnLst>
                    </p:cTn>
                  </p:par>
                  <p:par>
                    <p:cTn id="297" fill="hold">
                      <p:stCondLst>
                        <p:cond delay="indefinite"/>
                      </p:stCondLst>
                      <p:childTnLst>
                        <p:par>
                          <p:cTn id="298" fill="hold">
                            <p:stCondLst>
                              <p:cond delay="0"/>
                            </p:stCondLst>
                            <p:childTnLst>
                              <p:par>
                                <p:cTn id="299" presetID="7" presetClass="emph" presetSubtype="1" nodeType="clickEffect">
                                  <p:stCondLst>
                                    <p:cond delay="0"/>
                                  </p:stCondLst>
                                  <p:childTnLst>
                                    <p:set>
                                      <p:cBhvr>
                                        <p:cTn id="300" dur="indefinite"/>
                                        <p:tgtEl>
                                          <p:spTgt spid="65"/>
                                        </p:tgtEl>
                                        <p:attrNameLst>
                                          <p:attrName>stroke.color</p:attrName>
                                        </p:attrNameLst>
                                      </p:cBhvr>
                                      <p:to>
                                        <p:clrVal>
                                          <a:srgbClr val="FF0000"/>
                                        </p:clrVal>
                                      </p:to>
                                    </p:set>
                                    <p:set>
                                      <p:cBhvr>
                                        <p:cTn id="301" dur="indefinite"/>
                                        <p:tgtEl>
                                          <p:spTgt spid="65"/>
                                        </p:tgtEl>
                                        <p:attrNameLst>
                                          <p:attrName>stroke.on</p:attrName>
                                        </p:attrNameLst>
                                      </p:cBhvr>
                                      <p:to>
                                        <p:strVal val="true"/>
                                      </p:to>
                                    </p:set>
                                  </p:childTnLst>
                                </p:cTn>
                              </p:par>
                            </p:childTnLst>
                          </p:cTn>
                        </p:par>
                      </p:childTnLst>
                    </p:cTn>
                  </p:par>
                  <p:par>
                    <p:cTn id="302" fill="hold">
                      <p:stCondLst>
                        <p:cond delay="indefinite"/>
                      </p:stCondLst>
                      <p:childTnLst>
                        <p:par>
                          <p:cTn id="303" fill="hold">
                            <p:stCondLst>
                              <p:cond delay="0"/>
                            </p:stCondLst>
                            <p:childTnLst>
                              <p:par>
                                <p:cTn id="304" presetID="1" presetClass="emph" presetSubtype="1" nodeType="clickEffect">
                                  <p:stCondLst>
                                    <p:cond delay="0"/>
                                  </p:stCondLst>
                                  <p:childTnLst>
                                    <p:set>
                                      <p:cBhvr>
                                        <p:cTn id="305" dur="indefinite"/>
                                        <p:tgtEl>
                                          <p:spTgt spid="61"/>
                                        </p:tgtEl>
                                        <p:attrNameLst>
                                          <p:attrName>fillcolor</p:attrName>
                                        </p:attrNameLst>
                                      </p:cBhvr>
                                      <p:to>
                                        <p:clrVal>
                                          <a:srgbClr val="4F81BD"/>
                                        </p:clrVal>
                                      </p:to>
                                    </p:set>
                                    <p:set>
                                      <p:cBhvr>
                                        <p:cTn id="306" dur="indefinite"/>
                                        <p:tgtEl>
                                          <p:spTgt spid="61"/>
                                        </p:tgtEl>
                                        <p:attrNameLst>
                                          <p:attrName>fill.type</p:attrName>
                                        </p:attrNameLst>
                                      </p:cBhvr>
                                      <p:to>
                                        <p:strVal val="solid"/>
                                      </p:to>
                                    </p:set>
                                    <p:set>
                                      <p:cBhvr>
                                        <p:cTn id="307" dur="indefinite"/>
                                        <p:tgtEl>
                                          <p:spTgt spid="61"/>
                                        </p:tgtEl>
                                        <p:attrNameLst>
                                          <p:attrName>fill.on</p:attrName>
                                        </p:attrNameLst>
                                      </p:cBhvr>
                                      <p:to>
                                        <p:strVal val="true"/>
                                      </p:to>
                                    </p:set>
                                  </p:childTnLst>
                                </p:cTn>
                              </p:par>
                            </p:childTnLst>
                          </p:cTn>
                        </p:par>
                      </p:childTnLst>
                    </p:cTn>
                  </p:par>
                  <p:par>
                    <p:cTn id="308" fill="hold">
                      <p:stCondLst>
                        <p:cond delay="indefinite"/>
                      </p:stCondLst>
                      <p:childTnLst>
                        <p:par>
                          <p:cTn id="309" fill="hold">
                            <p:stCondLst>
                              <p:cond delay="0"/>
                            </p:stCondLst>
                            <p:childTnLst>
                              <p:par>
                                <p:cTn id="310" presetID="1" presetClass="entr" presetSubtype="0" fill="hold" nodeType="clickEffect">
                                  <p:stCondLst>
                                    <p:cond delay="0"/>
                                  </p:stCondLst>
                                  <p:childTnLst>
                                    <p:set>
                                      <p:cBhvr>
                                        <p:cTn id="311" dur="1" fill="hold">
                                          <p:stCondLst>
                                            <p:cond delay="0"/>
                                          </p:stCondLst>
                                        </p:cTn>
                                        <p:tgtEl>
                                          <p:spTgt spid="101">
                                            <p:txEl>
                                              <p:pRg st="4" end="4"/>
                                            </p:txEl>
                                          </p:spTgt>
                                        </p:tgtEl>
                                        <p:attrNameLst>
                                          <p:attrName>style.visibility</p:attrName>
                                        </p:attrNameLst>
                                      </p:cBhvr>
                                      <p:to>
                                        <p:strVal val="visible"/>
                                      </p:to>
                                    </p:set>
                                  </p:childTnLst>
                                </p:cTn>
                              </p:par>
                            </p:childTnLst>
                          </p:cTn>
                        </p:par>
                      </p:childTnLst>
                    </p:cTn>
                  </p:par>
                  <p:par>
                    <p:cTn id="312" fill="hold">
                      <p:stCondLst>
                        <p:cond delay="indefinite"/>
                      </p:stCondLst>
                      <p:childTnLst>
                        <p:par>
                          <p:cTn id="313" fill="hold">
                            <p:stCondLst>
                              <p:cond delay="0"/>
                            </p:stCondLst>
                            <p:childTnLst>
                              <p:par>
                                <p:cTn id="314" presetID="1" presetClass="emph" presetSubtype="1" nodeType="clickEffect">
                                  <p:stCondLst>
                                    <p:cond delay="0"/>
                                  </p:stCondLst>
                                  <p:childTnLst>
                                    <p:set>
                                      <p:cBhvr>
                                        <p:cTn id="315" dur="indefinite"/>
                                        <p:tgtEl>
                                          <p:spTgt spid="68"/>
                                        </p:tgtEl>
                                        <p:attrNameLst>
                                          <p:attrName>fillcolor</p:attrName>
                                        </p:attrNameLst>
                                      </p:cBhvr>
                                      <p:to>
                                        <p:clrVal>
                                          <a:srgbClr val="FFFFFF"/>
                                        </p:clrVal>
                                      </p:to>
                                    </p:set>
                                    <p:set>
                                      <p:cBhvr>
                                        <p:cTn id="316" dur="indefinite"/>
                                        <p:tgtEl>
                                          <p:spTgt spid="68"/>
                                        </p:tgtEl>
                                        <p:attrNameLst>
                                          <p:attrName>fill.type</p:attrName>
                                        </p:attrNameLst>
                                      </p:cBhvr>
                                      <p:to>
                                        <p:strVal val="solid"/>
                                      </p:to>
                                    </p:set>
                                    <p:set>
                                      <p:cBhvr>
                                        <p:cTn id="317" dur="indefinite"/>
                                        <p:tgtEl>
                                          <p:spTgt spid="68"/>
                                        </p:tgtEl>
                                        <p:attrNameLst>
                                          <p:attrName>fill.on</p:attrName>
                                        </p:attrNameLst>
                                      </p:cBhvr>
                                      <p:to>
                                        <p:strVal val="true"/>
                                      </p:to>
                                    </p:set>
                                  </p:childTnLst>
                                </p:cTn>
                              </p:par>
                              <p:par>
                                <p:cTn id="318" presetID="1" presetClass="emph" presetSubtype="1" nodeType="withEffect">
                                  <p:stCondLst>
                                    <p:cond delay="0"/>
                                  </p:stCondLst>
                                  <p:childTnLst>
                                    <p:set>
                                      <p:cBhvr>
                                        <p:cTn id="319" dur="indefinite"/>
                                        <p:tgtEl>
                                          <p:spTgt spid="64"/>
                                        </p:tgtEl>
                                        <p:attrNameLst>
                                          <p:attrName>fillcolor</p:attrName>
                                        </p:attrNameLst>
                                      </p:cBhvr>
                                      <p:to>
                                        <p:clrVal>
                                          <a:srgbClr val="FFFFFF"/>
                                        </p:clrVal>
                                      </p:to>
                                    </p:set>
                                    <p:set>
                                      <p:cBhvr>
                                        <p:cTn id="320" dur="indefinite"/>
                                        <p:tgtEl>
                                          <p:spTgt spid="64"/>
                                        </p:tgtEl>
                                        <p:attrNameLst>
                                          <p:attrName>fill.type</p:attrName>
                                        </p:attrNameLst>
                                      </p:cBhvr>
                                      <p:to>
                                        <p:strVal val="solid"/>
                                      </p:to>
                                    </p:set>
                                    <p:set>
                                      <p:cBhvr>
                                        <p:cTn id="321" dur="indefinite"/>
                                        <p:tgtEl>
                                          <p:spTgt spid="64"/>
                                        </p:tgtEl>
                                        <p:attrNameLst>
                                          <p:attrName>fill.on</p:attrName>
                                        </p:attrNameLst>
                                      </p:cBhvr>
                                      <p:to>
                                        <p:strVal val="true"/>
                                      </p:to>
                                    </p:set>
                                  </p:childTnLst>
                                </p:cTn>
                              </p:par>
                              <p:par>
                                <p:cTn id="322" presetID="1" presetClass="emph" presetSubtype="1" nodeType="withEffect">
                                  <p:stCondLst>
                                    <p:cond delay="0"/>
                                  </p:stCondLst>
                                  <p:childTnLst>
                                    <p:set>
                                      <p:cBhvr>
                                        <p:cTn id="323" dur="indefinite"/>
                                        <p:tgtEl>
                                          <p:spTgt spid="61"/>
                                        </p:tgtEl>
                                        <p:attrNameLst>
                                          <p:attrName>fillcolor</p:attrName>
                                        </p:attrNameLst>
                                      </p:cBhvr>
                                      <p:to>
                                        <p:clrVal>
                                          <a:srgbClr val="FFFFFF"/>
                                        </p:clrVal>
                                      </p:to>
                                    </p:set>
                                    <p:set>
                                      <p:cBhvr>
                                        <p:cTn id="324" dur="indefinite"/>
                                        <p:tgtEl>
                                          <p:spTgt spid="61"/>
                                        </p:tgtEl>
                                        <p:attrNameLst>
                                          <p:attrName>fill.type</p:attrName>
                                        </p:attrNameLst>
                                      </p:cBhvr>
                                      <p:to>
                                        <p:strVal val="solid"/>
                                      </p:to>
                                    </p:set>
                                    <p:set>
                                      <p:cBhvr>
                                        <p:cTn id="325" dur="indefinite"/>
                                        <p:tgtEl>
                                          <p:spTgt spid="61"/>
                                        </p:tgtEl>
                                        <p:attrNameLst>
                                          <p:attrName>fill.on</p:attrName>
                                        </p:attrNameLst>
                                      </p:cBhvr>
                                      <p:to>
                                        <p:strVal val="true"/>
                                      </p:to>
                                    </p:set>
                                  </p:childTnLst>
                                </p:cTn>
                              </p:par>
                              <p:par>
                                <p:cTn id="326" presetID="7" presetClass="emph" presetSubtype="1" nodeType="withEffect">
                                  <p:stCondLst>
                                    <p:cond delay="0"/>
                                  </p:stCondLst>
                                  <p:childTnLst>
                                    <p:set>
                                      <p:cBhvr>
                                        <p:cTn id="327" dur="indefinite"/>
                                        <p:tgtEl>
                                          <p:spTgt spid="69"/>
                                        </p:tgtEl>
                                        <p:attrNameLst>
                                          <p:attrName>stroke.color</p:attrName>
                                        </p:attrNameLst>
                                      </p:cBhvr>
                                      <p:to>
                                        <p:clrVal>
                                          <a:srgbClr val="000000"/>
                                        </p:clrVal>
                                      </p:to>
                                    </p:set>
                                    <p:set>
                                      <p:cBhvr>
                                        <p:cTn id="328" dur="indefinite"/>
                                        <p:tgtEl>
                                          <p:spTgt spid="69"/>
                                        </p:tgtEl>
                                        <p:attrNameLst>
                                          <p:attrName>stroke.on</p:attrName>
                                        </p:attrNameLst>
                                      </p:cBhvr>
                                      <p:to>
                                        <p:strVal val="true"/>
                                      </p:to>
                                    </p:set>
                                  </p:childTnLst>
                                </p:cTn>
                              </p:par>
                              <p:par>
                                <p:cTn id="329" presetID="7" presetClass="emph" presetSubtype="1" nodeType="withEffect">
                                  <p:stCondLst>
                                    <p:cond delay="0"/>
                                  </p:stCondLst>
                                  <p:childTnLst>
                                    <p:set>
                                      <p:cBhvr>
                                        <p:cTn id="330" dur="indefinite"/>
                                        <p:tgtEl>
                                          <p:spTgt spid="65"/>
                                        </p:tgtEl>
                                        <p:attrNameLst>
                                          <p:attrName>stroke.color</p:attrName>
                                        </p:attrNameLst>
                                      </p:cBhvr>
                                      <p:to>
                                        <p:clrVal>
                                          <a:srgbClr val="000000"/>
                                        </p:clrVal>
                                      </p:to>
                                    </p:set>
                                    <p:set>
                                      <p:cBhvr>
                                        <p:cTn id="331" dur="indefinite"/>
                                        <p:tgtEl>
                                          <p:spTgt spid="65"/>
                                        </p:tgtEl>
                                        <p:attrNameLst>
                                          <p:attrName>stroke.on</p:attrName>
                                        </p:attrNameLst>
                                      </p:cBhvr>
                                      <p:to>
                                        <p:strVal val="true"/>
                                      </p:to>
                                    </p:set>
                                  </p:childTnLst>
                                </p:cTn>
                              </p:par>
                              <p:par>
                                <p:cTn id="332" presetID="1" presetClass="exit" presetSubtype="0" fill="hold" grpId="0" nodeType="withEffect">
                                  <p:stCondLst>
                                    <p:cond delay="0"/>
                                  </p:stCondLst>
                                  <p:childTnLst>
                                    <p:set>
                                      <p:cBhvr>
                                        <p:cTn id="333" dur="1" fill="hold">
                                          <p:stCondLst>
                                            <p:cond delay="0"/>
                                          </p:stCondLst>
                                        </p:cTn>
                                        <p:tgtEl>
                                          <p:spTgt spid="101">
                                            <p:txEl>
                                              <p:pRg st="0" end="0"/>
                                            </p:txEl>
                                          </p:spTgt>
                                        </p:tgtEl>
                                        <p:attrNameLst>
                                          <p:attrName>style.visibility</p:attrName>
                                        </p:attrNameLst>
                                      </p:cBhvr>
                                      <p:to>
                                        <p:strVal val="hidden"/>
                                      </p:to>
                                    </p:set>
                                  </p:childTnLst>
                                </p:cTn>
                              </p:par>
                              <p:par>
                                <p:cTn id="334" presetID="1" presetClass="exit" presetSubtype="0" fill="hold" grpId="0" nodeType="withEffect">
                                  <p:stCondLst>
                                    <p:cond delay="0"/>
                                  </p:stCondLst>
                                  <p:childTnLst>
                                    <p:set>
                                      <p:cBhvr>
                                        <p:cTn id="335" dur="1" fill="hold">
                                          <p:stCondLst>
                                            <p:cond delay="0"/>
                                          </p:stCondLst>
                                        </p:cTn>
                                        <p:tgtEl>
                                          <p:spTgt spid="101">
                                            <p:txEl>
                                              <p:pRg st="2" end="2"/>
                                            </p:txEl>
                                          </p:spTgt>
                                        </p:tgtEl>
                                        <p:attrNameLst>
                                          <p:attrName>style.visibility</p:attrName>
                                        </p:attrNameLst>
                                      </p:cBhvr>
                                      <p:to>
                                        <p:strVal val="hidden"/>
                                      </p:to>
                                    </p:set>
                                  </p:childTnLst>
                                </p:cTn>
                              </p:par>
                              <p:par>
                                <p:cTn id="336" presetID="1" presetClass="exit" presetSubtype="0" fill="hold" grpId="0" nodeType="withEffect">
                                  <p:stCondLst>
                                    <p:cond delay="0"/>
                                  </p:stCondLst>
                                  <p:childTnLst>
                                    <p:set>
                                      <p:cBhvr>
                                        <p:cTn id="337" dur="1" fill="hold">
                                          <p:stCondLst>
                                            <p:cond delay="0"/>
                                          </p:stCondLst>
                                        </p:cTn>
                                        <p:tgtEl>
                                          <p:spTgt spid="101">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59" grpId="1"/>
      <p:bldP spid="90" grpId="0"/>
      <p:bldP spid="90" grpId="1"/>
      <p:bldP spid="95" grpId="0"/>
      <p:bldP spid="95" grpId="1"/>
      <p:bldP spid="99" grpId="0" build="allAtOnce"/>
      <p:bldP spid="100" grpId="0" build="allAtOnce"/>
      <p:bldP spid="101" grpId="0" build="allAtOnce"/>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RPC Mechanism</a:t>
            </a:r>
          </a:p>
        </p:txBody>
      </p:sp>
      <p:sp>
        <p:nvSpPr>
          <p:cNvPr id="102" name="Rectangle 101">
            <a:extLst>
              <a:ext uri="{FF2B5EF4-FFF2-40B4-BE49-F238E27FC236}">
                <a16:creationId xmlns:a16="http://schemas.microsoft.com/office/drawing/2014/main" xmlns="" id="{30EEF718-773C-4E35-BD48-9347A6BB0A72}"/>
              </a:ext>
            </a:extLst>
          </p:cNvPr>
          <p:cNvSpPr/>
          <p:nvPr/>
        </p:nvSpPr>
        <p:spPr>
          <a:xfrm>
            <a:off x="203200" y="1752600"/>
            <a:ext cx="3911600" cy="4495800"/>
          </a:xfrm>
          <a:prstGeom prst="rect">
            <a:avLst/>
          </a:prstGeom>
          <a:solidFill>
            <a:schemeClr val="accent3">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2000" dirty="0">
                <a:solidFill>
                  <a:schemeClr val="tx1"/>
                </a:solidFill>
                <a:latin typeface="+mj-lt"/>
              </a:rPr>
              <a:t>Client Machine</a:t>
            </a:r>
          </a:p>
        </p:txBody>
      </p:sp>
      <p:sp>
        <p:nvSpPr>
          <p:cNvPr id="103" name="Rectangle 102">
            <a:extLst>
              <a:ext uri="{FF2B5EF4-FFF2-40B4-BE49-F238E27FC236}">
                <a16:creationId xmlns:a16="http://schemas.microsoft.com/office/drawing/2014/main" xmlns="" id="{25EDA83F-88AC-4AEE-B9AF-5B1F401DF1CE}"/>
              </a:ext>
            </a:extLst>
          </p:cNvPr>
          <p:cNvSpPr/>
          <p:nvPr/>
        </p:nvSpPr>
        <p:spPr>
          <a:xfrm>
            <a:off x="463718" y="2232406"/>
            <a:ext cx="3390564" cy="1049888"/>
          </a:xfrm>
          <a:prstGeom prst="rect">
            <a:avLst/>
          </a:prstGeom>
          <a:solidFill>
            <a:schemeClr val="accent5">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mj-lt"/>
              </a:rPr>
              <a:t>Client process</a:t>
            </a:r>
            <a:endParaRPr lang="en-US" sz="2000" b="0" dirty="0">
              <a:solidFill>
                <a:schemeClr val="tx1"/>
              </a:solidFill>
              <a:latin typeface="+mj-lt"/>
            </a:endParaRPr>
          </a:p>
        </p:txBody>
      </p:sp>
      <p:sp>
        <p:nvSpPr>
          <p:cNvPr id="104" name="Rectangle 103">
            <a:extLst>
              <a:ext uri="{FF2B5EF4-FFF2-40B4-BE49-F238E27FC236}">
                <a16:creationId xmlns:a16="http://schemas.microsoft.com/office/drawing/2014/main" xmlns="" id="{6F9AF217-538F-45A5-92CD-760900A8B3D9}"/>
              </a:ext>
            </a:extLst>
          </p:cNvPr>
          <p:cNvSpPr/>
          <p:nvPr/>
        </p:nvSpPr>
        <p:spPr>
          <a:xfrm>
            <a:off x="463719" y="3612577"/>
            <a:ext cx="3390563" cy="1052833"/>
          </a:xfrm>
          <a:prstGeom prst="rect">
            <a:avLst/>
          </a:prstGeom>
          <a:solidFill>
            <a:schemeClr val="accent6">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mj-lt"/>
              </a:rPr>
              <a:t>Client stub (RPC library)</a:t>
            </a:r>
          </a:p>
        </p:txBody>
      </p:sp>
      <p:sp>
        <p:nvSpPr>
          <p:cNvPr id="105" name="Bent Arrow 9">
            <a:extLst>
              <a:ext uri="{FF2B5EF4-FFF2-40B4-BE49-F238E27FC236}">
                <a16:creationId xmlns:a16="http://schemas.microsoft.com/office/drawing/2014/main" xmlns="" id="{1A79FAE8-67EB-450E-83F6-9A45240D9F3D}"/>
              </a:ext>
            </a:extLst>
          </p:cNvPr>
          <p:cNvSpPr/>
          <p:nvPr/>
        </p:nvSpPr>
        <p:spPr>
          <a:xfrm rot="5400000">
            <a:off x="2804094" y="2982106"/>
            <a:ext cx="729809" cy="471572"/>
          </a:xfrm>
          <a:prstGeom prst="bentArrow">
            <a:avLst>
              <a:gd name="adj1" fmla="val 25000"/>
              <a:gd name="adj2" fmla="val 25000"/>
              <a:gd name="adj3" fmla="val 25000"/>
              <a:gd name="adj4" fmla="val 43750"/>
            </a:avLst>
          </a:prstGeom>
          <a:solidFill>
            <a:schemeClr val="tx1">
              <a:lumMod val="50000"/>
              <a:lumOff val="5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2000" b="0" dirty="0">
              <a:solidFill>
                <a:schemeClr val="tx1"/>
              </a:solidFill>
              <a:latin typeface="+mj-lt"/>
            </a:endParaRPr>
          </a:p>
        </p:txBody>
      </p:sp>
      <p:sp>
        <p:nvSpPr>
          <p:cNvPr id="106" name="Folded Corner 7">
            <a:extLst>
              <a:ext uri="{FF2B5EF4-FFF2-40B4-BE49-F238E27FC236}">
                <a16:creationId xmlns:a16="http://schemas.microsoft.com/office/drawing/2014/main" xmlns="" id="{3DC80A61-0B05-4659-A9B3-21964BB12969}"/>
              </a:ext>
            </a:extLst>
          </p:cNvPr>
          <p:cNvSpPr/>
          <p:nvPr/>
        </p:nvSpPr>
        <p:spPr>
          <a:xfrm>
            <a:off x="747239" y="4083627"/>
            <a:ext cx="2823521" cy="451785"/>
          </a:xfrm>
          <a:prstGeom prst="foldedCorner">
            <a:avLst>
              <a:gd name="adj" fmla="val 33976"/>
            </a:avLst>
          </a:prstGeom>
          <a:solidFill>
            <a:srgbClr val="FFFF99"/>
          </a:solidFill>
          <a:ln w="28575">
            <a:solidFill>
              <a:schemeClr val="tx1"/>
            </a:solidFill>
          </a:ln>
        </p:spPr>
        <p:txBody>
          <a:bodyPr wrap="square">
            <a:spAutoFit/>
          </a:bodyPr>
          <a:lstStyle/>
          <a:p>
            <a:pPr algn="l" defTabSz="228600"/>
            <a:r>
              <a:rPr lang="en-US" sz="2000" b="0" dirty="0">
                <a:solidFill>
                  <a:srgbClr val="000000"/>
                </a:solidFill>
                <a:latin typeface="+mj-lt"/>
                <a:ea typeface="Arial" charset="0"/>
                <a:cs typeface="Arial" charset="0"/>
              </a:rPr>
              <a:t>proc: add | </a:t>
            </a:r>
            <a:r>
              <a:rPr lang="en-US" sz="2000" b="0" dirty="0" err="1">
                <a:solidFill>
                  <a:srgbClr val="000000"/>
                </a:solidFill>
                <a:latin typeface="+mj-lt"/>
                <a:ea typeface="Arial" charset="0"/>
                <a:cs typeface="Arial" charset="0"/>
              </a:rPr>
              <a:t>int</a:t>
            </a:r>
            <a:r>
              <a:rPr lang="en-US" sz="2000" b="0" dirty="0">
                <a:solidFill>
                  <a:srgbClr val="000000"/>
                </a:solidFill>
                <a:latin typeface="+mj-lt"/>
                <a:ea typeface="Arial" charset="0"/>
                <a:cs typeface="Arial" charset="0"/>
              </a:rPr>
              <a:t>: 3 | </a:t>
            </a:r>
            <a:r>
              <a:rPr lang="en-US" sz="2000" b="0" dirty="0" err="1">
                <a:solidFill>
                  <a:srgbClr val="000000"/>
                </a:solidFill>
                <a:latin typeface="+mj-lt"/>
                <a:ea typeface="Arial" charset="0"/>
                <a:cs typeface="Arial" charset="0"/>
              </a:rPr>
              <a:t>int</a:t>
            </a:r>
            <a:r>
              <a:rPr lang="en-US" sz="2000" b="0" dirty="0">
                <a:solidFill>
                  <a:srgbClr val="000000"/>
                </a:solidFill>
                <a:latin typeface="+mj-lt"/>
                <a:ea typeface="Arial" charset="0"/>
                <a:cs typeface="Arial" charset="0"/>
              </a:rPr>
              <a:t>: 5</a:t>
            </a:r>
          </a:p>
        </p:txBody>
      </p:sp>
      <p:sp>
        <p:nvSpPr>
          <p:cNvPr id="107" name="Rectangle 106">
            <a:extLst>
              <a:ext uri="{FF2B5EF4-FFF2-40B4-BE49-F238E27FC236}">
                <a16:creationId xmlns:a16="http://schemas.microsoft.com/office/drawing/2014/main" xmlns="" id="{7481488B-2F57-46AF-BA04-9BFE5069BD03}"/>
              </a:ext>
            </a:extLst>
          </p:cNvPr>
          <p:cNvSpPr/>
          <p:nvPr/>
        </p:nvSpPr>
        <p:spPr>
          <a:xfrm>
            <a:off x="463718" y="5006462"/>
            <a:ext cx="3390564" cy="1013525"/>
          </a:xfrm>
          <a:prstGeom prst="rect">
            <a:avLst/>
          </a:prstGeom>
          <a:solidFill>
            <a:schemeClr val="accent5">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mj-lt"/>
              </a:rPr>
              <a:t>Client OS</a:t>
            </a:r>
            <a:endParaRPr lang="en-US" sz="2000" b="0" dirty="0">
              <a:solidFill>
                <a:schemeClr val="tx1"/>
              </a:solidFill>
              <a:latin typeface="+mj-lt"/>
            </a:endParaRPr>
          </a:p>
        </p:txBody>
      </p:sp>
      <p:sp>
        <p:nvSpPr>
          <p:cNvPr id="108" name="Right Arrow 15">
            <a:extLst>
              <a:ext uri="{FF2B5EF4-FFF2-40B4-BE49-F238E27FC236}">
                <a16:creationId xmlns:a16="http://schemas.microsoft.com/office/drawing/2014/main" xmlns="" id="{5A0B6DCD-64B8-471E-9BB1-4C9E2C4B5856}"/>
              </a:ext>
            </a:extLst>
          </p:cNvPr>
          <p:cNvSpPr/>
          <p:nvPr/>
        </p:nvSpPr>
        <p:spPr>
          <a:xfrm rot="5400000">
            <a:off x="1991399" y="4710480"/>
            <a:ext cx="335199" cy="250913"/>
          </a:xfrm>
          <a:prstGeom prst="rightArrow">
            <a:avLst/>
          </a:prstGeom>
          <a:solidFill>
            <a:schemeClr val="tx1">
              <a:lumMod val="50000"/>
              <a:lumOff val="5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2000" b="0">
              <a:solidFill>
                <a:schemeClr val="tx1"/>
              </a:solidFill>
              <a:latin typeface="+mj-lt"/>
            </a:endParaRPr>
          </a:p>
        </p:txBody>
      </p:sp>
      <p:sp>
        <p:nvSpPr>
          <p:cNvPr id="109" name="Folded Corner 7">
            <a:extLst>
              <a:ext uri="{FF2B5EF4-FFF2-40B4-BE49-F238E27FC236}">
                <a16:creationId xmlns:a16="http://schemas.microsoft.com/office/drawing/2014/main" xmlns="" id="{64F15EBE-38C0-4657-81D0-FBA4168A10F6}"/>
              </a:ext>
            </a:extLst>
          </p:cNvPr>
          <p:cNvSpPr/>
          <p:nvPr/>
        </p:nvSpPr>
        <p:spPr>
          <a:xfrm>
            <a:off x="747239" y="5447612"/>
            <a:ext cx="2906240" cy="451785"/>
          </a:xfrm>
          <a:prstGeom prst="foldedCorner">
            <a:avLst>
              <a:gd name="adj" fmla="val 33976"/>
            </a:avLst>
          </a:prstGeom>
          <a:solidFill>
            <a:srgbClr val="FFFF99"/>
          </a:solidFill>
          <a:ln w="28575">
            <a:solidFill>
              <a:schemeClr val="tx1"/>
            </a:solidFill>
          </a:ln>
        </p:spPr>
        <p:txBody>
          <a:bodyPr wrap="square">
            <a:spAutoFit/>
          </a:bodyPr>
          <a:lstStyle/>
          <a:p>
            <a:pPr algn="l" defTabSz="228600"/>
            <a:r>
              <a:rPr lang="en-US" sz="2000" b="0" dirty="0">
                <a:solidFill>
                  <a:srgbClr val="000000"/>
                </a:solidFill>
                <a:latin typeface="+mj-lt"/>
                <a:ea typeface="Arial" charset="0"/>
                <a:cs typeface="Arial" charset="0"/>
              </a:rPr>
              <a:t>proc: add | </a:t>
            </a:r>
            <a:r>
              <a:rPr lang="en-US" sz="2000" b="0" dirty="0" err="1">
                <a:solidFill>
                  <a:srgbClr val="000000"/>
                </a:solidFill>
                <a:latin typeface="+mj-lt"/>
                <a:ea typeface="Arial" charset="0"/>
                <a:cs typeface="Arial" charset="0"/>
              </a:rPr>
              <a:t>int</a:t>
            </a:r>
            <a:r>
              <a:rPr lang="en-US" sz="2000" b="0" dirty="0">
                <a:solidFill>
                  <a:srgbClr val="000000"/>
                </a:solidFill>
                <a:latin typeface="+mj-lt"/>
                <a:ea typeface="Arial" charset="0"/>
                <a:cs typeface="Arial" charset="0"/>
              </a:rPr>
              <a:t>: 3 | </a:t>
            </a:r>
            <a:r>
              <a:rPr lang="en-US" sz="2000" b="0" dirty="0" err="1">
                <a:solidFill>
                  <a:srgbClr val="000000"/>
                </a:solidFill>
                <a:latin typeface="+mj-lt"/>
                <a:ea typeface="Arial" charset="0"/>
                <a:cs typeface="Arial" charset="0"/>
              </a:rPr>
              <a:t>int</a:t>
            </a:r>
            <a:r>
              <a:rPr lang="en-US" sz="2000" b="0" dirty="0">
                <a:solidFill>
                  <a:srgbClr val="000000"/>
                </a:solidFill>
                <a:latin typeface="+mj-lt"/>
                <a:ea typeface="Arial" charset="0"/>
                <a:cs typeface="Arial" charset="0"/>
              </a:rPr>
              <a:t>: 5</a:t>
            </a:r>
          </a:p>
        </p:txBody>
      </p:sp>
      <p:sp>
        <p:nvSpPr>
          <p:cNvPr id="110" name="Rectangle 109">
            <a:extLst>
              <a:ext uri="{FF2B5EF4-FFF2-40B4-BE49-F238E27FC236}">
                <a16:creationId xmlns:a16="http://schemas.microsoft.com/office/drawing/2014/main" xmlns="" id="{4574E68C-CA1F-4650-861B-A8D9CD9D6123}"/>
              </a:ext>
            </a:extLst>
          </p:cNvPr>
          <p:cNvSpPr/>
          <p:nvPr/>
        </p:nvSpPr>
        <p:spPr>
          <a:xfrm>
            <a:off x="1362709" y="2689133"/>
            <a:ext cx="1592580" cy="44305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r>
              <a:rPr lang="en-US" sz="2000" dirty="0">
                <a:solidFill>
                  <a:srgbClr val="000000"/>
                </a:solidFill>
                <a:ea typeface="Arial" charset="0"/>
                <a:cs typeface="Arial" charset="0"/>
              </a:rPr>
              <a:t>K=add(3, 5)</a:t>
            </a:r>
          </a:p>
        </p:txBody>
      </p:sp>
      <p:sp>
        <p:nvSpPr>
          <p:cNvPr id="111" name="Rectangle 110">
            <a:extLst>
              <a:ext uri="{FF2B5EF4-FFF2-40B4-BE49-F238E27FC236}">
                <a16:creationId xmlns:a16="http://schemas.microsoft.com/office/drawing/2014/main" xmlns="" id="{237B6397-B9FF-43E7-813D-C163A5A96F23}"/>
              </a:ext>
            </a:extLst>
          </p:cNvPr>
          <p:cNvSpPr/>
          <p:nvPr/>
        </p:nvSpPr>
        <p:spPr>
          <a:xfrm>
            <a:off x="5105400" y="1752600"/>
            <a:ext cx="3911600" cy="4495800"/>
          </a:xfrm>
          <a:prstGeom prst="rect">
            <a:avLst/>
          </a:prstGeom>
          <a:solidFill>
            <a:schemeClr val="accent3">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2000" dirty="0">
                <a:solidFill>
                  <a:schemeClr val="tx1"/>
                </a:solidFill>
                <a:latin typeface="+mj-lt"/>
              </a:rPr>
              <a:t>Server Machine</a:t>
            </a:r>
          </a:p>
        </p:txBody>
      </p:sp>
      <p:sp>
        <p:nvSpPr>
          <p:cNvPr id="112" name="Rectangle 111">
            <a:extLst>
              <a:ext uri="{FF2B5EF4-FFF2-40B4-BE49-F238E27FC236}">
                <a16:creationId xmlns:a16="http://schemas.microsoft.com/office/drawing/2014/main" xmlns="" id="{C82289E6-F061-4AC2-BD59-AE0D68AC9CA8}"/>
              </a:ext>
            </a:extLst>
          </p:cNvPr>
          <p:cNvSpPr/>
          <p:nvPr/>
        </p:nvSpPr>
        <p:spPr>
          <a:xfrm>
            <a:off x="5365918" y="2232406"/>
            <a:ext cx="3390564" cy="1049888"/>
          </a:xfrm>
          <a:prstGeom prst="rect">
            <a:avLst/>
          </a:prstGeom>
          <a:solidFill>
            <a:schemeClr val="accent5">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mj-lt"/>
              </a:rPr>
              <a:t>Server process</a:t>
            </a:r>
            <a:endParaRPr lang="en-US" sz="2000" b="0" dirty="0">
              <a:solidFill>
                <a:schemeClr val="tx1"/>
              </a:solidFill>
              <a:latin typeface="+mj-lt"/>
            </a:endParaRPr>
          </a:p>
        </p:txBody>
      </p:sp>
      <p:sp>
        <p:nvSpPr>
          <p:cNvPr id="113" name="Rectangle 112">
            <a:extLst>
              <a:ext uri="{FF2B5EF4-FFF2-40B4-BE49-F238E27FC236}">
                <a16:creationId xmlns:a16="http://schemas.microsoft.com/office/drawing/2014/main" xmlns="" id="{32A12D56-4DAD-4731-8EF8-A0E6C3FDA413}"/>
              </a:ext>
            </a:extLst>
          </p:cNvPr>
          <p:cNvSpPr/>
          <p:nvPr/>
        </p:nvSpPr>
        <p:spPr>
          <a:xfrm>
            <a:off x="5365919" y="3612577"/>
            <a:ext cx="3390563" cy="1052833"/>
          </a:xfrm>
          <a:prstGeom prst="rect">
            <a:avLst/>
          </a:prstGeom>
          <a:solidFill>
            <a:schemeClr val="accent6">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mj-lt"/>
              </a:rPr>
              <a:t>Server stub (RPC library)</a:t>
            </a:r>
          </a:p>
        </p:txBody>
      </p:sp>
      <p:sp>
        <p:nvSpPr>
          <p:cNvPr id="114" name="Rectangle 113">
            <a:extLst>
              <a:ext uri="{FF2B5EF4-FFF2-40B4-BE49-F238E27FC236}">
                <a16:creationId xmlns:a16="http://schemas.microsoft.com/office/drawing/2014/main" xmlns="" id="{1C4F3804-F10A-4D50-9E11-0FC710154E18}"/>
              </a:ext>
            </a:extLst>
          </p:cNvPr>
          <p:cNvSpPr/>
          <p:nvPr/>
        </p:nvSpPr>
        <p:spPr>
          <a:xfrm>
            <a:off x="5365918" y="5006462"/>
            <a:ext cx="3390564" cy="1013525"/>
          </a:xfrm>
          <a:prstGeom prst="rect">
            <a:avLst/>
          </a:prstGeom>
          <a:solidFill>
            <a:schemeClr val="accent5">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mj-lt"/>
              </a:rPr>
              <a:t>Server OS</a:t>
            </a:r>
            <a:endParaRPr lang="en-US" sz="2000" b="0" dirty="0">
              <a:solidFill>
                <a:schemeClr val="tx1"/>
              </a:solidFill>
              <a:latin typeface="+mj-lt"/>
            </a:endParaRPr>
          </a:p>
        </p:txBody>
      </p:sp>
      <p:sp>
        <p:nvSpPr>
          <p:cNvPr id="115" name="Right Arrow 15">
            <a:extLst>
              <a:ext uri="{FF2B5EF4-FFF2-40B4-BE49-F238E27FC236}">
                <a16:creationId xmlns:a16="http://schemas.microsoft.com/office/drawing/2014/main" xmlns="" id="{A6EFDAB9-23E0-442E-BAFD-1D4220FC07AA}"/>
              </a:ext>
            </a:extLst>
          </p:cNvPr>
          <p:cNvSpPr/>
          <p:nvPr/>
        </p:nvSpPr>
        <p:spPr>
          <a:xfrm>
            <a:off x="3854282" y="5447612"/>
            <a:ext cx="1251118" cy="287590"/>
          </a:xfrm>
          <a:prstGeom prst="rightArrow">
            <a:avLst/>
          </a:prstGeom>
          <a:solidFill>
            <a:schemeClr val="tx1">
              <a:lumMod val="50000"/>
              <a:lumOff val="5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b="0">
              <a:solidFill>
                <a:schemeClr val="tx1"/>
              </a:solidFill>
              <a:latin typeface="+mn-lt"/>
            </a:endParaRPr>
          </a:p>
        </p:txBody>
      </p:sp>
      <p:sp>
        <p:nvSpPr>
          <p:cNvPr id="116" name="Folded Corner 7">
            <a:extLst>
              <a:ext uri="{FF2B5EF4-FFF2-40B4-BE49-F238E27FC236}">
                <a16:creationId xmlns:a16="http://schemas.microsoft.com/office/drawing/2014/main" xmlns="" id="{F64885BB-1C21-4ED7-9982-3E565731D7A2}"/>
              </a:ext>
            </a:extLst>
          </p:cNvPr>
          <p:cNvSpPr/>
          <p:nvPr/>
        </p:nvSpPr>
        <p:spPr>
          <a:xfrm>
            <a:off x="5608080" y="5425619"/>
            <a:ext cx="2906240" cy="451785"/>
          </a:xfrm>
          <a:prstGeom prst="foldedCorner">
            <a:avLst>
              <a:gd name="adj" fmla="val 33976"/>
            </a:avLst>
          </a:prstGeom>
          <a:solidFill>
            <a:srgbClr val="FFFF99"/>
          </a:solidFill>
          <a:ln w="28575">
            <a:solidFill>
              <a:schemeClr val="tx1"/>
            </a:solidFill>
          </a:ln>
        </p:spPr>
        <p:txBody>
          <a:bodyPr wrap="square">
            <a:spAutoFit/>
          </a:bodyPr>
          <a:lstStyle/>
          <a:p>
            <a:pPr algn="l" defTabSz="228600"/>
            <a:r>
              <a:rPr lang="en-US" sz="2000" b="0" dirty="0">
                <a:solidFill>
                  <a:srgbClr val="000000"/>
                </a:solidFill>
                <a:latin typeface="+mj-lt"/>
                <a:ea typeface="Arial" charset="0"/>
                <a:cs typeface="Arial" charset="0"/>
              </a:rPr>
              <a:t>proc: add | </a:t>
            </a:r>
            <a:r>
              <a:rPr lang="en-US" sz="2000" b="0" dirty="0" err="1">
                <a:solidFill>
                  <a:srgbClr val="000000"/>
                </a:solidFill>
                <a:latin typeface="+mj-lt"/>
                <a:ea typeface="Arial" charset="0"/>
                <a:cs typeface="Arial" charset="0"/>
              </a:rPr>
              <a:t>int</a:t>
            </a:r>
            <a:r>
              <a:rPr lang="en-US" sz="2000" b="0" dirty="0">
                <a:solidFill>
                  <a:srgbClr val="000000"/>
                </a:solidFill>
                <a:latin typeface="+mj-lt"/>
                <a:ea typeface="Arial" charset="0"/>
                <a:cs typeface="Arial" charset="0"/>
              </a:rPr>
              <a:t>: 3 | </a:t>
            </a:r>
            <a:r>
              <a:rPr lang="en-US" sz="2000" b="0" dirty="0" err="1">
                <a:solidFill>
                  <a:srgbClr val="000000"/>
                </a:solidFill>
                <a:latin typeface="+mj-lt"/>
                <a:ea typeface="Arial" charset="0"/>
                <a:cs typeface="Arial" charset="0"/>
              </a:rPr>
              <a:t>int</a:t>
            </a:r>
            <a:r>
              <a:rPr lang="en-US" sz="2000" b="0" dirty="0">
                <a:solidFill>
                  <a:srgbClr val="000000"/>
                </a:solidFill>
                <a:latin typeface="+mj-lt"/>
                <a:ea typeface="Arial" charset="0"/>
                <a:cs typeface="Arial" charset="0"/>
              </a:rPr>
              <a:t>: 5</a:t>
            </a:r>
          </a:p>
        </p:txBody>
      </p:sp>
      <p:sp>
        <p:nvSpPr>
          <p:cNvPr id="117" name="Right Arrow 15">
            <a:extLst>
              <a:ext uri="{FF2B5EF4-FFF2-40B4-BE49-F238E27FC236}">
                <a16:creationId xmlns:a16="http://schemas.microsoft.com/office/drawing/2014/main" xmlns="" id="{7F9E9E94-05E3-45D7-9D65-F21B88A78236}"/>
              </a:ext>
            </a:extLst>
          </p:cNvPr>
          <p:cNvSpPr/>
          <p:nvPr/>
        </p:nvSpPr>
        <p:spPr>
          <a:xfrm rot="16200000">
            <a:off x="6892058" y="4723180"/>
            <a:ext cx="335199" cy="250913"/>
          </a:xfrm>
          <a:prstGeom prst="rightArrow">
            <a:avLst/>
          </a:prstGeom>
          <a:solidFill>
            <a:schemeClr val="tx1">
              <a:lumMod val="50000"/>
              <a:lumOff val="5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2000" b="0">
              <a:solidFill>
                <a:schemeClr val="tx1"/>
              </a:solidFill>
              <a:latin typeface="+mj-lt"/>
            </a:endParaRPr>
          </a:p>
        </p:txBody>
      </p:sp>
      <p:sp>
        <p:nvSpPr>
          <p:cNvPr id="118" name="Folded Corner 7">
            <a:extLst>
              <a:ext uri="{FF2B5EF4-FFF2-40B4-BE49-F238E27FC236}">
                <a16:creationId xmlns:a16="http://schemas.microsoft.com/office/drawing/2014/main" xmlns="" id="{CFD8A59A-1DFD-41C9-A3BE-A8AD1537EC95}"/>
              </a:ext>
            </a:extLst>
          </p:cNvPr>
          <p:cNvSpPr/>
          <p:nvPr/>
        </p:nvSpPr>
        <p:spPr>
          <a:xfrm>
            <a:off x="5608080" y="4082950"/>
            <a:ext cx="2906240" cy="451785"/>
          </a:xfrm>
          <a:prstGeom prst="foldedCorner">
            <a:avLst>
              <a:gd name="adj" fmla="val 33976"/>
            </a:avLst>
          </a:prstGeom>
          <a:solidFill>
            <a:srgbClr val="FFFF99"/>
          </a:solidFill>
          <a:ln w="28575">
            <a:solidFill>
              <a:schemeClr val="tx1"/>
            </a:solidFill>
          </a:ln>
        </p:spPr>
        <p:txBody>
          <a:bodyPr wrap="square">
            <a:spAutoFit/>
          </a:bodyPr>
          <a:lstStyle/>
          <a:p>
            <a:pPr algn="l" defTabSz="228600"/>
            <a:r>
              <a:rPr lang="en-US" sz="2000" b="0" dirty="0">
                <a:solidFill>
                  <a:srgbClr val="000000"/>
                </a:solidFill>
                <a:latin typeface="+mj-lt"/>
                <a:ea typeface="Arial" charset="0"/>
                <a:cs typeface="Arial" charset="0"/>
              </a:rPr>
              <a:t>proc: add | </a:t>
            </a:r>
            <a:r>
              <a:rPr lang="en-US" sz="2000" b="0" dirty="0" err="1">
                <a:solidFill>
                  <a:srgbClr val="000000"/>
                </a:solidFill>
                <a:latin typeface="+mj-lt"/>
                <a:ea typeface="Arial" charset="0"/>
                <a:cs typeface="Arial" charset="0"/>
              </a:rPr>
              <a:t>int</a:t>
            </a:r>
            <a:r>
              <a:rPr lang="en-US" sz="2000" b="0" dirty="0">
                <a:solidFill>
                  <a:srgbClr val="000000"/>
                </a:solidFill>
                <a:latin typeface="+mj-lt"/>
                <a:ea typeface="Arial" charset="0"/>
                <a:cs typeface="Arial" charset="0"/>
              </a:rPr>
              <a:t>: 3 | </a:t>
            </a:r>
            <a:r>
              <a:rPr lang="en-US" sz="2000" b="0" dirty="0" err="1">
                <a:solidFill>
                  <a:srgbClr val="000000"/>
                </a:solidFill>
                <a:latin typeface="+mj-lt"/>
                <a:ea typeface="Arial" charset="0"/>
                <a:cs typeface="Arial" charset="0"/>
              </a:rPr>
              <a:t>int</a:t>
            </a:r>
            <a:r>
              <a:rPr lang="en-US" sz="2000" b="0" dirty="0">
                <a:solidFill>
                  <a:srgbClr val="000000"/>
                </a:solidFill>
                <a:latin typeface="+mj-lt"/>
                <a:ea typeface="Arial" charset="0"/>
                <a:cs typeface="Arial" charset="0"/>
              </a:rPr>
              <a:t>: 5</a:t>
            </a:r>
          </a:p>
        </p:txBody>
      </p:sp>
      <p:sp>
        <p:nvSpPr>
          <p:cNvPr id="119" name="Right Arrow 15">
            <a:extLst>
              <a:ext uri="{FF2B5EF4-FFF2-40B4-BE49-F238E27FC236}">
                <a16:creationId xmlns:a16="http://schemas.microsoft.com/office/drawing/2014/main" xmlns="" id="{0F6ED72E-D0B2-4F51-B179-B395C06E6844}"/>
              </a:ext>
            </a:extLst>
          </p:cNvPr>
          <p:cNvSpPr/>
          <p:nvPr/>
        </p:nvSpPr>
        <p:spPr>
          <a:xfrm rot="16200000">
            <a:off x="6893600" y="3318744"/>
            <a:ext cx="335199" cy="250913"/>
          </a:xfrm>
          <a:prstGeom prst="rightArrow">
            <a:avLst/>
          </a:prstGeom>
          <a:solidFill>
            <a:schemeClr val="tx1">
              <a:lumMod val="50000"/>
              <a:lumOff val="5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2000" b="0">
              <a:solidFill>
                <a:schemeClr val="tx1"/>
              </a:solidFill>
              <a:latin typeface="+mj-lt"/>
            </a:endParaRPr>
          </a:p>
        </p:txBody>
      </p:sp>
      <p:sp>
        <p:nvSpPr>
          <p:cNvPr id="120" name="Rectangle 119">
            <a:extLst>
              <a:ext uri="{FF2B5EF4-FFF2-40B4-BE49-F238E27FC236}">
                <a16:creationId xmlns:a16="http://schemas.microsoft.com/office/drawing/2014/main" xmlns="" id="{1515507A-7151-4A20-AD43-5005060452FE}"/>
              </a:ext>
            </a:extLst>
          </p:cNvPr>
          <p:cNvSpPr/>
          <p:nvPr/>
        </p:nvSpPr>
        <p:spPr>
          <a:xfrm>
            <a:off x="5608080" y="2663024"/>
            <a:ext cx="2906240" cy="44305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r>
              <a:rPr lang="en-US" sz="2000" dirty="0">
                <a:solidFill>
                  <a:srgbClr val="000000"/>
                </a:solidFill>
                <a:ea typeface="Arial" charset="0"/>
                <a:cs typeface="Arial" charset="0"/>
              </a:rPr>
              <a:t>Implementation of add</a:t>
            </a:r>
          </a:p>
        </p:txBody>
      </p:sp>
      <p:sp>
        <p:nvSpPr>
          <p:cNvPr id="121" name="Rectangle 120">
            <a:extLst>
              <a:ext uri="{FF2B5EF4-FFF2-40B4-BE49-F238E27FC236}">
                <a16:creationId xmlns:a16="http://schemas.microsoft.com/office/drawing/2014/main" xmlns="" id="{C8CB3B48-4C98-4ACD-807F-0E916890CE46}"/>
              </a:ext>
            </a:extLst>
          </p:cNvPr>
          <p:cNvSpPr/>
          <p:nvPr/>
        </p:nvSpPr>
        <p:spPr>
          <a:xfrm>
            <a:off x="5608080" y="2662247"/>
            <a:ext cx="2906240" cy="44305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r>
              <a:rPr lang="en-US" sz="2000" dirty="0">
                <a:solidFill>
                  <a:schemeClr val="tx1"/>
                </a:solidFill>
              </a:rPr>
              <a:t>8 </a:t>
            </a:r>
            <a:r>
              <a:rPr lang="en-US" sz="2000" dirty="0">
                <a:solidFill>
                  <a:schemeClr val="tx1"/>
                </a:solidFill>
                <a:sym typeface="Wingdings"/>
              </a:rPr>
              <a:t> </a:t>
            </a:r>
            <a:r>
              <a:rPr lang="en-US" sz="2000" dirty="0">
                <a:solidFill>
                  <a:schemeClr val="tx1"/>
                </a:solidFill>
              </a:rPr>
              <a:t>add(3, 5)</a:t>
            </a:r>
          </a:p>
        </p:txBody>
      </p:sp>
      <p:sp>
        <p:nvSpPr>
          <p:cNvPr id="122" name="TextBox 121">
            <a:extLst>
              <a:ext uri="{FF2B5EF4-FFF2-40B4-BE49-F238E27FC236}">
                <a16:creationId xmlns:a16="http://schemas.microsoft.com/office/drawing/2014/main" xmlns="" id="{C4D3F3E0-2834-4956-986D-FEDEB3A255B7}"/>
              </a:ext>
            </a:extLst>
          </p:cNvPr>
          <p:cNvSpPr txBox="1"/>
          <p:nvPr/>
        </p:nvSpPr>
        <p:spPr>
          <a:xfrm>
            <a:off x="190500" y="986135"/>
            <a:ext cx="8826500" cy="461665"/>
          </a:xfrm>
          <a:prstGeom prst="rect">
            <a:avLst/>
          </a:prstGeom>
          <a:noFill/>
        </p:spPr>
        <p:txBody>
          <a:bodyPr wrap="square" rtlCol="0">
            <a:spAutoFit/>
          </a:bodyPr>
          <a:lstStyle/>
          <a:p>
            <a:pPr marL="457200" indent="-457200" algn="just">
              <a:buFont typeface="+mj-lt"/>
              <a:buAutoNum type="arabicPeriod"/>
            </a:pPr>
            <a:r>
              <a:rPr lang="en-IN" sz="2400" dirty="0"/>
              <a:t>Client procedure calls client stub.</a:t>
            </a:r>
          </a:p>
        </p:txBody>
      </p:sp>
      <p:sp>
        <p:nvSpPr>
          <p:cNvPr id="123" name="TextBox 122">
            <a:extLst>
              <a:ext uri="{FF2B5EF4-FFF2-40B4-BE49-F238E27FC236}">
                <a16:creationId xmlns:a16="http://schemas.microsoft.com/office/drawing/2014/main" xmlns="" id="{FA5579E0-8C2C-418D-A5F4-CD44D2DB5DBC}"/>
              </a:ext>
            </a:extLst>
          </p:cNvPr>
          <p:cNvSpPr txBox="1"/>
          <p:nvPr/>
        </p:nvSpPr>
        <p:spPr>
          <a:xfrm>
            <a:off x="203200" y="1008569"/>
            <a:ext cx="8826500" cy="461665"/>
          </a:xfrm>
          <a:prstGeom prst="rect">
            <a:avLst/>
          </a:prstGeom>
          <a:noFill/>
        </p:spPr>
        <p:txBody>
          <a:bodyPr wrap="square" rtlCol="0">
            <a:spAutoFit/>
          </a:bodyPr>
          <a:lstStyle/>
          <a:p>
            <a:pPr marL="457200" indent="-457200" algn="just">
              <a:buFont typeface="+mj-lt"/>
              <a:buAutoNum type="arabicPeriod" startAt="2"/>
            </a:pPr>
            <a:r>
              <a:rPr lang="en-IN" sz="2400" dirty="0"/>
              <a:t>Client stub builds message, and calls local OS.</a:t>
            </a:r>
          </a:p>
        </p:txBody>
      </p:sp>
      <p:sp>
        <p:nvSpPr>
          <p:cNvPr id="124" name="TextBox 123">
            <a:extLst>
              <a:ext uri="{FF2B5EF4-FFF2-40B4-BE49-F238E27FC236}">
                <a16:creationId xmlns:a16="http://schemas.microsoft.com/office/drawing/2014/main" xmlns="" id="{CAAF49F2-1F28-4805-91A5-47875FDE8646}"/>
              </a:ext>
            </a:extLst>
          </p:cNvPr>
          <p:cNvSpPr txBox="1"/>
          <p:nvPr/>
        </p:nvSpPr>
        <p:spPr>
          <a:xfrm>
            <a:off x="190500" y="1021079"/>
            <a:ext cx="8826500" cy="461665"/>
          </a:xfrm>
          <a:prstGeom prst="rect">
            <a:avLst/>
          </a:prstGeom>
          <a:noFill/>
        </p:spPr>
        <p:txBody>
          <a:bodyPr wrap="square" rtlCol="0">
            <a:spAutoFit/>
          </a:bodyPr>
          <a:lstStyle/>
          <a:p>
            <a:pPr marL="457200" indent="-457200" algn="just">
              <a:buFont typeface="+mj-lt"/>
              <a:buAutoNum type="arabicPeriod" startAt="3"/>
            </a:pPr>
            <a:r>
              <a:rPr lang="en-IN" sz="2400" dirty="0"/>
              <a:t>Client’s OS sends message to remote OS.</a:t>
            </a:r>
          </a:p>
        </p:txBody>
      </p:sp>
      <p:sp>
        <p:nvSpPr>
          <p:cNvPr id="125" name="TextBox 124">
            <a:extLst>
              <a:ext uri="{FF2B5EF4-FFF2-40B4-BE49-F238E27FC236}">
                <a16:creationId xmlns:a16="http://schemas.microsoft.com/office/drawing/2014/main" xmlns="" id="{70D08307-A006-4166-A140-028B287B3BEB}"/>
              </a:ext>
            </a:extLst>
          </p:cNvPr>
          <p:cNvSpPr txBox="1"/>
          <p:nvPr/>
        </p:nvSpPr>
        <p:spPr>
          <a:xfrm>
            <a:off x="188455" y="993948"/>
            <a:ext cx="8826500" cy="461665"/>
          </a:xfrm>
          <a:prstGeom prst="rect">
            <a:avLst/>
          </a:prstGeom>
          <a:noFill/>
        </p:spPr>
        <p:txBody>
          <a:bodyPr wrap="square" rtlCol="0">
            <a:spAutoFit/>
          </a:bodyPr>
          <a:lstStyle/>
          <a:p>
            <a:pPr marL="457200" indent="-457200" algn="just">
              <a:buFont typeface="+mj-lt"/>
              <a:buAutoNum type="arabicPeriod" startAt="4"/>
            </a:pPr>
            <a:r>
              <a:rPr lang="en-IN" sz="2400" dirty="0"/>
              <a:t>Remote OS gives message to server stub.</a:t>
            </a:r>
          </a:p>
        </p:txBody>
      </p:sp>
      <p:sp>
        <p:nvSpPr>
          <p:cNvPr id="126" name="TextBox 125">
            <a:extLst>
              <a:ext uri="{FF2B5EF4-FFF2-40B4-BE49-F238E27FC236}">
                <a16:creationId xmlns:a16="http://schemas.microsoft.com/office/drawing/2014/main" xmlns="" id="{B0E745A3-CC1C-42B1-9938-F9AB7901A542}"/>
              </a:ext>
            </a:extLst>
          </p:cNvPr>
          <p:cNvSpPr txBox="1"/>
          <p:nvPr/>
        </p:nvSpPr>
        <p:spPr>
          <a:xfrm>
            <a:off x="208151" y="1028892"/>
            <a:ext cx="8826500" cy="461665"/>
          </a:xfrm>
          <a:prstGeom prst="rect">
            <a:avLst/>
          </a:prstGeom>
          <a:noFill/>
        </p:spPr>
        <p:txBody>
          <a:bodyPr wrap="square" rtlCol="0">
            <a:spAutoFit/>
          </a:bodyPr>
          <a:lstStyle/>
          <a:p>
            <a:pPr marL="457200" indent="-457200" algn="just">
              <a:buFont typeface="+mj-lt"/>
              <a:buAutoNum type="arabicPeriod" startAt="5"/>
            </a:pPr>
            <a:r>
              <a:rPr lang="en-IN" sz="2400" dirty="0"/>
              <a:t>Server stub unpacks parameters, calls server. </a:t>
            </a:r>
          </a:p>
        </p:txBody>
      </p:sp>
    </p:spTree>
    <p:extLst>
      <p:ext uri="{BB962C8B-B14F-4D97-AF65-F5344CB8AC3E}">
        <p14:creationId xmlns:p14="http://schemas.microsoft.com/office/powerpoint/2010/main" val="1190772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7">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05"/>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22"/>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10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106"/>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10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11">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1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14">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108"/>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124"/>
                                        </p:tgtEl>
                                        <p:attrNameLst>
                                          <p:attrName>style.visibility</p:attrName>
                                        </p:attrNameLst>
                                      </p:cBhvr>
                                      <p:to>
                                        <p:strVal val="visible"/>
                                      </p:to>
                                    </p:set>
                                  </p:childTnLst>
                                </p:cTn>
                              </p:par>
                              <p:par>
                                <p:cTn id="81" presetID="1" presetClass="exit" presetSubtype="0" fill="hold" grpId="1" nodeType="withEffect">
                                  <p:stCondLst>
                                    <p:cond delay="0"/>
                                  </p:stCondLst>
                                  <p:childTnLst>
                                    <p:set>
                                      <p:cBhvr>
                                        <p:cTn id="82" dur="1" fill="hold">
                                          <p:stCondLst>
                                            <p:cond delay="0"/>
                                          </p:stCondLst>
                                        </p:cTn>
                                        <p:tgtEl>
                                          <p:spTgt spid="123"/>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0"/>
                                          </p:stCondLst>
                                        </p:cTn>
                                        <p:tgtEl>
                                          <p:spTgt spid="11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grpId="1" nodeType="clickEffect">
                                  <p:stCondLst>
                                    <p:cond delay="0"/>
                                  </p:stCondLst>
                                  <p:childTnLst>
                                    <p:set>
                                      <p:cBhvr>
                                        <p:cTn id="88" dur="1" fill="hold">
                                          <p:stCondLst>
                                            <p:cond delay="0"/>
                                          </p:stCondLst>
                                        </p:cTn>
                                        <p:tgtEl>
                                          <p:spTgt spid="109"/>
                                        </p:tgtEl>
                                        <p:attrNameLst>
                                          <p:attrName>style.visibility</p:attrName>
                                        </p:attrNameLst>
                                      </p:cBhvr>
                                      <p:to>
                                        <p:strVal val="hidden"/>
                                      </p:to>
                                    </p:set>
                                  </p:childTnLst>
                                </p:cTn>
                              </p:par>
                              <p:par>
                                <p:cTn id="89" presetID="1" presetClass="entr" presetSubtype="0" fill="hold" grpId="0" nodeType="withEffect">
                                  <p:stCondLst>
                                    <p:cond delay="0"/>
                                  </p:stCondLst>
                                  <p:childTnLst>
                                    <p:set>
                                      <p:cBhvr>
                                        <p:cTn id="90" dur="1" fill="hold">
                                          <p:stCondLst>
                                            <p:cond delay="0"/>
                                          </p:stCondLst>
                                        </p:cTn>
                                        <p:tgtEl>
                                          <p:spTgt spid="11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1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13">
                                            <p:txEl>
                                              <p:pRg st="0" end="0"/>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17"/>
                                        </p:tgtEl>
                                        <p:attrNameLst>
                                          <p:attrName>style.visibility</p:attrName>
                                        </p:attrNameLst>
                                      </p:cBhvr>
                                      <p:to>
                                        <p:strVal val="visible"/>
                                      </p:to>
                                    </p:set>
                                  </p:childTnLst>
                                </p:cTn>
                              </p:par>
                              <p:par>
                                <p:cTn id="101" presetID="1" presetClass="exit" presetSubtype="0" fill="hold" grpId="1" nodeType="withEffect">
                                  <p:stCondLst>
                                    <p:cond delay="0"/>
                                  </p:stCondLst>
                                  <p:childTnLst>
                                    <p:set>
                                      <p:cBhvr>
                                        <p:cTn id="102" dur="1" fill="hold">
                                          <p:stCondLst>
                                            <p:cond delay="0"/>
                                          </p:stCondLst>
                                        </p:cTn>
                                        <p:tgtEl>
                                          <p:spTgt spid="115"/>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124"/>
                                        </p:tgtEl>
                                        <p:attrNameLst>
                                          <p:attrName>style.visibility</p:attrName>
                                        </p:attrNameLst>
                                      </p:cBhvr>
                                      <p:to>
                                        <p:strVal val="hidden"/>
                                      </p:to>
                                    </p:set>
                                  </p:childTnLst>
                                </p:cTn>
                              </p:par>
                              <p:par>
                                <p:cTn id="105" presetID="1" presetClass="entr" presetSubtype="0" fill="hold" grpId="0" nodeType="withEffect">
                                  <p:stCondLst>
                                    <p:cond delay="0"/>
                                  </p:stCondLst>
                                  <p:childTnLst>
                                    <p:set>
                                      <p:cBhvr>
                                        <p:cTn id="106" dur="1" fill="hold">
                                          <p:stCondLst>
                                            <p:cond delay="0"/>
                                          </p:stCondLst>
                                        </p:cTn>
                                        <p:tgtEl>
                                          <p:spTgt spid="12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116"/>
                                        </p:tgtEl>
                                        <p:attrNameLst>
                                          <p:attrName>style.visibility</p:attrName>
                                        </p:attrNameLst>
                                      </p:cBhvr>
                                      <p:to>
                                        <p:strVal val="hidden"/>
                                      </p:to>
                                    </p:set>
                                  </p:childTnLst>
                                </p:cTn>
                              </p:par>
                              <p:par>
                                <p:cTn id="111" presetID="1" presetClass="entr" presetSubtype="0" fill="hold" grpId="0" nodeType="withEffect">
                                  <p:stCondLst>
                                    <p:cond delay="0"/>
                                  </p:stCondLst>
                                  <p:childTnLst>
                                    <p:set>
                                      <p:cBhvr>
                                        <p:cTn id="112" dur="1" fill="hold">
                                          <p:stCondLst>
                                            <p:cond delay="0"/>
                                          </p:stCondLst>
                                        </p:cTn>
                                        <p:tgtEl>
                                          <p:spTgt spid="118"/>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1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112">
                                            <p:txEl>
                                              <p:pRg st="0" end="0"/>
                                            </p:txEl>
                                          </p:spTgt>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119"/>
                                        </p:tgtEl>
                                        <p:attrNameLst>
                                          <p:attrName>style.visibility</p:attrName>
                                        </p:attrNameLst>
                                      </p:cBhvr>
                                      <p:to>
                                        <p:strVal val="visible"/>
                                      </p:to>
                                    </p:set>
                                  </p:childTnLst>
                                </p:cTn>
                              </p:par>
                              <p:par>
                                <p:cTn id="125" presetID="1" presetClass="exit" presetSubtype="0" fill="hold" grpId="1" nodeType="withEffect">
                                  <p:stCondLst>
                                    <p:cond delay="0"/>
                                  </p:stCondLst>
                                  <p:childTnLst>
                                    <p:set>
                                      <p:cBhvr>
                                        <p:cTn id="126" dur="1" fill="hold">
                                          <p:stCondLst>
                                            <p:cond delay="0"/>
                                          </p:stCondLst>
                                        </p:cTn>
                                        <p:tgtEl>
                                          <p:spTgt spid="117"/>
                                        </p:tgtEl>
                                        <p:attrNameLst>
                                          <p:attrName>style.visibility</p:attrName>
                                        </p:attrNameLst>
                                      </p:cBhvr>
                                      <p:to>
                                        <p:strVal val="hidden"/>
                                      </p:to>
                                    </p:set>
                                  </p:childTnLst>
                                </p:cTn>
                              </p:par>
                              <p:par>
                                <p:cTn id="127" presetID="1" presetClass="exit" presetSubtype="0" fill="hold" grpId="1" nodeType="withEffect">
                                  <p:stCondLst>
                                    <p:cond delay="0"/>
                                  </p:stCondLst>
                                  <p:childTnLst>
                                    <p:set>
                                      <p:cBhvr>
                                        <p:cTn id="128" dur="1" fill="hold">
                                          <p:stCondLst>
                                            <p:cond delay="0"/>
                                          </p:stCondLst>
                                        </p:cTn>
                                        <p:tgtEl>
                                          <p:spTgt spid="125"/>
                                        </p:tgtEl>
                                        <p:attrNameLst>
                                          <p:attrName>style.visibility</p:attrName>
                                        </p:attrNameLst>
                                      </p:cBhvr>
                                      <p:to>
                                        <p:strVal val="hidden"/>
                                      </p:to>
                                    </p:set>
                                  </p:childTnLst>
                                </p:cTn>
                              </p:par>
                              <p:par>
                                <p:cTn id="129" presetID="1" presetClass="entr" presetSubtype="0" fill="hold" grpId="0" nodeType="withEffect">
                                  <p:stCondLst>
                                    <p:cond delay="0"/>
                                  </p:stCondLst>
                                  <p:childTnLst>
                                    <p:set>
                                      <p:cBhvr>
                                        <p:cTn id="130" dur="1" fill="hold">
                                          <p:stCondLst>
                                            <p:cond delay="0"/>
                                          </p:stCondLst>
                                        </p:cTn>
                                        <p:tgtEl>
                                          <p:spTgt spid="126"/>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1" nodeType="clickEffect">
                                  <p:stCondLst>
                                    <p:cond delay="0"/>
                                  </p:stCondLst>
                                  <p:childTnLst>
                                    <p:set>
                                      <p:cBhvr>
                                        <p:cTn id="134" dur="1" fill="hold">
                                          <p:stCondLst>
                                            <p:cond delay="0"/>
                                          </p:stCondLst>
                                        </p:cTn>
                                        <p:tgtEl>
                                          <p:spTgt spid="118"/>
                                        </p:tgtEl>
                                        <p:attrNameLst>
                                          <p:attrName>style.visibility</p:attrName>
                                        </p:attrNameLst>
                                      </p:cBhvr>
                                      <p:to>
                                        <p:strVal val="hidden"/>
                                      </p:to>
                                    </p:set>
                                  </p:childTnLst>
                                </p:cTn>
                              </p:par>
                              <p:par>
                                <p:cTn id="135" presetID="1" presetClass="exit" presetSubtype="0" fill="hold" grpId="1" nodeType="withEffect">
                                  <p:stCondLst>
                                    <p:cond delay="0"/>
                                  </p:stCondLst>
                                  <p:childTnLst>
                                    <p:set>
                                      <p:cBhvr>
                                        <p:cTn id="136" dur="1" fill="hold">
                                          <p:stCondLst>
                                            <p:cond delay="0"/>
                                          </p:stCondLst>
                                        </p:cTn>
                                        <p:tgtEl>
                                          <p:spTgt spid="119"/>
                                        </p:tgtEl>
                                        <p:attrNameLst>
                                          <p:attrName>style.visibility</p:attrName>
                                        </p:attrNameLst>
                                      </p:cBhvr>
                                      <p:to>
                                        <p:strVal val="hidden"/>
                                      </p:to>
                                    </p:set>
                                  </p:childTnLst>
                                </p:cTn>
                              </p:par>
                              <p:par>
                                <p:cTn id="137" presetID="1" presetClass="entr" presetSubtype="0" fill="hold" grpId="0" nodeType="withEffect">
                                  <p:stCondLst>
                                    <p:cond delay="0"/>
                                  </p:stCondLst>
                                  <p:childTnLst>
                                    <p:set>
                                      <p:cBhvr>
                                        <p:cTn id="138" dur="1" fill="hold">
                                          <p:stCondLst>
                                            <p:cond delay="0"/>
                                          </p:stCondLst>
                                        </p:cTn>
                                        <p:tgtEl>
                                          <p:spTgt spid="120"/>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21"/>
                                        </p:tgtEl>
                                        <p:attrNameLst>
                                          <p:attrName>style.visibility</p:attrName>
                                        </p:attrNameLst>
                                      </p:cBhvr>
                                      <p:to>
                                        <p:strVal val="visible"/>
                                      </p:to>
                                    </p:set>
                                  </p:childTnLst>
                                </p:cTn>
                              </p:par>
                              <p:par>
                                <p:cTn id="143" presetID="1" presetClass="exit" presetSubtype="0" fill="hold" grpId="1" nodeType="withEffect">
                                  <p:stCondLst>
                                    <p:cond delay="0"/>
                                  </p:stCondLst>
                                  <p:childTnLst>
                                    <p:set>
                                      <p:cBhvr>
                                        <p:cTn id="144" dur="1" fill="hold">
                                          <p:stCondLst>
                                            <p:cond delay="0"/>
                                          </p:stCondLst>
                                        </p:cTn>
                                        <p:tgtEl>
                                          <p:spTgt spid="1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animBg="1"/>
      <p:bldP spid="104" grpId="0" animBg="1"/>
      <p:bldP spid="105" grpId="0" animBg="1"/>
      <p:bldP spid="105" grpId="1" animBg="1"/>
      <p:bldP spid="106" grpId="0" animBg="1"/>
      <p:bldP spid="106" grpId="1" animBg="1"/>
      <p:bldP spid="107" grpId="0" animBg="1"/>
      <p:bldP spid="108" grpId="0" animBg="1"/>
      <p:bldP spid="108" grpId="1" animBg="1"/>
      <p:bldP spid="109" grpId="0" animBg="1"/>
      <p:bldP spid="109" grpId="1" animBg="1"/>
      <p:bldP spid="110" grpId="0" animBg="1"/>
      <p:bldP spid="111" grpId="0" animBg="1"/>
      <p:bldP spid="112" grpId="0" animBg="1"/>
      <p:bldP spid="113" grpId="0" animBg="1"/>
      <p:bldP spid="114" grpId="0" animBg="1"/>
      <p:bldP spid="115" grpId="0" animBg="1"/>
      <p:bldP spid="115" grpId="1" animBg="1"/>
      <p:bldP spid="116" grpId="0" animBg="1"/>
      <p:bldP spid="116" grpId="1" animBg="1"/>
      <p:bldP spid="117" grpId="0" animBg="1"/>
      <p:bldP spid="117" grpId="1" animBg="1"/>
      <p:bldP spid="118" grpId="0" animBg="1"/>
      <p:bldP spid="118" grpId="1" animBg="1"/>
      <p:bldP spid="119" grpId="0" animBg="1"/>
      <p:bldP spid="119" grpId="1" animBg="1"/>
      <p:bldP spid="120" grpId="0" animBg="1"/>
      <p:bldP spid="121" grpId="0" animBg="1"/>
      <p:bldP spid="122" grpId="0"/>
      <p:bldP spid="122" grpId="1"/>
      <p:bldP spid="123" grpId="0"/>
      <p:bldP spid="123" grpId="1"/>
      <p:bldP spid="124" grpId="0"/>
      <p:bldP spid="124" grpId="1"/>
      <p:bldP spid="125" grpId="0"/>
      <p:bldP spid="125" grpId="1"/>
      <p:bldP spid="126" grpId="0"/>
      <p:bldP spid="126" grpId="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RPC Mechanism</a:t>
            </a:r>
          </a:p>
        </p:txBody>
      </p:sp>
      <p:sp>
        <p:nvSpPr>
          <p:cNvPr id="28" name="Rectangle 27">
            <a:extLst>
              <a:ext uri="{FF2B5EF4-FFF2-40B4-BE49-F238E27FC236}">
                <a16:creationId xmlns:a16="http://schemas.microsoft.com/office/drawing/2014/main" xmlns="" id="{30EEF718-773C-4E35-BD48-9347A6BB0A72}"/>
              </a:ext>
            </a:extLst>
          </p:cNvPr>
          <p:cNvSpPr/>
          <p:nvPr/>
        </p:nvSpPr>
        <p:spPr>
          <a:xfrm>
            <a:off x="203200" y="1752600"/>
            <a:ext cx="3911600" cy="4495800"/>
          </a:xfrm>
          <a:prstGeom prst="rect">
            <a:avLst/>
          </a:prstGeom>
          <a:solidFill>
            <a:schemeClr val="accent3">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2000" dirty="0">
                <a:solidFill>
                  <a:schemeClr val="tx1"/>
                </a:solidFill>
                <a:latin typeface="+mj-lt"/>
              </a:rPr>
              <a:t>Client Machine</a:t>
            </a:r>
          </a:p>
        </p:txBody>
      </p:sp>
      <p:sp>
        <p:nvSpPr>
          <p:cNvPr id="29" name="Rectangle 28">
            <a:extLst>
              <a:ext uri="{FF2B5EF4-FFF2-40B4-BE49-F238E27FC236}">
                <a16:creationId xmlns:a16="http://schemas.microsoft.com/office/drawing/2014/main" xmlns="" id="{25EDA83F-88AC-4AEE-B9AF-5B1F401DF1CE}"/>
              </a:ext>
            </a:extLst>
          </p:cNvPr>
          <p:cNvSpPr/>
          <p:nvPr/>
        </p:nvSpPr>
        <p:spPr>
          <a:xfrm>
            <a:off x="463718" y="2232406"/>
            <a:ext cx="3390564" cy="1049888"/>
          </a:xfrm>
          <a:prstGeom prst="rect">
            <a:avLst/>
          </a:prstGeom>
          <a:solidFill>
            <a:schemeClr val="accent5">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mj-lt"/>
              </a:rPr>
              <a:t>Client process</a:t>
            </a:r>
            <a:endParaRPr lang="en-US" sz="2000" b="0" dirty="0">
              <a:solidFill>
                <a:schemeClr val="tx1"/>
              </a:solidFill>
              <a:latin typeface="+mj-lt"/>
            </a:endParaRPr>
          </a:p>
        </p:txBody>
      </p:sp>
      <p:sp>
        <p:nvSpPr>
          <p:cNvPr id="30" name="Rectangle 29">
            <a:extLst>
              <a:ext uri="{FF2B5EF4-FFF2-40B4-BE49-F238E27FC236}">
                <a16:creationId xmlns:a16="http://schemas.microsoft.com/office/drawing/2014/main" xmlns="" id="{6F9AF217-538F-45A5-92CD-760900A8B3D9}"/>
              </a:ext>
            </a:extLst>
          </p:cNvPr>
          <p:cNvSpPr/>
          <p:nvPr/>
        </p:nvSpPr>
        <p:spPr>
          <a:xfrm>
            <a:off x="463719" y="3612577"/>
            <a:ext cx="3390563" cy="1052833"/>
          </a:xfrm>
          <a:prstGeom prst="rect">
            <a:avLst/>
          </a:prstGeom>
          <a:solidFill>
            <a:schemeClr val="accent6">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mj-lt"/>
              </a:rPr>
              <a:t>Client stub (RPC library)</a:t>
            </a:r>
          </a:p>
        </p:txBody>
      </p:sp>
      <p:sp>
        <p:nvSpPr>
          <p:cNvPr id="31" name="Rectangle 30">
            <a:extLst>
              <a:ext uri="{FF2B5EF4-FFF2-40B4-BE49-F238E27FC236}">
                <a16:creationId xmlns:a16="http://schemas.microsoft.com/office/drawing/2014/main" xmlns="" id="{7481488B-2F57-46AF-BA04-9BFE5069BD03}"/>
              </a:ext>
            </a:extLst>
          </p:cNvPr>
          <p:cNvSpPr/>
          <p:nvPr/>
        </p:nvSpPr>
        <p:spPr>
          <a:xfrm>
            <a:off x="463718" y="5006462"/>
            <a:ext cx="3390564" cy="1013525"/>
          </a:xfrm>
          <a:prstGeom prst="rect">
            <a:avLst/>
          </a:prstGeom>
          <a:solidFill>
            <a:schemeClr val="accent5">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mj-lt"/>
              </a:rPr>
              <a:t>Client OS</a:t>
            </a:r>
            <a:endParaRPr lang="en-US" sz="2000" b="0" dirty="0">
              <a:solidFill>
                <a:schemeClr val="tx1"/>
              </a:solidFill>
              <a:latin typeface="+mj-lt"/>
            </a:endParaRPr>
          </a:p>
        </p:txBody>
      </p:sp>
      <p:sp>
        <p:nvSpPr>
          <p:cNvPr id="32" name="Rectangle 31">
            <a:extLst>
              <a:ext uri="{FF2B5EF4-FFF2-40B4-BE49-F238E27FC236}">
                <a16:creationId xmlns:a16="http://schemas.microsoft.com/office/drawing/2014/main" xmlns="" id="{4574E68C-CA1F-4650-861B-A8D9CD9D6123}"/>
              </a:ext>
            </a:extLst>
          </p:cNvPr>
          <p:cNvSpPr/>
          <p:nvPr/>
        </p:nvSpPr>
        <p:spPr>
          <a:xfrm>
            <a:off x="1362709" y="2689133"/>
            <a:ext cx="1592580" cy="44305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r>
              <a:rPr lang="en-US" sz="2000" dirty="0">
                <a:solidFill>
                  <a:srgbClr val="000000"/>
                </a:solidFill>
                <a:ea typeface="Arial" charset="0"/>
                <a:cs typeface="Arial" charset="0"/>
              </a:rPr>
              <a:t>K=add(3, 5)</a:t>
            </a:r>
          </a:p>
        </p:txBody>
      </p:sp>
      <p:sp>
        <p:nvSpPr>
          <p:cNvPr id="33" name="Rectangle 32">
            <a:extLst>
              <a:ext uri="{FF2B5EF4-FFF2-40B4-BE49-F238E27FC236}">
                <a16:creationId xmlns:a16="http://schemas.microsoft.com/office/drawing/2014/main" xmlns="" id="{237B6397-B9FF-43E7-813D-C163A5A96F23}"/>
              </a:ext>
            </a:extLst>
          </p:cNvPr>
          <p:cNvSpPr/>
          <p:nvPr/>
        </p:nvSpPr>
        <p:spPr>
          <a:xfrm>
            <a:off x="5105400" y="1752600"/>
            <a:ext cx="3911600" cy="4495800"/>
          </a:xfrm>
          <a:prstGeom prst="rect">
            <a:avLst/>
          </a:prstGeom>
          <a:solidFill>
            <a:schemeClr val="accent3">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2000" dirty="0">
                <a:solidFill>
                  <a:schemeClr val="tx1"/>
                </a:solidFill>
                <a:latin typeface="+mj-lt"/>
              </a:rPr>
              <a:t>Server Machine</a:t>
            </a:r>
          </a:p>
        </p:txBody>
      </p:sp>
      <p:sp>
        <p:nvSpPr>
          <p:cNvPr id="34" name="Rectangle 33">
            <a:extLst>
              <a:ext uri="{FF2B5EF4-FFF2-40B4-BE49-F238E27FC236}">
                <a16:creationId xmlns:a16="http://schemas.microsoft.com/office/drawing/2014/main" xmlns="" id="{C82289E6-F061-4AC2-BD59-AE0D68AC9CA8}"/>
              </a:ext>
            </a:extLst>
          </p:cNvPr>
          <p:cNvSpPr/>
          <p:nvPr/>
        </p:nvSpPr>
        <p:spPr>
          <a:xfrm>
            <a:off x="5365918" y="2232406"/>
            <a:ext cx="3390564" cy="1049888"/>
          </a:xfrm>
          <a:prstGeom prst="rect">
            <a:avLst/>
          </a:prstGeom>
          <a:solidFill>
            <a:schemeClr val="accent5">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mj-lt"/>
              </a:rPr>
              <a:t>Server process</a:t>
            </a:r>
            <a:endParaRPr lang="en-US" sz="2000" b="0" dirty="0">
              <a:solidFill>
                <a:schemeClr val="tx1"/>
              </a:solidFill>
              <a:latin typeface="+mj-lt"/>
            </a:endParaRPr>
          </a:p>
        </p:txBody>
      </p:sp>
      <p:sp>
        <p:nvSpPr>
          <p:cNvPr id="35" name="Rectangle 34">
            <a:extLst>
              <a:ext uri="{FF2B5EF4-FFF2-40B4-BE49-F238E27FC236}">
                <a16:creationId xmlns:a16="http://schemas.microsoft.com/office/drawing/2014/main" xmlns="" id="{32A12D56-4DAD-4731-8EF8-A0E6C3FDA413}"/>
              </a:ext>
            </a:extLst>
          </p:cNvPr>
          <p:cNvSpPr/>
          <p:nvPr/>
        </p:nvSpPr>
        <p:spPr>
          <a:xfrm>
            <a:off x="5365919" y="3612577"/>
            <a:ext cx="3390563" cy="1052833"/>
          </a:xfrm>
          <a:prstGeom prst="rect">
            <a:avLst/>
          </a:prstGeom>
          <a:solidFill>
            <a:schemeClr val="accent6">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mj-lt"/>
              </a:rPr>
              <a:t>Server stub (RPC library)</a:t>
            </a:r>
          </a:p>
        </p:txBody>
      </p:sp>
      <p:sp>
        <p:nvSpPr>
          <p:cNvPr id="36" name="Rectangle 35">
            <a:extLst>
              <a:ext uri="{FF2B5EF4-FFF2-40B4-BE49-F238E27FC236}">
                <a16:creationId xmlns:a16="http://schemas.microsoft.com/office/drawing/2014/main" xmlns="" id="{1C4F3804-F10A-4D50-9E11-0FC710154E18}"/>
              </a:ext>
            </a:extLst>
          </p:cNvPr>
          <p:cNvSpPr/>
          <p:nvPr/>
        </p:nvSpPr>
        <p:spPr>
          <a:xfrm>
            <a:off x="5365918" y="5006462"/>
            <a:ext cx="3390564" cy="1013525"/>
          </a:xfrm>
          <a:prstGeom prst="rect">
            <a:avLst/>
          </a:prstGeom>
          <a:solidFill>
            <a:schemeClr val="accent5">
              <a:lumMod val="40000"/>
              <a:lumOff val="6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mj-lt"/>
              </a:rPr>
              <a:t>Server OS</a:t>
            </a:r>
            <a:endParaRPr lang="en-US" sz="2000" b="0" dirty="0">
              <a:solidFill>
                <a:schemeClr val="tx1"/>
              </a:solidFill>
              <a:latin typeface="+mj-lt"/>
            </a:endParaRPr>
          </a:p>
        </p:txBody>
      </p:sp>
      <p:sp>
        <p:nvSpPr>
          <p:cNvPr id="37" name="Right Arrow 15">
            <a:extLst>
              <a:ext uri="{FF2B5EF4-FFF2-40B4-BE49-F238E27FC236}">
                <a16:creationId xmlns:a16="http://schemas.microsoft.com/office/drawing/2014/main" xmlns="" id="{A6EFDAB9-23E0-442E-BAFD-1D4220FC07AA}"/>
              </a:ext>
            </a:extLst>
          </p:cNvPr>
          <p:cNvSpPr/>
          <p:nvPr/>
        </p:nvSpPr>
        <p:spPr>
          <a:xfrm rot="10800000">
            <a:off x="3854282" y="5447612"/>
            <a:ext cx="1251118" cy="287590"/>
          </a:xfrm>
          <a:prstGeom prst="rightArrow">
            <a:avLst/>
          </a:prstGeom>
          <a:solidFill>
            <a:schemeClr val="tx1">
              <a:lumMod val="50000"/>
              <a:lumOff val="5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b="0">
              <a:solidFill>
                <a:schemeClr val="tx1"/>
              </a:solidFill>
              <a:latin typeface="+mn-lt"/>
            </a:endParaRPr>
          </a:p>
        </p:txBody>
      </p:sp>
      <p:sp>
        <p:nvSpPr>
          <p:cNvPr id="38" name="Rectangle 37">
            <a:extLst>
              <a:ext uri="{FF2B5EF4-FFF2-40B4-BE49-F238E27FC236}">
                <a16:creationId xmlns:a16="http://schemas.microsoft.com/office/drawing/2014/main" xmlns="" id="{1515507A-7151-4A20-AD43-5005060452FE}"/>
              </a:ext>
            </a:extLst>
          </p:cNvPr>
          <p:cNvSpPr/>
          <p:nvPr/>
        </p:nvSpPr>
        <p:spPr>
          <a:xfrm>
            <a:off x="5608080" y="2663024"/>
            <a:ext cx="2906240" cy="44305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r>
              <a:rPr lang="en-US" sz="2000" dirty="0">
                <a:solidFill>
                  <a:srgbClr val="000000"/>
                </a:solidFill>
                <a:ea typeface="Arial" charset="0"/>
                <a:cs typeface="Arial" charset="0"/>
              </a:rPr>
              <a:t>Implementation of add</a:t>
            </a:r>
          </a:p>
        </p:txBody>
      </p:sp>
      <p:sp>
        <p:nvSpPr>
          <p:cNvPr id="39" name="Rectangle 38">
            <a:extLst>
              <a:ext uri="{FF2B5EF4-FFF2-40B4-BE49-F238E27FC236}">
                <a16:creationId xmlns:a16="http://schemas.microsoft.com/office/drawing/2014/main" xmlns="" id="{C8CB3B48-4C98-4ACD-807F-0E916890CE46}"/>
              </a:ext>
            </a:extLst>
          </p:cNvPr>
          <p:cNvSpPr/>
          <p:nvPr/>
        </p:nvSpPr>
        <p:spPr>
          <a:xfrm>
            <a:off x="5608080" y="2662247"/>
            <a:ext cx="2906240" cy="44305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r>
              <a:rPr lang="en-US" sz="2000" dirty="0">
                <a:solidFill>
                  <a:schemeClr val="tx1"/>
                </a:solidFill>
              </a:rPr>
              <a:t>8 </a:t>
            </a:r>
            <a:r>
              <a:rPr lang="en-US" sz="2000" dirty="0">
                <a:solidFill>
                  <a:schemeClr val="tx1"/>
                </a:solidFill>
                <a:sym typeface="Wingdings"/>
              </a:rPr>
              <a:t> </a:t>
            </a:r>
            <a:r>
              <a:rPr lang="en-US" sz="2000" dirty="0">
                <a:solidFill>
                  <a:schemeClr val="tx1"/>
                </a:solidFill>
              </a:rPr>
              <a:t>add(3, 5)</a:t>
            </a:r>
          </a:p>
        </p:txBody>
      </p:sp>
      <p:sp>
        <p:nvSpPr>
          <p:cNvPr id="40" name="Folded Corner 14">
            <a:extLst>
              <a:ext uri="{FF2B5EF4-FFF2-40B4-BE49-F238E27FC236}">
                <a16:creationId xmlns:a16="http://schemas.microsoft.com/office/drawing/2014/main" xmlns="" id="{1CB0FF32-D5E5-4773-9E83-BEFB6255A399}"/>
              </a:ext>
            </a:extLst>
          </p:cNvPr>
          <p:cNvSpPr/>
          <p:nvPr/>
        </p:nvSpPr>
        <p:spPr>
          <a:xfrm>
            <a:off x="6182931" y="4060611"/>
            <a:ext cx="1756535" cy="435189"/>
          </a:xfrm>
          <a:prstGeom prst="foldedCorner">
            <a:avLst>
              <a:gd name="adj" fmla="val 33976"/>
            </a:avLst>
          </a:prstGeom>
          <a:solidFill>
            <a:srgbClr val="FFFF99"/>
          </a:solidFill>
          <a:ln w="28575">
            <a:solidFill>
              <a:schemeClr val="tx1"/>
            </a:solidFill>
          </a:ln>
        </p:spPr>
        <p:txBody>
          <a:bodyPr wrap="square">
            <a:noAutofit/>
          </a:bodyPr>
          <a:lstStyle/>
          <a:p>
            <a:pPr algn="l" defTabSz="228600"/>
            <a:r>
              <a:rPr lang="en-US" sz="2000" b="0" dirty="0">
                <a:solidFill>
                  <a:srgbClr val="000000"/>
                </a:solidFill>
                <a:latin typeface="+mj-lt"/>
                <a:ea typeface="Arial" charset="0"/>
                <a:cs typeface="Arial" charset="0"/>
              </a:rPr>
              <a:t>Result | </a:t>
            </a:r>
            <a:r>
              <a:rPr lang="en-US" sz="2000" b="0" dirty="0" err="1">
                <a:solidFill>
                  <a:srgbClr val="000000"/>
                </a:solidFill>
                <a:latin typeface="+mj-lt"/>
                <a:ea typeface="Arial" charset="0"/>
                <a:cs typeface="Arial" charset="0"/>
              </a:rPr>
              <a:t>int</a:t>
            </a:r>
            <a:r>
              <a:rPr lang="en-US" sz="2000" b="0" dirty="0">
                <a:solidFill>
                  <a:srgbClr val="000000"/>
                </a:solidFill>
                <a:latin typeface="+mj-lt"/>
                <a:ea typeface="Arial" charset="0"/>
                <a:cs typeface="Arial" charset="0"/>
              </a:rPr>
              <a:t>: 8</a:t>
            </a:r>
          </a:p>
        </p:txBody>
      </p:sp>
      <p:sp>
        <p:nvSpPr>
          <p:cNvPr id="41" name="Right Arrow 15">
            <a:extLst>
              <a:ext uri="{FF2B5EF4-FFF2-40B4-BE49-F238E27FC236}">
                <a16:creationId xmlns:a16="http://schemas.microsoft.com/office/drawing/2014/main" xmlns="" id="{39AF1109-EC5D-46B5-A508-3A4AE9F37B4B}"/>
              </a:ext>
            </a:extLst>
          </p:cNvPr>
          <p:cNvSpPr/>
          <p:nvPr/>
        </p:nvSpPr>
        <p:spPr>
          <a:xfrm rot="5400000">
            <a:off x="6893600" y="3303543"/>
            <a:ext cx="335199" cy="250913"/>
          </a:xfrm>
          <a:prstGeom prst="rightArrow">
            <a:avLst/>
          </a:prstGeom>
          <a:solidFill>
            <a:schemeClr val="tx1">
              <a:lumMod val="50000"/>
              <a:lumOff val="5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2000" b="0">
              <a:solidFill>
                <a:schemeClr val="tx1"/>
              </a:solidFill>
              <a:latin typeface="+mj-lt"/>
            </a:endParaRPr>
          </a:p>
        </p:txBody>
      </p:sp>
      <p:sp>
        <p:nvSpPr>
          <p:cNvPr id="42" name="Right Arrow 15">
            <a:extLst>
              <a:ext uri="{FF2B5EF4-FFF2-40B4-BE49-F238E27FC236}">
                <a16:creationId xmlns:a16="http://schemas.microsoft.com/office/drawing/2014/main" xmlns="" id="{D4B28071-A14A-4DD8-B399-A928B83DE085}"/>
              </a:ext>
            </a:extLst>
          </p:cNvPr>
          <p:cNvSpPr/>
          <p:nvPr/>
        </p:nvSpPr>
        <p:spPr>
          <a:xfrm rot="5400000">
            <a:off x="6893598" y="4690343"/>
            <a:ext cx="335199" cy="250913"/>
          </a:xfrm>
          <a:prstGeom prst="rightArrow">
            <a:avLst/>
          </a:prstGeom>
          <a:solidFill>
            <a:schemeClr val="tx1">
              <a:lumMod val="50000"/>
              <a:lumOff val="5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2000" b="0">
              <a:solidFill>
                <a:schemeClr val="tx1"/>
              </a:solidFill>
              <a:latin typeface="+mj-lt"/>
            </a:endParaRPr>
          </a:p>
        </p:txBody>
      </p:sp>
      <p:sp>
        <p:nvSpPr>
          <p:cNvPr id="43" name="Folded Corner 14">
            <a:extLst>
              <a:ext uri="{FF2B5EF4-FFF2-40B4-BE49-F238E27FC236}">
                <a16:creationId xmlns:a16="http://schemas.microsoft.com/office/drawing/2014/main" xmlns="" id="{FBB230F7-24F2-4578-AC1B-B23C973F02A9}"/>
              </a:ext>
            </a:extLst>
          </p:cNvPr>
          <p:cNvSpPr/>
          <p:nvPr/>
        </p:nvSpPr>
        <p:spPr>
          <a:xfrm>
            <a:off x="6182931" y="5447612"/>
            <a:ext cx="1756535" cy="435189"/>
          </a:xfrm>
          <a:prstGeom prst="foldedCorner">
            <a:avLst>
              <a:gd name="adj" fmla="val 33976"/>
            </a:avLst>
          </a:prstGeom>
          <a:solidFill>
            <a:srgbClr val="FFFF99"/>
          </a:solidFill>
          <a:ln w="28575">
            <a:solidFill>
              <a:schemeClr val="tx1"/>
            </a:solidFill>
          </a:ln>
        </p:spPr>
        <p:txBody>
          <a:bodyPr wrap="square">
            <a:noAutofit/>
          </a:bodyPr>
          <a:lstStyle/>
          <a:p>
            <a:pPr algn="l" defTabSz="228600"/>
            <a:r>
              <a:rPr lang="en-US" sz="2000" b="0" dirty="0">
                <a:solidFill>
                  <a:srgbClr val="000000"/>
                </a:solidFill>
                <a:latin typeface="+mj-lt"/>
                <a:ea typeface="Arial" charset="0"/>
                <a:cs typeface="Arial" charset="0"/>
              </a:rPr>
              <a:t>Result | </a:t>
            </a:r>
            <a:r>
              <a:rPr lang="en-US" sz="2000" b="0" dirty="0" err="1">
                <a:solidFill>
                  <a:srgbClr val="000000"/>
                </a:solidFill>
                <a:latin typeface="+mj-lt"/>
                <a:ea typeface="Arial" charset="0"/>
                <a:cs typeface="Arial" charset="0"/>
              </a:rPr>
              <a:t>int</a:t>
            </a:r>
            <a:r>
              <a:rPr lang="en-US" sz="2000" b="0" dirty="0">
                <a:solidFill>
                  <a:srgbClr val="000000"/>
                </a:solidFill>
                <a:latin typeface="+mj-lt"/>
                <a:ea typeface="Arial" charset="0"/>
                <a:cs typeface="Arial" charset="0"/>
              </a:rPr>
              <a:t>: 8</a:t>
            </a:r>
          </a:p>
        </p:txBody>
      </p:sp>
      <p:sp>
        <p:nvSpPr>
          <p:cNvPr id="44" name="Folded Corner 14">
            <a:extLst>
              <a:ext uri="{FF2B5EF4-FFF2-40B4-BE49-F238E27FC236}">
                <a16:creationId xmlns:a16="http://schemas.microsoft.com/office/drawing/2014/main" xmlns="" id="{6C86ADCC-3AA5-41F6-829C-F1E7E5A788EF}"/>
              </a:ext>
            </a:extLst>
          </p:cNvPr>
          <p:cNvSpPr/>
          <p:nvPr/>
        </p:nvSpPr>
        <p:spPr>
          <a:xfrm>
            <a:off x="1280731" y="4055132"/>
            <a:ext cx="1756535" cy="435189"/>
          </a:xfrm>
          <a:prstGeom prst="foldedCorner">
            <a:avLst>
              <a:gd name="adj" fmla="val 33976"/>
            </a:avLst>
          </a:prstGeom>
          <a:solidFill>
            <a:srgbClr val="FFFF99"/>
          </a:solidFill>
          <a:ln w="28575">
            <a:solidFill>
              <a:schemeClr val="tx1"/>
            </a:solidFill>
          </a:ln>
        </p:spPr>
        <p:txBody>
          <a:bodyPr wrap="square">
            <a:noAutofit/>
          </a:bodyPr>
          <a:lstStyle/>
          <a:p>
            <a:pPr algn="l" defTabSz="228600"/>
            <a:r>
              <a:rPr lang="en-US" sz="2000" b="0" dirty="0">
                <a:solidFill>
                  <a:srgbClr val="000000"/>
                </a:solidFill>
                <a:latin typeface="+mj-lt"/>
                <a:ea typeface="Arial" charset="0"/>
                <a:cs typeface="Arial" charset="0"/>
              </a:rPr>
              <a:t>Result | </a:t>
            </a:r>
            <a:r>
              <a:rPr lang="en-US" sz="2000" b="0" dirty="0" err="1">
                <a:solidFill>
                  <a:srgbClr val="000000"/>
                </a:solidFill>
                <a:latin typeface="+mj-lt"/>
                <a:ea typeface="Arial" charset="0"/>
                <a:cs typeface="Arial" charset="0"/>
              </a:rPr>
              <a:t>int</a:t>
            </a:r>
            <a:r>
              <a:rPr lang="en-US" sz="2000" b="0" dirty="0">
                <a:solidFill>
                  <a:srgbClr val="000000"/>
                </a:solidFill>
                <a:latin typeface="+mj-lt"/>
                <a:ea typeface="Arial" charset="0"/>
                <a:cs typeface="Arial" charset="0"/>
              </a:rPr>
              <a:t>: 8</a:t>
            </a:r>
          </a:p>
        </p:txBody>
      </p:sp>
      <p:sp>
        <p:nvSpPr>
          <p:cNvPr id="45" name="Folded Corner 14">
            <a:extLst>
              <a:ext uri="{FF2B5EF4-FFF2-40B4-BE49-F238E27FC236}">
                <a16:creationId xmlns:a16="http://schemas.microsoft.com/office/drawing/2014/main" xmlns="" id="{605961F4-CB6B-4FB0-BAC2-008F4FFECDDC}"/>
              </a:ext>
            </a:extLst>
          </p:cNvPr>
          <p:cNvSpPr/>
          <p:nvPr/>
        </p:nvSpPr>
        <p:spPr>
          <a:xfrm>
            <a:off x="1280731" y="5432211"/>
            <a:ext cx="1756535" cy="435189"/>
          </a:xfrm>
          <a:prstGeom prst="foldedCorner">
            <a:avLst>
              <a:gd name="adj" fmla="val 33976"/>
            </a:avLst>
          </a:prstGeom>
          <a:solidFill>
            <a:srgbClr val="FFFF99"/>
          </a:solidFill>
          <a:ln w="28575">
            <a:solidFill>
              <a:schemeClr val="tx1"/>
            </a:solidFill>
          </a:ln>
        </p:spPr>
        <p:txBody>
          <a:bodyPr wrap="square">
            <a:noAutofit/>
          </a:bodyPr>
          <a:lstStyle/>
          <a:p>
            <a:pPr algn="l" defTabSz="228600"/>
            <a:r>
              <a:rPr lang="en-US" sz="2000" b="0" dirty="0">
                <a:solidFill>
                  <a:srgbClr val="000000"/>
                </a:solidFill>
                <a:latin typeface="+mj-lt"/>
                <a:ea typeface="Arial" charset="0"/>
                <a:cs typeface="Arial" charset="0"/>
              </a:rPr>
              <a:t>Result | </a:t>
            </a:r>
            <a:r>
              <a:rPr lang="en-US" sz="2000" b="0" dirty="0" err="1">
                <a:solidFill>
                  <a:srgbClr val="000000"/>
                </a:solidFill>
                <a:latin typeface="+mj-lt"/>
                <a:ea typeface="Arial" charset="0"/>
                <a:cs typeface="Arial" charset="0"/>
              </a:rPr>
              <a:t>int</a:t>
            </a:r>
            <a:r>
              <a:rPr lang="en-US" sz="2000" b="0" dirty="0">
                <a:solidFill>
                  <a:srgbClr val="000000"/>
                </a:solidFill>
                <a:latin typeface="+mj-lt"/>
                <a:ea typeface="Arial" charset="0"/>
                <a:cs typeface="Arial" charset="0"/>
              </a:rPr>
              <a:t>: 8</a:t>
            </a:r>
          </a:p>
        </p:txBody>
      </p:sp>
      <p:sp>
        <p:nvSpPr>
          <p:cNvPr id="46" name="Rectangle 45">
            <a:extLst>
              <a:ext uri="{FF2B5EF4-FFF2-40B4-BE49-F238E27FC236}">
                <a16:creationId xmlns:a16="http://schemas.microsoft.com/office/drawing/2014/main" xmlns="" id="{20617EB2-1EAA-42B5-AEA9-D2A86569EE80}"/>
              </a:ext>
            </a:extLst>
          </p:cNvPr>
          <p:cNvSpPr/>
          <p:nvPr/>
        </p:nvSpPr>
        <p:spPr>
          <a:xfrm>
            <a:off x="1360098" y="2669220"/>
            <a:ext cx="1592580" cy="44305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00"/>
            <a:r>
              <a:rPr lang="en-US" sz="2000" dirty="0">
                <a:solidFill>
                  <a:srgbClr val="000000"/>
                </a:solidFill>
                <a:ea typeface="Arial" charset="0"/>
                <a:cs typeface="Arial" charset="0"/>
              </a:rPr>
              <a:t>K = 8</a:t>
            </a:r>
          </a:p>
        </p:txBody>
      </p:sp>
      <p:sp>
        <p:nvSpPr>
          <p:cNvPr id="47" name="Right Arrow 15">
            <a:extLst>
              <a:ext uri="{FF2B5EF4-FFF2-40B4-BE49-F238E27FC236}">
                <a16:creationId xmlns:a16="http://schemas.microsoft.com/office/drawing/2014/main" xmlns="" id="{461ECB94-3D68-40F7-B310-FC63B6C595C8}"/>
              </a:ext>
            </a:extLst>
          </p:cNvPr>
          <p:cNvSpPr/>
          <p:nvPr/>
        </p:nvSpPr>
        <p:spPr>
          <a:xfrm rot="16200000">
            <a:off x="1991397" y="3319555"/>
            <a:ext cx="335199" cy="250913"/>
          </a:xfrm>
          <a:prstGeom prst="rightArrow">
            <a:avLst/>
          </a:prstGeom>
          <a:solidFill>
            <a:schemeClr val="tx1">
              <a:lumMod val="50000"/>
              <a:lumOff val="5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2000" b="0">
              <a:solidFill>
                <a:schemeClr val="tx1"/>
              </a:solidFill>
              <a:latin typeface="+mj-lt"/>
            </a:endParaRPr>
          </a:p>
        </p:txBody>
      </p:sp>
      <p:sp>
        <p:nvSpPr>
          <p:cNvPr id="48" name="Right Arrow 15">
            <a:extLst>
              <a:ext uri="{FF2B5EF4-FFF2-40B4-BE49-F238E27FC236}">
                <a16:creationId xmlns:a16="http://schemas.microsoft.com/office/drawing/2014/main" xmlns="" id="{C36E1345-02B7-4A06-A6E0-B6375A96AB52}"/>
              </a:ext>
            </a:extLst>
          </p:cNvPr>
          <p:cNvSpPr/>
          <p:nvPr/>
        </p:nvSpPr>
        <p:spPr>
          <a:xfrm rot="16200000">
            <a:off x="1991397" y="4702637"/>
            <a:ext cx="335199" cy="250913"/>
          </a:xfrm>
          <a:prstGeom prst="rightArrow">
            <a:avLst/>
          </a:prstGeom>
          <a:solidFill>
            <a:schemeClr val="tx1">
              <a:lumMod val="50000"/>
              <a:lumOff val="50000"/>
            </a:schemeClr>
          </a:solidFill>
          <a:ln w="28575">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2000" b="0">
              <a:solidFill>
                <a:schemeClr val="tx1"/>
              </a:solidFill>
              <a:latin typeface="+mj-lt"/>
            </a:endParaRPr>
          </a:p>
        </p:txBody>
      </p:sp>
      <p:sp>
        <p:nvSpPr>
          <p:cNvPr id="49" name="TextBox 48">
            <a:extLst>
              <a:ext uri="{FF2B5EF4-FFF2-40B4-BE49-F238E27FC236}">
                <a16:creationId xmlns:a16="http://schemas.microsoft.com/office/drawing/2014/main" xmlns="" id="{D417E083-260E-472D-9154-324CCFBD4362}"/>
              </a:ext>
            </a:extLst>
          </p:cNvPr>
          <p:cNvSpPr txBox="1"/>
          <p:nvPr/>
        </p:nvSpPr>
        <p:spPr>
          <a:xfrm>
            <a:off x="158750" y="949883"/>
            <a:ext cx="8826500" cy="461665"/>
          </a:xfrm>
          <a:prstGeom prst="rect">
            <a:avLst/>
          </a:prstGeom>
          <a:noFill/>
        </p:spPr>
        <p:txBody>
          <a:bodyPr wrap="square" rtlCol="0">
            <a:spAutoFit/>
          </a:bodyPr>
          <a:lstStyle/>
          <a:p>
            <a:pPr marL="457200" indent="-457200" algn="just">
              <a:buFont typeface="+mj-lt"/>
              <a:buAutoNum type="arabicPeriod" startAt="6"/>
            </a:pPr>
            <a:r>
              <a:rPr lang="en-IN" sz="2400" dirty="0"/>
              <a:t>Server does work, returns result to the stub.</a:t>
            </a:r>
          </a:p>
        </p:txBody>
      </p:sp>
      <p:sp>
        <p:nvSpPr>
          <p:cNvPr id="50" name="TextBox 49">
            <a:extLst>
              <a:ext uri="{FF2B5EF4-FFF2-40B4-BE49-F238E27FC236}">
                <a16:creationId xmlns:a16="http://schemas.microsoft.com/office/drawing/2014/main" xmlns="" id="{75621E12-2CF8-4273-A223-C6C42793A194}"/>
              </a:ext>
            </a:extLst>
          </p:cNvPr>
          <p:cNvSpPr txBox="1"/>
          <p:nvPr/>
        </p:nvSpPr>
        <p:spPr>
          <a:xfrm>
            <a:off x="180168" y="957872"/>
            <a:ext cx="8826500" cy="461665"/>
          </a:xfrm>
          <a:prstGeom prst="rect">
            <a:avLst/>
          </a:prstGeom>
          <a:noFill/>
        </p:spPr>
        <p:txBody>
          <a:bodyPr wrap="square" rtlCol="0">
            <a:spAutoFit/>
          </a:bodyPr>
          <a:lstStyle/>
          <a:p>
            <a:pPr marL="457200" indent="-457200" algn="just">
              <a:buFont typeface="+mj-lt"/>
              <a:buAutoNum type="arabicPeriod" startAt="7"/>
            </a:pPr>
            <a:r>
              <a:rPr lang="en-IN" sz="2400" dirty="0"/>
              <a:t>Server stub packs it in message, calls local OS.</a:t>
            </a:r>
          </a:p>
        </p:txBody>
      </p:sp>
      <p:sp>
        <p:nvSpPr>
          <p:cNvPr id="51" name="TextBox 50">
            <a:extLst>
              <a:ext uri="{FF2B5EF4-FFF2-40B4-BE49-F238E27FC236}">
                <a16:creationId xmlns:a16="http://schemas.microsoft.com/office/drawing/2014/main" xmlns="" id="{D581F1FD-B3CC-4DA3-BF59-E1B3126FB7D3}"/>
              </a:ext>
            </a:extLst>
          </p:cNvPr>
          <p:cNvSpPr txBox="1"/>
          <p:nvPr/>
        </p:nvSpPr>
        <p:spPr>
          <a:xfrm>
            <a:off x="180168" y="949882"/>
            <a:ext cx="8826500" cy="461665"/>
          </a:xfrm>
          <a:prstGeom prst="rect">
            <a:avLst/>
          </a:prstGeom>
          <a:noFill/>
        </p:spPr>
        <p:txBody>
          <a:bodyPr wrap="square" rtlCol="0">
            <a:spAutoFit/>
          </a:bodyPr>
          <a:lstStyle/>
          <a:p>
            <a:pPr marL="457200" indent="-457200" algn="just">
              <a:buFont typeface="+mj-lt"/>
              <a:buAutoNum type="arabicPeriod" startAt="8"/>
            </a:pPr>
            <a:r>
              <a:rPr lang="en-IN" sz="2400" dirty="0"/>
              <a:t>Server’s OS sends message to the client’s OS.</a:t>
            </a:r>
          </a:p>
        </p:txBody>
      </p:sp>
      <p:sp>
        <p:nvSpPr>
          <p:cNvPr id="52" name="TextBox 51">
            <a:extLst>
              <a:ext uri="{FF2B5EF4-FFF2-40B4-BE49-F238E27FC236}">
                <a16:creationId xmlns:a16="http://schemas.microsoft.com/office/drawing/2014/main" xmlns="" id="{C608DE17-0CA1-4A35-A1C0-F241607AD519}"/>
              </a:ext>
            </a:extLst>
          </p:cNvPr>
          <p:cNvSpPr txBox="1"/>
          <p:nvPr/>
        </p:nvSpPr>
        <p:spPr>
          <a:xfrm>
            <a:off x="203200" y="961128"/>
            <a:ext cx="8826500" cy="461665"/>
          </a:xfrm>
          <a:prstGeom prst="rect">
            <a:avLst/>
          </a:prstGeom>
          <a:noFill/>
        </p:spPr>
        <p:txBody>
          <a:bodyPr wrap="square" rtlCol="0">
            <a:spAutoFit/>
          </a:bodyPr>
          <a:lstStyle/>
          <a:p>
            <a:pPr marL="457200" indent="-457200" algn="just">
              <a:buFont typeface="+mj-lt"/>
              <a:buAutoNum type="arabicPeriod" startAt="9"/>
            </a:pPr>
            <a:r>
              <a:rPr lang="en-IN" sz="2400" dirty="0"/>
              <a:t>Client’s OS gives message to client stub.</a:t>
            </a:r>
          </a:p>
        </p:txBody>
      </p:sp>
      <p:sp>
        <p:nvSpPr>
          <p:cNvPr id="53" name="TextBox 52">
            <a:extLst>
              <a:ext uri="{FF2B5EF4-FFF2-40B4-BE49-F238E27FC236}">
                <a16:creationId xmlns:a16="http://schemas.microsoft.com/office/drawing/2014/main" xmlns="" id="{D09EB20C-F955-47E4-9A10-BE0C5C37AE96}"/>
              </a:ext>
            </a:extLst>
          </p:cNvPr>
          <p:cNvSpPr txBox="1"/>
          <p:nvPr/>
        </p:nvSpPr>
        <p:spPr>
          <a:xfrm>
            <a:off x="127000" y="950633"/>
            <a:ext cx="8826500" cy="461665"/>
          </a:xfrm>
          <a:prstGeom prst="rect">
            <a:avLst/>
          </a:prstGeom>
          <a:noFill/>
        </p:spPr>
        <p:txBody>
          <a:bodyPr wrap="square" rtlCol="0">
            <a:spAutoFit/>
          </a:bodyPr>
          <a:lstStyle/>
          <a:p>
            <a:pPr marL="514350" indent="-514350" algn="just">
              <a:buFont typeface="+mj-lt"/>
              <a:buAutoNum type="arabicPeriod" startAt="10"/>
            </a:pPr>
            <a:r>
              <a:rPr lang="en-IN" sz="2400" dirty="0"/>
              <a:t>Stub unpacks result, returns to client.</a:t>
            </a:r>
          </a:p>
        </p:txBody>
      </p:sp>
    </p:spTree>
    <p:extLst>
      <p:ext uri="{BB962C8B-B14F-4D97-AF65-F5344CB8AC3E}">
        <p14:creationId xmlns:p14="http://schemas.microsoft.com/office/powerpoint/2010/main" val="332392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3">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6">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4">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41"/>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40"/>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par>
                                <p:cTn id="59" presetID="1" presetClass="exit" presetSubtype="0" fill="hold" grpId="1" nodeType="withEffect">
                                  <p:stCondLst>
                                    <p:cond delay="0"/>
                                  </p:stCondLst>
                                  <p:childTnLst>
                                    <p:set>
                                      <p:cBhvr>
                                        <p:cTn id="60" dur="1" fill="hold">
                                          <p:stCondLst>
                                            <p:cond delay="0"/>
                                          </p:stCondLst>
                                        </p:cTn>
                                        <p:tgtEl>
                                          <p:spTgt spid="49"/>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1" nodeType="clickEffect">
                                  <p:stCondLst>
                                    <p:cond delay="0"/>
                                  </p:stCondLst>
                                  <p:childTnLst>
                                    <p:set>
                                      <p:cBhvr>
                                        <p:cTn id="68" dur="1" fill="hold">
                                          <p:stCondLst>
                                            <p:cond delay="0"/>
                                          </p:stCondLst>
                                        </p:cTn>
                                        <p:tgtEl>
                                          <p:spTgt spid="42"/>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43"/>
                                        </p:tgtEl>
                                        <p:attrNameLst>
                                          <p:attrName>style.visibility</p:attrName>
                                        </p:attrNameLst>
                                      </p:cBhvr>
                                      <p:to>
                                        <p:strVal val="hidden"/>
                                      </p:to>
                                    </p:set>
                                  </p:childTnLst>
                                </p:cTn>
                              </p:par>
                              <p:par>
                                <p:cTn id="71" presetID="1" presetClass="entr" presetSubtype="0" fill="hold" grpId="0" nodeType="with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50"/>
                                        </p:tgtEl>
                                        <p:attrNameLst>
                                          <p:attrName>style.visibility</p:attrName>
                                        </p:attrNameLst>
                                      </p:cBhvr>
                                      <p:to>
                                        <p:strVal val="hidden"/>
                                      </p:to>
                                    </p:set>
                                  </p:childTnLst>
                                </p:cTn>
                              </p:par>
                              <p:par>
                                <p:cTn id="75" presetID="1" presetClass="entr" presetSubtype="0" fill="hold" grpId="0" nodeType="withEffect">
                                  <p:stCondLst>
                                    <p:cond delay="0"/>
                                  </p:stCondLst>
                                  <p:childTnLst>
                                    <p:set>
                                      <p:cBhvr>
                                        <p:cTn id="76" dur="1" fill="hold">
                                          <p:stCondLst>
                                            <p:cond delay="0"/>
                                          </p:stCondLst>
                                        </p:cTn>
                                        <p:tgtEl>
                                          <p:spTgt spid="5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37"/>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45"/>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par>
                                <p:cTn id="87" presetID="1" presetClass="exit" presetSubtype="0" fill="hold" grpId="1" nodeType="withEffect">
                                  <p:stCondLst>
                                    <p:cond delay="0"/>
                                  </p:stCondLst>
                                  <p:childTnLst>
                                    <p:set>
                                      <p:cBhvr>
                                        <p:cTn id="88" dur="1" fill="hold">
                                          <p:stCondLst>
                                            <p:cond delay="0"/>
                                          </p:stCondLst>
                                        </p:cTn>
                                        <p:tgtEl>
                                          <p:spTgt spid="51"/>
                                        </p:tgtEl>
                                        <p:attrNameLst>
                                          <p:attrName>style.visibility</p:attrName>
                                        </p:attrNameLst>
                                      </p:cBhvr>
                                      <p:to>
                                        <p:strVal val="hidden"/>
                                      </p:to>
                                    </p:set>
                                  </p:childTnLst>
                                </p:cTn>
                              </p:par>
                              <p:par>
                                <p:cTn id="89" presetID="1" presetClass="entr" presetSubtype="0" fill="hold" grpId="0" nodeType="withEffect">
                                  <p:stCondLst>
                                    <p:cond delay="0"/>
                                  </p:stCondLst>
                                  <p:childTnLst>
                                    <p:set>
                                      <p:cBhvr>
                                        <p:cTn id="90" dur="1" fill="hold">
                                          <p:stCondLst>
                                            <p:cond delay="0"/>
                                          </p:stCondLst>
                                        </p:cTn>
                                        <p:tgtEl>
                                          <p:spTgt spid="5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7"/>
                                        </p:tgtEl>
                                        <p:attrNameLst>
                                          <p:attrName>style.visibility</p:attrName>
                                        </p:attrNameLst>
                                      </p:cBhvr>
                                      <p:to>
                                        <p:strVal val="visible"/>
                                      </p:to>
                                    </p:set>
                                  </p:childTnLst>
                                </p:cTn>
                              </p:par>
                              <p:par>
                                <p:cTn id="97" presetID="1" presetClass="exit" presetSubtype="0" fill="hold" grpId="1" nodeType="withEffect">
                                  <p:stCondLst>
                                    <p:cond delay="0"/>
                                  </p:stCondLst>
                                  <p:childTnLst>
                                    <p:set>
                                      <p:cBhvr>
                                        <p:cTn id="98" dur="1" fill="hold">
                                          <p:stCondLst>
                                            <p:cond delay="0"/>
                                          </p:stCondLst>
                                        </p:cTn>
                                        <p:tgtEl>
                                          <p:spTgt spid="32"/>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46"/>
                                        </p:tgtEl>
                                        <p:attrNameLst>
                                          <p:attrName>style.visibility</p:attrName>
                                        </p:attrNameLst>
                                      </p:cBhvr>
                                      <p:to>
                                        <p:strVal val="visible"/>
                                      </p:to>
                                    </p:set>
                                  </p:childTnLst>
                                </p:cTn>
                              </p:par>
                              <p:par>
                                <p:cTn id="101" presetID="1" presetClass="exit" presetSubtype="0" fill="hold" grpId="1" nodeType="withEffect">
                                  <p:stCondLst>
                                    <p:cond delay="0"/>
                                  </p:stCondLst>
                                  <p:childTnLst>
                                    <p:set>
                                      <p:cBhvr>
                                        <p:cTn id="102" dur="1" fill="hold">
                                          <p:stCondLst>
                                            <p:cond delay="0"/>
                                          </p:stCondLst>
                                        </p:cTn>
                                        <p:tgtEl>
                                          <p:spTgt spid="48"/>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44"/>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52"/>
                                        </p:tgtEl>
                                        <p:attrNameLst>
                                          <p:attrName>style.visibility</p:attrName>
                                        </p:attrNameLst>
                                      </p:cBhvr>
                                      <p:to>
                                        <p:strVal val="hidden"/>
                                      </p:to>
                                    </p:set>
                                  </p:childTnLst>
                                </p:cTn>
                              </p:par>
                              <p:par>
                                <p:cTn id="107" presetID="1" presetClass="entr" presetSubtype="0" fill="hold" grpId="0" nodeType="withEffect">
                                  <p:stCondLst>
                                    <p:cond delay="0"/>
                                  </p:stCondLst>
                                  <p:childTnLst>
                                    <p:set>
                                      <p:cBhvr>
                                        <p:cTn id="108" dur="1" fill="hold">
                                          <p:stCondLst>
                                            <p:cond delay="0"/>
                                          </p:stCondLst>
                                        </p:cTn>
                                        <p:tgtEl>
                                          <p:spTgt spid="53"/>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grpId="1" nodeType="clickEffect">
                                  <p:stCondLst>
                                    <p:cond delay="0"/>
                                  </p:stCondLst>
                                  <p:childTnLst>
                                    <p:set>
                                      <p:cBhvr>
                                        <p:cTn id="112" dur="1" fill="hold">
                                          <p:stCondLst>
                                            <p:cond delay="0"/>
                                          </p:stCondLst>
                                        </p:cTn>
                                        <p:tgtEl>
                                          <p:spTgt spid="53"/>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2" grpId="1" animBg="1"/>
      <p:bldP spid="33" grpId="0" animBg="1"/>
      <p:bldP spid="34" grpId="0" animBg="1"/>
      <p:bldP spid="35" grpId="0" animBg="1"/>
      <p:bldP spid="36" grpId="0" animBg="1"/>
      <p:bldP spid="37" grpId="0" animBg="1"/>
      <p:bldP spid="37" grpId="1" animBg="1"/>
      <p:bldP spid="38" grpId="0" animBg="1"/>
      <p:bldP spid="39" grpId="0" animBg="1"/>
      <p:bldP spid="40" grpId="0" animBg="1"/>
      <p:bldP spid="40"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6" grpId="0" animBg="1"/>
      <p:bldP spid="47" grpId="0" animBg="1"/>
      <p:bldP spid="47" grpId="1" animBg="1"/>
      <p:bldP spid="48" grpId="0" animBg="1"/>
      <p:bldP spid="48" grpId="1" animBg="1"/>
      <p:bldP spid="49" grpId="0"/>
      <p:bldP spid="49" grpId="1"/>
      <p:bldP spid="50" grpId="0"/>
      <p:bldP spid="50" grpId="1"/>
      <p:bldP spid="51" grpId="0"/>
      <p:bldP spid="51" grpId="1"/>
      <p:bldP spid="52" grpId="0"/>
      <p:bldP spid="52" grpId="1"/>
      <p:bldP spid="53" grpId="0"/>
      <p:bldP spid="53" grpId="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Steps in a Remote Procedure Call</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457200" indent="-457200">
              <a:buFont typeface="+mj-lt"/>
              <a:buAutoNum type="arabicPeriod"/>
            </a:pPr>
            <a:r>
              <a:rPr lang="en-US" dirty="0"/>
              <a:t>The client </a:t>
            </a:r>
            <a:r>
              <a:rPr lang="en-US" dirty="0">
                <a:solidFill>
                  <a:schemeClr val="accent6"/>
                </a:solidFill>
              </a:rPr>
              <a:t>calls a local procedure,</a:t>
            </a:r>
            <a:r>
              <a:rPr lang="en-US" dirty="0"/>
              <a:t> called the </a:t>
            </a:r>
            <a:r>
              <a:rPr lang="en-US" dirty="0">
                <a:solidFill>
                  <a:schemeClr val="accent6"/>
                </a:solidFill>
              </a:rPr>
              <a:t>client stub. </a:t>
            </a:r>
          </a:p>
          <a:p>
            <a:pPr marL="457200" indent="-457200">
              <a:buFont typeface="+mj-lt"/>
              <a:buAutoNum type="arabicPeriod"/>
            </a:pPr>
            <a:r>
              <a:rPr lang="en-US" dirty="0"/>
              <a:t>Network messages are </a:t>
            </a:r>
            <a:r>
              <a:rPr lang="en-US" dirty="0">
                <a:solidFill>
                  <a:schemeClr val="accent6"/>
                </a:solidFill>
              </a:rPr>
              <a:t>sent by the client stub to the remote system</a:t>
            </a:r>
            <a:r>
              <a:rPr lang="en-US" b="1" dirty="0">
                <a:solidFill>
                  <a:schemeClr val="accent6"/>
                </a:solidFill>
              </a:rPr>
              <a:t> </a:t>
            </a:r>
            <a:r>
              <a:rPr lang="en-US" dirty="0"/>
              <a:t>(via a system call to the local kernel using </a:t>
            </a:r>
            <a:r>
              <a:rPr lang="en-US" i="1" dirty="0"/>
              <a:t>sockets</a:t>
            </a:r>
            <a:r>
              <a:rPr lang="en-US" dirty="0"/>
              <a:t> interfaces).</a:t>
            </a:r>
          </a:p>
          <a:p>
            <a:pPr marL="457200" indent="-457200">
              <a:buFont typeface="+mj-lt"/>
              <a:buAutoNum type="arabicPeriod"/>
            </a:pPr>
            <a:r>
              <a:rPr lang="en-US" dirty="0"/>
              <a:t>Network messages are</a:t>
            </a:r>
            <a:r>
              <a:rPr lang="en-US" dirty="0">
                <a:solidFill>
                  <a:srgbClr val="FF0000"/>
                </a:solidFill>
              </a:rPr>
              <a:t> </a:t>
            </a:r>
            <a:r>
              <a:rPr lang="en-US" dirty="0">
                <a:solidFill>
                  <a:schemeClr val="accent6"/>
                </a:solidFill>
              </a:rPr>
              <a:t>transferred by the kernel to the remote system</a:t>
            </a:r>
            <a:r>
              <a:rPr lang="en-US" b="1" dirty="0"/>
              <a:t> </a:t>
            </a:r>
            <a:r>
              <a:rPr lang="en-US" dirty="0"/>
              <a:t>via some protocol (either connectionless or connection-oriented).</a:t>
            </a:r>
          </a:p>
          <a:p>
            <a:pPr marL="457200" indent="-457200">
              <a:buFont typeface="+mj-lt"/>
              <a:buAutoNum type="arabicPeriod"/>
            </a:pPr>
            <a:r>
              <a:rPr lang="en-US" dirty="0"/>
              <a:t>A server stub, sometimes called the </a:t>
            </a:r>
            <a:r>
              <a:rPr lang="en-US" dirty="0">
                <a:solidFill>
                  <a:schemeClr val="accent6"/>
                </a:solidFill>
              </a:rPr>
              <a:t>skeleton, receives the messages on the server. </a:t>
            </a:r>
            <a:r>
              <a:rPr lang="en-US" dirty="0"/>
              <a:t>It </a:t>
            </a:r>
            <a:r>
              <a:rPr lang="en-US" dirty="0" err="1"/>
              <a:t>unmarshals</a:t>
            </a:r>
            <a:r>
              <a:rPr lang="en-US" dirty="0"/>
              <a:t> the arguments from the messages. </a:t>
            </a:r>
          </a:p>
          <a:p>
            <a:pPr marL="457200" indent="-457200">
              <a:buFont typeface="+mj-lt"/>
              <a:buAutoNum type="arabicPeriod"/>
            </a:pPr>
            <a:r>
              <a:rPr lang="en-US" dirty="0"/>
              <a:t>The server </a:t>
            </a:r>
            <a:r>
              <a:rPr lang="en-US" dirty="0">
                <a:solidFill>
                  <a:schemeClr val="accent6"/>
                </a:solidFill>
              </a:rPr>
              <a:t>stub calls the server function, </a:t>
            </a:r>
            <a:r>
              <a:rPr lang="en-US" dirty="0"/>
              <a:t>passing it the arguments that it received from the client</a:t>
            </a:r>
            <a:r>
              <a:rPr lang="en-US" dirty="0" smtClean="0"/>
              <a:t>.</a:t>
            </a:r>
          </a:p>
          <a:p>
            <a:pPr marL="457200" indent="-457200">
              <a:buFont typeface="+mj-lt"/>
              <a:buAutoNum type="arabicPeriod" startAt="6"/>
            </a:pPr>
            <a:r>
              <a:rPr lang="en-US" dirty="0"/>
              <a:t>When server function is finished, </a:t>
            </a:r>
            <a:r>
              <a:rPr lang="en-US" dirty="0">
                <a:solidFill>
                  <a:schemeClr val="accent6"/>
                </a:solidFill>
              </a:rPr>
              <a:t>it returns to the server stub </a:t>
            </a:r>
            <a:r>
              <a:rPr lang="en-US" dirty="0"/>
              <a:t>with its return values.</a:t>
            </a:r>
          </a:p>
          <a:p>
            <a:pPr marL="457200" indent="-457200">
              <a:buFont typeface="+mj-lt"/>
              <a:buAutoNum type="arabicPeriod" startAt="6"/>
            </a:pPr>
            <a:r>
              <a:rPr lang="en-US" dirty="0"/>
              <a:t>The server stub </a:t>
            </a:r>
            <a:r>
              <a:rPr lang="en-US" dirty="0">
                <a:solidFill>
                  <a:schemeClr val="accent6"/>
                </a:solidFill>
              </a:rPr>
              <a:t>converts the return values, </a:t>
            </a:r>
            <a:r>
              <a:rPr lang="en-US" dirty="0"/>
              <a:t>if necessary, and marshals them into one or more network messages to send to the client stub</a:t>
            </a:r>
            <a:r>
              <a:rPr lang="en-US" dirty="0" smtClean="0"/>
              <a:t>.</a:t>
            </a:r>
            <a:endParaRPr lang="en-US" dirty="0"/>
          </a:p>
        </p:txBody>
      </p:sp>
    </p:spTree>
    <p:extLst>
      <p:ext uri="{BB962C8B-B14F-4D97-AF65-F5344CB8AC3E}">
        <p14:creationId xmlns:p14="http://schemas.microsoft.com/office/powerpoint/2010/main" val="1343538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Steps in a Remote Procedure Call</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457200" indent="-457200">
              <a:buFont typeface="+mj-lt"/>
              <a:buAutoNum type="arabicPeriod" startAt="8"/>
            </a:pPr>
            <a:r>
              <a:rPr lang="en-US" dirty="0" smtClean="0"/>
              <a:t>Messages </a:t>
            </a:r>
            <a:r>
              <a:rPr lang="en-US" dirty="0">
                <a:solidFill>
                  <a:schemeClr val="accent6"/>
                </a:solidFill>
              </a:rPr>
              <a:t>get sent back across the network </a:t>
            </a:r>
            <a:r>
              <a:rPr lang="en-US" dirty="0"/>
              <a:t>to the client stub.</a:t>
            </a:r>
          </a:p>
          <a:p>
            <a:pPr marL="457200" indent="-457200">
              <a:buFont typeface="+mj-lt"/>
              <a:buAutoNum type="arabicPeriod" startAt="8"/>
            </a:pPr>
            <a:r>
              <a:rPr lang="en-US" dirty="0"/>
              <a:t>The client stub </a:t>
            </a:r>
            <a:r>
              <a:rPr lang="en-US" dirty="0">
                <a:solidFill>
                  <a:schemeClr val="accent6"/>
                </a:solidFill>
              </a:rPr>
              <a:t>reads the messages</a:t>
            </a:r>
            <a:r>
              <a:rPr lang="en-US" b="1" dirty="0">
                <a:solidFill>
                  <a:schemeClr val="accent6"/>
                </a:solidFill>
              </a:rPr>
              <a:t> </a:t>
            </a:r>
            <a:r>
              <a:rPr lang="en-US" dirty="0"/>
              <a:t>from the local kernel.</a:t>
            </a:r>
          </a:p>
          <a:p>
            <a:pPr marL="457200" indent="-457200">
              <a:buFont typeface="+mj-lt"/>
              <a:buAutoNum type="arabicPeriod" startAt="8"/>
            </a:pPr>
            <a:r>
              <a:rPr lang="en-US" dirty="0"/>
              <a:t>The client stub then </a:t>
            </a:r>
            <a:r>
              <a:rPr lang="en-US" dirty="0">
                <a:solidFill>
                  <a:schemeClr val="accent6"/>
                </a:solidFill>
              </a:rPr>
              <a:t>returns the results to the client function, </a:t>
            </a:r>
            <a:r>
              <a:rPr lang="en-US" dirty="0"/>
              <a:t>converting them from the network representation to a local one if necessary</a:t>
            </a:r>
            <a:r>
              <a:rPr lang="en-US" dirty="0" smtClean="0"/>
              <a:t>.</a:t>
            </a:r>
            <a:endParaRPr lang="en-US" dirty="0"/>
          </a:p>
        </p:txBody>
      </p:sp>
    </p:spTree>
    <p:extLst>
      <p:ext uri="{BB962C8B-B14F-4D97-AF65-F5344CB8AC3E}">
        <p14:creationId xmlns:p14="http://schemas.microsoft.com/office/powerpoint/2010/main" val="427706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Server Management</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lvl="1" indent="0">
              <a:spcBef>
                <a:spcPts val="1000"/>
              </a:spcBef>
              <a:buNone/>
            </a:pPr>
            <a:r>
              <a:rPr lang="en-US" sz="2800" b="1" dirty="0" err="1">
                <a:solidFill>
                  <a:srgbClr val="1D3064"/>
                </a:solidFill>
              </a:rPr>
              <a:t>Stateful</a:t>
            </a:r>
            <a:r>
              <a:rPr lang="en-US" sz="2800" b="1" dirty="0">
                <a:solidFill>
                  <a:srgbClr val="1D3064"/>
                </a:solidFill>
              </a:rPr>
              <a:t> File Servers</a:t>
            </a:r>
          </a:p>
          <a:p>
            <a:r>
              <a:rPr lang="en-US" dirty="0"/>
              <a:t>A </a:t>
            </a:r>
            <a:r>
              <a:rPr lang="en-US" dirty="0" err="1"/>
              <a:t>stateful</a:t>
            </a:r>
            <a:r>
              <a:rPr lang="en-US" dirty="0"/>
              <a:t> server </a:t>
            </a:r>
            <a:r>
              <a:rPr lang="en-US" dirty="0">
                <a:solidFill>
                  <a:schemeClr val="accent6"/>
                </a:solidFill>
              </a:rPr>
              <a:t>maintains client’s state information </a:t>
            </a:r>
            <a:r>
              <a:rPr lang="en-US" dirty="0"/>
              <a:t>from one remote procedure call to the next.</a:t>
            </a:r>
          </a:p>
          <a:p>
            <a:r>
              <a:rPr lang="en-US" dirty="0"/>
              <a:t>These clients state information is subsequently used at the time of executing the second call.</a:t>
            </a:r>
          </a:p>
          <a:p>
            <a:r>
              <a:rPr lang="en-US" dirty="0"/>
              <a:t>To illustrate how a </a:t>
            </a:r>
            <a:r>
              <a:rPr lang="en-US" dirty="0" err="1"/>
              <a:t>stateful</a:t>
            </a:r>
            <a:r>
              <a:rPr lang="en-US" dirty="0"/>
              <a:t> file server works, let us consider a file server for byte-stream files that allows the following operations on files:</a:t>
            </a:r>
          </a:p>
          <a:p>
            <a:pPr lvl="1">
              <a:buFont typeface="Wingdings" panose="05000000000000000000" pitchFamily="2" charset="2"/>
              <a:buChar char="§"/>
            </a:pPr>
            <a:r>
              <a:rPr lang="en-IN" sz="2400" dirty="0">
                <a:solidFill>
                  <a:srgbClr val="1D3064"/>
                </a:solidFill>
              </a:rPr>
              <a:t>Open(filename, mode)</a:t>
            </a:r>
          </a:p>
          <a:p>
            <a:pPr lvl="1">
              <a:buFont typeface="Wingdings" panose="05000000000000000000" pitchFamily="2" charset="2"/>
              <a:buChar char="§"/>
            </a:pPr>
            <a:r>
              <a:rPr lang="en-IN" sz="2400" dirty="0">
                <a:solidFill>
                  <a:srgbClr val="1D3064"/>
                </a:solidFill>
              </a:rPr>
              <a:t>Read(fid, n, buffer)</a:t>
            </a:r>
          </a:p>
          <a:p>
            <a:pPr lvl="1">
              <a:buFont typeface="Wingdings" panose="05000000000000000000" pitchFamily="2" charset="2"/>
              <a:buChar char="§"/>
            </a:pPr>
            <a:r>
              <a:rPr lang="en-IN" sz="2400" dirty="0">
                <a:solidFill>
                  <a:srgbClr val="1D3064"/>
                </a:solidFill>
              </a:rPr>
              <a:t>Write(fid, n, buffer)</a:t>
            </a:r>
          </a:p>
          <a:p>
            <a:pPr lvl="1">
              <a:buFont typeface="Wingdings" panose="05000000000000000000" pitchFamily="2" charset="2"/>
              <a:buChar char="§"/>
            </a:pPr>
            <a:r>
              <a:rPr lang="en-IN" sz="2400" dirty="0">
                <a:solidFill>
                  <a:srgbClr val="1D3064"/>
                </a:solidFill>
              </a:rPr>
              <a:t>Seek(fid, position)</a:t>
            </a:r>
          </a:p>
          <a:p>
            <a:pPr lvl="1">
              <a:buFont typeface="Wingdings" panose="05000000000000000000" pitchFamily="2" charset="2"/>
              <a:buChar char="§"/>
            </a:pPr>
            <a:r>
              <a:rPr lang="en-IN" sz="2400" dirty="0">
                <a:solidFill>
                  <a:srgbClr val="1D3064"/>
                </a:solidFill>
              </a:rPr>
              <a:t>Close(fid</a:t>
            </a:r>
            <a:r>
              <a:rPr lang="en-IN" sz="2400" dirty="0" smtClean="0">
                <a:solidFill>
                  <a:srgbClr val="1D3064"/>
                </a:solidFill>
              </a:rPr>
              <a:t>)</a:t>
            </a:r>
            <a:endParaRPr lang="en-US" sz="2400" dirty="0" smtClean="0"/>
          </a:p>
        </p:txBody>
      </p:sp>
    </p:spTree>
    <p:extLst>
      <p:ext uri="{BB962C8B-B14F-4D97-AF65-F5344CB8AC3E}">
        <p14:creationId xmlns:p14="http://schemas.microsoft.com/office/powerpoint/2010/main" val="1315132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err="1"/>
              <a:t>Stateful</a:t>
            </a:r>
            <a:r>
              <a:rPr lang="en-US" dirty="0"/>
              <a:t> File Server</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a:t>After opening a file, if a client makes two subsequent Read (fid, 100, </a:t>
            </a:r>
            <a:r>
              <a:rPr lang="en-US" dirty="0" err="1"/>
              <a:t>buf</a:t>
            </a:r>
            <a:r>
              <a:rPr lang="en-US" dirty="0"/>
              <a:t>) requests, for the first request the first 100 bytes (bytes 0 to 99) will be read and for the second request the next 100 bytes (bytes 100 to 199) will be read.</a:t>
            </a:r>
          </a:p>
        </p:txBody>
      </p:sp>
      <p:graphicFrame>
        <p:nvGraphicFramePr>
          <p:cNvPr id="4" name="Content Placeholder 23"/>
          <p:cNvGraphicFramePr>
            <a:graphicFrameLocks/>
          </p:cNvGraphicFramePr>
          <p:nvPr>
            <p:extLst>
              <p:ext uri="{D42A27DB-BD31-4B8C-83A1-F6EECF244321}">
                <p14:modId xmlns:p14="http://schemas.microsoft.com/office/powerpoint/2010/main" val="872070330"/>
              </p:ext>
            </p:extLst>
          </p:nvPr>
        </p:nvGraphicFramePr>
        <p:xfrm>
          <a:off x="7793628" y="1646346"/>
          <a:ext cx="2021884" cy="1835041"/>
        </p:xfrm>
        <a:graphic>
          <a:graphicData uri="http://schemas.openxmlformats.org/drawingml/2006/table">
            <a:tbl>
              <a:tblPr firstRow="1" bandRow="1">
                <a:tableStyleId>{5C22544A-7EE6-4342-B048-85BDC9FD1C3A}</a:tableStyleId>
              </a:tblPr>
              <a:tblGrid>
                <a:gridCol w="532970">
                  <a:extLst>
                    <a:ext uri="{9D8B030D-6E8A-4147-A177-3AD203B41FA5}">
                      <a16:colId xmlns:a16="http://schemas.microsoft.com/office/drawing/2014/main" xmlns="" val="907670599"/>
                    </a:ext>
                  </a:extLst>
                </a:gridCol>
                <a:gridCol w="650714">
                  <a:extLst>
                    <a:ext uri="{9D8B030D-6E8A-4147-A177-3AD203B41FA5}">
                      <a16:colId xmlns:a16="http://schemas.microsoft.com/office/drawing/2014/main" xmlns="" val="1724604480"/>
                    </a:ext>
                  </a:extLst>
                </a:gridCol>
                <a:gridCol w="838200">
                  <a:extLst>
                    <a:ext uri="{9D8B030D-6E8A-4147-A177-3AD203B41FA5}">
                      <a16:colId xmlns:a16="http://schemas.microsoft.com/office/drawing/2014/main" xmlns="" val="3944617729"/>
                    </a:ext>
                  </a:extLst>
                </a:gridCol>
              </a:tblGrid>
              <a:tr h="453073">
                <a:tc>
                  <a:txBody>
                    <a:bodyPr/>
                    <a:lstStyle/>
                    <a:p>
                      <a:r>
                        <a:rPr lang="en-US" sz="1400" dirty="0">
                          <a:solidFill>
                            <a:schemeClr val="tx1"/>
                          </a:solidFill>
                        </a:rPr>
                        <a:t>Fid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Mode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R/w</a:t>
                      </a:r>
                    </a:p>
                    <a:p>
                      <a:r>
                        <a:rPr lang="en-US" sz="1400" dirty="0">
                          <a:solidFill>
                            <a:schemeClr val="tx1"/>
                          </a:solidFill>
                        </a:rPr>
                        <a:t>Pointer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552805484"/>
                  </a:ext>
                </a:extLst>
              </a:tr>
              <a:tr h="131688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55745921"/>
                  </a:ext>
                </a:extLst>
              </a:tr>
            </a:tbl>
          </a:graphicData>
        </a:graphic>
      </p:graphicFrame>
      <p:sp>
        <p:nvSpPr>
          <p:cNvPr id="5" name="Rectangle 4"/>
          <p:cNvSpPr/>
          <p:nvPr/>
        </p:nvSpPr>
        <p:spPr>
          <a:xfrm>
            <a:off x="1773828" y="966788"/>
            <a:ext cx="2707684" cy="274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7224712" y="972475"/>
            <a:ext cx="2819400" cy="274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164925" y="981016"/>
            <a:ext cx="1978427" cy="461665"/>
          </a:xfrm>
          <a:prstGeom prst="rect">
            <a:avLst/>
          </a:prstGeom>
          <a:noFill/>
        </p:spPr>
        <p:txBody>
          <a:bodyPr wrap="none" rtlCol="0">
            <a:spAutoFit/>
          </a:bodyPr>
          <a:lstStyle/>
          <a:p>
            <a:r>
              <a:rPr lang="en-US" sz="2400" b="1" dirty="0">
                <a:solidFill>
                  <a:schemeClr val="tx2"/>
                </a:solidFill>
              </a:rPr>
              <a:t>Client Process</a:t>
            </a:r>
          </a:p>
        </p:txBody>
      </p:sp>
      <p:sp>
        <p:nvSpPr>
          <p:cNvPr id="8" name="TextBox 7"/>
          <p:cNvSpPr txBox="1"/>
          <p:nvPr/>
        </p:nvSpPr>
        <p:spPr>
          <a:xfrm>
            <a:off x="7643435" y="966788"/>
            <a:ext cx="2058577" cy="461665"/>
          </a:xfrm>
          <a:prstGeom prst="rect">
            <a:avLst/>
          </a:prstGeom>
          <a:noFill/>
        </p:spPr>
        <p:txBody>
          <a:bodyPr wrap="none" rtlCol="0">
            <a:spAutoFit/>
          </a:bodyPr>
          <a:lstStyle/>
          <a:p>
            <a:r>
              <a:rPr lang="en-US" sz="2400" b="1" dirty="0">
                <a:solidFill>
                  <a:schemeClr val="tx2"/>
                </a:solidFill>
              </a:rPr>
              <a:t>Server Process</a:t>
            </a:r>
          </a:p>
        </p:txBody>
      </p:sp>
      <p:cxnSp>
        <p:nvCxnSpPr>
          <p:cNvPr id="9" name="Straight Arrow Connector 8"/>
          <p:cNvCxnSpPr/>
          <p:nvPr/>
        </p:nvCxnSpPr>
        <p:spPr>
          <a:xfrm>
            <a:off x="3948112" y="1480857"/>
            <a:ext cx="376931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948112" y="2262188"/>
            <a:ext cx="376931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3960752" y="2643188"/>
            <a:ext cx="375667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3948112" y="1857285"/>
            <a:ext cx="375667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710112" y="1093226"/>
            <a:ext cx="2315057" cy="369332"/>
          </a:xfrm>
          <a:prstGeom prst="rect">
            <a:avLst/>
          </a:prstGeom>
          <a:noFill/>
        </p:spPr>
        <p:txBody>
          <a:bodyPr wrap="none" rtlCol="0">
            <a:spAutoFit/>
          </a:bodyPr>
          <a:lstStyle/>
          <a:p>
            <a:r>
              <a:rPr lang="en-US" dirty="0"/>
              <a:t>Open(filename, mode)</a:t>
            </a:r>
          </a:p>
        </p:txBody>
      </p:sp>
      <p:sp>
        <p:nvSpPr>
          <p:cNvPr id="14" name="TextBox 13"/>
          <p:cNvSpPr txBox="1"/>
          <p:nvPr/>
        </p:nvSpPr>
        <p:spPr>
          <a:xfrm>
            <a:off x="5249645" y="1511289"/>
            <a:ext cx="1206933" cy="369332"/>
          </a:xfrm>
          <a:prstGeom prst="rect">
            <a:avLst/>
          </a:prstGeom>
          <a:noFill/>
        </p:spPr>
        <p:txBody>
          <a:bodyPr wrap="none" rtlCol="0">
            <a:spAutoFit/>
          </a:bodyPr>
          <a:lstStyle/>
          <a:p>
            <a:r>
              <a:rPr lang="en-US" dirty="0"/>
              <a:t>Return(fid)</a:t>
            </a:r>
          </a:p>
        </p:txBody>
      </p:sp>
      <p:sp>
        <p:nvSpPr>
          <p:cNvPr id="15" name="TextBox 14"/>
          <p:cNvSpPr txBox="1"/>
          <p:nvPr/>
        </p:nvSpPr>
        <p:spPr>
          <a:xfrm>
            <a:off x="4862512" y="1887021"/>
            <a:ext cx="1929695" cy="369332"/>
          </a:xfrm>
          <a:prstGeom prst="rect">
            <a:avLst/>
          </a:prstGeom>
          <a:noFill/>
        </p:spPr>
        <p:txBody>
          <a:bodyPr wrap="none" rtlCol="0">
            <a:spAutoFit/>
          </a:bodyPr>
          <a:lstStyle/>
          <a:p>
            <a:r>
              <a:rPr lang="en-US" dirty="0"/>
              <a:t>Read(fid, 100, buf)</a:t>
            </a:r>
          </a:p>
        </p:txBody>
      </p:sp>
      <p:sp>
        <p:nvSpPr>
          <p:cNvPr id="16" name="TextBox 15"/>
          <p:cNvSpPr txBox="1"/>
          <p:nvPr/>
        </p:nvSpPr>
        <p:spPr>
          <a:xfrm>
            <a:off x="4769605" y="2268021"/>
            <a:ext cx="2226507" cy="369332"/>
          </a:xfrm>
          <a:prstGeom prst="rect">
            <a:avLst/>
          </a:prstGeom>
          <a:noFill/>
        </p:spPr>
        <p:txBody>
          <a:bodyPr wrap="none" rtlCol="0">
            <a:spAutoFit/>
          </a:bodyPr>
          <a:lstStyle/>
          <a:p>
            <a:r>
              <a:rPr lang="en-US" dirty="0"/>
              <a:t>Return (bytes 0 to 99)</a:t>
            </a:r>
          </a:p>
        </p:txBody>
      </p:sp>
      <p:sp>
        <p:nvSpPr>
          <p:cNvPr id="17" name="TextBox 16"/>
          <p:cNvSpPr txBox="1"/>
          <p:nvPr/>
        </p:nvSpPr>
        <p:spPr>
          <a:xfrm>
            <a:off x="4557712" y="3072915"/>
            <a:ext cx="2577565" cy="369332"/>
          </a:xfrm>
          <a:prstGeom prst="rect">
            <a:avLst/>
          </a:prstGeom>
          <a:noFill/>
        </p:spPr>
        <p:txBody>
          <a:bodyPr wrap="none" rtlCol="0">
            <a:spAutoFit/>
          </a:bodyPr>
          <a:lstStyle/>
          <a:p>
            <a:r>
              <a:rPr lang="en-US" dirty="0"/>
              <a:t>Return (bytes 100 to 199)</a:t>
            </a:r>
          </a:p>
        </p:txBody>
      </p:sp>
      <p:sp>
        <p:nvSpPr>
          <p:cNvPr id="18" name="TextBox 17"/>
          <p:cNvSpPr txBox="1"/>
          <p:nvPr/>
        </p:nvSpPr>
        <p:spPr>
          <a:xfrm>
            <a:off x="8291512" y="1284123"/>
            <a:ext cx="958917" cy="338554"/>
          </a:xfrm>
          <a:prstGeom prst="rect">
            <a:avLst/>
          </a:prstGeom>
          <a:noFill/>
        </p:spPr>
        <p:txBody>
          <a:bodyPr wrap="none" rtlCol="0">
            <a:spAutoFit/>
          </a:bodyPr>
          <a:lstStyle/>
          <a:p>
            <a:r>
              <a:rPr lang="en-US" sz="1600" dirty="0"/>
              <a:t>File Table</a:t>
            </a:r>
          </a:p>
        </p:txBody>
      </p:sp>
      <p:cxnSp>
        <p:nvCxnSpPr>
          <p:cNvPr id="19" name="Straight Arrow Connector 18"/>
          <p:cNvCxnSpPr/>
          <p:nvPr/>
        </p:nvCxnSpPr>
        <p:spPr>
          <a:xfrm>
            <a:off x="3948112" y="3020054"/>
            <a:ext cx="376931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862512" y="2677153"/>
            <a:ext cx="1929695" cy="369332"/>
          </a:xfrm>
          <a:prstGeom prst="rect">
            <a:avLst/>
          </a:prstGeom>
          <a:noFill/>
        </p:spPr>
        <p:txBody>
          <a:bodyPr wrap="none" rtlCol="0">
            <a:spAutoFit/>
          </a:bodyPr>
          <a:lstStyle/>
          <a:p>
            <a:r>
              <a:rPr lang="en-US" dirty="0"/>
              <a:t>Read(fid, 100, buf)</a:t>
            </a:r>
          </a:p>
        </p:txBody>
      </p:sp>
      <p:cxnSp>
        <p:nvCxnSpPr>
          <p:cNvPr id="21" name="Straight Arrow Connector 20"/>
          <p:cNvCxnSpPr/>
          <p:nvPr/>
        </p:nvCxnSpPr>
        <p:spPr>
          <a:xfrm flipH="1">
            <a:off x="3960752" y="3442247"/>
            <a:ext cx="375667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3804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500"/>
                                        <p:tgtEl>
                                          <p:spTgt spid="6"/>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up)">
                                      <p:cBhvr>
                                        <p:cTn id="13" dur="500"/>
                                        <p:tgtEl>
                                          <p:spTgt spid="18"/>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500"/>
                                        <p:tgtEl>
                                          <p:spTgt spid="8"/>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par>
                                <p:cTn id="20" presetID="22" presetClass="entr" presetSubtype="1"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right)">
                                      <p:cBhvr>
                                        <p:cTn id="35" dur="500"/>
                                        <p:tgtEl>
                                          <p:spTgt spid="14"/>
                                        </p:tgtEl>
                                      </p:cBhvr>
                                    </p:animEffect>
                                  </p:childTnLst>
                                </p:cTn>
                              </p:par>
                              <p:par>
                                <p:cTn id="36" presetID="22" presetClass="entr" presetSubtype="2"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righ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par>
                                <p:cTn id="44" presetID="22" presetClass="entr" presetSubtype="8"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right)">
                                      <p:cBhvr>
                                        <p:cTn id="51" dur="500"/>
                                        <p:tgtEl>
                                          <p:spTgt spid="16"/>
                                        </p:tgtEl>
                                      </p:cBhvr>
                                    </p:animEffect>
                                  </p:childTnLst>
                                </p:cTn>
                              </p:par>
                              <p:par>
                                <p:cTn id="52" presetID="22" presetClass="entr" presetSubtype="2" fill="hold"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right)">
                                      <p:cBhvr>
                                        <p:cTn id="54" dur="5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500"/>
                                        <p:tgtEl>
                                          <p:spTgt spid="20"/>
                                        </p:tgtEl>
                                      </p:cBhvr>
                                    </p:animEffect>
                                  </p:childTnLst>
                                </p:cTn>
                              </p:par>
                              <p:par>
                                <p:cTn id="60" presetID="22" presetClass="entr" presetSubtype="8" fill="hold"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wipe(left)">
                                      <p:cBhvr>
                                        <p:cTn id="62" dur="500"/>
                                        <p:tgtEl>
                                          <p:spTgt spid="1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2"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right)">
                                      <p:cBhvr>
                                        <p:cTn id="67" dur="500"/>
                                        <p:tgtEl>
                                          <p:spTgt spid="17"/>
                                        </p:tgtEl>
                                      </p:cBhvr>
                                    </p:animEffect>
                                  </p:childTnLst>
                                </p:cTn>
                              </p:par>
                              <p:par>
                                <p:cTn id="68" presetID="22" presetClass="entr" presetSubtype="2" fill="hold"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wipe(right)">
                                      <p:cBhvr>
                                        <p:cTn id="70" dur="500"/>
                                        <p:tgtEl>
                                          <p:spTgt spid="21"/>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13" grpId="0"/>
      <p:bldP spid="14" grpId="0"/>
      <p:bldP spid="15" grpId="0"/>
      <p:bldP spid="16" grpId="0"/>
      <p:bldP spid="17" grpId="0"/>
      <p:bldP spid="18" grpId="0"/>
      <p:bldP spid="20"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Stateless File Server</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8000"/>
              </a:lnSpc>
            </a:pPr>
            <a:r>
              <a:rPr lang="en-US" dirty="0"/>
              <a:t>A stateless file server </a:t>
            </a:r>
            <a:r>
              <a:rPr lang="en-US" dirty="0">
                <a:solidFill>
                  <a:schemeClr val="accent6"/>
                </a:solidFill>
              </a:rPr>
              <a:t>does not maintain any client state information.</a:t>
            </a:r>
          </a:p>
          <a:p>
            <a:pPr>
              <a:lnSpc>
                <a:spcPct val="108000"/>
              </a:lnSpc>
            </a:pPr>
            <a:r>
              <a:rPr lang="en-US" dirty="0"/>
              <a:t>Therefore every request from a client must be accompanied with all the necessary parameters to successfully carry out the desired operation.</a:t>
            </a:r>
          </a:p>
          <a:p>
            <a:pPr>
              <a:lnSpc>
                <a:spcPct val="108000"/>
              </a:lnSpc>
            </a:pPr>
            <a:r>
              <a:rPr lang="en-US" dirty="0"/>
              <a:t>Each request identifies the file and the position in the file for the read/write access.</a:t>
            </a:r>
          </a:p>
          <a:p>
            <a:pPr>
              <a:lnSpc>
                <a:spcPct val="108000"/>
              </a:lnSpc>
            </a:pPr>
            <a:r>
              <a:rPr lang="en-US" dirty="0"/>
              <a:t>Operations on files in Stateless File server</a:t>
            </a:r>
            <a:r>
              <a:rPr lang="en-US" dirty="0" smtClean="0"/>
              <a:t>:</a:t>
            </a:r>
            <a:endParaRPr lang="en-US" dirty="0"/>
          </a:p>
          <a:p>
            <a:pPr lvl="1">
              <a:buFont typeface="Wingdings" panose="05000000000000000000" pitchFamily="2" charset="2"/>
              <a:buChar char="§"/>
            </a:pPr>
            <a:r>
              <a:rPr lang="en-US" sz="2400" i="1" dirty="0">
                <a:solidFill>
                  <a:srgbClr val="1D3064"/>
                </a:solidFill>
              </a:rPr>
              <a:t>Read(filename, position, n, buffer): </a:t>
            </a:r>
            <a:r>
              <a:rPr lang="en-US" sz="2400" dirty="0"/>
              <a:t>On execution, the server returns n bytes of data of the file identified by filename.</a:t>
            </a:r>
          </a:p>
          <a:p>
            <a:pPr lvl="1">
              <a:buFont typeface="Wingdings" panose="05000000000000000000" pitchFamily="2" charset="2"/>
              <a:buChar char="§"/>
            </a:pPr>
            <a:r>
              <a:rPr lang="en-US" sz="2400" i="1" dirty="0">
                <a:solidFill>
                  <a:srgbClr val="1D3064"/>
                </a:solidFill>
              </a:rPr>
              <a:t>Write(filename, position, n, buffer): </a:t>
            </a:r>
            <a:r>
              <a:rPr lang="en-US" sz="2400" dirty="0"/>
              <a:t>On execution, it takes n bytes of data from the specified buffer and writes it into the file identified by filename.</a:t>
            </a:r>
          </a:p>
        </p:txBody>
      </p:sp>
    </p:spTree>
    <p:extLst>
      <p:ext uri="{BB962C8B-B14F-4D97-AF65-F5344CB8AC3E}">
        <p14:creationId xmlns:p14="http://schemas.microsoft.com/office/powerpoint/2010/main" val="1329692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Stateless File Server</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endParaRPr lang="en-US" dirty="0" smtClean="0"/>
          </a:p>
          <a:p>
            <a:endParaRPr lang="en-US" dirty="0"/>
          </a:p>
          <a:p>
            <a:endParaRPr lang="en-US" dirty="0" smtClean="0"/>
          </a:p>
          <a:p>
            <a:endParaRPr lang="en-US" dirty="0"/>
          </a:p>
          <a:p>
            <a:endParaRPr lang="en-US" dirty="0" smtClean="0"/>
          </a:p>
          <a:p>
            <a:endParaRPr lang="en-US" dirty="0"/>
          </a:p>
          <a:p>
            <a:pPr>
              <a:lnSpc>
                <a:spcPct val="110000"/>
              </a:lnSpc>
            </a:pPr>
            <a:r>
              <a:rPr lang="en-US" dirty="0" smtClean="0"/>
              <a:t>This </a:t>
            </a:r>
            <a:r>
              <a:rPr lang="en-US" dirty="0"/>
              <a:t>file server does not keep track of any file state information resulting from a previous operation. </a:t>
            </a:r>
          </a:p>
          <a:p>
            <a:pPr>
              <a:lnSpc>
                <a:spcPct val="110000"/>
              </a:lnSpc>
            </a:pPr>
            <a:r>
              <a:rPr lang="en-US" dirty="0"/>
              <a:t>Therefore, if a client wishes to have similar effect as previous figure, the following two read operations must be carried out:</a:t>
            </a:r>
          </a:p>
          <a:p>
            <a:pPr lvl="1">
              <a:lnSpc>
                <a:spcPct val="110000"/>
              </a:lnSpc>
            </a:pPr>
            <a:r>
              <a:rPr lang="en-US" sz="2400" dirty="0"/>
              <a:t>Read(filename, 0, 100, buffer)</a:t>
            </a:r>
          </a:p>
          <a:p>
            <a:pPr lvl="1">
              <a:lnSpc>
                <a:spcPct val="110000"/>
              </a:lnSpc>
            </a:pPr>
            <a:r>
              <a:rPr lang="en-US" sz="2400" dirty="0"/>
              <a:t>Read(filename, 100, 100, buffer)</a:t>
            </a:r>
          </a:p>
        </p:txBody>
      </p:sp>
      <p:sp>
        <p:nvSpPr>
          <p:cNvPr id="22" name="Rectangle 21"/>
          <p:cNvSpPr/>
          <p:nvPr/>
        </p:nvSpPr>
        <p:spPr>
          <a:xfrm>
            <a:off x="1859554" y="838194"/>
            <a:ext cx="2707684" cy="274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310438" y="843881"/>
            <a:ext cx="2819400" cy="274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2188402" y="838194"/>
            <a:ext cx="1978427" cy="461665"/>
          </a:xfrm>
          <a:prstGeom prst="rect">
            <a:avLst/>
          </a:prstGeom>
          <a:noFill/>
        </p:spPr>
        <p:txBody>
          <a:bodyPr wrap="none" rtlCol="0">
            <a:spAutoFit/>
          </a:bodyPr>
          <a:lstStyle/>
          <a:p>
            <a:r>
              <a:rPr lang="en-US" sz="2400" b="1" dirty="0">
                <a:solidFill>
                  <a:schemeClr val="tx2"/>
                </a:solidFill>
              </a:rPr>
              <a:t>Client Process</a:t>
            </a:r>
          </a:p>
        </p:txBody>
      </p:sp>
      <p:sp>
        <p:nvSpPr>
          <p:cNvPr id="25" name="TextBox 24"/>
          <p:cNvSpPr txBox="1"/>
          <p:nvPr/>
        </p:nvSpPr>
        <p:spPr>
          <a:xfrm>
            <a:off x="7698903" y="894789"/>
            <a:ext cx="2058577" cy="461665"/>
          </a:xfrm>
          <a:prstGeom prst="rect">
            <a:avLst/>
          </a:prstGeom>
          <a:noFill/>
        </p:spPr>
        <p:txBody>
          <a:bodyPr wrap="none" rtlCol="0">
            <a:spAutoFit/>
          </a:bodyPr>
          <a:lstStyle/>
          <a:p>
            <a:r>
              <a:rPr lang="en-US" sz="2400" b="1" dirty="0">
                <a:solidFill>
                  <a:schemeClr val="tx2"/>
                </a:solidFill>
              </a:rPr>
              <a:t>Server Process</a:t>
            </a:r>
          </a:p>
        </p:txBody>
      </p:sp>
      <p:cxnSp>
        <p:nvCxnSpPr>
          <p:cNvPr id="26" name="Straight Arrow Connector 25"/>
          <p:cNvCxnSpPr/>
          <p:nvPr/>
        </p:nvCxnSpPr>
        <p:spPr>
          <a:xfrm>
            <a:off x="4033838" y="1518161"/>
            <a:ext cx="376931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4046478" y="2127761"/>
            <a:ext cx="375667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643438" y="1142994"/>
            <a:ext cx="2683107" cy="369332"/>
          </a:xfrm>
          <a:prstGeom prst="rect">
            <a:avLst/>
          </a:prstGeom>
          <a:noFill/>
        </p:spPr>
        <p:txBody>
          <a:bodyPr wrap="none" rtlCol="0">
            <a:spAutoFit/>
          </a:bodyPr>
          <a:lstStyle/>
          <a:p>
            <a:r>
              <a:rPr lang="en-US" dirty="0"/>
              <a:t>Read(filename,0, 100, buf)</a:t>
            </a:r>
          </a:p>
        </p:txBody>
      </p:sp>
      <p:sp>
        <p:nvSpPr>
          <p:cNvPr id="29" name="TextBox 28"/>
          <p:cNvSpPr txBox="1"/>
          <p:nvPr/>
        </p:nvSpPr>
        <p:spPr>
          <a:xfrm>
            <a:off x="4855331" y="1752594"/>
            <a:ext cx="2226507" cy="369332"/>
          </a:xfrm>
          <a:prstGeom prst="rect">
            <a:avLst/>
          </a:prstGeom>
          <a:noFill/>
        </p:spPr>
        <p:txBody>
          <a:bodyPr wrap="none" rtlCol="0">
            <a:spAutoFit/>
          </a:bodyPr>
          <a:lstStyle/>
          <a:p>
            <a:r>
              <a:rPr lang="en-US" dirty="0"/>
              <a:t>Return (bytes 0 to 99)</a:t>
            </a:r>
          </a:p>
        </p:txBody>
      </p:sp>
      <p:sp>
        <p:nvSpPr>
          <p:cNvPr id="30" name="TextBox 29"/>
          <p:cNvSpPr txBox="1"/>
          <p:nvPr/>
        </p:nvSpPr>
        <p:spPr>
          <a:xfrm>
            <a:off x="4643438" y="2944321"/>
            <a:ext cx="2577565" cy="369332"/>
          </a:xfrm>
          <a:prstGeom prst="rect">
            <a:avLst/>
          </a:prstGeom>
          <a:noFill/>
        </p:spPr>
        <p:txBody>
          <a:bodyPr wrap="none" rtlCol="0">
            <a:spAutoFit/>
          </a:bodyPr>
          <a:lstStyle/>
          <a:p>
            <a:r>
              <a:rPr lang="en-US" dirty="0"/>
              <a:t>Return (bytes 100 to 199)</a:t>
            </a:r>
          </a:p>
        </p:txBody>
      </p:sp>
      <p:cxnSp>
        <p:nvCxnSpPr>
          <p:cNvPr id="31" name="Straight Arrow Connector 30"/>
          <p:cNvCxnSpPr/>
          <p:nvPr/>
        </p:nvCxnSpPr>
        <p:spPr>
          <a:xfrm>
            <a:off x="4033838" y="2705095"/>
            <a:ext cx="376931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4491038" y="2362194"/>
            <a:ext cx="2917145" cy="369332"/>
          </a:xfrm>
          <a:prstGeom prst="rect">
            <a:avLst/>
          </a:prstGeom>
          <a:noFill/>
        </p:spPr>
        <p:txBody>
          <a:bodyPr wrap="none" rtlCol="0">
            <a:spAutoFit/>
          </a:bodyPr>
          <a:lstStyle/>
          <a:p>
            <a:r>
              <a:rPr lang="en-US" dirty="0"/>
              <a:t>Read(filename,100, 100, buf)</a:t>
            </a:r>
          </a:p>
        </p:txBody>
      </p:sp>
      <p:cxnSp>
        <p:nvCxnSpPr>
          <p:cNvPr id="33" name="Straight Arrow Connector 32"/>
          <p:cNvCxnSpPr/>
          <p:nvPr/>
        </p:nvCxnSpPr>
        <p:spPr>
          <a:xfrm flipH="1">
            <a:off x="4046478" y="3313653"/>
            <a:ext cx="375667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Content Placeholder 23"/>
          <p:cNvGraphicFramePr>
            <a:graphicFrameLocks/>
          </p:cNvGraphicFramePr>
          <p:nvPr>
            <p:extLst>
              <p:ext uri="{D42A27DB-BD31-4B8C-83A1-F6EECF244321}">
                <p14:modId xmlns:p14="http://schemas.microsoft.com/office/powerpoint/2010/main" val="626773685"/>
              </p:ext>
            </p:extLst>
          </p:nvPr>
        </p:nvGraphicFramePr>
        <p:xfrm>
          <a:off x="1935754" y="1505284"/>
          <a:ext cx="2021884" cy="1835041"/>
        </p:xfrm>
        <a:graphic>
          <a:graphicData uri="http://schemas.openxmlformats.org/drawingml/2006/table">
            <a:tbl>
              <a:tblPr firstRow="1" bandRow="1">
                <a:tableStyleId>{5C22544A-7EE6-4342-B048-85BDC9FD1C3A}</a:tableStyleId>
              </a:tblPr>
              <a:tblGrid>
                <a:gridCol w="532970">
                  <a:extLst>
                    <a:ext uri="{9D8B030D-6E8A-4147-A177-3AD203B41FA5}">
                      <a16:colId xmlns:a16="http://schemas.microsoft.com/office/drawing/2014/main" xmlns="" val="907670599"/>
                    </a:ext>
                  </a:extLst>
                </a:gridCol>
                <a:gridCol w="650714">
                  <a:extLst>
                    <a:ext uri="{9D8B030D-6E8A-4147-A177-3AD203B41FA5}">
                      <a16:colId xmlns:a16="http://schemas.microsoft.com/office/drawing/2014/main" xmlns="" val="1724604480"/>
                    </a:ext>
                  </a:extLst>
                </a:gridCol>
                <a:gridCol w="838200">
                  <a:extLst>
                    <a:ext uri="{9D8B030D-6E8A-4147-A177-3AD203B41FA5}">
                      <a16:colId xmlns:a16="http://schemas.microsoft.com/office/drawing/2014/main" xmlns="" val="3944617729"/>
                    </a:ext>
                  </a:extLst>
                </a:gridCol>
              </a:tblGrid>
              <a:tr h="453073">
                <a:tc>
                  <a:txBody>
                    <a:bodyPr/>
                    <a:lstStyle/>
                    <a:p>
                      <a:r>
                        <a:rPr lang="en-US" sz="1400" dirty="0">
                          <a:solidFill>
                            <a:schemeClr val="tx1"/>
                          </a:solidFill>
                        </a:rPr>
                        <a:t>Fid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Mode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R/w</a:t>
                      </a:r>
                    </a:p>
                    <a:p>
                      <a:r>
                        <a:rPr lang="en-US" sz="1400" dirty="0">
                          <a:solidFill>
                            <a:schemeClr val="tx1"/>
                          </a:solidFill>
                        </a:rPr>
                        <a:t>Pointer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552805484"/>
                  </a:ext>
                </a:extLst>
              </a:tr>
              <a:tr h="131688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55745921"/>
                  </a:ext>
                </a:extLst>
              </a:tr>
            </a:tbl>
          </a:graphicData>
        </a:graphic>
      </p:graphicFrame>
      <p:sp>
        <p:nvSpPr>
          <p:cNvPr id="35" name="TextBox 34"/>
          <p:cNvSpPr txBox="1"/>
          <p:nvPr/>
        </p:nvSpPr>
        <p:spPr>
          <a:xfrm>
            <a:off x="2433638" y="1143061"/>
            <a:ext cx="958917" cy="338554"/>
          </a:xfrm>
          <a:prstGeom prst="rect">
            <a:avLst/>
          </a:prstGeom>
          <a:noFill/>
        </p:spPr>
        <p:txBody>
          <a:bodyPr wrap="none" rtlCol="0">
            <a:spAutoFit/>
          </a:bodyPr>
          <a:lstStyle/>
          <a:p>
            <a:r>
              <a:rPr lang="en-US" sz="1600" dirty="0"/>
              <a:t>File Table</a:t>
            </a:r>
          </a:p>
        </p:txBody>
      </p:sp>
    </p:spTree>
    <p:extLst>
      <p:ext uri="{BB962C8B-B14F-4D97-AF65-F5344CB8AC3E}">
        <p14:creationId xmlns:p14="http://schemas.microsoft.com/office/powerpoint/2010/main" val="291990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up)">
                                      <p:cBhvr>
                                        <p:cTn id="10" dur="500"/>
                                        <p:tgtEl>
                                          <p:spTgt spid="22"/>
                                        </p:tgtEl>
                                      </p:cBhvr>
                                    </p:animEffect>
                                  </p:childTnLst>
                                </p:cTn>
                              </p:par>
                              <p:par>
                                <p:cTn id="11" presetID="22" presetClass="entr" presetSubtype="1"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up)">
                                      <p:cBhvr>
                                        <p:cTn id="13" dur="500"/>
                                        <p:tgtEl>
                                          <p:spTgt spid="34"/>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up)">
                                      <p:cBhvr>
                                        <p:cTn id="16" dur="500"/>
                                        <p:tgtEl>
                                          <p:spTgt spid="23"/>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up)">
                                      <p:cBhvr>
                                        <p:cTn id="19" dur="500"/>
                                        <p:tgtEl>
                                          <p:spTgt spid="35"/>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up)">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par>
                                <p:cTn id="28" presetID="22" presetClass="entr" presetSubtype="8" fill="hold"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left)">
                                      <p:cBhvr>
                                        <p:cTn id="30" dur="5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right)">
                                      <p:cBhvr>
                                        <p:cTn id="35" dur="500"/>
                                        <p:tgtEl>
                                          <p:spTgt spid="29"/>
                                        </p:tgtEl>
                                      </p:cBhvr>
                                    </p:animEffect>
                                  </p:childTnLst>
                                </p:cTn>
                              </p:par>
                              <p:par>
                                <p:cTn id="36" presetID="22" presetClass="entr" presetSubtype="2" fill="hold"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right)">
                                      <p:cBhvr>
                                        <p:cTn id="38" dur="50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ipe(left)">
                                      <p:cBhvr>
                                        <p:cTn id="43" dur="500"/>
                                        <p:tgtEl>
                                          <p:spTgt spid="32"/>
                                        </p:tgtEl>
                                      </p:cBhvr>
                                    </p:animEffect>
                                  </p:childTnLst>
                                </p:cTn>
                              </p:par>
                              <p:par>
                                <p:cTn id="44" presetID="22" presetClass="entr" presetSubtype="8" fill="hold"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wipe(left)">
                                      <p:cBhvr>
                                        <p:cTn id="46" dur="500"/>
                                        <p:tgtEl>
                                          <p:spTgt spid="3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right)">
                                      <p:cBhvr>
                                        <p:cTn id="51" dur="500"/>
                                        <p:tgtEl>
                                          <p:spTgt spid="30"/>
                                        </p:tgtEl>
                                      </p:cBhvr>
                                    </p:animEffect>
                                  </p:childTnLst>
                                </p:cTn>
                              </p:par>
                              <p:par>
                                <p:cTn id="52" presetID="22" presetClass="entr" presetSubtype="2" fill="hold"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wipe(right)">
                                      <p:cBhvr>
                                        <p:cTn id="54" dur="500"/>
                                        <p:tgtEl>
                                          <p:spTgt spid="33"/>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6" end="6"/>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
                                            <p:txEl>
                                              <p:pRg st="7" end="7"/>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p:bldP spid="25" grpId="0"/>
      <p:bldP spid="28" grpId="0"/>
      <p:bldP spid="29" grpId="0"/>
      <p:bldP spid="30" grpId="0"/>
      <p:bldP spid="32" grpId="0"/>
      <p:bldP spid="35"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Difference between </a:t>
            </a:r>
            <a:r>
              <a:rPr lang="en-US" dirty="0" err="1"/>
              <a:t>Stateful</a:t>
            </a:r>
            <a:r>
              <a:rPr lang="en-US" dirty="0"/>
              <a:t> &amp; Stateless</a:t>
            </a:r>
          </a:p>
        </p:txBody>
      </p:sp>
      <p:graphicFrame>
        <p:nvGraphicFramePr>
          <p:cNvPr id="11" name="Table 10"/>
          <p:cNvGraphicFramePr>
            <a:graphicFrameLocks noGrp="1"/>
          </p:cNvGraphicFramePr>
          <p:nvPr>
            <p:extLst>
              <p:ext uri="{D42A27DB-BD31-4B8C-83A1-F6EECF244321}">
                <p14:modId xmlns:p14="http://schemas.microsoft.com/office/powerpoint/2010/main" val="1788723875"/>
              </p:ext>
            </p:extLst>
          </p:nvPr>
        </p:nvGraphicFramePr>
        <p:xfrm>
          <a:off x="76196" y="795205"/>
          <a:ext cx="11925304" cy="466344"/>
        </p:xfrm>
        <a:graphic>
          <a:graphicData uri="http://schemas.openxmlformats.org/drawingml/2006/table">
            <a:tbl>
              <a:tblPr firstRow="1" bandRow="1">
                <a:tableStyleId>{5C22544A-7EE6-4342-B048-85BDC9FD1C3A}</a:tableStyleId>
              </a:tblPr>
              <a:tblGrid>
                <a:gridCol w="2022117">
                  <a:extLst>
                    <a:ext uri="{9D8B030D-6E8A-4147-A177-3AD203B41FA5}">
                      <a16:colId xmlns="" xmlns:a16="http://schemas.microsoft.com/office/drawing/2014/main" val="2625705868"/>
                    </a:ext>
                  </a:extLst>
                </a:gridCol>
                <a:gridCol w="4977518">
                  <a:extLst>
                    <a:ext uri="{9D8B030D-6E8A-4147-A177-3AD203B41FA5}">
                      <a16:colId xmlns="" xmlns:a16="http://schemas.microsoft.com/office/drawing/2014/main" val="3884609927"/>
                    </a:ext>
                  </a:extLst>
                </a:gridCol>
                <a:gridCol w="4925669">
                  <a:extLst>
                    <a:ext uri="{9D8B030D-6E8A-4147-A177-3AD203B41FA5}">
                      <a16:colId xmlns="" xmlns:a16="http://schemas.microsoft.com/office/drawing/2014/main" val="3524914240"/>
                    </a:ext>
                  </a:extLst>
                </a:gridCol>
              </a:tblGrid>
              <a:tr h="435864">
                <a:tc>
                  <a:txBody>
                    <a:bodyPr/>
                    <a:lstStyle/>
                    <a:p>
                      <a:pPr algn="ctr"/>
                      <a:r>
                        <a:rPr lang="en-US" sz="2400" dirty="0"/>
                        <a:t>Parameters</a:t>
                      </a:r>
                    </a:p>
                  </a:txBody>
                  <a:tcPr marT="50292" marB="50292">
                    <a:solidFill>
                      <a:srgbClr val="1D3064"/>
                    </a:solidFill>
                  </a:tcPr>
                </a:tc>
                <a:tc>
                  <a:txBody>
                    <a:bodyPr/>
                    <a:lstStyle/>
                    <a:p>
                      <a:pPr algn="ctr"/>
                      <a:r>
                        <a:rPr lang="en-US" sz="2400" dirty="0"/>
                        <a:t>Stateful</a:t>
                      </a:r>
                    </a:p>
                  </a:txBody>
                  <a:tcPr marT="50292" marB="50292">
                    <a:solidFill>
                      <a:srgbClr val="1D3064"/>
                    </a:solidFill>
                  </a:tcPr>
                </a:tc>
                <a:tc>
                  <a:txBody>
                    <a:bodyPr/>
                    <a:lstStyle/>
                    <a:p>
                      <a:pPr algn="ctr"/>
                      <a:r>
                        <a:rPr lang="en-US" sz="2400" dirty="0"/>
                        <a:t>Stateless</a:t>
                      </a:r>
                    </a:p>
                  </a:txBody>
                  <a:tcPr marT="50292" marB="50292">
                    <a:solidFill>
                      <a:srgbClr val="1D3064"/>
                    </a:solidFill>
                  </a:tcPr>
                </a:tc>
                <a:extLst>
                  <a:ext uri="{0D108BD9-81ED-4DB2-BD59-A6C34878D82A}">
                    <a16:rowId xmlns="" xmlns:a16="http://schemas.microsoft.com/office/drawing/2014/main" val="3233820456"/>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782681734"/>
              </p:ext>
            </p:extLst>
          </p:nvPr>
        </p:nvGraphicFramePr>
        <p:xfrm>
          <a:off x="76196" y="1247769"/>
          <a:ext cx="11925304" cy="701040"/>
        </p:xfrm>
        <a:graphic>
          <a:graphicData uri="http://schemas.openxmlformats.org/drawingml/2006/table">
            <a:tbl>
              <a:tblPr firstRow="1" bandRow="1">
                <a:tableStyleId>{5C22544A-7EE6-4342-B048-85BDC9FD1C3A}</a:tableStyleId>
              </a:tblPr>
              <a:tblGrid>
                <a:gridCol w="2022117">
                  <a:extLst>
                    <a:ext uri="{9D8B030D-6E8A-4147-A177-3AD203B41FA5}">
                      <a16:colId xmlns="" xmlns:a16="http://schemas.microsoft.com/office/drawing/2014/main" val="2625705868"/>
                    </a:ext>
                  </a:extLst>
                </a:gridCol>
                <a:gridCol w="4977518">
                  <a:extLst>
                    <a:ext uri="{9D8B030D-6E8A-4147-A177-3AD203B41FA5}">
                      <a16:colId xmlns="" xmlns:a16="http://schemas.microsoft.com/office/drawing/2014/main" val="3884609927"/>
                    </a:ext>
                  </a:extLst>
                </a:gridCol>
                <a:gridCol w="4925669">
                  <a:extLst>
                    <a:ext uri="{9D8B030D-6E8A-4147-A177-3AD203B41FA5}">
                      <a16:colId xmlns="" xmlns:a16="http://schemas.microsoft.com/office/drawing/2014/main" val="3524914240"/>
                    </a:ext>
                  </a:extLst>
                </a:gridCol>
              </a:tblGrid>
              <a:tr h="370840">
                <a:tc>
                  <a:txBody>
                    <a:bodyPr/>
                    <a:lstStyle/>
                    <a:p>
                      <a:pPr algn="just"/>
                      <a:r>
                        <a:rPr lang="en-US" sz="2400" b="1" dirty="0">
                          <a:solidFill>
                            <a:srgbClr val="1D3064"/>
                          </a:solidFill>
                        </a:rPr>
                        <a:t>State</a:t>
                      </a:r>
                      <a:endParaRPr lang="en-US" sz="2000" b="1" dirty="0">
                        <a:solidFill>
                          <a:srgbClr val="1D3064"/>
                        </a:solidFill>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000" b="0" dirty="0">
                          <a:solidFill>
                            <a:schemeClr val="tx1"/>
                          </a:solidFill>
                        </a:rPr>
                        <a:t>A Stateful server remember client data (state) from one request to the next.</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000" b="0" dirty="0">
                          <a:solidFill>
                            <a:schemeClr val="tx1"/>
                          </a:solidFill>
                        </a:rPr>
                        <a:t>A Stateless server does not remember state information.</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3233820456"/>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3488858839"/>
              </p:ext>
            </p:extLst>
          </p:nvPr>
        </p:nvGraphicFramePr>
        <p:xfrm>
          <a:off x="76196" y="1947852"/>
          <a:ext cx="11925304" cy="457200"/>
        </p:xfrm>
        <a:graphic>
          <a:graphicData uri="http://schemas.openxmlformats.org/drawingml/2006/table">
            <a:tbl>
              <a:tblPr firstRow="1" bandRow="1">
                <a:tableStyleId>{5C22544A-7EE6-4342-B048-85BDC9FD1C3A}</a:tableStyleId>
              </a:tblPr>
              <a:tblGrid>
                <a:gridCol w="2022117">
                  <a:extLst>
                    <a:ext uri="{9D8B030D-6E8A-4147-A177-3AD203B41FA5}">
                      <a16:colId xmlns="" xmlns:a16="http://schemas.microsoft.com/office/drawing/2014/main" val="2625705868"/>
                    </a:ext>
                  </a:extLst>
                </a:gridCol>
                <a:gridCol w="4977518">
                  <a:extLst>
                    <a:ext uri="{9D8B030D-6E8A-4147-A177-3AD203B41FA5}">
                      <a16:colId xmlns="" xmlns:a16="http://schemas.microsoft.com/office/drawing/2014/main" val="3884609927"/>
                    </a:ext>
                  </a:extLst>
                </a:gridCol>
                <a:gridCol w="4925669">
                  <a:extLst>
                    <a:ext uri="{9D8B030D-6E8A-4147-A177-3AD203B41FA5}">
                      <a16:colId xmlns="" xmlns:a16="http://schemas.microsoft.com/office/drawing/2014/main" val="3524914240"/>
                    </a:ext>
                  </a:extLst>
                </a:gridCol>
              </a:tblGrid>
              <a:tr h="370840">
                <a:tc>
                  <a:txBody>
                    <a:bodyPr/>
                    <a:lstStyle/>
                    <a:p>
                      <a:pPr algn="just"/>
                      <a:r>
                        <a:rPr lang="en-US" sz="2400" b="1" dirty="0">
                          <a:solidFill>
                            <a:srgbClr val="1D3064"/>
                          </a:solidFill>
                        </a:rPr>
                        <a:t>Programming</a:t>
                      </a:r>
                      <a:endParaRPr lang="en-US" sz="2000" b="1" dirty="0">
                        <a:solidFill>
                          <a:srgbClr val="1D3064"/>
                        </a:solidFill>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000" b="0" dirty="0">
                          <a:solidFill>
                            <a:schemeClr val="tx1"/>
                          </a:solidFill>
                        </a:rPr>
                        <a:t>Stateful server is harder to code.</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000" b="0" dirty="0">
                          <a:solidFill>
                            <a:schemeClr val="tx1"/>
                          </a:solidFill>
                        </a:rPr>
                        <a:t>Stateless server is straightforward to code.</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3233820456"/>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14129621"/>
              </p:ext>
            </p:extLst>
          </p:nvPr>
        </p:nvGraphicFramePr>
        <p:xfrm>
          <a:off x="76196" y="2402191"/>
          <a:ext cx="11925304" cy="1005840"/>
        </p:xfrm>
        <a:graphic>
          <a:graphicData uri="http://schemas.openxmlformats.org/drawingml/2006/table">
            <a:tbl>
              <a:tblPr firstRow="1" bandRow="1">
                <a:tableStyleId>{5C22544A-7EE6-4342-B048-85BDC9FD1C3A}</a:tableStyleId>
              </a:tblPr>
              <a:tblGrid>
                <a:gridCol w="2022117">
                  <a:extLst>
                    <a:ext uri="{9D8B030D-6E8A-4147-A177-3AD203B41FA5}">
                      <a16:colId xmlns="" xmlns:a16="http://schemas.microsoft.com/office/drawing/2014/main" val="2625705868"/>
                    </a:ext>
                  </a:extLst>
                </a:gridCol>
                <a:gridCol w="4977518">
                  <a:extLst>
                    <a:ext uri="{9D8B030D-6E8A-4147-A177-3AD203B41FA5}">
                      <a16:colId xmlns="" xmlns:a16="http://schemas.microsoft.com/office/drawing/2014/main" val="3884609927"/>
                    </a:ext>
                  </a:extLst>
                </a:gridCol>
                <a:gridCol w="4925669">
                  <a:extLst>
                    <a:ext uri="{9D8B030D-6E8A-4147-A177-3AD203B41FA5}">
                      <a16:colId xmlns="" xmlns:a16="http://schemas.microsoft.com/office/drawing/2014/main" val="3524914240"/>
                    </a:ext>
                  </a:extLst>
                </a:gridCol>
              </a:tblGrid>
              <a:tr h="370840">
                <a:tc>
                  <a:txBody>
                    <a:bodyPr/>
                    <a:lstStyle/>
                    <a:p>
                      <a:pPr algn="just"/>
                      <a:r>
                        <a:rPr lang="en-US" sz="2400" b="1" dirty="0">
                          <a:solidFill>
                            <a:srgbClr val="1D3064"/>
                          </a:solidFill>
                        </a:rPr>
                        <a:t>Efficiency</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000" b="0" dirty="0">
                          <a:solidFill>
                            <a:schemeClr val="tx1"/>
                          </a:solidFill>
                        </a:rPr>
                        <a:t>More because clients do not have to provide full file information every time they perform an operation.</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000" b="0" dirty="0">
                          <a:solidFill>
                            <a:schemeClr val="tx1"/>
                          </a:solidFill>
                        </a:rPr>
                        <a:t>Less because information needs to be provided.</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3233820456"/>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687551333"/>
              </p:ext>
            </p:extLst>
          </p:nvPr>
        </p:nvGraphicFramePr>
        <p:xfrm>
          <a:off x="76196" y="3416602"/>
          <a:ext cx="11925304" cy="961712"/>
        </p:xfrm>
        <a:graphic>
          <a:graphicData uri="http://schemas.openxmlformats.org/drawingml/2006/table">
            <a:tbl>
              <a:tblPr firstRow="1" bandRow="1">
                <a:tableStyleId>{5C22544A-7EE6-4342-B048-85BDC9FD1C3A}</a:tableStyleId>
              </a:tblPr>
              <a:tblGrid>
                <a:gridCol w="2022117">
                  <a:extLst>
                    <a:ext uri="{9D8B030D-6E8A-4147-A177-3AD203B41FA5}">
                      <a16:colId xmlns="" xmlns:a16="http://schemas.microsoft.com/office/drawing/2014/main" val="2625705868"/>
                    </a:ext>
                  </a:extLst>
                </a:gridCol>
                <a:gridCol w="4977518">
                  <a:extLst>
                    <a:ext uri="{9D8B030D-6E8A-4147-A177-3AD203B41FA5}">
                      <a16:colId xmlns="" xmlns:a16="http://schemas.microsoft.com/office/drawing/2014/main" val="3884609927"/>
                    </a:ext>
                  </a:extLst>
                </a:gridCol>
                <a:gridCol w="4925669">
                  <a:extLst>
                    <a:ext uri="{9D8B030D-6E8A-4147-A177-3AD203B41FA5}">
                      <a16:colId xmlns="" xmlns:a16="http://schemas.microsoft.com/office/drawing/2014/main" val="3524914240"/>
                    </a:ext>
                  </a:extLst>
                </a:gridCol>
              </a:tblGrid>
              <a:tr h="961712">
                <a:tc>
                  <a:txBody>
                    <a:bodyPr/>
                    <a:lstStyle/>
                    <a:p>
                      <a:pPr algn="just"/>
                      <a:r>
                        <a:rPr lang="en-US" sz="2400" b="1" dirty="0">
                          <a:solidFill>
                            <a:srgbClr val="1D3064"/>
                          </a:solidFill>
                        </a:rPr>
                        <a:t>Crash recovery</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000" b="0" dirty="0">
                          <a:solidFill>
                            <a:schemeClr val="tx1"/>
                          </a:solidFill>
                        </a:rPr>
                        <a:t>Difficult due to loss of information.</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000" b="0" dirty="0">
                          <a:solidFill>
                            <a:schemeClr val="tx1"/>
                          </a:solidFill>
                        </a:rPr>
                        <a:t>Can easily recover from failure</a:t>
                      </a:r>
                      <a:r>
                        <a:rPr lang="en-US" sz="2000" b="0" baseline="0" dirty="0">
                          <a:solidFill>
                            <a:schemeClr val="tx1"/>
                          </a:solidFill>
                        </a:rPr>
                        <a:t> b</a:t>
                      </a:r>
                      <a:r>
                        <a:rPr lang="en-US" sz="2000" b="0" dirty="0">
                          <a:solidFill>
                            <a:schemeClr val="tx1"/>
                          </a:solidFill>
                        </a:rPr>
                        <a:t>ecause there is no state that must be restored.</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3233820456"/>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513780262"/>
              </p:ext>
            </p:extLst>
          </p:nvPr>
        </p:nvGraphicFramePr>
        <p:xfrm>
          <a:off x="76196" y="4378314"/>
          <a:ext cx="11925304" cy="822960"/>
        </p:xfrm>
        <a:graphic>
          <a:graphicData uri="http://schemas.openxmlformats.org/drawingml/2006/table">
            <a:tbl>
              <a:tblPr firstRow="1" bandRow="1">
                <a:tableStyleId>{5C22544A-7EE6-4342-B048-85BDC9FD1C3A}</a:tableStyleId>
              </a:tblPr>
              <a:tblGrid>
                <a:gridCol w="2022117">
                  <a:extLst>
                    <a:ext uri="{9D8B030D-6E8A-4147-A177-3AD203B41FA5}">
                      <a16:colId xmlns="" xmlns:a16="http://schemas.microsoft.com/office/drawing/2014/main" val="2625705868"/>
                    </a:ext>
                  </a:extLst>
                </a:gridCol>
                <a:gridCol w="4977518">
                  <a:extLst>
                    <a:ext uri="{9D8B030D-6E8A-4147-A177-3AD203B41FA5}">
                      <a16:colId xmlns="" xmlns:a16="http://schemas.microsoft.com/office/drawing/2014/main" val="3884609927"/>
                    </a:ext>
                  </a:extLst>
                </a:gridCol>
                <a:gridCol w="4925669">
                  <a:extLst>
                    <a:ext uri="{9D8B030D-6E8A-4147-A177-3AD203B41FA5}">
                      <a16:colId xmlns="" xmlns:a16="http://schemas.microsoft.com/office/drawing/2014/main" val="3524914240"/>
                    </a:ext>
                  </a:extLst>
                </a:gridCol>
              </a:tblGrid>
              <a:tr h="640080">
                <a:tc>
                  <a:txBody>
                    <a:bodyPr/>
                    <a:lstStyle/>
                    <a:p>
                      <a:pPr algn="just"/>
                      <a:r>
                        <a:rPr lang="en-US" sz="2400" b="1" dirty="0">
                          <a:solidFill>
                            <a:srgbClr val="1D3064"/>
                          </a:solidFill>
                        </a:rPr>
                        <a:t>Information transfer</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000" b="0" dirty="0">
                          <a:solidFill>
                            <a:schemeClr val="tx1"/>
                          </a:solidFill>
                        </a:rPr>
                        <a:t>The client can send less data with each request.</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pPr algn="just"/>
                      <a:r>
                        <a:rPr lang="en-US" sz="2000" b="0" dirty="0">
                          <a:solidFill>
                            <a:schemeClr val="tx1"/>
                          </a:solidFill>
                        </a:rPr>
                        <a:t>The client must</a:t>
                      </a:r>
                      <a:r>
                        <a:rPr lang="en-US" sz="2000" b="0" baseline="0" dirty="0">
                          <a:solidFill>
                            <a:schemeClr val="tx1"/>
                          </a:solidFill>
                        </a:rPr>
                        <a:t> </a:t>
                      </a:r>
                      <a:r>
                        <a:rPr lang="en-US" sz="2000" b="0" dirty="0">
                          <a:solidFill>
                            <a:schemeClr val="tx1"/>
                          </a:solidFill>
                        </a:rPr>
                        <a:t>specify complete file names in each request.</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3233820456"/>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3936397219"/>
              </p:ext>
            </p:extLst>
          </p:nvPr>
        </p:nvGraphicFramePr>
        <p:xfrm>
          <a:off x="76196" y="5204138"/>
          <a:ext cx="11925304" cy="653728"/>
        </p:xfrm>
        <a:graphic>
          <a:graphicData uri="http://schemas.openxmlformats.org/drawingml/2006/table">
            <a:tbl>
              <a:tblPr firstRow="1" bandRow="1">
                <a:tableStyleId>{5C22544A-7EE6-4342-B048-85BDC9FD1C3A}</a:tableStyleId>
              </a:tblPr>
              <a:tblGrid>
                <a:gridCol w="2022117">
                  <a:extLst>
                    <a:ext uri="{9D8B030D-6E8A-4147-A177-3AD203B41FA5}">
                      <a16:colId xmlns="" xmlns:a16="http://schemas.microsoft.com/office/drawing/2014/main" val="2625705868"/>
                    </a:ext>
                  </a:extLst>
                </a:gridCol>
                <a:gridCol w="4977518">
                  <a:extLst>
                    <a:ext uri="{9D8B030D-6E8A-4147-A177-3AD203B41FA5}">
                      <a16:colId xmlns="" xmlns:a16="http://schemas.microsoft.com/office/drawing/2014/main" val="3884609927"/>
                    </a:ext>
                  </a:extLst>
                </a:gridCol>
                <a:gridCol w="4925669">
                  <a:extLst>
                    <a:ext uri="{9D8B030D-6E8A-4147-A177-3AD203B41FA5}">
                      <a16:colId xmlns="" xmlns:a16="http://schemas.microsoft.com/office/drawing/2014/main" val="3524914240"/>
                    </a:ext>
                  </a:extLst>
                </a:gridCol>
              </a:tblGrid>
              <a:tr h="653728">
                <a:tc>
                  <a:txBody>
                    <a:bodyPr/>
                    <a:lstStyle/>
                    <a:p>
                      <a:r>
                        <a:rPr lang="en-US" sz="2400" b="1" dirty="0">
                          <a:solidFill>
                            <a:srgbClr val="1D3064"/>
                          </a:solidFill>
                        </a:rPr>
                        <a:t>Operations</a:t>
                      </a:r>
                      <a:endParaRPr lang="en-US" sz="2000" b="1" dirty="0">
                        <a:solidFill>
                          <a:srgbClr val="1D3064"/>
                        </a:solidFill>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r>
                        <a:rPr lang="en-US" sz="2000" b="0" dirty="0">
                          <a:solidFill>
                            <a:schemeClr val="tx1"/>
                          </a:solidFill>
                        </a:rPr>
                        <a:t>Open, Read, Write, Seek, Close</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r>
                        <a:rPr lang="en-US" sz="2000" b="0" dirty="0">
                          <a:solidFill>
                            <a:schemeClr val="tx1"/>
                          </a:solidFill>
                        </a:rPr>
                        <a:t>Read, Write</a:t>
                      </a: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 xmlns:a16="http://schemas.microsoft.com/office/drawing/2014/main" val="3233820456"/>
                  </a:ext>
                </a:extLst>
              </a:tr>
            </a:tbl>
          </a:graphicData>
        </a:graphic>
      </p:graphicFrame>
    </p:spTree>
    <p:extLst>
      <p:ext uri="{BB962C8B-B14F-4D97-AF65-F5344CB8AC3E}">
        <p14:creationId xmlns:p14="http://schemas.microsoft.com/office/powerpoint/2010/main" val="212376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Passing Value Parameters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8000"/>
              </a:lnSpc>
            </a:pPr>
            <a:r>
              <a:rPr lang="en-US" dirty="0"/>
              <a:t>Packing parameters into a message is called </a:t>
            </a:r>
            <a:r>
              <a:rPr lang="en-US" b="1" dirty="0" smtClean="0">
                <a:solidFill>
                  <a:srgbClr val="1D3064"/>
                </a:solidFill>
              </a:rPr>
              <a:t>parameter marshaling</a:t>
            </a:r>
            <a:r>
              <a:rPr lang="en-US" dirty="0"/>
              <a:t>.</a:t>
            </a:r>
          </a:p>
          <a:p>
            <a:pPr>
              <a:lnSpc>
                <a:spcPct val="108000"/>
              </a:lnSpc>
            </a:pPr>
            <a:r>
              <a:rPr lang="en-US" dirty="0" smtClean="0"/>
              <a:t>Client and </a:t>
            </a:r>
            <a:r>
              <a:rPr lang="en-US" dirty="0"/>
              <a:t>server machines may have different data representations (think </a:t>
            </a:r>
            <a:r>
              <a:rPr lang="en-US" dirty="0" smtClean="0"/>
              <a:t>of byte </a:t>
            </a:r>
            <a:r>
              <a:rPr lang="en-US" dirty="0"/>
              <a:t>ordering)</a:t>
            </a:r>
          </a:p>
          <a:p>
            <a:pPr>
              <a:lnSpc>
                <a:spcPct val="108000"/>
              </a:lnSpc>
            </a:pPr>
            <a:r>
              <a:rPr lang="en-US" dirty="0" smtClean="0"/>
              <a:t>Wrapping a </a:t>
            </a:r>
            <a:r>
              <a:rPr lang="en-US" dirty="0"/>
              <a:t>parameter means transforming a value into a sequence of bytes</a:t>
            </a:r>
          </a:p>
          <a:p>
            <a:pPr>
              <a:lnSpc>
                <a:spcPct val="108000"/>
              </a:lnSpc>
            </a:pPr>
            <a:r>
              <a:rPr lang="en-US" dirty="0" smtClean="0"/>
              <a:t>Client and </a:t>
            </a:r>
            <a:r>
              <a:rPr lang="en-US" dirty="0"/>
              <a:t>server have to agree on the same encoding:</a:t>
            </a:r>
          </a:p>
          <a:p>
            <a:pPr lvl="1">
              <a:buFont typeface="Wingdings" panose="05000000000000000000" pitchFamily="2" charset="2"/>
              <a:buChar char="§"/>
            </a:pPr>
            <a:r>
              <a:rPr lang="en-US" sz="2400" dirty="0"/>
              <a:t>How are basic data values represented (integers, floats, characters)</a:t>
            </a:r>
          </a:p>
          <a:p>
            <a:pPr lvl="1">
              <a:buFont typeface="Wingdings" panose="05000000000000000000" pitchFamily="2" charset="2"/>
              <a:buChar char="§"/>
            </a:pPr>
            <a:r>
              <a:rPr lang="en-US" sz="2400" dirty="0"/>
              <a:t>How are complex data values represented (arrays, unions)</a:t>
            </a:r>
          </a:p>
          <a:p>
            <a:pPr>
              <a:lnSpc>
                <a:spcPct val="108000"/>
              </a:lnSpc>
            </a:pPr>
            <a:r>
              <a:rPr lang="en-US" dirty="0" smtClean="0"/>
              <a:t>Client and </a:t>
            </a:r>
            <a:r>
              <a:rPr lang="en-US" dirty="0"/>
              <a:t>server need to properly interpret messages, transforming them </a:t>
            </a:r>
            <a:r>
              <a:rPr lang="en-US" dirty="0" smtClean="0"/>
              <a:t>into machine-dependent </a:t>
            </a:r>
            <a:r>
              <a:rPr lang="en-US" dirty="0"/>
              <a:t>representations</a:t>
            </a:r>
            <a:r>
              <a:rPr lang="en-US" dirty="0" smtClean="0"/>
              <a:t>.</a:t>
            </a:r>
          </a:p>
          <a:p>
            <a:pPr>
              <a:lnSpc>
                <a:spcPct val="108000"/>
              </a:lnSpc>
            </a:pPr>
            <a:r>
              <a:rPr lang="en-US" dirty="0"/>
              <a:t>Possible problems:</a:t>
            </a:r>
          </a:p>
          <a:p>
            <a:pPr lvl="1">
              <a:buFont typeface="Wingdings" panose="05000000000000000000" pitchFamily="2" charset="2"/>
              <a:buChar char="§"/>
            </a:pPr>
            <a:r>
              <a:rPr lang="en-US" sz="2400" dirty="0"/>
              <a:t>IBM mainframes use EBCDIC char code and IBM PC uses ASCII code</a:t>
            </a:r>
          </a:p>
          <a:p>
            <a:pPr lvl="1">
              <a:buFont typeface="Wingdings" panose="05000000000000000000" pitchFamily="2" charset="2"/>
              <a:buChar char="§"/>
            </a:pPr>
            <a:r>
              <a:rPr lang="en-US" sz="2400" dirty="0"/>
              <a:t>Integer: one’s complement and 2’s complement</a:t>
            </a:r>
          </a:p>
          <a:p>
            <a:pPr lvl="1">
              <a:buFont typeface="Wingdings" panose="05000000000000000000" pitchFamily="2" charset="2"/>
              <a:buChar char="§"/>
            </a:pPr>
            <a:r>
              <a:rPr lang="en-US" sz="2400" dirty="0"/>
              <a:t>Little endian and big endian</a:t>
            </a:r>
          </a:p>
          <a:p>
            <a:pPr>
              <a:lnSpc>
                <a:spcPct val="108000"/>
              </a:lnSpc>
            </a:pPr>
            <a:endParaRPr lang="en-US" dirty="0" smtClean="0"/>
          </a:p>
          <a:p>
            <a:pPr>
              <a:lnSpc>
                <a:spcPct val="108000"/>
              </a:lnSpc>
            </a:pPr>
            <a:endParaRPr lang="en-US" sz="2400" dirty="0"/>
          </a:p>
        </p:txBody>
      </p:sp>
    </p:spTree>
    <p:extLst>
      <p:ext uri="{BB962C8B-B14F-4D97-AF65-F5344CB8AC3E}">
        <p14:creationId xmlns:p14="http://schemas.microsoft.com/office/powerpoint/2010/main" val="405669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Passing Value Parameters</a:t>
            </a:r>
          </a:p>
        </p:txBody>
      </p:sp>
      <p:grpSp>
        <p:nvGrpSpPr>
          <p:cNvPr id="3" name="Group 2"/>
          <p:cNvGrpSpPr/>
          <p:nvPr/>
        </p:nvGrpSpPr>
        <p:grpSpPr>
          <a:xfrm>
            <a:off x="890588" y="1557337"/>
            <a:ext cx="2691811" cy="2663480"/>
            <a:chOff x="890588" y="1557337"/>
            <a:chExt cx="2691811" cy="2663480"/>
          </a:xfrm>
        </p:grpSpPr>
        <p:pic>
          <p:nvPicPr>
            <p:cNvPr id="4" name="Picture 3"/>
            <p:cNvPicPr>
              <a:picLocks noChangeAspect="1"/>
            </p:cNvPicPr>
            <p:nvPr/>
          </p:nvPicPr>
          <p:blipFill>
            <a:blip r:embed="rId2"/>
            <a:stretch>
              <a:fillRect/>
            </a:stretch>
          </p:blipFill>
          <p:spPr>
            <a:xfrm>
              <a:off x="890588" y="1557337"/>
              <a:ext cx="2691811" cy="1771651"/>
            </a:xfrm>
            <a:prstGeom prst="rect">
              <a:avLst/>
            </a:prstGeom>
          </p:spPr>
        </p:pic>
        <p:sp>
          <p:nvSpPr>
            <p:cNvPr id="7" name="TextBox 6"/>
            <p:cNvSpPr txBox="1"/>
            <p:nvPr/>
          </p:nvSpPr>
          <p:spPr>
            <a:xfrm>
              <a:off x="890588" y="3512931"/>
              <a:ext cx="2352236" cy="707886"/>
            </a:xfrm>
            <a:prstGeom prst="rect">
              <a:avLst/>
            </a:prstGeom>
            <a:noFill/>
          </p:spPr>
          <p:txBody>
            <a:bodyPr wrap="square" rtlCol="0">
              <a:spAutoFit/>
            </a:bodyPr>
            <a:lstStyle/>
            <a:p>
              <a:r>
                <a:rPr lang="en-US" sz="2000" b="1" dirty="0">
                  <a:solidFill>
                    <a:srgbClr val="1D3064"/>
                  </a:solidFill>
                </a:rPr>
                <a:t>Original message on the Pentium</a:t>
              </a:r>
              <a:endParaRPr lang="en-IN" sz="2000" b="1" dirty="0">
                <a:solidFill>
                  <a:srgbClr val="1D3064"/>
                </a:solidFill>
              </a:endParaRPr>
            </a:p>
          </p:txBody>
        </p:sp>
      </p:grpSp>
      <p:grpSp>
        <p:nvGrpSpPr>
          <p:cNvPr id="11" name="Group 10"/>
          <p:cNvGrpSpPr/>
          <p:nvPr/>
        </p:nvGrpSpPr>
        <p:grpSpPr>
          <a:xfrm>
            <a:off x="4738687" y="1557337"/>
            <a:ext cx="2714625" cy="2663480"/>
            <a:chOff x="4738687" y="1557337"/>
            <a:chExt cx="2714625" cy="2663480"/>
          </a:xfrm>
        </p:grpSpPr>
        <p:pic>
          <p:nvPicPr>
            <p:cNvPr id="5" name="Picture 4"/>
            <p:cNvPicPr>
              <a:picLocks noChangeAspect="1"/>
            </p:cNvPicPr>
            <p:nvPr/>
          </p:nvPicPr>
          <p:blipFill>
            <a:blip r:embed="rId3"/>
            <a:stretch>
              <a:fillRect/>
            </a:stretch>
          </p:blipFill>
          <p:spPr>
            <a:xfrm>
              <a:off x="4738687" y="1557337"/>
              <a:ext cx="2714625" cy="1819079"/>
            </a:xfrm>
            <a:prstGeom prst="rect">
              <a:avLst/>
            </a:prstGeom>
          </p:spPr>
        </p:pic>
        <p:sp>
          <p:nvSpPr>
            <p:cNvPr id="8" name="TextBox 7"/>
            <p:cNvSpPr txBox="1"/>
            <p:nvPr/>
          </p:nvSpPr>
          <p:spPr>
            <a:xfrm>
              <a:off x="4934951" y="3512931"/>
              <a:ext cx="2518361" cy="707886"/>
            </a:xfrm>
            <a:prstGeom prst="rect">
              <a:avLst/>
            </a:prstGeom>
            <a:noFill/>
          </p:spPr>
          <p:txBody>
            <a:bodyPr wrap="square" rtlCol="0">
              <a:spAutoFit/>
            </a:bodyPr>
            <a:lstStyle/>
            <a:p>
              <a:r>
                <a:rPr lang="en-US" sz="2000" b="1" dirty="0">
                  <a:solidFill>
                    <a:srgbClr val="1D3064"/>
                  </a:solidFill>
                </a:rPr>
                <a:t>The message after receipt on the SPARC</a:t>
              </a:r>
              <a:endParaRPr lang="en-IN" sz="2000" b="1" dirty="0">
                <a:solidFill>
                  <a:srgbClr val="1D3064"/>
                </a:solidFill>
              </a:endParaRPr>
            </a:p>
          </p:txBody>
        </p:sp>
      </p:grpSp>
      <p:grpSp>
        <p:nvGrpSpPr>
          <p:cNvPr id="12" name="Group 11"/>
          <p:cNvGrpSpPr/>
          <p:nvPr/>
        </p:nvGrpSpPr>
        <p:grpSpPr>
          <a:xfrm>
            <a:off x="8576261" y="1536961"/>
            <a:ext cx="2753726" cy="2672530"/>
            <a:chOff x="8576261" y="1536961"/>
            <a:chExt cx="2753726" cy="2672530"/>
          </a:xfrm>
        </p:grpSpPr>
        <p:pic>
          <p:nvPicPr>
            <p:cNvPr id="6" name="Picture 5"/>
            <p:cNvPicPr>
              <a:picLocks noChangeAspect="1"/>
            </p:cNvPicPr>
            <p:nvPr/>
          </p:nvPicPr>
          <p:blipFill>
            <a:blip r:embed="rId4"/>
            <a:stretch>
              <a:fillRect/>
            </a:stretch>
          </p:blipFill>
          <p:spPr>
            <a:xfrm>
              <a:off x="8576261" y="1536961"/>
              <a:ext cx="2753726" cy="1812401"/>
            </a:xfrm>
            <a:prstGeom prst="rect">
              <a:avLst/>
            </a:prstGeom>
          </p:spPr>
        </p:pic>
        <p:sp>
          <p:nvSpPr>
            <p:cNvPr id="9" name="TextBox 8"/>
            <p:cNvSpPr txBox="1"/>
            <p:nvPr/>
          </p:nvSpPr>
          <p:spPr>
            <a:xfrm>
              <a:off x="8693943" y="3501605"/>
              <a:ext cx="2518361" cy="707886"/>
            </a:xfrm>
            <a:prstGeom prst="rect">
              <a:avLst/>
            </a:prstGeom>
            <a:noFill/>
          </p:spPr>
          <p:txBody>
            <a:bodyPr wrap="square" rtlCol="0">
              <a:spAutoFit/>
            </a:bodyPr>
            <a:lstStyle/>
            <a:p>
              <a:r>
                <a:rPr lang="en-US" sz="2000" b="1" dirty="0">
                  <a:solidFill>
                    <a:srgbClr val="1D3064"/>
                  </a:solidFill>
                </a:rPr>
                <a:t>The message after being inverted</a:t>
              </a:r>
              <a:endParaRPr lang="en-IN" sz="2000" b="1" dirty="0">
                <a:solidFill>
                  <a:srgbClr val="1D3064"/>
                </a:solidFill>
              </a:endParaRPr>
            </a:p>
          </p:txBody>
        </p:sp>
      </p:grpSp>
    </p:spTree>
    <p:extLst>
      <p:ext uri="{BB962C8B-B14F-4D97-AF65-F5344CB8AC3E}">
        <p14:creationId xmlns:p14="http://schemas.microsoft.com/office/powerpoint/2010/main" val="2805376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Asynchronous RPC</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8000"/>
              </a:lnSpc>
            </a:pPr>
            <a:r>
              <a:rPr lang="en-US" dirty="0"/>
              <a:t>A shortcoming of the original model: no need of blocking </a:t>
            </a:r>
            <a:r>
              <a:rPr lang="en-US" dirty="0" smtClean="0"/>
              <a:t>for the </a:t>
            </a:r>
            <a:r>
              <a:rPr lang="en-US" dirty="0"/>
              <a:t>client in some </a:t>
            </a:r>
            <a:r>
              <a:rPr lang="en-US" dirty="0" smtClean="0"/>
              <a:t>cases.</a:t>
            </a:r>
          </a:p>
          <a:p>
            <a:pPr>
              <a:lnSpc>
                <a:spcPct val="108000"/>
              </a:lnSpc>
            </a:pPr>
            <a:r>
              <a:rPr lang="en-US" dirty="0"/>
              <a:t>There are two </a:t>
            </a:r>
            <a:r>
              <a:rPr lang="en-US" dirty="0" smtClean="0"/>
              <a:t>cases</a:t>
            </a:r>
          </a:p>
          <a:p>
            <a:pPr marL="914400" lvl="1" indent="-457200">
              <a:buFont typeface="+mj-lt"/>
              <a:buAutoNum type="arabicPeriod"/>
            </a:pPr>
            <a:r>
              <a:rPr lang="en-US" sz="2400" dirty="0"/>
              <a:t>I</a:t>
            </a:r>
            <a:r>
              <a:rPr lang="en-US" sz="2400" dirty="0" smtClean="0"/>
              <a:t>f </a:t>
            </a:r>
            <a:r>
              <a:rPr lang="en-US" sz="2400" dirty="0"/>
              <a:t>there is no result to be returned</a:t>
            </a:r>
          </a:p>
          <a:p>
            <a:pPr marL="914400" lvl="1" indent="-457200">
              <a:buFont typeface="+mj-lt"/>
              <a:buAutoNum type="arabicPeriod"/>
            </a:pPr>
            <a:r>
              <a:rPr lang="en-US" sz="2400" dirty="0"/>
              <a:t>I</a:t>
            </a:r>
            <a:r>
              <a:rPr lang="en-US" sz="2400" dirty="0" smtClean="0"/>
              <a:t>f </a:t>
            </a:r>
            <a:r>
              <a:rPr lang="en-US" sz="2400" dirty="0"/>
              <a:t>the result can be collected </a:t>
            </a:r>
            <a:r>
              <a:rPr lang="en-US" sz="2400" dirty="0" smtClean="0"/>
              <a:t>later</a:t>
            </a:r>
          </a:p>
        </p:txBody>
      </p:sp>
    </p:spTree>
    <p:extLst>
      <p:ext uri="{BB962C8B-B14F-4D97-AF65-F5344CB8AC3E}">
        <p14:creationId xmlns:p14="http://schemas.microsoft.com/office/powerpoint/2010/main" val="3431421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Asynchronous RPC</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indent="0">
              <a:lnSpc>
                <a:spcPct val="108000"/>
              </a:lnSpc>
              <a:buNone/>
            </a:pPr>
            <a:r>
              <a:rPr lang="en-US" b="1" dirty="0">
                <a:solidFill>
                  <a:srgbClr val="1D3064"/>
                </a:solidFill>
              </a:rPr>
              <a:t>1. </a:t>
            </a:r>
            <a:r>
              <a:rPr lang="en-US" b="1" dirty="0" smtClean="0">
                <a:solidFill>
                  <a:srgbClr val="1D3064"/>
                </a:solidFill>
              </a:rPr>
              <a:t>If </a:t>
            </a:r>
            <a:r>
              <a:rPr lang="en-US" b="1" dirty="0">
                <a:solidFill>
                  <a:srgbClr val="1D3064"/>
                </a:solidFill>
              </a:rPr>
              <a:t>there is no result to be returned</a:t>
            </a:r>
          </a:p>
          <a:p>
            <a:pPr lvl="1">
              <a:buFont typeface="Wingdings" panose="05000000000000000000" pitchFamily="2" charset="2"/>
              <a:buChar char="§"/>
            </a:pPr>
            <a:r>
              <a:rPr lang="en-US" sz="2400" dirty="0" smtClean="0"/>
              <a:t>e.g</a:t>
            </a:r>
            <a:r>
              <a:rPr lang="en-US" sz="2400" dirty="0"/>
              <a:t>., inserting records in a database, ...</a:t>
            </a:r>
          </a:p>
          <a:p>
            <a:pPr lvl="1">
              <a:buFont typeface="Wingdings" panose="05000000000000000000" pitchFamily="2" charset="2"/>
              <a:buChar char="§"/>
            </a:pPr>
            <a:r>
              <a:rPr lang="en-US" sz="2400" dirty="0"/>
              <a:t>T</a:t>
            </a:r>
            <a:r>
              <a:rPr lang="en-US" sz="2400" dirty="0" smtClean="0"/>
              <a:t>he </a:t>
            </a:r>
            <a:r>
              <a:rPr lang="en-US" sz="2400" dirty="0"/>
              <a:t>server immediately sends an </a:t>
            </a:r>
            <a:r>
              <a:rPr lang="en-US" sz="2400" dirty="0" err="1"/>
              <a:t>ack</a:t>
            </a:r>
            <a:r>
              <a:rPr lang="en-US" sz="2400" dirty="0"/>
              <a:t> promising that it will carryout the request</a:t>
            </a:r>
          </a:p>
        </p:txBody>
      </p:sp>
      <p:sp>
        <p:nvSpPr>
          <p:cNvPr id="5" name="TextBox 4"/>
          <p:cNvSpPr txBox="1"/>
          <p:nvPr/>
        </p:nvSpPr>
        <p:spPr>
          <a:xfrm>
            <a:off x="484883" y="5025537"/>
            <a:ext cx="4490097" cy="830997"/>
          </a:xfrm>
          <a:prstGeom prst="rect">
            <a:avLst/>
          </a:prstGeom>
          <a:noFill/>
        </p:spPr>
        <p:txBody>
          <a:bodyPr wrap="square" rtlCol="0">
            <a:spAutoFit/>
          </a:bodyPr>
          <a:lstStyle/>
          <a:p>
            <a:r>
              <a:rPr lang="en-US" sz="2400" dirty="0" smtClean="0"/>
              <a:t>The </a:t>
            </a:r>
            <a:r>
              <a:rPr lang="en-US" sz="2400" dirty="0"/>
              <a:t>interconnection between client and server in a traditional RPC</a:t>
            </a:r>
            <a:endParaRPr lang="en-IN" sz="2400" dirty="0"/>
          </a:p>
        </p:txBody>
      </p:sp>
      <p:sp>
        <p:nvSpPr>
          <p:cNvPr id="7" name="TextBox 6"/>
          <p:cNvSpPr txBox="1"/>
          <p:nvPr/>
        </p:nvSpPr>
        <p:spPr>
          <a:xfrm>
            <a:off x="6218910" y="5238125"/>
            <a:ext cx="5193671" cy="461665"/>
          </a:xfrm>
          <a:prstGeom prst="rect">
            <a:avLst/>
          </a:prstGeom>
          <a:noFill/>
        </p:spPr>
        <p:txBody>
          <a:bodyPr wrap="square" rtlCol="0">
            <a:spAutoFit/>
          </a:bodyPr>
          <a:lstStyle/>
          <a:p>
            <a:r>
              <a:rPr lang="en-US" sz="2400" dirty="0"/>
              <a:t>The interaction using </a:t>
            </a:r>
            <a:r>
              <a:rPr lang="en-US" sz="2400" dirty="0">
                <a:solidFill>
                  <a:schemeClr val="accent6"/>
                </a:solidFill>
              </a:rPr>
              <a:t>asynchronous RPC</a:t>
            </a:r>
            <a:endParaRPr lang="en-IN" sz="2400" dirty="0">
              <a:solidFill>
                <a:schemeClr val="accent6"/>
              </a:solidFill>
            </a:endParaRPr>
          </a:p>
        </p:txBody>
      </p:sp>
      <p:grpSp>
        <p:nvGrpSpPr>
          <p:cNvPr id="28" name="Group 27">
            <a:extLst>
              <a:ext uri="{FF2B5EF4-FFF2-40B4-BE49-F238E27FC236}">
                <a16:creationId xmlns="" xmlns:a16="http://schemas.microsoft.com/office/drawing/2014/main" id="{041DCCD2-BBD1-4943-BF4D-97E238B3D702}"/>
              </a:ext>
            </a:extLst>
          </p:cNvPr>
          <p:cNvGrpSpPr/>
          <p:nvPr/>
        </p:nvGrpSpPr>
        <p:grpSpPr>
          <a:xfrm>
            <a:off x="244364" y="2782930"/>
            <a:ext cx="4494534" cy="2146531"/>
            <a:chOff x="88455" y="1667635"/>
            <a:chExt cx="4494534" cy="2146531"/>
          </a:xfrm>
        </p:grpSpPr>
        <p:cxnSp>
          <p:nvCxnSpPr>
            <p:cNvPr id="29" name="Straight Connector 28">
              <a:extLst>
                <a:ext uri="{FF2B5EF4-FFF2-40B4-BE49-F238E27FC236}">
                  <a16:creationId xmlns="" xmlns:a16="http://schemas.microsoft.com/office/drawing/2014/main" id="{2C7A6D39-94D8-4FA5-B579-DEB826D65181}"/>
                </a:ext>
              </a:extLst>
            </p:cNvPr>
            <p:cNvCxnSpPr/>
            <p:nvPr/>
          </p:nvCxnSpPr>
          <p:spPr>
            <a:xfrm>
              <a:off x="762000" y="1981200"/>
              <a:ext cx="3810000" cy="1588"/>
            </a:xfrm>
            <a:prstGeom prst="line">
              <a:avLst/>
            </a:prstGeom>
            <a:noFill/>
            <a:ln w="9525" cap="flat" cmpd="sng" algn="ctr">
              <a:solidFill>
                <a:srgbClr val="4F81BD">
                  <a:shade val="95000"/>
                  <a:satMod val="105000"/>
                </a:srgbClr>
              </a:solidFill>
              <a:prstDash val="dash"/>
            </a:ln>
            <a:effectLst/>
          </p:spPr>
        </p:cxnSp>
        <p:cxnSp>
          <p:nvCxnSpPr>
            <p:cNvPr id="30" name="Straight Connector 29">
              <a:extLst>
                <a:ext uri="{FF2B5EF4-FFF2-40B4-BE49-F238E27FC236}">
                  <a16:creationId xmlns="" xmlns:a16="http://schemas.microsoft.com/office/drawing/2014/main" id="{2BE3FFEC-313C-466C-BF41-88B4FE4EF011}"/>
                </a:ext>
              </a:extLst>
            </p:cNvPr>
            <p:cNvCxnSpPr/>
            <p:nvPr/>
          </p:nvCxnSpPr>
          <p:spPr>
            <a:xfrm>
              <a:off x="758667" y="3355008"/>
              <a:ext cx="3810000" cy="1588"/>
            </a:xfrm>
            <a:prstGeom prst="line">
              <a:avLst/>
            </a:prstGeom>
            <a:noFill/>
            <a:ln w="9525" cap="flat" cmpd="sng" algn="ctr">
              <a:solidFill>
                <a:srgbClr val="4F81BD">
                  <a:shade val="95000"/>
                  <a:satMod val="105000"/>
                </a:srgbClr>
              </a:solidFill>
              <a:prstDash val="dash"/>
            </a:ln>
            <a:effectLst/>
          </p:spPr>
        </p:cxnSp>
        <p:sp>
          <p:nvSpPr>
            <p:cNvPr id="31" name="TextBox 30">
              <a:extLst>
                <a:ext uri="{FF2B5EF4-FFF2-40B4-BE49-F238E27FC236}">
                  <a16:creationId xmlns="" xmlns:a16="http://schemas.microsoft.com/office/drawing/2014/main" id="{179DCDCA-1D05-4FE9-AFA2-A15D36826B8D}"/>
                </a:ext>
              </a:extLst>
            </p:cNvPr>
            <p:cNvSpPr txBox="1"/>
            <p:nvPr/>
          </p:nvSpPr>
          <p:spPr>
            <a:xfrm>
              <a:off x="105969" y="1775020"/>
              <a:ext cx="676788"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u="none" strike="noStrike" kern="0" cap="none" spc="0" normalizeH="0" baseline="0" noProof="0" dirty="0">
                  <a:ln>
                    <a:noFill/>
                  </a:ln>
                  <a:solidFill>
                    <a:prstClr val="black"/>
                  </a:solidFill>
                  <a:effectLst/>
                  <a:uLnTx/>
                  <a:uFillTx/>
                  <a:latin typeface="+mj-lt"/>
                  <a:cs typeface="+mn-cs"/>
                </a:rPr>
                <a:t>Client</a:t>
              </a:r>
            </a:p>
          </p:txBody>
        </p:sp>
        <p:sp>
          <p:nvSpPr>
            <p:cNvPr id="32" name="TextBox 31">
              <a:extLst>
                <a:ext uri="{FF2B5EF4-FFF2-40B4-BE49-F238E27FC236}">
                  <a16:creationId xmlns="" xmlns:a16="http://schemas.microsoft.com/office/drawing/2014/main" id="{C9E7FAA9-A59B-4471-A4B4-274A24A70437}"/>
                </a:ext>
              </a:extLst>
            </p:cNvPr>
            <p:cNvSpPr txBox="1"/>
            <p:nvPr/>
          </p:nvSpPr>
          <p:spPr>
            <a:xfrm>
              <a:off x="88455" y="3185731"/>
              <a:ext cx="732893"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u="none" strike="noStrike" kern="0" cap="none" spc="0" normalizeH="0" baseline="0" noProof="0" dirty="0">
                  <a:ln>
                    <a:noFill/>
                  </a:ln>
                  <a:solidFill>
                    <a:prstClr val="black"/>
                  </a:solidFill>
                  <a:effectLst/>
                  <a:uLnTx/>
                  <a:uFillTx/>
                  <a:latin typeface="+mj-lt"/>
                  <a:cs typeface="+mn-cs"/>
                </a:rPr>
                <a:t>Server</a:t>
              </a:r>
            </a:p>
          </p:txBody>
        </p:sp>
        <p:cxnSp>
          <p:nvCxnSpPr>
            <p:cNvPr id="33" name="Straight Connector 32">
              <a:extLst>
                <a:ext uri="{FF2B5EF4-FFF2-40B4-BE49-F238E27FC236}">
                  <a16:creationId xmlns="" xmlns:a16="http://schemas.microsoft.com/office/drawing/2014/main" id="{AD290B8A-86DB-4EB4-BDB2-2597AEBFEFC0}"/>
                </a:ext>
              </a:extLst>
            </p:cNvPr>
            <p:cNvCxnSpPr/>
            <p:nvPr/>
          </p:nvCxnSpPr>
          <p:spPr>
            <a:xfrm>
              <a:off x="1219200" y="1981200"/>
              <a:ext cx="838200" cy="1588"/>
            </a:xfrm>
            <a:prstGeom prst="line">
              <a:avLst/>
            </a:prstGeom>
            <a:noFill/>
            <a:ln w="57150" cap="flat" cmpd="sng" algn="ctr">
              <a:solidFill>
                <a:srgbClr val="4F81BD">
                  <a:shade val="95000"/>
                  <a:satMod val="105000"/>
                </a:srgbClr>
              </a:solidFill>
              <a:prstDash val="solid"/>
            </a:ln>
            <a:effectLst/>
          </p:spPr>
        </p:cxnSp>
        <p:cxnSp>
          <p:nvCxnSpPr>
            <p:cNvPr id="34" name="Straight Connector 33">
              <a:extLst>
                <a:ext uri="{FF2B5EF4-FFF2-40B4-BE49-F238E27FC236}">
                  <a16:creationId xmlns="" xmlns:a16="http://schemas.microsoft.com/office/drawing/2014/main" id="{301D2584-7785-4D5C-96EE-DFF878B1792B}"/>
                </a:ext>
              </a:extLst>
            </p:cNvPr>
            <p:cNvCxnSpPr>
              <a:cxnSpLocks/>
            </p:cNvCxnSpPr>
            <p:nvPr/>
          </p:nvCxnSpPr>
          <p:spPr>
            <a:xfrm>
              <a:off x="2067754" y="2025666"/>
              <a:ext cx="330200" cy="1297920"/>
            </a:xfrm>
            <a:prstGeom prst="line">
              <a:avLst/>
            </a:prstGeom>
            <a:noFill/>
            <a:ln w="28575" cap="flat" cmpd="sng" algn="ctr">
              <a:solidFill>
                <a:srgbClr val="4F81BD">
                  <a:shade val="95000"/>
                  <a:satMod val="105000"/>
                </a:srgbClr>
              </a:solidFill>
              <a:prstDash val="solid"/>
              <a:tailEnd type="stealth" w="med" len="lg"/>
            </a:ln>
            <a:effectLst/>
          </p:spPr>
        </p:cxnSp>
        <p:cxnSp>
          <p:nvCxnSpPr>
            <p:cNvPr id="35" name="Straight Connector 34">
              <a:extLst>
                <a:ext uri="{FF2B5EF4-FFF2-40B4-BE49-F238E27FC236}">
                  <a16:creationId xmlns="" xmlns:a16="http://schemas.microsoft.com/office/drawing/2014/main" id="{16DBEE89-C0F8-480D-824C-E8DBE1EAD98C}"/>
                </a:ext>
              </a:extLst>
            </p:cNvPr>
            <p:cNvCxnSpPr>
              <a:cxnSpLocks/>
            </p:cNvCxnSpPr>
            <p:nvPr/>
          </p:nvCxnSpPr>
          <p:spPr>
            <a:xfrm>
              <a:off x="2399127" y="3368576"/>
              <a:ext cx="663427" cy="2589"/>
            </a:xfrm>
            <a:prstGeom prst="line">
              <a:avLst/>
            </a:prstGeom>
            <a:noFill/>
            <a:ln w="57150" cap="flat" cmpd="sng" algn="ctr">
              <a:solidFill>
                <a:srgbClr val="4F81BD">
                  <a:shade val="95000"/>
                  <a:satMod val="105000"/>
                </a:srgbClr>
              </a:solidFill>
              <a:prstDash val="solid"/>
            </a:ln>
            <a:effectLst/>
          </p:spPr>
        </p:cxnSp>
        <p:cxnSp>
          <p:nvCxnSpPr>
            <p:cNvPr id="36" name="Straight Connector 35">
              <a:extLst>
                <a:ext uri="{FF2B5EF4-FFF2-40B4-BE49-F238E27FC236}">
                  <a16:creationId xmlns="" xmlns:a16="http://schemas.microsoft.com/office/drawing/2014/main" id="{EB30F8F5-DAE2-4683-9C8A-E6C921F9F3E1}"/>
                </a:ext>
              </a:extLst>
            </p:cNvPr>
            <p:cNvCxnSpPr/>
            <p:nvPr/>
          </p:nvCxnSpPr>
          <p:spPr>
            <a:xfrm>
              <a:off x="3352800" y="1981200"/>
              <a:ext cx="762000" cy="1588"/>
            </a:xfrm>
            <a:prstGeom prst="line">
              <a:avLst/>
            </a:prstGeom>
            <a:noFill/>
            <a:ln w="57150" cap="flat" cmpd="sng" algn="ctr">
              <a:solidFill>
                <a:srgbClr val="4F81BD">
                  <a:shade val="95000"/>
                  <a:satMod val="105000"/>
                </a:srgbClr>
              </a:solidFill>
              <a:prstDash val="solid"/>
            </a:ln>
            <a:effectLst/>
          </p:spPr>
        </p:cxnSp>
        <p:sp>
          <p:nvSpPr>
            <p:cNvPr id="37" name="TextBox 36">
              <a:extLst>
                <a:ext uri="{FF2B5EF4-FFF2-40B4-BE49-F238E27FC236}">
                  <a16:creationId xmlns="" xmlns:a16="http://schemas.microsoft.com/office/drawing/2014/main" id="{7778B14D-437D-4452-B060-E7E73A460CCD}"/>
                </a:ext>
              </a:extLst>
            </p:cNvPr>
            <p:cNvSpPr txBox="1"/>
            <p:nvPr/>
          </p:nvSpPr>
          <p:spPr>
            <a:xfrm>
              <a:off x="685800" y="2298562"/>
              <a:ext cx="1066800"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call remote procedure</a:t>
              </a:r>
            </a:p>
          </p:txBody>
        </p:sp>
        <p:cxnSp>
          <p:nvCxnSpPr>
            <p:cNvPr id="38" name="Straight Arrow Connector 37">
              <a:extLst>
                <a:ext uri="{FF2B5EF4-FFF2-40B4-BE49-F238E27FC236}">
                  <a16:creationId xmlns="" xmlns:a16="http://schemas.microsoft.com/office/drawing/2014/main" id="{9B9ED93C-9F5C-45DB-BCEA-AE2378F4C624}"/>
                </a:ext>
              </a:extLst>
            </p:cNvPr>
            <p:cNvCxnSpPr/>
            <p:nvPr/>
          </p:nvCxnSpPr>
          <p:spPr>
            <a:xfrm rot="5400000" flipH="1" flipV="1">
              <a:off x="1638300" y="2095500"/>
              <a:ext cx="381000" cy="304800"/>
            </a:xfrm>
            <a:prstGeom prst="straightConnector1">
              <a:avLst/>
            </a:prstGeom>
            <a:noFill/>
            <a:ln w="9525" cap="flat" cmpd="sng" algn="ctr">
              <a:solidFill>
                <a:sysClr val="windowText" lastClr="000000"/>
              </a:solidFill>
              <a:prstDash val="solid"/>
              <a:tailEnd type="arrow"/>
            </a:ln>
            <a:effectLst/>
          </p:spPr>
        </p:cxnSp>
        <p:sp>
          <p:nvSpPr>
            <p:cNvPr id="39" name="TextBox 38">
              <a:extLst>
                <a:ext uri="{FF2B5EF4-FFF2-40B4-BE49-F238E27FC236}">
                  <a16:creationId xmlns="" xmlns:a16="http://schemas.microsoft.com/office/drawing/2014/main" id="{2DBE0D57-408A-4E78-BCEC-4F98956416D9}"/>
                </a:ext>
              </a:extLst>
            </p:cNvPr>
            <p:cNvSpPr txBox="1"/>
            <p:nvPr/>
          </p:nvSpPr>
          <p:spPr>
            <a:xfrm>
              <a:off x="3715923" y="2189003"/>
              <a:ext cx="867066"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return from call</a:t>
              </a:r>
            </a:p>
          </p:txBody>
        </p:sp>
        <p:cxnSp>
          <p:nvCxnSpPr>
            <p:cNvPr id="40" name="Straight Arrow Connector 39">
              <a:extLst>
                <a:ext uri="{FF2B5EF4-FFF2-40B4-BE49-F238E27FC236}">
                  <a16:creationId xmlns="" xmlns:a16="http://schemas.microsoft.com/office/drawing/2014/main" id="{88F40E58-DDD7-45D6-A02F-B4D350152D89}"/>
                </a:ext>
              </a:extLst>
            </p:cNvPr>
            <p:cNvCxnSpPr/>
            <p:nvPr/>
          </p:nvCxnSpPr>
          <p:spPr>
            <a:xfrm rot="16200000" flipV="1">
              <a:off x="3390900" y="2095500"/>
              <a:ext cx="381000" cy="304800"/>
            </a:xfrm>
            <a:prstGeom prst="straightConnector1">
              <a:avLst/>
            </a:prstGeom>
            <a:noFill/>
            <a:ln w="9525" cap="flat" cmpd="sng" algn="ctr">
              <a:solidFill>
                <a:sysClr val="windowText" lastClr="000000"/>
              </a:solidFill>
              <a:prstDash val="solid"/>
              <a:tailEnd type="arrow"/>
            </a:ln>
            <a:effectLst/>
          </p:spPr>
        </p:cxnSp>
        <p:sp>
          <p:nvSpPr>
            <p:cNvPr id="41" name="TextBox 40">
              <a:extLst>
                <a:ext uri="{FF2B5EF4-FFF2-40B4-BE49-F238E27FC236}">
                  <a16:creationId xmlns="" xmlns:a16="http://schemas.microsoft.com/office/drawing/2014/main" id="{56C905E0-35F6-4F47-9780-B6FD8A3EE0FD}"/>
                </a:ext>
              </a:extLst>
            </p:cNvPr>
            <p:cNvSpPr txBox="1"/>
            <p:nvPr/>
          </p:nvSpPr>
          <p:spPr>
            <a:xfrm>
              <a:off x="2095500" y="1667635"/>
              <a:ext cx="144780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wait for result</a:t>
              </a:r>
            </a:p>
          </p:txBody>
        </p:sp>
        <p:sp>
          <p:nvSpPr>
            <p:cNvPr id="42" name="TextBox 41">
              <a:extLst>
                <a:ext uri="{FF2B5EF4-FFF2-40B4-BE49-F238E27FC236}">
                  <a16:creationId xmlns="" xmlns:a16="http://schemas.microsoft.com/office/drawing/2014/main" id="{209878E8-CBB3-4647-9DC1-277D01E1580C}"/>
                </a:ext>
              </a:extLst>
            </p:cNvPr>
            <p:cNvSpPr txBox="1"/>
            <p:nvPr/>
          </p:nvSpPr>
          <p:spPr>
            <a:xfrm>
              <a:off x="1030026" y="3378678"/>
              <a:ext cx="3313374"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call local procedure and return results</a:t>
              </a:r>
            </a:p>
          </p:txBody>
        </p:sp>
        <p:sp>
          <p:nvSpPr>
            <p:cNvPr id="43" name="TextBox 42">
              <a:extLst>
                <a:ext uri="{FF2B5EF4-FFF2-40B4-BE49-F238E27FC236}">
                  <a16:creationId xmlns="" xmlns:a16="http://schemas.microsoft.com/office/drawing/2014/main" id="{FE14B6B1-6882-405C-BAE4-275986CF9CE5}"/>
                </a:ext>
              </a:extLst>
            </p:cNvPr>
            <p:cNvSpPr txBox="1"/>
            <p:nvPr/>
          </p:nvSpPr>
          <p:spPr>
            <a:xfrm>
              <a:off x="1583423" y="2657585"/>
              <a:ext cx="99060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request</a:t>
              </a:r>
            </a:p>
          </p:txBody>
        </p:sp>
        <p:sp>
          <p:nvSpPr>
            <p:cNvPr id="44" name="TextBox 43">
              <a:extLst>
                <a:ext uri="{FF2B5EF4-FFF2-40B4-BE49-F238E27FC236}">
                  <a16:creationId xmlns="" xmlns:a16="http://schemas.microsoft.com/office/drawing/2014/main" id="{BC66EF6F-CF76-4D1B-93EF-205EDA957B58}"/>
                </a:ext>
              </a:extLst>
            </p:cNvPr>
            <p:cNvSpPr txBox="1"/>
            <p:nvPr/>
          </p:nvSpPr>
          <p:spPr>
            <a:xfrm>
              <a:off x="3162301" y="2657553"/>
              <a:ext cx="68580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reply</a:t>
              </a:r>
            </a:p>
          </p:txBody>
        </p:sp>
        <p:cxnSp>
          <p:nvCxnSpPr>
            <p:cNvPr id="45" name="Straight Arrow Connector 44">
              <a:extLst>
                <a:ext uri="{FF2B5EF4-FFF2-40B4-BE49-F238E27FC236}">
                  <a16:creationId xmlns="" xmlns:a16="http://schemas.microsoft.com/office/drawing/2014/main" id="{3EA25FB7-B526-4D30-BE74-4FB8A60D9336}"/>
                </a:ext>
              </a:extLst>
            </p:cNvPr>
            <p:cNvCxnSpPr/>
            <p:nvPr/>
          </p:nvCxnSpPr>
          <p:spPr>
            <a:xfrm>
              <a:off x="4103728" y="3475612"/>
              <a:ext cx="457200" cy="1588"/>
            </a:xfrm>
            <a:prstGeom prst="straightConnector1">
              <a:avLst/>
            </a:prstGeom>
            <a:noFill/>
            <a:ln w="9525" cap="flat" cmpd="sng" algn="ctr">
              <a:solidFill>
                <a:srgbClr val="4F81BD">
                  <a:shade val="95000"/>
                  <a:satMod val="105000"/>
                </a:srgbClr>
              </a:solidFill>
              <a:prstDash val="solid"/>
              <a:tailEnd type="arrow"/>
            </a:ln>
            <a:effectLst/>
          </p:spPr>
        </p:cxnSp>
        <p:sp>
          <p:nvSpPr>
            <p:cNvPr id="46" name="TextBox 45">
              <a:extLst>
                <a:ext uri="{FF2B5EF4-FFF2-40B4-BE49-F238E27FC236}">
                  <a16:creationId xmlns="" xmlns:a16="http://schemas.microsoft.com/office/drawing/2014/main" id="{92B5B4D7-A53B-4C32-9F14-CB4AC287DFAB}"/>
                </a:ext>
              </a:extLst>
            </p:cNvPr>
            <p:cNvSpPr txBox="1"/>
            <p:nvPr/>
          </p:nvSpPr>
          <p:spPr>
            <a:xfrm>
              <a:off x="4027528" y="3475612"/>
              <a:ext cx="54213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u="none" strike="noStrike" kern="0" cap="none" spc="0" normalizeH="0" baseline="0" noProof="0" dirty="0">
                  <a:ln>
                    <a:noFill/>
                  </a:ln>
                  <a:solidFill>
                    <a:prstClr val="black"/>
                  </a:solidFill>
                  <a:effectLst/>
                  <a:uLnTx/>
                  <a:uFillTx/>
                  <a:latin typeface="+mj-lt"/>
                  <a:cs typeface="+mn-cs"/>
                </a:rPr>
                <a:t>time</a:t>
              </a:r>
            </a:p>
          </p:txBody>
        </p:sp>
        <p:cxnSp>
          <p:nvCxnSpPr>
            <p:cNvPr id="47" name="Straight Connector 46">
              <a:extLst>
                <a:ext uri="{FF2B5EF4-FFF2-40B4-BE49-F238E27FC236}">
                  <a16:creationId xmlns="" xmlns:a16="http://schemas.microsoft.com/office/drawing/2014/main" id="{94BD0BFC-DC1A-4322-A2D6-C8618D6BCD01}"/>
                </a:ext>
              </a:extLst>
            </p:cNvPr>
            <p:cNvCxnSpPr>
              <a:cxnSpLocks/>
            </p:cNvCxnSpPr>
            <p:nvPr/>
          </p:nvCxnSpPr>
          <p:spPr>
            <a:xfrm flipV="1">
              <a:off x="3060384" y="2014571"/>
              <a:ext cx="297178" cy="1320111"/>
            </a:xfrm>
            <a:prstGeom prst="line">
              <a:avLst/>
            </a:prstGeom>
            <a:noFill/>
            <a:ln w="28575" cap="flat" cmpd="sng" algn="ctr">
              <a:solidFill>
                <a:srgbClr val="4F81BD">
                  <a:shade val="95000"/>
                  <a:satMod val="105000"/>
                </a:srgbClr>
              </a:solidFill>
              <a:prstDash val="solid"/>
              <a:tailEnd type="stealth" w="med" len="lg"/>
            </a:ln>
            <a:effectLst/>
          </p:spPr>
        </p:cxnSp>
      </p:grpSp>
      <p:grpSp>
        <p:nvGrpSpPr>
          <p:cNvPr id="48" name="Group 47">
            <a:extLst>
              <a:ext uri="{FF2B5EF4-FFF2-40B4-BE49-F238E27FC236}">
                <a16:creationId xmlns="" xmlns:a16="http://schemas.microsoft.com/office/drawing/2014/main" id="{6D60A6CA-86E9-4FAA-851A-416C103ED52F}"/>
              </a:ext>
            </a:extLst>
          </p:cNvPr>
          <p:cNvGrpSpPr/>
          <p:nvPr/>
        </p:nvGrpSpPr>
        <p:grpSpPr>
          <a:xfrm>
            <a:off x="6215918" y="2836218"/>
            <a:ext cx="4434786" cy="2122186"/>
            <a:chOff x="4099614" y="3883110"/>
            <a:chExt cx="4434786" cy="2122186"/>
          </a:xfrm>
        </p:grpSpPr>
        <p:cxnSp>
          <p:nvCxnSpPr>
            <p:cNvPr id="49" name="Straight Connector 48">
              <a:extLst>
                <a:ext uri="{FF2B5EF4-FFF2-40B4-BE49-F238E27FC236}">
                  <a16:creationId xmlns="" xmlns:a16="http://schemas.microsoft.com/office/drawing/2014/main" id="{B842429E-E834-4478-84CA-DF5904918B27}"/>
                </a:ext>
              </a:extLst>
            </p:cNvPr>
            <p:cNvCxnSpPr/>
            <p:nvPr/>
          </p:nvCxnSpPr>
          <p:spPr>
            <a:xfrm>
              <a:off x="4724400" y="4191000"/>
              <a:ext cx="3810000" cy="1588"/>
            </a:xfrm>
            <a:prstGeom prst="line">
              <a:avLst/>
            </a:prstGeom>
            <a:noFill/>
            <a:ln w="9525" cap="flat" cmpd="sng" algn="ctr">
              <a:solidFill>
                <a:srgbClr val="4F81BD">
                  <a:shade val="95000"/>
                  <a:satMod val="105000"/>
                </a:srgbClr>
              </a:solidFill>
              <a:prstDash val="dash"/>
            </a:ln>
            <a:effectLst/>
          </p:spPr>
        </p:cxnSp>
        <p:cxnSp>
          <p:nvCxnSpPr>
            <p:cNvPr id="50" name="Straight Connector 49">
              <a:extLst>
                <a:ext uri="{FF2B5EF4-FFF2-40B4-BE49-F238E27FC236}">
                  <a16:creationId xmlns="" xmlns:a16="http://schemas.microsoft.com/office/drawing/2014/main" id="{1E761199-6252-495E-B2BD-37135B5BE0C7}"/>
                </a:ext>
              </a:extLst>
            </p:cNvPr>
            <p:cNvCxnSpPr/>
            <p:nvPr/>
          </p:nvCxnSpPr>
          <p:spPr>
            <a:xfrm>
              <a:off x="4718398" y="5605176"/>
              <a:ext cx="3810000" cy="1588"/>
            </a:xfrm>
            <a:prstGeom prst="line">
              <a:avLst/>
            </a:prstGeom>
            <a:noFill/>
            <a:ln w="9525" cap="flat" cmpd="sng" algn="ctr">
              <a:solidFill>
                <a:srgbClr val="4F81BD">
                  <a:shade val="95000"/>
                  <a:satMod val="105000"/>
                </a:srgbClr>
              </a:solidFill>
              <a:prstDash val="dash"/>
            </a:ln>
            <a:effectLst/>
          </p:spPr>
        </p:cxnSp>
        <p:sp>
          <p:nvSpPr>
            <p:cNvPr id="51" name="TextBox 50">
              <a:extLst>
                <a:ext uri="{FF2B5EF4-FFF2-40B4-BE49-F238E27FC236}">
                  <a16:creationId xmlns="" xmlns:a16="http://schemas.microsoft.com/office/drawing/2014/main" id="{7AA14AC1-1BAC-4EEE-AF52-25A0C9B3123B}"/>
                </a:ext>
              </a:extLst>
            </p:cNvPr>
            <p:cNvSpPr txBox="1"/>
            <p:nvPr/>
          </p:nvSpPr>
          <p:spPr>
            <a:xfrm>
              <a:off x="4099614" y="4007481"/>
              <a:ext cx="652423"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u="none" strike="noStrike" kern="0" cap="none" spc="0" normalizeH="0" baseline="0" noProof="0" dirty="0">
                  <a:ln>
                    <a:noFill/>
                  </a:ln>
                  <a:solidFill>
                    <a:prstClr val="black"/>
                  </a:solidFill>
                  <a:effectLst/>
                  <a:uLnTx/>
                  <a:uFillTx/>
                  <a:latin typeface="+mj-lt"/>
                  <a:cs typeface="+mn-cs"/>
                </a:rPr>
                <a:t>client</a:t>
              </a:r>
            </a:p>
          </p:txBody>
        </p:sp>
        <p:sp>
          <p:nvSpPr>
            <p:cNvPr id="52" name="TextBox 51">
              <a:extLst>
                <a:ext uri="{FF2B5EF4-FFF2-40B4-BE49-F238E27FC236}">
                  <a16:creationId xmlns="" xmlns:a16="http://schemas.microsoft.com/office/drawing/2014/main" id="{35958A3F-B068-4FF4-BB79-A80477F597EF}"/>
                </a:ext>
              </a:extLst>
            </p:cNvPr>
            <p:cNvSpPr txBox="1"/>
            <p:nvPr/>
          </p:nvSpPr>
          <p:spPr>
            <a:xfrm>
              <a:off x="4099614" y="5432755"/>
              <a:ext cx="716735"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u="none" strike="noStrike" kern="0" cap="none" spc="0" normalizeH="0" baseline="0" noProof="0" dirty="0">
                  <a:ln>
                    <a:noFill/>
                  </a:ln>
                  <a:solidFill>
                    <a:prstClr val="black"/>
                  </a:solidFill>
                  <a:effectLst/>
                  <a:uLnTx/>
                  <a:uFillTx/>
                  <a:latin typeface="+mj-lt"/>
                  <a:cs typeface="+mn-cs"/>
                </a:rPr>
                <a:t>server</a:t>
              </a:r>
            </a:p>
          </p:txBody>
        </p:sp>
        <p:cxnSp>
          <p:nvCxnSpPr>
            <p:cNvPr id="53" name="Straight Connector 52">
              <a:extLst>
                <a:ext uri="{FF2B5EF4-FFF2-40B4-BE49-F238E27FC236}">
                  <a16:creationId xmlns="" xmlns:a16="http://schemas.microsoft.com/office/drawing/2014/main" id="{BC01727F-931D-435F-8329-611676C5A8A1}"/>
                </a:ext>
              </a:extLst>
            </p:cNvPr>
            <p:cNvCxnSpPr/>
            <p:nvPr/>
          </p:nvCxnSpPr>
          <p:spPr>
            <a:xfrm>
              <a:off x="5181600" y="4191000"/>
              <a:ext cx="838200" cy="1588"/>
            </a:xfrm>
            <a:prstGeom prst="line">
              <a:avLst/>
            </a:prstGeom>
            <a:noFill/>
            <a:ln w="57150" cap="flat" cmpd="sng" algn="ctr">
              <a:solidFill>
                <a:srgbClr val="4F81BD">
                  <a:shade val="95000"/>
                  <a:satMod val="105000"/>
                </a:srgbClr>
              </a:solidFill>
              <a:prstDash val="solid"/>
            </a:ln>
            <a:effectLst/>
          </p:spPr>
        </p:cxnSp>
        <p:cxnSp>
          <p:nvCxnSpPr>
            <p:cNvPr id="54" name="Straight Connector 53">
              <a:extLst>
                <a:ext uri="{FF2B5EF4-FFF2-40B4-BE49-F238E27FC236}">
                  <a16:creationId xmlns="" xmlns:a16="http://schemas.microsoft.com/office/drawing/2014/main" id="{6A6C9196-0482-4700-BC4F-78C204E0A862}"/>
                </a:ext>
              </a:extLst>
            </p:cNvPr>
            <p:cNvCxnSpPr>
              <a:cxnSpLocks/>
            </p:cNvCxnSpPr>
            <p:nvPr/>
          </p:nvCxnSpPr>
          <p:spPr>
            <a:xfrm>
              <a:off x="6019800" y="4243466"/>
              <a:ext cx="318215" cy="1358566"/>
            </a:xfrm>
            <a:prstGeom prst="line">
              <a:avLst/>
            </a:prstGeom>
            <a:noFill/>
            <a:ln w="28575" cap="flat" cmpd="sng" algn="ctr">
              <a:solidFill>
                <a:srgbClr val="4F81BD">
                  <a:shade val="95000"/>
                  <a:satMod val="105000"/>
                </a:srgbClr>
              </a:solidFill>
              <a:prstDash val="solid"/>
              <a:tailEnd type="stealth" w="med" len="lg"/>
            </a:ln>
            <a:effectLst/>
          </p:spPr>
        </p:cxnSp>
        <p:cxnSp>
          <p:nvCxnSpPr>
            <p:cNvPr id="55" name="Straight Connector 54">
              <a:extLst>
                <a:ext uri="{FF2B5EF4-FFF2-40B4-BE49-F238E27FC236}">
                  <a16:creationId xmlns="" xmlns:a16="http://schemas.microsoft.com/office/drawing/2014/main" id="{3B707BA4-AD8A-4006-BC2E-E6154F81C877}"/>
                </a:ext>
              </a:extLst>
            </p:cNvPr>
            <p:cNvCxnSpPr/>
            <p:nvPr/>
          </p:nvCxnSpPr>
          <p:spPr>
            <a:xfrm>
              <a:off x="6394642" y="5602032"/>
              <a:ext cx="609600" cy="1588"/>
            </a:xfrm>
            <a:prstGeom prst="line">
              <a:avLst/>
            </a:prstGeom>
            <a:noFill/>
            <a:ln w="57150" cap="flat" cmpd="sng" algn="ctr">
              <a:solidFill>
                <a:srgbClr val="4F81BD">
                  <a:shade val="95000"/>
                  <a:satMod val="105000"/>
                </a:srgbClr>
              </a:solidFill>
              <a:prstDash val="solid"/>
            </a:ln>
            <a:effectLst/>
          </p:spPr>
        </p:cxnSp>
        <p:cxnSp>
          <p:nvCxnSpPr>
            <p:cNvPr id="56" name="Straight Connector 55">
              <a:extLst>
                <a:ext uri="{FF2B5EF4-FFF2-40B4-BE49-F238E27FC236}">
                  <a16:creationId xmlns="" xmlns:a16="http://schemas.microsoft.com/office/drawing/2014/main" id="{B0C9DAE9-5392-4C6E-97FF-93F4D464B37C}"/>
                </a:ext>
              </a:extLst>
            </p:cNvPr>
            <p:cNvCxnSpPr>
              <a:cxnSpLocks/>
            </p:cNvCxnSpPr>
            <p:nvPr/>
          </p:nvCxnSpPr>
          <p:spPr>
            <a:xfrm flipV="1">
              <a:off x="6393769" y="4232274"/>
              <a:ext cx="309825" cy="1325948"/>
            </a:xfrm>
            <a:prstGeom prst="line">
              <a:avLst/>
            </a:prstGeom>
            <a:noFill/>
            <a:ln w="28575" cap="flat" cmpd="sng" algn="ctr">
              <a:solidFill>
                <a:srgbClr val="4F81BD">
                  <a:shade val="95000"/>
                  <a:satMod val="105000"/>
                </a:srgbClr>
              </a:solidFill>
              <a:prstDash val="solid"/>
              <a:tailEnd type="stealth" w="med" len="lg"/>
            </a:ln>
            <a:effectLst/>
          </p:spPr>
        </p:cxnSp>
        <p:cxnSp>
          <p:nvCxnSpPr>
            <p:cNvPr id="57" name="Straight Connector 56">
              <a:extLst>
                <a:ext uri="{FF2B5EF4-FFF2-40B4-BE49-F238E27FC236}">
                  <a16:creationId xmlns="" xmlns:a16="http://schemas.microsoft.com/office/drawing/2014/main" id="{E21C7CA9-FCC0-43E6-AD71-8D503D1EC150}"/>
                </a:ext>
              </a:extLst>
            </p:cNvPr>
            <p:cNvCxnSpPr/>
            <p:nvPr/>
          </p:nvCxnSpPr>
          <p:spPr>
            <a:xfrm>
              <a:off x="6705600" y="4191000"/>
              <a:ext cx="762000" cy="1588"/>
            </a:xfrm>
            <a:prstGeom prst="line">
              <a:avLst/>
            </a:prstGeom>
            <a:noFill/>
            <a:ln w="57150" cap="flat" cmpd="sng" algn="ctr">
              <a:solidFill>
                <a:srgbClr val="4F81BD">
                  <a:shade val="95000"/>
                  <a:satMod val="105000"/>
                </a:srgbClr>
              </a:solidFill>
              <a:prstDash val="solid"/>
            </a:ln>
            <a:effectLst/>
          </p:spPr>
        </p:cxnSp>
        <p:sp>
          <p:nvSpPr>
            <p:cNvPr id="58" name="TextBox 57">
              <a:extLst>
                <a:ext uri="{FF2B5EF4-FFF2-40B4-BE49-F238E27FC236}">
                  <a16:creationId xmlns="" xmlns:a16="http://schemas.microsoft.com/office/drawing/2014/main" id="{02F9C8E0-F2DC-4D2B-BA55-451F6E20951E}"/>
                </a:ext>
              </a:extLst>
            </p:cNvPr>
            <p:cNvSpPr txBox="1"/>
            <p:nvPr/>
          </p:nvSpPr>
          <p:spPr>
            <a:xfrm>
              <a:off x="4717762" y="4368784"/>
              <a:ext cx="1066800"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call remote procedure</a:t>
              </a:r>
            </a:p>
          </p:txBody>
        </p:sp>
        <p:cxnSp>
          <p:nvCxnSpPr>
            <p:cNvPr id="59" name="Straight Arrow Connector 58">
              <a:extLst>
                <a:ext uri="{FF2B5EF4-FFF2-40B4-BE49-F238E27FC236}">
                  <a16:creationId xmlns="" xmlns:a16="http://schemas.microsoft.com/office/drawing/2014/main" id="{F69C7F4A-95C1-4B95-B8FF-6E8F500D69A8}"/>
                </a:ext>
              </a:extLst>
            </p:cNvPr>
            <p:cNvCxnSpPr/>
            <p:nvPr/>
          </p:nvCxnSpPr>
          <p:spPr>
            <a:xfrm rot="5400000" flipH="1" flipV="1">
              <a:off x="5600700" y="4305300"/>
              <a:ext cx="381000" cy="304800"/>
            </a:xfrm>
            <a:prstGeom prst="straightConnector1">
              <a:avLst/>
            </a:prstGeom>
            <a:noFill/>
            <a:ln w="9525" cap="flat" cmpd="sng" algn="ctr">
              <a:solidFill>
                <a:sysClr val="windowText" lastClr="000000"/>
              </a:solidFill>
              <a:prstDash val="solid"/>
              <a:tailEnd type="arrow"/>
            </a:ln>
            <a:effectLst/>
          </p:spPr>
        </p:cxnSp>
        <p:sp>
          <p:nvSpPr>
            <p:cNvPr id="60" name="TextBox 59">
              <a:extLst>
                <a:ext uri="{FF2B5EF4-FFF2-40B4-BE49-F238E27FC236}">
                  <a16:creationId xmlns="" xmlns:a16="http://schemas.microsoft.com/office/drawing/2014/main" id="{52944920-B97B-4ED2-AEF1-F5C9E5A6945A}"/>
                </a:ext>
              </a:extLst>
            </p:cNvPr>
            <p:cNvSpPr txBox="1"/>
            <p:nvPr/>
          </p:nvSpPr>
          <p:spPr>
            <a:xfrm>
              <a:off x="7070253" y="4371543"/>
              <a:ext cx="875620"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a:ln>
                    <a:noFill/>
                  </a:ln>
                  <a:solidFill>
                    <a:prstClr val="black"/>
                  </a:solidFill>
                  <a:effectLst/>
                  <a:uLnTx/>
                  <a:uFillTx/>
                  <a:latin typeface="+mj-lt"/>
                  <a:cs typeface="+mn-cs"/>
                </a:rPr>
                <a:t>return from call</a:t>
              </a:r>
            </a:p>
          </p:txBody>
        </p:sp>
        <p:cxnSp>
          <p:nvCxnSpPr>
            <p:cNvPr id="61" name="Straight Arrow Connector 60">
              <a:extLst>
                <a:ext uri="{FF2B5EF4-FFF2-40B4-BE49-F238E27FC236}">
                  <a16:creationId xmlns="" xmlns:a16="http://schemas.microsoft.com/office/drawing/2014/main" id="{DAC9C6B9-6AD7-4835-A68B-7614A3F3F08E}"/>
                </a:ext>
              </a:extLst>
            </p:cNvPr>
            <p:cNvCxnSpPr/>
            <p:nvPr/>
          </p:nvCxnSpPr>
          <p:spPr>
            <a:xfrm rot="16200000" flipV="1">
              <a:off x="6743700" y="4305300"/>
              <a:ext cx="381000" cy="304800"/>
            </a:xfrm>
            <a:prstGeom prst="straightConnector1">
              <a:avLst/>
            </a:prstGeom>
            <a:noFill/>
            <a:ln w="9525" cap="flat" cmpd="sng" algn="ctr">
              <a:solidFill>
                <a:sysClr val="windowText" lastClr="000000"/>
              </a:solidFill>
              <a:prstDash val="solid"/>
              <a:tailEnd type="arrow"/>
            </a:ln>
            <a:effectLst/>
          </p:spPr>
        </p:cxnSp>
        <p:sp>
          <p:nvSpPr>
            <p:cNvPr id="62" name="TextBox 61">
              <a:extLst>
                <a:ext uri="{FF2B5EF4-FFF2-40B4-BE49-F238E27FC236}">
                  <a16:creationId xmlns="" xmlns:a16="http://schemas.microsoft.com/office/drawing/2014/main" id="{3D3D23F6-A5F6-48AE-AE89-2363B7FE57F9}"/>
                </a:ext>
              </a:extLst>
            </p:cNvPr>
            <p:cNvSpPr txBox="1"/>
            <p:nvPr/>
          </p:nvSpPr>
          <p:spPr>
            <a:xfrm>
              <a:off x="5558081" y="3883110"/>
              <a:ext cx="198120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wait for acceptance</a:t>
              </a:r>
            </a:p>
          </p:txBody>
        </p:sp>
        <p:sp>
          <p:nvSpPr>
            <p:cNvPr id="63" name="TextBox 62">
              <a:extLst>
                <a:ext uri="{FF2B5EF4-FFF2-40B4-BE49-F238E27FC236}">
                  <a16:creationId xmlns="" xmlns:a16="http://schemas.microsoft.com/office/drawing/2014/main" id="{32CA5A44-DE7D-42BF-A307-1B215E6054EB}"/>
                </a:ext>
              </a:extLst>
            </p:cNvPr>
            <p:cNvSpPr txBox="1"/>
            <p:nvPr/>
          </p:nvSpPr>
          <p:spPr>
            <a:xfrm>
              <a:off x="5859695" y="5579193"/>
              <a:ext cx="182880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call local procedure</a:t>
              </a:r>
            </a:p>
          </p:txBody>
        </p:sp>
        <p:sp>
          <p:nvSpPr>
            <p:cNvPr id="64" name="TextBox 63">
              <a:extLst>
                <a:ext uri="{FF2B5EF4-FFF2-40B4-BE49-F238E27FC236}">
                  <a16:creationId xmlns="" xmlns:a16="http://schemas.microsoft.com/office/drawing/2014/main" id="{3BD7D865-8768-473A-ACEE-76FD884CA791}"/>
                </a:ext>
              </a:extLst>
            </p:cNvPr>
            <p:cNvSpPr txBox="1"/>
            <p:nvPr/>
          </p:nvSpPr>
          <p:spPr>
            <a:xfrm>
              <a:off x="5486400" y="5026317"/>
              <a:ext cx="99060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request</a:t>
              </a:r>
            </a:p>
          </p:txBody>
        </p:sp>
        <p:sp>
          <p:nvSpPr>
            <p:cNvPr id="65" name="TextBox 64">
              <a:extLst>
                <a:ext uri="{FF2B5EF4-FFF2-40B4-BE49-F238E27FC236}">
                  <a16:creationId xmlns="" xmlns:a16="http://schemas.microsoft.com/office/drawing/2014/main" id="{8116EAF2-F4F7-4B0C-A237-592AEDF05CB2}"/>
                </a:ext>
              </a:extLst>
            </p:cNvPr>
            <p:cNvSpPr txBox="1"/>
            <p:nvPr/>
          </p:nvSpPr>
          <p:spPr>
            <a:xfrm>
              <a:off x="6450061" y="5032156"/>
              <a:ext cx="167640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u="none" strike="noStrike" kern="0" cap="none" spc="0" normalizeH="0" baseline="0" noProof="0" dirty="0">
                  <a:ln>
                    <a:noFill/>
                  </a:ln>
                  <a:solidFill>
                    <a:prstClr val="black"/>
                  </a:solidFill>
                  <a:effectLst/>
                  <a:uLnTx/>
                  <a:uFillTx/>
                  <a:latin typeface="+mj-lt"/>
                  <a:cs typeface="+mn-cs"/>
                </a:rPr>
                <a:t>accept request</a:t>
              </a:r>
            </a:p>
          </p:txBody>
        </p:sp>
        <p:cxnSp>
          <p:nvCxnSpPr>
            <p:cNvPr id="66" name="Straight Arrow Connector 65">
              <a:extLst>
                <a:ext uri="{FF2B5EF4-FFF2-40B4-BE49-F238E27FC236}">
                  <a16:creationId xmlns="" xmlns:a16="http://schemas.microsoft.com/office/drawing/2014/main" id="{D30430F5-BB2C-4D37-94F4-7157EC537D59}"/>
                </a:ext>
              </a:extLst>
            </p:cNvPr>
            <p:cNvCxnSpPr/>
            <p:nvPr/>
          </p:nvCxnSpPr>
          <p:spPr>
            <a:xfrm>
              <a:off x="7946196" y="5705188"/>
              <a:ext cx="457200" cy="1588"/>
            </a:xfrm>
            <a:prstGeom prst="straightConnector1">
              <a:avLst/>
            </a:prstGeom>
            <a:noFill/>
            <a:ln w="9525" cap="flat" cmpd="sng" algn="ctr">
              <a:solidFill>
                <a:srgbClr val="4F81BD">
                  <a:shade val="95000"/>
                  <a:satMod val="105000"/>
                </a:srgbClr>
              </a:solidFill>
              <a:prstDash val="solid"/>
              <a:tailEnd type="arrow"/>
            </a:ln>
            <a:effectLst/>
          </p:spPr>
        </p:cxnSp>
        <p:sp>
          <p:nvSpPr>
            <p:cNvPr id="67" name="TextBox 66">
              <a:extLst>
                <a:ext uri="{FF2B5EF4-FFF2-40B4-BE49-F238E27FC236}">
                  <a16:creationId xmlns="" xmlns:a16="http://schemas.microsoft.com/office/drawing/2014/main" id="{7E6692AA-5048-4339-9C24-AAA7E3651321}"/>
                </a:ext>
              </a:extLst>
            </p:cNvPr>
            <p:cNvSpPr txBox="1"/>
            <p:nvPr/>
          </p:nvSpPr>
          <p:spPr>
            <a:xfrm>
              <a:off x="7873676" y="5666742"/>
              <a:ext cx="54213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u="none" strike="noStrike" kern="0" cap="none" spc="0" normalizeH="0" baseline="0" noProof="0" dirty="0">
                  <a:ln>
                    <a:noFill/>
                  </a:ln>
                  <a:solidFill>
                    <a:prstClr val="black"/>
                  </a:solidFill>
                  <a:effectLst/>
                  <a:uLnTx/>
                  <a:uFillTx/>
                  <a:latin typeface="+mj-lt"/>
                  <a:cs typeface="+mn-cs"/>
                </a:rPr>
                <a:t>time</a:t>
              </a:r>
            </a:p>
          </p:txBody>
        </p:sp>
      </p:grpSp>
    </p:spTree>
    <p:extLst>
      <p:ext uri="{BB962C8B-B14F-4D97-AF65-F5344CB8AC3E}">
        <p14:creationId xmlns:p14="http://schemas.microsoft.com/office/powerpoint/2010/main" val="3356012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Asynchronous RPC</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indent="0">
              <a:lnSpc>
                <a:spcPct val="108000"/>
              </a:lnSpc>
              <a:buNone/>
            </a:pPr>
            <a:r>
              <a:rPr lang="en-US" b="1" dirty="0">
                <a:solidFill>
                  <a:srgbClr val="1D3064"/>
                </a:solidFill>
              </a:rPr>
              <a:t>1. </a:t>
            </a:r>
            <a:r>
              <a:rPr lang="en-US" b="1" dirty="0" smtClean="0">
                <a:solidFill>
                  <a:srgbClr val="1D3064"/>
                </a:solidFill>
              </a:rPr>
              <a:t>If </a:t>
            </a:r>
            <a:r>
              <a:rPr lang="en-US" b="1" dirty="0">
                <a:solidFill>
                  <a:srgbClr val="1D3064"/>
                </a:solidFill>
              </a:rPr>
              <a:t>the result can be collected later</a:t>
            </a:r>
          </a:p>
          <a:p>
            <a:pPr lvl="1">
              <a:buFont typeface="Wingdings" panose="05000000000000000000" pitchFamily="2" charset="2"/>
              <a:buChar char="§"/>
            </a:pPr>
            <a:r>
              <a:rPr lang="en-US" sz="2400" dirty="0" smtClean="0"/>
              <a:t>Example: prefetching </a:t>
            </a:r>
            <a:r>
              <a:rPr lang="en-US" sz="2400" dirty="0"/>
              <a:t>network addresses of a set of hosts, ...</a:t>
            </a:r>
          </a:p>
          <a:p>
            <a:pPr lvl="1">
              <a:buFont typeface="Wingdings" panose="05000000000000000000" pitchFamily="2" charset="2"/>
              <a:buChar char="§"/>
            </a:pPr>
            <a:r>
              <a:rPr lang="en-US" sz="2400" dirty="0" smtClean="0"/>
              <a:t>The </a:t>
            </a:r>
            <a:r>
              <a:rPr lang="en-US" sz="2400" dirty="0"/>
              <a:t>server immediately sends an </a:t>
            </a:r>
            <a:r>
              <a:rPr lang="en-US" sz="2400" dirty="0" smtClean="0"/>
              <a:t>ACK </a:t>
            </a:r>
            <a:r>
              <a:rPr lang="en-US" sz="2400" dirty="0"/>
              <a:t>promising that </a:t>
            </a:r>
            <a:r>
              <a:rPr lang="en-US" sz="2400" dirty="0" smtClean="0"/>
              <a:t>it will </a:t>
            </a:r>
            <a:r>
              <a:rPr lang="en-US" sz="2400" dirty="0"/>
              <a:t>carryout the request</a:t>
            </a:r>
          </a:p>
          <a:p>
            <a:pPr lvl="1">
              <a:buFont typeface="Wingdings" panose="05000000000000000000" pitchFamily="2" charset="2"/>
              <a:buChar char="§"/>
            </a:pPr>
            <a:r>
              <a:rPr lang="en-US" sz="2400" dirty="0"/>
              <a:t>T</a:t>
            </a:r>
            <a:r>
              <a:rPr lang="en-US" sz="2400" dirty="0" smtClean="0"/>
              <a:t>he </a:t>
            </a:r>
            <a:r>
              <a:rPr lang="en-US" sz="2400" dirty="0"/>
              <a:t>client can now proceed without </a:t>
            </a:r>
            <a:r>
              <a:rPr lang="en-US" sz="2400" dirty="0" smtClean="0"/>
              <a:t>blocking </a:t>
            </a:r>
          </a:p>
          <a:p>
            <a:pPr lvl="1">
              <a:buFont typeface="Wingdings" panose="05000000000000000000" pitchFamily="2" charset="2"/>
              <a:buChar char="§"/>
            </a:pPr>
            <a:r>
              <a:rPr lang="en-US" sz="2400" dirty="0"/>
              <a:t>T</a:t>
            </a:r>
            <a:r>
              <a:rPr lang="en-US" sz="2400" dirty="0" smtClean="0"/>
              <a:t>he </a:t>
            </a:r>
            <a:r>
              <a:rPr lang="en-US" sz="2400" dirty="0"/>
              <a:t>server later sends the result</a:t>
            </a:r>
          </a:p>
        </p:txBody>
      </p:sp>
      <p:sp>
        <p:nvSpPr>
          <p:cNvPr id="5" name="TextBox 4"/>
          <p:cNvSpPr txBox="1"/>
          <p:nvPr/>
        </p:nvSpPr>
        <p:spPr>
          <a:xfrm>
            <a:off x="1285875" y="6053899"/>
            <a:ext cx="7916112" cy="461665"/>
          </a:xfrm>
          <a:prstGeom prst="rect">
            <a:avLst/>
          </a:prstGeom>
          <a:noFill/>
        </p:spPr>
        <p:txBody>
          <a:bodyPr wrap="square" rtlCol="0">
            <a:spAutoFit/>
          </a:bodyPr>
          <a:lstStyle/>
          <a:p>
            <a:r>
              <a:rPr lang="en-US" sz="2400" b="1" dirty="0" smtClean="0">
                <a:solidFill>
                  <a:srgbClr val="1D3064"/>
                </a:solidFill>
              </a:rPr>
              <a:t>A </a:t>
            </a:r>
            <a:r>
              <a:rPr lang="en-US" sz="2400" b="1" dirty="0">
                <a:solidFill>
                  <a:srgbClr val="1D3064"/>
                </a:solidFill>
              </a:rPr>
              <a:t>client and server interacting through two asynchronous RPCs</a:t>
            </a:r>
            <a:endParaRPr lang="en-IN" sz="2400" b="1" dirty="0">
              <a:solidFill>
                <a:srgbClr val="1D3064"/>
              </a:solidFill>
            </a:endParaRPr>
          </a:p>
        </p:txBody>
      </p:sp>
      <p:grpSp>
        <p:nvGrpSpPr>
          <p:cNvPr id="67" name="Group 66">
            <a:extLst>
              <a:ext uri="{FF2B5EF4-FFF2-40B4-BE49-F238E27FC236}">
                <a16:creationId xmlns="" xmlns:a16="http://schemas.microsoft.com/office/drawing/2014/main" id="{9630F609-DB5F-4084-8F4F-21ECCB85AC07}"/>
              </a:ext>
            </a:extLst>
          </p:cNvPr>
          <p:cNvGrpSpPr/>
          <p:nvPr/>
        </p:nvGrpSpPr>
        <p:grpSpPr>
          <a:xfrm>
            <a:off x="1151034" y="3021526"/>
            <a:ext cx="8050953" cy="3076673"/>
            <a:chOff x="258946" y="2800150"/>
            <a:chExt cx="8050953" cy="3076673"/>
          </a:xfrm>
        </p:grpSpPr>
        <p:cxnSp>
          <p:nvCxnSpPr>
            <p:cNvPr id="68" name="Straight Connector 67">
              <a:extLst>
                <a:ext uri="{FF2B5EF4-FFF2-40B4-BE49-F238E27FC236}">
                  <a16:creationId xmlns="" xmlns:a16="http://schemas.microsoft.com/office/drawing/2014/main" id="{9DBEB725-CC83-4E0C-9212-D351025A1E62}"/>
                </a:ext>
              </a:extLst>
            </p:cNvPr>
            <p:cNvCxnSpPr>
              <a:cxnSpLocks/>
            </p:cNvCxnSpPr>
            <p:nvPr/>
          </p:nvCxnSpPr>
          <p:spPr>
            <a:xfrm flipV="1">
              <a:off x="1062129" y="3530025"/>
              <a:ext cx="6411290" cy="1"/>
            </a:xfrm>
            <a:prstGeom prst="line">
              <a:avLst/>
            </a:prstGeom>
            <a:noFill/>
            <a:ln w="6350" cap="flat" cmpd="sng" algn="ctr">
              <a:solidFill>
                <a:srgbClr val="5B9BD5"/>
              </a:solidFill>
              <a:prstDash val="dash"/>
              <a:miter lim="800000"/>
            </a:ln>
            <a:effectLst/>
          </p:spPr>
        </p:cxnSp>
        <p:cxnSp>
          <p:nvCxnSpPr>
            <p:cNvPr id="69" name="Straight Connector 68">
              <a:extLst>
                <a:ext uri="{FF2B5EF4-FFF2-40B4-BE49-F238E27FC236}">
                  <a16:creationId xmlns="" xmlns:a16="http://schemas.microsoft.com/office/drawing/2014/main" id="{9300DFD7-11AA-4346-9726-3DF24898217F}"/>
                </a:ext>
              </a:extLst>
            </p:cNvPr>
            <p:cNvCxnSpPr>
              <a:cxnSpLocks/>
            </p:cNvCxnSpPr>
            <p:nvPr/>
          </p:nvCxnSpPr>
          <p:spPr>
            <a:xfrm>
              <a:off x="1066362" y="4942584"/>
              <a:ext cx="6407057" cy="0"/>
            </a:xfrm>
            <a:prstGeom prst="line">
              <a:avLst/>
            </a:prstGeom>
            <a:noFill/>
            <a:ln w="6350" cap="flat" cmpd="sng" algn="ctr">
              <a:solidFill>
                <a:srgbClr val="5B9BD5"/>
              </a:solidFill>
              <a:prstDash val="dash"/>
              <a:miter lim="800000"/>
            </a:ln>
            <a:effectLst/>
          </p:spPr>
        </p:cxnSp>
        <p:sp>
          <p:nvSpPr>
            <p:cNvPr id="70" name="TextBox 69">
              <a:extLst>
                <a:ext uri="{FF2B5EF4-FFF2-40B4-BE49-F238E27FC236}">
                  <a16:creationId xmlns="" xmlns:a16="http://schemas.microsoft.com/office/drawing/2014/main" id="{DFEDE3C2-E197-4E39-BB5C-B35FBC8B37CA}"/>
                </a:ext>
              </a:extLst>
            </p:cNvPr>
            <p:cNvSpPr txBox="1"/>
            <p:nvPr/>
          </p:nvSpPr>
          <p:spPr>
            <a:xfrm>
              <a:off x="283245" y="3318294"/>
              <a:ext cx="787395" cy="400110"/>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sz="2000" b="1" kern="0" dirty="0">
                  <a:solidFill>
                    <a:srgbClr val="1D3064"/>
                  </a:solidFill>
                  <a:latin typeface="+mj-lt"/>
                  <a:cs typeface="Arial" panose="020B0604020202020204" pitchFamily="34" charset="0"/>
                </a:rPr>
                <a:t>C</a:t>
              </a:r>
              <a:r>
                <a:rPr kumimoji="0" lang="en-US" sz="2000" b="1" i="0" u="none" strike="noStrike" kern="0" cap="none" spc="0" normalizeH="0" baseline="0" noProof="0" dirty="0" err="1" smtClean="0">
                  <a:ln>
                    <a:noFill/>
                  </a:ln>
                  <a:solidFill>
                    <a:srgbClr val="1D3064"/>
                  </a:solidFill>
                  <a:effectLst/>
                  <a:uLnTx/>
                  <a:uFillTx/>
                  <a:latin typeface="+mj-lt"/>
                  <a:cs typeface="Arial" panose="020B0604020202020204" pitchFamily="34" charset="0"/>
                </a:rPr>
                <a:t>lient</a:t>
              </a:r>
              <a:endParaRPr kumimoji="0" lang="en-US" sz="2000" b="1" i="0" u="none" strike="noStrike" kern="0" cap="none" spc="0" normalizeH="0" baseline="0" noProof="0" dirty="0" smtClean="0">
                <a:ln>
                  <a:noFill/>
                </a:ln>
                <a:solidFill>
                  <a:srgbClr val="1D3064"/>
                </a:solidFill>
                <a:effectLst/>
                <a:uLnTx/>
                <a:uFillTx/>
                <a:latin typeface="+mj-lt"/>
                <a:cs typeface="Arial" panose="020B0604020202020204" pitchFamily="34" charset="0"/>
              </a:endParaRPr>
            </a:p>
          </p:txBody>
        </p:sp>
        <p:sp>
          <p:nvSpPr>
            <p:cNvPr id="71" name="TextBox 70">
              <a:extLst>
                <a:ext uri="{FF2B5EF4-FFF2-40B4-BE49-F238E27FC236}">
                  <a16:creationId xmlns="" xmlns:a16="http://schemas.microsoft.com/office/drawing/2014/main" id="{F7C1446B-89A0-470D-A62A-B49F47225517}"/>
                </a:ext>
              </a:extLst>
            </p:cNvPr>
            <p:cNvSpPr txBox="1"/>
            <p:nvPr/>
          </p:nvSpPr>
          <p:spPr>
            <a:xfrm>
              <a:off x="258946" y="4718447"/>
              <a:ext cx="854721" cy="400110"/>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sz="2000" b="1" kern="0" noProof="0" dirty="0" smtClean="0">
                  <a:solidFill>
                    <a:srgbClr val="1D3064"/>
                  </a:solidFill>
                  <a:latin typeface="+mj-lt"/>
                  <a:cs typeface="Arial" panose="020B0604020202020204" pitchFamily="34" charset="0"/>
                </a:rPr>
                <a:t>S</a:t>
              </a:r>
              <a:r>
                <a:rPr kumimoji="0" lang="en-US" sz="2000" b="1" i="0" u="none" strike="noStrike" kern="0" cap="none" spc="0" normalizeH="0" baseline="0" noProof="0" dirty="0" smtClean="0">
                  <a:ln>
                    <a:noFill/>
                  </a:ln>
                  <a:solidFill>
                    <a:srgbClr val="1D3064"/>
                  </a:solidFill>
                  <a:effectLst/>
                  <a:uLnTx/>
                  <a:uFillTx/>
                  <a:latin typeface="+mj-lt"/>
                  <a:cs typeface="Arial" panose="020B0604020202020204" pitchFamily="34" charset="0"/>
                </a:rPr>
                <a:t>erver</a:t>
              </a:r>
            </a:p>
          </p:txBody>
        </p:sp>
        <p:cxnSp>
          <p:nvCxnSpPr>
            <p:cNvPr id="72" name="Straight Connector 71">
              <a:extLst>
                <a:ext uri="{FF2B5EF4-FFF2-40B4-BE49-F238E27FC236}">
                  <a16:creationId xmlns="" xmlns:a16="http://schemas.microsoft.com/office/drawing/2014/main" id="{6054E199-40D8-4B52-989C-AD4E4F735BB5}"/>
                </a:ext>
              </a:extLst>
            </p:cNvPr>
            <p:cNvCxnSpPr/>
            <p:nvPr/>
          </p:nvCxnSpPr>
          <p:spPr>
            <a:xfrm>
              <a:off x="1519329" y="3530025"/>
              <a:ext cx="838200" cy="1588"/>
            </a:xfrm>
            <a:prstGeom prst="line">
              <a:avLst/>
            </a:prstGeom>
            <a:noFill/>
            <a:ln w="57150" cap="flat" cmpd="sng" algn="ctr">
              <a:solidFill>
                <a:srgbClr val="5B9BD5"/>
              </a:solidFill>
              <a:prstDash val="solid"/>
              <a:miter lim="800000"/>
            </a:ln>
            <a:effectLst/>
          </p:spPr>
        </p:cxnSp>
        <p:cxnSp>
          <p:nvCxnSpPr>
            <p:cNvPr id="73" name="Straight Connector 72">
              <a:extLst>
                <a:ext uri="{FF2B5EF4-FFF2-40B4-BE49-F238E27FC236}">
                  <a16:creationId xmlns="" xmlns:a16="http://schemas.microsoft.com/office/drawing/2014/main" id="{15411DBE-0D80-4C90-A770-66E33EBD1511}"/>
                </a:ext>
              </a:extLst>
            </p:cNvPr>
            <p:cNvCxnSpPr>
              <a:cxnSpLocks/>
            </p:cNvCxnSpPr>
            <p:nvPr/>
          </p:nvCxnSpPr>
          <p:spPr>
            <a:xfrm>
              <a:off x="2346073" y="3582007"/>
              <a:ext cx="370409" cy="1319459"/>
            </a:xfrm>
            <a:prstGeom prst="line">
              <a:avLst/>
            </a:prstGeom>
            <a:noFill/>
            <a:ln w="28575" cap="flat" cmpd="sng" algn="ctr">
              <a:solidFill>
                <a:srgbClr val="5B9BD5"/>
              </a:solidFill>
              <a:prstDash val="solid"/>
              <a:miter lim="800000"/>
              <a:tailEnd type="stealth" w="med" len="lg"/>
            </a:ln>
            <a:effectLst/>
          </p:spPr>
        </p:cxnSp>
        <p:cxnSp>
          <p:nvCxnSpPr>
            <p:cNvPr id="74" name="Straight Connector 73">
              <a:extLst>
                <a:ext uri="{FF2B5EF4-FFF2-40B4-BE49-F238E27FC236}">
                  <a16:creationId xmlns="" xmlns:a16="http://schemas.microsoft.com/office/drawing/2014/main" id="{83161ABD-CA3E-4823-B8F5-71DCDF319562}"/>
                </a:ext>
              </a:extLst>
            </p:cNvPr>
            <p:cNvCxnSpPr/>
            <p:nvPr/>
          </p:nvCxnSpPr>
          <p:spPr>
            <a:xfrm>
              <a:off x="2742762" y="4944172"/>
              <a:ext cx="2519271" cy="1588"/>
            </a:xfrm>
            <a:prstGeom prst="line">
              <a:avLst/>
            </a:prstGeom>
            <a:noFill/>
            <a:ln w="57150" cap="flat" cmpd="sng" algn="ctr">
              <a:solidFill>
                <a:srgbClr val="5B9BD5"/>
              </a:solidFill>
              <a:prstDash val="solid"/>
              <a:miter lim="800000"/>
            </a:ln>
            <a:effectLst/>
          </p:spPr>
        </p:cxnSp>
        <p:cxnSp>
          <p:nvCxnSpPr>
            <p:cNvPr id="75" name="Straight Connector 74">
              <a:extLst>
                <a:ext uri="{FF2B5EF4-FFF2-40B4-BE49-F238E27FC236}">
                  <a16:creationId xmlns="" xmlns:a16="http://schemas.microsoft.com/office/drawing/2014/main" id="{5C43F861-3973-4DE2-B2B0-55C1A432B8B1}"/>
                </a:ext>
              </a:extLst>
            </p:cNvPr>
            <p:cNvCxnSpPr>
              <a:cxnSpLocks/>
            </p:cNvCxnSpPr>
            <p:nvPr/>
          </p:nvCxnSpPr>
          <p:spPr>
            <a:xfrm flipV="1">
              <a:off x="2746902" y="3578444"/>
              <a:ext cx="300567" cy="1312333"/>
            </a:xfrm>
            <a:prstGeom prst="line">
              <a:avLst/>
            </a:prstGeom>
            <a:noFill/>
            <a:ln w="28575" cap="flat" cmpd="sng" algn="ctr">
              <a:solidFill>
                <a:srgbClr val="5B9BD5"/>
              </a:solidFill>
              <a:prstDash val="solid"/>
              <a:miter lim="800000"/>
              <a:tailEnd type="stealth" w="med" len="lg"/>
            </a:ln>
            <a:effectLst/>
          </p:spPr>
        </p:cxnSp>
        <p:cxnSp>
          <p:nvCxnSpPr>
            <p:cNvPr id="76" name="Straight Connector 75">
              <a:extLst>
                <a:ext uri="{FF2B5EF4-FFF2-40B4-BE49-F238E27FC236}">
                  <a16:creationId xmlns="" xmlns:a16="http://schemas.microsoft.com/office/drawing/2014/main" id="{76001197-C9E6-48D9-A79C-CD8D41FA53AA}"/>
                </a:ext>
              </a:extLst>
            </p:cNvPr>
            <p:cNvCxnSpPr>
              <a:cxnSpLocks/>
            </p:cNvCxnSpPr>
            <p:nvPr/>
          </p:nvCxnSpPr>
          <p:spPr>
            <a:xfrm>
              <a:off x="3047469" y="3531613"/>
              <a:ext cx="2466353" cy="0"/>
            </a:xfrm>
            <a:prstGeom prst="line">
              <a:avLst/>
            </a:prstGeom>
            <a:noFill/>
            <a:ln w="57150" cap="flat" cmpd="sng" algn="ctr">
              <a:solidFill>
                <a:srgbClr val="5B9BD5"/>
              </a:solidFill>
              <a:prstDash val="solid"/>
              <a:miter lim="800000"/>
            </a:ln>
            <a:effectLst/>
          </p:spPr>
        </p:cxnSp>
        <p:sp>
          <p:nvSpPr>
            <p:cNvPr id="77" name="TextBox 76">
              <a:extLst>
                <a:ext uri="{FF2B5EF4-FFF2-40B4-BE49-F238E27FC236}">
                  <a16:creationId xmlns="" xmlns:a16="http://schemas.microsoft.com/office/drawing/2014/main" id="{654D46EA-ED25-486B-AD44-9D716B11B317}"/>
                </a:ext>
              </a:extLst>
            </p:cNvPr>
            <p:cNvSpPr txBox="1"/>
            <p:nvPr/>
          </p:nvSpPr>
          <p:spPr>
            <a:xfrm>
              <a:off x="704899" y="3710088"/>
              <a:ext cx="1445538" cy="7078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sz="2000" kern="0" dirty="0">
                  <a:solidFill>
                    <a:prstClr val="black"/>
                  </a:solidFill>
                  <a:latin typeface="+mj-lt"/>
                  <a:cs typeface="Arial" panose="020B0604020202020204" pitchFamily="34" charset="0"/>
                </a:rPr>
                <a:t>C</a:t>
              </a:r>
              <a:r>
                <a:rPr kumimoji="0" lang="en-US" sz="2000" b="0" i="0" u="none" strike="noStrike" kern="0" cap="none" spc="0" normalizeH="0" baseline="0" noProof="0" dirty="0" smtClean="0">
                  <a:ln>
                    <a:noFill/>
                  </a:ln>
                  <a:solidFill>
                    <a:prstClr val="black"/>
                  </a:solidFill>
                  <a:effectLst/>
                  <a:uLnTx/>
                  <a:uFillTx/>
                  <a:latin typeface="+mj-lt"/>
                  <a:cs typeface="Arial" panose="020B0604020202020204" pitchFamily="34" charset="0"/>
                </a:rPr>
                <a:t>all remote procedure</a:t>
              </a:r>
            </a:p>
          </p:txBody>
        </p:sp>
        <p:cxnSp>
          <p:nvCxnSpPr>
            <p:cNvPr id="78" name="Straight Arrow Connector 77">
              <a:extLst>
                <a:ext uri="{FF2B5EF4-FFF2-40B4-BE49-F238E27FC236}">
                  <a16:creationId xmlns="" xmlns:a16="http://schemas.microsoft.com/office/drawing/2014/main" id="{7DDDA425-A292-4DB6-9F70-F779EF188D5C}"/>
                </a:ext>
              </a:extLst>
            </p:cNvPr>
            <p:cNvCxnSpPr/>
            <p:nvPr/>
          </p:nvCxnSpPr>
          <p:spPr>
            <a:xfrm rot="5400000" flipH="1" flipV="1">
              <a:off x="1938429" y="3644325"/>
              <a:ext cx="381000" cy="304800"/>
            </a:xfrm>
            <a:prstGeom prst="straightConnector1">
              <a:avLst/>
            </a:prstGeom>
            <a:noFill/>
            <a:ln w="6350" cap="flat" cmpd="sng" algn="ctr">
              <a:solidFill>
                <a:sysClr val="windowText" lastClr="000000"/>
              </a:solidFill>
              <a:prstDash val="solid"/>
              <a:miter lim="800000"/>
              <a:tailEnd type="arrow"/>
            </a:ln>
            <a:effectLst/>
          </p:spPr>
        </p:cxnSp>
        <p:sp>
          <p:nvSpPr>
            <p:cNvPr id="79" name="TextBox 78">
              <a:extLst>
                <a:ext uri="{FF2B5EF4-FFF2-40B4-BE49-F238E27FC236}">
                  <a16:creationId xmlns="" xmlns:a16="http://schemas.microsoft.com/office/drawing/2014/main" id="{BBDEDDCD-1DD1-47E8-AF33-573C82CF8F15}"/>
                </a:ext>
              </a:extLst>
            </p:cNvPr>
            <p:cNvSpPr txBox="1"/>
            <p:nvPr/>
          </p:nvSpPr>
          <p:spPr>
            <a:xfrm>
              <a:off x="3402537" y="3750324"/>
              <a:ext cx="1293422" cy="7078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sz="2000" kern="0" dirty="0">
                  <a:solidFill>
                    <a:prstClr val="black"/>
                  </a:solidFill>
                  <a:latin typeface="+mj-lt"/>
                  <a:cs typeface="Arial" panose="020B0604020202020204" pitchFamily="34" charset="0"/>
                </a:rPr>
                <a:t>R</a:t>
              </a:r>
              <a:r>
                <a:rPr kumimoji="0" lang="en-US" sz="2000" b="0" i="0" u="none" strike="noStrike" kern="0" cap="none" spc="0" normalizeH="0" baseline="0" noProof="0" dirty="0" err="1" smtClean="0">
                  <a:ln>
                    <a:noFill/>
                  </a:ln>
                  <a:solidFill>
                    <a:prstClr val="black"/>
                  </a:solidFill>
                  <a:effectLst/>
                  <a:uLnTx/>
                  <a:uFillTx/>
                  <a:latin typeface="+mj-lt"/>
                  <a:cs typeface="Arial" panose="020B0604020202020204" pitchFamily="34" charset="0"/>
                </a:rPr>
                <a:t>eturn</a:t>
              </a:r>
              <a:r>
                <a:rPr kumimoji="0" lang="en-US" sz="2000" b="0" i="0" u="none" strike="noStrike" kern="0" cap="none" spc="0" normalizeH="0" baseline="0" noProof="0" dirty="0" smtClean="0">
                  <a:ln>
                    <a:noFill/>
                  </a:ln>
                  <a:solidFill>
                    <a:prstClr val="black"/>
                  </a:solidFill>
                  <a:effectLst/>
                  <a:uLnTx/>
                  <a:uFillTx/>
                  <a:latin typeface="+mj-lt"/>
                  <a:cs typeface="Arial" panose="020B0604020202020204" pitchFamily="34" charset="0"/>
                </a:rPr>
                <a:t> from call</a:t>
              </a:r>
            </a:p>
          </p:txBody>
        </p:sp>
        <p:cxnSp>
          <p:nvCxnSpPr>
            <p:cNvPr id="80" name="Straight Arrow Connector 79">
              <a:extLst>
                <a:ext uri="{FF2B5EF4-FFF2-40B4-BE49-F238E27FC236}">
                  <a16:creationId xmlns="" xmlns:a16="http://schemas.microsoft.com/office/drawing/2014/main" id="{514DC3F5-98F3-470A-A743-80CA27FED64A}"/>
                </a:ext>
              </a:extLst>
            </p:cNvPr>
            <p:cNvCxnSpPr/>
            <p:nvPr/>
          </p:nvCxnSpPr>
          <p:spPr>
            <a:xfrm rot="16200000" flipV="1">
              <a:off x="3081429" y="3644325"/>
              <a:ext cx="381000" cy="304800"/>
            </a:xfrm>
            <a:prstGeom prst="straightConnector1">
              <a:avLst/>
            </a:prstGeom>
            <a:noFill/>
            <a:ln w="6350" cap="flat" cmpd="sng" algn="ctr">
              <a:solidFill>
                <a:sysClr val="windowText" lastClr="000000"/>
              </a:solidFill>
              <a:prstDash val="solid"/>
              <a:miter lim="800000"/>
              <a:tailEnd type="arrow"/>
            </a:ln>
            <a:effectLst/>
          </p:spPr>
        </p:cxnSp>
        <p:sp>
          <p:nvSpPr>
            <p:cNvPr id="81" name="TextBox 80">
              <a:extLst>
                <a:ext uri="{FF2B5EF4-FFF2-40B4-BE49-F238E27FC236}">
                  <a16:creationId xmlns="" xmlns:a16="http://schemas.microsoft.com/office/drawing/2014/main" id="{2F3DB0CC-59B1-464D-91A6-6D13CDEDC1EF}"/>
                </a:ext>
              </a:extLst>
            </p:cNvPr>
            <p:cNvSpPr txBox="1"/>
            <p:nvPr/>
          </p:nvSpPr>
          <p:spPr>
            <a:xfrm>
              <a:off x="2108692" y="2800150"/>
              <a:ext cx="1981200" cy="7078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sz="2000" kern="0" dirty="0">
                  <a:solidFill>
                    <a:prstClr val="black"/>
                  </a:solidFill>
                  <a:latin typeface="+mj-lt"/>
                  <a:cs typeface="Arial" panose="020B0604020202020204" pitchFamily="34" charset="0"/>
                </a:rPr>
                <a:t>W</a:t>
              </a:r>
              <a:r>
                <a:rPr kumimoji="0" lang="en-US" sz="2000" b="0" i="0" u="none" strike="noStrike" kern="0" cap="none" spc="0" normalizeH="0" baseline="0" noProof="0" dirty="0" err="1" smtClean="0">
                  <a:ln>
                    <a:noFill/>
                  </a:ln>
                  <a:solidFill>
                    <a:prstClr val="black"/>
                  </a:solidFill>
                  <a:effectLst/>
                  <a:uLnTx/>
                  <a:uFillTx/>
                  <a:latin typeface="+mj-lt"/>
                  <a:cs typeface="Arial" panose="020B0604020202020204" pitchFamily="34" charset="0"/>
                </a:rPr>
                <a:t>ait</a:t>
              </a:r>
              <a:r>
                <a:rPr kumimoji="0" lang="en-US" sz="2000" b="0" i="0" u="none" strike="noStrike" kern="0" cap="none" spc="0" normalizeH="0" baseline="0" noProof="0" dirty="0" smtClean="0">
                  <a:ln>
                    <a:noFill/>
                  </a:ln>
                  <a:solidFill>
                    <a:prstClr val="black"/>
                  </a:solidFill>
                  <a:effectLst/>
                  <a:uLnTx/>
                  <a:uFillTx/>
                  <a:latin typeface="+mj-lt"/>
                  <a:cs typeface="Arial" panose="020B0604020202020204" pitchFamily="34" charset="0"/>
                </a:rPr>
                <a:t> for acceptance</a:t>
              </a:r>
            </a:p>
          </p:txBody>
        </p:sp>
        <p:sp>
          <p:nvSpPr>
            <p:cNvPr id="82" name="TextBox 81">
              <a:extLst>
                <a:ext uri="{FF2B5EF4-FFF2-40B4-BE49-F238E27FC236}">
                  <a16:creationId xmlns="" xmlns:a16="http://schemas.microsoft.com/office/drawing/2014/main" id="{61281680-B396-4590-9A07-DC45F0DDE075}"/>
                </a:ext>
              </a:extLst>
            </p:cNvPr>
            <p:cNvSpPr txBox="1"/>
            <p:nvPr/>
          </p:nvSpPr>
          <p:spPr>
            <a:xfrm>
              <a:off x="2867158" y="5013442"/>
              <a:ext cx="2241503" cy="400110"/>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sz="2000" kern="0" dirty="0">
                  <a:solidFill>
                    <a:prstClr val="black"/>
                  </a:solidFill>
                  <a:latin typeface="+mj-lt"/>
                  <a:cs typeface="Arial" panose="020B0604020202020204" pitchFamily="34" charset="0"/>
                </a:rPr>
                <a:t>C</a:t>
              </a:r>
              <a:r>
                <a:rPr kumimoji="0" lang="en-US" sz="2000" b="0" i="0" u="none" strike="noStrike" kern="0" cap="none" spc="0" normalizeH="0" baseline="0" noProof="0" dirty="0" smtClean="0">
                  <a:ln>
                    <a:noFill/>
                  </a:ln>
                  <a:solidFill>
                    <a:prstClr val="black"/>
                  </a:solidFill>
                  <a:effectLst/>
                  <a:uLnTx/>
                  <a:uFillTx/>
                  <a:latin typeface="+mj-lt"/>
                  <a:cs typeface="Arial" panose="020B0604020202020204" pitchFamily="34" charset="0"/>
                </a:rPr>
                <a:t>all local procedure</a:t>
              </a:r>
            </a:p>
          </p:txBody>
        </p:sp>
        <p:sp>
          <p:nvSpPr>
            <p:cNvPr id="83" name="TextBox 82">
              <a:extLst>
                <a:ext uri="{FF2B5EF4-FFF2-40B4-BE49-F238E27FC236}">
                  <a16:creationId xmlns="" xmlns:a16="http://schemas.microsoft.com/office/drawing/2014/main" id="{40225825-36B6-4F70-9A04-E7800F5E5656}"/>
                </a:ext>
              </a:extLst>
            </p:cNvPr>
            <p:cNvSpPr txBox="1"/>
            <p:nvPr/>
          </p:nvSpPr>
          <p:spPr>
            <a:xfrm>
              <a:off x="1681855" y="4511947"/>
              <a:ext cx="1156291" cy="400110"/>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smtClean="0">
                  <a:ln>
                    <a:noFill/>
                  </a:ln>
                  <a:solidFill>
                    <a:prstClr val="black"/>
                  </a:solidFill>
                  <a:effectLst/>
                  <a:uLnTx/>
                  <a:uFillTx/>
                  <a:latin typeface="+mj-lt"/>
                  <a:cs typeface="Arial" panose="020B0604020202020204" pitchFamily="34" charset="0"/>
                </a:rPr>
                <a:t>Request</a:t>
              </a:r>
            </a:p>
          </p:txBody>
        </p:sp>
        <p:sp>
          <p:nvSpPr>
            <p:cNvPr id="84" name="TextBox 83">
              <a:extLst>
                <a:ext uri="{FF2B5EF4-FFF2-40B4-BE49-F238E27FC236}">
                  <a16:creationId xmlns="" xmlns:a16="http://schemas.microsoft.com/office/drawing/2014/main" id="{FDC295D4-BCC9-46D5-89A4-EAF02BFCBAEE}"/>
                </a:ext>
              </a:extLst>
            </p:cNvPr>
            <p:cNvSpPr txBox="1"/>
            <p:nvPr/>
          </p:nvSpPr>
          <p:spPr>
            <a:xfrm>
              <a:off x="2825682" y="4298842"/>
              <a:ext cx="1676400" cy="7078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sz="2000" kern="0" dirty="0">
                  <a:solidFill>
                    <a:prstClr val="black"/>
                  </a:solidFill>
                  <a:latin typeface="+mj-lt"/>
                  <a:cs typeface="Arial" panose="020B0604020202020204" pitchFamily="34" charset="0"/>
                </a:rPr>
                <a:t>A</a:t>
              </a:r>
              <a:r>
                <a:rPr kumimoji="0" lang="en-US" sz="2000" b="0" i="0" u="none" strike="noStrike" kern="0" cap="none" spc="0" normalizeH="0" baseline="0" noProof="0" dirty="0" err="1" smtClean="0">
                  <a:ln>
                    <a:noFill/>
                  </a:ln>
                  <a:solidFill>
                    <a:prstClr val="black"/>
                  </a:solidFill>
                  <a:effectLst/>
                  <a:uLnTx/>
                  <a:uFillTx/>
                  <a:latin typeface="+mj-lt"/>
                  <a:cs typeface="Arial" panose="020B0604020202020204" pitchFamily="34" charset="0"/>
                </a:rPr>
                <a:t>ccept</a:t>
              </a:r>
              <a:r>
                <a:rPr kumimoji="0" lang="en-US" sz="2000" b="0" i="0" u="none" strike="noStrike" kern="0" cap="none" spc="0" normalizeH="0" baseline="0" noProof="0" dirty="0" smtClean="0">
                  <a:ln>
                    <a:noFill/>
                  </a:ln>
                  <a:solidFill>
                    <a:prstClr val="black"/>
                  </a:solidFill>
                  <a:effectLst/>
                  <a:uLnTx/>
                  <a:uFillTx/>
                  <a:latin typeface="+mj-lt"/>
                  <a:cs typeface="Arial" panose="020B0604020202020204" pitchFamily="34" charset="0"/>
                </a:rPr>
                <a:t> request</a:t>
              </a:r>
            </a:p>
          </p:txBody>
        </p:sp>
        <p:cxnSp>
          <p:nvCxnSpPr>
            <p:cNvPr id="85" name="Straight Arrow Connector 84">
              <a:extLst>
                <a:ext uri="{FF2B5EF4-FFF2-40B4-BE49-F238E27FC236}">
                  <a16:creationId xmlns="" xmlns:a16="http://schemas.microsoft.com/office/drawing/2014/main" id="{7B3AA588-AB50-429B-9C72-272635C836F7}"/>
                </a:ext>
              </a:extLst>
            </p:cNvPr>
            <p:cNvCxnSpPr/>
            <p:nvPr/>
          </p:nvCxnSpPr>
          <p:spPr>
            <a:xfrm>
              <a:off x="7644868" y="4945760"/>
              <a:ext cx="457200" cy="1588"/>
            </a:xfrm>
            <a:prstGeom prst="straightConnector1">
              <a:avLst/>
            </a:prstGeom>
            <a:noFill/>
            <a:ln w="6350" cap="flat" cmpd="sng" algn="ctr">
              <a:solidFill>
                <a:srgbClr val="5B9BD5"/>
              </a:solidFill>
              <a:prstDash val="solid"/>
              <a:miter lim="800000"/>
              <a:tailEnd type="arrow"/>
            </a:ln>
            <a:effectLst/>
          </p:spPr>
        </p:cxnSp>
        <p:sp>
          <p:nvSpPr>
            <p:cNvPr id="86" name="TextBox 85">
              <a:extLst>
                <a:ext uri="{FF2B5EF4-FFF2-40B4-BE49-F238E27FC236}">
                  <a16:creationId xmlns="" xmlns:a16="http://schemas.microsoft.com/office/drawing/2014/main" id="{CC43FEBE-CC7B-4C15-9D6C-FAC3B3FE788A}"/>
                </a:ext>
              </a:extLst>
            </p:cNvPr>
            <p:cNvSpPr txBox="1"/>
            <p:nvPr/>
          </p:nvSpPr>
          <p:spPr>
            <a:xfrm>
              <a:off x="7620287" y="4945760"/>
              <a:ext cx="689612" cy="400110"/>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sz="2000" kern="0" dirty="0">
                  <a:solidFill>
                    <a:prstClr val="black"/>
                  </a:solidFill>
                  <a:latin typeface="+mj-lt"/>
                  <a:cs typeface="Arial" panose="020B0604020202020204" pitchFamily="34" charset="0"/>
                </a:rPr>
                <a:t>T</a:t>
              </a:r>
              <a:r>
                <a:rPr kumimoji="0" lang="en-US" sz="2000" b="0" i="0" u="none" strike="noStrike" kern="0" cap="none" spc="0" normalizeH="0" baseline="0" noProof="0" dirty="0" err="1" smtClean="0">
                  <a:ln>
                    <a:noFill/>
                  </a:ln>
                  <a:solidFill>
                    <a:prstClr val="black"/>
                  </a:solidFill>
                  <a:effectLst/>
                  <a:uLnTx/>
                  <a:uFillTx/>
                  <a:latin typeface="+mj-lt"/>
                  <a:cs typeface="Arial" panose="020B0604020202020204" pitchFamily="34" charset="0"/>
                </a:rPr>
                <a:t>ime</a:t>
              </a:r>
              <a:endParaRPr kumimoji="0" lang="en-US" sz="2000" b="0" i="0" u="none" strike="noStrike" kern="0" cap="none" spc="0" normalizeH="0" baseline="0" noProof="0" dirty="0" smtClean="0">
                <a:ln>
                  <a:noFill/>
                </a:ln>
                <a:solidFill>
                  <a:prstClr val="black"/>
                </a:solidFill>
                <a:effectLst/>
                <a:uLnTx/>
                <a:uFillTx/>
                <a:latin typeface="+mj-lt"/>
                <a:cs typeface="Arial" panose="020B0604020202020204" pitchFamily="34" charset="0"/>
              </a:endParaRPr>
            </a:p>
          </p:txBody>
        </p:sp>
        <p:cxnSp>
          <p:nvCxnSpPr>
            <p:cNvPr id="87" name="Straight Connector 86">
              <a:extLst>
                <a:ext uri="{FF2B5EF4-FFF2-40B4-BE49-F238E27FC236}">
                  <a16:creationId xmlns="" xmlns:a16="http://schemas.microsoft.com/office/drawing/2014/main" id="{D6EBDE7F-FA80-48AA-BC3E-E674C198798C}"/>
                </a:ext>
              </a:extLst>
            </p:cNvPr>
            <p:cNvCxnSpPr>
              <a:cxnSpLocks/>
            </p:cNvCxnSpPr>
            <p:nvPr/>
          </p:nvCxnSpPr>
          <p:spPr>
            <a:xfrm flipV="1">
              <a:off x="5282669" y="3584794"/>
              <a:ext cx="264583" cy="1286933"/>
            </a:xfrm>
            <a:prstGeom prst="line">
              <a:avLst/>
            </a:prstGeom>
            <a:noFill/>
            <a:ln w="28575" cap="flat" cmpd="sng" algn="ctr">
              <a:solidFill>
                <a:srgbClr val="5B9BD5"/>
              </a:solidFill>
              <a:prstDash val="solid"/>
              <a:miter lim="800000"/>
              <a:tailEnd type="stealth" w="med" len="lg"/>
            </a:ln>
            <a:effectLst/>
          </p:spPr>
        </p:cxnSp>
        <p:cxnSp>
          <p:nvCxnSpPr>
            <p:cNvPr id="88" name="Straight Connector 87">
              <a:extLst>
                <a:ext uri="{FF2B5EF4-FFF2-40B4-BE49-F238E27FC236}">
                  <a16:creationId xmlns="" xmlns:a16="http://schemas.microsoft.com/office/drawing/2014/main" id="{A9A246E3-5391-430D-930D-6060B9C92DB0}"/>
                </a:ext>
              </a:extLst>
            </p:cNvPr>
            <p:cNvCxnSpPr>
              <a:cxnSpLocks/>
            </p:cNvCxnSpPr>
            <p:nvPr/>
          </p:nvCxnSpPr>
          <p:spPr>
            <a:xfrm>
              <a:off x="5581118" y="3606225"/>
              <a:ext cx="333902" cy="1284552"/>
            </a:xfrm>
            <a:prstGeom prst="line">
              <a:avLst/>
            </a:prstGeom>
            <a:noFill/>
            <a:ln w="28575" cap="flat" cmpd="sng" algn="ctr">
              <a:solidFill>
                <a:srgbClr val="5B9BD5"/>
              </a:solidFill>
              <a:prstDash val="solid"/>
              <a:miter lim="800000"/>
              <a:tailEnd type="stealth" w="med" len="lg"/>
            </a:ln>
            <a:effectLst/>
          </p:spPr>
        </p:cxnSp>
        <p:sp>
          <p:nvSpPr>
            <p:cNvPr id="89" name="TextBox 88">
              <a:extLst>
                <a:ext uri="{FF2B5EF4-FFF2-40B4-BE49-F238E27FC236}">
                  <a16:creationId xmlns="" xmlns:a16="http://schemas.microsoft.com/office/drawing/2014/main" id="{C8E4BBF0-C261-491B-8436-8CC1A2094511}"/>
                </a:ext>
              </a:extLst>
            </p:cNvPr>
            <p:cNvSpPr txBox="1"/>
            <p:nvPr/>
          </p:nvSpPr>
          <p:spPr>
            <a:xfrm>
              <a:off x="4735690" y="2913188"/>
              <a:ext cx="1750129" cy="400110"/>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smtClean="0">
                  <a:ln>
                    <a:noFill/>
                  </a:ln>
                  <a:solidFill>
                    <a:prstClr val="black"/>
                  </a:solidFill>
                  <a:effectLst/>
                  <a:uLnTx/>
                  <a:uFillTx/>
                  <a:latin typeface="+mj-lt"/>
                  <a:cs typeface="Arial" panose="020B0604020202020204" pitchFamily="34" charset="0"/>
                </a:rPr>
                <a:t>Interrupt client</a:t>
              </a:r>
            </a:p>
          </p:txBody>
        </p:sp>
        <p:sp>
          <p:nvSpPr>
            <p:cNvPr id="90" name="TextBox 89">
              <a:extLst>
                <a:ext uri="{FF2B5EF4-FFF2-40B4-BE49-F238E27FC236}">
                  <a16:creationId xmlns="" xmlns:a16="http://schemas.microsoft.com/office/drawing/2014/main" id="{63B52004-AF16-43BB-86AC-5DB7F40E0A0C}"/>
                </a:ext>
              </a:extLst>
            </p:cNvPr>
            <p:cNvSpPr txBox="1"/>
            <p:nvPr/>
          </p:nvSpPr>
          <p:spPr>
            <a:xfrm>
              <a:off x="4533900" y="3988956"/>
              <a:ext cx="1030285" cy="7078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sz="2000" kern="0" dirty="0">
                  <a:solidFill>
                    <a:prstClr val="black"/>
                  </a:solidFill>
                  <a:latin typeface="+mj-lt"/>
                  <a:cs typeface="Arial" panose="020B0604020202020204" pitchFamily="34" charset="0"/>
                </a:rPr>
                <a:t>R</a:t>
              </a:r>
              <a:r>
                <a:rPr kumimoji="0" lang="en-US" sz="2000" b="0" i="0" u="none" strike="noStrike" kern="0" cap="none" spc="0" normalizeH="0" baseline="0" noProof="0" dirty="0" err="1" smtClean="0">
                  <a:ln>
                    <a:noFill/>
                  </a:ln>
                  <a:solidFill>
                    <a:prstClr val="black"/>
                  </a:solidFill>
                  <a:effectLst/>
                  <a:uLnTx/>
                  <a:uFillTx/>
                  <a:latin typeface="+mj-lt"/>
                  <a:cs typeface="Arial" panose="020B0604020202020204" pitchFamily="34" charset="0"/>
                </a:rPr>
                <a:t>eturn</a:t>
              </a:r>
              <a:r>
                <a:rPr kumimoji="0" lang="en-US" sz="2000" b="0" i="0" u="none" strike="noStrike" kern="0" cap="none" spc="0" normalizeH="0" baseline="0" noProof="0" dirty="0" smtClean="0">
                  <a:ln>
                    <a:noFill/>
                  </a:ln>
                  <a:solidFill>
                    <a:prstClr val="black"/>
                  </a:solidFill>
                  <a:effectLst/>
                  <a:uLnTx/>
                  <a:uFillTx/>
                  <a:latin typeface="+mj-lt"/>
                  <a:cs typeface="Arial" panose="020B0604020202020204" pitchFamily="34" charset="0"/>
                </a:rPr>
                <a:t> results</a:t>
              </a:r>
            </a:p>
          </p:txBody>
        </p:sp>
        <p:sp>
          <p:nvSpPr>
            <p:cNvPr id="91" name="TextBox 90">
              <a:extLst>
                <a:ext uri="{FF2B5EF4-FFF2-40B4-BE49-F238E27FC236}">
                  <a16:creationId xmlns="" xmlns:a16="http://schemas.microsoft.com/office/drawing/2014/main" id="{45CCC453-182D-457E-8853-8EF8DD518101}"/>
                </a:ext>
              </a:extLst>
            </p:cNvPr>
            <p:cNvSpPr txBox="1"/>
            <p:nvPr/>
          </p:nvSpPr>
          <p:spPr>
            <a:xfrm>
              <a:off x="5791200" y="3987225"/>
              <a:ext cx="1614392" cy="400110"/>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sz="2000" kern="0" dirty="0">
                  <a:solidFill>
                    <a:prstClr val="black"/>
                  </a:solidFill>
                  <a:latin typeface="+mj-lt"/>
                  <a:cs typeface="Arial" panose="020B0604020202020204" pitchFamily="34" charset="0"/>
                </a:rPr>
                <a:t>A</a:t>
              </a:r>
              <a:r>
                <a:rPr kumimoji="0" lang="en-US" sz="2000" b="0" i="0" u="none" strike="noStrike" kern="0" cap="none" spc="0" normalizeH="0" baseline="0" noProof="0" dirty="0" err="1" smtClean="0">
                  <a:ln>
                    <a:noFill/>
                  </a:ln>
                  <a:solidFill>
                    <a:prstClr val="black"/>
                  </a:solidFill>
                  <a:effectLst/>
                  <a:uLnTx/>
                  <a:uFillTx/>
                  <a:latin typeface="+mj-lt"/>
                  <a:cs typeface="Arial" panose="020B0604020202020204" pitchFamily="34" charset="0"/>
                </a:rPr>
                <a:t>cknowledge</a:t>
              </a:r>
              <a:endParaRPr kumimoji="0" lang="en-US" sz="2000" b="0" i="0" u="none" strike="noStrike" kern="0" cap="none" spc="0" normalizeH="0" baseline="0" noProof="0" dirty="0" smtClean="0">
                <a:ln>
                  <a:noFill/>
                </a:ln>
                <a:solidFill>
                  <a:prstClr val="black"/>
                </a:solidFill>
                <a:effectLst/>
                <a:uLnTx/>
                <a:uFillTx/>
                <a:latin typeface="+mj-lt"/>
                <a:cs typeface="Arial" panose="020B0604020202020204" pitchFamily="34" charset="0"/>
              </a:endParaRPr>
            </a:p>
          </p:txBody>
        </p:sp>
        <p:cxnSp>
          <p:nvCxnSpPr>
            <p:cNvPr id="92" name="Straight Connector 91">
              <a:extLst>
                <a:ext uri="{FF2B5EF4-FFF2-40B4-BE49-F238E27FC236}">
                  <a16:creationId xmlns="" xmlns:a16="http://schemas.microsoft.com/office/drawing/2014/main" id="{2BAC0739-614A-4D83-AAC0-B43E3403E981}"/>
                </a:ext>
              </a:extLst>
            </p:cNvPr>
            <p:cNvCxnSpPr>
              <a:cxnSpLocks/>
            </p:cNvCxnSpPr>
            <p:nvPr/>
          </p:nvCxnSpPr>
          <p:spPr>
            <a:xfrm>
              <a:off x="5915020" y="4940059"/>
              <a:ext cx="1295935" cy="0"/>
            </a:xfrm>
            <a:prstGeom prst="line">
              <a:avLst/>
            </a:prstGeom>
            <a:noFill/>
            <a:ln w="57150" cap="flat" cmpd="sng" algn="ctr">
              <a:solidFill>
                <a:srgbClr val="5B9BD5"/>
              </a:solidFill>
              <a:prstDash val="solid"/>
              <a:miter lim="800000"/>
            </a:ln>
            <a:effectLst/>
          </p:spPr>
        </p:cxnSp>
        <p:cxnSp>
          <p:nvCxnSpPr>
            <p:cNvPr id="93" name="Straight Connector 92">
              <a:extLst>
                <a:ext uri="{FF2B5EF4-FFF2-40B4-BE49-F238E27FC236}">
                  <a16:creationId xmlns="" xmlns:a16="http://schemas.microsoft.com/office/drawing/2014/main" id="{C62838C3-1952-4269-9D7D-5E93DFA4FD9F}"/>
                </a:ext>
              </a:extLst>
            </p:cNvPr>
            <p:cNvCxnSpPr/>
            <p:nvPr/>
          </p:nvCxnSpPr>
          <p:spPr>
            <a:xfrm>
              <a:off x="5610755" y="3532403"/>
              <a:ext cx="1600200" cy="1588"/>
            </a:xfrm>
            <a:prstGeom prst="line">
              <a:avLst/>
            </a:prstGeom>
            <a:noFill/>
            <a:ln w="57150" cap="flat" cmpd="sng" algn="ctr">
              <a:solidFill>
                <a:srgbClr val="5B9BD5"/>
              </a:solidFill>
              <a:prstDash val="solid"/>
              <a:miter lim="800000"/>
            </a:ln>
            <a:effectLst/>
          </p:spPr>
        </p:cxnSp>
        <p:sp>
          <p:nvSpPr>
            <p:cNvPr id="94" name="TextBox 93">
              <a:extLst>
                <a:ext uri="{FF2B5EF4-FFF2-40B4-BE49-F238E27FC236}">
                  <a16:creationId xmlns="" xmlns:a16="http://schemas.microsoft.com/office/drawing/2014/main" id="{919E4E88-33A6-4280-8E7B-F35B87A5339D}"/>
                </a:ext>
              </a:extLst>
            </p:cNvPr>
            <p:cNvSpPr txBox="1"/>
            <p:nvPr/>
          </p:nvSpPr>
          <p:spPr>
            <a:xfrm>
              <a:off x="5308810" y="5168937"/>
              <a:ext cx="2096782" cy="7078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sz="2000" kern="0" dirty="0">
                  <a:solidFill>
                    <a:prstClr val="black"/>
                  </a:solidFill>
                  <a:latin typeface="+mj-lt"/>
                  <a:cs typeface="Arial" panose="020B0604020202020204" pitchFamily="34" charset="0"/>
                </a:rPr>
                <a:t>C</a:t>
              </a:r>
              <a:r>
                <a:rPr kumimoji="0" lang="en-US" sz="2000" b="0" i="0" u="none" strike="noStrike" kern="0" cap="none" spc="0" normalizeH="0" baseline="0" noProof="0" dirty="0" smtClean="0">
                  <a:ln>
                    <a:noFill/>
                  </a:ln>
                  <a:solidFill>
                    <a:prstClr val="black"/>
                  </a:solidFill>
                  <a:effectLst/>
                  <a:uLnTx/>
                  <a:uFillTx/>
                  <a:latin typeface="+mj-lt"/>
                  <a:cs typeface="Arial" panose="020B0604020202020204" pitchFamily="34" charset="0"/>
                </a:rPr>
                <a:t>all client with asynchronous RPC</a:t>
              </a:r>
            </a:p>
          </p:txBody>
        </p:sp>
        <p:cxnSp>
          <p:nvCxnSpPr>
            <p:cNvPr id="95" name="Straight Arrow Connector 94">
              <a:extLst>
                <a:ext uri="{FF2B5EF4-FFF2-40B4-BE49-F238E27FC236}">
                  <a16:creationId xmlns="" xmlns:a16="http://schemas.microsoft.com/office/drawing/2014/main" id="{56B7CC90-89AA-4F1E-8353-46F7903C6803}"/>
                </a:ext>
              </a:extLst>
            </p:cNvPr>
            <p:cNvCxnSpPr/>
            <p:nvPr/>
          </p:nvCxnSpPr>
          <p:spPr>
            <a:xfrm rot="16200000" flipV="1">
              <a:off x="5221066" y="4994392"/>
              <a:ext cx="228600" cy="228600"/>
            </a:xfrm>
            <a:prstGeom prst="straightConnector1">
              <a:avLst/>
            </a:prstGeom>
            <a:noFill/>
            <a:ln w="6350" cap="flat" cmpd="sng" algn="ctr">
              <a:solidFill>
                <a:sysClr val="windowText" lastClr="000000"/>
              </a:solidFill>
              <a:prstDash val="solid"/>
              <a:miter lim="800000"/>
              <a:tailEnd type="arrow"/>
            </a:ln>
            <a:effectLst/>
          </p:spPr>
        </p:cxnSp>
      </p:grpSp>
      <p:cxnSp>
        <p:nvCxnSpPr>
          <p:cNvPr id="96" name="Straight Arrow Connector 95">
            <a:extLst>
              <a:ext uri="{FF2B5EF4-FFF2-40B4-BE49-F238E27FC236}">
                <a16:creationId xmlns="" xmlns:a16="http://schemas.microsoft.com/office/drawing/2014/main" id="{48ED32AA-4CE4-4A70-8D28-F07FD009FA3C}"/>
              </a:ext>
            </a:extLst>
          </p:cNvPr>
          <p:cNvCxnSpPr>
            <a:cxnSpLocks/>
          </p:cNvCxnSpPr>
          <p:nvPr/>
        </p:nvCxnSpPr>
        <p:spPr>
          <a:xfrm>
            <a:off x="6382190" y="3586301"/>
            <a:ext cx="61026" cy="145331"/>
          </a:xfrm>
          <a:prstGeom prst="straightConnector1">
            <a:avLst/>
          </a:prstGeom>
          <a:noFill/>
          <a:ln w="6350" cap="flat" cmpd="sng" algn="ctr">
            <a:solidFill>
              <a:sysClr val="windowText" lastClr="000000"/>
            </a:solidFill>
            <a:prstDash val="solid"/>
            <a:miter lim="800000"/>
            <a:tailEnd type="none"/>
          </a:ln>
          <a:effectLst/>
        </p:spPr>
      </p:cxnSp>
    </p:spTree>
    <p:extLst>
      <p:ext uri="{BB962C8B-B14F-4D97-AF65-F5344CB8AC3E}">
        <p14:creationId xmlns:p14="http://schemas.microsoft.com/office/powerpoint/2010/main" val="3046316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Message-oriented Transient Communication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8000"/>
              </a:lnSpc>
            </a:pPr>
            <a:r>
              <a:rPr lang="en-US" dirty="0"/>
              <a:t>Messages are sent through a channel abstraction</a:t>
            </a:r>
          </a:p>
          <a:p>
            <a:pPr>
              <a:lnSpc>
                <a:spcPct val="108000"/>
              </a:lnSpc>
            </a:pPr>
            <a:r>
              <a:rPr lang="en-US" dirty="0"/>
              <a:t>The channel connects two running processes</a:t>
            </a:r>
          </a:p>
          <a:p>
            <a:pPr>
              <a:lnSpc>
                <a:spcPct val="108000"/>
              </a:lnSpc>
            </a:pPr>
            <a:r>
              <a:rPr lang="en-US" dirty="0"/>
              <a:t>Time coupling between sender and receiver</a:t>
            </a:r>
          </a:p>
          <a:p>
            <a:pPr>
              <a:lnSpc>
                <a:spcPct val="108000"/>
              </a:lnSpc>
            </a:pPr>
            <a:r>
              <a:rPr lang="en-US" dirty="0"/>
              <a:t>Transmission time is measured in terms of milliseconds, </a:t>
            </a:r>
            <a:r>
              <a:rPr lang="en-US" dirty="0" smtClean="0"/>
              <a:t>typically</a:t>
            </a:r>
          </a:p>
          <a:p>
            <a:pPr>
              <a:lnSpc>
                <a:spcPct val="108000"/>
              </a:lnSpc>
            </a:pPr>
            <a:r>
              <a:rPr lang="en-US" dirty="0"/>
              <a:t>Examples</a:t>
            </a:r>
          </a:p>
          <a:p>
            <a:pPr lvl="1">
              <a:buFont typeface="Wingdings" panose="05000000000000000000" pitchFamily="2" charset="2"/>
              <a:buChar char="§"/>
            </a:pPr>
            <a:r>
              <a:rPr lang="en-US" sz="2400" dirty="0"/>
              <a:t>Berkeley Sockets — typical in TCP/IP-based networks</a:t>
            </a:r>
          </a:p>
          <a:p>
            <a:pPr lvl="1">
              <a:buFont typeface="Wingdings" panose="05000000000000000000" pitchFamily="2" charset="2"/>
              <a:buChar char="§"/>
            </a:pPr>
            <a:r>
              <a:rPr lang="en-US" sz="2400" dirty="0"/>
              <a:t>MPI (Message-Passing Interface) — typical in high-speed</a:t>
            </a:r>
          </a:p>
          <a:p>
            <a:pPr lvl="1">
              <a:buFont typeface="Wingdings" panose="05000000000000000000" pitchFamily="2" charset="2"/>
              <a:buChar char="§"/>
            </a:pPr>
            <a:r>
              <a:rPr lang="en-US" sz="2400" dirty="0"/>
              <a:t>interconnection networks among parallel </a:t>
            </a:r>
            <a:r>
              <a:rPr lang="en-US" sz="2400" dirty="0" smtClean="0"/>
              <a:t>processes</a:t>
            </a:r>
          </a:p>
          <a:p>
            <a:pPr marL="265113" lvl="1" indent="-265113">
              <a:lnSpc>
                <a:spcPct val="108000"/>
              </a:lnSpc>
              <a:spcBef>
                <a:spcPts val="1000"/>
              </a:spcBef>
              <a:buFont typeface="Webdings" panose="05030102010509060703" pitchFamily="18" charset="2"/>
              <a:buChar char=""/>
            </a:pPr>
            <a:r>
              <a:rPr lang="en-US" sz="2400" b="1" dirty="0">
                <a:solidFill>
                  <a:srgbClr val="1D3064"/>
                </a:solidFill>
              </a:rPr>
              <a:t>Socket</a:t>
            </a:r>
            <a:r>
              <a:rPr lang="en-US" sz="2400" dirty="0"/>
              <a:t> - communication end point to which an application can write data that are to be sent out over the underlying network, and from which incoming data can be read.</a:t>
            </a:r>
          </a:p>
        </p:txBody>
      </p:sp>
    </p:spTree>
    <p:extLst>
      <p:ext uri="{BB962C8B-B14F-4D97-AF65-F5344CB8AC3E}">
        <p14:creationId xmlns:p14="http://schemas.microsoft.com/office/powerpoint/2010/main" val="63885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Berkeley Sockets</a:t>
            </a:r>
          </a:p>
        </p:txBody>
      </p:sp>
      <p:graphicFrame>
        <p:nvGraphicFramePr>
          <p:cNvPr id="6" name="Content Placeholder 16"/>
          <p:cNvGraphicFramePr>
            <a:graphicFrameLocks/>
          </p:cNvGraphicFramePr>
          <p:nvPr>
            <p:extLst/>
          </p:nvPr>
        </p:nvGraphicFramePr>
        <p:xfrm>
          <a:off x="80962" y="730249"/>
          <a:ext cx="5233987" cy="457200"/>
        </p:xfrm>
        <a:graphic>
          <a:graphicData uri="http://schemas.openxmlformats.org/drawingml/2006/table">
            <a:tbl>
              <a:tblPr firstRow="1" bandRow="1">
                <a:tableStyleId>{5C22544A-7EE6-4342-B048-85BDC9FD1C3A}</a:tableStyleId>
              </a:tblPr>
              <a:tblGrid>
                <a:gridCol w="1384981">
                  <a:extLst>
                    <a:ext uri="{9D8B030D-6E8A-4147-A177-3AD203B41FA5}">
                      <a16:colId xmlns:a16="http://schemas.microsoft.com/office/drawing/2014/main" xmlns="" val="2803588477"/>
                    </a:ext>
                  </a:extLst>
                </a:gridCol>
                <a:gridCol w="3849006">
                  <a:extLst>
                    <a:ext uri="{9D8B030D-6E8A-4147-A177-3AD203B41FA5}">
                      <a16:colId xmlns:a16="http://schemas.microsoft.com/office/drawing/2014/main" xmlns="" val="1368519302"/>
                    </a:ext>
                  </a:extLst>
                </a:gridCol>
              </a:tblGrid>
              <a:tr h="454214">
                <a:tc>
                  <a:txBody>
                    <a:bodyPr/>
                    <a:lstStyle/>
                    <a:p>
                      <a:pPr algn="ctr"/>
                      <a:r>
                        <a:rPr lang="en-US" sz="2400" b="1" i="0" kern="1200" dirty="0" smtClean="0">
                          <a:solidFill>
                            <a:schemeClr val="bg1"/>
                          </a:solidFill>
                          <a:effectLst/>
                          <a:latin typeface="+mn-lt"/>
                          <a:ea typeface="+mn-ea"/>
                          <a:cs typeface="+mn-cs"/>
                        </a:rPr>
                        <a:t>Primitive</a:t>
                      </a:r>
                      <a:endParaRPr lang="en-US" sz="2400" dirty="0">
                        <a:solidFill>
                          <a:schemeClr val="bg1"/>
                        </a:solidFill>
                      </a:endParaRPr>
                    </a:p>
                  </a:txBody>
                  <a:tcPr marL="104658" marR="104658">
                    <a:solidFill>
                      <a:srgbClr val="1D3064"/>
                    </a:solidFill>
                  </a:tcPr>
                </a:tc>
                <a:tc>
                  <a:txBody>
                    <a:bodyPr/>
                    <a:lstStyle/>
                    <a:p>
                      <a:pPr algn="ctr"/>
                      <a:r>
                        <a:rPr lang="en-US" sz="2400" b="1" i="0" kern="1200" dirty="0" smtClean="0">
                          <a:solidFill>
                            <a:schemeClr val="bg1"/>
                          </a:solidFill>
                          <a:effectLst/>
                          <a:latin typeface="+mn-lt"/>
                          <a:ea typeface="+mn-ea"/>
                          <a:cs typeface="+mn-cs"/>
                        </a:rPr>
                        <a:t>Meaning</a:t>
                      </a:r>
                      <a:endParaRPr lang="en-US" sz="2400" dirty="0">
                        <a:solidFill>
                          <a:schemeClr val="bg1"/>
                        </a:solidFill>
                      </a:endParaRPr>
                    </a:p>
                  </a:txBody>
                  <a:tcPr marL="104658" marR="104658">
                    <a:solidFill>
                      <a:srgbClr val="1D3064"/>
                    </a:solidFill>
                  </a:tcPr>
                </a:tc>
                <a:extLst>
                  <a:ext uri="{0D108BD9-81ED-4DB2-BD59-A6C34878D82A}">
                    <a16:rowId xmlns:a16="http://schemas.microsoft.com/office/drawing/2014/main" xmlns="" val="1230567956"/>
                  </a:ext>
                </a:extLst>
              </a:tr>
            </a:tbl>
          </a:graphicData>
        </a:graphic>
      </p:graphicFrame>
      <p:graphicFrame>
        <p:nvGraphicFramePr>
          <p:cNvPr id="7" name="Content Placeholder 16"/>
          <p:cNvGraphicFramePr>
            <a:graphicFrameLocks/>
          </p:cNvGraphicFramePr>
          <p:nvPr>
            <p:extLst/>
          </p:nvPr>
        </p:nvGraphicFramePr>
        <p:xfrm>
          <a:off x="80963" y="1184463"/>
          <a:ext cx="5233987" cy="701040"/>
        </p:xfrm>
        <a:graphic>
          <a:graphicData uri="http://schemas.openxmlformats.org/drawingml/2006/table">
            <a:tbl>
              <a:tblPr firstRow="1" bandRow="1">
                <a:tableStyleId>{5C22544A-7EE6-4342-B048-85BDC9FD1C3A}</a:tableStyleId>
              </a:tblPr>
              <a:tblGrid>
                <a:gridCol w="1370466">
                  <a:extLst>
                    <a:ext uri="{9D8B030D-6E8A-4147-A177-3AD203B41FA5}">
                      <a16:colId xmlns:a16="http://schemas.microsoft.com/office/drawing/2014/main" xmlns="" val="2803588477"/>
                    </a:ext>
                  </a:extLst>
                </a:gridCol>
                <a:gridCol w="3863521">
                  <a:extLst>
                    <a:ext uri="{9D8B030D-6E8A-4147-A177-3AD203B41FA5}">
                      <a16:colId xmlns:a16="http://schemas.microsoft.com/office/drawing/2014/main" xmlns="" val="1368519302"/>
                    </a:ext>
                  </a:extLst>
                </a:gridCol>
              </a:tblGrid>
              <a:tr h="394909">
                <a:tc>
                  <a:txBody>
                    <a:bodyPr/>
                    <a:lstStyle/>
                    <a:p>
                      <a:pPr algn="just"/>
                      <a:r>
                        <a:rPr lang="en-US" sz="2000" b="0" i="0" kern="1200" dirty="0" smtClean="0">
                          <a:solidFill>
                            <a:schemeClr val="accent6"/>
                          </a:solidFill>
                          <a:effectLst/>
                          <a:latin typeface="+mn-lt"/>
                          <a:ea typeface="+mn-ea"/>
                          <a:cs typeface="+mn-cs"/>
                        </a:rPr>
                        <a:t>Socket</a:t>
                      </a:r>
                      <a:endParaRPr lang="en-US" sz="2000" dirty="0">
                        <a:solidFill>
                          <a:schemeClr val="accent6"/>
                        </a:solidFill>
                      </a:endParaRPr>
                    </a:p>
                  </a:txBody>
                  <a:tcPr>
                    <a:noFill/>
                  </a:tcPr>
                </a:tc>
                <a:tc>
                  <a:txBody>
                    <a:bodyPr/>
                    <a:lstStyle/>
                    <a:p>
                      <a:pPr algn="just"/>
                      <a:r>
                        <a:rPr lang="en-US" sz="2000" b="0" i="0" kern="1200" dirty="0" smtClean="0">
                          <a:solidFill>
                            <a:schemeClr val="bg2">
                              <a:lumMod val="10000"/>
                            </a:schemeClr>
                          </a:solidFill>
                          <a:effectLst/>
                          <a:latin typeface="+mn-lt"/>
                          <a:ea typeface="+mn-ea"/>
                          <a:cs typeface="+mn-cs"/>
                        </a:rPr>
                        <a:t>Create a new communication end point</a:t>
                      </a:r>
                      <a:endParaRPr lang="en-US" sz="2000" dirty="0">
                        <a:solidFill>
                          <a:schemeClr val="bg2">
                            <a:lumMod val="10000"/>
                          </a:schemeClr>
                        </a:solidFill>
                      </a:endParaRPr>
                    </a:p>
                  </a:txBody>
                  <a:tcPr>
                    <a:noFill/>
                  </a:tcPr>
                </a:tc>
                <a:extLst>
                  <a:ext uri="{0D108BD9-81ED-4DB2-BD59-A6C34878D82A}">
                    <a16:rowId xmlns:a16="http://schemas.microsoft.com/office/drawing/2014/main" xmlns="" val="1230567956"/>
                  </a:ext>
                </a:extLst>
              </a:tr>
            </a:tbl>
          </a:graphicData>
        </a:graphic>
      </p:graphicFrame>
      <p:graphicFrame>
        <p:nvGraphicFramePr>
          <p:cNvPr id="11" name="Content Placeholder 16"/>
          <p:cNvGraphicFramePr>
            <a:graphicFrameLocks/>
          </p:cNvGraphicFramePr>
          <p:nvPr>
            <p:extLst/>
          </p:nvPr>
        </p:nvGraphicFramePr>
        <p:xfrm>
          <a:off x="80962" y="1906786"/>
          <a:ext cx="5233987" cy="396240"/>
        </p:xfrm>
        <a:graphic>
          <a:graphicData uri="http://schemas.openxmlformats.org/drawingml/2006/table">
            <a:tbl>
              <a:tblPr firstRow="1" bandRow="1">
                <a:tableStyleId>{5C22544A-7EE6-4342-B048-85BDC9FD1C3A}</a:tableStyleId>
              </a:tblPr>
              <a:tblGrid>
                <a:gridCol w="1384981">
                  <a:extLst>
                    <a:ext uri="{9D8B030D-6E8A-4147-A177-3AD203B41FA5}">
                      <a16:colId xmlns:a16="http://schemas.microsoft.com/office/drawing/2014/main" xmlns="" val="2803588477"/>
                    </a:ext>
                  </a:extLst>
                </a:gridCol>
                <a:gridCol w="3849006">
                  <a:extLst>
                    <a:ext uri="{9D8B030D-6E8A-4147-A177-3AD203B41FA5}">
                      <a16:colId xmlns:a16="http://schemas.microsoft.com/office/drawing/2014/main" xmlns="" val="1368519302"/>
                    </a:ext>
                  </a:extLst>
                </a:gridCol>
              </a:tblGrid>
              <a:tr h="394909">
                <a:tc>
                  <a:txBody>
                    <a:bodyPr/>
                    <a:lstStyle/>
                    <a:p>
                      <a:pPr algn="just"/>
                      <a:r>
                        <a:rPr lang="en-US" sz="2000" b="0" i="0" kern="1200" dirty="0" smtClean="0">
                          <a:solidFill>
                            <a:schemeClr val="accent6"/>
                          </a:solidFill>
                          <a:effectLst/>
                          <a:latin typeface="+mn-lt"/>
                          <a:ea typeface="+mn-ea"/>
                          <a:cs typeface="+mn-cs"/>
                        </a:rPr>
                        <a:t>Bind</a:t>
                      </a:r>
                      <a:endParaRPr lang="en-US" sz="2000" dirty="0">
                        <a:solidFill>
                          <a:schemeClr val="accent6"/>
                        </a:solidFill>
                      </a:endParaRPr>
                    </a:p>
                  </a:txBody>
                  <a:tcPr>
                    <a:solidFill>
                      <a:schemeClr val="bg1">
                        <a:lumMod val="95000"/>
                      </a:schemeClr>
                    </a:solidFill>
                  </a:tcPr>
                </a:tc>
                <a:tc>
                  <a:txBody>
                    <a:bodyPr/>
                    <a:lstStyle/>
                    <a:p>
                      <a:pPr algn="just"/>
                      <a:r>
                        <a:rPr lang="en-US" sz="2000" b="0" i="0" kern="1200" dirty="0" smtClean="0">
                          <a:solidFill>
                            <a:schemeClr val="bg2">
                              <a:lumMod val="10000"/>
                            </a:schemeClr>
                          </a:solidFill>
                          <a:effectLst/>
                          <a:latin typeface="+mn-lt"/>
                          <a:ea typeface="+mn-ea"/>
                          <a:cs typeface="+mn-cs"/>
                        </a:rPr>
                        <a:t>Attach a local address to a socket</a:t>
                      </a:r>
                      <a:endParaRPr lang="en-US" sz="2000" dirty="0">
                        <a:solidFill>
                          <a:schemeClr val="bg2">
                            <a:lumMod val="10000"/>
                          </a:schemeClr>
                        </a:solidFill>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graphicFrame>
        <p:nvGraphicFramePr>
          <p:cNvPr id="12" name="Content Placeholder 16"/>
          <p:cNvGraphicFramePr>
            <a:graphicFrameLocks/>
          </p:cNvGraphicFramePr>
          <p:nvPr>
            <p:extLst/>
          </p:nvPr>
        </p:nvGraphicFramePr>
        <p:xfrm>
          <a:off x="80962" y="2299528"/>
          <a:ext cx="5233987" cy="701040"/>
        </p:xfrm>
        <a:graphic>
          <a:graphicData uri="http://schemas.openxmlformats.org/drawingml/2006/table">
            <a:tbl>
              <a:tblPr firstRow="1" bandRow="1">
                <a:tableStyleId>{5C22544A-7EE6-4342-B048-85BDC9FD1C3A}</a:tableStyleId>
              </a:tblPr>
              <a:tblGrid>
                <a:gridCol w="1370467">
                  <a:extLst>
                    <a:ext uri="{9D8B030D-6E8A-4147-A177-3AD203B41FA5}">
                      <a16:colId xmlns:a16="http://schemas.microsoft.com/office/drawing/2014/main" xmlns="" val="2803588477"/>
                    </a:ext>
                  </a:extLst>
                </a:gridCol>
                <a:gridCol w="3863520">
                  <a:extLst>
                    <a:ext uri="{9D8B030D-6E8A-4147-A177-3AD203B41FA5}">
                      <a16:colId xmlns:a16="http://schemas.microsoft.com/office/drawing/2014/main" xmlns="" val="1368519302"/>
                    </a:ext>
                  </a:extLst>
                </a:gridCol>
              </a:tblGrid>
              <a:tr h="394909">
                <a:tc>
                  <a:txBody>
                    <a:bodyPr/>
                    <a:lstStyle/>
                    <a:p>
                      <a:pPr algn="just"/>
                      <a:r>
                        <a:rPr lang="en-US" sz="2000" b="0" i="0" kern="1200" dirty="0" smtClean="0">
                          <a:solidFill>
                            <a:schemeClr val="accent6"/>
                          </a:solidFill>
                          <a:effectLst/>
                          <a:latin typeface="+mn-lt"/>
                          <a:ea typeface="+mn-ea"/>
                          <a:cs typeface="+mn-cs"/>
                        </a:rPr>
                        <a:t>Listen</a:t>
                      </a:r>
                      <a:endParaRPr lang="en-US" sz="2000" dirty="0">
                        <a:solidFill>
                          <a:schemeClr val="accent6"/>
                        </a:solidFill>
                      </a:endParaRPr>
                    </a:p>
                  </a:txBody>
                  <a:tcPr>
                    <a:noFill/>
                  </a:tcPr>
                </a:tc>
                <a:tc>
                  <a:txBody>
                    <a:bodyPr/>
                    <a:lstStyle/>
                    <a:p>
                      <a:pPr algn="just"/>
                      <a:r>
                        <a:rPr lang="en-US" sz="2000" b="0" i="0" kern="1200" dirty="0" smtClean="0">
                          <a:solidFill>
                            <a:schemeClr val="bg2">
                              <a:lumMod val="10000"/>
                            </a:schemeClr>
                          </a:solidFill>
                          <a:effectLst/>
                          <a:latin typeface="+mn-lt"/>
                          <a:ea typeface="+mn-ea"/>
                          <a:cs typeface="+mn-cs"/>
                        </a:rPr>
                        <a:t>Announce willingness to accept connections</a:t>
                      </a:r>
                      <a:endParaRPr lang="en-US" sz="2000" dirty="0">
                        <a:solidFill>
                          <a:schemeClr val="bg2">
                            <a:lumMod val="10000"/>
                          </a:schemeClr>
                        </a:solidFill>
                      </a:endParaRPr>
                    </a:p>
                  </a:txBody>
                  <a:tcPr>
                    <a:noFill/>
                  </a:tcPr>
                </a:tc>
                <a:extLst>
                  <a:ext uri="{0D108BD9-81ED-4DB2-BD59-A6C34878D82A}">
                    <a16:rowId xmlns:a16="http://schemas.microsoft.com/office/drawing/2014/main" xmlns="" val="1230567956"/>
                  </a:ext>
                </a:extLst>
              </a:tr>
            </a:tbl>
          </a:graphicData>
        </a:graphic>
      </p:graphicFrame>
      <p:graphicFrame>
        <p:nvGraphicFramePr>
          <p:cNvPr id="13" name="Content Placeholder 16"/>
          <p:cNvGraphicFramePr>
            <a:graphicFrameLocks/>
          </p:cNvGraphicFramePr>
          <p:nvPr>
            <p:extLst/>
          </p:nvPr>
        </p:nvGraphicFramePr>
        <p:xfrm>
          <a:off x="80961" y="3014673"/>
          <a:ext cx="5233987" cy="701040"/>
        </p:xfrm>
        <a:graphic>
          <a:graphicData uri="http://schemas.openxmlformats.org/drawingml/2006/table">
            <a:tbl>
              <a:tblPr firstRow="1" bandRow="1">
                <a:tableStyleId>{5C22544A-7EE6-4342-B048-85BDC9FD1C3A}</a:tableStyleId>
              </a:tblPr>
              <a:tblGrid>
                <a:gridCol w="1370468">
                  <a:extLst>
                    <a:ext uri="{9D8B030D-6E8A-4147-A177-3AD203B41FA5}">
                      <a16:colId xmlns:a16="http://schemas.microsoft.com/office/drawing/2014/main" xmlns="" val="2803588477"/>
                    </a:ext>
                  </a:extLst>
                </a:gridCol>
                <a:gridCol w="3863519">
                  <a:extLst>
                    <a:ext uri="{9D8B030D-6E8A-4147-A177-3AD203B41FA5}">
                      <a16:colId xmlns:a16="http://schemas.microsoft.com/office/drawing/2014/main" xmlns="" val="1368519302"/>
                    </a:ext>
                  </a:extLst>
                </a:gridCol>
              </a:tblGrid>
              <a:tr h="394909">
                <a:tc>
                  <a:txBody>
                    <a:bodyPr/>
                    <a:lstStyle/>
                    <a:p>
                      <a:pPr algn="just"/>
                      <a:r>
                        <a:rPr lang="en-US" sz="2000" b="0" i="0" kern="1200" dirty="0" smtClean="0">
                          <a:solidFill>
                            <a:schemeClr val="accent6"/>
                          </a:solidFill>
                          <a:effectLst/>
                          <a:latin typeface="+mn-lt"/>
                          <a:ea typeface="+mn-ea"/>
                          <a:cs typeface="+mn-cs"/>
                        </a:rPr>
                        <a:t>Accept</a:t>
                      </a:r>
                      <a:endParaRPr lang="en-US" sz="2000" dirty="0">
                        <a:solidFill>
                          <a:schemeClr val="accent6"/>
                        </a:solidFill>
                      </a:endParaRPr>
                    </a:p>
                  </a:txBody>
                  <a:tcPr>
                    <a:solidFill>
                      <a:schemeClr val="bg1">
                        <a:lumMod val="95000"/>
                      </a:schemeClr>
                    </a:solidFill>
                  </a:tcPr>
                </a:tc>
                <a:tc>
                  <a:txBody>
                    <a:bodyPr/>
                    <a:lstStyle/>
                    <a:p>
                      <a:pPr algn="just"/>
                      <a:r>
                        <a:rPr lang="en-US" sz="2000" b="0" i="0" kern="1200" dirty="0" smtClean="0">
                          <a:solidFill>
                            <a:schemeClr val="bg2">
                              <a:lumMod val="10000"/>
                            </a:schemeClr>
                          </a:solidFill>
                          <a:effectLst/>
                          <a:latin typeface="+mn-lt"/>
                          <a:ea typeface="+mn-ea"/>
                          <a:cs typeface="+mn-cs"/>
                        </a:rPr>
                        <a:t>Block caller until a connection request arrives</a:t>
                      </a:r>
                      <a:endParaRPr lang="en-US" sz="2000" dirty="0">
                        <a:solidFill>
                          <a:schemeClr val="bg2">
                            <a:lumMod val="10000"/>
                          </a:schemeClr>
                        </a:solidFill>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graphicFrame>
        <p:nvGraphicFramePr>
          <p:cNvPr id="20" name="Content Placeholder 16"/>
          <p:cNvGraphicFramePr>
            <a:graphicFrameLocks/>
          </p:cNvGraphicFramePr>
          <p:nvPr>
            <p:extLst/>
          </p:nvPr>
        </p:nvGraphicFramePr>
        <p:xfrm>
          <a:off x="5676900" y="743531"/>
          <a:ext cx="6367464" cy="457200"/>
        </p:xfrm>
        <a:graphic>
          <a:graphicData uri="http://schemas.openxmlformats.org/drawingml/2006/table">
            <a:tbl>
              <a:tblPr firstRow="1" bandRow="1">
                <a:tableStyleId>{5C22544A-7EE6-4342-B048-85BDC9FD1C3A}</a:tableStyleId>
              </a:tblPr>
              <a:tblGrid>
                <a:gridCol w="1452563">
                  <a:extLst>
                    <a:ext uri="{9D8B030D-6E8A-4147-A177-3AD203B41FA5}">
                      <a16:colId xmlns:a16="http://schemas.microsoft.com/office/drawing/2014/main" xmlns="" val="2803588477"/>
                    </a:ext>
                  </a:extLst>
                </a:gridCol>
                <a:gridCol w="4914901">
                  <a:extLst>
                    <a:ext uri="{9D8B030D-6E8A-4147-A177-3AD203B41FA5}">
                      <a16:colId xmlns:a16="http://schemas.microsoft.com/office/drawing/2014/main" xmlns="" val="1368519302"/>
                    </a:ext>
                  </a:extLst>
                </a:gridCol>
              </a:tblGrid>
              <a:tr h="454214">
                <a:tc>
                  <a:txBody>
                    <a:bodyPr/>
                    <a:lstStyle/>
                    <a:p>
                      <a:pPr algn="ctr"/>
                      <a:r>
                        <a:rPr lang="en-US" sz="2400" b="1" i="0" kern="1200" dirty="0" smtClean="0">
                          <a:solidFill>
                            <a:schemeClr val="bg1"/>
                          </a:solidFill>
                          <a:effectLst/>
                          <a:latin typeface="+mn-lt"/>
                          <a:ea typeface="+mn-ea"/>
                          <a:cs typeface="+mn-cs"/>
                        </a:rPr>
                        <a:t>Primitive</a:t>
                      </a:r>
                      <a:endParaRPr lang="en-US" sz="2400" dirty="0">
                        <a:solidFill>
                          <a:schemeClr val="bg1"/>
                        </a:solidFill>
                      </a:endParaRPr>
                    </a:p>
                  </a:txBody>
                  <a:tcPr marL="104658" marR="104658">
                    <a:solidFill>
                      <a:srgbClr val="1D3064"/>
                    </a:solidFill>
                  </a:tcPr>
                </a:tc>
                <a:tc>
                  <a:txBody>
                    <a:bodyPr/>
                    <a:lstStyle/>
                    <a:p>
                      <a:pPr algn="ctr"/>
                      <a:r>
                        <a:rPr lang="en-US" sz="2400" b="1" i="0" kern="1200" dirty="0" smtClean="0">
                          <a:solidFill>
                            <a:schemeClr val="bg1"/>
                          </a:solidFill>
                          <a:effectLst/>
                          <a:latin typeface="+mn-lt"/>
                          <a:ea typeface="+mn-ea"/>
                          <a:cs typeface="+mn-cs"/>
                        </a:rPr>
                        <a:t>Meaning</a:t>
                      </a:r>
                      <a:endParaRPr lang="en-US" sz="2400" dirty="0">
                        <a:solidFill>
                          <a:schemeClr val="bg1"/>
                        </a:solidFill>
                      </a:endParaRPr>
                    </a:p>
                  </a:txBody>
                  <a:tcPr marL="104658" marR="104658">
                    <a:solidFill>
                      <a:srgbClr val="1D3064"/>
                    </a:solidFill>
                  </a:tcPr>
                </a:tc>
                <a:extLst>
                  <a:ext uri="{0D108BD9-81ED-4DB2-BD59-A6C34878D82A}">
                    <a16:rowId xmlns:a16="http://schemas.microsoft.com/office/drawing/2014/main" xmlns="" val="1230567956"/>
                  </a:ext>
                </a:extLst>
              </a:tr>
            </a:tbl>
          </a:graphicData>
        </a:graphic>
      </p:graphicFrame>
      <p:graphicFrame>
        <p:nvGraphicFramePr>
          <p:cNvPr id="25" name="Content Placeholder 16"/>
          <p:cNvGraphicFramePr>
            <a:graphicFrameLocks/>
          </p:cNvGraphicFramePr>
          <p:nvPr>
            <p:extLst/>
          </p:nvPr>
        </p:nvGraphicFramePr>
        <p:xfrm>
          <a:off x="5676900" y="1184463"/>
          <a:ext cx="6367465" cy="396240"/>
        </p:xfrm>
        <a:graphic>
          <a:graphicData uri="http://schemas.openxmlformats.org/drawingml/2006/table">
            <a:tbl>
              <a:tblPr firstRow="1" bandRow="1">
                <a:tableStyleId>{5C22544A-7EE6-4342-B048-85BDC9FD1C3A}</a:tableStyleId>
              </a:tblPr>
              <a:tblGrid>
                <a:gridCol w="1452563">
                  <a:extLst>
                    <a:ext uri="{9D8B030D-6E8A-4147-A177-3AD203B41FA5}">
                      <a16:colId xmlns:a16="http://schemas.microsoft.com/office/drawing/2014/main" xmlns="" val="2803588477"/>
                    </a:ext>
                  </a:extLst>
                </a:gridCol>
                <a:gridCol w="4914902">
                  <a:extLst>
                    <a:ext uri="{9D8B030D-6E8A-4147-A177-3AD203B41FA5}">
                      <a16:colId xmlns:a16="http://schemas.microsoft.com/office/drawing/2014/main" xmlns="" val="1368519302"/>
                    </a:ext>
                  </a:extLst>
                </a:gridCol>
              </a:tblGrid>
              <a:tr h="394909">
                <a:tc>
                  <a:txBody>
                    <a:bodyPr/>
                    <a:lstStyle/>
                    <a:p>
                      <a:pPr algn="just"/>
                      <a:r>
                        <a:rPr lang="en-US" sz="2000" b="0" i="0" kern="1200" dirty="0" smtClean="0">
                          <a:solidFill>
                            <a:schemeClr val="bg2">
                              <a:lumMod val="10000"/>
                            </a:schemeClr>
                          </a:solidFill>
                          <a:effectLst/>
                          <a:latin typeface="+mn-lt"/>
                          <a:ea typeface="+mn-ea"/>
                          <a:cs typeface="+mn-cs"/>
                        </a:rPr>
                        <a:t>Connect</a:t>
                      </a:r>
                      <a:endParaRPr lang="en-US" sz="2000" dirty="0">
                        <a:solidFill>
                          <a:schemeClr val="bg2">
                            <a:lumMod val="10000"/>
                          </a:schemeClr>
                        </a:solidFill>
                      </a:endParaRPr>
                    </a:p>
                  </a:txBody>
                  <a:tcPr>
                    <a:noFill/>
                  </a:tcPr>
                </a:tc>
                <a:tc>
                  <a:txBody>
                    <a:bodyPr/>
                    <a:lstStyle/>
                    <a:p>
                      <a:pPr algn="just"/>
                      <a:r>
                        <a:rPr lang="en-US" sz="2000" b="0" i="0" kern="1200" dirty="0" smtClean="0">
                          <a:solidFill>
                            <a:schemeClr val="bg2">
                              <a:lumMod val="10000"/>
                            </a:schemeClr>
                          </a:solidFill>
                          <a:effectLst/>
                          <a:latin typeface="+mn-lt"/>
                          <a:ea typeface="+mn-ea"/>
                          <a:cs typeface="+mn-cs"/>
                        </a:rPr>
                        <a:t>Actively attempt to establish a connection</a:t>
                      </a:r>
                      <a:endParaRPr lang="en-US" sz="2000" dirty="0">
                        <a:solidFill>
                          <a:schemeClr val="bg2">
                            <a:lumMod val="10000"/>
                          </a:schemeClr>
                        </a:solidFill>
                      </a:endParaRPr>
                    </a:p>
                  </a:txBody>
                  <a:tcPr>
                    <a:noFill/>
                  </a:tcPr>
                </a:tc>
                <a:extLst>
                  <a:ext uri="{0D108BD9-81ED-4DB2-BD59-A6C34878D82A}">
                    <a16:rowId xmlns:a16="http://schemas.microsoft.com/office/drawing/2014/main" xmlns="" val="1230567956"/>
                  </a:ext>
                </a:extLst>
              </a:tr>
            </a:tbl>
          </a:graphicData>
        </a:graphic>
      </p:graphicFrame>
      <p:graphicFrame>
        <p:nvGraphicFramePr>
          <p:cNvPr id="26" name="Content Placeholder 16"/>
          <p:cNvGraphicFramePr>
            <a:graphicFrameLocks/>
          </p:cNvGraphicFramePr>
          <p:nvPr>
            <p:extLst/>
          </p:nvPr>
        </p:nvGraphicFramePr>
        <p:xfrm>
          <a:off x="5676900" y="1580703"/>
          <a:ext cx="6367464" cy="396240"/>
        </p:xfrm>
        <a:graphic>
          <a:graphicData uri="http://schemas.openxmlformats.org/drawingml/2006/table">
            <a:tbl>
              <a:tblPr firstRow="1" bandRow="1">
                <a:tableStyleId>{5C22544A-7EE6-4342-B048-85BDC9FD1C3A}</a:tableStyleId>
              </a:tblPr>
              <a:tblGrid>
                <a:gridCol w="1438275">
                  <a:extLst>
                    <a:ext uri="{9D8B030D-6E8A-4147-A177-3AD203B41FA5}">
                      <a16:colId xmlns:a16="http://schemas.microsoft.com/office/drawing/2014/main" xmlns="" val="2803588477"/>
                    </a:ext>
                  </a:extLst>
                </a:gridCol>
                <a:gridCol w="4929189">
                  <a:extLst>
                    <a:ext uri="{9D8B030D-6E8A-4147-A177-3AD203B41FA5}">
                      <a16:colId xmlns:a16="http://schemas.microsoft.com/office/drawing/2014/main" xmlns="" val="1368519302"/>
                    </a:ext>
                  </a:extLst>
                </a:gridCol>
              </a:tblGrid>
              <a:tr h="394909">
                <a:tc>
                  <a:txBody>
                    <a:bodyPr/>
                    <a:lstStyle/>
                    <a:p>
                      <a:pPr algn="just"/>
                      <a:r>
                        <a:rPr lang="en-US" sz="2000" b="0" i="0" kern="1200" dirty="0" smtClean="0">
                          <a:solidFill>
                            <a:schemeClr val="bg2">
                              <a:lumMod val="10000"/>
                            </a:schemeClr>
                          </a:solidFill>
                          <a:effectLst/>
                          <a:latin typeface="+mn-lt"/>
                          <a:ea typeface="+mn-ea"/>
                          <a:cs typeface="+mn-cs"/>
                        </a:rPr>
                        <a:t>Send</a:t>
                      </a:r>
                      <a:endParaRPr lang="en-US" sz="2000" dirty="0">
                        <a:solidFill>
                          <a:schemeClr val="bg2">
                            <a:lumMod val="10000"/>
                          </a:schemeClr>
                        </a:solidFill>
                      </a:endParaRPr>
                    </a:p>
                  </a:txBody>
                  <a:tcPr>
                    <a:solidFill>
                      <a:schemeClr val="bg1">
                        <a:lumMod val="95000"/>
                      </a:schemeClr>
                    </a:solidFill>
                  </a:tcPr>
                </a:tc>
                <a:tc>
                  <a:txBody>
                    <a:bodyPr/>
                    <a:lstStyle/>
                    <a:p>
                      <a:pPr algn="just"/>
                      <a:r>
                        <a:rPr lang="en-US" sz="2000" b="0" i="0" kern="1200" dirty="0" smtClean="0">
                          <a:solidFill>
                            <a:schemeClr val="bg2">
                              <a:lumMod val="10000"/>
                            </a:schemeClr>
                          </a:solidFill>
                          <a:effectLst/>
                          <a:latin typeface="+mn-lt"/>
                          <a:ea typeface="+mn-ea"/>
                          <a:cs typeface="+mn-cs"/>
                        </a:rPr>
                        <a:t>Send some data over the connection</a:t>
                      </a:r>
                      <a:endParaRPr lang="en-US" sz="2000" dirty="0">
                        <a:solidFill>
                          <a:schemeClr val="bg2">
                            <a:lumMod val="10000"/>
                          </a:schemeClr>
                        </a:solidFill>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graphicFrame>
        <p:nvGraphicFramePr>
          <p:cNvPr id="27" name="Content Placeholder 16"/>
          <p:cNvGraphicFramePr>
            <a:graphicFrameLocks/>
          </p:cNvGraphicFramePr>
          <p:nvPr>
            <p:extLst/>
          </p:nvPr>
        </p:nvGraphicFramePr>
        <p:xfrm>
          <a:off x="5676900" y="1976943"/>
          <a:ext cx="6367464" cy="396240"/>
        </p:xfrm>
        <a:graphic>
          <a:graphicData uri="http://schemas.openxmlformats.org/drawingml/2006/table">
            <a:tbl>
              <a:tblPr firstRow="1" bandRow="1">
                <a:tableStyleId>{5C22544A-7EE6-4342-B048-85BDC9FD1C3A}</a:tableStyleId>
              </a:tblPr>
              <a:tblGrid>
                <a:gridCol w="1438275">
                  <a:extLst>
                    <a:ext uri="{9D8B030D-6E8A-4147-A177-3AD203B41FA5}">
                      <a16:colId xmlns:a16="http://schemas.microsoft.com/office/drawing/2014/main" xmlns="" val="2803588477"/>
                    </a:ext>
                  </a:extLst>
                </a:gridCol>
                <a:gridCol w="4929189">
                  <a:extLst>
                    <a:ext uri="{9D8B030D-6E8A-4147-A177-3AD203B41FA5}">
                      <a16:colId xmlns:a16="http://schemas.microsoft.com/office/drawing/2014/main" xmlns="" val="1368519302"/>
                    </a:ext>
                  </a:extLst>
                </a:gridCol>
              </a:tblGrid>
              <a:tr h="394909">
                <a:tc>
                  <a:txBody>
                    <a:bodyPr/>
                    <a:lstStyle/>
                    <a:p>
                      <a:pPr algn="just"/>
                      <a:r>
                        <a:rPr lang="en-US" sz="2000" b="0" i="0" kern="1200" dirty="0" smtClean="0">
                          <a:solidFill>
                            <a:schemeClr val="bg2">
                              <a:lumMod val="10000"/>
                            </a:schemeClr>
                          </a:solidFill>
                          <a:effectLst/>
                          <a:latin typeface="+mn-lt"/>
                          <a:ea typeface="+mn-ea"/>
                          <a:cs typeface="+mn-cs"/>
                        </a:rPr>
                        <a:t>Receive</a:t>
                      </a:r>
                      <a:endParaRPr lang="en-US" sz="2000" dirty="0">
                        <a:solidFill>
                          <a:schemeClr val="bg2">
                            <a:lumMod val="10000"/>
                          </a:schemeClr>
                        </a:solidFill>
                      </a:endParaRPr>
                    </a:p>
                  </a:txBody>
                  <a:tcPr>
                    <a:noFill/>
                  </a:tcPr>
                </a:tc>
                <a:tc>
                  <a:txBody>
                    <a:bodyPr/>
                    <a:lstStyle/>
                    <a:p>
                      <a:pPr algn="just"/>
                      <a:r>
                        <a:rPr lang="en-US" sz="2000" b="0" i="0" kern="1200" dirty="0" smtClean="0">
                          <a:solidFill>
                            <a:schemeClr val="bg2">
                              <a:lumMod val="10000"/>
                            </a:schemeClr>
                          </a:solidFill>
                          <a:effectLst/>
                          <a:latin typeface="+mn-lt"/>
                          <a:ea typeface="+mn-ea"/>
                          <a:cs typeface="+mn-cs"/>
                        </a:rPr>
                        <a:t>Receive some data over the connection</a:t>
                      </a:r>
                      <a:endParaRPr lang="en-US" sz="2000" dirty="0">
                        <a:solidFill>
                          <a:schemeClr val="bg2">
                            <a:lumMod val="10000"/>
                          </a:schemeClr>
                        </a:solidFill>
                      </a:endParaRPr>
                    </a:p>
                  </a:txBody>
                  <a:tcPr>
                    <a:noFill/>
                  </a:tcPr>
                </a:tc>
                <a:extLst>
                  <a:ext uri="{0D108BD9-81ED-4DB2-BD59-A6C34878D82A}">
                    <a16:rowId xmlns:a16="http://schemas.microsoft.com/office/drawing/2014/main" xmlns="" val="1230567956"/>
                  </a:ext>
                </a:extLst>
              </a:tr>
            </a:tbl>
          </a:graphicData>
        </a:graphic>
      </p:graphicFrame>
      <p:graphicFrame>
        <p:nvGraphicFramePr>
          <p:cNvPr id="28" name="Content Placeholder 16"/>
          <p:cNvGraphicFramePr>
            <a:graphicFrameLocks/>
          </p:cNvGraphicFramePr>
          <p:nvPr>
            <p:extLst/>
          </p:nvPr>
        </p:nvGraphicFramePr>
        <p:xfrm>
          <a:off x="5676900" y="2373183"/>
          <a:ext cx="6367465" cy="396240"/>
        </p:xfrm>
        <a:graphic>
          <a:graphicData uri="http://schemas.openxmlformats.org/drawingml/2006/table">
            <a:tbl>
              <a:tblPr firstRow="1" bandRow="1">
                <a:tableStyleId>{5C22544A-7EE6-4342-B048-85BDC9FD1C3A}</a:tableStyleId>
              </a:tblPr>
              <a:tblGrid>
                <a:gridCol w="1452563">
                  <a:extLst>
                    <a:ext uri="{9D8B030D-6E8A-4147-A177-3AD203B41FA5}">
                      <a16:colId xmlns:a16="http://schemas.microsoft.com/office/drawing/2014/main" xmlns="" val="2803588477"/>
                    </a:ext>
                  </a:extLst>
                </a:gridCol>
                <a:gridCol w="4914902">
                  <a:extLst>
                    <a:ext uri="{9D8B030D-6E8A-4147-A177-3AD203B41FA5}">
                      <a16:colId xmlns:a16="http://schemas.microsoft.com/office/drawing/2014/main" xmlns="" val="1368519302"/>
                    </a:ext>
                  </a:extLst>
                </a:gridCol>
              </a:tblGrid>
              <a:tr h="394909">
                <a:tc>
                  <a:txBody>
                    <a:bodyPr/>
                    <a:lstStyle/>
                    <a:p>
                      <a:pPr algn="just"/>
                      <a:r>
                        <a:rPr lang="en-US" sz="2000" b="0" i="0" kern="1200" dirty="0" smtClean="0">
                          <a:solidFill>
                            <a:schemeClr val="bg2">
                              <a:lumMod val="10000"/>
                            </a:schemeClr>
                          </a:solidFill>
                          <a:effectLst/>
                          <a:latin typeface="+mn-lt"/>
                          <a:ea typeface="+mn-ea"/>
                          <a:cs typeface="+mn-cs"/>
                        </a:rPr>
                        <a:t>Close</a:t>
                      </a:r>
                      <a:endParaRPr lang="en-US" sz="2000" dirty="0">
                        <a:solidFill>
                          <a:schemeClr val="bg2">
                            <a:lumMod val="10000"/>
                          </a:schemeClr>
                        </a:solidFill>
                      </a:endParaRPr>
                    </a:p>
                  </a:txBody>
                  <a:tcPr>
                    <a:solidFill>
                      <a:schemeClr val="bg1">
                        <a:lumMod val="95000"/>
                      </a:schemeClr>
                    </a:solidFill>
                  </a:tcPr>
                </a:tc>
                <a:tc>
                  <a:txBody>
                    <a:bodyPr/>
                    <a:lstStyle/>
                    <a:p>
                      <a:pPr algn="just"/>
                      <a:r>
                        <a:rPr lang="en-US" sz="2000" b="0" i="0" kern="1200" dirty="0" smtClean="0">
                          <a:solidFill>
                            <a:schemeClr val="bg2">
                              <a:lumMod val="10000"/>
                            </a:schemeClr>
                          </a:solidFill>
                          <a:effectLst/>
                          <a:latin typeface="+mn-lt"/>
                          <a:ea typeface="+mn-ea"/>
                          <a:cs typeface="+mn-cs"/>
                        </a:rPr>
                        <a:t>Release the connection</a:t>
                      </a:r>
                      <a:endParaRPr lang="en-US" sz="2000" dirty="0">
                        <a:solidFill>
                          <a:schemeClr val="bg2">
                            <a:lumMod val="10000"/>
                          </a:schemeClr>
                        </a:solidFill>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graphicFrame>
        <p:nvGraphicFramePr>
          <p:cNvPr id="29" name="Content Placeholder 16"/>
          <p:cNvGraphicFramePr>
            <a:graphicFrameLocks/>
          </p:cNvGraphicFramePr>
          <p:nvPr>
            <p:extLst/>
          </p:nvPr>
        </p:nvGraphicFramePr>
        <p:xfrm>
          <a:off x="5676900" y="2769423"/>
          <a:ext cx="6367465" cy="396240"/>
        </p:xfrm>
        <a:graphic>
          <a:graphicData uri="http://schemas.openxmlformats.org/drawingml/2006/table">
            <a:tbl>
              <a:tblPr firstRow="1" bandRow="1">
                <a:tableStyleId>{5C22544A-7EE6-4342-B048-85BDC9FD1C3A}</a:tableStyleId>
              </a:tblPr>
              <a:tblGrid>
                <a:gridCol w="1452563">
                  <a:extLst>
                    <a:ext uri="{9D8B030D-6E8A-4147-A177-3AD203B41FA5}">
                      <a16:colId xmlns:a16="http://schemas.microsoft.com/office/drawing/2014/main" xmlns="" val="2803588477"/>
                    </a:ext>
                  </a:extLst>
                </a:gridCol>
                <a:gridCol w="4914902">
                  <a:extLst>
                    <a:ext uri="{9D8B030D-6E8A-4147-A177-3AD203B41FA5}">
                      <a16:colId xmlns:a16="http://schemas.microsoft.com/office/drawing/2014/main" xmlns="" val="1368519302"/>
                    </a:ext>
                  </a:extLst>
                </a:gridCol>
              </a:tblGrid>
              <a:tr h="394909">
                <a:tc>
                  <a:txBody>
                    <a:bodyPr/>
                    <a:lstStyle/>
                    <a:p>
                      <a:pPr algn="just"/>
                      <a:r>
                        <a:rPr lang="en-US" sz="2000" b="0" i="0" kern="1200" dirty="0" smtClean="0">
                          <a:solidFill>
                            <a:schemeClr val="bg2">
                              <a:lumMod val="10000"/>
                            </a:schemeClr>
                          </a:solidFill>
                          <a:effectLst/>
                          <a:latin typeface="+mn-lt"/>
                          <a:ea typeface="+mn-ea"/>
                          <a:cs typeface="+mn-cs"/>
                        </a:rPr>
                        <a:t>Write</a:t>
                      </a:r>
                      <a:endParaRPr lang="en-US" sz="2000" dirty="0">
                        <a:solidFill>
                          <a:schemeClr val="bg2">
                            <a:lumMod val="10000"/>
                          </a:schemeClr>
                        </a:solidFill>
                      </a:endParaRPr>
                    </a:p>
                  </a:txBody>
                  <a:tcPr>
                    <a:noFill/>
                  </a:tcPr>
                </a:tc>
                <a:tc>
                  <a:txBody>
                    <a:bodyPr/>
                    <a:lstStyle/>
                    <a:p>
                      <a:pPr algn="just"/>
                      <a:r>
                        <a:rPr lang="en-US" sz="2000" b="0" i="0" kern="1200" dirty="0" smtClean="0">
                          <a:solidFill>
                            <a:schemeClr val="bg2">
                              <a:lumMod val="10000"/>
                            </a:schemeClr>
                          </a:solidFill>
                          <a:effectLst/>
                          <a:latin typeface="+mn-lt"/>
                          <a:ea typeface="+mn-ea"/>
                          <a:cs typeface="+mn-cs"/>
                        </a:rPr>
                        <a:t>Send data on the connection</a:t>
                      </a:r>
                      <a:endParaRPr lang="en-US" sz="2000" dirty="0">
                        <a:solidFill>
                          <a:schemeClr val="bg2">
                            <a:lumMod val="10000"/>
                          </a:schemeClr>
                        </a:solidFill>
                      </a:endParaRPr>
                    </a:p>
                  </a:txBody>
                  <a:tcPr>
                    <a:noFill/>
                  </a:tcPr>
                </a:tc>
                <a:extLst>
                  <a:ext uri="{0D108BD9-81ED-4DB2-BD59-A6C34878D82A}">
                    <a16:rowId xmlns:a16="http://schemas.microsoft.com/office/drawing/2014/main" xmlns="" val="1230567956"/>
                  </a:ext>
                </a:extLst>
              </a:tr>
            </a:tbl>
          </a:graphicData>
        </a:graphic>
      </p:graphicFrame>
      <p:graphicFrame>
        <p:nvGraphicFramePr>
          <p:cNvPr id="30" name="Content Placeholder 16"/>
          <p:cNvGraphicFramePr>
            <a:graphicFrameLocks/>
          </p:cNvGraphicFramePr>
          <p:nvPr>
            <p:extLst/>
          </p:nvPr>
        </p:nvGraphicFramePr>
        <p:xfrm>
          <a:off x="5676900" y="3165663"/>
          <a:ext cx="6367464" cy="396240"/>
        </p:xfrm>
        <a:graphic>
          <a:graphicData uri="http://schemas.openxmlformats.org/drawingml/2006/table">
            <a:tbl>
              <a:tblPr firstRow="1" bandRow="1">
                <a:tableStyleId>{5C22544A-7EE6-4342-B048-85BDC9FD1C3A}</a:tableStyleId>
              </a:tblPr>
              <a:tblGrid>
                <a:gridCol w="1466850">
                  <a:extLst>
                    <a:ext uri="{9D8B030D-6E8A-4147-A177-3AD203B41FA5}">
                      <a16:colId xmlns:a16="http://schemas.microsoft.com/office/drawing/2014/main" xmlns="" val="2803588477"/>
                    </a:ext>
                  </a:extLst>
                </a:gridCol>
                <a:gridCol w="4900614">
                  <a:extLst>
                    <a:ext uri="{9D8B030D-6E8A-4147-A177-3AD203B41FA5}">
                      <a16:colId xmlns:a16="http://schemas.microsoft.com/office/drawing/2014/main" xmlns="" val="1368519302"/>
                    </a:ext>
                  </a:extLst>
                </a:gridCol>
              </a:tblGrid>
              <a:tr h="394909">
                <a:tc>
                  <a:txBody>
                    <a:bodyPr/>
                    <a:lstStyle/>
                    <a:p>
                      <a:pPr algn="just"/>
                      <a:r>
                        <a:rPr lang="en-US" sz="2000" b="0" i="0" kern="1200" dirty="0" smtClean="0">
                          <a:solidFill>
                            <a:schemeClr val="bg2">
                              <a:lumMod val="10000"/>
                            </a:schemeClr>
                          </a:solidFill>
                          <a:effectLst/>
                          <a:latin typeface="+mn-lt"/>
                          <a:ea typeface="+mn-ea"/>
                          <a:cs typeface="+mn-cs"/>
                        </a:rPr>
                        <a:t>Read</a:t>
                      </a:r>
                      <a:endParaRPr lang="en-US" sz="2000" dirty="0">
                        <a:solidFill>
                          <a:schemeClr val="bg2">
                            <a:lumMod val="10000"/>
                          </a:schemeClr>
                        </a:solidFill>
                      </a:endParaRPr>
                    </a:p>
                  </a:txBody>
                  <a:tcPr>
                    <a:solidFill>
                      <a:schemeClr val="bg1">
                        <a:lumMod val="95000"/>
                      </a:schemeClr>
                    </a:solidFill>
                  </a:tcPr>
                </a:tc>
                <a:tc>
                  <a:txBody>
                    <a:bodyPr/>
                    <a:lstStyle/>
                    <a:p>
                      <a:pPr algn="just"/>
                      <a:r>
                        <a:rPr lang="en-US" sz="2000" b="0" i="0" kern="1200" dirty="0" smtClean="0">
                          <a:solidFill>
                            <a:schemeClr val="bg2">
                              <a:lumMod val="10000"/>
                            </a:schemeClr>
                          </a:solidFill>
                          <a:effectLst/>
                          <a:latin typeface="+mn-lt"/>
                          <a:ea typeface="+mn-ea"/>
                          <a:cs typeface="+mn-cs"/>
                        </a:rPr>
                        <a:t>Get data that was sent on the connection</a:t>
                      </a:r>
                      <a:endParaRPr lang="en-US" sz="2000" dirty="0">
                        <a:solidFill>
                          <a:schemeClr val="bg2">
                            <a:lumMod val="10000"/>
                          </a:schemeClr>
                        </a:solidFill>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sp>
        <p:nvSpPr>
          <p:cNvPr id="16" name="TextBox 15"/>
          <p:cNvSpPr txBox="1"/>
          <p:nvPr/>
        </p:nvSpPr>
        <p:spPr>
          <a:xfrm>
            <a:off x="80961" y="3652461"/>
            <a:ext cx="1045029" cy="461665"/>
          </a:xfrm>
          <a:prstGeom prst="rect">
            <a:avLst/>
          </a:prstGeom>
          <a:noFill/>
        </p:spPr>
        <p:txBody>
          <a:bodyPr wrap="square" rtlCol="0">
            <a:spAutoFit/>
          </a:bodyPr>
          <a:lstStyle/>
          <a:p>
            <a:r>
              <a:rPr lang="en-IN" sz="2400" b="1" dirty="0" smtClean="0">
                <a:solidFill>
                  <a:srgbClr val="1D3064"/>
                </a:solidFill>
              </a:rPr>
              <a:t>Server</a:t>
            </a:r>
            <a:endParaRPr lang="en-IN" sz="2400" b="1" dirty="0">
              <a:solidFill>
                <a:srgbClr val="1D3064"/>
              </a:solidFill>
            </a:endParaRPr>
          </a:p>
        </p:txBody>
      </p:sp>
      <p:sp>
        <p:nvSpPr>
          <p:cNvPr id="17" name="TextBox 16"/>
          <p:cNvSpPr txBox="1"/>
          <p:nvPr/>
        </p:nvSpPr>
        <p:spPr>
          <a:xfrm>
            <a:off x="80961" y="5790184"/>
            <a:ext cx="993673" cy="461665"/>
          </a:xfrm>
          <a:prstGeom prst="rect">
            <a:avLst/>
          </a:prstGeom>
          <a:noFill/>
        </p:spPr>
        <p:txBody>
          <a:bodyPr wrap="square" rtlCol="0">
            <a:spAutoFit/>
          </a:bodyPr>
          <a:lstStyle/>
          <a:p>
            <a:r>
              <a:rPr lang="en-IN" sz="2400" b="1" dirty="0" smtClean="0">
                <a:solidFill>
                  <a:srgbClr val="1D3064"/>
                </a:solidFill>
              </a:rPr>
              <a:t>Client</a:t>
            </a:r>
            <a:endParaRPr lang="en-IN" sz="2400" b="1" dirty="0">
              <a:solidFill>
                <a:srgbClr val="1D3064"/>
              </a:solidFill>
            </a:endParaRPr>
          </a:p>
        </p:txBody>
      </p:sp>
      <p:grpSp>
        <p:nvGrpSpPr>
          <p:cNvPr id="18" name="Group 17"/>
          <p:cNvGrpSpPr/>
          <p:nvPr/>
        </p:nvGrpSpPr>
        <p:grpSpPr>
          <a:xfrm>
            <a:off x="183015" y="4111953"/>
            <a:ext cx="10739441" cy="1678231"/>
            <a:chOff x="585786" y="1109189"/>
            <a:chExt cx="10739441" cy="1678231"/>
          </a:xfrm>
        </p:grpSpPr>
        <p:sp>
          <p:nvSpPr>
            <p:cNvPr id="19" name="Rectangle 18"/>
            <p:cNvSpPr/>
            <p:nvPr/>
          </p:nvSpPr>
          <p:spPr>
            <a:xfrm>
              <a:off x="585787" y="1114425"/>
              <a:ext cx="9429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rPr>
                <a:t>s</a:t>
              </a:r>
              <a:r>
                <a:rPr lang="en-IN" sz="2000" dirty="0" smtClean="0">
                  <a:solidFill>
                    <a:schemeClr val="tx1"/>
                  </a:solidFill>
                </a:rPr>
                <a:t>ocket</a:t>
              </a:r>
              <a:endParaRPr lang="en-IN" sz="2000" dirty="0">
                <a:solidFill>
                  <a:schemeClr val="tx1"/>
                </a:solidFill>
              </a:endParaRPr>
            </a:p>
          </p:txBody>
        </p:sp>
        <p:sp>
          <p:nvSpPr>
            <p:cNvPr id="21" name="Rectangle 20"/>
            <p:cNvSpPr/>
            <p:nvPr/>
          </p:nvSpPr>
          <p:spPr>
            <a:xfrm>
              <a:off x="2076448" y="1114425"/>
              <a:ext cx="9429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tx1"/>
                  </a:solidFill>
                </a:rPr>
                <a:t>bind</a:t>
              </a:r>
              <a:endParaRPr lang="en-IN" sz="2000" dirty="0">
                <a:solidFill>
                  <a:schemeClr val="tx1"/>
                </a:solidFill>
              </a:endParaRPr>
            </a:p>
          </p:txBody>
        </p:sp>
        <p:sp>
          <p:nvSpPr>
            <p:cNvPr id="22" name="Rectangle 21"/>
            <p:cNvSpPr/>
            <p:nvPr/>
          </p:nvSpPr>
          <p:spPr>
            <a:xfrm>
              <a:off x="3567109" y="1109189"/>
              <a:ext cx="9429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tx1"/>
                  </a:solidFill>
                </a:rPr>
                <a:t>listen</a:t>
              </a:r>
              <a:endParaRPr lang="en-IN" sz="2000" dirty="0">
                <a:solidFill>
                  <a:schemeClr val="tx1"/>
                </a:solidFill>
              </a:endParaRPr>
            </a:p>
          </p:txBody>
        </p:sp>
        <p:sp>
          <p:nvSpPr>
            <p:cNvPr id="23" name="Rectangle 22"/>
            <p:cNvSpPr/>
            <p:nvPr/>
          </p:nvSpPr>
          <p:spPr>
            <a:xfrm>
              <a:off x="5057770" y="1109189"/>
              <a:ext cx="9429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tx1"/>
                  </a:solidFill>
                </a:rPr>
                <a:t>accept</a:t>
              </a:r>
              <a:endParaRPr lang="en-IN" sz="2000" dirty="0">
                <a:solidFill>
                  <a:schemeClr val="tx1"/>
                </a:solidFill>
              </a:endParaRPr>
            </a:p>
          </p:txBody>
        </p:sp>
        <p:sp>
          <p:nvSpPr>
            <p:cNvPr id="24" name="Rectangle 23"/>
            <p:cNvSpPr/>
            <p:nvPr/>
          </p:nvSpPr>
          <p:spPr>
            <a:xfrm>
              <a:off x="585786" y="2444520"/>
              <a:ext cx="9429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tx1"/>
                  </a:solidFill>
                </a:rPr>
                <a:t>Socket</a:t>
              </a:r>
              <a:endParaRPr lang="en-IN" sz="2000" dirty="0">
                <a:solidFill>
                  <a:schemeClr val="tx1"/>
                </a:solidFill>
              </a:endParaRPr>
            </a:p>
          </p:txBody>
        </p:sp>
        <p:sp>
          <p:nvSpPr>
            <p:cNvPr id="31" name="Rectangle 30"/>
            <p:cNvSpPr/>
            <p:nvPr/>
          </p:nvSpPr>
          <p:spPr>
            <a:xfrm>
              <a:off x="5014906" y="2444520"/>
              <a:ext cx="1052512" cy="3337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tx1"/>
                  </a:solidFill>
                </a:rPr>
                <a:t>connect</a:t>
              </a:r>
              <a:endParaRPr lang="en-IN" sz="2000" dirty="0">
                <a:solidFill>
                  <a:schemeClr val="tx1"/>
                </a:solidFill>
              </a:endParaRPr>
            </a:p>
          </p:txBody>
        </p:sp>
        <p:sp>
          <p:nvSpPr>
            <p:cNvPr id="32" name="Rectangle 31"/>
            <p:cNvSpPr/>
            <p:nvPr/>
          </p:nvSpPr>
          <p:spPr>
            <a:xfrm>
              <a:off x="6965156" y="1109189"/>
              <a:ext cx="9429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tx1"/>
                  </a:solidFill>
                </a:rPr>
                <a:t>read</a:t>
              </a:r>
              <a:endParaRPr lang="en-IN" sz="2000" dirty="0">
                <a:solidFill>
                  <a:schemeClr val="tx1"/>
                </a:solidFill>
              </a:endParaRPr>
            </a:p>
          </p:txBody>
        </p:sp>
        <p:sp>
          <p:nvSpPr>
            <p:cNvPr id="33" name="Rectangle 32"/>
            <p:cNvSpPr/>
            <p:nvPr/>
          </p:nvSpPr>
          <p:spPr>
            <a:xfrm>
              <a:off x="10144122" y="1109189"/>
              <a:ext cx="9429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tx1"/>
                  </a:solidFill>
                </a:rPr>
                <a:t>close</a:t>
              </a:r>
              <a:endParaRPr lang="en-IN" sz="2000" dirty="0">
                <a:solidFill>
                  <a:schemeClr val="tx1"/>
                </a:solidFill>
              </a:endParaRPr>
            </a:p>
          </p:txBody>
        </p:sp>
        <p:sp>
          <p:nvSpPr>
            <p:cNvPr id="34" name="Rectangle 33"/>
            <p:cNvSpPr/>
            <p:nvPr/>
          </p:nvSpPr>
          <p:spPr>
            <a:xfrm>
              <a:off x="8554639" y="1109189"/>
              <a:ext cx="9429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tx1"/>
                  </a:solidFill>
                </a:rPr>
                <a:t>write</a:t>
              </a:r>
              <a:endParaRPr lang="en-IN" sz="2000" dirty="0">
                <a:solidFill>
                  <a:schemeClr val="tx1"/>
                </a:solidFill>
              </a:endParaRPr>
            </a:p>
          </p:txBody>
        </p:sp>
        <p:sp>
          <p:nvSpPr>
            <p:cNvPr id="35" name="Rectangle 34"/>
            <p:cNvSpPr/>
            <p:nvPr/>
          </p:nvSpPr>
          <p:spPr>
            <a:xfrm>
              <a:off x="10382252" y="2444520"/>
              <a:ext cx="9429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tx1"/>
                  </a:solidFill>
                </a:rPr>
                <a:t>close</a:t>
              </a:r>
              <a:endParaRPr lang="en-IN" sz="2000" dirty="0">
                <a:solidFill>
                  <a:schemeClr val="tx1"/>
                </a:solidFill>
              </a:endParaRPr>
            </a:p>
          </p:txBody>
        </p:sp>
        <p:sp>
          <p:nvSpPr>
            <p:cNvPr id="36" name="Rectangle 35"/>
            <p:cNvSpPr/>
            <p:nvPr/>
          </p:nvSpPr>
          <p:spPr>
            <a:xfrm>
              <a:off x="8886825" y="2444520"/>
              <a:ext cx="9429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tx1"/>
                  </a:solidFill>
                </a:rPr>
                <a:t>read</a:t>
              </a:r>
              <a:endParaRPr lang="en-IN" sz="2000" dirty="0">
                <a:solidFill>
                  <a:schemeClr val="tx1"/>
                </a:solidFill>
              </a:endParaRPr>
            </a:p>
          </p:txBody>
        </p:sp>
        <p:sp>
          <p:nvSpPr>
            <p:cNvPr id="37" name="Rectangle 36"/>
            <p:cNvSpPr/>
            <p:nvPr/>
          </p:nvSpPr>
          <p:spPr>
            <a:xfrm>
              <a:off x="6662734" y="2444520"/>
              <a:ext cx="942975" cy="342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chemeClr val="tx1"/>
                  </a:solidFill>
                </a:rPr>
                <a:t>write</a:t>
              </a:r>
              <a:endParaRPr lang="en-IN" sz="2000" dirty="0">
                <a:solidFill>
                  <a:schemeClr val="tx1"/>
                </a:solidFill>
              </a:endParaRPr>
            </a:p>
          </p:txBody>
        </p:sp>
        <p:cxnSp>
          <p:nvCxnSpPr>
            <p:cNvPr id="38" name="Straight Arrow Connector 37"/>
            <p:cNvCxnSpPr>
              <a:stCxn id="19" idx="3"/>
              <a:endCxn id="21" idx="1"/>
            </p:cNvCxnSpPr>
            <p:nvPr/>
          </p:nvCxnSpPr>
          <p:spPr>
            <a:xfrm>
              <a:off x="1528762" y="1285875"/>
              <a:ext cx="54768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1" idx="3"/>
              <a:endCxn id="22" idx="1"/>
            </p:cNvCxnSpPr>
            <p:nvPr/>
          </p:nvCxnSpPr>
          <p:spPr>
            <a:xfrm flipV="1">
              <a:off x="3019423" y="1280639"/>
              <a:ext cx="547686" cy="52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32" idx="3"/>
              <a:endCxn id="34" idx="1"/>
            </p:cNvCxnSpPr>
            <p:nvPr/>
          </p:nvCxnSpPr>
          <p:spPr>
            <a:xfrm>
              <a:off x="7908131" y="1280639"/>
              <a:ext cx="64650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3" idx="3"/>
              <a:endCxn id="32" idx="1"/>
            </p:cNvCxnSpPr>
            <p:nvPr/>
          </p:nvCxnSpPr>
          <p:spPr>
            <a:xfrm>
              <a:off x="6000745" y="1280639"/>
              <a:ext cx="96441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2" idx="3"/>
              <a:endCxn id="23" idx="1"/>
            </p:cNvCxnSpPr>
            <p:nvPr/>
          </p:nvCxnSpPr>
          <p:spPr>
            <a:xfrm>
              <a:off x="4510084" y="1280639"/>
              <a:ext cx="54768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4" idx="3"/>
              <a:endCxn id="33" idx="1"/>
            </p:cNvCxnSpPr>
            <p:nvPr/>
          </p:nvCxnSpPr>
          <p:spPr>
            <a:xfrm>
              <a:off x="9497614" y="1280639"/>
              <a:ext cx="64650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4" idx="3"/>
              <a:endCxn id="31" idx="1"/>
            </p:cNvCxnSpPr>
            <p:nvPr/>
          </p:nvCxnSpPr>
          <p:spPr>
            <a:xfrm flipV="1">
              <a:off x="1528761" y="2611406"/>
              <a:ext cx="3486145" cy="456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1" idx="3"/>
              <a:endCxn id="37" idx="1"/>
            </p:cNvCxnSpPr>
            <p:nvPr/>
          </p:nvCxnSpPr>
          <p:spPr>
            <a:xfrm>
              <a:off x="6067418" y="2611406"/>
              <a:ext cx="595316" cy="456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37" idx="3"/>
              <a:endCxn id="36" idx="1"/>
            </p:cNvCxnSpPr>
            <p:nvPr/>
          </p:nvCxnSpPr>
          <p:spPr>
            <a:xfrm>
              <a:off x="7605709" y="2615970"/>
              <a:ext cx="128111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6" idx="3"/>
              <a:endCxn id="35" idx="1"/>
            </p:cNvCxnSpPr>
            <p:nvPr/>
          </p:nvCxnSpPr>
          <p:spPr>
            <a:xfrm>
              <a:off x="9829800" y="2615970"/>
              <a:ext cx="55245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23" idx="2"/>
              <a:endCxn id="31" idx="0"/>
            </p:cNvCxnSpPr>
            <p:nvPr/>
          </p:nvCxnSpPr>
          <p:spPr>
            <a:xfrm>
              <a:off x="5529258" y="1452089"/>
              <a:ext cx="11904" cy="992431"/>
            </a:xfrm>
            <a:prstGeom prst="straightConnector1">
              <a:avLst/>
            </a:prstGeom>
            <a:ln w="19050">
              <a:solidFill>
                <a:schemeClr val="tx1"/>
              </a:solidFill>
              <a:prstDash val="dash"/>
              <a:headEnd type="triangle"/>
              <a:tailEnd type="stealth"/>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7" idx="0"/>
              <a:endCxn id="32" idx="2"/>
            </p:cNvCxnSpPr>
            <p:nvPr/>
          </p:nvCxnSpPr>
          <p:spPr>
            <a:xfrm flipV="1">
              <a:off x="7134222" y="1452089"/>
              <a:ext cx="302422" cy="992431"/>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4" idx="2"/>
              <a:endCxn id="36" idx="0"/>
            </p:cNvCxnSpPr>
            <p:nvPr/>
          </p:nvCxnSpPr>
          <p:spPr>
            <a:xfrm>
              <a:off x="9026127" y="1452089"/>
              <a:ext cx="332186" cy="992431"/>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cxnSp>
          <p:nvCxnSpPr>
            <p:cNvPr id="51" name="Curved Connector 50"/>
            <p:cNvCxnSpPr>
              <a:stCxn id="34" idx="3"/>
            </p:cNvCxnSpPr>
            <p:nvPr/>
          </p:nvCxnSpPr>
          <p:spPr>
            <a:xfrm flipH="1" flipV="1">
              <a:off x="6980038" y="1217602"/>
              <a:ext cx="2517576" cy="63037"/>
            </a:xfrm>
            <a:prstGeom prst="curvedConnector5">
              <a:avLst>
                <a:gd name="adj1" fmla="val -9080"/>
                <a:gd name="adj2" fmla="val 723849"/>
                <a:gd name="adj3" fmla="val 10966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urved Connector 51"/>
            <p:cNvCxnSpPr/>
            <p:nvPr/>
          </p:nvCxnSpPr>
          <p:spPr>
            <a:xfrm flipH="1">
              <a:off x="6662734" y="2659512"/>
              <a:ext cx="3167066" cy="12700"/>
            </a:xfrm>
            <a:prstGeom prst="curvedConnector5">
              <a:avLst>
                <a:gd name="adj1" fmla="val -7218"/>
                <a:gd name="adj2" fmla="val 3150000"/>
                <a:gd name="adj3" fmla="val 107218"/>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709748" y="1722598"/>
              <a:ext cx="2369680" cy="400110"/>
            </a:xfrm>
            <a:prstGeom prst="rect">
              <a:avLst/>
            </a:prstGeom>
            <a:noFill/>
          </p:spPr>
          <p:txBody>
            <a:bodyPr wrap="square" rtlCol="0">
              <a:spAutoFit/>
            </a:bodyPr>
            <a:lstStyle/>
            <a:p>
              <a:r>
                <a:rPr lang="en-IN" sz="2000" dirty="0" smtClean="0"/>
                <a:t>Synchronization point</a:t>
              </a:r>
              <a:endParaRPr lang="en-IN" sz="2000" dirty="0"/>
            </a:p>
          </p:txBody>
        </p:sp>
        <p:cxnSp>
          <p:nvCxnSpPr>
            <p:cNvPr id="54" name="Straight Connector 53"/>
            <p:cNvCxnSpPr>
              <a:stCxn id="53" idx="3"/>
            </p:cNvCxnSpPr>
            <p:nvPr/>
          </p:nvCxnSpPr>
          <p:spPr>
            <a:xfrm flipV="1">
              <a:off x="5079428" y="1914799"/>
              <a:ext cx="461734" cy="78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7374790" y="1803981"/>
              <a:ext cx="1804882" cy="400110"/>
            </a:xfrm>
            <a:prstGeom prst="rect">
              <a:avLst/>
            </a:prstGeom>
            <a:noFill/>
          </p:spPr>
          <p:txBody>
            <a:bodyPr wrap="square" rtlCol="0">
              <a:spAutoFit/>
            </a:bodyPr>
            <a:lstStyle/>
            <a:p>
              <a:r>
                <a:rPr lang="en-IN" sz="2000" dirty="0" smtClean="0"/>
                <a:t>Communication</a:t>
              </a:r>
              <a:endParaRPr lang="en-IN" sz="2000" dirty="0"/>
            </a:p>
          </p:txBody>
        </p:sp>
      </p:grpSp>
    </p:spTree>
    <p:extLst>
      <p:ext uri="{BB962C8B-B14F-4D97-AF65-F5344CB8AC3E}">
        <p14:creationId xmlns:p14="http://schemas.microsoft.com/office/powerpoint/2010/main" val="2035386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0"/>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2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The Message-Passing Interface (MPI)</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8000"/>
              </a:lnSpc>
            </a:pPr>
            <a:r>
              <a:rPr lang="en-US" dirty="0"/>
              <a:t>The Message Passing Interface (MPI) is a </a:t>
            </a:r>
            <a:r>
              <a:rPr lang="en-US" dirty="0" smtClean="0"/>
              <a:t>library specification </a:t>
            </a:r>
            <a:r>
              <a:rPr lang="en-US" dirty="0"/>
              <a:t>for message passing.</a:t>
            </a:r>
          </a:p>
          <a:p>
            <a:pPr>
              <a:lnSpc>
                <a:spcPct val="108000"/>
              </a:lnSpc>
            </a:pPr>
            <a:r>
              <a:rPr lang="en-US" dirty="0" smtClean="0"/>
              <a:t>It </a:t>
            </a:r>
            <a:r>
              <a:rPr lang="en-US" dirty="0"/>
              <a:t>is a standard API that can be used to </a:t>
            </a:r>
            <a:r>
              <a:rPr lang="en-US" dirty="0" smtClean="0"/>
              <a:t>create applications </a:t>
            </a:r>
            <a:r>
              <a:rPr lang="en-US" dirty="0"/>
              <a:t>for high-performance </a:t>
            </a:r>
            <a:r>
              <a:rPr lang="en-US" dirty="0" err="1"/>
              <a:t>multicomputers</a:t>
            </a:r>
            <a:r>
              <a:rPr lang="en-US" dirty="0"/>
              <a:t>.</a:t>
            </a:r>
          </a:p>
          <a:p>
            <a:pPr>
              <a:lnSpc>
                <a:spcPct val="108000"/>
              </a:lnSpc>
            </a:pPr>
            <a:r>
              <a:rPr lang="en-US" dirty="0" smtClean="0"/>
              <a:t>Specific </a:t>
            </a:r>
            <a:r>
              <a:rPr lang="en-US" dirty="0"/>
              <a:t>network protocols (not TCP/IP)</a:t>
            </a:r>
          </a:p>
          <a:p>
            <a:pPr>
              <a:lnSpc>
                <a:spcPct val="108000"/>
              </a:lnSpc>
            </a:pPr>
            <a:r>
              <a:rPr lang="en-US" dirty="0" smtClean="0"/>
              <a:t>Message-based </a:t>
            </a:r>
            <a:r>
              <a:rPr lang="en-US" dirty="0"/>
              <a:t>communication</a:t>
            </a:r>
          </a:p>
          <a:p>
            <a:pPr>
              <a:lnSpc>
                <a:spcPct val="108000"/>
              </a:lnSpc>
            </a:pPr>
            <a:r>
              <a:rPr lang="en-US" dirty="0" smtClean="0"/>
              <a:t>Primitives </a:t>
            </a:r>
            <a:r>
              <a:rPr lang="en-US" dirty="0"/>
              <a:t>for all 4 forms of </a:t>
            </a:r>
            <a:r>
              <a:rPr lang="en-US" dirty="0" smtClean="0"/>
              <a:t>transient communication </a:t>
            </a:r>
            <a:r>
              <a:rPr lang="en-US" dirty="0"/>
              <a:t>(+ variations)</a:t>
            </a:r>
            <a:endParaRPr lang="en-US" dirty="0" smtClean="0"/>
          </a:p>
          <a:p>
            <a:pPr>
              <a:lnSpc>
                <a:spcPct val="108000"/>
              </a:lnSpc>
            </a:pPr>
            <a:r>
              <a:rPr lang="en-US" dirty="0"/>
              <a:t>Vendors + Open Source</a:t>
            </a:r>
          </a:p>
          <a:p>
            <a:pPr lvl="1">
              <a:buFont typeface="Wingdings" panose="05000000000000000000" pitchFamily="2" charset="2"/>
              <a:buChar char="§"/>
            </a:pPr>
            <a:r>
              <a:rPr lang="en-US" sz="2400" dirty="0" smtClean="0"/>
              <a:t>IBM</a:t>
            </a:r>
            <a:r>
              <a:rPr lang="en-US" sz="2400" dirty="0"/>
              <a:t>, Intel, TMC, </a:t>
            </a:r>
            <a:r>
              <a:rPr lang="en-US" sz="2400" dirty="0" err="1"/>
              <a:t>Meiko</a:t>
            </a:r>
            <a:r>
              <a:rPr lang="en-US" sz="2400" dirty="0"/>
              <a:t>, Cray, Convex, </a:t>
            </a:r>
            <a:r>
              <a:rPr lang="en-US" sz="2400" dirty="0" err="1"/>
              <a:t>Ncube</a:t>
            </a:r>
            <a:r>
              <a:rPr lang="en-US" sz="2400" dirty="0" smtClean="0"/>
              <a:t>, </a:t>
            </a:r>
            <a:r>
              <a:rPr lang="en-US" dirty="0" err="1" smtClean="0"/>
              <a:t>OpenMPI</a:t>
            </a:r>
            <a:endParaRPr lang="en-US" dirty="0"/>
          </a:p>
        </p:txBody>
      </p:sp>
    </p:spTree>
    <p:extLst>
      <p:ext uri="{BB962C8B-B14F-4D97-AF65-F5344CB8AC3E}">
        <p14:creationId xmlns:p14="http://schemas.microsoft.com/office/powerpoint/2010/main" val="123240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Message-passing </a:t>
            </a:r>
            <a:r>
              <a:rPr lang="en-US" dirty="0"/>
              <a:t>primitives of MPI</a:t>
            </a:r>
          </a:p>
        </p:txBody>
      </p:sp>
      <p:graphicFrame>
        <p:nvGraphicFramePr>
          <p:cNvPr id="4" name="Content Placeholder 16"/>
          <p:cNvGraphicFramePr>
            <a:graphicFrameLocks/>
          </p:cNvGraphicFramePr>
          <p:nvPr>
            <p:extLst>
              <p:ext uri="{D42A27DB-BD31-4B8C-83A1-F6EECF244321}">
                <p14:modId xmlns:p14="http://schemas.microsoft.com/office/powerpoint/2010/main" val="68845214"/>
              </p:ext>
            </p:extLst>
          </p:nvPr>
        </p:nvGraphicFramePr>
        <p:xfrm>
          <a:off x="395849" y="931674"/>
          <a:ext cx="11462776" cy="609600"/>
        </p:xfrm>
        <a:graphic>
          <a:graphicData uri="http://schemas.openxmlformats.org/drawingml/2006/table">
            <a:tbl>
              <a:tblPr firstRow="1" bandRow="1">
                <a:tableStyleId>{5C22544A-7EE6-4342-B048-85BDC9FD1C3A}</a:tableStyleId>
              </a:tblPr>
              <a:tblGrid>
                <a:gridCol w="2118751">
                  <a:extLst>
                    <a:ext uri="{9D8B030D-6E8A-4147-A177-3AD203B41FA5}">
                      <a16:colId xmlns:a16="http://schemas.microsoft.com/office/drawing/2014/main" xmlns="" val="2803588477"/>
                    </a:ext>
                  </a:extLst>
                </a:gridCol>
                <a:gridCol w="9344025">
                  <a:extLst>
                    <a:ext uri="{9D8B030D-6E8A-4147-A177-3AD203B41FA5}">
                      <a16:colId xmlns:a16="http://schemas.microsoft.com/office/drawing/2014/main" xmlns="" val="1368519302"/>
                    </a:ext>
                  </a:extLst>
                </a:gridCol>
              </a:tblGrid>
              <a:tr h="609600">
                <a:tc>
                  <a:txBody>
                    <a:bodyPr/>
                    <a:lstStyle/>
                    <a:p>
                      <a:pPr algn="ctr"/>
                      <a:r>
                        <a:rPr lang="en-US" sz="2400" b="1" i="0" kern="1200" dirty="0" smtClean="0">
                          <a:solidFill>
                            <a:schemeClr val="bg1"/>
                          </a:solidFill>
                          <a:effectLst/>
                          <a:latin typeface="+mn-lt"/>
                          <a:ea typeface="+mn-ea"/>
                          <a:cs typeface="+mn-cs"/>
                        </a:rPr>
                        <a:t>Primitive</a:t>
                      </a:r>
                      <a:endParaRPr lang="en-US" sz="2400" dirty="0">
                        <a:solidFill>
                          <a:schemeClr val="bg1"/>
                        </a:solidFill>
                      </a:endParaRPr>
                    </a:p>
                  </a:txBody>
                  <a:tcPr marL="104658" marR="104658">
                    <a:solidFill>
                      <a:srgbClr val="1D3064"/>
                    </a:solidFill>
                  </a:tcPr>
                </a:tc>
                <a:tc>
                  <a:txBody>
                    <a:bodyPr/>
                    <a:lstStyle/>
                    <a:p>
                      <a:pPr algn="ctr"/>
                      <a:r>
                        <a:rPr lang="en-US" sz="2400" b="1" i="0" kern="1200" dirty="0" smtClean="0">
                          <a:solidFill>
                            <a:schemeClr val="bg1"/>
                          </a:solidFill>
                          <a:effectLst/>
                          <a:latin typeface="+mn-lt"/>
                          <a:ea typeface="+mn-ea"/>
                          <a:cs typeface="+mn-cs"/>
                        </a:rPr>
                        <a:t>Meaning</a:t>
                      </a:r>
                      <a:endParaRPr lang="en-US" sz="2400" dirty="0">
                        <a:solidFill>
                          <a:schemeClr val="bg1"/>
                        </a:solidFill>
                      </a:endParaRPr>
                    </a:p>
                  </a:txBody>
                  <a:tcPr marL="104658" marR="104658">
                    <a:solidFill>
                      <a:srgbClr val="1D3064"/>
                    </a:solidFill>
                  </a:tcPr>
                </a:tc>
                <a:extLst>
                  <a:ext uri="{0D108BD9-81ED-4DB2-BD59-A6C34878D82A}">
                    <a16:rowId xmlns:a16="http://schemas.microsoft.com/office/drawing/2014/main" xmlns="" val="1230567956"/>
                  </a:ext>
                </a:extLst>
              </a:tr>
            </a:tbl>
          </a:graphicData>
        </a:graphic>
      </p:graphicFrame>
      <p:graphicFrame>
        <p:nvGraphicFramePr>
          <p:cNvPr id="5" name="Content Placeholder 16"/>
          <p:cNvGraphicFramePr>
            <a:graphicFrameLocks/>
          </p:cNvGraphicFramePr>
          <p:nvPr>
            <p:extLst>
              <p:ext uri="{D42A27DB-BD31-4B8C-83A1-F6EECF244321}">
                <p14:modId xmlns:p14="http://schemas.microsoft.com/office/powerpoint/2010/main" val="2249423912"/>
              </p:ext>
            </p:extLst>
          </p:nvPr>
        </p:nvGraphicFramePr>
        <p:xfrm>
          <a:off x="395850" y="1587874"/>
          <a:ext cx="11462776" cy="457200"/>
        </p:xfrm>
        <a:graphic>
          <a:graphicData uri="http://schemas.openxmlformats.org/drawingml/2006/table">
            <a:tbl>
              <a:tblPr firstRow="1" bandRow="1">
                <a:tableStyleId>{5C22544A-7EE6-4342-B048-85BDC9FD1C3A}</a:tableStyleId>
              </a:tblPr>
              <a:tblGrid>
                <a:gridCol w="2104463">
                  <a:extLst>
                    <a:ext uri="{9D8B030D-6E8A-4147-A177-3AD203B41FA5}">
                      <a16:colId xmlns:a16="http://schemas.microsoft.com/office/drawing/2014/main" xmlns="" val="2803588477"/>
                    </a:ext>
                  </a:extLst>
                </a:gridCol>
                <a:gridCol w="9358313">
                  <a:extLst>
                    <a:ext uri="{9D8B030D-6E8A-4147-A177-3AD203B41FA5}">
                      <a16:colId xmlns:a16="http://schemas.microsoft.com/office/drawing/2014/main" xmlns="" val="1368519302"/>
                    </a:ext>
                  </a:extLst>
                </a:gridCol>
              </a:tblGrid>
              <a:tr h="370840">
                <a:tc>
                  <a:txBody>
                    <a:bodyPr/>
                    <a:lstStyle/>
                    <a:p>
                      <a:pPr algn="just"/>
                      <a:r>
                        <a:rPr lang="en-US" sz="2400" b="0" i="0" kern="1200" dirty="0" err="1" smtClean="0">
                          <a:solidFill>
                            <a:schemeClr val="bg2">
                              <a:lumMod val="10000"/>
                            </a:schemeClr>
                          </a:solidFill>
                          <a:effectLst/>
                          <a:latin typeface="+mn-lt"/>
                          <a:ea typeface="+mn-ea"/>
                          <a:cs typeface="+mn-cs"/>
                        </a:rPr>
                        <a:t>MPI_bsend</a:t>
                      </a:r>
                      <a:endParaRPr lang="en-US" sz="2400" dirty="0">
                        <a:solidFill>
                          <a:schemeClr val="bg2">
                            <a:lumMod val="10000"/>
                          </a:schemeClr>
                        </a:solidFill>
                      </a:endParaRPr>
                    </a:p>
                  </a:txBody>
                  <a:tcPr>
                    <a:noFill/>
                  </a:tcPr>
                </a:tc>
                <a:tc>
                  <a:txBody>
                    <a:bodyPr/>
                    <a:lstStyle/>
                    <a:p>
                      <a:pPr algn="just"/>
                      <a:r>
                        <a:rPr lang="en-US" sz="2400" b="0" i="0" kern="1200" dirty="0" smtClean="0">
                          <a:solidFill>
                            <a:schemeClr val="bg2">
                              <a:lumMod val="10000"/>
                            </a:schemeClr>
                          </a:solidFill>
                          <a:effectLst/>
                          <a:latin typeface="+mn-lt"/>
                          <a:ea typeface="+mn-ea"/>
                          <a:cs typeface="+mn-cs"/>
                        </a:rPr>
                        <a:t>Append outgoing message to a local send buffer</a:t>
                      </a:r>
                      <a:endParaRPr lang="en-US" sz="2400" dirty="0">
                        <a:solidFill>
                          <a:schemeClr val="bg2">
                            <a:lumMod val="10000"/>
                          </a:schemeClr>
                        </a:solidFill>
                      </a:endParaRPr>
                    </a:p>
                  </a:txBody>
                  <a:tcPr>
                    <a:noFill/>
                  </a:tcPr>
                </a:tc>
                <a:extLst>
                  <a:ext uri="{0D108BD9-81ED-4DB2-BD59-A6C34878D82A}">
                    <a16:rowId xmlns:a16="http://schemas.microsoft.com/office/drawing/2014/main" xmlns="" val="1230567956"/>
                  </a:ext>
                </a:extLst>
              </a:tr>
            </a:tbl>
          </a:graphicData>
        </a:graphic>
      </p:graphicFrame>
      <p:graphicFrame>
        <p:nvGraphicFramePr>
          <p:cNvPr id="6" name="Content Placeholder 16"/>
          <p:cNvGraphicFramePr>
            <a:graphicFrameLocks/>
          </p:cNvGraphicFramePr>
          <p:nvPr>
            <p:extLst>
              <p:ext uri="{D42A27DB-BD31-4B8C-83A1-F6EECF244321}">
                <p14:modId xmlns:p14="http://schemas.microsoft.com/office/powerpoint/2010/main" val="3551749250"/>
              </p:ext>
            </p:extLst>
          </p:nvPr>
        </p:nvGraphicFramePr>
        <p:xfrm>
          <a:off x="395850" y="2017792"/>
          <a:ext cx="11462775" cy="553677"/>
        </p:xfrm>
        <a:graphic>
          <a:graphicData uri="http://schemas.openxmlformats.org/drawingml/2006/table">
            <a:tbl>
              <a:tblPr firstRow="1" bandRow="1">
                <a:tableStyleId>{5C22544A-7EE6-4342-B048-85BDC9FD1C3A}</a:tableStyleId>
              </a:tblPr>
              <a:tblGrid>
                <a:gridCol w="2118750">
                  <a:extLst>
                    <a:ext uri="{9D8B030D-6E8A-4147-A177-3AD203B41FA5}">
                      <a16:colId xmlns:a16="http://schemas.microsoft.com/office/drawing/2014/main" xmlns="" val="2803588477"/>
                    </a:ext>
                  </a:extLst>
                </a:gridCol>
                <a:gridCol w="9344025">
                  <a:extLst>
                    <a:ext uri="{9D8B030D-6E8A-4147-A177-3AD203B41FA5}">
                      <a16:colId xmlns:a16="http://schemas.microsoft.com/office/drawing/2014/main" xmlns="" val="1368519302"/>
                    </a:ext>
                  </a:extLst>
                </a:gridCol>
              </a:tblGrid>
              <a:tr h="553677">
                <a:tc>
                  <a:txBody>
                    <a:bodyPr/>
                    <a:lstStyle/>
                    <a:p>
                      <a:pPr marL="0" algn="just" defTabSz="914400" rtl="0" eaLnBrk="1" fontAlgn="t" latinLnBrk="0" hangingPunct="1"/>
                      <a:r>
                        <a:rPr lang="en-US" sz="2400" b="0" i="0" kern="1200" dirty="0" err="1" smtClean="0">
                          <a:solidFill>
                            <a:schemeClr val="bg2">
                              <a:lumMod val="10000"/>
                            </a:schemeClr>
                          </a:solidFill>
                          <a:effectLst/>
                          <a:latin typeface="+mn-lt"/>
                          <a:ea typeface="+mn-ea"/>
                          <a:cs typeface="+mn-cs"/>
                        </a:rPr>
                        <a:t>MPI_send</a:t>
                      </a:r>
                      <a:endParaRPr lang="en-US" sz="2400" b="0" i="0" kern="1200" dirty="0">
                        <a:solidFill>
                          <a:schemeClr val="bg2">
                            <a:lumMod val="10000"/>
                          </a:schemeClr>
                        </a:solidFill>
                        <a:effectLst/>
                        <a:latin typeface="+mn-lt"/>
                        <a:ea typeface="+mn-ea"/>
                        <a:cs typeface="+mn-cs"/>
                      </a:endParaRPr>
                    </a:p>
                  </a:txBody>
                  <a:tcPr marL="76200" marR="76200" marT="76200" marB="76200">
                    <a:solidFill>
                      <a:schemeClr val="bg1">
                        <a:lumMod val="95000"/>
                      </a:schemeClr>
                    </a:solidFill>
                  </a:tcPr>
                </a:tc>
                <a:tc>
                  <a:txBody>
                    <a:bodyPr/>
                    <a:lstStyle/>
                    <a:p>
                      <a:pPr algn="just"/>
                      <a:r>
                        <a:rPr lang="en-US" sz="2400" b="0" i="0" kern="1200" dirty="0" smtClean="0">
                          <a:solidFill>
                            <a:schemeClr val="bg2">
                              <a:lumMod val="10000"/>
                            </a:schemeClr>
                          </a:solidFill>
                          <a:effectLst/>
                          <a:latin typeface="+mn-lt"/>
                          <a:ea typeface="+mn-ea"/>
                          <a:cs typeface="+mn-cs"/>
                        </a:rPr>
                        <a:t>Send a message and wait until copied to local or remote buffer</a:t>
                      </a:r>
                      <a:endParaRPr lang="en-US" sz="2400" dirty="0">
                        <a:solidFill>
                          <a:schemeClr val="bg2">
                            <a:lumMod val="10000"/>
                          </a:schemeClr>
                        </a:solidFill>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graphicFrame>
        <p:nvGraphicFramePr>
          <p:cNvPr id="7" name="Content Placeholder 16"/>
          <p:cNvGraphicFramePr>
            <a:graphicFrameLocks/>
          </p:cNvGraphicFramePr>
          <p:nvPr>
            <p:extLst>
              <p:ext uri="{D42A27DB-BD31-4B8C-83A1-F6EECF244321}">
                <p14:modId xmlns:p14="http://schemas.microsoft.com/office/powerpoint/2010/main" val="3264080146"/>
              </p:ext>
            </p:extLst>
          </p:nvPr>
        </p:nvGraphicFramePr>
        <p:xfrm>
          <a:off x="395850" y="2568939"/>
          <a:ext cx="11462776" cy="457200"/>
        </p:xfrm>
        <a:graphic>
          <a:graphicData uri="http://schemas.openxmlformats.org/drawingml/2006/table">
            <a:tbl>
              <a:tblPr firstRow="1" bandRow="1">
                <a:tableStyleId>{5C22544A-7EE6-4342-B048-85BDC9FD1C3A}</a:tableStyleId>
              </a:tblPr>
              <a:tblGrid>
                <a:gridCol w="2133038">
                  <a:extLst>
                    <a:ext uri="{9D8B030D-6E8A-4147-A177-3AD203B41FA5}">
                      <a16:colId xmlns:a16="http://schemas.microsoft.com/office/drawing/2014/main" xmlns="" val="2803588477"/>
                    </a:ext>
                  </a:extLst>
                </a:gridCol>
                <a:gridCol w="9329738">
                  <a:extLst>
                    <a:ext uri="{9D8B030D-6E8A-4147-A177-3AD203B41FA5}">
                      <a16:colId xmlns:a16="http://schemas.microsoft.com/office/drawing/2014/main" xmlns="" val="1368519302"/>
                    </a:ext>
                  </a:extLst>
                </a:gridCol>
              </a:tblGrid>
              <a:tr h="370840">
                <a:tc>
                  <a:txBody>
                    <a:bodyPr/>
                    <a:lstStyle/>
                    <a:p>
                      <a:pPr algn="just"/>
                      <a:r>
                        <a:rPr lang="en-US" sz="2400" b="0" i="0" kern="1200" dirty="0" err="1" smtClean="0">
                          <a:solidFill>
                            <a:schemeClr val="bg2">
                              <a:lumMod val="10000"/>
                            </a:schemeClr>
                          </a:solidFill>
                          <a:effectLst/>
                          <a:latin typeface="+mn-lt"/>
                          <a:ea typeface="+mn-ea"/>
                          <a:cs typeface="+mn-cs"/>
                        </a:rPr>
                        <a:t>MPI_ssend</a:t>
                      </a:r>
                      <a:endParaRPr lang="en-US" sz="2400" dirty="0">
                        <a:solidFill>
                          <a:schemeClr val="bg2">
                            <a:lumMod val="10000"/>
                          </a:schemeClr>
                        </a:solidFill>
                      </a:endParaRPr>
                    </a:p>
                  </a:txBody>
                  <a:tcPr>
                    <a:noFill/>
                  </a:tcPr>
                </a:tc>
                <a:tc>
                  <a:txBody>
                    <a:bodyPr/>
                    <a:lstStyle/>
                    <a:p>
                      <a:pPr algn="just"/>
                      <a:r>
                        <a:rPr lang="en-US" sz="2400" b="0" i="0" kern="1200" dirty="0" smtClean="0">
                          <a:solidFill>
                            <a:schemeClr val="bg2">
                              <a:lumMod val="10000"/>
                            </a:schemeClr>
                          </a:solidFill>
                          <a:effectLst/>
                          <a:latin typeface="+mn-lt"/>
                          <a:ea typeface="+mn-ea"/>
                          <a:cs typeface="+mn-cs"/>
                        </a:rPr>
                        <a:t>Send a message and wait until receipt starts</a:t>
                      </a:r>
                      <a:endParaRPr lang="en-US" sz="2400" dirty="0">
                        <a:solidFill>
                          <a:schemeClr val="bg2">
                            <a:lumMod val="10000"/>
                          </a:schemeClr>
                        </a:solidFill>
                      </a:endParaRPr>
                    </a:p>
                  </a:txBody>
                  <a:tcPr>
                    <a:noFill/>
                  </a:tcPr>
                </a:tc>
                <a:extLst>
                  <a:ext uri="{0D108BD9-81ED-4DB2-BD59-A6C34878D82A}">
                    <a16:rowId xmlns:a16="http://schemas.microsoft.com/office/drawing/2014/main" xmlns="" val="1230567956"/>
                  </a:ext>
                </a:extLst>
              </a:tr>
            </a:tbl>
          </a:graphicData>
        </a:graphic>
      </p:graphicFrame>
      <p:graphicFrame>
        <p:nvGraphicFramePr>
          <p:cNvPr id="8" name="Content Placeholder 16"/>
          <p:cNvGraphicFramePr>
            <a:graphicFrameLocks/>
          </p:cNvGraphicFramePr>
          <p:nvPr>
            <p:extLst>
              <p:ext uri="{D42A27DB-BD31-4B8C-83A1-F6EECF244321}">
                <p14:modId xmlns:p14="http://schemas.microsoft.com/office/powerpoint/2010/main" val="4223952404"/>
              </p:ext>
            </p:extLst>
          </p:nvPr>
        </p:nvGraphicFramePr>
        <p:xfrm>
          <a:off x="395850" y="3035555"/>
          <a:ext cx="11462776" cy="553677"/>
        </p:xfrm>
        <a:graphic>
          <a:graphicData uri="http://schemas.openxmlformats.org/drawingml/2006/table">
            <a:tbl>
              <a:tblPr firstRow="1" bandRow="1">
                <a:tableStyleId>{5C22544A-7EE6-4342-B048-85BDC9FD1C3A}</a:tableStyleId>
              </a:tblPr>
              <a:tblGrid>
                <a:gridCol w="2161613">
                  <a:extLst>
                    <a:ext uri="{9D8B030D-6E8A-4147-A177-3AD203B41FA5}">
                      <a16:colId xmlns:a16="http://schemas.microsoft.com/office/drawing/2014/main" xmlns="" val="2803588477"/>
                    </a:ext>
                  </a:extLst>
                </a:gridCol>
                <a:gridCol w="9301163">
                  <a:extLst>
                    <a:ext uri="{9D8B030D-6E8A-4147-A177-3AD203B41FA5}">
                      <a16:colId xmlns:a16="http://schemas.microsoft.com/office/drawing/2014/main" xmlns="" val="1368519302"/>
                    </a:ext>
                  </a:extLst>
                </a:gridCol>
              </a:tblGrid>
              <a:tr h="553677">
                <a:tc>
                  <a:txBody>
                    <a:bodyPr/>
                    <a:lstStyle/>
                    <a:p>
                      <a:pPr marL="0" algn="just" defTabSz="914400" rtl="0" eaLnBrk="1" fontAlgn="t" latinLnBrk="0" hangingPunct="1"/>
                      <a:r>
                        <a:rPr lang="en-US" sz="2400" b="0" i="0" kern="1200" dirty="0" err="1" smtClean="0">
                          <a:solidFill>
                            <a:schemeClr val="bg2">
                              <a:lumMod val="10000"/>
                            </a:schemeClr>
                          </a:solidFill>
                          <a:effectLst/>
                          <a:latin typeface="+mn-lt"/>
                          <a:ea typeface="+mn-ea"/>
                          <a:cs typeface="+mn-cs"/>
                        </a:rPr>
                        <a:t>MPI_sendrecv</a:t>
                      </a:r>
                      <a:endParaRPr lang="en-US" sz="2400" b="0" i="0" kern="1200" dirty="0">
                        <a:solidFill>
                          <a:schemeClr val="bg2">
                            <a:lumMod val="10000"/>
                          </a:schemeClr>
                        </a:solidFill>
                        <a:effectLst/>
                        <a:latin typeface="+mn-lt"/>
                        <a:ea typeface="+mn-ea"/>
                        <a:cs typeface="+mn-cs"/>
                      </a:endParaRPr>
                    </a:p>
                  </a:txBody>
                  <a:tcPr marL="76200" marR="76200" marT="76200" marB="76200">
                    <a:solidFill>
                      <a:schemeClr val="bg1">
                        <a:lumMod val="95000"/>
                      </a:schemeClr>
                    </a:solidFill>
                  </a:tcPr>
                </a:tc>
                <a:tc>
                  <a:txBody>
                    <a:bodyPr/>
                    <a:lstStyle/>
                    <a:p>
                      <a:pPr algn="just"/>
                      <a:r>
                        <a:rPr lang="en-US" sz="2400" b="0" i="0" kern="1200" dirty="0" smtClean="0">
                          <a:solidFill>
                            <a:schemeClr val="bg2">
                              <a:lumMod val="10000"/>
                            </a:schemeClr>
                          </a:solidFill>
                          <a:effectLst/>
                          <a:latin typeface="+mn-lt"/>
                          <a:ea typeface="+mn-ea"/>
                          <a:cs typeface="+mn-cs"/>
                        </a:rPr>
                        <a:t>Send a message and wait for reply</a:t>
                      </a:r>
                      <a:endParaRPr lang="en-US" sz="2400" dirty="0">
                        <a:solidFill>
                          <a:schemeClr val="bg2">
                            <a:lumMod val="10000"/>
                          </a:schemeClr>
                        </a:solidFill>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graphicFrame>
        <p:nvGraphicFramePr>
          <p:cNvPr id="9" name="Content Placeholder 16"/>
          <p:cNvGraphicFramePr>
            <a:graphicFrameLocks/>
          </p:cNvGraphicFramePr>
          <p:nvPr>
            <p:extLst>
              <p:ext uri="{D42A27DB-BD31-4B8C-83A1-F6EECF244321}">
                <p14:modId xmlns:p14="http://schemas.microsoft.com/office/powerpoint/2010/main" val="4113672134"/>
              </p:ext>
            </p:extLst>
          </p:nvPr>
        </p:nvGraphicFramePr>
        <p:xfrm>
          <a:off x="395849" y="3596465"/>
          <a:ext cx="11462776" cy="457200"/>
        </p:xfrm>
        <a:graphic>
          <a:graphicData uri="http://schemas.openxmlformats.org/drawingml/2006/table">
            <a:tbl>
              <a:tblPr firstRow="1" bandRow="1">
                <a:tableStyleId>{5C22544A-7EE6-4342-B048-85BDC9FD1C3A}</a:tableStyleId>
              </a:tblPr>
              <a:tblGrid>
                <a:gridCol w="2104463">
                  <a:extLst>
                    <a:ext uri="{9D8B030D-6E8A-4147-A177-3AD203B41FA5}">
                      <a16:colId xmlns:a16="http://schemas.microsoft.com/office/drawing/2014/main" xmlns="" val="2803588477"/>
                    </a:ext>
                  </a:extLst>
                </a:gridCol>
                <a:gridCol w="9358313">
                  <a:extLst>
                    <a:ext uri="{9D8B030D-6E8A-4147-A177-3AD203B41FA5}">
                      <a16:colId xmlns:a16="http://schemas.microsoft.com/office/drawing/2014/main" xmlns="" val="1368519302"/>
                    </a:ext>
                  </a:extLst>
                </a:gridCol>
              </a:tblGrid>
              <a:tr h="370840">
                <a:tc>
                  <a:txBody>
                    <a:bodyPr/>
                    <a:lstStyle/>
                    <a:p>
                      <a:pPr marL="0" algn="just" defTabSz="914400" rtl="0" eaLnBrk="1" fontAlgn="t" latinLnBrk="0" hangingPunct="1"/>
                      <a:r>
                        <a:rPr lang="en-US" sz="2400" b="0" i="0" kern="1200" dirty="0" err="1" smtClean="0">
                          <a:solidFill>
                            <a:schemeClr val="bg2">
                              <a:lumMod val="10000"/>
                            </a:schemeClr>
                          </a:solidFill>
                          <a:effectLst/>
                          <a:latin typeface="+mn-lt"/>
                          <a:ea typeface="+mn-ea"/>
                          <a:cs typeface="+mn-cs"/>
                        </a:rPr>
                        <a:t>MPI_isend</a:t>
                      </a:r>
                      <a:endParaRPr lang="en-US" sz="2400" b="0" i="0" kern="1200" dirty="0">
                        <a:solidFill>
                          <a:schemeClr val="bg2">
                            <a:lumMod val="10000"/>
                          </a:schemeClr>
                        </a:solidFill>
                        <a:effectLst/>
                        <a:latin typeface="+mn-lt"/>
                        <a:ea typeface="+mn-ea"/>
                        <a:cs typeface="+mn-cs"/>
                      </a:endParaRPr>
                    </a:p>
                  </a:txBody>
                  <a:tcPr>
                    <a:noFill/>
                  </a:tcPr>
                </a:tc>
                <a:tc>
                  <a:txBody>
                    <a:bodyPr/>
                    <a:lstStyle/>
                    <a:p>
                      <a:pPr algn="just"/>
                      <a:r>
                        <a:rPr lang="en-US" sz="2400" b="0" i="0" kern="1200" dirty="0" smtClean="0">
                          <a:solidFill>
                            <a:schemeClr val="bg2">
                              <a:lumMod val="10000"/>
                            </a:schemeClr>
                          </a:solidFill>
                          <a:effectLst/>
                          <a:latin typeface="+mn-lt"/>
                          <a:ea typeface="+mn-ea"/>
                          <a:cs typeface="+mn-cs"/>
                        </a:rPr>
                        <a:t>Pass reference to outgoing message, and continue</a:t>
                      </a:r>
                      <a:endParaRPr lang="en-US" sz="2400" dirty="0">
                        <a:solidFill>
                          <a:schemeClr val="bg2">
                            <a:lumMod val="10000"/>
                          </a:schemeClr>
                        </a:solidFill>
                      </a:endParaRPr>
                    </a:p>
                  </a:txBody>
                  <a:tcPr>
                    <a:noFill/>
                  </a:tcPr>
                </a:tc>
                <a:extLst>
                  <a:ext uri="{0D108BD9-81ED-4DB2-BD59-A6C34878D82A}">
                    <a16:rowId xmlns:a16="http://schemas.microsoft.com/office/drawing/2014/main" xmlns="" val="1230567956"/>
                  </a:ext>
                </a:extLst>
              </a:tr>
            </a:tbl>
          </a:graphicData>
        </a:graphic>
      </p:graphicFrame>
      <p:graphicFrame>
        <p:nvGraphicFramePr>
          <p:cNvPr id="10" name="Content Placeholder 16"/>
          <p:cNvGraphicFramePr>
            <a:graphicFrameLocks/>
          </p:cNvGraphicFramePr>
          <p:nvPr>
            <p:extLst>
              <p:ext uri="{D42A27DB-BD31-4B8C-83A1-F6EECF244321}">
                <p14:modId xmlns:p14="http://schemas.microsoft.com/office/powerpoint/2010/main" val="4220030408"/>
              </p:ext>
            </p:extLst>
          </p:nvPr>
        </p:nvGraphicFramePr>
        <p:xfrm>
          <a:off x="395849" y="4026383"/>
          <a:ext cx="11462775" cy="553677"/>
        </p:xfrm>
        <a:graphic>
          <a:graphicData uri="http://schemas.openxmlformats.org/drawingml/2006/table">
            <a:tbl>
              <a:tblPr firstRow="1" bandRow="1">
                <a:tableStyleId>{5C22544A-7EE6-4342-B048-85BDC9FD1C3A}</a:tableStyleId>
              </a:tblPr>
              <a:tblGrid>
                <a:gridCol w="2118750">
                  <a:extLst>
                    <a:ext uri="{9D8B030D-6E8A-4147-A177-3AD203B41FA5}">
                      <a16:colId xmlns:a16="http://schemas.microsoft.com/office/drawing/2014/main" xmlns="" val="2803588477"/>
                    </a:ext>
                  </a:extLst>
                </a:gridCol>
                <a:gridCol w="9344025">
                  <a:extLst>
                    <a:ext uri="{9D8B030D-6E8A-4147-A177-3AD203B41FA5}">
                      <a16:colId xmlns:a16="http://schemas.microsoft.com/office/drawing/2014/main" xmlns="" val="1368519302"/>
                    </a:ext>
                  </a:extLst>
                </a:gridCol>
              </a:tblGrid>
              <a:tr h="553677">
                <a:tc>
                  <a:txBody>
                    <a:bodyPr/>
                    <a:lstStyle/>
                    <a:p>
                      <a:pPr marL="0" algn="just" defTabSz="914400" rtl="0" eaLnBrk="1" fontAlgn="t" latinLnBrk="0" hangingPunct="1"/>
                      <a:r>
                        <a:rPr lang="en-US" sz="2400" b="0" i="0" kern="1200" dirty="0" err="1" smtClean="0">
                          <a:solidFill>
                            <a:schemeClr val="bg2">
                              <a:lumMod val="10000"/>
                            </a:schemeClr>
                          </a:solidFill>
                          <a:effectLst/>
                          <a:latin typeface="+mn-lt"/>
                          <a:ea typeface="+mn-ea"/>
                          <a:cs typeface="+mn-cs"/>
                        </a:rPr>
                        <a:t>MPI_issend</a:t>
                      </a:r>
                      <a:endParaRPr lang="en-US" sz="2400" b="0" i="0" kern="1200" dirty="0">
                        <a:solidFill>
                          <a:schemeClr val="bg2">
                            <a:lumMod val="10000"/>
                          </a:schemeClr>
                        </a:solidFill>
                        <a:effectLst/>
                        <a:latin typeface="+mn-lt"/>
                        <a:ea typeface="+mn-ea"/>
                        <a:cs typeface="+mn-cs"/>
                      </a:endParaRPr>
                    </a:p>
                  </a:txBody>
                  <a:tcPr marL="76200" marR="76200" marT="76200" marB="76200">
                    <a:solidFill>
                      <a:schemeClr val="bg1">
                        <a:lumMod val="95000"/>
                      </a:schemeClr>
                    </a:solidFill>
                  </a:tcPr>
                </a:tc>
                <a:tc>
                  <a:txBody>
                    <a:bodyPr/>
                    <a:lstStyle/>
                    <a:p>
                      <a:pPr algn="just"/>
                      <a:r>
                        <a:rPr lang="en-US" sz="2400" b="0" i="0" kern="1200" dirty="0" smtClean="0">
                          <a:solidFill>
                            <a:schemeClr val="bg2">
                              <a:lumMod val="10000"/>
                            </a:schemeClr>
                          </a:solidFill>
                          <a:effectLst/>
                          <a:latin typeface="+mn-lt"/>
                          <a:ea typeface="+mn-ea"/>
                          <a:cs typeface="+mn-cs"/>
                        </a:rPr>
                        <a:t>Pass reference to outgoing message, and wait until receipt starts</a:t>
                      </a:r>
                      <a:endParaRPr lang="en-US" sz="2400" dirty="0">
                        <a:solidFill>
                          <a:schemeClr val="bg2">
                            <a:lumMod val="10000"/>
                          </a:schemeClr>
                        </a:solidFill>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graphicFrame>
        <p:nvGraphicFramePr>
          <p:cNvPr id="11" name="Content Placeholder 16"/>
          <p:cNvGraphicFramePr>
            <a:graphicFrameLocks/>
          </p:cNvGraphicFramePr>
          <p:nvPr>
            <p:extLst>
              <p:ext uri="{D42A27DB-BD31-4B8C-83A1-F6EECF244321}">
                <p14:modId xmlns:p14="http://schemas.microsoft.com/office/powerpoint/2010/main" val="3302008552"/>
              </p:ext>
            </p:extLst>
          </p:nvPr>
        </p:nvGraphicFramePr>
        <p:xfrm>
          <a:off x="395849" y="4577530"/>
          <a:ext cx="11462776" cy="457200"/>
        </p:xfrm>
        <a:graphic>
          <a:graphicData uri="http://schemas.openxmlformats.org/drawingml/2006/table">
            <a:tbl>
              <a:tblPr firstRow="1" bandRow="1">
                <a:tableStyleId>{5C22544A-7EE6-4342-B048-85BDC9FD1C3A}</a:tableStyleId>
              </a:tblPr>
              <a:tblGrid>
                <a:gridCol w="2133038">
                  <a:extLst>
                    <a:ext uri="{9D8B030D-6E8A-4147-A177-3AD203B41FA5}">
                      <a16:colId xmlns:a16="http://schemas.microsoft.com/office/drawing/2014/main" xmlns="" val="2803588477"/>
                    </a:ext>
                  </a:extLst>
                </a:gridCol>
                <a:gridCol w="9329738">
                  <a:extLst>
                    <a:ext uri="{9D8B030D-6E8A-4147-A177-3AD203B41FA5}">
                      <a16:colId xmlns:a16="http://schemas.microsoft.com/office/drawing/2014/main" xmlns="" val="1368519302"/>
                    </a:ext>
                  </a:extLst>
                </a:gridCol>
              </a:tblGrid>
              <a:tr h="370840">
                <a:tc>
                  <a:txBody>
                    <a:bodyPr/>
                    <a:lstStyle/>
                    <a:p>
                      <a:pPr algn="just"/>
                      <a:r>
                        <a:rPr lang="en-US" sz="2400" b="0" i="0" kern="1200" dirty="0" err="1" smtClean="0">
                          <a:solidFill>
                            <a:schemeClr val="bg2">
                              <a:lumMod val="10000"/>
                            </a:schemeClr>
                          </a:solidFill>
                          <a:effectLst/>
                          <a:latin typeface="+mn-lt"/>
                          <a:ea typeface="+mn-ea"/>
                          <a:cs typeface="+mn-cs"/>
                        </a:rPr>
                        <a:t>MPI_recv</a:t>
                      </a:r>
                      <a:endParaRPr lang="en-US" sz="2400" dirty="0">
                        <a:solidFill>
                          <a:schemeClr val="bg2">
                            <a:lumMod val="10000"/>
                          </a:schemeClr>
                        </a:solidFill>
                      </a:endParaRPr>
                    </a:p>
                  </a:txBody>
                  <a:tcPr>
                    <a:noFill/>
                  </a:tcPr>
                </a:tc>
                <a:tc>
                  <a:txBody>
                    <a:bodyPr/>
                    <a:lstStyle/>
                    <a:p>
                      <a:pPr algn="just"/>
                      <a:r>
                        <a:rPr lang="en-US" sz="2400" b="0" i="0" kern="1200" dirty="0" smtClean="0">
                          <a:solidFill>
                            <a:schemeClr val="bg2">
                              <a:lumMod val="10000"/>
                            </a:schemeClr>
                          </a:solidFill>
                          <a:effectLst/>
                          <a:latin typeface="+mn-lt"/>
                          <a:ea typeface="+mn-ea"/>
                          <a:cs typeface="+mn-cs"/>
                        </a:rPr>
                        <a:t>Receive a message; block if there is none</a:t>
                      </a:r>
                      <a:endParaRPr lang="en-US" sz="2400" dirty="0">
                        <a:solidFill>
                          <a:schemeClr val="bg2">
                            <a:lumMod val="10000"/>
                          </a:schemeClr>
                        </a:solidFill>
                      </a:endParaRPr>
                    </a:p>
                  </a:txBody>
                  <a:tcPr>
                    <a:noFill/>
                  </a:tcPr>
                </a:tc>
                <a:extLst>
                  <a:ext uri="{0D108BD9-81ED-4DB2-BD59-A6C34878D82A}">
                    <a16:rowId xmlns:a16="http://schemas.microsoft.com/office/drawing/2014/main" xmlns="" val="1230567956"/>
                  </a:ext>
                </a:extLst>
              </a:tr>
            </a:tbl>
          </a:graphicData>
        </a:graphic>
      </p:graphicFrame>
      <p:graphicFrame>
        <p:nvGraphicFramePr>
          <p:cNvPr id="12" name="Content Placeholder 16"/>
          <p:cNvGraphicFramePr>
            <a:graphicFrameLocks/>
          </p:cNvGraphicFramePr>
          <p:nvPr>
            <p:extLst>
              <p:ext uri="{D42A27DB-BD31-4B8C-83A1-F6EECF244321}">
                <p14:modId xmlns:p14="http://schemas.microsoft.com/office/powerpoint/2010/main" val="2346875411"/>
              </p:ext>
            </p:extLst>
          </p:nvPr>
        </p:nvGraphicFramePr>
        <p:xfrm>
          <a:off x="395849" y="5044146"/>
          <a:ext cx="11462776" cy="553677"/>
        </p:xfrm>
        <a:graphic>
          <a:graphicData uri="http://schemas.openxmlformats.org/drawingml/2006/table">
            <a:tbl>
              <a:tblPr firstRow="1" bandRow="1">
                <a:tableStyleId>{5C22544A-7EE6-4342-B048-85BDC9FD1C3A}</a:tableStyleId>
              </a:tblPr>
              <a:tblGrid>
                <a:gridCol w="2161613">
                  <a:extLst>
                    <a:ext uri="{9D8B030D-6E8A-4147-A177-3AD203B41FA5}">
                      <a16:colId xmlns:a16="http://schemas.microsoft.com/office/drawing/2014/main" xmlns="" val="2803588477"/>
                    </a:ext>
                  </a:extLst>
                </a:gridCol>
                <a:gridCol w="9301163">
                  <a:extLst>
                    <a:ext uri="{9D8B030D-6E8A-4147-A177-3AD203B41FA5}">
                      <a16:colId xmlns:a16="http://schemas.microsoft.com/office/drawing/2014/main" xmlns="" val="1368519302"/>
                    </a:ext>
                  </a:extLst>
                </a:gridCol>
              </a:tblGrid>
              <a:tr h="553677">
                <a:tc>
                  <a:txBody>
                    <a:bodyPr/>
                    <a:lstStyle/>
                    <a:p>
                      <a:pPr marL="0" algn="just" defTabSz="914400" rtl="0" eaLnBrk="1" fontAlgn="t" latinLnBrk="0" hangingPunct="1"/>
                      <a:r>
                        <a:rPr lang="en-US" sz="2400" b="0" i="0" kern="1200" dirty="0" err="1" smtClean="0">
                          <a:solidFill>
                            <a:schemeClr val="bg2">
                              <a:lumMod val="10000"/>
                            </a:schemeClr>
                          </a:solidFill>
                          <a:effectLst/>
                          <a:latin typeface="+mn-lt"/>
                          <a:ea typeface="+mn-ea"/>
                          <a:cs typeface="+mn-cs"/>
                        </a:rPr>
                        <a:t>MPI_irecv</a:t>
                      </a:r>
                      <a:endParaRPr lang="en-US" sz="2400" b="0" i="0" kern="1200" dirty="0">
                        <a:solidFill>
                          <a:schemeClr val="bg2">
                            <a:lumMod val="10000"/>
                          </a:schemeClr>
                        </a:solidFill>
                        <a:effectLst/>
                        <a:latin typeface="+mn-lt"/>
                        <a:ea typeface="+mn-ea"/>
                        <a:cs typeface="+mn-cs"/>
                      </a:endParaRPr>
                    </a:p>
                  </a:txBody>
                  <a:tcPr marL="76200" marR="76200" marT="76200" marB="76200">
                    <a:solidFill>
                      <a:schemeClr val="bg1">
                        <a:lumMod val="95000"/>
                      </a:schemeClr>
                    </a:solidFill>
                  </a:tcPr>
                </a:tc>
                <a:tc>
                  <a:txBody>
                    <a:bodyPr/>
                    <a:lstStyle/>
                    <a:p>
                      <a:pPr algn="just"/>
                      <a:r>
                        <a:rPr lang="en-US" sz="2400" b="0" i="0" kern="1200" dirty="0" smtClean="0">
                          <a:solidFill>
                            <a:schemeClr val="bg2">
                              <a:lumMod val="10000"/>
                            </a:schemeClr>
                          </a:solidFill>
                          <a:effectLst/>
                          <a:latin typeface="+mn-lt"/>
                          <a:ea typeface="+mn-ea"/>
                          <a:cs typeface="+mn-cs"/>
                        </a:rPr>
                        <a:t>Check if there is an incoming message, but do not block</a:t>
                      </a:r>
                      <a:endParaRPr lang="en-US" sz="2400" dirty="0">
                        <a:solidFill>
                          <a:schemeClr val="bg2">
                            <a:lumMod val="10000"/>
                          </a:schemeClr>
                        </a:solidFill>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spTree>
    <p:extLst>
      <p:ext uri="{BB962C8B-B14F-4D97-AF65-F5344CB8AC3E}">
        <p14:creationId xmlns:p14="http://schemas.microsoft.com/office/powerpoint/2010/main" val="1058815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Message-Oriented Persistent Communication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indent="0">
              <a:lnSpc>
                <a:spcPct val="108000"/>
              </a:lnSpc>
              <a:buNone/>
            </a:pPr>
            <a:r>
              <a:rPr lang="en-US" b="1" dirty="0">
                <a:solidFill>
                  <a:srgbClr val="1D3064"/>
                </a:solidFill>
              </a:rPr>
              <a:t>Message-queuing systems </a:t>
            </a:r>
            <a:r>
              <a:rPr lang="en-US" b="1" dirty="0" smtClean="0">
                <a:solidFill>
                  <a:srgbClr val="1D3064"/>
                </a:solidFill>
              </a:rPr>
              <a:t>–Message-Oriented </a:t>
            </a:r>
            <a:r>
              <a:rPr lang="en-US" b="1" dirty="0">
                <a:solidFill>
                  <a:srgbClr val="1D3064"/>
                </a:solidFill>
              </a:rPr>
              <a:t>Middleware (MOM</a:t>
            </a:r>
            <a:r>
              <a:rPr lang="en-US" b="1" dirty="0" smtClean="0">
                <a:solidFill>
                  <a:srgbClr val="1D3064"/>
                </a:solidFill>
              </a:rPr>
              <a:t>)</a:t>
            </a:r>
          </a:p>
          <a:p>
            <a:pPr lvl="1">
              <a:buFont typeface="Wingdings" panose="05000000000000000000" pitchFamily="2" charset="2"/>
              <a:buChar char="§"/>
            </a:pPr>
            <a:r>
              <a:rPr lang="en-US" sz="2400" dirty="0"/>
              <a:t>Basic idea: MOM provides message storage </a:t>
            </a:r>
            <a:r>
              <a:rPr lang="en-US" sz="2400" dirty="0" smtClean="0"/>
              <a:t>service. </a:t>
            </a:r>
            <a:endParaRPr lang="en-US" sz="2400" dirty="0"/>
          </a:p>
          <a:p>
            <a:pPr lvl="1">
              <a:buFont typeface="Wingdings" panose="05000000000000000000" pitchFamily="2" charset="2"/>
              <a:buChar char="§"/>
            </a:pPr>
            <a:r>
              <a:rPr lang="en-US" sz="2400" dirty="0"/>
              <a:t>A message is put in a queue by the sender, and delivered to a destination queue</a:t>
            </a:r>
          </a:p>
          <a:p>
            <a:pPr lvl="1">
              <a:buFont typeface="Wingdings" panose="05000000000000000000" pitchFamily="2" charset="2"/>
              <a:buChar char="§"/>
            </a:pPr>
            <a:r>
              <a:rPr lang="en-US" sz="2400" dirty="0"/>
              <a:t>The target(s) can retrieve their messages from the queue</a:t>
            </a:r>
          </a:p>
          <a:p>
            <a:pPr lvl="1">
              <a:buFont typeface="Wingdings" panose="05000000000000000000" pitchFamily="2" charset="2"/>
              <a:buChar char="§"/>
            </a:pPr>
            <a:r>
              <a:rPr lang="en-US" sz="2400" dirty="0"/>
              <a:t>Time uncoupling between sender and receiver</a:t>
            </a:r>
          </a:p>
          <a:p>
            <a:pPr lvl="1">
              <a:buFont typeface="Wingdings" panose="05000000000000000000" pitchFamily="2" charset="2"/>
              <a:buChar char="§"/>
            </a:pPr>
            <a:r>
              <a:rPr lang="en-US" sz="2400" dirty="0"/>
              <a:t>Example: email</a:t>
            </a:r>
          </a:p>
        </p:txBody>
      </p:sp>
      <p:grpSp>
        <p:nvGrpSpPr>
          <p:cNvPr id="19" name="Group 18"/>
          <p:cNvGrpSpPr/>
          <p:nvPr/>
        </p:nvGrpSpPr>
        <p:grpSpPr>
          <a:xfrm>
            <a:off x="1476373" y="3634609"/>
            <a:ext cx="7829955" cy="2869293"/>
            <a:chOff x="1476373" y="3634609"/>
            <a:chExt cx="7829955" cy="2869293"/>
          </a:xfrm>
        </p:grpSpPr>
        <p:pic>
          <p:nvPicPr>
            <p:cNvPr id="7" name="Content Placeholder 3"/>
            <p:cNvPicPr>
              <a:picLocks noChangeAspect="1"/>
            </p:cNvPicPr>
            <p:nvPr/>
          </p:nvPicPr>
          <p:blipFill>
            <a:blip r:embed="rId2"/>
            <a:stretch>
              <a:fillRect/>
            </a:stretch>
          </p:blipFill>
          <p:spPr>
            <a:xfrm>
              <a:off x="1476373" y="3634609"/>
              <a:ext cx="6477000" cy="2819400"/>
            </a:xfrm>
            <a:prstGeom prst="rect">
              <a:avLst/>
            </a:prstGeom>
          </p:spPr>
        </p:pic>
        <p:sp>
          <p:nvSpPr>
            <p:cNvPr id="8" name="TextBox 7"/>
            <p:cNvSpPr txBox="1"/>
            <p:nvPr/>
          </p:nvSpPr>
          <p:spPr>
            <a:xfrm>
              <a:off x="1901186" y="3931074"/>
              <a:ext cx="899410" cy="369332"/>
            </a:xfrm>
            <a:prstGeom prst="rect">
              <a:avLst/>
            </a:prstGeom>
            <a:noFill/>
          </p:spPr>
          <p:txBody>
            <a:bodyPr wrap="square" rtlCol="0">
              <a:spAutoFit/>
            </a:bodyPr>
            <a:lstStyle/>
            <a:p>
              <a:r>
                <a:rPr lang="en-IN" dirty="0" smtClean="0">
                  <a:solidFill>
                    <a:schemeClr val="accent6"/>
                  </a:solidFill>
                </a:rPr>
                <a:t>Sender</a:t>
              </a:r>
              <a:endParaRPr lang="en-IN" dirty="0">
                <a:solidFill>
                  <a:schemeClr val="accent6"/>
                </a:solidFill>
              </a:endParaRPr>
            </a:p>
          </p:txBody>
        </p:sp>
        <p:sp>
          <p:nvSpPr>
            <p:cNvPr id="9" name="TextBox 8"/>
            <p:cNvSpPr txBox="1"/>
            <p:nvPr/>
          </p:nvSpPr>
          <p:spPr>
            <a:xfrm>
              <a:off x="6625173" y="4656593"/>
              <a:ext cx="1076793" cy="646331"/>
            </a:xfrm>
            <a:prstGeom prst="rect">
              <a:avLst/>
            </a:prstGeom>
            <a:noFill/>
          </p:spPr>
          <p:txBody>
            <a:bodyPr wrap="square" rtlCol="0">
              <a:spAutoFit/>
            </a:bodyPr>
            <a:lstStyle/>
            <a:p>
              <a:r>
                <a:rPr lang="en-IN" dirty="0" smtClean="0">
                  <a:solidFill>
                    <a:schemeClr val="accent6"/>
                  </a:solidFill>
                </a:rPr>
                <a:t>Queuing layer</a:t>
              </a:r>
              <a:endParaRPr lang="en-IN" dirty="0">
                <a:solidFill>
                  <a:schemeClr val="accent6"/>
                </a:solidFill>
              </a:endParaRPr>
            </a:p>
          </p:txBody>
        </p:sp>
        <p:sp>
          <p:nvSpPr>
            <p:cNvPr id="10" name="TextBox 9"/>
            <p:cNvSpPr txBox="1"/>
            <p:nvPr/>
          </p:nvSpPr>
          <p:spPr>
            <a:xfrm>
              <a:off x="5548380" y="5307382"/>
              <a:ext cx="1076793" cy="369332"/>
            </a:xfrm>
            <a:prstGeom prst="rect">
              <a:avLst/>
            </a:prstGeom>
            <a:noFill/>
          </p:spPr>
          <p:txBody>
            <a:bodyPr wrap="square" rtlCol="0">
              <a:spAutoFit/>
            </a:bodyPr>
            <a:lstStyle/>
            <a:p>
              <a:r>
                <a:rPr lang="en-IN" dirty="0" smtClean="0">
                  <a:solidFill>
                    <a:schemeClr val="accent6"/>
                  </a:solidFill>
                </a:rPr>
                <a:t>Local OS</a:t>
              </a:r>
              <a:endParaRPr lang="en-IN" dirty="0">
                <a:solidFill>
                  <a:schemeClr val="accent6"/>
                </a:solidFill>
              </a:endParaRPr>
            </a:p>
          </p:txBody>
        </p:sp>
        <p:sp>
          <p:nvSpPr>
            <p:cNvPr id="12" name="TextBox 11"/>
            <p:cNvSpPr txBox="1"/>
            <p:nvPr/>
          </p:nvSpPr>
          <p:spPr>
            <a:xfrm>
              <a:off x="5759720" y="3907180"/>
              <a:ext cx="1118199" cy="369332"/>
            </a:xfrm>
            <a:prstGeom prst="rect">
              <a:avLst/>
            </a:prstGeom>
            <a:noFill/>
          </p:spPr>
          <p:txBody>
            <a:bodyPr wrap="square" rtlCol="0">
              <a:spAutoFit/>
            </a:bodyPr>
            <a:lstStyle/>
            <a:p>
              <a:r>
                <a:rPr lang="en-IN" dirty="0" smtClean="0">
                  <a:solidFill>
                    <a:schemeClr val="accent6"/>
                  </a:solidFill>
                </a:rPr>
                <a:t>Receiver</a:t>
              </a:r>
              <a:endParaRPr lang="en-IN" dirty="0">
                <a:solidFill>
                  <a:schemeClr val="accent6"/>
                </a:solidFill>
              </a:endParaRPr>
            </a:p>
          </p:txBody>
        </p:sp>
        <p:sp>
          <p:nvSpPr>
            <p:cNvPr id="13" name="TextBox 12"/>
            <p:cNvSpPr txBox="1"/>
            <p:nvPr/>
          </p:nvSpPr>
          <p:spPr>
            <a:xfrm>
              <a:off x="4396682" y="4718929"/>
              <a:ext cx="1298081" cy="646331"/>
            </a:xfrm>
            <a:prstGeom prst="rect">
              <a:avLst/>
            </a:prstGeom>
            <a:noFill/>
          </p:spPr>
          <p:txBody>
            <a:bodyPr wrap="square" rtlCol="0">
              <a:spAutoFit/>
            </a:bodyPr>
            <a:lstStyle/>
            <a:p>
              <a:r>
                <a:rPr lang="en-IN" dirty="0" smtClean="0">
                  <a:solidFill>
                    <a:schemeClr val="accent6"/>
                  </a:solidFill>
                </a:rPr>
                <a:t>Queue-level</a:t>
              </a:r>
            </a:p>
            <a:p>
              <a:r>
                <a:rPr lang="en-IN" dirty="0" smtClean="0">
                  <a:solidFill>
                    <a:schemeClr val="accent6"/>
                  </a:solidFill>
                </a:rPr>
                <a:t>address</a:t>
              </a:r>
              <a:endParaRPr lang="en-IN" dirty="0">
                <a:solidFill>
                  <a:schemeClr val="accent6"/>
                </a:solidFill>
              </a:endParaRPr>
            </a:p>
          </p:txBody>
        </p:sp>
        <p:sp>
          <p:nvSpPr>
            <p:cNvPr id="14" name="TextBox 13"/>
            <p:cNvSpPr txBox="1"/>
            <p:nvPr/>
          </p:nvSpPr>
          <p:spPr>
            <a:xfrm>
              <a:off x="7219770" y="5800224"/>
              <a:ext cx="2086558" cy="646331"/>
            </a:xfrm>
            <a:prstGeom prst="rect">
              <a:avLst/>
            </a:prstGeom>
            <a:noFill/>
          </p:spPr>
          <p:txBody>
            <a:bodyPr wrap="square" rtlCol="0">
              <a:spAutoFit/>
            </a:bodyPr>
            <a:lstStyle/>
            <a:p>
              <a:r>
                <a:rPr lang="en-IN" dirty="0" smtClean="0">
                  <a:solidFill>
                    <a:schemeClr val="accent6"/>
                  </a:solidFill>
                </a:rPr>
                <a:t>Transport-level address</a:t>
              </a:r>
              <a:endParaRPr lang="en-IN" dirty="0">
                <a:solidFill>
                  <a:schemeClr val="accent6"/>
                </a:solidFill>
              </a:endParaRPr>
            </a:p>
          </p:txBody>
        </p:sp>
        <p:sp>
          <p:nvSpPr>
            <p:cNvPr id="15" name="TextBox 14"/>
            <p:cNvSpPr txBox="1"/>
            <p:nvPr/>
          </p:nvSpPr>
          <p:spPr>
            <a:xfrm>
              <a:off x="3885174" y="5338559"/>
              <a:ext cx="1633226" cy="646331"/>
            </a:xfrm>
            <a:prstGeom prst="rect">
              <a:avLst/>
            </a:prstGeom>
            <a:noFill/>
          </p:spPr>
          <p:txBody>
            <a:bodyPr wrap="square" rtlCol="0">
              <a:spAutoFit/>
            </a:bodyPr>
            <a:lstStyle/>
            <a:p>
              <a:r>
                <a:rPr lang="en-IN" dirty="0" smtClean="0">
                  <a:solidFill>
                    <a:schemeClr val="accent6"/>
                  </a:solidFill>
                </a:rPr>
                <a:t>Address look-up database</a:t>
              </a:r>
              <a:endParaRPr lang="en-IN" dirty="0">
                <a:solidFill>
                  <a:schemeClr val="accent6"/>
                </a:solidFill>
              </a:endParaRPr>
            </a:p>
          </p:txBody>
        </p:sp>
        <p:sp>
          <p:nvSpPr>
            <p:cNvPr id="16" name="TextBox 15"/>
            <p:cNvSpPr txBox="1"/>
            <p:nvPr/>
          </p:nvSpPr>
          <p:spPr>
            <a:xfrm>
              <a:off x="1694136" y="5292392"/>
              <a:ext cx="1076793" cy="369332"/>
            </a:xfrm>
            <a:prstGeom prst="rect">
              <a:avLst/>
            </a:prstGeom>
            <a:noFill/>
          </p:spPr>
          <p:txBody>
            <a:bodyPr wrap="square" rtlCol="0">
              <a:spAutoFit/>
            </a:bodyPr>
            <a:lstStyle/>
            <a:p>
              <a:r>
                <a:rPr lang="en-IN" dirty="0" smtClean="0">
                  <a:solidFill>
                    <a:schemeClr val="accent6"/>
                  </a:solidFill>
                </a:rPr>
                <a:t>Local OS</a:t>
              </a:r>
              <a:endParaRPr lang="en-IN" dirty="0">
                <a:solidFill>
                  <a:schemeClr val="accent6"/>
                </a:solidFill>
              </a:endParaRPr>
            </a:p>
          </p:txBody>
        </p:sp>
        <p:sp>
          <p:nvSpPr>
            <p:cNvPr id="17" name="TextBox 16"/>
            <p:cNvSpPr txBox="1"/>
            <p:nvPr/>
          </p:nvSpPr>
          <p:spPr>
            <a:xfrm>
              <a:off x="1870792" y="4674872"/>
              <a:ext cx="1076793" cy="646331"/>
            </a:xfrm>
            <a:prstGeom prst="rect">
              <a:avLst/>
            </a:prstGeom>
            <a:noFill/>
          </p:spPr>
          <p:txBody>
            <a:bodyPr wrap="square" rtlCol="0">
              <a:spAutoFit/>
            </a:bodyPr>
            <a:lstStyle/>
            <a:p>
              <a:r>
                <a:rPr lang="en-IN" dirty="0" smtClean="0">
                  <a:solidFill>
                    <a:schemeClr val="accent6"/>
                  </a:solidFill>
                </a:rPr>
                <a:t>Queuing layer</a:t>
              </a:r>
              <a:endParaRPr lang="en-IN" dirty="0">
                <a:solidFill>
                  <a:schemeClr val="accent6"/>
                </a:solidFill>
              </a:endParaRPr>
            </a:p>
          </p:txBody>
        </p:sp>
        <p:sp>
          <p:nvSpPr>
            <p:cNvPr id="18" name="TextBox 17"/>
            <p:cNvSpPr txBox="1"/>
            <p:nvPr/>
          </p:nvSpPr>
          <p:spPr>
            <a:xfrm>
              <a:off x="3326074" y="6134570"/>
              <a:ext cx="1118199" cy="369332"/>
            </a:xfrm>
            <a:prstGeom prst="rect">
              <a:avLst/>
            </a:prstGeom>
            <a:noFill/>
          </p:spPr>
          <p:txBody>
            <a:bodyPr wrap="square" rtlCol="0">
              <a:spAutoFit/>
            </a:bodyPr>
            <a:lstStyle/>
            <a:p>
              <a:r>
                <a:rPr lang="en-IN" dirty="0" smtClean="0">
                  <a:solidFill>
                    <a:schemeClr val="accent6"/>
                  </a:solidFill>
                </a:rPr>
                <a:t>Network</a:t>
              </a:r>
              <a:endParaRPr lang="en-IN" dirty="0">
                <a:solidFill>
                  <a:schemeClr val="accent6"/>
                </a:solidFill>
              </a:endParaRPr>
            </a:p>
          </p:txBody>
        </p:sp>
      </p:grpSp>
    </p:spTree>
    <p:extLst>
      <p:ext uri="{BB962C8B-B14F-4D97-AF65-F5344CB8AC3E}">
        <p14:creationId xmlns:p14="http://schemas.microsoft.com/office/powerpoint/2010/main" val="2317222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Message-Queuing </a:t>
            </a:r>
            <a:r>
              <a:rPr lang="en-US" dirty="0"/>
              <a:t>Model</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lnSpc>
                <a:spcPct val="108000"/>
              </a:lnSpc>
              <a:spcBef>
                <a:spcPts val="1000"/>
              </a:spcBef>
              <a:buFont typeface="Webdings" panose="05030102010509060703" pitchFamily="18" charset="2"/>
              <a:buChar char=""/>
            </a:pPr>
            <a:r>
              <a:rPr lang="en-US" sz="2400" dirty="0"/>
              <a:t>The persistency is fulfilled by the various queues in the system</a:t>
            </a:r>
          </a:p>
          <a:p>
            <a:pPr marL="265113" lvl="1" indent="-265113">
              <a:lnSpc>
                <a:spcPct val="108000"/>
              </a:lnSpc>
              <a:spcBef>
                <a:spcPts val="1000"/>
              </a:spcBef>
              <a:buFont typeface="Webdings" panose="05030102010509060703" pitchFamily="18" charset="2"/>
              <a:buChar char=""/>
            </a:pPr>
            <a:r>
              <a:rPr lang="en-US" sz="2400" dirty="0"/>
              <a:t>Each application has a private queue to which other applications can send messages</a:t>
            </a:r>
          </a:p>
          <a:p>
            <a:pPr marL="265113" lvl="1" indent="-265113">
              <a:lnSpc>
                <a:spcPct val="108000"/>
              </a:lnSpc>
              <a:spcBef>
                <a:spcPts val="1000"/>
              </a:spcBef>
              <a:buFont typeface="Webdings" panose="05030102010509060703" pitchFamily="18" charset="2"/>
              <a:buChar char=""/>
            </a:pPr>
            <a:r>
              <a:rPr lang="en-US" sz="2400" dirty="0"/>
              <a:t>Message-queuing systems guarantee that the message eventually will be inserted in recipient’s queue </a:t>
            </a:r>
          </a:p>
          <a:p>
            <a:pPr lvl="1">
              <a:buFont typeface="Wingdings" panose="05000000000000000000" pitchFamily="2" charset="2"/>
              <a:buChar char="§"/>
            </a:pPr>
            <a:r>
              <a:rPr lang="en-US" sz="2400" dirty="0" smtClean="0"/>
              <a:t>No </a:t>
            </a:r>
            <a:r>
              <a:rPr lang="en-US" sz="2400" dirty="0"/>
              <a:t>guarantee about when it is delivered</a:t>
            </a:r>
          </a:p>
          <a:p>
            <a:pPr lvl="1">
              <a:buFont typeface="Wingdings" panose="05000000000000000000" pitchFamily="2" charset="2"/>
              <a:buChar char="§"/>
            </a:pPr>
            <a:r>
              <a:rPr lang="en-US" sz="2400" dirty="0" smtClean="0"/>
              <a:t>No </a:t>
            </a:r>
            <a:r>
              <a:rPr lang="en-US" sz="2400" dirty="0"/>
              <a:t>guarantee whether the message will ever be read at all</a:t>
            </a:r>
          </a:p>
          <a:p>
            <a:pPr marL="265113" lvl="1" indent="-265113">
              <a:lnSpc>
                <a:spcPct val="108000"/>
              </a:lnSpc>
              <a:spcBef>
                <a:spcPts val="1000"/>
              </a:spcBef>
              <a:buFont typeface="Webdings" panose="05030102010509060703" pitchFamily="18" charset="2"/>
              <a:buChar char=""/>
            </a:pPr>
            <a:r>
              <a:rPr lang="en-US" sz="2400" dirty="0"/>
              <a:t>Loosely-coupled communication</a:t>
            </a:r>
          </a:p>
          <a:p>
            <a:pPr marL="265113" lvl="1" indent="-265113">
              <a:lnSpc>
                <a:spcPct val="108000"/>
              </a:lnSpc>
              <a:spcBef>
                <a:spcPts val="1000"/>
              </a:spcBef>
              <a:buFont typeface="Webdings" panose="05030102010509060703" pitchFamily="18" charset="2"/>
              <a:buChar char=""/>
            </a:pPr>
            <a:r>
              <a:rPr lang="en-US" sz="2400" dirty="0" err="1"/>
              <a:t>Systemwide</a:t>
            </a:r>
            <a:r>
              <a:rPr lang="en-US" sz="2400" dirty="0"/>
              <a:t> unique name of the destination queue is used for addressing</a:t>
            </a:r>
          </a:p>
        </p:txBody>
      </p:sp>
    </p:spTree>
    <p:extLst>
      <p:ext uri="{BB962C8B-B14F-4D97-AF65-F5344CB8AC3E}">
        <p14:creationId xmlns:p14="http://schemas.microsoft.com/office/powerpoint/2010/main" val="3974816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Loosely-Coupled Communication</a:t>
            </a:r>
          </a:p>
        </p:txBody>
      </p:sp>
      <p:grpSp>
        <p:nvGrpSpPr>
          <p:cNvPr id="98" name="Group 97"/>
          <p:cNvGrpSpPr/>
          <p:nvPr/>
        </p:nvGrpSpPr>
        <p:grpSpPr>
          <a:xfrm>
            <a:off x="7165764" y="639026"/>
            <a:ext cx="1297894" cy="5881334"/>
            <a:chOff x="7165764" y="639026"/>
            <a:chExt cx="1297894" cy="5881334"/>
          </a:xfrm>
        </p:grpSpPr>
        <p:sp>
          <p:nvSpPr>
            <p:cNvPr id="10" name="Rectangle 9"/>
            <p:cNvSpPr/>
            <p:nvPr/>
          </p:nvSpPr>
          <p:spPr>
            <a:xfrm>
              <a:off x="7341619" y="1510279"/>
              <a:ext cx="871537" cy="875733"/>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7341619" y="4657725"/>
              <a:ext cx="871537" cy="875733"/>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1" name="Group 70"/>
            <p:cNvGrpSpPr/>
            <p:nvPr/>
          </p:nvGrpSpPr>
          <p:grpSpPr>
            <a:xfrm>
              <a:off x="7552359" y="3116821"/>
              <a:ext cx="450056" cy="803275"/>
              <a:chOff x="794618" y="3120231"/>
              <a:chExt cx="450056" cy="803275"/>
            </a:xfrm>
          </p:grpSpPr>
          <p:grpSp>
            <p:nvGrpSpPr>
              <p:cNvPr id="72" name="Group 71"/>
              <p:cNvGrpSpPr/>
              <p:nvPr/>
            </p:nvGrpSpPr>
            <p:grpSpPr>
              <a:xfrm>
                <a:off x="794618" y="3120231"/>
                <a:ext cx="450056" cy="803275"/>
                <a:chOff x="2837731" y="3012283"/>
                <a:chExt cx="450056" cy="773906"/>
              </a:xfrm>
            </p:grpSpPr>
            <p:cxnSp>
              <p:nvCxnSpPr>
                <p:cNvPr id="78" name="Straight Connector 77"/>
                <p:cNvCxnSpPr/>
                <p:nvPr/>
              </p:nvCxnSpPr>
              <p:spPr>
                <a:xfrm>
                  <a:off x="2837731" y="3025778"/>
                  <a:ext cx="0" cy="7604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3287787" y="3012283"/>
                  <a:ext cx="0" cy="7604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2837731" y="3772694"/>
                  <a:ext cx="43576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895821" y="3425029"/>
                <a:ext cx="238126" cy="327820"/>
                <a:chOff x="4033837" y="3198302"/>
                <a:chExt cx="238126" cy="327820"/>
              </a:xfrm>
            </p:grpSpPr>
            <p:cxnSp>
              <p:nvCxnSpPr>
                <p:cNvPr id="74" name="Straight Connector 73"/>
                <p:cNvCxnSpPr/>
                <p:nvPr/>
              </p:nvCxnSpPr>
              <p:spPr>
                <a:xfrm>
                  <a:off x="4043363" y="3198302"/>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4043363" y="3526122"/>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4038600" y="3299900"/>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4033837" y="3413410"/>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84" name="TextBox 83"/>
            <p:cNvSpPr txBox="1"/>
            <p:nvPr/>
          </p:nvSpPr>
          <p:spPr>
            <a:xfrm>
              <a:off x="7165764" y="639026"/>
              <a:ext cx="1223245" cy="830997"/>
            </a:xfrm>
            <a:prstGeom prst="rect">
              <a:avLst/>
            </a:prstGeom>
            <a:noFill/>
          </p:spPr>
          <p:txBody>
            <a:bodyPr wrap="square" rtlCol="0">
              <a:spAutoFit/>
            </a:bodyPr>
            <a:lstStyle/>
            <a:p>
              <a:r>
                <a:rPr lang="en-IN" sz="2400" b="1" dirty="0" smtClean="0"/>
                <a:t>Sender</a:t>
              </a:r>
            </a:p>
            <a:p>
              <a:r>
                <a:rPr lang="en-IN" sz="2400" b="1" dirty="0" smtClean="0"/>
                <a:t>passive</a:t>
              </a:r>
              <a:endParaRPr lang="en-IN" sz="2400" b="1" dirty="0"/>
            </a:p>
          </p:txBody>
        </p:sp>
        <p:sp>
          <p:nvSpPr>
            <p:cNvPr id="88" name="TextBox 87"/>
            <p:cNvSpPr txBox="1"/>
            <p:nvPr/>
          </p:nvSpPr>
          <p:spPr>
            <a:xfrm>
              <a:off x="7211478" y="5689363"/>
              <a:ext cx="1252180" cy="830997"/>
            </a:xfrm>
            <a:prstGeom prst="rect">
              <a:avLst/>
            </a:prstGeom>
            <a:noFill/>
          </p:spPr>
          <p:txBody>
            <a:bodyPr wrap="square" rtlCol="0">
              <a:spAutoFit/>
            </a:bodyPr>
            <a:lstStyle/>
            <a:p>
              <a:r>
                <a:rPr lang="en-IN" sz="2400" b="1" dirty="0" smtClean="0"/>
                <a:t>Receiver</a:t>
              </a:r>
            </a:p>
            <a:p>
              <a:r>
                <a:rPr lang="en-IN" sz="2400" b="1" dirty="0" smtClean="0"/>
                <a:t>passive</a:t>
              </a:r>
              <a:endParaRPr lang="en-IN" sz="2400" b="1" dirty="0"/>
            </a:p>
          </p:txBody>
        </p:sp>
      </p:grpSp>
      <p:grpSp>
        <p:nvGrpSpPr>
          <p:cNvPr id="95" name="Group 94"/>
          <p:cNvGrpSpPr/>
          <p:nvPr/>
        </p:nvGrpSpPr>
        <p:grpSpPr>
          <a:xfrm>
            <a:off x="441482" y="737598"/>
            <a:ext cx="1418508" cy="5772723"/>
            <a:chOff x="441482" y="737598"/>
            <a:chExt cx="1418508" cy="5772723"/>
          </a:xfrm>
        </p:grpSpPr>
        <p:sp>
          <p:nvSpPr>
            <p:cNvPr id="3" name="Rectangle 2"/>
            <p:cNvSpPr/>
            <p:nvPr/>
          </p:nvSpPr>
          <p:spPr>
            <a:xfrm>
              <a:off x="585787" y="1510279"/>
              <a:ext cx="871537" cy="875733"/>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585787" y="4657725"/>
              <a:ext cx="871537" cy="875733"/>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0" name="Group 49"/>
            <p:cNvGrpSpPr/>
            <p:nvPr/>
          </p:nvGrpSpPr>
          <p:grpSpPr>
            <a:xfrm>
              <a:off x="794618" y="3120231"/>
              <a:ext cx="450056" cy="803275"/>
              <a:chOff x="794618" y="3120231"/>
              <a:chExt cx="450056" cy="803275"/>
            </a:xfrm>
          </p:grpSpPr>
          <p:grpSp>
            <p:nvGrpSpPr>
              <p:cNvPr id="28" name="Group 27"/>
              <p:cNvGrpSpPr/>
              <p:nvPr/>
            </p:nvGrpSpPr>
            <p:grpSpPr>
              <a:xfrm>
                <a:off x="794618" y="3120231"/>
                <a:ext cx="450056" cy="803275"/>
                <a:chOff x="2837731" y="3012283"/>
                <a:chExt cx="450056" cy="773906"/>
              </a:xfrm>
            </p:grpSpPr>
            <p:cxnSp>
              <p:nvCxnSpPr>
                <p:cNvPr id="14" name="Straight Connector 13"/>
                <p:cNvCxnSpPr/>
                <p:nvPr/>
              </p:nvCxnSpPr>
              <p:spPr>
                <a:xfrm>
                  <a:off x="2837731" y="3025778"/>
                  <a:ext cx="0" cy="7604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287787" y="3012283"/>
                  <a:ext cx="0" cy="7604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837731" y="3772694"/>
                  <a:ext cx="43576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Group 28"/>
              <p:cNvGrpSpPr/>
              <p:nvPr/>
            </p:nvGrpSpPr>
            <p:grpSpPr>
              <a:xfrm>
                <a:off x="895821" y="3425029"/>
                <a:ext cx="238126" cy="327820"/>
                <a:chOff x="4033837" y="3198302"/>
                <a:chExt cx="238126" cy="327820"/>
              </a:xfrm>
            </p:grpSpPr>
            <p:cxnSp>
              <p:nvCxnSpPr>
                <p:cNvPr id="23" name="Straight Connector 22"/>
                <p:cNvCxnSpPr/>
                <p:nvPr/>
              </p:nvCxnSpPr>
              <p:spPr>
                <a:xfrm>
                  <a:off x="4043363" y="3198302"/>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043363" y="3526122"/>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038600" y="3299900"/>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033837" y="3413410"/>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82" name="TextBox 81"/>
            <p:cNvSpPr txBox="1"/>
            <p:nvPr/>
          </p:nvSpPr>
          <p:spPr>
            <a:xfrm>
              <a:off x="512798" y="737598"/>
              <a:ext cx="1223245" cy="830997"/>
            </a:xfrm>
            <a:prstGeom prst="rect">
              <a:avLst/>
            </a:prstGeom>
            <a:noFill/>
          </p:spPr>
          <p:txBody>
            <a:bodyPr wrap="square" rtlCol="0">
              <a:spAutoFit/>
            </a:bodyPr>
            <a:lstStyle/>
            <a:p>
              <a:r>
                <a:rPr lang="en-IN" sz="2400" b="1" dirty="0" smtClean="0"/>
                <a:t>Sender</a:t>
              </a:r>
            </a:p>
            <a:p>
              <a:r>
                <a:rPr lang="en-IN" sz="2400" b="1" dirty="0" smtClean="0"/>
                <a:t>running</a:t>
              </a:r>
              <a:endParaRPr lang="en-IN" sz="2400" b="1" dirty="0"/>
            </a:p>
          </p:txBody>
        </p:sp>
        <p:sp>
          <p:nvSpPr>
            <p:cNvPr id="86" name="TextBox 85"/>
            <p:cNvSpPr txBox="1"/>
            <p:nvPr/>
          </p:nvSpPr>
          <p:spPr>
            <a:xfrm>
              <a:off x="441482" y="5679324"/>
              <a:ext cx="1418508" cy="830997"/>
            </a:xfrm>
            <a:prstGeom prst="rect">
              <a:avLst/>
            </a:prstGeom>
            <a:noFill/>
          </p:spPr>
          <p:txBody>
            <a:bodyPr wrap="square" rtlCol="0">
              <a:spAutoFit/>
            </a:bodyPr>
            <a:lstStyle/>
            <a:p>
              <a:r>
                <a:rPr lang="en-IN" sz="2400" b="1" dirty="0" smtClean="0"/>
                <a:t>Receiver</a:t>
              </a:r>
            </a:p>
            <a:p>
              <a:r>
                <a:rPr lang="en-IN" sz="2400" b="1" dirty="0" smtClean="0"/>
                <a:t>running</a:t>
              </a:r>
              <a:endParaRPr lang="en-IN" sz="2400" b="1" dirty="0"/>
            </a:p>
          </p:txBody>
        </p:sp>
        <p:cxnSp>
          <p:nvCxnSpPr>
            <p:cNvPr id="90" name="Straight Arrow Connector 89"/>
            <p:cNvCxnSpPr/>
            <p:nvPr/>
          </p:nvCxnSpPr>
          <p:spPr>
            <a:xfrm>
              <a:off x="1010121" y="2576615"/>
              <a:ext cx="0" cy="5261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a:off x="1019647" y="3975509"/>
              <a:ext cx="0" cy="5261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6" name="Group 95"/>
          <p:cNvGrpSpPr/>
          <p:nvPr/>
        </p:nvGrpSpPr>
        <p:grpSpPr>
          <a:xfrm>
            <a:off x="2681397" y="693649"/>
            <a:ext cx="1252180" cy="5816673"/>
            <a:chOff x="2681397" y="693649"/>
            <a:chExt cx="1252180" cy="5816673"/>
          </a:xfrm>
        </p:grpSpPr>
        <p:sp>
          <p:nvSpPr>
            <p:cNvPr id="6" name="Rectangle 5"/>
            <p:cNvSpPr/>
            <p:nvPr/>
          </p:nvSpPr>
          <p:spPr>
            <a:xfrm>
              <a:off x="2837731" y="1510279"/>
              <a:ext cx="871537" cy="875733"/>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2837731" y="4657725"/>
              <a:ext cx="871537" cy="875733"/>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1" name="Group 50"/>
            <p:cNvGrpSpPr/>
            <p:nvPr/>
          </p:nvGrpSpPr>
          <p:grpSpPr>
            <a:xfrm>
              <a:off x="3048471" y="3106224"/>
              <a:ext cx="450056" cy="803275"/>
              <a:chOff x="794618" y="3120231"/>
              <a:chExt cx="450056" cy="803275"/>
            </a:xfrm>
          </p:grpSpPr>
          <p:grpSp>
            <p:nvGrpSpPr>
              <p:cNvPr id="52" name="Group 51"/>
              <p:cNvGrpSpPr/>
              <p:nvPr/>
            </p:nvGrpSpPr>
            <p:grpSpPr>
              <a:xfrm>
                <a:off x="794618" y="3120231"/>
                <a:ext cx="450056" cy="803275"/>
                <a:chOff x="2837731" y="3012283"/>
                <a:chExt cx="450056" cy="773906"/>
              </a:xfrm>
            </p:grpSpPr>
            <p:cxnSp>
              <p:nvCxnSpPr>
                <p:cNvPr id="58" name="Straight Connector 57"/>
                <p:cNvCxnSpPr/>
                <p:nvPr/>
              </p:nvCxnSpPr>
              <p:spPr>
                <a:xfrm>
                  <a:off x="2837731" y="3025778"/>
                  <a:ext cx="0" cy="7604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3287787" y="3012283"/>
                  <a:ext cx="0" cy="7604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2837731" y="3772694"/>
                  <a:ext cx="43576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3" name="Group 52"/>
              <p:cNvGrpSpPr/>
              <p:nvPr/>
            </p:nvGrpSpPr>
            <p:grpSpPr>
              <a:xfrm>
                <a:off x="895821" y="3425029"/>
                <a:ext cx="238126" cy="327820"/>
                <a:chOff x="4033837" y="3198302"/>
                <a:chExt cx="238126" cy="327820"/>
              </a:xfrm>
            </p:grpSpPr>
            <p:cxnSp>
              <p:nvCxnSpPr>
                <p:cNvPr id="54" name="Straight Connector 53"/>
                <p:cNvCxnSpPr/>
                <p:nvPr/>
              </p:nvCxnSpPr>
              <p:spPr>
                <a:xfrm>
                  <a:off x="4043363" y="3198302"/>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4043363" y="3526122"/>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4038600" y="3299900"/>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4033837" y="3413410"/>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81" name="TextBox 80"/>
            <p:cNvSpPr txBox="1"/>
            <p:nvPr/>
          </p:nvSpPr>
          <p:spPr>
            <a:xfrm>
              <a:off x="2710332" y="693649"/>
              <a:ext cx="1223245" cy="830997"/>
            </a:xfrm>
            <a:prstGeom prst="rect">
              <a:avLst/>
            </a:prstGeom>
            <a:noFill/>
          </p:spPr>
          <p:txBody>
            <a:bodyPr wrap="square" rtlCol="0">
              <a:spAutoFit/>
            </a:bodyPr>
            <a:lstStyle/>
            <a:p>
              <a:r>
                <a:rPr lang="en-IN" sz="2400" b="1" dirty="0" smtClean="0"/>
                <a:t>Sender</a:t>
              </a:r>
            </a:p>
            <a:p>
              <a:r>
                <a:rPr lang="en-IN" sz="2400" b="1" dirty="0" smtClean="0"/>
                <a:t>running</a:t>
              </a:r>
              <a:endParaRPr lang="en-IN" sz="2400" b="1" dirty="0"/>
            </a:p>
          </p:txBody>
        </p:sp>
        <p:sp>
          <p:nvSpPr>
            <p:cNvPr id="85" name="TextBox 84"/>
            <p:cNvSpPr txBox="1"/>
            <p:nvPr/>
          </p:nvSpPr>
          <p:spPr>
            <a:xfrm>
              <a:off x="2681397" y="5679325"/>
              <a:ext cx="1252180" cy="830997"/>
            </a:xfrm>
            <a:prstGeom prst="rect">
              <a:avLst/>
            </a:prstGeom>
            <a:noFill/>
          </p:spPr>
          <p:txBody>
            <a:bodyPr wrap="square" rtlCol="0">
              <a:spAutoFit/>
            </a:bodyPr>
            <a:lstStyle/>
            <a:p>
              <a:r>
                <a:rPr lang="en-IN" sz="2400" b="1" dirty="0" smtClean="0"/>
                <a:t>Receiver</a:t>
              </a:r>
            </a:p>
            <a:p>
              <a:r>
                <a:rPr lang="en-IN" sz="2400" b="1" dirty="0" smtClean="0"/>
                <a:t>passive</a:t>
              </a:r>
              <a:endParaRPr lang="en-IN" sz="2400" b="1" dirty="0"/>
            </a:p>
          </p:txBody>
        </p:sp>
        <p:cxnSp>
          <p:nvCxnSpPr>
            <p:cNvPr id="93" name="Straight Arrow Connector 92"/>
            <p:cNvCxnSpPr/>
            <p:nvPr/>
          </p:nvCxnSpPr>
          <p:spPr>
            <a:xfrm>
              <a:off x="3273499" y="2576614"/>
              <a:ext cx="0" cy="5261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7" name="Group 96"/>
          <p:cNvGrpSpPr/>
          <p:nvPr/>
        </p:nvGrpSpPr>
        <p:grpSpPr>
          <a:xfrm>
            <a:off x="4925722" y="662955"/>
            <a:ext cx="1452360" cy="5847368"/>
            <a:chOff x="4925722" y="662955"/>
            <a:chExt cx="1452360" cy="5847368"/>
          </a:xfrm>
        </p:grpSpPr>
        <p:sp>
          <p:nvSpPr>
            <p:cNvPr id="8" name="Rectangle 7"/>
            <p:cNvSpPr/>
            <p:nvPr/>
          </p:nvSpPr>
          <p:spPr>
            <a:xfrm>
              <a:off x="5089675" y="1510279"/>
              <a:ext cx="871537" cy="875733"/>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5089675" y="4657725"/>
              <a:ext cx="871537" cy="875733"/>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1" name="Group 60"/>
            <p:cNvGrpSpPr/>
            <p:nvPr/>
          </p:nvGrpSpPr>
          <p:grpSpPr>
            <a:xfrm>
              <a:off x="5302324" y="3102814"/>
              <a:ext cx="450056" cy="803275"/>
              <a:chOff x="794618" y="3120231"/>
              <a:chExt cx="450056" cy="803275"/>
            </a:xfrm>
          </p:grpSpPr>
          <p:grpSp>
            <p:nvGrpSpPr>
              <p:cNvPr id="62" name="Group 61"/>
              <p:cNvGrpSpPr/>
              <p:nvPr/>
            </p:nvGrpSpPr>
            <p:grpSpPr>
              <a:xfrm>
                <a:off x="794618" y="3120231"/>
                <a:ext cx="450056" cy="803275"/>
                <a:chOff x="2837731" y="3012283"/>
                <a:chExt cx="450056" cy="773906"/>
              </a:xfrm>
            </p:grpSpPr>
            <p:cxnSp>
              <p:nvCxnSpPr>
                <p:cNvPr id="68" name="Straight Connector 67"/>
                <p:cNvCxnSpPr/>
                <p:nvPr/>
              </p:nvCxnSpPr>
              <p:spPr>
                <a:xfrm>
                  <a:off x="2837731" y="3025778"/>
                  <a:ext cx="0" cy="7604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3287787" y="3012283"/>
                  <a:ext cx="0" cy="7604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2837731" y="3772694"/>
                  <a:ext cx="43576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 name="Group 62"/>
              <p:cNvGrpSpPr/>
              <p:nvPr/>
            </p:nvGrpSpPr>
            <p:grpSpPr>
              <a:xfrm>
                <a:off x="895821" y="3425029"/>
                <a:ext cx="238126" cy="327820"/>
                <a:chOff x="4033837" y="3198302"/>
                <a:chExt cx="238126" cy="327820"/>
              </a:xfrm>
            </p:grpSpPr>
            <p:cxnSp>
              <p:nvCxnSpPr>
                <p:cNvPr id="64" name="Straight Connector 63"/>
                <p:cNvCxnSpPr/>
                <p:nvPr/>
              </p:nvCxnSpPr>
              <p:spPr>
                <a:xfrm>
                  <a:off x="4043363" y="3198302"/>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4043363" y="3526122"/>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038600" y="3299900"/>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4033837" y="3413410"/>
                  <a:ext cx="228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83" name="TextBox 82"/>
            <p:cNvSpPr txBox="1"/>
            <p:nvPr/>
          </p:nvSpPr>
          <p:spPr>
            <a:xfrm>
              <a:off x="4925722" y="662955"/>
              <a:ext cx="1223245" cy="830997"/>
            </a:xfrm>
            <a:prstGeom prst="rect">
              <a:avLst/>
            </a:prstGeom>
            <a:noFill/>
          </p:spPr>
          <p:txBody>
            <a:bodyPr wrap="square" rtlCol="0">
              <a:spAutoFit/>
            </a:bodyPr>
            <a:lstStyle/>
            <a:p>
              <a:r>
                <a:rPr lang="en-IN" sz="2400" b="1" dirty="0" smtClean="0"/>
                <a:t>Sender</a:t>
              </a:r>
            </a:p>
            <a:p>
              <a:r>
                <a:rPr lang="en-IN" sz="2400" b="1" dirty="0" smtClean="0"/>
                <a:t>passive</a:t>
              </a:r>
              <a:endParaRPr lang="en-IN" sz="2400" b="1" dirty="0"/>
            </a:p>
          </p:txBody>
        </p:sp>
        <p:sp>
          <p:nvSpPr>
            <p:cNvPr id="87" name="TextBox 86"/>
            <p:cNvSpPr txBox="1"/>
            <p:nvPr/>
          </p:nvSpPr>
          <p:spPr>
            <a:xfrm>
              <a:off x="4959574" y="5679326"/>
              <a:ext cx="1418508" cy="830997"/>
            </a:xfrm>
            <a:prstGeom prst="rect">
              <a:avLst/>
            </a:prstGeom>
            <a:noFill/>
          </p:spPr>
          <p:txBody>
            <a:bodyPr wrap="square" rtlCol="0">
              <a:spAutoFit/>
            </a:bodyPr>
            <a:lstStyle/>
            <a:p>
              <a:r>
                <a:rPr lang="en-IN" sz="2400" b="1" dirty="0" smtClean="0"/>
                <a:t>Receiver</a:t>
              </a:r>
            </a:p>
            <a:p>
              <a:r>
                <a:rPr lang="en-IN" sz="2400" b="1" dirty="0" smtClean="0"/>
                <a:t>running</a:t>
              </a:r>
              <a:endParaRPr lang="en-IN" sz="2400" b="1" dirty="0"/>
            </a:p>
          </p:txBody>
        </p:sp>
        <p:cxnSp>
          <p:nvCxnSpPr>
            <p:cNvPr id="94" name="Straight Arrow Connector 93"/>
            <p:cNvCxnSpPr/>
            <p:nvPr/>
          </p:nvCxnSpPr>
          <p:spPr>
            <a:xfrm>
              <a:off x="5537345" y="3975508"/>
              <a:ext cx="0" cy="5261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3679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wipe(up)">
                                      <p:cBhvr>
                                        <p:cTn id="7" dur="500"/>
                                        <p:tgtEl>
                                          <p:spTgt spid="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6"/>
                                        </p:tgtEl>
                                        <p:attrNameLst>
                                          <p:attrName>style.visibility</p:attrName>
                                        </p:attrNameLst>
                                      </p:cBhvr>
                                      <p:to>
                                        <p:strVal val="visible"/>
                                      </p:to>
                                    </p:set>
                                    <p:animEffect transition="in" filter="wipe(up)">
                                      <p:cBhvr>
                                        <p:cTn id="12" dur="500"/>
                                        <p:tgtEl>
                                          <p:spTgt spid="9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7"/>
                                        </p:tgtEl>
                                        <p:attrNameLst>
                                          <p:attrName>style.visibility</p:attrName>
                                        </p:attrNameLst>
                                      </p:cBhvr>
                                      <p:to>
                                        <p:strVal val="visible"/>
                                      </p:to>
                                    </p:set>
                                    <p:animEffect transition="in" filter="wipe(up)">
                                      <p:cBhvr>
                                        <p:cTn id="17" dur="500"/>
                                        <p:tgtEl>
                                          <p:spTgt spid="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8"/>
                                        </p:tgtEl>
                                        <p:attrNameLst>
                                          <p:attrName>style.visibility</p:attrName>
                                        </p:attrNameLst>
                                      </p:cBhvr>
                                      <p:to>
                                        <p:strVal val="visible"/>
                                      </p:to>
                                    </p:set>
                                    <p:animEffect transition="in" filter="wipe(up)">
                                      <p:cBhvr>
                                        <p:cTn id="22"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Message-Oriented Persistent Communication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0" indent="0">
              <a:lnSpc>
                <a:spcPct val="108000"/>
              </a:lnSpc>
              <a:buNone/>
            </a:pPr>
            <a:r>
              <a:rPr lang="en-US" b="1" dirty="0">
                <a:solidFill>
                  <a:srgbClr val="1D3064"/>
                </a:solidFill>
              </a:rPr>
              <a:t>Four Commands</a:t>
            </a:r>
            <a:r>
              <a:rPr lang="en-US" b="1" dirty="0" smtClean="0">
                <a:solidFill>
                  <a:srgbClr val="1D3064"/>
                </a:solidFill>
              </a:rPr>
              <a:t>:</a:t>
            </a:r>
          </a:p>
        </p:txBody>
      </p:sp>
      <p:graphicFrame>
        <p:nvGraphicFramePr>
          <p:cNvPr id="6" name="Content Placeholder 16"/>
          <p:cNvGraphicFramePr>
            <a:graphicFrameLocks/>
          </p:cNvGraphicFramePr>
          <p:nvPr>
            <p:extLst/>
          </p:nvPr>
        </p:nvGraphicFramePr>
        <p:xfrm>
          <a:off x="538724" y="1531749"/>
          <a:ext cx="11462776" cy="609600"/>
        </p:xfrm>
        <a:graphic>
          <a:graphicData uri="http://schemas.openxmlformats.org/drawingml/2006/table">
            <a:tbl>
              <a:tblPr firstRow="1" bandRow="1">
                <a:tableStyleId>{5C22544A-7EE6-4342-B048-85BDC9FD1C3A}</a:tableStyleId>
              </a:tblPr>
              <a:tblGrid>
                <a:gridCol w="2118751">
                  <a:extLst>
                    <a:ext uri="{9D8B030D-6E8A-4147-A177-3AD203B41FA5}">
                      <a16:colId xmlns:a16="http://schemas.microsoft.com/office/drawing/2014/main" xmlns="" val="2803588477"/>
                    </a:ext>
                  </a:extLst>
                </a:gridCol>
                <a:gridCol w="9344025">
                  <a:extLst>
                    <a:ext uri="{9D8B030D-6E8A-4147-A177-3AD203B41FA5}">
                      <a16:colId xmlns:a16="http://schemas.microsoft.com/office/drawing/2014/main" xmlns="" val="1368519302"/>
                    </a:ext>
                  </a:extLst>
                </a:gridCol>
              </a:tblGrid>
              <a:tr h="609600">
                <a:tc>
                  <a:txBody>
                    <a:bodyPr/>
                    <a:lstStyle/>
                    <a:p>
                      <a:pPr algn="ctr"/>
                      <a:r>
                        <a:rPr lang="en-US" sz="2400" b="1" i="0" kern="1200" dirty="0" smtClean="0">
                          <a:solidFill>
                            <a:schemeClr val="bg1"/>
                          </a:solidFill>
                          <a:effectLst/>
                          <a:latin typeface="+mn-lt"/>
                          <a:ea typeface="+mn-ea"/>
                          <a:cs typeface="+mn-cs"/>
                        </a:rPr>
                        <a:t>Primitive</a:t>
                      </a:r>
                      <a:endParaRPr lang="en-US" sz="2400" dirty="0">
                        <a:solidFill>
                          <a:schemeClr val="bg1"/>
                        </a:solidFill>
                      </a:endParaRPr>
                    </a:p>
                  </a:txBody>
                  <a:tcPr marL="104658" marR="104658">
                    <a:solidFill>
                      <a:srgbClr val="1D3064"/>
                    </a:solidFill>
                  </a:tcPr>
                </a:tc>
                <a:tc>
                  <a:txBody>
                    <a:bodyPr/>
                    <a:lstStyle/>
                    <a:p>
                      <a:pPr algn="ctr"/>
                      <a:r>
                        <a:rPr lang="en-US" sz="2400" b="1" i="0" kern="1200" dirty="0" smtClean="0">
                          <a:solidFill>
                            <a:schemeClr val="bg1"/>
                          </a:solidFill>
                          <a:effectLst/>
                          <a:latin typeface="+mn-lt"/>
                          <a:ea typeface="+mn-ea"/>
                          <a:cs typeface="+mn-cs"/>
                        </a:rPr>
                        <a:t>Meaning</a:t>
                      </a:r>
                      <a:endParaRPr lang="en-US" sz="2400" dirty="0">
                        <a:solidFill>
                          <a:schemeClr val="bg1"/>
                        </a:solidFill>
                      </a:endParaRPr>
                    </a:p>
                  </a:txBody>
                  <a:tcPr marL="104658" marR="104658">
                    <a:solidFill>
                      <a:srgbClr val="1D3064"/>
                    </a:solidFill>
                  </a:tcPr>
                </a:tc>
                <a:extLst>
                  <a:ext uri="{0D108BD9-81ED-4DB2-BD59-A6C34878D82A}">
                    <a16:rowId xmlns:a16="http://schemas.microsoft.com/office/drawing/2014/main" xmlns="" val="1230567956"/>
                  </a:ext>
                </a:extLst>
              </a:tr>
            </a:tbl>
          </a:graphicData>
        </a:graphic>
      </p:graphicFrame>
      <p:graphicFrame>
        <p:nvGraphicFramePr>
          <p:cNvPr id="7" name="Content Placeholder 16"/>
          <p:cNvGraphicFramePr>
            <a:graphicFrameLocks/>
          </p:cNvGraphicFramePr>
          <p:nvPr>
            <p:extLst/>
          </p:nvPr>
        </p:nvGraphicFramePr>
        <p:xfrm>
          <a:off x="538725" y="2187949"/>
          <a:ext cx="11462776" cy="457200"/>
        </p:xfrm>
        <a:graphic>
          <a:graphicData uri="http://schemas.openxmlformats.org/drawingml/2006/table">
            <a:tbl>
              <a:tblPr firstRow="1" bandRow="1">
                <a:tableStyleId>{5C22544A-7EE6-4342-B048-85BDC9FD1C3A}</a:tableStyleId>
              </a:tblPr>
              <a:tblGrid>
                <a:gridCol w="2104463">
                  <a:extLst>
                    <a:ext uri="{9D8B030D-6E8A-4147-A177-3AD203B41FA5}">
                      <a16:colId xmlns:a16="http://schemas.microsoft.com/office/drawing/2014/main" xmlns="" val="2803588477"/>
                    </a:ext>
                  </a:extLst>
                </a:gridCol>
                <a:gridCol w="9358313">
                  <a:extLst>
                    <a:ext uri="{9D8B030D-6E8A-4147-A177-3AD203B41FA5}">
                      <a16:colId xmlns:a16="http://schemas.microsoft.com/office/drawing/2014/main" xmlns="" val="1368519302"/>
                    </a:ext>
                  </a:extLst>
                </a:gridCol>
              </a:tblGrid>
              <a:tr h="370840">
                <a:tc>
                  <a:txBody>
                    <a:bodyPr/>
                    <a:lstStyle/>
                    <a:p>
                      <a:pPr algn="just"/>
                      <a:r>
                        <a:rPr lang="en-US" sz="2400" b="0" i="0" kern="1200" dirty="0" smtClean="0">
                          <a:solidFill>
                            <a:schemeClr val="bg2">
                              <a:lumMod val="10000"/>
                            </a:schemeClr>
                          </a:solidFill>
                          <a:effectLst/>
                          <a:latin typeface="+mn-lt"/>
                          <a:ea typeface="+mn-ea"/>
                          <a:cs typeface="+mn-cs"/>
                        </a:rPr>
                        <a:t>Put</a:t>
                      </a:r>
                      <a:endParaRPr lang="en-US" sz="2400" dirty="0">
                        <a:solidFill>
                          <a:schemeClr val="bg2">
                            <a:lumMod val="10000"/>
                          </a:schemeClr>
                        </a:solidFill>
                      </a:endParaRPr>
                    </a:p>
                  </a:txBody>
                  <a:tcPr>
                    <a:noFill/>
                  </a:tcPr>
                </a:tc>
                <a:tc>
                  <a:txBody>
                    <a:bodyPr/>
                    <a:lstStyle/>
                    <a:p>
                      <a:pPr algn="just"/>
                      <a:r>
                        <a:rPr lang="en-US" sz="2400" b="0" i="0" kern="1200" dirty="0" smtClean="0">
                          <a:solidFill>
                            <a:schemeClr val="bg2">
                              <a:lumMod val="10000"/>
                            </a:schemeClr>
                          </a:solidFill>
                          <a:effectLst/>
                          <a:latin typeface="+mn-lt"/>
                          <a:ea typeface="+mn-ea"/>
                          <a:cs typeface="+mn-cs"/>
                        </a:rPr>
                        <a:t>Append a message to a specified queue.</a:t>
                      </a:r>
                      <a:endParaRPr lang="en-US" sz="2400" dirty="0">
                        <a:solidFill>
                          <a:schemeClr val="bg2">
                            <a:lumMod val="10000"/>
                          </a:schemeClr>
                        </a:solidFill>
                      </a:endParaRPr>
                    </a:p>
                  </a:txBody>
                  <a:tcPr>
                    <a:noFill/>
                  </a:tcPr>
                </a:tc>
                <a:extLst>
                  <a:ext uri="{0D108BD9-81ED-4DB2-BD59-A6C34878D82A}">
                    <a16:rowId xmlns:a16="http://schemas.microsoft.com/office/drawing/2014/main" xmlns="" val="1230567956"/>
                  </a:ext>
                </a:extLst>
              </a:tr>
            </a:tbl>
          </a:graphicData>
        </a:graphic>
      </p:graphicFrame>
      <p:graphicFrame>
        <p:nvGraphicFramePr>
          <p:cNvPr id="8" name="Content Placeholder 16"/>
          <p:cNvGraphicFramePr>
            <a:graphicFrameLocks/>
          </p:cNvGraphicFramePr>
          <p:nvPr>
            <p:extLst/>
          </p:nvPr>
        </p:nvGraphicFramePr>
        <p:xfrm>
          <a:off x="538725" y="2617867"/>
          <a:ext cx="11462775" cy="553677"/>
        </p:xfrm>
        <a:graphic>
          <a:graphicData uri="http://schemas.openxmlformats.org/drawingml/2006/table">
            <a:tbl>
              <a:tblPr firstRow="1" bandRow="1">
                <a:tableStyleId>{5C22544A-7EE6-4342-B048-85BDC9FD1C3A}</a:tableStyleId>
              </a:tblPr>
              <a:tblGrid>
                <a:gridCol w="2118750">
                  <a:extLst>
                    <a:ext uri="{9D8B030D-6E8A-4147-A177-3AD203B41FA5}">
                      <a16:colId xmlns:a16="http://schemas.microsoft.com/office/drawing/2014/main" xmlns="" val="2803588477"/>
                    </a:ext>
                  </a:extLst>
                </a:gridCol>
                <a:gridCol w="9344025">
                  <a:extLst>
                    <a:ext uri="{9D8B030D-6E8A-4147-A177-3AD203B41FA5}">
                      <a16:colId xmlns:a16="http://schemas.microsoft.com/office/drawing/2014/main" xmlns="" val="1368519302"/>
                    </a:ext>
                  </a:extLst>
                </a:gridCol>
              </a:tblGrid>
              <a:tr h="553677">
                <a:tc>
                  <a:txBody>
                    <a:bodyPr/>
                    <a:lstStyle/>
                    <a:p>
                      <a:pPr marL="0" algn="just" defTabSz="914400" rtl="0" eaLnBrk="1" fontAlgn="t" latinLnBrk="0" hangingPunct="1"/>
                      <a:r>
                        <a:rPr lang="en-US" sz="2400" b="0" i="0" kern="1200" dirty="0" smtClean="0">
                          <a:solidFill>
                            <a:schemeClr val="bg2">
                              <a:lumMod val="10000"/>
                            </a:schemeClr>
                          </a:solidFill>
                          <a:effectLst/>
                          <a:latin typeface="+mn-lt"/>
                          <a:ea typeface="+mn-ea"/>
                          <a:cs typeface="+mn-cs"/>
                        </a:rPr>
                        <a:t>Get</a:t>
                      </a:r>
                      <a:endParaRPr lang="en-US" sz="2400" b="0" i="0" kern="1200" dirty="0">
                        <a:solidFill>
                          <a:schemeClr val="bg2">
                            <a:lumMod val="10000"/>
                          </a:schemeClr>
                        </a:solidFill>
                        <a:effectLst/>
                        <a:latin typeface="+mn-lt"/>
                        <a:ea typeface="+mn-ea"/>
                        <a:cs typeface="+mn-cs"/>
                      </a:endParaRPr>
                    </a:p>
                  </a:txBody>
                  <a:tcPr marL="76200" marR="76200" marT="76200" marB="76200">
                    <a:solidFill>
                      <a:schemeClr val="bg1">
                        <a:lumMod val="95000"/>
                      </a:schemeClr>
                    </a:solidFill>
                  </a:tcPr>
                </a:tc>
                <a:tc>
                  <a:txBody>
                    <a:bodyPr/>
                    <a:lstStyle/>
                    <a:p>
                      <a:pPr algn="just"/>
                      <a:r>
                        <a:rPr lang="en-US" sz="2400" b="0" i="0" kern="1200" dirty="0" smtClean="0">
                          <a:solidFill>
                            <a:schemeClr val="bg2">
                              <a:lumMod val="10000"/>
                            </a:schemeClr>
                          </a:solidFill>
                          <a:effectLst/>
                          <a:latin typeface="+mn-lt"/>
                          <a:ea typeface="+mn-ea"/>
                          <a:cs typeface="+mn-cs"/>
                        </a:rPr>
                        <a:t>Block until the specified queue is nonempty, and remove the first message.</a:t>
                      </a:r>
                      <a:endParaRPr lang="en-US" sz="2400" dirty="0">
                        <a:solidFill>
                          <a:schemeClr val="bg2">
                            <a:lumMod val="10000"/>
                          </a:schemeClr>
                        </a:solidFill>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graphicFrame>
        <p:nvGraphicFramePr>
          <p:cNvPr id="9" name="Content Placeholder 16"/>
          <p:cNvGraphicFramePr>
            <a:graphicFrameLocks/>
          </p:cNvGraphicFramePr>
          <p:nvPr>
            <p:extLst/>
          </p:nvPr>
        </p:nvGraphicFramePr>
        <p:xfrm>
          <a:off x="538725" y="3169014"/>
          <a:ext cx="11462776" cy="457200"/>
        </p:xfrm>
        <a:graphic>
          <a:graphicData uri="http://schemas.openxmlformats.org/drawingml/2006/table">
            <a:tbl>
              <a:tblPr firstRow="1" bandRow="1">
                <a:tableStyleId>{5C22544A-7EE6-4342-B048-85BDC9FD1C3A}</a:tableStyleId>
              </a:tblPr>
              <a:tblGrid>
                <a:gridCol w="2133038">
                  <a:extLst>
                    <a:ext uri="{9D8B030D-6E8A-4147-A177-3AD203B41FA5}">
                      <a16:colId xmlns:a16="http://schemas.microsoft.com/office/drawing/2014/main" xmlns="" val="2803588477"/>
                    </a:ext>
                  </a:extLst>
                </a:gridCol>
                <a:gridCol w="9329738">
                  <a:extLst>
                    <a:ext uri="{9D8B030D-6E8A-4147-A177-3AD203B41FA5}">
                      <a16:colId xmlns:a16="http://schemas.microsoft.com/office/drawing/2014/main" xmlns="" val="1368519302"/>
                    </a:ext>
                  </a:extLst>
                </a:gridCol>
              </a:tblGrid>
              <a:tr h="370840">
                <a:tc>
                  <a:txBody>
                    <a:bodyPr/>
                    <a:lstStyle/>
                    <a:p>
                      <a:pPr algn="just"/>
                      <a:r>
                        <a:rPr lang="en-US" sz="2400" b="0" i="0" kern="1200" dirty="0" smtClean="0">
                          <a:solidFill>
                            <a:schemeClr val="bg2">
                              <a:lumMod val="10000"/>
                            </a:schemeClr>
                          </a:solidFill>
                          <a:effectLst/>
                          <a:latin typeface="+mn-lt"/>
                          <a:ea typeface="+mn-ea"/>
                          <a:cs typeface="+mn-cs"/>
                        </a:rPr>
                        <a:t>Poll</a:t>
                      </a:r>
                      <a:endParaRPr lang="en-US" sz="2400" dirty="0">
                        <a:solidFill>
                          <a:schemeClr val="bg2">
                            <a:lumMod val="10000"/>
                          </a:schemeClr>
                        </a:solidFill>
                      </a:endParaRPr>
                    </a:p>
                  </a:txBody>
                  <a:tcPr>
                    <a:noFill/>
                  </a:tcPr>
                </a:tc>
                <a:tc>
                  <a:txBody>
                    <a:bodyPr/>
                    <a:lstStyle/>
                    <a:p>
                      <a:pPr algn="just"/>
                      <a:r>
                        <a:rPr lang="en-US" sz="2400" b="0" i="0" kern="1200" dirty="0" smtClean="0">
                          <a:solidFill>
                            <a:schemeClr val="bg2">
                              <a:lumMod val="10000"/>
                            </a:schemeClr>
                          </a:solidFill>
                          <a:effectLst/>
                          <a:latin typeface="+mn-lt"/>
                          <a:ea typeface="+mn-ea"/>
                          <a:cs typeface="+mn-cs"/>
                        </a:rPr>
                        <a:t>Check a specified queue for messages, and remove the first. Never block.</a:t>
                      </a:r>
                      <a:endParaRPr lang="en-US" sz="2400" dirty="0">
                        <a:solidFill>
                          <a:schemeClr val="bg2">
                            <a:lumMod val="10000"/>
                          </a:schemeClr>
                        </a:solidFill>
                      </a:endParaRPr>
                    </a:p>
                  </a:txBody>
                  <a:tcPr>
                    <a:noFill/>
                  </a:tcPr>
                </a:tc>
                <a:extLst>
                  <a:ext uri="{0D108BD9-81ED-4DB2-BD59-A6C34878D82A}">
                    <a16:rowId xmlns:a16="http://schemas.microsoft.com/office/drawing/2014/main" xmlns="" val="1230567956"/>
                  </a:ext>
                </a:extLst>
              </a:tr>
            </a:tbl>
          </a:graphicData>
        </a:graphic>
      </p:graphicFrame>
      <p:graphicFrame>
        <p:nvGraphicFramePr>
          <p:cNvPr id="10" name="Content Placeholder 16"/>
          <p:cNvGraphicFramePr>
            <a:graphicFrameLocks/>
          </p:cNvGraphicFramePr>
          <p:nvPr>
            <p:extLst/>
          </p:nvPr>
        </p:nvGraphicFramePr>
        <p:xfrm>
          <a:off x="538725" y="3635630"/>
          <a:ext cx="11462776" cy="822960"/>
        </p:xfrm>
        <a:graphic>
          <a:graphicData uri="http://schemas.openxmlformats.org/drawingml/2006/table">
            <a:tbl>
              <a:tblPr firstRow="1" bandRow="1">
                <a:tableStyleId>{5C22544A-7EE6-4342-B048-85BDC9FD1C3A}</a:tableStyleId>
              </a:tblPr>
              <a:tblGrid>
                <a:gridCol w="2161613">
                  <a:extLst>
                    <a:ext uri="{9D8B030D-6E8A-4147-A177-3AD203B41FA5}">
                      <a16:colId xmlns:a16="http://schemas.microsoft.com/office/drawing/2014/main" xmlns="" val="2803588477"/>
                    </a:ext>
                  </a:extLst>
                </a:gridCol>
                <a:gridCol w="9301163">
                  <a:extLst>
                    <a:ext uri="{9D8B030D-6E8A-4147-A177-3AD203B41FA5}">
                      <a16:colId xmlns:a16="http://schemas.microsoft.com/office/drawing/2014/main" xmlns="" val="1368519302"/>
                    </a:ext>
                  </a:extLst>
                </a:gridCol>
              </a:tblGrid>
              <a:tr h="553677">
                <a:tc>
                  <a:txBody>
                    <a:bodyPr/>
                    <a:lstStyle/>
                    <a:p>
                      <a:pPr marL="0" algn="just" defTabSz="914400" rtl="0" eaLnBrk="1" fontAlgn="t" latinLnBrk="0" hangingPunct="1"/>
                      <a:r>
                        <a:rPr lang="en-US" sz="2400" b="0" i="0" kern="1200" dirty="0" smtClean="0">
                          <a:solidFill>
                            <a:schemeClr val="bg2">
                              <a:lumMod val="10000"/>
                            </a:schemeClr>
                          </a:solidFill>
                          <a:effectLst/>
                          <a:latin typeface="+mn-lt"/>
                          <a:ea typeface="+mn-ea"/>
                          <a:cs typeface="+mn-cs"/>
                        </a:rPr>
                        <a:t>Notify</a:t>
                      </a:r>
                      <a:endParaRPr lang="en-US" sz="2400" b="0" i="0" kern="1200" dirty="0">
                        <a:solidFill>
                          <a:schemeClr val="bg2">
                            <a:lumMod val="10000"/>
                          </a:schemeClr>
                        </a:solidFill>
                        <a:effectLst/>
                        <a:latin typeface="+mn-lt"/>
                        <a:ea typeface="+mn-ea"/>
                        <a:cs typeface="+mn-cs"/>
                      </a:endParaRPr>
                    </a:p>
                  </a:txBody>
                  <a:tcPr marL="76200" marR="76200" marT="76200" marB="76200">
                    <a:solidFill>
                      <a:schemeClr val="bg1">
                        <a:lumMod val="95000"/>
                      </a:schemeClr>
                    </a:solidFill>
                  </a:tcPr>
                </a:tc>
                <a:tc>
                  <a:txBody>
                    <a:bodyPr/>
                    <a:lstStyle/>
                    <a:p>
                      <a:pPr algn="just"/>
                      <a:r>
                        <a:rPr lang="en-US" sz="2400" b="0" i="0" kern="1200" dirty="0" smtClean="0">
                          <a:solidFill>
                            <a:schemeClr val="bg2">
                              <a:lumMod val="10000"/>
                            </a:schemeClr>
                          </a:solidFill>
                          <a:effectLst/>
                          <a:latin typeface="+mn-lt"/>
                          <a:ea typeface="+mn-ea"/>
                          <a:cs typeface="+mn-cs"/>
                        </a:rPr>
                        <a:t>Install a handler to be called when a message is put into the specified queue.</a:t>
                      </a:r>
                      <a:endParaRPr lang="en-US" sz="2400" dirty="0">
                        <a:solidFill>
                          <a:schemeClr val="bg2">
                            <a:lumMod val="10000"/>
                          </a:schemeClr>
                        </a:solidFill>
                      </a:endParaRPr>
                    </a:p>
                  </a:txBody>
                  <a:tcPr>
                    <a:solidFill>
                      <a:schemeClr val="bg1">
                        <a:lumMod val="95000"/>
                      </a:schemeClr>
                    </a:solidFill>
                  </a:tcPr>
                </a:tc>
                <a:extLst>
                  <a:ext uri="{0D108BD9-81ED-4DB2-BD59-A6C34878D82A}">
                    <a16:rowId xmlns:a16="http://schemas.microsoft.com/office/drawing/2014/main" xmlns="" val="1230567956"/>
                  </a:ext>
                </a:extLst>
              </a:tr>
            </a:tbl>
          </a:graphicData>
        </a:graphic>
      </p:graphicFrame>
    </p:spTree>
    <p:extLst>
      <p:ext uri="{BB962C8B-B14F-4D97-AF65-F5344CB8AC3E}">
        <p14:creationId xmlns:p14="http://schemas.microsoft.com/office/powerpoint/2010/main" val="2328235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General Architecture of a Message-Queuing System</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lnSpc>
                <a:spcPct val="108000"/>
              </a:lnSpc>
              <a:spcBef>
                <a:spcPts val="1000"/>
              </a:spcBef>
              <a:buFont typeface="Webdings" panose="05030102010509060703" pitchFamily="18" charset="2"/>
              <a:buChar char=""/>
            </a:pPr>
            <a:r>
              <a:rPr lang="en-US" sz="2400" dirty="0"/>
              <a:t>M</a:t>
            </a:r>
            <a:r>
              <a:rPr lang="en-US" sz="2400" dirty="0" smtClean="0"/>
              <a:t>essages </a:t>
            </a:r>
            <a:r>
              <a:rPr lang="en-US" sz="2400" dirty="0"/>
              <a:t>can be put only into queues that are local to </a:t>
            </a:r>
            <a:r>
              <a:rPr lang="en-US" sz="2400" dirty="0" smtClean="0"/>
              <a:t>the sender </a:t>
            </a:r>
            <a:r>
              <a:rPr lang="en-US" sz="2400" dirty="0"/>
              <a:t>(same machine or on a nearby machine on a LAN)</a:t>
            </a:r>
          </a:p>
          <a:p>
            <a:pPr marL="265113" lvl="1" indent="-265113">
              <a:lnSpc>
                <a:spcPct val="108000"/>
              </a:lnSpc>
              <a:spcBef>
                <a:spcPts val="1000"/>
              </a:spcBef>
              <a:buFont typeface="Webdings" panose="05030102010509060703" pitchFamily="18" charset="2"/>
              <a:buChar char=""/>
            </a:pPr>
            <a:r>
              <a:rPr lang="en-US" sz="2400" dirty="0" smtClean="0"/>
              <a:t>Such </a:t>
            </a:r>
            <a:r>
              <a:rPr lang="en-US" sz="2400" dirty="0"/>
              <a:t>a queue is called the source queue</a:t>
            </a:r>
          </a:p>
          <a:p>
            <a:pPr marL="265113" lvl="1" indent="-265113">
              <a:lnSpc>
                <a:spcPct val="108000"/>
              </a:lnSpc>
              <a:spcBef>
                <a:spcPts val="1000"/>
              </a:spcBef>
              <a:buFont typeface="Webdings" panose="05030102010509060703" pitchFamily="18" charset="2"/>
              <a:buChar char=""/>
            </a:pPr>
            <a:r>
              <a:rPr lang="en-US" sz="2400" dirty="0" smtClean="0"/>
              <a:t>Messages </a:t>
            </a:r>
            <a:r>
              <a:rPr lang="en-US" sz="2400" dirty="0"/>
              <a:t>can also be read only from local queues</a:t>
            </a:r>
          </a:p>
          <a:p>
            <a:pPr marL="265113" lvl="1" indent="-265113">
              <a:lnSpc>
                <a:spcPct val="108000"/>
              </a:lnSpc>
              <a:spcBef>
                <a:spcPts val="1000"/>
              </a:spcBef>
              <a:buFont typeface="Webdings" panose="05030102010509060703" pitchFamily="18" charset="2"/>
              <a:buChar char=""/>
            </a:pPr>
            <a:r>
              <a:rPr lang="en-US" sz="2400" dirty="0"/>
              <a:t>A</a:t>
            </a:r>
            <a:r>
              <a:rPr lang="en-US" sz="2400" dirty="0" smtClean="0"/>
              <a:t> </a:t>
            </a:r>
            <a:r>
              <a:rPr lang="en-US" sz="2400" dirty="0"/>
              <a:t>message put into a local queue must contain </a:t>
            </a:r>
            <a:r>
              <a:rPr lang="en-US" sz="2400" dirty="0" smtClean="0"/>
              <a:t>the specification </a:t>
            </a:r>
            <a:r>
              <a:rPr lang="en-US" sz="2400" dirty="0"/>
              <a:t>of the destination queue; hence a </a:t>
            </a:r>
            <a:r>
              <a:rPr lang="en-US" sz="2400" dirty="0" err="1"/>
              <a:t>messagequeuing</a:t>
            </a:r>
            <a:r>
              <a:rPr lang="en-US" sz="2400" dirty="0"/>
              <a:t> system must maintain a mapping of queues </a:t>
            </a:r>
            <a:r>
              <a:rPr lang="en-US" sz="2400" dirty="0" smtClean="0"/>
              <a:t>to network </a:t>
            </a:r>
            <a:r>
              <a:rPr lang="en-US" sz="2400" dirty="0"/>
              <a:t>locations; like in DNS</a:t>
            </a:r>
          </a:p>
        </p:txBody>
      </p:sp>
      <p:pic>
        <p:nvPicPr>
          <p:cNvPr id="17" name="Content Placeholder 3"/>
          <p:cNvPicPr>
            <a:picLocks noChangeAspect="1"/>
          </p:cNvPicPr>
          <p:nvPr/>
        </p:nvPicPr>
        <p:blipFill>
          <a:blip r:embed="rId2"/>
          <a:stretch>
            <a:fillRect/>
          </a:stretch>
        </p:blipFill>
        <p:spPr>
          <a:xfrm>
            <a:off x="1958623" y="3786852"/>
            <a:ext cx="6477000" cy="2819400"/>
          </a:xfrm>
          <a:prstGeom prst="rect">
            <a:avLst/>
          </a:prstGeom>
        </p:spPr>
      </p:pic>
      <p:sp>
        <p:nvSpPr>
          <p:cNvPr id="18" name="TextBox 17"/>
          <p:cNvSpPr txBox="1"/>
          <p:nvPr/>
        </p:nvSpPr>
        <p:spPr>
          <a:xfrm>
            <a:off x="2383436" y="4083317"/>
            <a:ext cx="899410" cy="369332"/>
          </a:xfrm>
          <a:prstGeom prst="rect">
            <a:avLst/>
          </a:prstGeom>
          <a:noFill/>
        </p:spPr>
        <p:txBody>
          <a:bodyPr wrap="square" rtlCol="0">
            <a:spAutoFit/>
          </a:bodyPr>
          <a:lstStyle/>
          <a:p>
            <a:r>
              <a:rPr lang="en-IN" dirty="0" smtClean="0">
                <a:solidFill>
                  <a:schemeClr val="accent6"/>
                </a:solidFill>
              </a:rPr>
              <a:t>Sender</a:t>
            </a:r>
            <a:endParaRPr lang="en-IN" dirty="0">
              <a:solidFill>
                <a:schemeClr val="accent6"/>
              </a:solidFill>
            </a:endParaRPr>
          </a:p>
        </p:txBody>
      </p:sp>
      <p:sp>
        <p:nvSpPr>
          <p:cNvPr id="19" name="TextBox 18"/>
          <p:cNvSpPr txBox="1"/>
          <p:nvPr/>
        </p:nvSpPr>
        <p:spPr>
          <a:xfrm>
            <a:off x="7107423" y="4808836"/>
            <a:ext cx="1076793" cy="646331"/>
          </a:xfrm>
          <a:prstGeom prst="rect">
            <a:avLst/>
          </a:prstGeom>
          <a:noFill/>
        </p:spPr>
        <p:txBody>
          <a:bodyPr wrap="square" rtlCol="0">
            <a:spAutoFit/>
          </a:bodyPr>
          <a:lstStyle/>
          <a:p>
            <a:r>
              <a:rPr lang="en-IN" dirty="0" smtClean="0">
                <a:solidFill>
                  <a:schemeClr val="accent6"/>
                </a:solidFill>
              </a:rPr>
              <a:t>Queuing layer</a:t>
            </a:r>
            <a:endParaRPr lang="en-IN" dirty="0">
              <a:solidFill>
                <a:schemeClr val="accent6"/>
              </a:solidFill>
            </a:endParaRPr>
          </a:p>
        </p:txBody>
      </p:sp>
      <p:sp>
        <p:nvSpPr>
          <p:cNvPr id="20" name="TextBox 19"/>
          <p:cNvSpPr txBox="1"/>
          <p:nvPr/>
        </p:nvSpPr>
        <p:spPr>
          <a:xfrm>
            <a:off x="6030630" y="5459625"/>
            <a:ext cx="1076793" cy="369332"/>
          </a:xfrm>
          <a:prstGeom prst="rect">
            <a:avLst/>
          </a:prstGeom>
          <a:noFill/>
        </p:spPr>
        <p:txBody>
          <a:bodyPr wrap="square" rtlCol="0">
            <a:spAutoFit/>
          </a:bodyPr>
          <a:lstStyle/>
          <a:p>
            <a:r>
              <a:rPr lang="en-IN" dirty="0" smtClean="0">
                <a:solidFill>
                  <a:schemeClr val="accent6"/>
                </a:solidFill>
              </a:rPr>
              <a:t>Local OS</a:t>
            </a:r>
            <a:endParaRPr lang="en-IN" dirty="0">
              <a:solidFill>
                <a:schemeClr val="accent6"/>
              </a:solidFill>
            </a:endParaRPr>
          </a:p>
        </p:txBody>
      </p:sp>
      <p:sp>
        <p:nvSpPr>
          <p:cNvPr id="21" name="TextBox 20"/>
          <p:cNvSpPr txBox="1"/>
          <p:nvPr/>
        </p:nvSpPr>
        <p:spPr>
          <a:xfrm>
            <a:off x="4331979" y="3603072"/>
            <a:ext cx="1806532" cy="923330"/>
          </a:xfrm>
          <a:prstGeom prst="rect">
            <a:avLst/>
          </a:prstGeom>
          <a:noFill/>
        </p:spPr>
        <p:txBody>
          <a:bodyPr wrap="square" rtlCol="0">
            <a:spAutoFit/>
          </a:bodyPr>
          <a:lstStyle/>
          <a:p>
            <a:r>
              <a:rPr lang="en-IN" dirty="0" smtClean="0">
                <a:solidFill>
                  <a:schemeClr val="accent6"/>
                </a:solidFill>
              </a:rPr>
              <a:t>Look-up</a:t>
            </a:r>
          </a:p>
          <a:p>
            <a:r>
              <a:rPr lang="en-IN" dirty="0" smtClean="0">
                <a:solidFill>
                  <a:schemeClr val="accent6"/>
                </a:solidFill>
              </a:rPr>
              <a:t>Transport-level</a:t>
            </a:r>
          </a:p>
          <a:p>
            <a:r>
              <a:rPr lang="en-IN" dirty="0" smtClean="0">
                <a:solidFill>
                  <a:schemeClr val="accent6"/>
                </a:solidFill>
              </a:rPr>
              <a:t>Address of Queue</a:t>
            </a:r>
            <a:endParaRPr lang="en-IN" dirty="0">
              <a:solidFill>
                <a:schemeClr val="accent6"/>
              </a:solidFill>
            </a:endParaRPr>
          </a:p>
        </p:txBody>
      </p:sp>
      <p:sp>
        <p:nvSpPr>
          <p:cNvPr id="22" name="TextBox 21"/>
          <p:cNvSpPr txBox="1"/>
          <p:nvPr/>
        </p:nvSpPr>
        <p:spPr>
          <a:xfrm>
            <a:off x="6241970" y="4059423"/>
            <a:ext cx="1118199" cy="369332"/>
          </a:xfrm>
          <a:prstGeom prst="rect">
            <a:avLst/>
          </a:prstGeom>
          <a:noFill/>
        </p:spPr>
        <p:txBody>
          <a:bodyPr wrap="square" rtlCol="0">
            <a:spAutoFit/>
          </a:bodyPr>
          <a:lstStyle/>
          <a:p>
            <a:r>
              <a:rPr lang="en-IN" dirty="0" smtClean="0">
                <a:solidFill>
                  <a:schemeClr val="accent6"/>
                </a:solidFill>
              </a:rPr>
              <a:t>Receiver</a:t>
            </a:r>
            <a:endParaRPr lang="en-IN" dirty="0">
              <a:solidFill>
                <a:schemeClr val="accent6"/>
              </a:solidFill>
            </a:endParaRPr>
          </a:p>
        </p:txBody>
      </p:sp>
      <p:sp>
        <p:nvSpPr>
          <p:cNvPr id="23" name="TextBox 22"/>
          <p:cNvSpPr txBox="1"/>
          <p:nvPr/>
        </p:nvSpPr>
        <p:spPr>
          <a:xfrm>
            <a:off x="4878932" y="4871172"/>
            <a:ext cx="1298081" cy="646331"/>
          </a:xfrm>
          <a:prstGeom prst="rect">
            <a:avLst/>
          </a:prstGeom>
          <a:noFill/>
        </p:spPr>
        <p:txBody>
          <a:bodyPr wrap="square" rtlCol="0">
            <a:spAutoFit/>
          </a:bodyPr>
          <a:lstStyle/>
          <a:p>
            <a:r>
              <a:rPr lang="en-IN" dirty="0" smtClean="0">
                <a:solidFill>
                  <a:schemeClr val="accent6"/>
                </a:solidFill>
              </a:rPr>
              <a:t>Queue-level</a:t>
            </a:r>
          </a:p>
          <a:p>
            <a:r>
              <a:rPr lang="en-IN" dirty="0" smtClean="0">
                <a:solidFill>
                  <a:schemeClr val="accent6"/>
                </a:solidFill>
              </a:rPr>
              <a:t>address</a:t>
            </a:r>
            <a:endParaRPr lang="en-IN" dirty="0">
              <a:solidFill>
                <a:schemeClr val="accent6"/>
              </a:solidFill>
            </a:endParaRPr>
          </a:p>
        </p:txBody>
      </p:sp>
      <p:sp>
        <p:nvSpPr>
          <p:cNvPr id="24" name="TextBox 23"/>
          <p:cNvSpPr txBox="1"/>
          <p:nvPr/>
        </p:nvSpPr>
        <p:spPr>
          <a:xfrm>
            <a:off x="7702020" y="5952467"/>
            <a:ext cx="2086558" cy="646331"/>
          </a:xfrm>
          <a:prstGeom prst="rect">
            <a:avLst/>
          </a:prstGeom>
          <a:noFill/>
        </p:spPr>
        <p:txBody>
          <a:bodyPr wrap="square" rtlCol="0">
            <a:spAutoFit/>
          </a:bodyPr>
          <a:lstStyle/>
          <a:p>
            <a:r>
              <a:rPr lang="en-IN" dirty="0" smtClean="0">
                <a:solidFill>
                  <a:schemeClr val="accent6"/>
                </a:solidFill>
              </a:rPr>
              <a:t>Transport-level address</a:t>
            </a:r>
            <a:endParaRPr lang="en-IN" dirty="0">
              <a:solidFill>
                <a:schemeClr val="accent6"/>
              </a:solidFill>
            </a:endParaRPr>
          </a:p>
        </p:txBody>
      </p:sp>
      <p:sp>
        <p:nvSpPr>
          <p:cNvPr id="25" name="TextBox 24"/>
          <p:cNvSpPr txBox="1"/>
          <p:nvPr/>
        </p:nvSpPr>
        <p:spPr>
          <a:xfrm>
            <a:off x="4367424" y="5490802"/>
            <a:ext cx="1633226" cy="646331"/>
          </a:xfrm>
          <a:prstGeom prst="rect">
            <a:avLst/>
          </a:prstGeom>
          <a:noFill/>
        </p:spPr>
        <p:txBody>
          <a:bodyPr wrap="square" rtlCol="0">
            <a:spAutoFit/>
          </a:bodyPr>
          <a:lstStyle/>
          <a:p>
            <a:r>
              <a:rPr lang="en-IN" dirty="0" smtClean="0">
                <a:solidFill>
                  <a:schemeClr val="accent6"/>
                </a:solidFill>
              </a:rPr>
              <a:t>Address look-up database</a:t>
            </a:r>
            <a:endParaRPr lang="en-IN" dirty="0">
              <a:solidFill>
                <a:schemeClr val="accent6"/>
              </a:solidFill>
            </a:endParaRPr>
          </a:p>
        </p:txBody>
      </p:sp>
      <p:sp>
        <p:nvSpPr>
          <p:cNvPr id="26" name="TextBox 25"/>
          <p:cNvSpPr txBox="1"/>
          <p:nvPr/>
        </p:nvSpPr>
        <p:spPr>
          <a:xfrm>
            <a:off x="2176386" y="5444635"/>
            <a:ext cx="1076793" cy="369332"/>
          </a:xfrm>
          <a:prstGeom prst="rect">
            <a:avLst/>
          </a:prstGeom>
          <a:noFill/>
        </p:spPr>
        <p:txBody>
          <a:bodyPr wrap="square" rtlCol="0">
            <a:spAutoFit/>
          </a:bodyPr>
          <a:lstStyle/>
          <a:p>
            <a:r>
              <a:rPr lang="en-IN" dirty="0" smtClean="0">
                <a:solidFill>
                  <a:schemeClr val="accent6"/>
                </a:solidFill>
              </a:rPr>
              <a:t>Local OS</a:t>
            </a:r>
            <a:endParaRPr lang="en-IN" dirty="0">
              <a:solidFill>
                <a:schemeClr val="accent6"/>
              </a:solidFill>
            </a:endParaRPr>
          </a:p>
        </p:txBody>
      </p:sp>
      <p:sp>
        <p:nvSpPr>
          <p:cNvPr id="27" name="TextBox 26"/>
          <p:cNvSpPr txBox="1"/>
          <p:nvPr/>
        </p:nvSpPr>
        <p:spPr>
          <a:xfrm>
            <a:off x="2353042" y="4827115"/>
            <a:ext cx="1076793" cy="646331"/>
          </a:xfrm>
          <a:prstGeom prst="rect">
            <a:avLst/>
          </a:prstGeom>
          <a:noFill/>
        </p:spPr>
        <p:txBody>
          <a:bodyPr wrap="square" rtlCol="0">
            <a:spAutoFit/>
          </a:bodyPr>
          <a:lstStyle/>
          <a:p>
            <a:r>
              <a:rPr lang="en-IN" dirty="0" smtClean="0">
                <a:solidFill>
                  <a:schemeClr val="accent6"/>
                </a:solidFill>
              </a:rPr>
              <a:t>Queuing layer</a:t>
            </a:r>
            <a:endParaRPr lang="en-IN" dirty="0">
              <a:solidFill>
                <a:schemeClr val="accent6"/>
              </a:solidFill>
            </a:endParaRPr>
          </a:p>
        </p:txBody>
      </p:sp>
      <p:sp>
        <p:nvSpPr>
          <p:cNvPr id="28" name="TextBox 27"/>
          <p:cNvSpPr txBox="1"/>
          <p:nvPr/>
        </p:nvSpPr>
        <p:spPr>
          <a:xfrm>
            <a:off x="3808324" y="6286813"/>
            <a:ext cx="1118199" cy="369332"/>
          </a:xfrm>
          <a:prstGeom prst="rect">
            <a:avLst/>
          </a:prstGeom>
          <a:noFill/>
        </p:spPr>
        <p:txBody>
          <a:bodyPr wrap="square" rtlCol="0">
            <a:spAutoFit/>
          </a:bodyPr>
          <a:lstStyle/>
          <a:p>
            <a:r>
              <a:rPr lang="en-IN" dirty="0" smtClean="0">
                <a:solidFill>
                  <a:schemeClr val="accent6"/>
                </a:solidFill>
              </a:rPr>
              <a:t>Network</a:t>
            </a:r>
            <a:endParaRPr lang="en-IN" dirty="0">
              <a:solidFill>
                <a:schemeClr val="accent6"/>
              </a:solidFill>
            </a:endParaRPr>
          </a:p>
        </p:txBody>
      </p:sp>
    </p:spTree>
    <p:extLst>
      <p:ext uri="{BB962C8B-B14F-4D97-AF65-F5344CB8AC3E}">
        <p14:creationId xmlns:p14="http://schemas.microsoft.com/office/powerpoint/2010/main" val="369555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3" grpId="0"/>
      <p:bldP spid="24" grpId="0"/>
      <p:bldP spid="25" grpId="0"/>
      <p:bldP spid="26" grpId="0"/>
      <p:bldP spid="27" grpId="0"/>
      <p:bldP spid="28"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G</a:t>
            </a:r>
            <a:r>
              <a:rPr lang="en-US" dirty="0" smtClean="0"/>
              <a:t>eneral </a:t>
            </a:r>
            <a:r>
              <a:rPr lang="en-US" dirty="0"/>
              <a:t>organization of a message-queuing system with routers</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79" y="863444"/>
            <a:ext cx="6241045" cy="5590565"/>
          </a:xfrm>
        </p:spPr>
        <p:txBody>
          <a:bodyPr/>
          <a:lstStyle/>
          <a:p>
            <a:pPr marL="265113" lvl="1" indent="-265113">
              <a:lnSpc>
                <a:spcPct val="108000"/>
              </a:lnSpc>
              <a:spcBef>
                <a:spcPts val="1000"/>
              </a:spcBef>
              <a:buFont typeface="Webdings" panose="05030102010509060703" pitchFamily="18" charset="2"/>
              <a:buChar char=""/>
            </a:pPr>
            <a:r>
              <a:rPr lang="en-US" sz="2400" dirty="0" smtClean="0"/>
              <a:t>Messages </a:t>
            </a:r>
            <a:r>
              <a:rPr lang="en-US" sz="2400" dirty="0"/>
              <a:t>are managed by queue managers</a:t>
            </a:r>
          </a:p>
          <a:p>
            <a:pPr marL="265113" lvl="1" indent="-265113">
              <a:lnSpc>
                <a:spcPct val="108000"/>
              </a:lnSpc>
              <a:spcBef>
                <a:spcPts val="1000"/>
              </a:spcBef>
              <a:buFont typeface="Webdings" panose="05030102010509060703" pitchFamily="18" charset="2"/>
              <a:buChar char=""/>
            </a:pPr>
            <a:r>
              <a:rPr lang="en-US" sz="2400" dirty="0"/>
              <a:t>T</a:t>
            </a:r>
            <a:r>
              <a:rPr lang="en-US" sz="2400" dirty="0" smtClean="0"/>
              <a:t>hey </a:t>
            </a:r>
            <a:r>
              <a:rPr lang="en-US" sz="2400" dirty="0"/>
              <a:t>generally interact with the application that sends </a:t>
            </a:r>
            <a:r>
              <a:rPr lang="en-US" sz="2400" dirty="0" smtClean="0"/>
              <a:t>and receives </a:t>
            </a:r>
            <a:r>
              <a:rPr lang="en-US" sz="2400" dirty="0"/>
              <a:t>messages</a:t>
            </a:r>
          </a:p>
          <a:p>
            <a:pPr marL="265113" lvl="1" indent="-265113">
              <a:lnSpc>
                <a:spcPct val="108000"/>
              </a:lnSpc>
              <a:spcBef>
                <a:spcPts val="1000"/>
              </a:spcBef>
              <a:buFont typeface="Webdings" panose="05030102010509060703" pitchFamily="18" charset="2"/>
              <a:buChar char=""/>
            </a:pPr>
            <a:r>
              <a:rPr lang="en-US" sz="2400" dirty="0"/>
              <a:t>S</a:t>
            </a:r>
            <a:r>
              <a:rPr lang="en-US" sz="2400" dirty="0" smtClean="0"/>
              <a:t>ome </a:t>
            </a:r>
            <a:r>
              <a:rPr lang="en-US" sz="2400" dirty="0"/>
              <a:t>also serve as routers or relays, i.e., they </a:t>
            </a:r>
            <a:r>
              <a:rPr lang="en-US" sz="2400" dirty="0" smtClean="0"/>
              <a:t>forward incoming </a:t>
            </a:r>
            <a:r>
              <a:rPr lang="en-US" sz="2400" dirty="0"/>
              <a:t>messages to other queue managers</a:t>
            </a:r>
          </a:p>
          <a:p>
            <a:pPr marL="265113" lvl="1" indent="-265113">
              <a:lnSpc>
                <a:spcPct val="108000"/>
              </a:lnSpc>
              <a:spcBef>
                <a:spcPts val="1000"/>
              </a:spcBef>
              <a:buFont typeface="Webdings" panose="05030102010509060703" pitchFamily="18" charset="2"/>
              <a:buChar char=""/>
            </a:pPr>
            <a:r>
              <a:rPr lang="en-US" sz="2400" dirty="0"/>
              <a:t>H</a:t>
            </a:r>
            <a:r>
              <a:rPr lang="en-US" sz="2400" dirty="0" smtClean="0"/>
              <a:t>owever</a:t>
            </a:r>
            <a:r>
              <a:rPr lang="en-US" sz="2400" dirty="0"/>
              <a:t>, each queue manager needs a copy of the </a:t>
            </a:r>
            <a:r>
              <a:rPr lang="en-US" sz="2400" dirty="0" err="1"/>
              <a:t>queueto</a:t>
            </a:r>
            <a:r>
              <a:rPr lang="en-US" sz="2400" dirty="0"/>
              <a:t>-location mapping, leading to network </a:t>
            </a:r>
            <a:r>
              <a:rPr lang="en-US" sz="2400" dirty="0" smtClean="0"/>
              <a:t>management problems </a:t>
            </a:r>
            <a:r>
              <a:rPr lang="en-US" sz="2400" dirty="0"/>
              <a:t>for large-scale queuing systems</a:t>
            </a:r>
          </a:p>
          <a:p>
            <a:pPr marL="265113" lvl="1" indent="-265113">
              <a:lnSpc>
                <a:spcPct val="108000"/>
              </a:lnSpc>
              <a:spcBef>
                <a:spcPts val="1000"/>
              </a:spcBef>
              <a:buFont typeface="Webdings" panose="05030102010509060703" pitchFamily="18" charset="2"/>
              <a:buChar char=""/>
            </a:pPr>
            <a:r>
              <a:rPr lang="en-US" sz="2400" dirty="0" smtClean="0"/>
              <a:t>The </a:t>
            </a:r>
            <a:r>
              <a:rPr lang="en-US" sz="2400" dirty="0"/>
              <a:t>solution is to use a few routers that know about </a:t>
            </a:r>
            <a:r>
              <a:rPr lang="en-US" sz="2400" dirty="0" smtClean="0"/>
              <a:t>the network </a:t>
            </a:r>
            <a:r>
              <a:rPr lang="en-US" sz="2400" dirty="0"/>
              <a:t>topology</a:t>
            </a:r>
          </a:p>
        </p:txBody>
      </p:sp>
      <p:pic>
        <p:nvPicPr>
          <p:cNvPr id="4" name="Picture 3"/>
          <p:cNvPicPr>
            <a:picLocks noChangeAspect="1"/>
          </p:cNvPicPr>
          <p:nvPr/>
        </p:nvPicPr>
        <p:blipFill rotWithShape="1">
          <a:blip r:embed="rId2"/>
          <a:srcRect l="2167"/>
          <a:stretch/>
        </p:blipFill>
        <p:spPr>
          <a:xfrm>
            <a:off x="6357938" y="1004887"/>
            <a:ext cx="5805489" cy="4791075"/>
          </a:xfrm>
          <a:prstGeom prst="rect">
            <a:avLst/>
          </a:prstGeom>
        </p:spPr>
      </p:pic>
    </p:spTree>
    <p:extLst>
      <p:ext uri="{BB962C8B-B14F-4D97-AF65-F5344CB8AC3E}">
        <p14:creationId xmlns:p14="http://schemas.microsoft.com/office/powerpoint/2010/main" val="2877809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Stream-Oriented Communication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8000"/>
              </a:lnSpc>
            </a:pPr>
            <a:r>
              <a:rPr lang="en-US" dirty="0"/>
              <a:t>RPC, RMI, message-oriented communication are based on the exchange of discrete messages</a:t>
            </a:r>
          </a:p>
          <a:p>
            <a:pPr lvl="1">
              <a:buFont typeface="Wingdings" panose="05000000000000000000" pitchFamily="2" charset="2"/>
              <a:buChar char="§"/>
            </a:pPr>
            <a:r>
              <a:rPr lang="en-US" sz="2400" dirty="0"/>
              <a:t>Timing might affect performance, but not correctness</a:t>
            </a:r>
          </a:p>
          <a:p>
            <a:pPr>
              <a:lnSpc>
                <a:spcPct val="108000"/>
              </a:lnSpc>
            </a:pPr>
            <a:r>
              <a:rPr lang="en-US" dirty="0"/>
              <a:t>In stream-oriented communication the message content must be delivered at a certain rate, as well as correctly.</a:t>
            </a:r>
          </a:p>
          <a:p>
            <a:pPr lvl="1">
              <a:buFont typeface="Wingdings" panose="05000000000000000000" pitchFamily="2" charset="2"/>
              <a:buChar char="§"/>
            </a:pPr>
            <a:r>
              <a:rPr lang="en-US" sz="2400" dirty="0"/>
              <a:t>e.g., music or video</a:t>
            </a:r>
          </a:p>
          <a:p>
            <a:pPr>
              <a:lnSpc>
                <a:spcPct val="108000"/>
              </a:lnSpc>
            </a:pPr>
            <a:r>
              <a:rPr lang="en-US" dirty="0"/>
              <a:t>A</a:t>
            </a:r>
            <a:r>
              <a:rPr lang="en-US" dirty="0" smtClean="0"/>
              <a:t>udio </a:t>
            </a:r>
            <a:r>
              <a:rPr lang="en-US" dirty="0"/>
              <a:t>and video are </a:t>
            </a:r>
            <a:r>
              <a:rPr lang="en-US" dirty="0" smtClean="0"/>
              <a:t>time-dependent data </a:t>
            </a:r>
            <a:r>
              <a:rPr lang="en-US" dirty="0"/>
              <a:t>streams – if the timing is off, the resulting “output” from the </a:t>
            </a:r>
            <a:r>
              <a:rPr lang="en-US" dirty="0" smtClean="0"/>
              <a:t>system will be incorrect</a:t>
            </a:r>
            <a:r>
              <a:rPr lang="en-US" dirty="0"/>
              <a:t>.</a:t>
            </a:r>
          </a:p>
          <a:p>
            <a:pPr>
              <a:lnSpc>
                <a:spcPct val="108000"/>
              </a:lnSpc>
            </a:pPr>
            <a:r>
              <a:rPr lang="en-US" dirty="0" smtClean="0"/>
              <a:t>Time-dependent </a:t>
            </a:r>
            <a:r>
              <a:rPr lang="en-US" dirty="0"/>
              <a:t>information – known </a:t>
            </a:r>
            <a:r>
              <a:rPr lang="en-US" dirty="0" smtClean="0"/>
              <a:t>as “</a:t>
            </a:r>
            <a:r>
              <a:rPr lang="en-US" dirty="0"/>
              <a:t>continuous media” communications</a:t>
            </a:r>
            <a:r>
              <a:rPr lang="en-US" dirty="0" smtClean="0"/>
              <a:t>.</a:t>
            </a:r>
          </a:p>
          <a:p>
            <a:pPr>
              <a:lnSpc>
                <a:spcPct val="108000"/>
              </a:lnSpc>
            </a:pPr>
            <a:r>
              <a:rPr lang="en-US" dirty="0" smtClean="0"/>
              <a:t>Example: </a:t>
            </a:r>
          </a:p>
          <a:p>
            <a:pPr lvl="1">
              <a:buFont typeface="Wingdings" panose="05000000000000000000" pitchFamily="2" charset="2"/>
              <a:buChar char="§"/>
            </a:pPr>
            <a:r>
              <a:rPr lang="en-US" sz="2400" dirty="0" smtClean="0"/>
              <a:t>Voice</a:t>
            </a:r>
            <a:r>
              <a:rPr lang="en-US" sz="2400" dirty="0"/>
              <a:t>: PCM: 1/44100 sec intervals on playback.</a:t>
            </a:r>
          </a:p>
          <a:p>
            <a:pPr lvl="1">
              <a:buFont typeface="Wingdings" panose="05000000000000000000" pitchFamily="2" charset="2"/>
              <a:buChar char="§"/>
            </a:pPr>
            <a:r>
              <a:rPr lang="en-US" sz="2400" dirty="0" smtClean="0"/>
              <a:t>Video: </a:t>
            </a:r>
            <a:r>
              <a:rPr lang="en-US" sz="2400" dirty="0"/>
              <a:t>30 frames per second (30-40 </a:t>
            </a:r>
            <a:r>
              <a:rPr lang="en-US" sz="2400" dirty="0" err="1"/>
              <a:t>msec</a:t>
            </a:r>
            <a:r>
              <a:rPr lang="en-US" sz="2400" dirty="0"/>
              <a:t> per image</a:t>
            </a:r>
            <a:r>
              <a:rPr lang="en-US" sz="2400" dirty="0" smtClean="0"/>
              <a:t>).</a:t>
            </a:r>
            <a:endParaRPr lang="en-US" sz="2400" dirty="0"/>
          </a:p>
        </p:txBody>
      </p:sp>
    </p:spTree>
    <p:extLst>
      <p:ext uri="{BB962C8B-B14F-4D97-AF65-F5344CB8AC3E}">
        <p14:creationId xmlns:p14="http://schemas.microsoft.com/office/powerpoint/2010/main" val="184844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Transmission Modes in Stream-Oriented </a:t>
            </a:r>
            <a:r>
              <a:rPr lang="en-US" dirty="0"/>
              <a:t>Communication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8000"/>
              </a:lnSpc>
            </a:pPr>
            <a:r>
              <a:rPr lang="en-US" b="1" dirty="0">
                <a:solidFill>
                  <a:srgbClr val="1D3064"/>
                </a:solidFill>
              </a:rPr>
              <a:t>Asynchronous transmission mode </a:t>
            </a:r>
            <a:r>
              <a:rPr lang="en-US" dirty="0" smtClean="0"/>
              <a:t>– the </a:t>
            </a:r>
            <a:r>
              <a:rPr lang="en-US" dirty="0"/>
              <a:t>data stream is transmitted in order, but there’s </a:t>
            </a:r>
            <a:r>
              <a:rPr lang="en-US" dirty="0">
                <a:solidFill>
                  <a:schemeClr val="accent6"/>
                </a:solidFill>
              </a:rPr>
              <a:t>no timing </a:t>
            </a:r>
            <a:r>
              <a:rPr lang="en-US" dirty="0" smtClean="0">
                <a:solidFill>
                  <a:schemeClr val="accent6"/>
                </a:solidFill>
              </a:rPr>
              <a:t>constraints </a:t>
            </a:r>
            <a:r>
              <a:rPr lang="en-US" dirty="0" smtClean="0"/>
              <a:t>placed </a:t>
            </a:r>
            <a:r>
              <a:rPr lang="en-US" dirty="0"/>
              <a:t>on the </a:t>
            </a:r>
            <a:r>
              <a:rPr lang="en-US" dirty="0" smtClean="0"/>
              <a:t>actual delivery </a:t>
            </a:r>
            <a:r>
              <a:rPr lang="en-US" dirty="0"/>
              <a:t>(e.g., File Transfer).</a:t>
            </a:r>
          </a:p>
          <a:p>
            <a:pPr>
              <a:lnSpc>
                <a:spcPct val="108000"/>
              </a:lnSpc>
            </a:pPr>
            <a:r>
              <a:rPr lang="en-US" b="1" dirty="0" smtClean="0">
                <a:solidFill>
                  <a:srgbClr val="1D3064"/>
                </a:solidFill>
              </a:rPr>
              <a:t>Synchronous </a:t>
            </a:r>
            <a:r>
              <a:rPr lang="en-US" b="1" dirty="0">
                <a:solidFill>
                  <a:srgbClr val="1D3064"/>
                </a:solidFill>
              </a:rPr>
              <a:t>transmission mode </a:t>
            </a:r>
            <a:r>
              <a:rPr lang="en-US" dirty="0" smtClean="0"/>
              <a:t>– the </a:t>
            </a:r>
            <a:r>
              <a:rPr lang="en-US" dirty="0">
                <a:solidFill>
                  <a:schemeClr val="accent6"/>
                </a:solidFill>
              </a:rPr>
              <a:t>maximum end-to-end delay </a:t>
            </a:r>
            <a:r>
              <a:rPr lang="en-US" dirty="0"/>
              <a:t>is defined (but data can travel faster).</a:t>
            </a:r>
          </a:p>
          <a:p>
            <a:pPr>
              <a:lnSpc>
                <a:spcPct val="108000"/>
              </a:lnSpc>
            </a:pPr>
            <a:r>
              <a:rPr lang="en-US" b="1" dirty="0" smtClean="0">
                <a:solidFill>
                  <a:srgbClr val="1D3064"/>
                </a:solidFill>
              </a:rPr>
              <a:t>Isochronous </a:t>
            </a:r>
            <a:r>
              <a:rPr lang="en-US" b="1" dirty="0">
                <a:solidFill>
                  <a:srgbClr val="1D3064"/>
                </a:solidFill>
              </a:rPr>
              <a:t>transmission mode </a:t>
            </a:r>
            <a:r>
              <a:rPr lang="en-US" dirty="0" smtClean="0"/>
              <a:t>– data </a:t>
            </a:r>
            <a:r>
              <a:rPr lang="en-US" dirty="0"/>
              <a:t>transferred </a:t>
            </a:r>
            <a:r>
              <a:rPr lang="en-US" dirty="0" smtClean="0"/>
              <a:t>“</a:t>
            </a:r>
            <a:r>
              <a:rPr lang="en-US" dirty="0" smtClean="0">
                <a:solidFill>
                  <a:schemeClr val="accent6"/>
                </a:solidFill>
              </a:rPr>
              <a:t>on time</a:t>
            </a:r>
            <a:r>
              <a:rPr lang="en-US" dirty="0" smtClean="0"/>
              <a:t>” </a:t>
            </a:r>
            <a:r>
              <a:rPr lang="en-US" dirty="0"/>
              <a:t>– there’s a maximum and minimum </a:t>
            </a:r>
            <a:r>
              <a:rPr lang="en-US" dirty="0" smtClean="0"/>
              <a:t>end-to-end delay </a:t>
            </a:r>
            <a:r>
              <a:rPr lang="en-US" dirty="0"/>
              <a:t>(known </a:t>
            </a:r>
            <a:r>
              <a:rPr lang="en-US" dirty="0" smtClean="0"/>
              <a:t>as “</a:t>
            </a:r>
            <a:r>
              <a:rPr lang="en-US" dirty="0">
                <a:solidFill>
                  <a:schemeClr val="accent6"/>
                </a:solidFill>
              </a:rPr>
              <a:t>bounded jitter</a:t>
            </a:r>
            <a:r>
              <a:rPr lang="en-US" dirty="0"/>
              <a:t>”).</a:t>
            </a:r>
          </a:p>
          <a:p>
            <a:pPr lvl="1">
              <a:buFont typeface="Wingdings" panose="05000000000000000000" pitchFamily="2" charset="2"/>
              <a:buChar char="§"/>
            </a:pPr>
            <a:r>
              <a:rPr lang="en-US" sz="2400" dirty="0"/>
              <a:t>Known as “</a:t>
            </a:r>
            <a:r>
              <a:rPr lang="en-US" sz="2400" dirty="0">
                <a:solidFill>
                  <a:schemeClr val="accent6"/>
                </a:solidFill>
              </a:rPr>
              <a:t>streams</a:t>
            </a:r>
            <a:r>
              <a:rPr lang="en-US" sz="2400" dirty="0"/>
              <a:t>” – isochronous transmission mode is very useful for multimedia systems</a:t>
            </a:r>
            <a:r>
              <a:rPr lang="en-US" sz="2400" dirty="0" smtClean="0"/>
              <a:t>.</a:t>
            </a:r>
          </a:p>
          <a:p>
            <a:pPr lvl="1">
              <a:buFont typeface="Wingdings" panose="05000000000000000000" pitchFamily="2" charset="2"/>
              <a:buChar char="§"/>
            </a:pPr>
            <a:r>
              <a:rPr lang="en-US" sz="2400" dirty="0"/>
              <a:t>e.g., audio &amp; video</a:t>
            </a:r>
          </a:p>
        </p:txBody>
      </p:sp>
    </p:spTree>
    <p:extLst>
      <p:ext uri="{BB962C8B-B14F-4D97-AF65-F5344CB8AC3E}">
        <p14:creationId xmlns:p14="http://schemas.microsoft.com/office/powerpoint/2010/main" val="25987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Types of </a:t>
            </a:r>
            <a:r>
              <a:rPr lang="en-US" dirty="0" smtClean="0"/>
              <a:t>Streams in Stream-Oriented </a:t>
            </a:r>
            <a:r>
              <a:rPr lang="en-US" dirty="0"/>
              <a:t>Communication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a:lnSpc>
                <a:spcPct val="108000"/>
              </a:lnSpc>
            </a:pPr>
            <a:r>
              <a:rPr lang="en-US" dirty="0" smtClean="0">
                <a:solidFill>
                  <a:srgbClr val="1D3064"/>
                </a:solidFill>
              </a:rPr>
              <a:t>Simple Streams </a:t>
            </a:r>
            <a:r>
              <a:rPr lang="en-US" dirty="0"/>
              <a:t>– one single sequence of data, for example</a:t>
            </a:r>
            <a:r>
              <a:rPr lang="en-US" dirty="0" smtClean="0"/>
              <a:t>: voice</a:t>
            </a:r>
          </a:p>
          <a:p>
            <a:pPr>
              <a:lnSpc>
                <a:spcPct val="108000"/>
              </a:lnSpc>
            </a:pPr>
            <a:r>
              <a:rPr lang="en-US" dirty="0">
                <a:solidFill>
                  <a:srgbClr val="1D3064"/>
                </a:solidFill>
              </a:rPr>
              <a:t>Complex Streams </a:t>
            </a:r>
            <a:r>
              <a:rPr lang="en-US" dirty="0"/>
              <a:t>– several sequences of data (</a:t>
            </a:r>
            <a:r>
              <a:rPr lang="en-US" dirty="0" err="1"/>
              <a:t>substreams</a:t>
            </a:r>
            <a:r>
              <a:rPr lang="en-US" dirty="0"/>
              <a:t>) </a:t>
            </a:r>
            <a:r>
              <a:rPr lang="en-US" dirty="0" smtClean="0"/>
              <a:t>that are </a:t>
            </a:r>
            <a:r>
              <a:rPr lang="en-US" dirty="0">
                <a:solidFill>
                  <a:schemeClr val="accent6"/>
                </a:solidFill>
              </a:rPr>
              <a:t>“related” by time</a:t>
            </a:r>
            <a:r>
              <a:rPr lang="en-US" dirty="0"/>
              <a:t>.</a:t>
            </a:r>
          </a:p>
          <a:p>
            <a:pPr lvl="1">
              <a:buFont typeface="Wingdings" panose="05000000000000000000" pitchFamily="2" charset="2"/>
              <a:buChar char="§"/>
            </a:pPr>
            <a:r>
              <a:rPr lang="en-US" sz="2400" dirty="0"/>
              <a:t>Think of a lip synchronized movie, with sound and pictures, together with sub-titles</a:t>
            </a:r>
          </a:p>
          <a:p>
            <a:pPr lvl="1">
              <a:buFont typeface="Wingdings" panose="05000000000000000000" pitchFamily="2" charset="2"/>
              <a:buChar char="§"/>
            </a:pPr>
            <a:r>
              <a:rPr lang="en-US" sz="2400" dirty="0"/>
              <a:t>This leads to data synchronization problems … which are not at all easy to deal with</a:t>
            </a:r>
          </a:p>
        </p:txBody>
      </p:sp>
      <p:sp>
        <p:nvSpPr>
          <p:cNvPr id="7" name="TextBox 6"/>
          <p:cNvSpPr txBox="1"/>
          <p:nvPr/>
        </p:nvSpPr>
        <p:spPr>
          <a:xfrm>
            <a:off x="1185863" y="6053899"/>
            <a:ext cx="8029575" cy="400110"/>
          </a:xfrm>
          <a:prstGeom prst="rect">
            <a:avLst/>
          </a:prstGeom>
          <a:noFill/>
        </p:spPr>
        <p:txBody>
          <a:bodyPr wrap="square" rtlCol="0">
            <a:spAutoFit/>
          </a:bodyPr>
          <a:lstStyle/>
          <a:p>
            <a:r>
              <a:rPr lang="en-US" sz="2000" b="1" dirty="0"/>
              <a:t>A general architecture for streaming stored multimedia data over </a:t>
            </a:r>
            <a:r>
              <a:rPr lang="en-US" sz="2000" b="1" dirty="0" smtClean="0"/>
              <a:t>a network</a:t>
            </a:r>
            <a:endParaRPr lang="en-IN" sz="2000" b="1" dirty="0"/>
          </a:p>
        </p:txBody>
      </p:sp>
      <p:grpSp>
        <p:nvGrpSpPr>
          <p:cNvPr id="16" name="Group 15"/>
          <p:cNvGrpSpPr/>
          <p:nvPr/>
        </p:nvGrpSpPr>
        <p:grpSpPr>
          <a:xfrm>
            <a:off x="1528997" y="3088136"/>
            <a:ext cx="8226087" cy="2889641"/>
            <a:chOff x="989351" y="3326901"/>
            <a:chExt cx="8226087" cy="2889641"/>
          </a:xfrm>
        </p:grpSpPr>
        <p:pic>
          <p:nvPicPr>
            <p:cNvPr id="5" name="Picture 4"/>
            <p:cNvPicPr>
              <a:picLocks noChangeAspect="1"/>
            </p:cNvPicPr>
            <p:nvPr/>
          </p:nvPicPr>
          <p:blipFill>
            <a:blip r:embed="rId2"/>
            <a:stretch>
              <a:fillRect/>
            </a:stretch>
          </p:blipFill>
          <p:spPr>
            <a:xfrm>
              <a:off x="1500656" y="3793789"/>
              <a:ext cx="6638925" cy="2105025"/>
            </a:xfrm>
            <a:prstGeom prst="rect">
              <a:avLst/>
            </a:prstGeom>
          </p:spPr>
        </p:pic>
        <p:sp>
          <p:nvSpPr>
            <p:cNvPr id="6" name="TextBox 5"/>
            <p:cNvSpPr txBox="1"/>
            <p:nvPr/>
          </p:nvSpPr>
          <p:spPr>
            <a:xfrm>
              <a:off x="2773180" y="3521083"/>
              <a:ext cx="2216303" cy="400110"/>
            </a:xfrm>
            <a:prstGeom prst="rect">
              <a:avLst/>
            </a:prstGeom>
            <a:noFill/>
          </p:spPr>
          <p:txBody>
            <a:bodyPr wrap="square" rtlCol="0">
              <a:spAutoFit/>
            </a:bodyPr>
            <a:lstStyle/>
            <a:p>
              <a:r>
                <a:rPr lang="en-IN" sz="2000" dirty="0" smtClean="0">
                  <a:solidFill>
                    <a:schemeClr val="accent6"/>
                  </a:solidFill>
                </a:rPr>
                <a:t>Multimedia server</a:t>
              </a:r>
              <a:endParaRPr lang="en-IN" sz="2000" dirty="0">
                <a:solidFill>
                  <a:schemeClr val="accent6"/>
                </a:solidFill>
              </a:endParaRPr>
            </a:p>
          </p:txBody>
        </p:sp>
        <p:sp>
          <p:nvSpPr>
            <p:cNvPr id="8" name="TextBox 7"/>
            <p:cNvSpPr txBox="1"/>
            <p:nvPr/>
          </p:nvSpPr>
          <p:spPr>
            <a:xfrm>
              <a:off x="989351" y="4885050"/>
              <a:ext cx="1918741" cy="707886"/>
            </a:xfrm>
            <a:prstGeom prst="rect">
              <a:avLst/>
            </a:prstGeom>
            <a:noFill/>
          </p:spPr>
          <p:txBody>
            <a:bodyPr wrap="square" rtlCol="0">
              <a:spAutoFit/>
            </a:bodyPr>
            <a:lstStyle/>
            <a:p>
              <a:r>
                <a:rPr lang="en-IN" sz="2000" dirty="0" smtClean="0">
                  <a:solidFill>
                    <a:schemeClr val="accent6"/>
                  </a:solidFill>
                </a:rPr>
                <a:t>Compressed multimedia data</a:t>
              </a:r>
              <a:endParaRPr lang="en-IN" sz="2000" dirty="0">
                <a:solidFill>
                  <a:schemeClr val="accent6"/>
                </a:solidFill>
              </a:endParaRPr>
            </a:p>
          </p:txBody>
        </p:sp>
        <p:sp>
          <p:nvSpPr>
            <p:cNvPr id="9" name="TextBox 8"/>
            <p:cNvSpPr txBox="1"/>
            <p:nvPr/>
          </p:nvSpPr>
          <p:spPr>
            <a:xfrm>
              <a:off x="6595656" y="3326901"/>
              <a:ext cx="2619782" cy="400110"/>
            </a:xfrm>
            <a:prstGeom prst="rect">
              <a:avLst/>
            </a:prstGeom>
            <a:noFill/>
          </p:spPr>
          <p:txBody>
            <a:bodyPr wrap="square" rtlCol="0">
              <a:spAutoFit/>
            </a:bodyPr>
            <a:lstStyle/>
            <a:p>
              <a:r>
                <a:rPr lang="en-IN" sz="2000" dirty="0" smtClean="0">
                  <a:solidFill>
                    <a:schemeClr val="accent6"/>
                  </a:solidFill>
                </a:rPr>
                <a:t>Stream synchronization</a:t>
              </a:r>
              <a:endParaRPr lang="en-IN" sz="2000" dirty="0">
                <a:solidFill>
                  <a:schemeClr val="accent6"/>
                </a:solidFill>
              </a:endParaRPr>
            </a:p>
          </p:txBody>
        </p:sp>
        <p:sp>
          <p:nvSpPr>
            <p:cNvPr id="10" name="TextBox 9"/>
            <p:cNvSpPr txBox="1"/>
            <p:nvPr/>
          </p:nvSpPr>
          <p:spPr>
            <a:xfrm>
              <a:off x="5403423" y="3521083"/>
              <a:ext cx="1012327" cy="400110"/>
            </a:xfrm>
            <a:prstGeom prst="rect">
              <a:avLst/>
            </a:prstGeom>
            <a:noFill/>
          </p:spPr>
          <p:txBody>
            <a:bodyPr wrap="square" rtlCol="0">
              <a:spAutoFit/>
            </a:bodyPr>
            <a:lstStyle/>
            <a:p>
              <a:r>
                <a:rPr lang="en-IN" sz="2000" dirty="0" smtClean="0">
                  <a:solidFill>
                    <a:schemeClr val="accent6"/>
                  </a:solidFill>
                </a:rPr>
                <a:t>Client</a:t>
              </a:r>
              <a:endParaRPr lang="en-IN" sz="2000" dirty="0">
                <a:solidFill>
                  <a:schemeClr val="accent6"/>
                </a:solidFill>
              </a:endParaRPr>
            </a:p>
          </p:txBody>
        </p:sp>
        <p:cxnSp>
          <p:nvCxnSpPr>
            <p:cNvPr id="12" name="Straight Connector 11"/>
            <p:cNvCxnSpPr/>
            <p:nvPr/>
          </p:nvCxnSpPr>
          <p:spPr>
            <a:xfrm flipH="1">
              <a:off x="6829691" y="3708443"/>
              <a:ext cx="215686" cy="59373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583329" y="5816432"/>
              <a:ext cx="1246362" cy="400110"/>
            </a:xfrm>
            <a:prstGeom prst="rect">
              <a:avLst/>
            </a:prstGeom>
            <a:noFill/>
          </p:spPr>
          <p:txBody>
            <a:bodyPr wrap="square" rtlCol="0">
              <a:spAutoFit/>
            </a:bodyPr>
            <a:lstStyle/>
            <a:p>
              <a:r>
                <a:rPr lang="en-IN" sz="2000" dirty="0" smtClean="0">
                  <a:solidFill>
                    <a:schemeClr val="accent6"/>
                  </a:solidFill>
                </a:rPr>
                <a:t>Network</a:t>
              </a:r>
              <a:endParaRPr lang="en-IN" sz="2000" dirty="0">
                <a:solidFill>
                  <a:schemeClr val="accent6"/>
                </a:solidFill>
              </a:endParaRPr>
            </a:p>
          </p:txBody>
        </p:sp>
      </p:grpSp>
    </p:spTree>
    <p:extLst>
      <p:ext uri="{BB962C8B-B14F-4D97-AF65-F5344CB8AC3E}">
        <p14:creationId xmlns:p14="http://schemas.microsoft.com/office/powerpoint/2010/main" val="1956931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smtClean="0"/>
              <a:t>Quality of </a:t>
            </a:r>
            <a:r>
              <a:rPr lang="en-US" dirty="0"/>
              <a:t>Service</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lnSpc>
                <a:spcPct val="108000"/>
              </a:lnSpc>
              <a:spcBef>
                <a:spcPts val="1000"/>
              </a:spcBef>
              <a:buFont typeface="Webdings" panose="05030102010509060703" pitchFamily="18" charset="2"/>
              <a:buChar char=""/>
            </a:pPr>
            <a:r>
              <a:rPr lang="en-US" sz="2400" dirty="0" smtClean="0"/>
              <a:t>Ensuring </a:t>
            </a:r>
            <a:r>
              <a:rPr lang="en-US" sz="2400" dirty="0"/>
              <a:t>that the temporal relationships in </a:t>
            </a:r>
            <a:r>
              <a:rPr lang="en-US" sz="2400" dirty="0" smtClean="0"/>
              <a:t>the stream </a:t>
            </a:r>
            <a:r>
              <a:rPr lang="en-US" sz="2400" dirty="0"/>
              <a:t>can be </a:t>
            </a:r>
            <a:r>
              <a:rPr lang="en-US" sz="2400" dirty="0" smtClean="0"/>
              <a:t>preserved</a:t>
            </a:r>
          </a:p>
          <a:p>
            <a:pPr marL="265113" lvl="1" indent="-265113">
              <a:lnSpc>
                <a:spcPct val="108000"/>
              </a:lnSpc>
              <a:spcBef>
                <a:spcPts val="1000"/>
              </a:spcBef>
              <a:buFont typeface="Webdings" panose="05030102010509060703" pitchFamily="18" charset="2"/>
              <a:buChar char=""/>
            </a:pPr>
            <a:r>
              <a:rPr lang="en-US" sz="2400" dirty="0"/>
              <a:t>Streams are all about timely delivery of data. </a:t>
            </a:r>
            <a:endParaRPr lang="en-US" sz="2400" dirty="0" smtClean="0"/>
          </a:p>
          <a:p>
            <a:pPr marL="265113" lvl="1" indent="-265113">
              <a:lnSpc>
                <a:spcPct val="108000"/>
              </a:lnSpc>
              <a:spcBef>
                <a:spcPts val="1000"/>
              </a:spcBef>
              <a:buFont typeface="Webdings" panose="05030102010509060703" pitchFamily="18" charset="2"/>
              <a:buChar char=""/>
            </a:pPr>
            <a:r>
              <a:rPr lang="en-US" sz="2400" dirty="0" smtClean="0">
                <a:solidFill>
                  <a:schemeClr val="accent6"/>
                </a:solidFill>
              </a:rPr>
              <a:t>How </a:t>
            </a:r>
            <a:r>
              <a:rPr lang="en-US" sz="2400" dirty="0">
                <a:solidFill>
                  <a:schemeClr val="accent6"/>
                </a:solidFill>
              </a:rPr>
              <a:t>do you specify this Quality </a:t>
            </a:r>
            <a:r>
              <a:rPr lang="en-US" sz="2400" dirty="0" smtClean="0">
                <a:solidFill>
                  <a:schemeClr val="accent6"/>
                </a:solidFill>
              </a:rPr>
              <a:t>of Service </a:t>
            </a:r>
            <a:r>
              <a:rPr lang="en-US" sz="2400" dirty="0">
                <a:solidFill>
                  <a:schemeClr val="accent6"/>
                </a:solidFill>
              </a:rPr>
              <a:t>(</a:t>
            </a:r>
            <a:r>
              <a:rPr lang="en-US" sz="2400" dirty="0" err="1">
                <a:solidFill>
                  <a:schemeClr val="accent6"/>
                </a:solidFill>
              </a:rPr>
              <a:t>QoS</a:t>
            </a:r>
            <a:r>
              <a:rPr lang="en-US" sz="2400" dirty="0" smtClean="0">
                <a:solidFill>
                  <a:schemeClr val="accent6"/>
                </a:solidFill>
              </a:rPr>
              <a:t>)?</a:t>
            </a:r>
          </a:p>
          <a:p>
            <a:pPr marL="0" lvl="1" indent="0">
              <a:lnSpc>
                <a:spcPct val="108000"/>
              </a:lnSpc>
              <a:spcBef>
                <a:spcPts val="1000"/>
              </a:spcBef>
              <a:buNone/>
            </a:pPr>
            <a:r>
              <a:rPr lang="en-US" sz="2400" dirty="0" smtClean="0">
                <a:solidFill>
                  <a:srgbClr val="1D3064"/>
                </a:solidFill>
              </a:rPr>
              <a:t>Basics</a:t>
            </a:r>
            <a:r>
              <a:rPr lang="en-US" sz="2400" dirty="0">
                <a:solidFill>
                  <a:srgbClr val="1D3064"/>
                </a:solidFill>
              </a:rPr>
              <a:t>:</a:t>
            </a:r>
          </a:p>
          <a:p>
            <a:pPr lvl="1">
              <a:buFont typeface="Wingdings" panose="05000000000000000000" pitchFamily="2" charset="2"/>
              <a:buChar char="§"/>
            </a:pPr>
            <a:r>
              <a:rPr lang="en-US" sz="2400" dirty="0"/>
              <a:t>The required </a:t>
            </a:r>
            <a:r>
              <a:rPr lang="en-US" sz="2400" dirty="0">
                <a:solidFill>
                  <a:schemeClr val="accent6"/>
                </a:solidFill>
              </a:rPr>
              <a:t>bit rate </a:t>
            </a:r>
            <a:r>
              <a:rPr lang="en-US" sz="2400" dirty="0"/>
              <a:t>at which data should be transported</a:t>
            </a:r>
          </a:p>
          <a:p>
            <a:pPr lvl="1">
              <a:buFont typeface="Wingdings" panose="05000000000000000000" pitchFamily="2" charset="2"/>
              <a:buChar char="§"/>
            </a:pPr>
            <a:r>
              <a:rPr lang="en-US" sz="2400" dirty="0"/>
              <a:t>The </a:t>
            </a:r>
            <a:r>
              <a:rPr lang="en-US" sz="2400" dirty="0">
                <a:solidFill>
                  <a:schemeClr val="accent6"/>
                </a:solidFill>
              </a:rPr>
              <a:t>maximum delay </a:t>
            </a:r>
            <a:r>
              <a:rPr lang="en-US" sz="2400" dirty="0"/>
              <a:t>until a session has been set up (i.e., when an application can start sending data)</a:t>
            </a:r>
          </a:p>
          <a:p>
            <a:pPr lvl="1">
              <a:buFont typeface="Wingdings" panose="05000000000000000000" pitchFamily="2" charset="2"/>
              <a:buChar char="§"/>
            </a:pPr>
            <a:r>
              <a:rPr lang="en-US" sz="2400" dirty="0"/>
              <a:t>The </a:t>
            </a:r>
            <a:r>
              <a:rPr lang="en-US" sz="2400" dirty="0">
                <a:solidFill>
                  <a:schemeClr val="accent6"/>
                </a:solidFill>
              </a:rPr>
              <a:t>maximum end-to-end delay </a:t>
            </a:r>
            <a:r>
              <a:rPr lang="en-US" sz="2400" dirty="0"/>
              <a:t>(i.e., how long it will take until a data unit makes it to a recipient)</a:t>
            </a:r>
          </a:p>
          <a:p>
            <a:pPr lvl="1">
              <a:buFont typeface="Wingdings" panose="05000000000000000000" pitchFamily="2" charset="2"/>
              <a:buChar char="§"/>
            </a:pPr>
            <a:r>
              <a:rPr lang="en-US" sz="2400" dirty="0"/>
              <a:t>The maximum delay variance, or </a:t>
            </a:r>
            <a:r>
              <a:rPr lang="en-US" sz="2400" dirty="0">
                <a:solidFill>
                  <a:schemeClr val="accent6"/>
                </a:solidFill>
              </a:rPr>
              <a:t>jitter</a:t>
            </a:r>
          </a:p>
          <a:p>
            <a:pPr lvl="1">
              <a:buFont typeface="Wingdings" panose="05000000000000000000" pitchFamily="2" charset="2"/>
              <a:buChar char="§"/>
            </a:pPr>
            <a:r>
              <a:rPr lang="en-US" sz="2400" dirty="0"/>
              <a:t>The </a:t>
            </a:r>
            <a:r>
              <a:rPr lang="en-US" sz="2400" dirty="0">
                <a:solidFill>
                  <a:schemeClr val="accent6"/>
                </a:solidFill>
              </a:rPr>
              <a:t>maximum round-trip delay</a:t>
            </a:r>
          </a:p>
        </p:txBody>
      </p:sp>
    </p:spTree>
    <p:extLst>
      <p:ext uri="{BB962C8B-B14F-4D97-AF65-F5344CB8AC3E}">
        <p14:creationId xmlns:p14="http://schemas.microsoft.com/office/powerpoint/2010/main" val="1785101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Multicast Communication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457200" lvl="1" indent="-457200">
              <a:lnSpc>
                <a:spcPct val="108000"/>
              </a:lnSpc>
              <a:spcBef>
                <a:spcPts val="1000"/>
              </a:spcBef>
              <a:buFont typeface="+mj-lt"/>
              <a:buAutoNum type="arabicPeriod"/>
            </a:pPr>
            <a:r>
              <a:rPr lang="en-US" sz="2400" dirty="0"/>
              <a:t>Application-level </a:t>
            </a:r>
            <a:r>
              <a:rPr lang="en-US" sz="2400" dirty="0" smtClean="0"/>
              <a:t>multicasting</a:t>
            </a:r>
          </a:p>
          <a:p>
            <a:pPr marL="457200" lvl="1" indent="-457200">
              <a:lnSpc>
                <a:spcPct val="108000"/>
              </a:lnSpc>
              <a:spcBef>
                <a:spcPts val="1000"/>
              </a:spcBef>
              <a:buFont typeface="+mj-lt"/>
              <a:buAutoNum type="arabicPeriod"/>
            </a:pPr>
            <a:r>
              <a:rPr lang="en-US" sz="2400" dirty="0"/>
              <a:t>Gossip-based data dissemination</a:t>
            </a:r>
            <a:endParaRPr lang="en-US" sz="2400" dirty="0" smtClean="0"/>
          </a:p>
        </p:txBody>
      </p:sp>
    </p:spTree>
    <p:extLst>
      <p:ext uri="{BB962C8B-B14F-4D97-AF65-F5344CB8AC3E}">
        <p14:creationId xmlns:p14="http://schemas.microsoft.com/office/powerpoint/2010/main" val="2796092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Application-level multicasting</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lnSpc>
                <a:spcPct val="108000"/>
              </a:lnSpc>
              <a:spcBef>
                <a:spcPts val="1000"/>
              </a:spcBef>
              <a:buFont typeface="Webdings" panose="05030102010509060703" pitchFamily="18" charset="2"/>
              <a:buChar char=""/>
            </a:pPr>
            <a:r>
              <a:rPr lang="en-US" sz="2400" dirty="0">
                <a:solidFill>
                  <a:schemeClr val="accent6"/>
                </a:solidFill>
              </a:rPr>
              <a:t>Basic idea: </a:t>
            </a:r>
            <a:r>
              <a:rPr lang="en-US" sz="2400" dirty="0"/>
              <a:t>organize nodes of a distributed system into an overlay network and use that network to disseminate </a:t>
            </a:r>
            <a:r>
              <a:rPr lang="en-US" sz="2400" dirty="0" smtClean="0"/>
              <a:t>data</a:t>
            </a:r>
          </a:p>
          <a:p>
            <a:pPr marL="0" lvl="1" indent="0">
              <a:lnSpc>
                <a:spcPct val="108000"/>
              </a:lnSpc>
              <a:spcBef>
                <a:spcPts val="1000"/>
              </a:spcBef>
              <a:buNone/>
            </a:pPr>
            <a:r>
              <a:rPr lang="en-US" sz="2400" b="1" dirty="0">
                <a:solidFill>
                  <a:srgbClr val="1D3064"/>
                </a:solidFill>
              </a:rPr>
              <a:t>Multicast tree construction in </a:t>
            </a:r>
            <a:r>
              <a:rPr lang="en-US" sz="2400" b="1" dirty="0" smtClean="0">
                <a:solidFill>
                  <a:srgbClr val="1D3064"/>
                </a:solidFill>
              </a:rPr>
              <a:t>Chord</a:t>
            </a:r>
          </a:p>
          <a:p>
            <a:pPr marL="265113" lvl="1" indent="-265113">
              <a:lnSpc>
                <a:spcPct val="108000"/>
              </a:lnSpc>
              <a:spcBef>
                <a:spcPts val="1000"/>
              </a:spcBef>
              <a:buFont typeface="Webdings" panose="05030102010509060703" pitchFamily="18" charset="2"/>
              <a:buChar char=""/>
            </a:pPr>
            <a:r>
              <a:rPr lang="en-US" sz="2400" dirty="0"/>
              <a:t>Initiator generates a </a:t>
            </a:r>
            <a:r>
              <a:rPr lang="en-US" sz="2400" dirty="0">
                <a:solidFill>
                  <a:schemeClr val="accent6"/>
                </a:solidFill>
              </a:rPr>
              <a:t>multicast identifier </a:t>
            </a:r>
            <a:r>
              <a:rPr lang="en-US" sz="2400" dirty="0"/>
              <a:t>mid.</a:t>
            </a:r>
          </a:p>
          <a:p>
            <a:pPr marL="265113" lvl="1" indent="-265113">
              <a:lnSpc>
                <a:spcPct val="108000"/>
              </a:lnSpc>
              <a:spcBef>
                <a:spcPts val="1000"/>
              </a:spcBef>
              <a:buFont typeface="Webdings" panose="05030102010509060703" pitchFamily="18" charset="2"/>
              <a:buChar char=""/>
            </a:pPr>
            <a:r>
              <a:rPr lang="en-US" sz="2400" dirty="0" smtClean="0"/>
              <a:t>Lookup </a:t>
            </a:r>
            <a:r>
              <a:rPr lang="en-US" sz="2400" i="1" dirty="0" err="1">
                <a:solidFill>
                  <a:schemeClr val="accent6"/>
                </a:solidFill>
              </a:rPr>
              <a:t>succ</a:t>
            </a:r>
            <a:r>
              <a:rPr lang="en-US" sz="2400" i="1" dirty="0">
                <a:solidFill>
                  <a:schemeClr val="accent6"/>
                </a:solidFill>
              </a:rPr>
              <a:t>(mid)</a:t>
            </a:r>
            <a:r>
              <a:rPr lang="en-US" sz="2400" dirty="0"/>
              <a:t>, the node responsible for mid.</a:t>
            </a:r>
          </a:p>
          <a:p>
            <a:pPr marL="265113" lvl="1" indent="-265113">
              <a:lnSpc>
                <a:spcPct val="108000"/>
              </a:lnSpc>
              <a:spcBef>
                <a:spcPts val="1000"/>
              </a:spcBef>
              <a:buFont typeface="Webdings" panose="05030102010509060703" pitchFamily="18" charset="2"/>
              <a:buChar char=""/>
            </a:pPr>
            <a:r>
              <a:rPr lang="en-US" sz="2400" dirty="0" smtClean="0"/>
              <a:t>Request </a:t>
            </a:r>
            <a:r>
              <a:rPr lang="en-US" sz="2400" dirty="0"/>
              <a:t>is routed to </a:t>
            </a:r>
            <a:r>
              <a:rPr lang="en-US" sz="2400" dirty="0" err="1"/>
              <a:t>succ</a:t>
            </a:r>
            <a:r>
              <a:rPr lang="en-US" sz="2400" dirty="0"/>
              <a:t>(mid), which will become the </a:t>
            </a:r>
            <a:r>
              <a:rPr lang="en-US" sz="2400" dirty="0">
                <a:solidFill>
                  <a:schemeClr val="accent6"/>
                </a:solidFill>
              </a:rPr>
              <a:t>root</a:t>
            </a:r>
            <a:r>
              <a:rPr lang="en-US" sz="2400" dirty="0"/>
              <a:t>.</a:t>
            </a:r>
          </a:p>
          <a:p>
            <a:pPr marL="265113" lvl="1" indent="-265113">
              <a:lnSpc>
                <a:spcPct val="108000"/>
              </a:lnSpc>
              <a:spcBef>
                <a:spcPts val="1000"/>
              </a:spcBef>
              <a:buFont typeface="Webdings" panose="05030102010509060703" pitchFamily="18" charset="2"/>
              <a:buChar char=""/>
            </a:pPr>
            <a:r>
              <a:rPr lang="en-US" sz="2400" dirty="0" smtClean="0"/>
              <a:t>If </a:t>
            </a:r>
            <a:r>
              <a:rPr lang="en-US" sz="2400" dirty="0"/>
              <a:t>P wants to join, it sends a </a:t>
            </a:r>
            <a:r>
              <a:rPr lang="en-US" sz="2400" dirty="0">
                <a:solidFill>
                  <a:schemeClr val="accent6"/>
                </a:solidFill>
              </a:rPr>
              <a:t>join</a:t>
            </a:r>
            <a:r>
              <a:rPr lang="en-US" sz="2400" dirty="0"/>
              <a:t> request to the </a:t>
            </a:r>
            <a:r>
              <a:rPr lang="en-US" sz="2400" dirty="0" smtClean="0"/>
              <a:t>root</a:t>
            </a:r>
          </a:p>
          <a:p>
            <a:pPr marL="265113" lvl="1" indent="-265113">
              <a:lnSpc>
                <a:spcPct val="108000"/>
              </a:lnSpc>
              <a:spcBef>
                <a:spcPts val="1000"/>
              </a:spcBef>
              <a:buFont typeface="Webdings" panose="05030102010509060703" pitchFamily="18" charset="2"/>
              <a:buChar char=""/>
            </a:pPr>
            <a:r>
              <a:rPr lang="en-US" sz="2400" dirty="0" smtClean="0"/>
              <a:t>When </a:t>
            </a:r>
            <a:r>
              <a:rPr lang="en-US" sz="2400" dirty="0"/>
              <a:t>request arrives at Q</a:t>
            </a:r>
          </a:p>
          <a:p>
            <a:pPr lvl="1">
              <a:buFont typeface="Wingdings" panose="05000000000000000000" pitchFamily="2" charset="2"/>
              <a:buChar char="§"/>
            </a:pPr>
            <a:r>
              <a:rPr lang="en-US" dirty="0"/>
              <a:t>Q has not seen a join request for mid before </a:t>
            </a:r>
            <a:r>
              <a:rPr lang="en-US" dirty="0">
                <a:sym typeface="Wingdings" panose="05000000000000000000" pitchFamily="2" charset="2"/>
              </a:rPr>
              <a:t></a:t>
            </a:r>
            <a:r>
              <a:rPr lang="en-US" dirty="0"/>
              <a:t> it becomes </a:t>
            </a:r>
            <a:r>
              <a:rPr lang="en-US" dirty="0">
                <a:solidFill>
                  <a:srgbClr val="1D3064"/>
                </a:solidFill>
              </a:rPr>
              <a:t>forwarder</a:t>
            </a:r>
            <a:r>
              <a:rPr lang="en-US" dirty="0"/>
              <a:t>; P becomes child of </a:t>
            </a:r>
            <a:r>
              <a:rPr lang="en-US" dirty="0" smtClean="0"/>
              <a:t>Q. </a:t>
            </a:r>
            <a:r>
              <a:rPr lang="en-US" dirty="0" smtClean="0">
                <a:solidFill>
                  <a:schemeClr val="accent6"/>
                </a:solidFill>
              </a:rPr>
              <a:t>Join </a:t>
            </a:r>
            <a:r>
              <a:rPr lang="en-US" dirty="0">
                <a:solidFill>
                  <a:schemeClr val="accent6"/>
                </a:solidFill>
              </a:rPr>
              <a:t>request continues to be forwarded.</a:t>
            </a:r>
          </a:p>
          <a:p>
            <a:pPr lvl="1">
              <a:buFont typeface="Wingdings" panose="05000000000000000000" pitchFamily="2" charset="2"/>
              <a:buChar char="§"/>
            </a:pPr>
            <a:r>
              <a:rPr lang="en-US" dirty="0"/>
              <a:t>Q is already a forwarder for mid </a:t>
            </a:r>
            <a:r>
              <a:rPr lang="en-US" dirty="0">
                <a:sym typeface="Wingdings" panose="05000000000000000000" pitchFamily="2" charset="2"/>
              </a:rPr>
              <a:t></a:t>
            </a:r>
            <a:r>
              <a:rPr lang="en-US" dirty="0"/>
              <a:t>  P becomes child of Q. </a:t>
            </a:r>
            <a:r>
              <a:rPr lang="en-US" dirty="0">
                <a:solidFill>
                  <a:schemeClr val="accent6"/>
                </a:solidFill>
              </a:rPr>
              <a:t>No need to forward join request anymore.</a:t>
            </a:r>
          </a:p>
        </p:txBody>
      </p:sp>
    </p:spTree>
    <p:extLst>
      <p:ext uri="{BB962C8B-B14F-4D97-AF65-F5344CB8AC3E}">
        <p14:creationId xmlns:p14="http://schemas.microsoft.com/office/powerpoint/2010/main" val="1346463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F2D5F8-87CB-4B5B-8EC7-5F4CE6485746}"/>
              </a:ext>
            </a:extLst>
          </p:cNvPr>
          <p:cNvSpPr>
            <a:spLocks noGrp="1"/>
          </p:cNvSpPr>
          <p:nvPr>
            <p:ph type="title"/>
          </p:nvPr>
        </p:nvSpPr>
        <p:spPr/>
        <p:txBody>
          <a:bodyPr>
            <a:normAutofit/>
          </a:bodyPr>
          <a:lstStyle/>
          <a:p>
            <a:r>
              <a:rPr lang="en-US" dirty="0"/>
              <a:t>Gossip‐Based Data Dissemination</a:t>
            </a:r>
          </a:p>
        </p:txBody>
      </p:sp>
      <p:sp>
        <p:nvSpPr>
          <p:cNvPr id="3" name="Content Placeholder 2">
            <a:extLst>
              <a:ext uri="{FF2B5EF4-FFF2-40B4-BE49-F238E27FC236}">
                <a16:creationId xmlns="" xmlns:a16="http://schemas.microsoft.com/office/drawing/2014/main" id="{139A428D-8F15-4206-B337-FA27C005FA71}"/>
              </a:ext>
            </a:extLst>
          </p:cNvPr>
          <p:cNvSpPr>
            <a:spLocks noGrp="1"/>
          </p:cNvSpPr>
          <p:nvPr>
            <p:ph idx="1"/>
          </p:nvPr>
        </p:nvSpPr>
        <p:spPr>
          <a:xfrm>
            <a:off x="131180" y="863444"/>
            <a:ext cx="11870320" cy="5590565"/>
          </a:xfrm>
        </p:spPr>
        <p:txBody>
          <a:bodyPr/>
          <a:lstStyle/>
          <a:p>
            <a:pPr marL="265113" lvl="1" indent="-265113">
              <a:lnSpc>
                <a:spcPct val="108000"/>
              </a:lnSpc>
              <a:spcBef>
                <a:spcPts val="1000"/>
              </a:spcBef>
              <a:buFont typeface="Webdings" panose="05030102010509060703" pitchFamily="18" charset="2"/>
              <a:buChar char=""/>
            </a:pPr>
            <a:r>
              <a:rPr lang="en-US" sz="2400" dirty="0"/>
              <a:t>Use epidemic algorithm to rapidly propagate information among a large collection of nodes with no central </a:t>
            </a:r>
            <a:r>
              <a:rPr lang="en-US" sz="2400" dirty="0" smtClean="0"/>
              <a:t>coordinator</a:t>
            </a:r>
          </a:p>
          <a:p>
            <a:pPr lvl="1">
              <a:buFont typeface="Wingdings" panose="05000000000000000000" pitchFamily="2" charset="2"/>
              <a:buChar char="§"/>
            </a:pPr>
            <a:r>
              <a:rPr lang="en-US" sz="2400" dirty="0"/>
              <a:t>Assume all updates for a specific data item are initiated at a single node</a:t>
            </a:r>
          </a:p>
          <a:p>
            <a:pPr lvl="1">
              <a:buFont typeface="Wingdings" panose="05000000000000000000" pitchFamily="2" charset="2"/>
              <a:buChar char="§"/>
            </a:pPr>
            <a:r>
              <a:rPr lang="en-US" sz="2400" dirty="0"/>
              <a:t>Upon an update, try to “infect” other nodes as quickly as possible</a:t>
            </a:r>
          </a:p>
          <a:p>
            <a:pPr lvl="1">
              <a:buFont typeface="Wingdings" panose="05000000000000000000" pitchFamily="2" charset="2"/>
              <a:buChar char="§"/>
            </a:pPr>
            <a:r>
              <a:rPr lang="en-US" sz="2400" dirty="0"/>
              <a:t>Pair‐wise exchange of updates (like pair‐wise spreading of a disease)</a:t>
            </a:r>
          </a:p>
          <a:p>
            <a:pPr lvl="1">
              <a:buFont typeface="Wingdings" panose="05000000000000000000" pitchFamily="2" charset="2"/>
              <a:buChar char="§"/>
            </a:pPr>
            <a:r>
              <a:rPr lang="en-US" sz="2400" dirty="0"/>
              <a:t>Eventually, each update should reach every node</a:t>
            </a:r>
          </a:p>
          <a:p>
            <a:pPr marL="265113" lvl="1" indent="-265113">
              <a:lnSpc>
                <a:spcPct val="108000"/>
              </a:lnSpc>
              <a:spcBef>
                <a:spcPts val="1000"/>
              </a:spcBef>
              <a:buFont typeface="Webdings" panose="05030102010509060703" pitchFamily="18" charset="2"/>
              <a:buChar char=""/>
            </a:pPr>
            <a:r>
              <a:rPr lang="en-US" sz="2400" dirty="0"/>
              <a:t>Terminology</a:t>
            </a:r>
            <a:r>
              <a:rPr lang="en-US" sz="2400" dirty="0" smtClean="0"/>
              <a:t>:</a:t>
            </a:r>
          </a:p>
          <a:p>
            <a:pPr lvl="1">
              <a:buFont typeface="Wingdings" panose="05000000000000000000" pitchFamily="2" charset="2"/>
              <a:buChar char="§"/>
            </a:pPr>
            <a:r>
              <a:rPr lang="en-US" sz="2400" dirty="0">
                <a:solidFill>
                  <a:schemeClr val="accent6"/>
                </a:solidFill>
              </a:rPr>
              <a:t>Infected node</a:t>
            </a:r>
            <a:r>
              <a:rPr lang="en-US" sz="2400" dirty="0"/>
              <a:t>: node with an update it is willing to spread</a:t>
            </a:r>
          </a:p>
          <a:p>
            <a:pPr lvl="1">
              <a:buFont typeface="Wingdings" panose="05000000000000000000" pitchFamily="2" charset="2"/>
              <a:buChar char="§"/>
            </a:pPr>
            <a:r>
              <a:rPr lang="en-US" sz="2400" dirty="0">
                <a:solidFill>
                  <a:schemeClr val="accent6"/>
                </a:solidFill>
              </a:rPr>
              <a:t>Susceptible node</a:t>
            </a:r>
            <a:r>
              <a:rPr lang="en-US" sz="2400" dirty="0"/>
              <a:t>: node that is not yet updated</a:t>
            </a:r>
          </a:p>
        </p:txBody>
      </p:sp>
    </p:spTree>
    <p:extLst>
      <p:ext uri="{BB962C8B-B14F-4D97-AF65-F5344CB8AC3E}">
        <p14:creationId xmlns:p14="http://schemas.microsoft.com/office/powerpoint/2010/main" val="225664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12619</TotalTime>
  <Words>11518</Words>
  <Application>Microsoft Office PowerPoint</Application>
  <PresentationFormat>Widescreen</PresentationFormat>
  <Paragraphs>1846</Paragraphs>
  <Slides>138</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138</vt:i4>
      </vt:variant>
    </vt:vector>
  </HeadingPairs>
  <TitlesOfParts>
    <vt:vector size="151" baseType="lpstr">
      <vt:lpstr>ＭＳ Ｐゴシック</vt:lpstr>
      <vt:lpstr>Arial</vt:lpstr>
      <vt:lpstr>Calibri</vt:lpstr>
      <vt:lpstr>Consolas</vt:lpstr>
      <vt:lpstr>Roboto Condensed</vt:lpstr>
      <vt:lpstr>Roboto Condensed Light</vt:lpstr>
      <vt:lpstr>Segoe UI Black</vt:lpstr>
      <vt:lpstr>Times New Roman</vt:lpstr>
      <vt:lpstr>Webdings</vt:lpstr>
      <vt:lpstr>Wingdings</vt:lpstr>
      <vt:lpstr>Wingdings 2</vt:lpstr>
      <vt:lpstr>Wingdings 3</vt:lpstr>
      <vt:lpstr>Office Theme</vt:lpstr>
      <vt:lpstr>Unit-2  Basics of Architectures, Processes and Communication</vt:lpstr>
      <vt:lpstr>PowerPoint Presentation</vt:lpstr>
      <vt:lpstr>Architectural Styles</vt:lpstr>
      <vt:lpstr>Layered architectures</vt:lpstr>
      <vt:lpstr>Object-based architectures</vt:lpstr>
      <vt:lpstr>Data-centered architectures</vt:lpstr>
      <vt:lpstr>Event-based architectures</vt:lpstr>
      <vt:lpstr>System Architecture</vt:lpstr>
      <vt:lpstr>Centralized Architectures</vt:lpstr>
      <vt:lpstr>Centralized Architectures</vt:lpstr>
      <vt:lpstr>Connectionless protocol</vt:lpstr>
      <vt:lpstr>Application Layering</vt:lpstr>
      <vt:lpstr>Internet search engine- An example of Application Layering</vt:lpstr>
      <vt:lpstr>Multi-Tiered Architectures</vt:lpstr>
      <vt:lpstr>Two-tiered Architectures - Thin-client model and fat-client model</vt:lpstr>
      <vt:lpstr>Two-tiered Architectures - Thin-client model and fat-client model</vt:lpstr>
      <vt:lpstr>Multitiered Architectures (3-Tier Architecture)</vt:lpstr>
      <vt:lpstr>Multitiered Architectures (3-Tier Architecture)</vt:lpstr>
      <vt:lpstr>An example of a server acting as client</vt:lpstr>
      <vt:lpstr>Decentralized Architectures</vt:lpstr>
      <vt:lpstr>Structured P2P Architectures</vt:lpstr>
      <vt:lpstr>Chord</vt:lpstr>
      <vt:lpstr>Chord</vt:lpstr>
      <vt:lpstr>Content Addressable Network (CAN)</vt:lpstr>
      <vt:lpstr>Content Addressable Network (CAN)</vt:lpstr>
      <vt:lpstr>Content Addressable Network (CAN)</vt:lpstr>
      <vt:lpstr>Overlay Networks</vt:lpstr>
      <vt:lpstr>Unstructured P2P Architectures</vt:lpstr>
      <vt:lpstr>Superpeers</vt:lpstr>
      <vt:lpstr>Finding Data Items</vt:lpstr>
      <vt:lpstr>Hybrid Architectures</vt:lpstr>
      <vt:lpstr>Edge-Server Systems</vt:lpstr>
      <vt:lpstr>Collaborative Distributed Systems</vt:lpstr>
      <vt:lpstr>BitTorrent</vt:lpstr>
      <vt:lpstr>Globule</vt:lpstr>
      <vt:lpstr>Globule</vt:lpstr>
      <vt:lpstr>Architectures Versus Middleware</vt:lpstr>
      <vt:lpstr>Supporting Technology: Interceptors</vt:lpstr>
      <vt:lpstr>Interceptors</vt:lpstr>
      <vt:lpstr>General Approaches for Adaptability (Adaptive Middleware)</vt:lpstr>
      <vt:lpstr>Self-Management in Distributed Systems</vt:lpstr>
      <vt:lpstr>The Feedback Control Model</vt:lpstr>
      <vt:lpstr>Introduction to Threads</vt:lpstr>
      <vt:lpstr>What is Threads?</vt:lpstr>
      <vt:lpstr>Process &amp; Thread</vt:lpstr>
      <vt:lpstr>Process Vs. Thread</vt:lpstr>
      <vt:lpstr>Types of Threads</vt:lpstr>
      <vt:lpstr>User Level Thread Vs. Kernel Level Thread</vt:lpstr>
      <vt:lpstr>Models for Organizing Threads</vt:lpstr>
      <vt:lpstr>Dispatcher/Worker Model</vt:lpstr>
      <vt:lpstr>Team Model</vt:lpstr>
      <vt:lpstr>Pipeline Model</vt:lpstr>
      <vt:lpstr>Virtualization</vt:lpstr>
      <vt:lpstr>Virtualization</vt:lpstr>
      <vt:lpstr>Architectures of Virtual Machines</vt:lpstr>
      <vt:lpstr>Two Ways to Virtualize</vt:lpstr>
      <vt:lpstr>Clients</vt:lpstr>
      <vt:lpstr>Networked User Interfaces</vt:lpstr>
      <vt:lpstr>Networked User Interfaces</vt:lpstr>
      <vt:lpstr>The X Window System</vt:lpstr>
      <vt:lpstr>Client-Side Software for Distribution Transparency</vt:lpstr>
      <vt:lpstr>Client-Side Software for Distribution Transparency</vt:lpstr>
      <vt:lpstr>Servers</vt:lpstr>
      <vt:lpstr>Iterative server and Concurrent server</vt:lpstr>
      <vt:lpstr>Stateless server</vt:lpstr>
      <vt:lpstr>Stateful server</vt:lpstr>
      <vt:lpstr>Server Clusters</vt:lpstr>
      <vt:lpstr>Server Clusters</vt:lpstr>
      <vt:lpstr>Code Migration</vt:lpstr>
      <vt:lpstr>Performance in Code Migration</vt:lpstr>
      <vt:lpstr>Flexibility in Code Migration</vt:lpstr>
      <vt:lpstr>Models for Code Migration</vt:lpstr>
      <vt:lpstr>Weak Mobility Vs. Strong Mobility</vt:lpstr>
      <vt:lpstr>Migration Initiation</vt:lpstr>
      <vt:lpstr>Alternatives for code migration</vt:lpstr>
      <vt:lpstr>Execute Migrated Code for weak mobility</vt:lpstr>
      <vt:lpstr>Migrate or Clone Process (for strong mobility)</vt:lpstr>
      <vt:lpstr>Migration and Local Resources</vt:lpstr>
      <vt:lpstr>Process-to-Resource Bindings</vt:lpstr>
      <vt:lpstr>Resource Types</vt:lpstr>
      <vt:lpstr>Managing Local Resources</vt:lpstr>
      <vt:lpstr>Migration in Heterogeneous Systems</vt:lpstr>
      <vt:lpstr>Migration in Heterogeneous Systems</vt:lpstr>
      <vt:lpstr>Communication in a Distributed System</vt:lpstr>
      <vt:lpstr>Layered Network Communication Protocols</vt:lpstr>
      <vt:lpstr>Layered Network Communication Protocols</vt:lpstr>
      <vt:lpstr>Layered Network Communication Protocols</vt:lpstr>
      <vt:lpstr>Middleware Layer</vt:lpstr>
      <vt:lpstr>OSI Model</vt:lpstr>
      <vt:lpstr>OSI Model (Layers &amp; Activities)</vt:lpstr>
      <vt:lpstr>Types of Communication</vt:lpstr>
      <vt:lpstr>Transient Vs. Persistent communication</vt:lpstr>
      <vt:lpstr>Synchronous Vs Asynchronous Communication</vt:lpstr>
      <vt:lpstr>Distributed Communications Classifications</vt:lpstr>
      <vt:lpstr>Distributed Communications Classifications</vt:lpstr>
      <vt:lpstr>Distributed Communications Classifications</vt:lpstr>
      <vt:lpstr>Distributed Communications Classifications</vt:lpstr>
      <vt:lpstr>Message Passing</vt:lpstr>
      <vt:lpstr>Client Server Model</vt:lpstr>
      <vt:lpstr>Client Server Model Interaction</vt:lpstr>
      <vt:lpstr>Remote Procedure Call (RPC)</vt:lpstr>
      <vt:lpstr>RPC Model </vt:lpstr>
      <vt:lpstr>Conventional Procedure Call</vt:lpstr>
      <vt:lpstr>Functions of RPC Elements</vt:lpstr>
      <vt:lpstr>Functions of RPC Elements</vt:lpstr>
      <vt:lpstr>RPC Mechanism</vt:lpstr>
      <vt:lpstr>RPC Mechanism</vt:lpstr>
      <vt:lpstr>RPC Mechanism</vt:lpstr>
      <vt:lpstr>RPC Mechanism</vt:lpstr>
      <vt:lpstr>Steps in a Remote Procedure Call</vt:lpstr>
      <vt:lpstr>Steps in a Remote Procedure Call</vt:lpstr>
      <vt:lpstr>Server Management</vt:lpstr>
      <vt:lpstr>Stateful File Server</vt:lpstr>
      <vt:lpstr>Stateless File Server</vt:lpstr>
      <vt:lpstr>Stateless File Server</vt:lpstr>
      <vt:lpstr>Difference between Stateful &amp; Stateless</vt:lpstr>
      <vt:lpstr>Passing Value Parameters</vt:lpstr>
      <vt:lpstr>Passing Value Parameters</vt:lpstr>
      <vt:lpstr>Asynchronous RPC</vt:lpstr>
      <vt:lpstr>Asynchronous RPC</vt:lpstr>
      <vt:lpstr>Asynchronous RPC</vt:lpstr>
      <vt:lpstr>Message-oriented Transient Communication</vt:lpstr>
      <vt:lpstr>Berkeley Sockets</vt:lpstr>
      <vt:lpstr>The Message-Passing Interface (MPI)</vt:lpstr>
      <vt:lpstr>Message-passing primitives of MPI</vt:lpstr>
      <vt:lpstr>Message-Oriented Persistent Communication</vt:lpstr>
      <vt:lpstr>Message-Queuing Model</vt:lpstr>
      <vt:lpstr>Loosely-Coupled Communication</vt:lpstr>
      <vt:lpstr>Message-Oriented Persistent Communication</vt:lpstr>
      <vt:lpstr>General Architecture of a Message-Queuing System</vt:lpstr>
      <vt:lpstr>General organization of a message-queuing system with routers</vt:lpstr>
      <vt:lpstr>Stream-Oriented Communication</vt:lpstr>
      <vt:lpstr>Transmission Modes in Stream-Oriented Communication</vt:lpstr>
      <vt:lpstr>Types of Streams in Stream-Oriented Communication</vt:lpstr>
      <vt:lpstr>Quality of Service</vt:lpstr>
      <vt:lpstr>Multicast Communication</vt:lpstr>
      <vt:lpstr>Application-level multicasting</vt:lpstr>
      <vt:lpstr>Gossip‐Based Data Dissemination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Umesh Thoriya</dc:creator>
  <cp:lastModifiedBy>umesh patel</cp:lastModifiedBy>
  <cp:revision>1490</cp:revision>
  <dcterms:created xsi:type="dcterms:W3CDTF">2020-05-01T05:09:15Z</dcterms:created>
  <dcterms:modified xsi:type="dcterms:W3CDTF">2021-08-06T18:12:17Z</dcterms:modified>
</cp:coreProperties>
</file>