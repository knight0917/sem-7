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2"/>
  </p:notesMasterIdLst>
  <p:sldIdLst>
    <p:sldId id="283" r:id="rId2"/>
    <p:sldId id="410" r:id="rId3"/>
    <p:sldId id="843" r:id="rId4"/>
    <p:sldId id="745" r:id="rId5"/>
    <p:sldId id="455" r:id="rId6"/>
    <p:sldId id="736" r:id="rId7"/>
    <p:sldId id="734" r:id="rId8"/>
    <p:sldId id="497" r:id="rId9"/>
    <p:sldId id="737" r:id="rId10"/>
    <p:sldId id="721" r:id="rId11"/>
    <p:sldId id="722" r:id="rId12"/>
    <p:sldId id="723" r:id="rId13"/>
    <p:sldId id="849" r:id="rId14"/>
    <p:sldId id="740" r:id="rId15"/>
    <p:sldId id="741" r:id="rId16"/>
    <p:sldId id="742" r:id="rId17"/>
    <p:sldId id="743" r:id="rId18"/>
    <p:sldId id="853" r:id="rId19"/>
    <p:sldId id="724" r:id="rId20"/>
    <p:sldId id="854" r:id="rId21"/>
    <p:sldId id="866" r:id="rId22"/>
    <p:sldId id="855" r:id="rId23"/>
    <p:sldId id="856" r:id="rId24"/>
    <p:sldId id="857" r:id="rId25"/>
    <p:sldId id="859" r:id="rId26"/>
    <p:sldId id="860" r:id="rId27"/>
    <p:sldId id="861" r:id="rId28"/>
    <p:sldId id="725" r:id="rId29"/>
    <p:sldId id="746" r:id="rId30"/>
    <p:sldId id="862" r:id="rId31"/>
    <p:sldId id="863" r:id="rId32"/>
    <p:sldId id="864" r:id="rId33"/>
    <p:sldId id="865" r:id="rId34"/>
    <p:sldId id="726" r:id="rId35"/>
    <p:sldId id="727" r:id="rId36"/>
    <p:sldId id="748" r:id="rId37"/>
    <p:sldId id="648" r:id="rId38"/>
    <p:sldId id="501" r:id="rId39"/>
    <p:sldId id="744" r:id="rId40"/>
    <p:sldId id="728" r:id="rId41"/>
    <p:sldId id="867" r:id="rId42"/>
    <p:sldId id="504" r:id="rId43"/>
    <p:sldId id="730" r:id="rId44"/>
    <p:sldId id="507" r:id="rId45"/>
    <p:sldId id="662" r:id="rId46"/>
    <p:sldId id="801" r:id="rId47"/>
    <p:sldId id="749" r:id="rId48"/>
    <p:sldId id="663" r:id="rId49"/>
    <p:sldId id="677" r:id="rId50"/>
    <p:sldId id="750" r:id="rId51"/>
    <p:sldId id="751" r:id="rId52"/>
    <p:sldId id="678" r:id="rId53"/>
    <p:sldId id="756" r:id="rId54"/>
    <p:sldId id="752" r:id="rId55"/>
    <p:sldId id="753" r:id="rId56"/>
    <p:sldId id="754" r:id="rId57"/>
    <p:sldId id="870" r:id="rId58"/>
    <p:sldId id="871" r:id="rId59"/>
    <p:sldId id="757" r:id="rId60"/>
    <p:sldId id="679" r:id="rId61"/>
    <p:sldId id="680" r:id="rId62"/>
    <p:sldId id="758" r:id="rId63"/>
    <p:sldId id="683" r:id="rId64"/>
    <p:sldId id="759" r:id="rId65"/>
    <p:sldId id="684" r:id="rId66"/>
    <p:sldId id="760" r:id="rId67"/>
    <p:sldId id="685" r:id="rId68"/>
    <p:sldId id="670" r:id="rId69"/>
    <p:sldId id="692" r:id="rId70"/>
    <p:sldId id="761" r:id="rId71"/>
    <p:sldId id="693" r:id="rId72"/>
    <p:sldId id="762" r:id="rId73"/>
    <p:sldId id="524" r:id="rId74"/>
    <p:sldId id="763" r:id="rId75"/>
    <p:sldId id="764" r:id="rId76"/>
    <p:sldId id="765" r:id="rId77"/>
    <p:sldId id="525" r:id="rId78"/>
    <p:sldId id="766" r:id="rId79"/>
    <p:sldId id="767" r:id="rId80"/>
    <p:sldId id="672" r:id="rId81"/>
    <p:sldId id="768" r:id="rId82"/>
    <p:sldId id="542" r:id="rId83"/>
    <p:sldId id="691" r:id="rId84"/>
    <p:sldId id="842" r:id="rId85"/>
    <p:sldId id="803" r:id="rId86"/>
    <p:sldId id="804" r:id="rId87"/>
    <p:sldId id="805" r:id="rId88"/>
    <p:sldId id="806" r:id="rId89"/>
    <p:sldId id="807" r:id="rId90"/>
    <p:sldId id="808" r:id="rId91"/>
    <p:sldId id="809" r:id="rId92"/>
    <p:sldId id="810" r:id="rId93"/>
    <p:sldId id="811" r:id="rId94"/>
    <p:sldId id="812" r:id="rId95"/>
    <p:sldId id="813" r:id="rId96"/>
    <p:sldId id="814" r:id="rId97"/>
    <p:sldId id="815" r:id="rId98"/>
    <p:sldId id="816" r:id="rId99"/>
    <p:sldId id="817" r:id="rId100"/>
    <p:sldId id="818" r:id="rId101"/>
    <p:sldId id="819" r:id="rId102"/>
    <p:sldId id="820" r:id="rId103"/>
    <p:sldId id="821" r:id="rId104"/>
    <p:sldId id="701" r:id="rId105"/>
    <p:sldId id="823" r:id="rId106"/>
    <p:sldId id="824" r:id="rId107"/>
    <p:sldId id="822" r:id="rId108"/>
    <p:sldId id="826" r:id="rId109"/>
    <p:sldId id="827" r:id="rId110"/>
    <p:sldId id="825" r:id="rId111"/>
    <p:sldId id="829" r:id="rId112"/>
    <p:sldId id="830" r:id="rId113"/>
    <p:sldId id="831" r:id="rId114"/>
    <p:sldId id="832" r:id="rId115"/>
    <p:sldId id="833" r:id="rId116"/>
    <p:sldId id="828" r:id="rId117"/>
    <p:sldId id="835" r:id="rId118"/>
    <p:sldId id="834" r:id="rId119"/>
    <p:sldId id="837" r:id="rId120"/>
    <p:sldId id="844" r:id="rId121"/>
    <p:sldId id="836" r:id="rId122"/>
    <p:sldId id="779" r:id="rId123"/>
    <p:sldId id="581" r:id="rId124"/>
    <p:sldId id="458" r:id="rId125"/>
    <p:sldId id="706" r:id="rId126"/>
    <p:sldId id="780" r:id="rId127"/>
    <p:sldId id="838" r:id="rId128"/>
    <p:sldId id="839" r:id="rId129"/>
    <p:sldId id="840" r:id="rId130"/>
    <p:sldId id="841" r:id="rId1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SW+8yviEcrte/aGqXFosBg==" hashData="tqIakPMQnqKqupRklCDc3UiVZ7gsbTT2VAIWmnMxTKT8im5xdw5D7HWQW8voK+eYm4XelhMK/DTWgqT5MwNI2g=="/>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3755"/>
    <a:srgbClr val="1D3064"/>
    <a:srgbClr val="1D9A78"/>
    <a:srgbClr val="8BCBBA"/>
    <a:srgbClr val="7D5008"/>
    <a:srgbClr val="BAD3CB"/>
    <a:srgbClr val="0000FF"/>
    <a:srgbClr val="FFFF00"/>
    <a:srgbClr val="C00000"/>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618" y="60"/>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F017F7-A673-4BC0-A7E3-DD2B6928D0DA}"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26F523FB-0684-4445-8A5A-07CB51F51F53}">
      <dgm:prSet phldrT="[Text]" custT="1"/>
      <dgm:spPr>
        <a:solidFill>
          <a:schemeClr val="bg1"/>
        </a:solidFill>
        <a:ln w="28575">
          <a:solidFill>
            <a:schemeClr val="tx2"/>
          </a:solidFill>
        </a:ln>
      </dgm:spPr>
      <dgm:t>
        <a:bodyPr/>
        <a:lstStyle/>
        <a:p>
          <a:r>
            <a:rPr lang="en-US" sz="2400" dirty="0">
              <a:solidFill>
                <a:schemeClr val="tx1"/>
              </a:solidFill>
            </a:rPr>
            <a:t>File sharing semantics</a:t>
          </a:r>
        </a:p>
      </dgm:t>
    </dgm:pt>
    <dgm:pt modelId="{6E398656-8C20-43B0-8D71-BB61A934BF4C}" type="parTrans" cxnId="{515879F5-D139-4ACF-9453-260889785AD3}">
      <dgm:prSet/>
      <dgm:spPr/>
      <dgm:t>
        <a:bodyPr/>
        <a:lstStyle/>
        <a:p>
          <a:endParaRPr lang="en-US" sz="2000"/>
        </a:p>
      </dgm:t>
    </dgm:pt>
    <dgm:pt modelId="{342E7121-10E1-4922-BB6B-4BEFA311438B}" type="sibTrans" cxnId="{515879F5-D139-4ACF-9453-260889785AD3}">
      <dgm:prSet/>
      <dgm:spPr/>
      <dgm:t>
        <a:bodyPr/>
        <a:lstStyle/>
        <a:p>
          <a:endParaRPr lang="en-US" sz="2000"/>
        </a:p>
      </dgm:t>
    </dgm:pt>
    <dgm:pt modelId="{E664B7C9-A4B7-46ED-8DAD-511A48C45082}" type="asst">
      <dgm:prSet phldrT="[Text]" custT="1"/>
      <dgm:spPr>
        <a:solidFill>
          <a:schemeClr val="bg1"/>
        </a:solidFill>
        <a:ln w="28575">
          <a:solidFill>
            <a:schemeClr val="tx2"/>
          </a:solidFill>
        </a:ln>
      </dgm:spPr>
      <dgm:t>
        <a:bodyPr/>
        <a:lstStyle/>
        <a:p>
          <a:r>
            <a:rPr lang="en-US" sz="2400" dirty="0">
              <a:solidFill>
                <a:schemeClr val="tx1"/>
              </a:solidFill>
            </a:rPr>
            <a:t>Unix file semantics</a:t>
          </a:r>
        </a:p>
      </dgm:t>
    </dgm:pt>
    <dgm:pt modelId="{15C73F2B-4F6A-4782-99AF-148DAB9A314F}" type="parTrans" cxnId="{B30265B5-1BB9-43FA-B619-550EA5141DB7}">
      <dgm:prSet/>
      <dgm:spPr>
        <a:ln>
          <a:solidFill>
            <a:schemeClr val="tx2"/>
          </a:solidFill>
        </a:ln>
      </dgm:spPr>
      <dgm:t>
        <a:bodyPr/>
        <a:lstStyle/>
        <a:p>
          <a:endParaRPr lang="en-US" sz="2000"/>
        </a:p>
      </dgm:t>
    </dgm:pt>
    <dgm:pt modelId="{2EC9E313-8E5B-47BA-A157-B8F9CCC2972C}" type="sibTrans" cxnId="{B30265B5-1BB9-43FA-B619-550EA5141DB7}">
      <dgm:prSet/>
      <dgm:spPr/>
      <dgm:t>
        <a:bodyPr/>
        <a:lstStyle/>
        <a:p>
          <a:endParaRPr lang="en-US" sz="2000"/>
        </a:p>
      </dgm:t>
    </dgm:pt>
    <dgm:pt modelId="{2D3B71AB-DEC6-4B4C-A095-FCFAC67BF738}" type="asst">
      <dgm:prSet custT="1"/>
      <dgm:spPr>
        <a:solidFill>
          <a:schemeClr val="bg1"/>
        </a:solidFill>
        <a:ln w="28575">
          <a:solidFill>
            <a:schemeClr val="tx2"/>
          </a:solidFill>
        </a:ln>
      </dgm:spPr>
      <dgm:t>
        <a:bodyPr/>
        <a:lstStyle/>
        <a:p>
          <a:r>
            <a:rPr lang="en-US" sz="2400" dirty="0">
              <a:solidFill>
                <a:schemeClr val="tx1"/>
              </a:solidFill>
            </a:rPr>
            <a:t>Session semantics</a:t>
          </a:r>
        </a:p>
      </dgm:t>
    </dgm:pt>
    <dgm:pt modelId="{45F81992-53FA-4171-90E9-89C413384013}" type="parTrans" cxnId="{B09148A1-212D-415C-AE45-5413A11A18F5}">
      <dgm:prSet/>
      <dgm:spPr>
        <a:ln>
          <a:solidFill>
            <a:schemeClr val="tx2"/>
          </a:solidFill>
        </a:ln>
      </dgm:spPr>
      <dgm:t>
        <a:bodyPr/>
        <a:lstStyle/>
        <a:p>
          <a:endParaRPr lang="en-US" sz="2000"/>
        </a:p>
      </dgm:t>
    </dgm:pt>
    <dgm:pt modelId="{95DE64A5-050B-424E-8D96-FD7F46639F15}" type="sibTrans" cxnId="{B09148A1-212D-415C-AE45-5413A11A18F5}">
      <dgm:prSet/>
      <dgm:spPr/>
      <dgm:t>
        <a:bodyPr/>
        <a:lstStyle/>
        <a:p>
          <a:endParaRPr lang="en-US" sz="2000"/>
        </a:p>
      </dgm:t>
    </dgm:pt>
    <dgm:pt modelId="{0D42FF9C-AA05-40C0-BA3B-9A970A634890}" type="asst">
      <dgm:prSet custT="1"/>
      <dgm:spPr>
        <a:solidFill>
          <a:schemeClr val="bg1"/>
        </a:solidFill>
        <a:ln w="28575">
          <a:solidFill>
            <a:schemeClr val="tx2"/>
          </a:solidFill>
        </a:ln>
      </dgm:spPr>
      <dgm:t>
        <a:bodyPr/>
        <a:lstStyle/>
        <a:p>
          <a:r>
            <a:rPr lang="en-US" sz="2400" dirty="0">
              <a:solidFill>
                <a:schemeClr val="tx1"/>
              </a:solidFill>
            </a:rPr>
            <a:t>Immutable file semantics</a:t>
          </a:r>
        </a:p>
      </dgm:t>
    </dgm:pt>
    <dgm:pt modelId="{6184BB57-1047-4C09-8AD2-048A863EDD48}" type="parTrans" cxnId="{0A8B781C-2E56-4887-8C58-CB3446180368}">
      <dgm:prSet/>
      <dgm:spPr>
        <a:ln>
          <a:solidFill>
            <a:schemeClr val="tx2"/>
          </a:solidFill>
        </a:ln>
      </dgm:spPr>
      <dgm:t>
        <a:bodyPr/>
        <a:lstStyle/>
        <a:p>
          <a:endParaRPr lang="en-US" sz="2000"/>
        </a:p>
      </dgm:t>
    </dgm:pt>
    <dgm:pt modelId="{FDA8B131-F7B1-4639-85D4-C986C69A1BB7}" type="sibTrans" cxnId="{0A8B781C-2E56-4887-8C58-CB3446180368}">
      <dgm:prSet/>
      <dgm:spPr/>
      <dgm:t>
        <a:bodyPr/>
        <a:lstStyle/>
        <a:p>
          <a:endParaRPr lang="en-US" sz="2000"/>
        </a:p>
      </dgm:t>
    </dgm:pt>
    <dgm:pt modelId="{507C8747-C47A-4E7B-A76E-33A84D63C686}" type="asst">
      <dgm:prSet custT="1"/>
      <dgm:spPr>
        <a:solidFill>
          <a:schemeClr val="bg1"/>
        </a:solidFill>
        <a:ln w="28575">
          <a:solidFill>
            <a:schemeClr val="tx2"/>
          </a:solidFill>
        </a:ln>
      </dgm:spPr>
      <dgm:t>
        <a:bodyPr/>
        <a:lstStyle/>
        <a:p>
          <a:r>
            <a:rPr lang="en-US" sz="2400" dirty="0">
              <a:solidFill>
                <a:schemeClr val="tx1"/>
              </a:solidFill>
            </a:rPr>
            <a:t>Transaction-like semantics</a:t>
          </a:r>
        </a:p>
      </dgm:t>
    </dgm:pt>
    <dgm:pt modelId="{A13D9D2C-8096-4257-BA66-A8B5415EAFB0}" type="parTrans" cxnId="{1971B3CB-94B7-4C89-9485-B91236CD5D7E}">
      <dgm:prSet/>
      <dgm:spPr>
        <a:ln>
          <a:solidFill>
            <a:schemeClr val="tx2"/>
          </a:solidFill>
        </a:ln>
      </dgm:spPr>
      <dgm:t>
        <a:bodyPr/>
        <a:lstStyle/>
        <a:p>
          <a:endParaRPr lang="en-US" sz="2000"/>
        </a:p>
      </dgm:t>
    </dgm:pt>
    <dgm:pt modelId="{6249DBB1-20AA-47C6-9AA1-557AB864C029}" type="sibTrans" cxnId="{1971B3CB-94B7-4C89-9485-B91236CD5D7E}">
      <dgm:prSet/>
      <dgm:spPr/>
      <dgm:t>
        <a:bodyPr/>
        <a:lstStyle/>
        <a:p>
          <a:endParaRPr lang="en-US" sz="2000"/>
        </a:p>
      </dgm:t>
    </dgm:pt>
    <dgm:pt modelId="{D5C1E28E-2428-4A04-A7AB-2F655E59822C}" type="pres">
      <dgm:prSet presAssocID="{92F017F7-A673-4BC0-A7E3-DD2B6928D0DA}" presName="mainComposite" presStyleCnt="0">
        <dgm:presLayoutVars>
          <dgm:chPref val="1"/>
          <dgm:dir/>
          <dgm:animOne val="branch"/>
          <dgm:animLvl val="lvl"/>
          <dgm:resizeHandles val="exact"/>
        </dgm:presLayoutVars>
      </dgm:prSet>
      <dgm:spPr/>
      <dgm:t>
        <a:bodyPr/>
        <a:lstStyle/>
        <a:p>
          <a:endParaRPr lang="en-IN"/>
        </a:p>
      </dgm:t>
    </dgm:pt>
    <dgm:pt modelId="{1910229B-76D6-4A03-9E5B-CE575EE5A05C}" type="pres">
      <dgm:prSet presAssocID="{92F017F7-A673-4BC0-A7E3-DD2B6928D0DA}" presName="hierFlow" presStyleCnt="0"/>
      <dgm:spPr/>
    </dgm:pt>
    <dgm:pt modelId="{4F54EAF7-E474-4F54-90EF-7F5795EE7136}" type="pres">
      <dgm:prSet presAssocID="{92F017F7-A673-4BC0-A7E3-DD2B6928D0DA}" presName="hierChild1" presStyleCnt="0">
        <dgm:presLayoutVars>
          <dgm:chPref val="1"/>
          <dgm:animOne val="branch"/>
          <dgm:animLvl val="lvl"/>
        </dgm:presLayoutVars>
      </dgm:prSet>
      <dgm:spPr/>
    </dgm:pt>
    <dgm:pt modelId="{2C8DE783-2B5B-4BFC-A2B2-9E4F617D411A}" type="pres">
      <dgm:prSet presAssocID="{26F523FB-0684-4445-8A5A-07CB51F51F53}" presName="Name14" presStyleCnt="0"/>
      <dgm:spPr/>
    </dgm:pt>
    <dgm:pt modelId="{90369306-58DE-417A-BF19-970FA24BF4FE}" type="pres">
      <dgm:prSet presAssocID="{26F523FB-0684-4445-8A5A-07CB51F51F53}" presName="level1Shape" presStyleLbl="node0" presStyleIdx="0" presStyleCnt="1">
        <dgm:presLayoutVars>
          <dgm:chPref val="3"/>
        </dgm:presLayoutVars>
      </dgm:prSet>
      <dgm:spPr/>
      <dgm:t>
        <a:bodyPr/>
        <a:lstStyle/>
        <a:p>
          <a:endParaRPr lang="en-IN"/>
        </a:p>
      </dgm:t>
    </dgm:pt>
    <dgm:pt modelId="{A9C1F4D0-4AA6-4D93-AD44-826D2160F1B6}" type="pres">
      <dgm:prSet presAssocID="{26F523FB-0684-4445-8A5A-07CB51F51F53}" presName="hierChild2" presStyleCnt="0"/>
      <dgm:spPr/>
    </dgm:pt>
    <dgm:pt modelId="{F42348BA-F8B8-4FC4-B696-99B94BEFB337}" type="pres">
      <dgm:prSet presAssocID="{15C73F2B-4F6A-4782-99AF-148DAB9A314F}" presName="Name19" presStyleLbl="parChTrans1D2" presStyleIdx="0" presStyleCnt="4"/>
      <dgm:spPr/>
      <dgm:t>
        <a:bodyPr/>
        <a:lstStyle/>
        <a:p>
          <a:endParaRPr lang="en-IN"/>
        </a:p>
      </dgm:t>
    </dgm:pt>
    <dgm:pt modelId="{0986DB49-BB89-45D2-ABDD-238AC2BB4D41}" type="pres">
      <dgm:prSet presAssocID="{E664B7C9-A4B7-46ED-8DAD-511A48C45082}" presName="Name21" presStyleCnt="0"/>
      <dgm:spPr/>
    </dgm:pt>
    <dgm:pt modelId="{8A81B1A0-764E-4D3D-9E64-2B1635CCD529}" type="pres">
      <dgm:prSet presAssocID="{E664B7C9-A4B7-46ED-8DAD-511A48C45082}" presName="level2Shape" presStyleLbl="asst1" presStyleIdx="0" presStyleCnt="4"/>
      <dgm:spPr/>
      <dgm:t>
        <a:bodyPr/>
        <a:lstStyle/>
        <a:p>
          <a:endParaRPr lang="en-IN"/>
        </a:p>
      </dgm:t>
    </dgm:pt>
    <dgm:pt modelId="{02507C40-7711-49CF-AB03-C2BB55FEACCA}" type="pres">
      <dgm:prSet presAssocID="{E664B7C9-A4B7-46ED-8DAD-511A48C45082}" presName="hierChild3" presStyleCnt="0"/>
      <dgm:spPr/>
    </dgm:pt>
    <dgm:pt modelId="{AC77CB1F-C8B6-44D1-83D2-25710E35560A}" type="pres">
      <dgm:prSet presAssocID="{45F81992-53FA-4171-90E9-89C413384013}" presName="Name19" presStyleLbl="parChTrans1D2" presStyleIdx="1" presStyleCnt="4"/>
      <dgm:spPr/>
      <dgm:t>
        <a:bodyPr/>
        <a:lstStyle/>
        <a:p>
          <a:endParaRPr lang="en-IN"/>
        </a:p>
      </dgm:t>
    </dgm:pt>
    <dgm:pt modelId="{8285F8E9-B376-48F2-91D1-1F2F9B88EBBF}" type="pres">
      <dgm:prSet presAssocID="{2D3B71AB-DEC6-4B4C-A095-FCFAC67BF738}" presName="Name21" presStyleCnt="0"/>
      <dgm:spPr/>
    </dgm:pt>
    <dgm:pt modelId="{2F3B358F-288E-4DED-B01A-C2B1E6EE8FED}" type="pres">
      <dgm:prSet presAssocID="{2D3B71AB-DEC6-4B4C-A095-FCFAC67BF738}" presName="level2Shape" presStyleLbl="asst1" presStyleIdx="1" presStyleCnt="4"/>
      <dgm:spPr/>
      <dgm:t>
        <a:bodyPr/>
        <a:lstStyle/>
        <a:p>
          <a:endParaRPr lang="en-IN"/>
        </a:p>
      </dgm:t>
    </dgm:pt>
    <dgm:pt modelId="{456256F1-566D-4B4F-B2F8-37EEED0DE9E3}" type="pres">
      <dgm:prSet presAssocID="{2D3B71AB-DEC6-4B4C-A095-FCFAC67BF738}" presName="hierChild3" presStyleCnt="0"/>
      <dgm:spPr/>
    </dgm:pt>
    <dgm:pt modelId="{00733C02-569B-4D71-AC14-ABDCF2C137A2}" type="pres">
      <dgm:prSet presAssocID="{6184BB57-1047-4C09-8AD2-048A863EDD48}" presName="Name19" presStyleLbl="parChTrans1D2" presStyleIdx="2" presStyleCnt="4"/>
      <dgm:spPr/>
      <dgm:t>
        <a:bodyPr/>
        <a:lstStyle/>
        <a:p>
          <a:endParaRPr lang="en-IN"/>
        </a:p>
      </dgm:t>
    </dgm:pt>
    <dgm:pt modelId="{24886489-0638-4D38-B4E0-AA86D134AC51}" type="pres">
      <dgm:prSet presAssocID="{0D42FF9C-AA05-40C0-BA3B-9A970A634890}" presName="Name21" presStyleCnt="0"/>
      <dgm:spPr/>
    </dgm:pt>
    <dgm:pt modelId="{CE8542C9-B645-4126-B5A9-58934009DB0A}" type="pres">
      <dgm:prSet presAssocID="{0D42FF9C-AA05-40C0-BA3B-9A970A634890}" presName="level2Shape" presStyleLbl="asst1" presStyleIdx="2" presStyleCnt="4"/>
      <dgm:spPr/>
      <dgm:t>
        <a:bodyPr/>
        <a:lstStyle/>
        <a:p>
          <a:endParaRPr lang="en-IN"/>
        </a:p>
      </dgm:t>
    </dgm:pt>
    <dgm:pt modelId="{640CC87D-8E13-4AF4-83D0-EE4F509EC441}" type="pres">
      <dgm:prSet presAssocID="{0D42FF9C-AA05-40C0-BA3B-9A970A634890}" presName="hierChild3" presStyleCnt="0"/>
      <dgm:spPr/>
    </dgm:pt>
    <dgm:pt modelId="{6BDC9154-73E0-4D0F-BE24-AAED6E3205FB}" type="pres">
      <dgm:prSet presAssocID="{A13D9D2C-8096-4257-BA66-A8B5415EAFB0}" presName="Name19" presStyleLbl="parChTrans1D2" presStyleIdx="3" presStyleCnt="4"/>
      <dgm:spPr/>
      <dgm:t>
        <a:bodyPr/>
        <a:lstStyle/>
        <a:p>
          <a:endParaRPr lang="en-IN"/>
        </a:p>
      </dgm:t>
    </dgm:pt>
    <dgm:pt modelId="{AB150B8A-D3D3-4F04-B5F5-91CC6609D881}" type="pres">
      <dgm:prSet presAssocID="{507C8747-C47A-4E7B-A76E-33A84D63C686}" presName="Name21" presStyleCnt="0"/>
      <dgm:spPr/>
    </dgm:pt>
    <dgm:pt modelId="{37B78DC1-C49E-432A-B323-EBD2BF1B6B7A}" type="pres">
      <dgm:prSet presAssocID="{507C8747-C47A-4E7B-A76E-33A84D63C686}" presName="level2Shape" presStyleLbl="asst1" presStyleIdx="3" presStyleCnt="4" custScaleX="123897"/>
      <dgm:spPr/>
      <dgm:t>
        <a:bodyPr/>
        <a:lstStyle/>
        <a:p>
          <a:endParaRPr lang="en-IN"/>
        </a:p>
      </dgm:t>
    </dgm:pt>
    <dgm:pt modelId="{B4B9A489-CD8C-4AC9-A6A6-C5824E232030}" type="pres">
      <dgm:prSet presAssocID="{507C8747-C47A-4E7B-A76E-33A84D63C686}" presName="hierChild3" presStyleCnt="0"/>
      <dgm:spPr/>
    </dgm:pt>
    <dgm:pt modelId="{A5D32D90-3CAA-4264-8B22-C3F4AB9791BA}" type="pres">
      <dgm:prSet presAssocID="{92F017F7-A673-4BC0-A7E3-DD2B6928D0DA}" presName="bgShapesFlow" presStyleCnt="0"/>
      <dgm:spPr/>
    </dgm:pt>
  </dgm:ptLst>
  <dgm:cxnLst>
    <dgm:cxn modelId="{9A186861-D41C-4A41-9F62-BD65C313272B}" type="presOf" srcId="{92F017F7-A673-4BC0-A7E3-DD2B6928D0DA}" destId="{D5C1E28E-2428-4A04-A7AB-2F655E59822C}" srcOrd="0" destOrd="0" presId="urn:microsoft.com/office/officeart/2005/8/layout/hierarchy6"/>
    <dgm:cxn modelId="{0A8B781C-2E56-4887-8C58-CB3446180368}" srcId="{26F523FB-0684-4445-8A5A-07CB51F51F53}" destId="{0D42FF9C-AA05-40C0-BA3B-9A970A634890}" srcOrd="2" destOrd="0" parTransId="{6184BB57-1047-4C09-8AD2-048A863EDD48}" sibTransId="{FDA8B131-F7B1-4639-85D4-C986C69A1BB7}"/>
    <dgm:cxn modelId="{B09148A1-212D-415C-AE45-5413A11A18F5}" srcId="{26F523FB-0684-4445-8A5A-07CB51F51F53}" destId="{2D3B71AB-DEC6-4B4C-A095-FCFAC67BF738}" srcOrd="1" destOrd="0" parTransId="{45F81992-53FA-4171-90E9-89C413384013}" sibTransId="{95DE64A5-050B-424E-8D96-FD7F46639F15}"/>
    <dgm:cxn modelId="{515879F5-D139-4ACF-9453-260889785AD3}" srcId="{92F017F7-A673-4BC0-A7E3-DD2B6928D0DA}" destId="{26F523FB-0684-4445-8A5A-07CB51F51F53}" srcOrd="0" destOrd="0" parTransId="{6E398656-8C20-43B0-8D71-BB61A934BF4C}" sibTransId="{342E7121-10E1-4922-BB6B-4BEFA311438B}"/>
    <dgm:cxn modelId="{1971B3CB-94B7-4C89-9485-B91236CD5D7E}" srcId="{26F523FB-0684-4445-8A5A-07CB51F51F53}" destId="{507C8747-C47A-4E7B-A76E-33A84D63C686}" srcOrd="3" destOrd="0" parTransId="{A13D9D2C-8096-4257-BA66-A8B5415EAFB0}" sibTransId="{6249DBB1-20AA-47C6-9AA1-557AB864C029}"/>
    <dgm:cxn modelId="{88EF3CDF-58FC-4E28-8838-B0738AD1CE34}" type="presOf" srcId="{6184BB57-1047-4C09-8AD2-048A863EDD48}" destId="{00733C02-569B-4D71-AC14-ABDCF2C137A2}" srcOrd="0" destOrd="0" presId="urn:microsoft.com/office/officeart/2005/8/layout/hierarchy6"/>
    <dgm:cxn modelId="{5D171A4B-145A-4827-9DE6-CEB3F25698E2}" type="presOf" srcId="{45F81992-53FA-4171-90E9-89C413384013}" destId="{AC77CB1F-C8B6-44D1-83D2-25710E35560A}" srcOrd="0" destOrd="0" presId="urn:microsoft.com/office/officeart/2005/8/layout/hierarchy6"/>
    <dgm:cxn modelId="{B30265B5-1BB9-43FA-B619-550EA5141DB7}" srcId="{26F523FB-0684-4445-8A5A-07CB51F51F53}" destId="{E664B7C9-A4B7-46ED-8DAD-511A48C45082}" srcOrd="0" destOrd="0" parTransId="{15C73F2B-4F6A-4782-99AF-148DAB9A314F}" sibTransId="{2EC9E313-8E5B-47BA-A157-B8F9CCC2972C}"/>
    <dgm:cxn modelId="{4242FB94-8382-4F85-94E8-B835EBA59DE7}" type="presOf" srcId="{26F523FB-0684-4445-8A5A-07CB51F51F53}" destId="{90369306-58DE-417A-BF19-970FA24BF4FE}" srcOrd="0" destOrd="0" presId="urn:microsoft.com/office/officeart/2005/8/layout/hierarchy6"/>
    <dgm:cxn modelId="{D04B3D5F-667A-4C76-8ED3-FCCD27D536BE}" type="presOf" srcId="{507C8747-C47A-4E7B-A76E-33A84D63C686}" destId="{37B78DC1-C49E-432A-B323-EBD2BF1B6B7A}" srcOrd="0" destOrd="0" presId="urn:microsoft.com/office/officeart/2005/8/layout/hierarchy6"/>
    <dgm:cxn modelId="{181F1A6A-9D5F-4169-9FFA-959026A8CEAC}" type="presOf" srcId="{2D3B71AB-DEC6-4B4C-A095-FCFAC67BF738}" destId="{2F3B358F-288E-4DED-B01A-C2B1E6EE8FED}" srcOrd="0" destOrd="0" presId="urn:microsoft.com/office/officeart/2005/8/layout/hierarchy6"/>
    <dgm:cxn modelId="{7C806CD4-246D-4CB1-9332-921B9F486B5E}" type="presOf" srcId="{E664B7C9-A4B7-46ED-8DAD-511A48C45082}" destId="{8A81B1A0-764E-4D3D-9E64-2B1635CCD529}" srcOrd="0" destOrd="0" presId="urn:microsoft.com/office/officeart/2005/8/layout/hierarchy6"/>
    <dgm:cxn modelId="{C9444689-47D1-442D-B0A6-CBB7D2EE7B17}" type="presOf" srcId="{A13D9D2C-8096-4257-BA66-A8B5415EAFB0}" destId="{6BDC9154-73E0-4D0F-BE24-AAED6E3205FB}" srcOrd="0" destOrd="0" presId="urn:microsoft.com/office/officeart/2005/8/layout/hierarchy6"/>
    <dgm:cxn modelId="{6E34454B-7D71-42EC-82F5-0F1576E4C296}" type="presOf" srcId="{15C73F2B-4F6A-4782-99AF-148DAB9A314F}" destId="{F42348BA-F8B8-4FC4-B696-99B94BEFB337}" srcOrd="0" destOrd="0" presId="urn:microsoft.com/office/officeart/2005/8/layout/hierarchy6"/>
    <dgm:cxn modelId="{5A9A071C-D97E-48B2-B080-9B14AF4562E7}" type="presOf" srcId="{0D42FF9C-AA05-40C0-BA3B-9A970A634890}" destId="{CE8542C9-B645-4126-B5A9-58934009DB0A}" srcOrd="0" destOrd="0" presId="urn:microsoft.com/office/officeart/2005/8/layout/hierarchy6"/>
    <dgm:cxn modelId="{8E9921D6-5242-4DD0-A622-3B3D6328B143}" type="presParOf" srcId="{D5C1E28E-2428-4A04-A7AB-2F655E59822C}" destId="{1910229B-76D6-4A03-9E5B-CE575EE5A05C}" srcOrd="0" destOrd="0" presId="urn:microsoft.com/office/officeart/2005/8/layout/hierarchy6"/>
    <dgm:cxn modelId="{A9E2FC98-A086-43D2-9EE2-8B2A83BC0BB4}" type="presParOf" srcId="{1910229B-76D6-4A03-9E5B-CE575EE5A05C}" destId="{4F54EAF7-E474-4F54-90EF-7F5795EE7136}" srcOrd="0" destOrd="0" presId="urn:microsoft.com/office/officeart/2005/8/layout/hierarchy6"/>
    <dgm:cxn modelId="{ACB86716-DE5D-496A-98B9-6D442FC94052}" type="presParOf" srcId="{4F54EAF7-E474-4F54-90EF-7F5795EE7136}" destId="{2C8DE783-2B5B-4BFC-A2B2-9E4F617D411A}" srcOrd="0" destOrd="0" presId="urn:microsoft.com/office/officeart/2005/8/layout/hierarchy6"/>
    <dgm:cxn modelId="{18B271E6-5BBB-4476-A9AA-C6000A3A81E3}" type="presParOf" srcId="{2C8DE783-2B5B-4BFC-A2B2-9E4F617D411A}" destId="{90369306-58DE-417A-BF19-970FA24BF4FE}" srcOrd="0" destOrd="0" presId="urn:microsoft.com/office/officeart/2005/8/layout/hierarchy6"/>
    <dgm:cxn modelId="{22AAC169-7BC9-4291-B5E1-E3D8656F8452}" type="presParOf" srcId="{2C8DE783-2B5B-4BFC-A2B2-9E4F617D411A}" destId="{A9C1F4D0-4AA6-4D93-AD44-826D2160F1B6}" srcOrd="1" destOrd="0" presId="urn:microsoft.com/office/officeart/2005/8/layout/hierarchy6"/>
    <dgm:cxn modelId="{21C3B810-54FF-4F67-A188-E0A89BBA7381}" type="presParOf" srcId="{A9C1F4D0-4AA6-4D93-AD44-826D2160F1B6}" destId="{F42348BA-F8B8-4FC4-B696-99B94BEFB337}" srcOrd="0" destOrd="0" presId="urn:microsoft.com/office/officeart/2005/8/layout/hierarchy6"/>
    <dgm:cxn modelId="{FB87CFC3-D10F-4D12-9A4E-EF8D0B2A1AD4}" type="presParOf" srcId="{A9C1F4D0-4AA6-4D93-AD44-826D2160F1B6}" destId="{0986DB49-BB89-45D2-ABDD-238AC2BB4D41}" srcOrd="1" destOrd="0" presId="urn:microsoft.com/office/officeart/2005/8/layout/hierarchy6"/>
    <dgm:cxn modelId="{9B4C9E84-5B4A-4C4E-962E-69B78BD10BFE}" type="presParOf" srcId="{0986DB49-BB89-45D2-ABDD-238AC2BB4D41}" destId="{8A81B1A0-764E-4D3D-9E64-2B1635CCD529}" srcOrd="0" destOrd="0" presId="urn:microsoft.com/office/officeart/2005/8/layout/hierarchy6"/>
    <dgm:cxn modelId="{CBB8F519-3F92-40B2-8318-5A2AD912F13E}" type="presParOf" srcId="{0986DB49-BB89-45D2-ABDD-238AC2BB4D41}" destId="{02507C40-7711-49CF-AB03-C2BB55FEACCA}" srcOrd="1" destOrd="0" presId="urn:microsoft.com/office/officeart/2005/8/layout/hierarchy6"/>
    <dgm:cxn modelId="{4622004D-0DD7-406B-978D-8C9F5221D51A}" type="presParOf" srcId="{A9C1F4D0-4AA6-4D93-AD44-826D2160F1B6}" destId="{AC77CB1F-C8B6-44D1-83D2-25710E35560A}" srcOrd="2" destOrd="0" presId="urn:microsoft.com/office/officeart/2005/8/layout/hierarchy6"/>
    <dgm:cxn modelId="{DA287770-8BCB-42C4-BBB1-12FD56888329}" type="presParOf" srcId="{A9C1F4D0-4AA6-4D93-AD44-826D2160F1B6}" destId="{8285F8E9-B376-48F2-91D1-1F2F9B88EBBF}" srcOrd="3" destOrd="0" presId="urn:microsoft.com/office/officeart/2005/8/layout/hierarchy6"/>
    <dgm:cxn modelId="{F5581168-06AC-4D5A-BCA2-88097633C1B6}" type="presParOf" srcId="{8285F8E9-B376-48F2-91D1-1F2F9B88EBBF}" destId="{2F3B358F-288E-4DED-B01A-C2B1E6EE8FED}" srcOrd="0" destOrd="0" presId="urn:microsoft.com/office/officeart/2005/8/layout/hierarchy6"/>
    <dgm:cxn modelId="{F4C8FE14-E1A4-4556-B195-B463BB42F2CF}" type="presParOf" srcId="{8285F8E9-B376-48F2-91D1-1F2F9B88EBBF}" destId="{456256F1-566D-4B4F-B2F8-37EEED0DE9E3}" srcOrd="1" destOrd="0" presId="urn:microsoft.com/office/officeart/2005/8/layout/hierarchy6"/>
    <dgm:cxn modelId="{6C5E25E1-7BBE-4547-97BE-94F011A84EF7}" type="presParOf" srcId="{A9C1F4D0-4AA6-4D93-AD44-826D2160F1B6}" destId="{00733C02-569B-4D71-AC14-ABDCF2C137A2}" srcOrd="4" destOrd="0" presId="urn:microsoft.com/office/officeart/2005/8/layout/hierarchy6"/>
    <dgm:cxn modelId="{FDB0641A-2042-418D-87C7-DFEF025D6ECA}" type="presParOf" srcId="{A9C1F4D0-4AA6-4D93-AD44-826D2160F1B6}" destId="{24886489-0638-4D38-B4E0-AA86D134AC51}" srcOrd="5" destOrd="0" presId="urn:microsoft.com/office/officeart/2005/8/layout/hierarchy6"/>
    <dgm:cxn modelId="{54B8DCCC-B594-4D90-8450-8CC069A6AB60}" type="presParOf" srcId="{24886489-0638-4D38-B4E0-AA86D134AC51}" destId="{CE8542C9-B645-4126-B5A9-58934009DB0A}" srcOrd="0" destOrd="0" presId="urn:microsoft.com/office/officeart/2005/8/layout/hierarchy6"/>
    <dgm:cxn modelId="{EAC7C0FB-441C-40A7-9E71-F5824D825460}" type="presParOf" srcId="{24886489-0638-4D38-B4E0-AA86D134AC51}" destId="{640CC87D-8E13-4AF4-83D0-EE4F509EC441}" srcOrd="1" destOrd="0" presId="urn:microsoft.com/office/officeart/2005/8/layout/hierarchy6"/>
    <dgm:cxn modelId="{4A170533-1C4B-4DFC-85BB-AE95E2A31C6A}" type="presParOf" srcId="{A9C1F4D0-4AA6-4D93-AD44-826D2160F1B6}" destId="{6BDC9154-73E0-4D0F-BE24-AAED6E3205FB}" srcOrd="6" destOrd="0" presId="urn:microsoft.com/office/officeart/2005/8/layout/hierarchy6"/>
    <dgm:cxn modelId="{95800354-993E-4DC9-970B-138E155C0A8F}" type="presParOf" srcId="{A9C1F4D0-4AA6-4D93-AD44-826D2160F1B6}" destId="{AB150B8A-D3D3-4F04-B5F5-91CC6609D881}" srcOrd="7" destOrd="0" presId="urn:microsoft.com/office/officeart/2005/8/layout/hierarchy6"/>
    <dgm:cxn modelId="{152A2A49-67FF-4E86-B4B1-1801957615CD}" type="presParOf" srcId="{AB150B8A-D3D3-4F04-B5F5-91CC6609D881}" destId="{37B78DC1-C49E-432A-B323-EBD2BF1B6B7A}" srcOrd="0" destOrd="0" presId="urn:microsoft.com/office/officeart/2005/8/layout/hierarchy6"/>
    <dgm:cxn modelId="{53A946CB-B286-43B0-B75B-9A236214B6FA}" type="presParOf" srcId="{AB150B8A-D3D3-4F04-B5F5-91CC6609D881}" destId="{B4B9A489-CD8C-4AC9-A6A6-C5824E232030}" srcOrd="1" destOrd="0" presId="urn:microsoft.com/office/officeart/2005/8/layout/hierarchy6"/>
    <dgm:cxn modelId="{E138D3D6-6243-4E0B-9A55-279BE2B4C720}" type="presParOf" srcId="{D5C1E28E-2428-4A04-A7AB-2F655E59822C}" destId="{A5D32D90-3CAA-4264-8B22-C3F4AB9791BA}"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1702FA-406A-4C83-A4FE-F58E40660272}" type="doc">
      <dgm:prSet loTypeId="urn:microsoft.com/office/officeart/2005/8/layout/hierarchy2" loCatId="hierarchy" qsTypeId="urn:microsoft.com/office/officeart/2005/8/quickstyle/simple1" qsCatId="simple" csTypeId="urn:microsoft.com/office/officeart/2005/8/colors/accent1_1" csCatId="accent1" phldr="1"/>
      <dgm:spPr/>
      <dgm:t>
        <a:bodyPr/>
        <a:lstStyle/>
        <a:p>
          <a:endParaRPr lang="en-US"/>
        </a:p>
      </dgm:t>
    </dgm:pt>
    <dgm:pt modelId="{4365F6C9-4494-4C60-85F9-49288F146954}">
      <dgm:prSet phldrT="[Text]" custT="1"/>
      <dgm:spPr/>
      <dgm:t>
        <a:bodyPr/>
        <a:lstStyle/>
        <a:p>
          <a:r>
            <a:rPr lang="en-US" sz="2800" dirty="0"/>
            <a:t>Processes</a:t>
          </a:r>
        </a:p>
      </dgm:t>
    </dgm:pt>
    <dgm:pt modelId="{02C17AD2-CD40-4181-8690-E8B47606742A}" type="parTrans" cxnId="{66E47EA5-A311-4587-A142-2AF7B8E84102}">
      <dgm:prSet/>
      <dgm:spPr/>
      <dgm:t>
        <a:bodyPr/>
        <a:lstStyle/>
        <a:p>
          <a:endParaRPr lang="en-US"/>
        </a:p>
      </dgm:t>
    </dgm:pt>
    <dgm:pt modelId="{F6FA8DE4-44CF-4810-9371-601EA5260829}" type="sibTrans" cxnId="{66E47EA5-A311-4587-A142-2AF7B8E84102}">
      <dgm:prSet/>
      <dgm:spPr/>
      <dgm:t>
        <a:bodyPr/>
        <a:lstStyle/>
        <a:p>
          <a:endParaRPr lang="en-US"/>
        </a:p>
      </dgm:t>
    </dgm:pt>
    <dgm:pt modelId="{D42843B7-C38F-418A-8534-83686F809B37}">
      <dgm:prSet phldrT="[Text]" custT="1"/>
      <dgm:spPr/>
      <dgm:t>
        <a:bodyPr/>
        <a:lstStyle/>
        <a:p>
          <a:r>
            <a:rPr lang="en-US" sz="2800" dirty="0"/>
            <a:t>Clients</a:t>
          </a:r>
        </a:p>
      </dgm:t>
    </dgm:pt>
    <dgm:pt modelId="{C8A8B5E2-F350-4106-A4DA-101189554A07}" type="parTrans" cxnId="{FEEE6C3A-B7C9-4D25-91C0-4F99B68B7D0F}">
      <dgm:prSet/>
      <dgm:spPr/>
      <dgm:t>
        <a:bodyPr/>
        <a:lstStyle/>
        <a:p>
          <a:endParaRPr lang="en-US"/>
        </a:p>
      </dgm:t>
    </dgm:pt>
    <dgm:pt modelId="{B481CF9C-97BC-4855-ADFD-445163AB772E}" type="sibTrans" cxnId="{FEEE6C3A-B7C9-4D25-91C0-4F99B68B7D0F}">
      <dgm:prSet/>
      <dgm:spPr/>
      <dgm:t>
        <a:bodyPr/>
        <a:lstStyle/>
        <a:p>
          <a:endParaRPr lang="en-US"/>
        </a:p>
      </dgm:t>
    </dgm:pt>
    <dgm:pt modelId="{1E85B27D-1A53-4764-8D65-4DDD8ADD758A}">
      <dgm:prSet phldrT="[Text]" custT="1"/>
      <dgm:spPr/>
      <dgm:t>
        <a:bodyPr/>
        <a:lstStyle/>
        <a:p>
          <a:r>
            <a:rPr lang="en-US" sz="2800" dirty="0"/>
            <a:t>Web server clusters</a:t>
          </a:r>
        </a:p>
      </dgm:t>
    </dgm:pt>
    <dgm:pt modelId="{1CA0183D-DE6E-40E2-93AA-FE1EACF984E5}" type="parTrans" cxnId="{0ED97ABB-DBA1-4C74-8F32-E3A1FDBCEFB2}">
      <dgm:prSet/>
      <dgm:spPr/>
      <dgm:t>
        <a:bodyPr/>
        <a:lstStyle/>
        <a:p>
          <a:endParaRPr lang="en-US"/>
        </a:p>
      </dgm:t>
    </dgm:pt>
    <dgm:pt modelId="{6A37477B-A427-4C26-ABDC-F6CE1040743E}" type="sibTrans" cxnId="{0ED97ABB-DBA1-4C74-8F32-E3A1FDBCEFB2}">
      <dgm:prSet/>
      <dgm:spPr/>
      <dgm:t>
        <a:bodyPr/>
        <a:lstStyle/>
        <a:p>
          <a:endParaRPr lang="en-US"/>
        </a:p>
      </dgm:t>
    </dgm:pt>
    <dgm:pt modelId="{376E51B5-89D7-4EC3-BC43-76FF36BCA15D}">
      <dgm:prSet phldrT="[Text]" custT="1"/>
      <dgm:spPr/>
      <dgm:t>
        <a:bodyPr/>
        <a:lstStyle/>
        <a:p>
          <a:r>
            <a:rPr lang="en-US" sz="2800" dirty="0"/>
            <a:t>The apache web server</a:t>
          </a:r>
        </a:p>
      </dgm:t>
    </dgm:pt>
    <dgm:pt modelId="{1F51A83A-1040-4A30-AA21-B703E8B9374F}" type="parTrans" cxnId="{EA212DA1-A0B1-4C24-AFCC-C68F85B7128D}">
      <dgm:prSet/>
      <dgm:spPr/>
      <dgm:t>
        <a:bodyPr/>
        <a:lstStyle/>
        <a:p>
          <a:endParaRPr lang="en-US"/>
        </a:p>
      </dgm:t>
    </dgm:pt>
    <dgm:pt modelId="{83A7E9AE-108D-4A27-B757-FF829264BA3F}" type="sibTrans" cxnId="{EA212DA1-A0B1-4C24-AFCC-C68F85B7128D}">
      <dgm:prSet/>
      <dgm:spPr/>
      <dgm:t>
        <a:bodyPr/>
        <a:lstStyle/>
        <a:p>
          <a:endParaRPr lang="en-US"/>
        </a:p>
      </dgm:t>
    </dgm:pt>
    <dgm:pt modelId="{6CBDA104-D66D-44CA-92DA-5C0232C74448}" type="pres">
      <dgm:prSet presAssocID="{7D1702FA-406A-4C83-A4FE-F58E40660272}" presName="diagram" presStyleCnt="0">
        <dgm:presLayoutVars>
          <dgm:chPref val="1"/>
          <dgm:dir/>
          <dgm:animOne val="branch"/>
          <dgm:animLvl val="lvl"/>
          <dgm:resizeHandles val="exact"/>
        </dgm:presLayoutVars>
      </dgm:prSet>
      <dgm:spPr/>
      <dgm:t>
        <a:bodyPr/>
        <a:lstStyle/>
        <a:p>
          <a:endParaRPr lang="en-IN"/>
        </a:p>
      </dgm:t>
    </dgm:pt>
    <dgm:pt modelId="{EDF109EE-BA24-4576-A46A-C5C75B55E3FF}" type="pres">
      <dgm:prSet presAssocID="{4365F6C9-4494-4C60-85F9-49288F146954}" presName="root1" presStyleCnt="0"/>
      <dgm:spPr/>
    </dgm:pt>
    <dgm:pt modelId="{B8F11015-8E9A-4244-8B17-5574E1E17B47}" type="pres">
      <dgm:prSet presAssocID="{4365F6C9-4494-4C60-85F9-49288F146954}" presName="LevelOneTextNode" presStyleLbl="node0" presStyleIdx="0" presStyleCnt="1" custScaleX="47355" custScaleY="35495" custLinFactNeighborX="12500" custLinFactNeighborY="0">
        <dgm:presLayoutVars>
          <dgm:chPref val="3"/>
        </dgm:presLayoutVars>
      </dgm:prSet>
      <dgm:spPr/>
      <dgm:t>
        <a:bodyPr/>
        <a:lstStyle/>
        <a:p>
          <a:endParaRPr lang="en-IN"/>
        </a:p>
      </dgm:t>
    </dgm:pt>
    <dgm:pt modelId="{00104975-1289-4E4B-9BB0-7B4EAC7FA732}" type="pres">
      <dgm:prSet presAssocID="{4365F6C9-4494-4C60-85F9-49288F146954}" presName="level2hierChild" presStyleCnt="0"/>
      <dgm:spPr/>
    </dgm:pt>
    <dgm:pt modelId="{86F91543-CDBD-4C1E-9647-EE63256E337F}" type="pres">
      <dgm:prSet presAssocID="{C8A8B5E2-F350-4106-A4DA-101189554A07}" presName="conn2-1" presStyleLbl="parChTrans1D2" presStyleIdx="0" presStyleCnt="3"/>
      <dgm:spPr/>
      <dgm:t>
        <a:bodyPr/>
        <a:lstStyle/>
        <a:p>
          <a:endParaRPr lang="en-IN"/>
        </a:p>
      </dgm:t>
    </dgm:pt>
    <dgm:pt modelId="{A2327FDD-8224-40BF-80A8-B26AEC29A651}" type="pres">
      <dgm:prSet presAssocID="{C8A8B5E2-F350-4106-A4DA-101189554A07}" presName="connTx" presStyleLbl="parChTrans1D2" presStyleIdx="0" presStyleCnt="3"/>
      <dgm:spPr/>
      <dgm:t>
        <a:bodyPr/>
        <a:lstStyle/>
        <a:p>
          <a:endParaRPr lang="en-IN"/>
        </a:p>
      </dgm:t>
    </dgm:pt>
    <dgm:pt modelId="{F34CEDEC-FAE9-4038-A090-B0E9C794B245}" type="pres">
      <dgm:prSet presAssocID="{D42843B7-C38F-418A-8534-83686F809B37}" presName="root2" presStyleCnt="0"/>
      <dgm:spPr/>
    </dgm:pt>
    <dgm:pt modelId="{A97312DD-0F8B-4CFA-A638-23DCD37F468E}" type="pres">
      <dgm:prSet presAssocID="{D42843B7-C38F-418A-8534-83686F809B37}" presName="LevelTwoTextNode" presStyleLbl="node2" presStyleIdx="0" presStyleCnt="3" custScaleX="89933" custScaleY="27632">
        <dgm:presLayoutVars>
          <dgm:chPref val="3"/>
        </dgm:presLayoutVars>
      </dgm:prSet>
      <dgm:spPr/>
      <dgm:t>
        <a:bodyPr/>
        <a:lstStyle/>
        <a:p>
          <a:endParaRPr lang="en-IN"/>
        </a:p>
      </dgm:t>
    </dgm:pt>
    <dgm:pt modelId="{2935643F-BA8C-4E65-B559-8429EB82678C}" type="pres">
      <dgm:prSet presAssocID="{D42843B7-C38F-418A-8534-83686F809B37}" presName="level3hierChild" presStyleCnt="0"/>
      <dgm:spPr/>
    </dgm:pt>
    <dgm:pt modelId="{A82742B0-113F-4669-8E70-9D06DE2227C9}" type="pres">
      <dgm:prSet presAssocID="{1F51A83A-1040-4A30-AA21-B703E8B9374F}" presName="conn2-1" presStyleLbl="parChTrans1D2" presStyleIdx="1" presStyleCnt="3"/>
      <dgm:spPr/>
      <dgm:t>
        <a:bodyPr/>
        <a:lstStyle/>
        <a:p>
          <a:endParaRPr lang="en-IN"/>
        </a:p>
      </dgm:t>
    </dgm:pt>
    <dgm:pt modelId="{D43419F6-E606-4A37-B165-676FBF62BE4B}" type="pres">
      <dgm:prSet presAssocID="{1F51A83A-1040-4A30-AA21-B703E8B9374F}" presName="connTx" presStyleLbl="parChTrans1D2" presStyleIdx="1" presStyleCnt="3"/>
      <dgm:spPr/>
      <dgm:t>
        <a:bodyPr/>
        <a:lstStyle/>
        <a:p>
          <a:endParaRPr lang="en-IN"/>
        </a:p>
      </dgm:t>
    </dgm:pt>
    <dgm:pt modelId="{BED61328-0FAA-4062-92C4-72A4D90096A3}" type="pres">
      <dgm:prSet presAssocID="{376E51B5-89D7-4EC3-BC43-76FF36BCA15D}" presName="root2" presStyleCnt="0"/>
      <dgm:spPr/>
    </dgm:pt>
    <dgm:pt modelId="{CAE5C49D-AE9F-4EED-9E23-E5130075264C}" type="pres">
      <dgm:prSet presAssocID="{376E51B5-89D7-4EC3-BC43-76FF36BCA15D}" presName="LevelTwoTextNode" presStyleLbl="node2" presStyleIdx="1" presStyleCnt="3" custScaleX="89933" custScaleY="27632">
        <dgm:presLayoutVars>
          <dgm:chPref val="3"/>
        </dgm:presLayoutVars>
      </dgm:prSet>
      <dgm:spPr/>
      <dgm:t>
        <a:bodyPr/>
        <a:lstStyle/>
        <a:p>
          <a:endParaRPr lang="en-IN"/>
        </a:p>
      </dgm:t>
    </dgm:pt>
    <dgm:pt modelId="{671CD72D-C721-4A8C-A5E0-7DF9E9F63248}" type="pres">
      <dgm:prSet presAssocID="{376E51B5-89D7-4EC3-BC43-76FF36BCA15D}" presName="level3hierChild" presStyleCnt="0"/>
      <dgm:spPr/>
    </dgm:pt>
    <dgm:pt modelId="{9917C270-710C-4621-8646-00EB37130D5E}" type="pres">
      <dgm:prSet presAssocID="{1CA0183D-DE6E-40E2-93AA-FE1EACF984E5}" presName="conn2-1" presStyleLbl="parChTrans1D2" presStyleIdx="2" presStyleCnt="3"/>
      <dgm:spPr/>
      <dgm:t>
        <a:bodyPr/>
        <a:lstStyle/>
        <a:p>
          <a:endParaRPr lang="en-IN"/>
        </a:p>
      </dgm:t>
    </dgm:pt>
    <dgm:pt modelId="{47802CB3-8C95-45F6-9CB5-20CD578799EE}" type="pres">
      <dgm:prSet presAssocID="{1CA0183D-DE6E-40E2-93AA-FE1EACF984E5}" presName="connTx" presStyleLbl="parChTrans1D2" presStyleIdx="2" presStyleCnt="3"/>
      <dgm:spPr/>
      <dgm:t>
        <a:bodyPr/>
        <a:lstStyle/>
        <a:p>
          <a:endParaRPr lang="en-IN"/>
        </a:p>
      </dgm:t>
    </dgm:pt>
    <dgm:pt modelId="{E828A71B-4038-48B7-9330-DA2CB2EC8B91}" type="pres">
      <dgm:prSet presAssocID="{1E85B27D-1A53-4764-8D65-4DDD8ADD758A}" presName="root2" presStyleCnt="0"/>
      <dgm:spPr/>
    </dgm:pt>
    <dgm:pt modelId="{87BC8AE3-1B31-4C9A-81F4-FB38A4BA4441}" type="pres">
      <dgm:prSet presAssocID="{1E85B27D-1A53-4764-8D65-4DDD8ADD758A}" presName="LevelTwoTextNode" presStyleLbl="node2" presStyleIdx="2" presStyleCnt="3" custScaleX="89933" custScaleY="27632">
        <dgm:presLayoutVars>
          <dgm:chPref val="3"/>
        </dgm:presLayoutVars>
      </dgm:prSet>
      <dgm:spPr/>
      <dgm:t>
        <a:bodyPr/>
        <a:lstStyle/>
        <a:p>
          <a:endParaRPr lang="en-IN"/>
        </a:p>
      </dgm:t>
    </dgm:pt>
    <dgm:pt modelId="{82326699-D5E4-4B31-852C-842AE7E5824A}" type="pres">
      <dgm:prSet presAssocID="{1E85B27D-1A53-4764-8D65-4DDD8ADD758A}" presName="level3hierChild" presStyleCnt="0"/>
      <dgm:spPr/>
    </dgm:pt>
  </dgm:ptLst>
  <dgm:cxnLst>
    <dgm:cxn modelId="{12EE16BE-D5BB-4F68-94A9-A354CB6D533B}" type="presOf" srcId="{376E51B5-89D7-4EC3-BC43-76FF36BCA15D}" destId="{CAE5C49D-AE9F-4EED-9E23-E5130075264C}" srcOrd="0" destOrd="0" presId="urn:microsoft.com/office/officeart/2005/8/layout/hierarchy2"/>
    <dgm:cxn modelId="{EA212DA1-A0B1-4C24-AFCC-C68F85B7128D}" srcId="{4365F6C9-4494-4C60-85F9-49288F146954}" destId="{376E51B5-89D7-4EC3-BC43-76FF36BCA15D}" srcOrd="1" destOrd="0" parTransId="{1F51A83A-1040-4A30-AA21-B703E8B9374F}" sibTransId="{83A7E9AE-108D-4A27-B757-FF829264BA3F}"/>
    <dgm:cxn modelId="{FEEE6C3A-B7C9-4D25-91C0-4F99B68B7D0F}" srcId="{4365F6C9-4494-4C60-85F9-49288F146954}" destId="{D42843B7-C38F-418A-8534-83686F809B37}" srcOrd="0" destOrd="0" parTransId="{C8A8B5E2-F350-4106-A4DA-101189554A07}" sibTransId="{B481CF9C-97BC-4855-ADFD-445163AB772E}"/>
    <dgm:cxn modelId="{66E47EA5-A311-4587-A142-2AF7B8E84102}" srcId="{7D1702FA-406A-4C83-A4FE-F58E40660272}" destId="{4365F6C9-4494-4C60-85F9-49288F146954}" srcOrd="0" destOrd="0" parTransId="{02C17AD2-CD40-4181-8690-E8B47606742A}" sibTransId="{F6FA8DE4-44CF-4810-9371-601EA5260829}"/>
    <dgm:cxn modelId="{0ED97ABB-DBA1-4C74-8F32-E3A1FDBCEFB2}" srcId="{4365F6C9-4494-4C60-85F9-49288F146954}" destId="{1E85B27D-1A53-4764-8D65-4DDD8ADD758A}" srcOrd="2" destOrd="0" parTransId="{1CA0183D-DE6E-40E2-93AA-FE1EACF984E5}" sibTransId="{6A37477B-A427-4C26-ABDC-F6CE1040743E}"/>
    <dgm:cxn modelId="{C8D6EA13-18E7-463F-BCEF-3E2536FEA54E}" type="presOf" srcId="{1F51A83A-1040-4A30-AA21-B703E8B9374F}" destId="{A82742B0-113F-4669-8E70-9D06DE2227C9}" srcOrd="0" destOrd="0" presId="urn:microsoft.com/office/officeart/2005/8/layout/hierarchy2"/>
    <dgm:cxn modelId="{80634206-773F-4810-B984-155338386D91}" type="presOf" srcId="{1F51A83A-1040-4A30-AA21-B703E8B9374F}" destId="{D43419F6-E606-4A37-B165-676FBF62BE4B}" srcOrd="1" destOrd="0" presId="urn:microsoft.com/office/officeart/2005/8/layout/hierarchy2"/>
    <dgm:cxn modelId="{10541195-7AF4-4D67-AB38-A0606C5C8590}" type="presOf" srcId="{1CA0183D-DE6E-40E2-93AA-FE1EACF984E5}" destId="{9917C270-710C-4621-8646-00EB37130D5E}" srcOrd="0" destOrd="0" presId="urn:microsoft.com/office/officeart/2005/8/layout/hierarchy2"/>
    <dgm:cxn modelId="{D1770E56-8AB9-43E3-B6D8-D71396666E59}" type="presOf" srcId="{1CA0183D-DE6E-40E2-93AA-FE1EACF984E5}" destId="{47802CB3-8C95-45F6-9CB5-20CD578799EE}" srcOrd="1" destOrd="0" presId="urn:microsoft.com/office/officeart/2005/8/layout/hierarchy2"/>
    <dgm:cxn modelId="{DC12045D-5620-45BD-B323-4942A6D624C2}" type="presOf" srcId="{4365F6C9-4494-4C60-85F9-49288F146954}" destId="{B8F11015-8E9A-4244-8B17-5574E1E17B47}" srcOrd="0" destOrd="0" presId="urn:microsoft.com/office/officeart/2005/8/layout/hierarchy2"/>
    <dgm:cxn modelId="{2C980B0C-B2F9-4321-A7E9-739EFC685F51}" type="presOf" srcId="{C8A8B5E2-F350-4106-A4DA-101189554A07}" destId="{86F91543-CDBD-4C1E-9647-EE63256E337F}" srcOrd="0" destOrd="0" presId="urn:microsoft.com/office/officeart/2005/8/layout/hierarchy2"/>
    <dgm:cxn modelId="{22E59D2F-8588-4F55-830D-46E3DD2D317F}" type="presOf" srcId="{1E85B27D-1A53-4764-8D65-4DDD8ADD758A}" destId="{87BC8AE3-1B31-4C9A-81F4-FB38A4BA4441}" srcOrd="0" destOrd="0" presId="urn:microsoft.com/office/officeart/2005/8/layout/hierarchy2"/>
    <dgm:cxn modelId="{7BF1B8CE-D6BB-4C9A-9332-CE2FA8E82E02}" type="presOf" srcId="{7D1702FA-406A-4C83-A4FE-F58E40660272}" destId="{6CBDA104-D66D-44CA-92DA-5C0232C74448}" srcOrd="0" destOrd="0" presId="urn:microsoft.com/office/officeart/2005/8/layout/hierarchy2"/>
    <dgm:cxn modelId="{7BA77BD8-C5C3-45ED-90D9-E9BA0851D677}" type="presOf" srcId="{C8A8B5E2-F350-4106-A4DA-101189554A07}" destId="{A2327FDD-8224-40BF-80A8-B26AEC29A651}" srcOrd="1" destOrd="0" presId="urn:microsoft.com/office/officeart/2005/8/layout/hierarchy2"/>
    <dgm:cxn modelId="{1F12CA6A-7A81-4127-8D5F-485F321A7FA5}" type="presOf" srcId="{D42843B7-C38F-418A-8534-83686F809B37}" destId="{A97312DD-0F8B-4CFA-A638-23DCD37F468E}" srcOrd="0" destOrd="0" presId="urn:microsoft.com/office/officeart/2005/8/layout/hierarchy2"/>
    <dgm:cxn modelId="{7BB42C47-D84D-4FDB-B09E-7E51E0AD4FB5}" type="presParOf" srcId="{6CBDA104-D66D-44CA-92DA-5C0232C74448}" destId="{EDF109EE-BA24-4576-A46A-C5C75B55E3FF}" srcOrd="0" destOrd="0" presId="urn:microsoft.com/office/officeart/2005/8/layout/hierarchy2"/>
    <dgm:cxn modelId="{C707466F-4805-40FB-A5E1-9CC0E0ED3F72}" type="presParOf" srcId="{EDF109EE-BA24-4576-A46A-C5C75B55E3FF}" destId="{B8F11015-8E9A-4244-8B17-5574E1E17B47}" srcOrd="0" destOrd="0" presId="urn:microsoft.com/office/officeart/2005/8/layout/hierarchy2"/>
    <dgm:cxn modelId="{A633C199-D121-4F16-A80B-B8070488A1F6}" type="presParOf" srcId="{EDF109EE-BA24-4576-A46A-C5C75B55E3FF}" destId="{00104975-1289-4E4B-9BB0-7B4EAC7FA732}" srcOrd="1" destOrd="0" presId="urn:microsoft.com/office/officeart/2005/8/layout/hierarchy2"/>
    <dgm:cxn modelId="{DD60657C-6E7F-4AA9-B339-794EED0E37F8}" type="presParOf" srcId="{00104975-1289-4E4B-9BB0-7B4EAC7FA732}" destId="{86F91543-CDBD-4C1E-9647-EE63256E337F}" srcOrd="0" destOrd="0" presId="urn:microsoft.com/office/officeart/2005/8/layout/hierarchy2"/>
    <dgm:cxn modelId="{1226CC48-818A-4623-BE53-A158C1CCBF04}" type="presParOf" srcId="{86F91543-CDBD-4C1E-9647-EE63256E337F}" destId="{A2327FDD-8224-40BF-80A8-B26AEC29A651}" srcOrd="0" destOrd="0" presId="urn:microsoft.com/office/officeart/2005/8/layout/hierarchy2"/>
    <dgm:cxn modelId="{6E0E3B04-BE6D-4CEA-847B-DCE1D1C0F299}" type="presParOf" srcId="{00104975-1289-4E4B-9BB0-7B4EAC7FA732}" destId="{F34CEDEC-FAE9-4038-A090-B0E9C794B245}" srcOrd="1" destOrd="0" presId="urn:microsoft.com/office/officeart/2005/8/layout/hierarchy2"/>
    <dgm:cxn modelId="{F3940B90-2A01-497B-8C32-81FFE6A5971F}" type="presParOf" srcId="{F34CEDEC-FAE9-4038-A090-B0E9C794B245}" destId="{A97312DD-0F8B-4CFA-A638-23DCD37F468E}" srcOrd="0" destOrd="0" presId="urn:microsoft.com/office/officeart/2005/8/layout/hierarchy2"/>
    <dgm:cxn modelId="{DC3587E5-6D01-4697-A2E1-8BB4B56B2CD4}" type="presParOf" srcId="{F34CEDEC-FAE9-4038-A090-B0E9C794B245}" destId="{2935643F-BA8C-4E65-B559-8429EB82678C}" srcOrd="1" destOrd="0" presId="urn:microsoft.com/office/officeart/2005/8/layout/hierarchy2"/>
    <dgm:cxn modelId="{970B1AC1-BBCA-475B-BAB7-86B2EE32EEB8}" type="presParOf" srcId="{00104975-1289-4E4B-9BB0-7B4EAC7FA732}" destId="{A82742B0-113F-4669-8E70-9D06DE2227C9}" srcOrd="2" destOrd="0" presId="urn:microsoft.com/office/officeart/2005/8/layout/hierarchy2"/>
    <dgm:cxn modelId="{1717E30B-52F3-4355-A628-B6E14AAEDCC0}" type="presParOf" srcId="{A82742B0-113F-4669-8E70-9D06DE2227C9}" destId="{D43419F6-E606-4A37-B165-676FBF62BE4B}" srcOrd="0" destOrd="0" presId="urn:microsoft.com/office/officeart/2005/8/layout/hierarchy2"/>
    <dgm:cxn modelId="{A410EE8A-AB5E-4EF4-84CB-AF246BBEE76B}" type="presParOf" srcId="{00104975-1289-4E4B-9BB0-7B4EAC7FA732}" destId="{BED61328-0FAA-4062-92C4-72A4D90096A3}" srcOrd="3" destOrd="0" presId="urn:microsoft.com/office/officeart/2005/8/layout/hierarchy2"/>
    <dgm:cxn modelId="{F69B42EB-6B98-42AA-BEF0-4307303091DE}" type="presParOf" srcId="{BED61328-0FAA-4062-92C4-72A4D90096A3}" destId="{CAE5C49D-AE9F-4EED-9E23-E5130075264C}" srcOrd="0" destOrd="0" presId="urn:microsoft.com/office/officeart/2005/8/layout/hierarchy2"/>
    <dgm:cxn modelId="{293A6B31-B54E-4A6B-8293-FBF011AEF803}" type="presParOf" srcId="{BED61328-0FAA-4062-92C4-72A4D90096A3}" destId="{671CD72D-C721-4A8C-A5E0-7DF9E9F63248}" srcOrd="1" destOrd="0" presId="urn:microsoft.com/office/officeart/2005/8/layout/hierarchy2"/>
    <dgm:cxn modelId="{15F887C2-7C92-4221-AA60-F0249CB82DCA}" type="presParOf" srcId="{00104975-1289-4E4B-9BB0-7B4EAC7FA732}" destId="{9917C270-710C-4621-8646-00EB37130D5E}" srcOrd="4" destOrd="0" presId="urn:microsoft.com/office/officeart/2005/8/layout/hierarchy2"/>
    <dgm:cxn modelId="{E14428F3-E0A2-4EC1-A97A-20D13E640801}" type="presParOf" srcId="{9917C270-710C-4621-8646-00EB37130D5E}" destId="{47802CB3-8C95-45F6-9CB5-20CD578799EE}" srcOrd="0" destOrd="0" presId="urn:microsoft.com/office/officeart/2005/8/layout/hierarchy2"/>
    <dgm:cxn modelId="{60C938AE-904C-4747-9CCC-E8BCC9490A6C}" type="presParOf" srcId="{00104975-1289-4E4B-9BB0-7B4EAC7FA732}" destId="{E828A71B-4038-48B7-9330-DA2CB2EC8B91}" srcOrd="5" destOrd="0" presId="urn:microsoft.com/office/officeart/2005/8/layout/hierarchy2"/>
    <dgm:cxn modelId="{1CBFA789-7643-4BF7-8203-89A7AF8B1CD4}" type="presParOf" srcId="{E828A71B-4038-48B7-9330-DA2CB2EC8B91}" destId="{87BC8AE3-1B31-4C9A-81F4-FB38A4BA4441}" srcOrd="0" destOrd="0" presId="urn:microsoft.com/office/officeart/2005/8/layout/hierarchy2"/>
    <dgm:cxn modelId="{34192BA6-A1A7-48BC-A24E-D6C1584870A2}" type="presParOf" srcId="{E828A71B-4038-48B7-9330-DA2CB2EC8B91}" destId="{82326699-D5E4-4B31-852C-842AE7E5824A}"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1702FA-406A-4C83-A4FE-F58E40660272}" type="doc">
      <dgm:prSet loTypeId="urn:microsoft.com/office/officeart/2005/8/layout/hierarchy2" loCatId="hierarchy" qsTypeId="urn:microsoft.com/office/officeart/2005/8/quickstyle/simple1" qsCatId="simple" csTypeId="urn:microsoft.com/office/officeart/2005/8/colors/accent1_1" csCatId="accent1" phldr="1"/>
      <dgm:spPr/>
      <dgm:t>
        <a:bodyPr/>
        <a:lstStyle/>
        <a:p>
          <a:endParaRPr lang="en-US"/>
        </a:p>
      </dgm:t>
    </dgm:pt>
    <dgm:pt modelId="{4365F6C9-4494-4C60-85F9-49288F146954}">
      <dgm:prSet phldrT="[Text]" custT="1"/>
      <dgm:spPr/>
      <dgm:t>
        <a:bodyPr/>
        <a:lstStyle/>
        <a:p>
          <a:r>
            <a:rPr lang="en-US" sz="2800" dirty="0"/>
            <a:t>Connections</a:t>
          </a:r>
        </a:p>
      </dgm:t>
    </dgm:pt>
    <dgm:pt modelId="{02C17AD2-CD40-4181-8690-E8B47606742A}" type="parTrans" cxnId="{66E47EA5-A311-4587-A142-2AF7B8E84102}">
      <dgm:prSet/>
      <dgm:spPr/>
      <dgm:t>
        <a:bodyPr/>
        <a:lstStyle/>
        <a:p>
          <a:endParaRPr lang="en-US"/>
        </a:p>
      </dgm:t>
    </dgm:pt>
    <dgm:pt modelId="{F6FA8DE4-44CF-4810-9371-601EA5260829}" type="sibTrans" cxnId="{66E47EA5-A311-4587-A142-2AF7B8E84102}">
      <dgm:prSet/>
      <dgm:spPr/>
      <dgm:t>
        <a:bodyPr/>
        <a:lstStyle/>
        <a:p>
          <a:endParaRPr lang="en-US"/>
        </a:p>
      </dgm:t>
    </dgm:pt>
    <dgm:pt modelId="{D42843B7-C38F-418A-8534-83686F809B37}">
      <dgm:prSet phldrT="[Text]" custT="1"/>
      <dgm:spPr/>
      <dgm:t>
        <a:bodyPr/>
        <a:lstStyle/>
        <a:p>
          <a:r>
            <a:rPr lang="en-US" sz="2400" dirty="0"/>
            <a:t>Hypertext Transfer Protocol (</a:t>
          </a:r>
          <a:r>
            <a:rPr lang="en-US" sz="2400" dirty="0">
              <a:solidFill>
                <a:schemeClr val="accent6"/>
              </a:solidFill>
            </a:rPr>
            <a:t>HTTP</a:t>
          </a:r>
          <a:r>
            <a:rPr lang="en-US" sz="2400" dirty="0"/>
            <a:t>)</a:t>
          </a:r>
        </a:p>
      </dgm:t>
    </dgm:pt>
    <dgm:pt modelId="{C8A8B5E2-F350-4106-A4DA-101189554A07}" type="parTrans" cxnId="{FEEE6C3A-B7C9-4D25-91C0-4F99B68B7D0F}">
      <dgm:prSet/>
      <dgm:spPr/>
      <dgm:t>
        <a:bodyPr/>
        <a:lstStyle/>
        <a:p>
          <a:endParaRPr lang="en-US"/>
        </a:p>
      </dgm:t>
    </dgm:pt>
    <dgm:pt modelId="{B481CF9C-97BC-4855-ADFD-445163AB772E}" type="sibTrans" cxnId="{FEEE6C3A-B7C9-4D25-91C0-4F99B68B7D0F}">
      <dgm:prSet/>
      <dgm:spPr/>
      <dgm:t>
        <a:bodyPr/>
        <a:lstStyle/>
        <a:p>
          <a:endParaRPr lang="en-US"/>
        </a:p>
      </dgm:t>
    </dgm:pt>
    <dgm:pt modelId="{1E85B27D-1A53-4764-8D65-4DDD8ADD758A}">
      <dgm:prSet phldrT="[Text]" custT="1"/>
      <dgm:spPr/>
      <dgm:t>
        <a:bodyPr/>
        <a:lstStyle/>
        <a:p>
          <a:r>
            <a:rPr lang="en-US" sz="2400" dirty="0"/>
            <a:t>Simple Object Access Protocol (</a:t>
          </a:r>
          <a:r>
            <a:rPr lang="en-US" sz="2400" dirty="0">
              <a:solidFill>
                <a:schemeClr val="accent6"/>
              </a:solidFill>
            </a:rPr>
            <a:t>SOAP</a:t>
          </a:r>
          <a:r>
            <a:rPr lang="en-US" sz="2400" dirty="0"/>
            <a:t>)</a:t>
          </a:r>
        </a:p>
      </dgm:t>
    </dgm:pt>
    <dgm:pt modelId="{1CA0183D-DE6E-40E2-93AA-FE1EACF984E5}" type="parTrans" cxnId="{0ED97ABB-DBA1-4C74-8F32-E3A1FDBCEFB2}">
      <dgm:prSet/>
      <dgm:spPr/>
      <dgm:t>
        <a:bodyPr/>
        <a:lstStyle/>
        <a:p>
          <a:endParaRPr lang="en-US"/>
        </a:p>
      </dgm:t>
    </dgm:pt>
    <dgm:pt modelId="{6A37477B-A427-4C26-ABDC-F6CE1040743E}" type="sibTrans" cxnId="{0ED97ABB-DBA1-4C74-8F32-E3A1FDBCEFB2}">
      <dgm:prSet/>
      <dgm:spPr/>
      <dgm:t>
        <a:bodyPr/>
        <a:lstStyle/>
        <a:p>
          <a:endParaRPr lang="en-US"/>
        </a:p>
      </dgm:t>
    </dgm:pt>
    <dgm:pt modelId="{6CBDA104-D66D-44CA-92DA-5C0232C74448}" type="pres">
      <dgm:prSet presAssocID="{7D1702FA-406A-4C83-A4FE-F58E40660272}" presName="diagram" presStyleCnt="0">
        <dgm:presLayoutVars>
          <dgm:chPref val="1"/>
          <dgm:dir/>
          <dgm:animOne val="branch"/>
          <dgm:animLvl val="lvl"/>
          <dgm:resizeHandles val="exact"/>
        </dgm:presLayoutVars>
      </dgm:prSet>
      <dgm:spPr/>
      <dgm:t>
        <a:bodyPr/>
        <a:lstStyle/>
        <a:p>
          <a:endParaRPr lang="en-IN"/>
        </a:p>
      </dgm:t>
    </dgm:pt>
    <dgm:pt modelId="{EDF109EE-BA24-4576-A46A-C5C75B55E3FF}" type="pres">
      <dgm:prSet presAssocID="{4365F6C9-4494-4C60-85F9-49288F146954}" presName="root1" presStyleCnt="0"/>
      <dgm:spPr/>
    </dgm:pt>
    <dgm:pt modelId="{B8F11015-8E9A-4244-8B17-5574E1E17B47}" type="pres">
      <dgm:prSet presAssocID="{4365F6C9-4494-4C60-85F9-49288F146954}" presName="LevelOneTextNode" presStyleLbl="node0" presStyleIdx="0" presStyleCnt="1" custScaleX="47355" custScaleY="35495" custLinFactNeighborX="12500" custLinFactNeighborY="0">
        <dgm:presLayoutVars>
          <dgm:chPref val="3"/>
        </dgm:presLayoutVars>
      </dgm:prSet>
      <dgm:spPr/>
      <dgm:t>
        <a:bodyPr/>
        <a:lstStyle/>
        <a:p>
          <a:endParaRPr lang="en-IN"/>
        </a:p>
      </dgm:t>
    </dgm:pt>
    <dgm:pt modelId="{00104975-1289-4E4B-9BB0-7B4EAC7FA732}" type="pres">
      <dgm:prSet presAssocID="{4365F6C9-4494-4C60-85F9-49288F146954}" presName="level2hierChild" presStyleCnt="0"/>
      <dgm:spPr/>
    </dgm:pt>
    <dgm:pt modelId="{86F91543-CDBD-4C1E-9647-EE63256E337F}" type="pres">
      <dgm:prSet presAssocID="{C8A8B5E2-F350-4106-A4DA-101189554A07}" presName="conn2-1" presStyleLbl="parChTrans1D2" presStyleIdx="0" presStyleCnt="2"/>
      <dgm:spPr/>
      <dgm:t>
        <a:bodyPr/>
        <a:lstStyle/>
        <a:p>
          <a:endParaRPr lang="en-IN"/>
        </a:p>
      </dgm:t>
    </dgm:pt>
    <dgm:pt modelId="{A2327FDD-8224-40BF-80A8-B26AEC29A651}" type="pres">
      <dgm:prSet presAssocID="{C8A8B5E2-F350-4106-A4DA-101189554A07}" presName="connTx" presStyleLbl="parChTrans1D2" presStyleIdx="0" presStyleCnt="2"/>
      <dgm:spPr/>
      <dgm:t>
        <a:bodyPr/>
        <a:lstStyle/>
        <a:p>
          <a:endParaRPr lang="en-IN"/>
        </a:p>
      </dgm:t>
    </dgm:pt>
    <dgm:pt modelId="{F34CEDEC-FAE9-4038-A090-B0E9C794B245}" type="pres">
      <dgm:prSet presAssocID="{D42843B7-C38F-418A-8534-83686F809B37}" presName="root2" presStyleCnt="0"/>
      <dgm:spPr/>
    </dgm:pt>
    <dgm:pt modelId="{A97312DD-0F8B-4CFA-A638-23DCD37F468E}" type="pres">
      <dgm:prSet presAssocID="{D42843B7-C38F-418A-8534-83686F809B37}" presName="LevelTwoTextNode" presStyleLbl="node2" presStyleIdx="0" presStyleCnt="2" custScaleX="89933" custScaleY="39153">
        <dgm:presLayoutVars>
          <dgm:chPref val="3"/>
        </dgm:presLayoutVars>
      </dgm:prSet>
      <dgm:spPr/>
      <dgm:t>
        <a:bodyPr/>
        <a:lstStyle/>
        <a:p>
          <a:endParaRPr lang="en-IN"/>
        </a:p>
      </dgm:t>
    </dgm:pt>
    <dgm:pt modelId="{2935643F-BA8C-4E65-B559-8429EB82678C}" type="pres">
      <dgm:prSet presAssocID="{D42843B7-C38F-418A-8534-83686F809B37}" presName="level3hierChild" presStyleCnt="0"/>
      <dgm:spPr/>
    </dgm:pt>
    <dgm:pt modelId="{9917C270-710C-4621-8646-00EB37130D5E}" type="pres">
      <dgm:prSet presAssocID="{1CA0183D-DE6E-40E2-93AA-FE1EACF984E5}" presName="conn2-1" presStyleLbl="parChTrans1D2" presStyleIdx="1" presStyleCnt="2"/>
      <dgm:spPr/>
      <dgm:t>
        <a:bodyPr/>
        <a:lstStyle/>
        <a:p>
          <a:endParaRPr lang="en-IN"/>
        </a:p>
      </dgm:t>
    </dgm:pt>
    <dgm:pt modelId="{47802CB3-8C95-45F6-9CB5-20CD578799EE}" type="pres">
      <dgm:prSet presAssocID="{1CA0183D-DE6E-40E2-93AA-FE1EACF984E5}" presName="connTx" presStyleLbl="parChTrans1D2" presStyleIdx="1" presStyleCnt="2"/>
      <dgm:spPr/>
      <dgm:t>
        <a:bodyPr/>
        <a:lstStyle/>
        <a:p>
          <a:endParaRPr lang="en-IN"/>
        </a:p>
      </dgm:t>
    </dgm:pt>
    <dgm:pt modelId="{E828A71B-4038-48B7-9330-DA2CB2EC8B91}" type="pres">
      <dgm:prSet presAssocID="{1E85B27D-1A53-4764-8D65-4DDD8ADD758A}" presName="root2" presStyleCnt="0"/>
      <dgm:spPr/>
    </dgm:pt>
    <dgm:pt modelId="{87BC8AE3-1B31-4C9A-81F4-FB38A4BA4441}" type="pres">
      <dgm:prSet presAssocID="{1E85B27D-1A53-4764-8D65-4DDD8ADD758A}" presName="LevelTwoTextNode" presStyleLbl="node2" presStyleIdx="1" presStyleCnt="2" custScaleX="89933" custScaleY="39153">
        <dgm:presLayoutVars>
          <dgm:chPref val="3"/>
        </dgm:presLayoutVars>
      </dgm:prSet>
      <dgm:spPr/>
      <dgm:t>
        <a:bodyPr/>
        <a:lstStyle/>
        <a:p>
          <a:endParaRPr lang="en-IN"/>
        </a:p>
      </dgm:t>
    </dgm:pt>
    <dgm:pt modelId="{82326699-D5E4-4B31-852C-842AE7E5824A}" type="pres">
      <dgm:prSet presAssocID="{1E85B27D-1A53-4764-8D65-4DDD8ADD758A}" presName="level3hierChild" presStyleCnt="0"/>
      <dgm:spPr/>
    </dgm:pt>
  </dgm:ptLst>
  <dgm:cxnLst>
    <dgm:cxn modelId="{1EBAC923-1209-4EF3-92FE-7D1DC6E71F49}" type="presOf" srcId="{1CA0183D-DE6E-40E2-93AA-FE1EACF984E5}" destId="{9917C270-710C-4621-8646-00EB37130D5E}" srcOrd="0" destOrd="0" presId="urn:microsoft.com/office/officeart/2005/8/layout/hierarchy2"/>
    <dgm:cxn modelId="{FEEE6C3A-B7C9-4D25-91C0-4F99B68B7D0F}" srcId="{4365F6C9-4494-4C60-85F9-49288F146954}" destId="{D42843B7-C38F-418A-8534-83686F809B37}" srcOrd="0" destOrd="0" parTransId="{C8A8B5E2-F350-4106-A4DA-101189554A07}" sibTransId="{B481CF9C-97BC-4855-ADFD-445163AB772E}"/>
    <dgm:cxn modelId="{66E47EA5-A311-4587-A142-2AF7B8E84102}" srcId="{7D1702FA-406A-4C83-A4FE-F58E40660272}" destId="{4365F6C9-4494-4C60-85F9-49288F146954}" srcOrd="0" destOrd="0" parTransId="{02C17AD2-CD40-4181-8690-E8B47606742A}" sibTransId="{F6FA8DE4-44CF-4810-9371-601EA5260829}"/>
    <dgm:cxn modelId="{0ED97ABB-DBA1-4C74-8F32-E3A1FDBCEFB2}" srcId="{4365F6C9-4494-4C60-85F9-49288F146954}" destId="{1E85B27D-1A53-4764-8D65-4DDD8ADD758A}" srcOrd="1" destOrd="0" parTransId="{1CA0183D-DE6E-40E2-93AA-FE1EACF984E5}" sibTransId="{6A37477B-A427-4C26-ABDC-F6CE1040743E}"/>
    <dgm:cxn modelId="{0F561DE8-A72A-47FB-AAF1-F1D6C6BDDFF5}" type="presOf" srcId="{4365F6C9-4494-4C60-85F9-49288F146954}" destId="{B8F11015-8E9A-4244-8B17-5574E1E17B47}" srcOrd="0" destOrd="0" presId="urn:microsoft.com/office/officeart/2005/8/layout/hierarchy2"/>
    <dgm:cxn modelId="{9C37176E-2D44-43FA-9CAA-EAD288FA3588}" type="presOf" srcId="{7D1702FA-406A-4C83-A4FE-F58E40660272}" destId="{6CBDA104-D66D-44CA-92DA-5C0232C74448}" srcOrd="0" destOrd="0" presId="urn:microsoft.com/office/officeart/2005/8/layout/hierarchy2"/>
    <dgm:cxn modelId="{D692EDFE-44D8-4229-B26F-3B54EE527C33}" type="presOf" srcId="{D42843B7-C38F-418A-8534-83686F809B37}" destId="{A97312DD-0F8B-4CFA-A638-23DCD37F468E}" srcOrd="0" destOrd="0" presId="urn:microsoft.com/office/officeart/2005/8/layout/hierarchy2"/>
    <dgm:cxn modelId="{09E71120-598C-4724-BF45-A63A98EFDB94}" type="presOf" srcId="{1E85B27D-1A53-4764-8D65-4DDD8ADD758A}" destId="{87BC8AE3-1B31-4C9A-81F4-FB38A4BA4441}" srcOrd="0" destOrd="0" presId="urn:microsoft.com/office/officeart/2005/8/layout/hierarchy2"/>
    <dgm:cxn modelId="{3CDD9F21-CB70-4E26-9FCC-F25D28E9B60D}" type="presOf" srcId="{C8A8B5E2-F350-4106-A4DA-101189554A07}" destId="{A2327FDD-8224-40BF-80A8-B26AEC29A651}" srcOrd="1" destOrd="0" presId="urn:microsoft.com/office/officeart/2005/8/layout/hierarchy2"/>
    <dgm:cxn modelId="{43D7AF16-E3C5-4603-A642-E582098E5631}" type="presOf" srcId="{C8A8B5E2-F350-4106-A4DA-101189554A07}" destId="{86F91543-CDBD-4C1E-9647-EE63256E337F}" srcOrd="0" destOrd="0" presId="urn:microsoft.com/office/officeart/2005/8/layout/hierarchy2"/>
    <dgm:cxn modelId="{23979EF9-9CCB-4FB0-A421-8D9EF7D6A618}" type="presOf" srcId="{1CA0183D-DE6E-40E2-93AA-FE1EACF984E5}" destId="{47802CB3-8C95-45F6-9CB5-20CD578799EE}" srcOrd="1" destOrd="0" presId="urn:microsoft.com/office/officeart/2005/8/layout/hierarchy2"/>
    <dgm:cxn modelId="{D753A6C9-5861-48FC-851A-593EC79D5AEA}" type="presParOf" srcId="{6CBDA104-D66D-44CA-92DA-5C0232C74448}" destId="{EDF109EE-BA24-4576-A46A-C5C75B55E3FF}" srcOrd="0" destOrd="0" presId="urn:microsoft.com/office/officeart/2005/8/layout/hierarchy2"/>
    <dgm:cxn modelId="{AB16048B-8F96-495F-855D-7714769CEB51}" type="presParOf" srcId="{EDF109EE-BA24-4576-A46A-C5C75B55E3FF}" destId="{B8F11015-8E9A-4244-8B17-5574E1E17B47}" srcOrd="0" destOrd="0" presId="urn:microsoft.com/office/officeart/2005/8/layout/hierarchy2"/>
    <dgm:cxn modelId="{196EDE82-D4E8-42A6-A674-8DDBDA30C387}" type="presParOf" srcId="{EDF109EE-BA24-4576-A46A-C5C75B55E3FF}" destId="{00104975-1289-4E4B-9BB0-7B4EAC7FA732}" srcOrd="1" destOrd="0" presId="urn:microsoft.com/office/officeart/2005/8/layout/hierarchy2"/>
    <dgm:cxn modelId="{295C1108-7159-4095-9B32-0744FB55A4DC}" type="presParOf" srcId="{00104975-1289-4E4B-9BB0-7B4EAC7FA732}" destId="{86F91543-CDBD-4C1E-9647-EE63256E337F}" srcOrd="0" destOrd="0" presId="urn:microsoft.com/office/officeart/2005/8/layout/hierarchy2"/>
    <dgm:cxn modelId="{E0E58375-A9BB-4AFB-9EA7-42282A75A815}" type="presParOf" srcId="{86F91543-CDBD-4C1E-9647-EE63256E337F}" destId="{A2327FDD-8224-40BF-80A8-B26AEC29A651}" srcOrd="0" destOrd="0" presId="urn:microsoft.com/office/officeart/2005/8/layout/hierarchy2"/>
    <dgm:cxn modelId="{037018B1-B3D4-43FB-9A5F-0991CF0ABC62}" type="presParOf" srcId="{00104975-1289-4E4B-9BB0-7B4EAC7FA732}" destId="{F34CEDEC-FAE9-4038-A090-B0E9C794B245}" srcOrd="1" destOrd="0" presId="urn:microsoft.com/office/officeart/2005/8/layout/hierarchy2"/>
    <dgm:cxn modelId="{AA02D0B4-9680-4B42-ACF6-AE2D6993C1F8}" type="presParOf" srcId="{F34CEDEC-FAE9-4038-A090-B0E9C794B245}" destId="{A97312DD-0F8B-4CFA-A638-23DCD37F468E}" srcOrd="0" destOrd="0" presId="urn:microsoft.com/office/officeart/2005/8/layout/hierarchy2"/>
    <dgm:cxn modelId="{7229ACF9-5BA9-4FD1-ACA1-72D5322A5B39}" type="presParOf" srcId="{F34CEDEC-FAE9-4038-A090-B0E9C794B245}" destId="{2935643F-BA8C-4E65-B559-8429EB82678C}" srcOrd="1" destOrd="0" presId="urn:microsoft.com/office/officeart/2005/8/layout/hierarchy2"/>
    <dgm:cxn modelId="{1A6DE82E-9421-4C2E-90AA-B788E7100FE8}" type="presParOf" srcId="{00104975-1289-4E4B-9BB0-7B4EAC7FA732}" destId="{9917C270-710C-4621-8646-00EB37130D5E}" srcOrd="2" destOrd="0" presId="urn:microsoft.com/office/officeart/2005/8/layout/hierarchy2"/>
    <dgm:cxn modelId="{C7AE93C3-C078-42F3-866C-DA06442BB9C1}" type="presParOf" srcId="{9917C270-710C-4621-8646-00EB37130D5E}" destId="{47802CB3-8C95-45F6-9CB5-20CD578799EE}" srcOrd="0" destOrd="0" presId="urn:microsoft.com/office/officeart/2005/8/layout/hierarchy2"/>
    <dgm:cxn modelId="{F4ED96AB-6098-445A-B9BA-91B1ED6B20A4}" type="presParOf" srcId="{00104975-1289-4E4B-9BB0-7B4EAC7FA732}" destId="{E828A71B-4038-48B7-9330-DA2CB2EC8B91}" srcOrd="3" destOrd="0" presId="urn:microsoft.com/office/officeart/2005/8/layout/hierarchy2"/>
    <dgm:cxn modelId="{8FEE00F7-BA44-411B-BDD7-FBBF12CBD44C}" type="presParOf" srcId="{E828A71B-4038-48B7-9330-DA2CB2EC8B91}" destId="{87BC8AE3-1B31-4C9A-81F4-FB38A4BA4441}" srcOrd="0" destOrd="0" presId="urn:microsoft.com/office/officeart/2005/8/layout/hierarchy2"/>
    <dgm:cxn modelId="{38E3F315-8DBE-4422-86EC-1FB400B5C29C}" type="presParOf" srcId="{E828A71B-4038-48B7-9330-DA2CB2EC8B91}" destId="{82326699-D5E4-4B31-852C-842AE7E5824A}"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D1702FA-406A-4C83-A4FE-F58E40660272}" type="doc">
      <dgm:prSet loTypeId="urn:microsoft.com/office/officeart/2005/8/layout/hierarchy2" loCatId="hierarchy" qsTypeId="urn:microsoft.com/office/officeart/2005/8/quickstyle/simple1" qsCatId="simple" csTypeId="urn:microsoft.com/office/officeart/2005/8/colors/accent1_1" csCatId="accent1" phldr="1"/>
      <dgm:spPr/>
      <dgm:t>
        <a:bodyPr/>
        <a:lstStyle/>
        <a:p>
          <a:endParaRPr lang="en-US"/>
        </a:p>
      </dgm:t>
    </dgm:pt>
    <dgm:pt modelId="{4365F6C9-4494-4C60-85F9-49288F146954}">
      <dgm:prSet phldrT="[Text]" custT="1"/>
      <dgm:spPr/>
      <dgm:t>
        <a:bodyPr/>
        <a:lstStyle/>
        <a:p>
          <a:r>
            <a:rPr lang="en-US" sz="2400" dirty="0"/>
            <a:t>Aspects of replication in web hosting systems</a:t>
          </a:r>
        </a:p>
      </dgm:t>
    </dgm:pt>
    <dgm:pt modelId="{02C17AD2-CD40-4181-8690-E8B47606742A}" type="parTrans" cxnId="{66E47EA5-A311-4587-A142-2AF7B8E84102}">
      <dgm:prSet/>
      <dgm:spPr/>
      <dgm:t>
        <a:bodyPr/>
        <a:lstStyle/>
        <a:p>
          <a:endParaRPr lang="en-US"/>
        </a:p>
      </dgm:t>
    </dgm:pt>
    <dgm:pt modelId="{F6FA8DE4-44CF-4810-9371-601EA5260829}" type="sibTrans" cxnId="{66E47EA5-A311-4587-A142-2AF7B8E84102}">
      <dgm:prSet/>
      <dgm:spPr/>
      <dgm:t>
        <a:bodyPr/>
        <a:lstStyle/>
        <a:p>
          <a:endParaRPr lang="en-US"/>
        </a:p>
      </dgm:t>
    </dgm:pt>
    <dgm:pt modelId="{D42843B7-C38F-418A-8534-83686F809B37}">
      <dgm:prSet phldrT="[Text]" custT="1"/>
      <dgm:spPr/>
      <dgm:t>
        <a:bodyPr/>
        <a:lstStyle/>
        <a:p>
          <a:r>
            <a:rPr lang="en-US" sz="2400" dirty="0"/>
            <a:t>Metric Estimation</a:t>
          </a:r>
        </a:p>
      </dgm:t>
    </dgm:pt>
    <dgm:pt modelId="{C8A8B5E2-F350-4106-A4DA-101189554A07}" type="parTrans" cxnId="{FEEE6C3A-B7C9-4D25-91C0-4F99B68B7D0F}">
      <dgm:prSet/>
      <dgm:spPr/>
      <dgm:t>
        <a:bodyPr/>
        <a:lstStyle/>
        <a:p>
          <a:endParaRPr lang="en-US"/>
        </a:p>
      </dgm:t>
    </dgm:pt>
    <dgm:pt modelId="{B481CF9C-97BC-4855-ADFD-445163AB772E}" type="sibTrans" cxnId="{FEEE6C3A-B7C9-4D25-91C0-4F99B68B7D0F}">
      <dgm:prSet/>
      <dgm:spPr/>
      <dgm:t>
        <a:bodyPr/>
        <a:lstStyle/>
        <a:p>
          <a:endParaRPr lang="en-US"/>
        </a:p>
      </dgm:t>
    </dgm:pt>
    <dgm:pt modelId="{1E85B27D-1A53-4764-8D65-4DDD8ADD758A}">
      <dgm:prSet phldrT="[Text]" custT="1"/>
      <dgm:spPr/>
      <dgm:t>
        <a:bodyPr/>
        <a:lstStyle/>
        <a:p>
          <a:r>
            <a:rPr lang="en-US" sz="2400" dirty="0"/>
            <a:t>Adaptation Triggering</a:t>
          </a:r>
        </a:p>
      </dgm:t>
    </dgm:pt>
    <dgm:pt modelId="{1CA0183D-DE6E-40E2-93AA-FE1EACF984E5}" type="parTrans" cxnId="{0ED97ABB-DBA1-4C74-8F32-E3A1FDBCEFB2}">
      <dgm:prSet/>
      <dgm:spPr/>
      <dgm:t>
        <a:bodyPr/>
        <a:lstStyle/>
        <a:p>
          <a:endParaRPr lang="en-US"/>
        </a:p>
      </dgm:t>
    </dgm:pt>
    <dgm:pt modelId="{6A37477B-A427-4C26-ABDC-F6CE1040743E}" type="sibTrans" cxnId="{0ED97ABB-DBA1-4C74-8F32-E3A1FDBCEFB2}">
      <dgm:prSet/>
      <dgm:spPr/>
      <dgm:t>
        <a:bodyPr/>
        <a:lstStyle/>
        <a:p>
          <a:endParaRPr lang="en-US"/>
        </a:p>
      </dgm:t>
    </dgm:pt>
    <dgm:pt modelId="{91931B64-A73E-4600-A11D-BBA8B9064FB3}">
      <dgm:prSet phldrT="[Text]" custT="1"/>
      <dgm:spPr/>
      <dgm:t>
        <a:bodyPr/>
        <a:lstStyle/>
        <a:p>
          <a:r>
            <a:rPr lang="en-US" sz="2400" dirty="0"/>
            <a:t>Adjustment Measures</a:t>
          </a:r>
        </a:p>
      </dgm:t>
    </dgm:pt>
    <dgm:pt modelId="{0F0BF3BE-2843-4678-8C70-31D3565AF9CD}" type="parTrans" cxnId="{02E131E3-5C1F-4F0F-B22C-9CF2D6DC1A5C}">
      <dgm:prSet/>
      <dgm:spPr/>
      <dgm:t>
        <a:bodyPr/>
        <a:lstStyle/>
        <a:p>
          <a:endParaRPr lang="en-US"/>
        </a:p>
      </dgm:t>
    </dgm:pt>
    <dgm:pt modelId="{880FF49F-9AF5-40D2-89B2-67BFB31314FD}" type="sibTrans" cxnId="{02E131E3-5C1F-4F0F-B22C-9CF2D6DC1A5C}">
      <dgm:prSet/>
      <dgm:spPr/>
      <dgm:t>
        <a:bodyPr/>
        <a:lstStyle/>
        <a:p>
          <a:endParaRPr lang="en-US"/>
        </a:p>
      </dgm:t>
    </dgm:pt>
    <dgm:pt modelId="{6CBDA104-D66D-44CA-92DA-5C0232C74448}" type="pres">
      <dgm:prSet presAssocID="{7D1702FA-406A-4C83-A4FE-F58E40660272}" presName="diagram" presStyleCnt="0">
        <dgm:presLayoutVars>
          <dgm:chPref val="1"/>
          <dgm:dir/>
          <dgm:animOne val="branch"/>
          <dgm:animLvl val="lvl"/>
          <dgm:resizeHandles val="exact"/>
        </dgm:presLayoutVars>
      </dgm:prSet>
      <dgm:spPr/>
      <dgm:t>
        <a:bodyPr/>
        <a:lstStyle/>
        <a:p>
          <a:endParaRPr lang="en-IN"/>
        </a:p>
      </dgm:t>
    </dgm:pt>
    <dgm:pt modelId="{EDF109EE-BA24-4576-A46A-C5C75B55E3FF}" type="pres">
      <dgm:prSet presAssocID="{4365F6C9-4494-4C60-85F9-49288F146954}" presName="root1" presStyleCnt="0"/>
      <dgm:spPr/>
    </dgm:pt>
    <dgm:pt modelId="{B8F11015-8E9A-4244-8B17-5574E1E17B47}" type="pres">
      <dgm:prSet presAssocID="{4365F6C9-4494-4C60-85F9-49288F146954}" presName="LevelOneTextNode" presStyleLbl="node0" presStyleIdx="0" presStyleCnt="1" custScaleX="47355" custScaleY="75000" custLinFactNeighborX="12500" custLinFactNeighborY="0">
        <dgm:presLayoutVars>
          <dgm:chPref val="3"/>
        </dgm:presLayoutVars>
      </dgm:prSet>
      <dgm:spPr/>
      <dgm:t>
        <a:bodyPr/>
        <a:lstStyle/>
        <a:p>
          <a:endParaRPr lang="en-IN"/>
        </a:p>
      </dgm:t>
    </dgm:pt>
    <dgm:pt modelId="{00104975-1289-4E4B-9BB0-7B4EAC7FA732}" type="pres">
      <dgm:prSet presAssocID="{4365F6C9-4494-4C60-85F9-49288F146954}" presName="level2hierChild" presStyleCnt="0"/>
      <dgm:spPr/>
    </dgm:pt>
    <dgm:pt modelId="{86F91543-CDBD-4C1E-9647-EE63256E337F}" type="pres">
      <dgm:prSet presAssocID="{C8A8B5E2-F350-4106-A4DA-101189554A07}" presName="conn2-1" presStyleLbl="parChTrans1D2" presStyleIdx="0" presStyleCnt="3"/>
      <dgm:spPr/>
      <dgm:t>
        <a:bodyPr/>
        <a:lstStyle/>
        <a:p>
          <a:endParaRPr lang="en-IN"/>
        </a:p>
      </dgm:t>
    </dgm:pt>
    <dgm:pt modelId="{A2327FDD-8224-40BF-80A8-B26AEC29A651}" type="pres">
      <dgm:prSet presAssocID="{C8A8B5E2-F350-4106-A4DA-101189554A07}" presName="connTx" presStyleLbl="parChTrans1D2" presStyleIdx="0" presStyleCnt="3"/>
      <dgm:spPr/>
      <dgm:t>
        <a:bodyPr/>
        <a:lstStyle/>
        <a:p>
          <a:endParaRPr lang="en-IN"/>
        </a:p>
      </dgm:t>
    </dgm:pt>
    <dgm:pt modelId="{F34CEDEC-FAE9-4038-A090-B0E9C794B245}" type="pres">
      <dgm:prSet presAssocID="{D42843B7-C38F-418A-8534-83686F809B37}" presName="root2" presStyleCnt="0"/>
      <dgm:spPr/>
    </dgm:pt>
    <dgm:pt modelId="{A97312DD-0F8B-4CFA-A638-23DCD37F468E}" type="pres">
      <dgm:prSet presAssocID="{D42843B7-C38F-418A-8534-83686F809B37}" presName="LevelTwoTextNode" presStyleLbl="node2" presStyleIdx="0" presStyleCnt="3" custScaleX="89933" custScaleY="39153">
        <dgm:presLayoutVars>
          <dgm:chPref val="3"/>
        </dgm:presLayoutVars>
      </dgm:prSet>
      <dgm:spPr/>
      <dgm:t>
        <a:bodyPr/>
        <a:lstStyle/>
        <a:p>
          <a:endParaRPr lang="en-IN"/>
        </a:p>
      </dgm:t>
    </dgm:pt>
    <dgm:pt modelId="{2935643F-BA8C-4E65-B559-8429EB82678C}" type="pres">
      <dgm:prSet presAssocID="{D42843B7-C38F-418A-8534-83686F809B37}" presName="level3hierChild" presStyleCnt="0"/>
      <dgm:spPr/>
    </dgm:pt>
    <dgm:pt modelId="{9917C270-710C-4621-8646-00EB37130D5E}" type="pres">
      <dgm:prSet presAssocID="{1CA0183D-DE6E-40E2-93AA-FE1EACF984E5}" presName="conn2-1" presStyleLbl="parChTrans1D2" presStyleIdx="1" presStyleCnt="3"/>
      <dgm:spPr/>
      <dgm:t>
        <a:bodyPr/>
        <a:lstStyle/>
        <a:p>
          <a:endParaRPr lang="en-IN"/>
        </a:p>
      </dgm:t>
    </dgm:pt>
    <dgm:pt modelId="{47802CB3-8C95-45F6-9CB5-20CD578799EE}" type="pres">
      <dgm:prSet presAssocID="{1CA0183D-DE6E-40E2-93AA-FE1EACF984E5}" presName="connTx" presStyleLbl="parChTrans1D2" presStyleIdx="1" presStyleCnt="3"/>
      <dgm:spPr/>
      <dgm:t>
        <a:bodyPr/>
        <a:lstStyle/>
        <a:p>
          <a:endParaRPr lang="en-IN"/>
        </a:p>
      </dgm:t>
    </dgm:pt>
    <dgm:pt modelId="{E828A71B-4038-48B7-9330-DA2CB2EC8B91}" type="pres">
      <dgm:prSet presAssocID="{1E85B27D-1A53-4764-8D65-4DDD8ADD758A}" presName="root2" presStyleCnt="0"/>
      <dgm:spPr/>
    </dgm:pt>
    <dgm:pt modelId="{87BC8AE3-1B31-4C9A-81F4-FB38A4BA4441}" type="pres">
      <dgm:prSet presAssocID="{1E85B27D-1A53-4764-8D65-4DDD8ADD758A}" presName="LevelTwoTextNode" presStyleLbl="node2" presStyleIdx="1" presStyleCnt="3" custScaleX="89933" custScaleY="39153">
        <dgm:presLayoutVars>
          <dgm:chPref val="3"/>
        </dgm:presLayoutVars>
      </dgm:prSet>
      <dgm:spPr/>
      <dgm:t>
        <a:bodyPr/>
        <a:lstStyle/>
        <a:p>
          <a:endParaRPr lang="en-IN"/>
        </a:p>
      </dgm:t>
    </dgm:pt>
    <dgm:pt modelId="{82326699-D5E4-4B31-852C-842AE7E5824A}" type="pres">
      <dgm:prSet presAssocID="{1E85B27D-1A53-4764-8D65-4DDD8ADD758A}" presName="level3hierChild" presStyleCnt="0"/>
      <dgm:spPr/>
    </dgm:pt>
    <dgm:pt modelId="{2BEA0950-FD34-4CA1-9CBD-0C330136BED6}" type="pres">
      <dgm:prSet presAssocID="{0F0BF3BE-2843-4678-8C70-31D3565AF9CD}" presName="conn2-1" presStyleLbl="parChTrans1D2" presStyleIdx="2" presStyleCnt="3"/>
      <dgm:spPr/>
      <dgm:t>
        <a:bodyPr/>
        <a:lstStyle/>
        <a:p>
          <a:endParaRPr lang="en-IN"/>
        </a:p>
      </dgm:t>
    </dgm:pt>
    <dgm:pt modelId="{AA757C03-1359-4855-80FC-F209C9EBF00C}" type="pres">
      <dgm:prSet presAssocID="{0F0BF3BE-2843-4678-8C70-31D3565AF9CD}" presName="connTx" presStyleLbl="parChTrans1D2" presStyleIdx="2" presStyleCnt="3"/>
      <dgm:spPr/>
      <dgm:t>
        <a:bodyPr/>
        <a:lstStyle/>
        <a:p>
          <a:endParaRPr lang="en-IN"/>
        </a:p>
      </dgm:t>
    </dgm:pt>
    <dgm:pt modelId="{86C8963D-E3C5-40B6-BD46-57809FEE0DC5}" type="pres">
      <dgm:prSet presAssocID="{91931B64-A73E-4600-A11D-BBA8B9064FB3}" presName="root2" presStyleCnt="0"/>
      <dgm:spPr/>
    </dgm:pt>
    <dgm:pt modelId="{F71F2B64-BB0A-4380-9663-D9ECFD891465}" type="pres">
      <dgm:prSet presAssocID="{91931B64-A73E-4600-A11D-BBA8B9064FB3}" presName="LevelTwoTextNode" presStyleLbl="node2" presStyleIdx="2" presStyleCnt="3" custScaleX="89933" custScaleY="39153">
        <dgm:presLayoutVars>
          <dgm:chPref val="3"/>
        </dgm:presLayoutVars>
      </dgm:prSet>
      <dgm:spPr/>
      <dgm:t>
        <a:bodyPr/>
        <a:lstStyle/>
        <a:p>
          <a:endParaRPr lang="en-IN"/>
        </a:p>
      </dgm:t>
    </dgm:pt>
    <dgm:pt modelId="{1DE48427-74D3-4201-99D3-61E2B33EFA36}" type="pres">
      <dgm:prSet presAssocID="{91931B64-A73E-4600-A11D-BBA8B9064FB3}" presName="level3hierChild" presStyleCnt="0"/>
      <dgm:spPr/>
    </dgm:pt>
  </dgm:ptLst>
  <dgm:cxnLst>
    <dgm:cxn modelId="{8540FAED-5D62-4400-A303-6322AFAC1FE3}" type="presOf" srcId="{0F0BF3BE-2843-4678-8C70-31D3565AF9CD}" destId="{AA757C03-1359-4855-80FC-F209C9EBF00C}" srcOrd="1" destOrd="0" presId="urn:microsoft.com/office/officeart/2005/8/layout/hierarchy2"/>
    <dgm:cxn modelId="{0BAB2BBA-F5A2-4ECB-8196-450E9A7041EE}" type="presOf" srcId="{C8A8B5E2-F350-4106-A4DA-101189554A07}" destId="{86F91543-CDBD-4C1E-9647-EE63256E337F}" srcOrd="0" destOrd="0" presId="urn:microsoft.com/office/officeart/2005/8/layout/hierarchy2"/>
    <dgm:cxn modelId="{66E47EA5-A311-4587-A142-2AF7B8E84102}" srcId="{7D1702FA-406A-4C83-A4FE-F58E40660272}" destId="{4365F6C9-4494-4C60-85F9-49288F146954}" srcOrd="0" destOrd="0" parTransId="{02C17AD2-CD40-4181-8690-E8B47606742A}" sibTransId="{F6FA8DE4-44CF-4810-9371-601EA5260829}"/>
    <dgm:cxn modelId="{FEEE6C3A-B7C9-4D25-91C0-4F99B68B7D0F}" srcId="{4365F6C9-4494-4C60-85F9-49288F146954}" destId="{D42843B7-C38F-418A-8534-83686F809B37}" srcOrd="0" destOrd="0" parTransId="{C8A8B5E2-F350-4106-A4DA-101189554A07}" sibTransId="{B481CF9C-97BC-4855-ADFD-445163AB772E}"/>
    <dgm:cxn modelId="{E463FEB1-91BA-4C89-B299-5C7EC4DD30D4}" type="presOf" srcId="{1CA0183D-DE6E-40E2-93AA-FE1EACF984E5}" destId="{47802CB3-8C95-45F6-9CB5-20CD578799EE}" srcOrd="1" destOrd="0" presId="urn:microsoft.com/office/officeart/2005/8/layout/hierarchy2"/>
    <dgm:cxn modelId="{06F6F975-F70C-4BDF-B279-2B2CFCDCFE90}" type="presOf" srcId="{1CA0183D-DE6E-40E2-93AA-FE1EACF984E5}" destId="{9917C270-710C-4621-8646-00EB37130D5E}" srcOrd="0" destOrd="0" presId="urn:microsoft.com/office/officeart/2005/8/layout/hierarchy2"/>
    <dgm:cxn modelId="{02E131E3-5C1F-4F0F-B22C-9CF2D6DC1A5C}" srcId="{4365F6C9-4494-4C60-85F9-49288F146954}" destId="{91931B64-A73E-4600-A11D-BBA8B9064FB3}" srcOrd="2" destOrd="0" parTransId="{0F0BF3BE-2843-4678-8C70-31D3565AF9CD}" sibTransId="{880FF49F-9AF5-40D2-89B2-67BFB31314FD}"/>
    <dgm:cxn modelId="{FA7ADC26-5179-4008-945D-97866EEAEA12}" type="presOf" srcId="{D42843B7-C38F-418A-8534-83686F809B37}" destId="{A97312DD-0F8B-4CFA-A638-23DCD37F468E}" srcOrd="0" destOrd="0" presId="urn:microsoft.com/office/officeart/2005/8/layout/hierarchy2"/>
    <dgm:cxn modelId="{522EFD58-FD45-438E-B9DD-D641EA6FE5C7}" type="presOf" srcId="{1E85B27D-1A53-4764-8D65-4DDD8ADD758A}" destId="{87BC8AE3-1B31-4C9A-81F4-FB38A4BA4441}" srcOrd="0" destOrd="0" presId="urn:microsoft.com/office/officeart/2005/8/layout/hierarchy2"/>
    <dgm:cxn modelId="{D414FEDD-6738-4FF1-AA1E-DC1867D18626}" type="presOf" srcId="{0F0BF3BE-2843-4678-8C70-31D3565AF9CD}" destId="{2BEA0950-FD34-4CA1-9CBD-0C330136BED6}" srcOrd="0" destOrd="0" presId="urn:microsoft.com/office/officeart/2005/8/layout/hierarchy2"/>
    <dgm:cxn modelId="{0ED97ABB-DBA1-4C74-8F32-E3A1FDBCEFB2}" srcId="{4365F6C9-4494-4C60-85F9-49288F146954}" destId="{1E85B27D-1A53-4764-8D65-4DDD8ADD758A}" srcOrd="1" destOrd="0" parTransId="{1CA0183D-DE6E-40E2-93AA-FE1EACF984E5}" sibTransId="{6A37477B-A427-4C26-ABDC-F6CE1040743E}"/>
    <dgm:cxn modelId="{CADB7940-E1CE-4C4A-BBA1-26330E4249C3}" type="presOf" srcId="{91931B64-A73E-4600-A11D-BBA8B9064FB3}" destId="{F71F2B64-BB0A-4380-9663-D9ECFD891465}" srcOrd="0" destOrd="0" presId="urn:microsoft.com/office/officeart/2005/8/layout/hierarchy2"/>
    <dgm:cxn modelId="{7A73C358-9ED8-460F-A4C5-BC2E85DF7D34}" type="presOf" srcId="{4365F6C9-4494-4C60-85F9-49288F146954}" destId="{B8F11015-8E9A-4244-8B17-5574E1E17B47}" srcOrd="0" destOrd="0" presId="urn:microsoft.com/office/officeart/2005/8/layout/hierarchy2"/>
    <dgm:cxn modelId="{77A0621B-C931-4F91-9869-DEC25605FECD}" type="presOf" srcId="{C8A8B5E2-F350-4106-A4DA-101189554A07}" destId="{A2327FDD-8224-40BF-80A8-B26AEC29A651}" srcOrd="1" destOrd="0" presId="urn:microsoft.com/office/officeart/2005/8/layout/hierarchy2"/>
    <dgm:cxn modelId="{6B1399B8-C950-4BFD-9DA5-9542E6FC29E7}" type="presOf" srcId="{7D1702FA-406A-4C83-A4FE-F58E40660272}" destId="{6CBDA104-D66D-44CA-92DA-5C0232C74448}" srcOrd="0" destOrd="0" presId="urn:microsoft.com/office/officeart/2005/8/layout/hierarchy2"/>
    <dgm:cxn modelId="{68BDD807-0CEC-4C1B-A856-00C36A00CC3A}" type="presParOf" srcId="{6CBDA104-D66D-44CA-92DA-5C0232C74448}" destId="{EDF109EE-BA24-4576-A46A-C5C75B55E3FF}" srcOrd="0" destOrd="0" presId="urn:microsoft.com/office/officeart/2005/8/layout/hierarchy2"/>
    <dgm:cxn modelId="{49C845F3-1419-4E39-9059-BC415B2518C0}" type="presParOf" srcId="{EDF109EE-BA24-4576-A46A-C5C75B55E3FF}" destId="{B8F11015-8E9A-4244-8B17-5574E1E17B47}" srcOrd="0" destOrd="0" presId="urn:microsoft.com/office/officeart/2005/8/layout/hierarchy2"/>
    <dgm:cxn modelId="{30131C39-7C18-4589-B486-5A8624B71F6E}" type="presParOf" srcId="{EDF109EE-BA24-4576-A46A-C5C75B55E3FF}" destId="{00104975-1289-4E4B-9BB0-7B4EAC7FA732}" srcOrd="1" destOrd="0" presId="urn:microsoft.com/office/officeart/2005/8/layout/hierarchy2"/>
    <dgm:cxn modelId="{DFC3978F-50C2-4017-AF8F-EF52164070D5}" type="presParOf" srcId="{00104975-1289-4E4B-9BB0-7B4EAC7FA732}" destId="{86F91543-CDBD-4C1E-9647-EE63256E337F}" srcOrd="0" destOrd="0" presId="urn:microsoft.com/office/officeart/2005/8/layout/hierarchy2"/>
    <dgm:cxn modelId="{3EF7A35A-0863-4114-8C8B-E34FCA2FD8AC}" type="presParOf" srcId="{86F91543-CDBD-4C1E-9647-EE63256E337F}" destId="{A2327FDD-8224-40BF-80A8-B26AEC29A651}" srcOrd="0" destOrd="0" presId="urn:microsoft.com/office/officeart/2005/8/layout/hierarchy2"/>
    <dgm:cxn modelId="{95BD48A2-2584-4711-9BC6-866F4746D94B}" type="presParOf" srcId="{00104975-1289-4E4B-9BB0-7B4EAC7FA732}" destId="{F34CEDEC-FAE9-4038-A090-B0E9C794B245}" srcOrd="1" destOrd="0" presId="urn:microsoft.com/office/officeart/2005/8/layout/hierarchy2"/>
    <dgm:cxn modelId="{FDC02356-F9E4-4228-87B4-19A2CA44A777}" type="presParOf" srcId="{F34CEDEC-FAE9-4038-A090-B0E9C794B245}" destId="{A97312DD-0F8B-4CFA-A638-23DCD37F468E}" srcOrd="0" destOrd="0" presId="urn:microsoft.com/office/officeart/2005/8/layout/hierarchy2"/>
    <dgm:cxn modelId="{9877BAAF-FCAE-4472-8F83-9FD3DFE76971}" type="presParOf" srcId="{F34CEDEC-FAE9-4038-A090-B0E9C794B245}" destId="{2935643F-BA8C-4E65-B559-8429EB82678C}" srcOrd="1" destOrd="0" presId="urn:microsoft.com/office/officeart/2005/8/layout/hierarchy2"/>
    <dgm:cxn modelId="{9D7F9310-C8A1-4D1F-B7EA-AD9AAAC23C2E}" type="presParOf" srcId="{00104975-1289-4E4B-9BB0-7B4EAC7FA732}" destId="{9917C270-710C-4621-8646-00EB37130D5E}" srcOrd="2" destOrd="0" presId="urn:microsoft.com/office/officeart/2005/8/layout/hierarchy2"/>
    <dgm:cxn modelId="{A2BE91FC-49EC-41F7-9B7B-A0C8DA239BEE}" type="presParOf" srcId="{9917C270-710C-4621-8646-00EB37130D5E}" destId="{47802CB3-8C95-45F6-9CB5-20CD578799EE}" srcOrd="0" destOrd="0" presId="urn:microsoft.com/office/officeart/2005/8/layout/hierarchy2"/>
    <dgm:cxn modelId="{C7E3E1FE-B0B1-4410-B2C7-0F6B4022ADFC}" type="presParOf" srcId="{00104975-1289-4E4B-9BB0-7B4EAC7FA732}" destId="{E828A71B-4038-48B7-9330-DA2CB2EC8B91}" srcOrd="3" destOrd="0" presId="urn:microsoft.com/office/officeart/2005/8/layout/hierarchy2"/>
    <dgm:cxn modelId="{893623FC-E10E-41AC-8E3A-DFBED0DCF68F}" type="presParOf" srcId="{E828A71B-4038-48B7-9330-DA2CB2EC8B91}" destId="{87BC8AE3-1B31-4C9A-81F4-FB38A4BA4441}" srcOrd="0" destOrd="0" presId="urn:microsoft.com/office/officeart/2005/8/layout/hierarchy2"/>
    <dgm:cxn modelId="{EA31CEAE-590E-41BB-B511-9F56EEF7ADF0}" type="presParOf" srcId="{E828A71B-4038-48B7-9330-DA2CB2EC8B91}" destId="{82326699-D5E4-4B31-852C-842AE7E5824A}" srcOrd="1" destOrd="0" presId="urn:microsoft.com/office/officeart/2005/8/layout/hierarchy2"/>
    <dgm:cxn modelId="{0649BAC2-3712-4360-BEFC-680978A2E9BC}" type="presParOf" srcId="{00104975-1289-4E4B-9BB0-7B4EAC7FA732}" destId="{2BEA0950-FD34-4CA1-9CBD-0C330136BED6}" srcOrd="4" destOrd="0" presId="urn:microsoft.com/office/officeart/2005/8/layout/hierarchy2"/>
    <dgm:cxn modelId="{7F36E3B3-5049-40C5-9D5D-556705D83523}" type="presParOf" srcId="{2BEA0950-FD34-4CA1-9CBD-0C330136BED6}" destId="{AA757C03-1359-4855-80FC-F209C9EBF00C}" srcOrd="0" destOrd="0" presId="urn:microsoft.com/office/officeart/2005/8/layout/hierarchy2"/>
    <dgm:cxn modelId="{629988D5-AC79-4B0B-AA56-9DEB80242477}" type="presParOf" srcId="{00104975-1289-4E4B-9BB0-7B4EAC7FA732}" destId="{86C8963D-E3C5-40B6-BD46-57809FEE0DC5}" srcOrd="5" destOrd="0" presId="urn:microsoft.com/office/officeart/2005/8/layout/hierarchy2"/>
    <dgm:cxn modelId="{F7F21FD5-0BF0-4B6B-9244-308FB83EDB03}" type="presParOf" srcId="{86C8963D-E3C5-40B6-BD46-57809FEE0DC5}" destId="{F71F2B64-BB0A-4380-9663-D9ECFD891465}" srcOrd="0" destOrd="0" presId="urn:microsoft.com/office/officeart/2005/8/layout/hierarchy2"/>
    <dgm:cxn modelId="{BAD6010E-D183-4E8E-B957-23BDA4DB9370}" type="presParOf" srcId="{86C8963D-E3C5-40B6-BD46-57809FEE0DC5}" destId="{1DE48427-74D3-4201-99D3-61E2B33EFA36}"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11/23/2021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1</a:t>
            </a:fld>
            <a:endParaRPr lang="en-US"/>
          </a:p>
        </p:txBody>
      </p:sp>
    </p:spTree>
    <p:extLst>
      <p:ext uri="{BB962C8B-B14F-4D97-AF65-F5344CB8AC3E}">
        <p14:creationId xmlns:p14="http://schemas.microsoft.com/office/powerpoint/2010/main" val="242001631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png"/><Relationship Id="rId4" Type="http://schemas.microsoft.com/office/2007/relationships/hdphoto" Target="../media/hdphoto2.wdp"/></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2.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xmlns="" id="{E0042908-6588-4C7A-9615-8D5899E8A9FA}"/>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xmlns=""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xmlns=""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solidFill>
              <a:schemeClr val="tx2"/>
            </a:solid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p:nvPr>
        </p:nvSpPr>
        <p:spPr>
          <a:xfrm>
            <a:off x="1828969" y="5563895"/>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endParaRPr lang="en-US" dirty="0"/>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xmlns="" id="{3C805A05-DDF6-4BA6-8EDB-D97128A43BFF}"/>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xmlns=""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xmlns="" id="{43663646-67F9-47C4-84E3-B4EEDA5FB900}"/>
              </a:ext>
            </a:extLst>
          </p:cNvPr>
          <p:cNvSpPr/>
          <p:nvPr userDrawn="1"/>
        </p:nvSpPr>
        <p:spPr>
          <a:xfrm rot="5400000">
            <a:off x="4309292" y="1717040"/>
            <a:ext cx="3461658" cy="2984188"/>
          </a:xfrm>
          <a:prstGeom prst="hexagon">
            <a:avLst/>
          </a:prstGeom>
          <a:solidFill>
            <a:schemeClr val="bg1">
              <a:lumMod val="95000"/>
            </a:schemeClr>
          </a:solidFill>
          <a:ln w="57150">
            <a:solidFill>
              <a:schemeClr val="tx2"/>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a:extLst>
              <a:ext uri="{FF2B5EF4-FFF2-40B4-BE49-F238E27FC236}">
                <a16:creationId xmlns:a16="http://schemas.microsoft.com/office/drawing/2014/main" xmlns="" id="{760958F6-32DB-4A2F-BFC3-1FBEA359C54B}"/>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34" name="Rectangle 33">
            <a:extLst>
              <a:ext uri="{FF2B5EF4-FFF2-40B4-BE49-F238E27FC236}">
                <a16:creationId xmlns:a16="http://schemas.microsoft.com/office/drawing/2014/main" xmlns="" id="{66C323F2-F0D8-4EB7-83AE-DFAA81BC49DE}"/>
              </a:ext>
            </a:extLst>
          </p:cNvPr>
          <p:cNvSpPr/>
          <p:nvPr userDrawn="1"/>
        </p:nvSpPr>
        <p:spPr>
          <a:xfrm rot="10800000">
            <a:off x="7678346" y="2221532"/>
            <a:ext cx="4513654" cy="1951692"/>
          </a:xfrm>
          <a:prstGeom prst="rect">
            <a:avLst/>
          </a:prstGeom>
          <a:gradFill>
            <a:gsLst>
              <a:gs pos="0">
                <a:srgbClr val="1D3064"/>
              </a:gs>
              <a:gs pos="50000">
                <a:srgbClr val="1D3064"/>
              </a:gs>
              <a:gs pos="100000">
                <a:schemeClr val="tx2"/>
              </a:gs>
            </a:gsLst>
            <a:lin ang="10800000" scaled="1"/>
          </a:gra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212D27AE-1148-4B42-8B61-FEBB2397EFD9}"/>
              </a:ext>
            </a:extLst>
          </p:cNvPr>
          <p:cNvSpPr/>
          <p:nvPr userDrawn="1"/>
        </p:nvSpPr>
        <p:spPr>
          <a:xfrm>
            <a:off x="0" y="2221532"/>
            <a:ext cx="4402106" cy="1951692"/>
          </a:xfrm>
          <a:prstGeom prst="rect">
            <a:avLst/>
          </a:prstGeom>
          <a:gradFill>
            <a:gsLst>
              <a:gs pos="0">
                <a:srgbClr val="1D3064"/>
              </a:gs>
              <a:gs pos="50000">
                <a:srgbClr val="1D3064"/>
              </a:gs>
              <a:gs pos="100000">
                <a:schemeClr val="tx2"/>
              </a:gs>
            </a:gsLst>
            <a:lin ang="10800000" scaled="1"/>
          </a:gradFill>
          <a:ln>
            <a:solidFill>
              <a:schemeClr val="tx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123544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81400" y="6604000"/>
            <a:ext cx="45720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7 - Categories of Distributed System</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9576895" y="58903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ebdings" panose="05030102010509060703"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81400" y="6604000"/>
            <a:ext cx="45720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7 - Categories of Distributed System</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027612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81400" y="6604000"/>
            <a:ext cx="45720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7 - Categories of Distributed System</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4686285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xmlns=""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xmlns=""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xmlns=""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xmlns=""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9" name="Group 8">
            <a:extLst>
              <a:ext uri="{FF2B5EF4-FFF2-40B4-BE49-F238E27FC236}">
                <a16:creationId xmlns:a16="http://schemas.microsoft.com/office/drawing/2014/main" xmlns="" id="{2802A992-B18A-47D4-8497-02E7586DF58D}"/>
              </a:ext>
            </a:extLst>
          </p:cNvPr>
          <p:cNvGrpSpPr/>
          <p:nvPr userDrawn="1"/>
        </p:nvGrpSpPr>
        <p:grpSpPr>
          <a:xfrm>
            <a:off x="9437223" y="6087939"/>
            <a:ext cx="2554143" cy="587454"/>
            <a:chOff x="131177" y="5775962"/>
            <a:chExt cx="2530239" cy="581956"/>
          </a:xfrm>
        </p:grpSpPr>
        <p:pic>
          <p:nvPicPr>
            <p:cNvPr id="13" name="Picture 12">
              <a:extLst>
                <a:ext uri="{FF2B5EF4-FFF2-40B4-BE49-F238E27FC236}">
                  <a16:creationId xmlns:a16="http://schemas.microsoft.com/office/drawing/2014/main" xmlns="" id="{8DD61FEC-075B-4EDD-97CA-36E6F72630F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4" name="Rectangle 13">
              <a:extLst>
                <a:ext uri="{FF2B5EF4-FFF2-40B4-BE49-F238E27FC236}">
                  <a16:creationId xmlns:a16="http://schemas.microsoft.com/office/drawing/2014/main" xmlns="" id="{CB550E12-AA95-4B1B-A8D2-ED01E515FC43}"/>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xmlns=""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81400" y="6604000"/>
            <a:ext cx="45720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7 - Categories of Distributed System</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297197250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xmlns=""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81400" y="6604000"/>
            <a:ext cx="45720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7 - Categories of Distributed System</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20624780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xmlns=""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81400" y="6604000"/>
            <a:ext cx="45720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7 - Categories of Distributed System</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4331452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xmlns=""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xmlns=""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xmlns=""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xmlns=""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xmlns=""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xmlns=""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xmlns=""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11/23/2021</a:t>
            </a:fld>
            <a:endParaRPr lang="en-US"/>
          </a:p>
        </p:txBody>
      </p:sp>
      <p:sp>
        <p:nvSpPr>
          <p:cNvPr id="5" name="Footer Placeholder 4">
            <a:extLst>
              <a:ext uri="{FF2B5EF4-FFF2-40B4-BE49-F238E27FC236}">
                <a16:creationId xmlns:a16="http://schemas.microsoft.com/office/drawing/2014/main" xmlns=""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2" r:id="rId2"/>
    <p:sldLayoutId id="2147483670" r:id="rId3"/>
    <p:sldLayoutId id="2147483687" r:id="rId4"/>
    <p:sldLayoutId id="2147483688" r:id="rId5"/>
    <p:sldLayoutId id="2147483671" r:id="rId6"/>
    <p:sldLayoutId id="2147483672" r:id="rId7"/>
    <p:sldLayoutId id="2147483689" r:id="rId8"/>
    <p:sldLayoutId id="2147483690" r:id="rId9"/>
    <p:sldLayoutId id="2147483673" r:id="rId10"/>
    <p:sldLayoutId id="2147483691"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_rels/slide3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0A5353-D4D5-43D7-A039-6CFC6871D64F}"/>
              </a:ext>
            </a:extLst>
          </p:cNvPr>
          <p:cNvSpPr>
            <a:spLocks noGrp="1"/>
          </p:cNvSpPr>
          <p:nvPr>
            <p:ph type="ctrTitle"/>
          </p:nvPr>
        </p:nvSpPr>
        <p:spPr>
          <a:xfrm>
            <a:off x="353569" y="1879077"/>
            <a:ext cx="8318156" cy="2497450"/>
          </a:xfrm>
        </p:spPr>
        <p:txBody>
          <a:bodyPr/>
          <a:lstStyle/>
          <a:p>
            <a:pPr lvl="0">
              <a:lnSpc>
                <a:spcPct val="100000"/>
              </a:lnSpc>
              <a:spcBef>
                <a:spcPts val="0"/>
              </a:spcBef>
            </a:pPr>
            <a:r>
              <a:rPr lang="en-US" sz="4800" b="0" dirty="0" smtClean="0">
                <a:latin typeface="Roboto Condensed Light" panose="02000000000000000000" pitchFamily="2" charset="0"/>
                <a:ea typeface="Roboto Condensed Light" panose="02000000000000000000" pitchFamily="2" charset="0"/>
              </a:rPr>
              <a:t>Unit-7</a:t>
            </a:r>
            <a:r>
              <a:rPr lang="en-US" dirty="0" smtClean="0"/>
              <a:t> </a:t>
            </a:r>
            <a:r>
              <a:rPr lang="en-US" dirty="0"/>
              <a:t/>
            </a:r>
            <a:br>
              <a:rPr lang="en-US" dirty="0"/>
            </a:br>
            <a:r>
              <a:rPr lang="en-US" sz="4800" b="0" dirty="0"/>
              <a:t>Categories of Distributed System</a:t>
            </a:r>
            <a:r>
              <a:rPr lang="en-US" sz="4800" dirty="0"/>
              <a:t/>
            </a:r>
            <a:br>
              <a:rPr lang="en-US" sz="4800" dirty="0"/>
            </a:br>
            <a:r>
              <a:rPr lang="en-US" sz="2400" b="0" dirty="0">
                <a:solidFill>
                  <a:srgbClr val="212121">
                    <a:lumMod val="90000"/>
                    <a:lumOff val="10000"/>
                  </a:srgbClr>
                </a:solidFill>
              </a:rPr>
              <a:t/>
            </a:r>
            <a:br>
              <a:rPr lang="en-US" sz="2400" b="0" dirty="0">
                <a:solidFill>
                  <a:srgbClr val="212121">
                    <a:lumMod val="90000"/>
                    <a:lumOff val="10000"/>
                  </a:srgbClr>
                </a:solidFill>
              </a:rPr>
            </a:br>
            <a:endParaRPr lang="en-US" dirty="0"/>
          </a:p>
        </p:txBody>
      </p:sp>
      <p:sp>
        <p:nvSpPr>
          <p:cNvPr id="3" name="Text Placeholder 2">
            <a:extLst>
              <a:ext uri="{FF2B5EF4-FFF2-40B4-BE49-F238E27FC236}">
                <a16:creationId xmlns:a16="http://schemas.microsoft.com/office/drawing/2014/main" xmlns="" id="{E4D4005A-4647-4086-9144-7BCC7DFEFB1B}"/>
              </a:ext>
            </a:extLst>
          </p:cNvPr>
          <p:cNvSpPr>
            <a:spLocks noGrp="1"/>
          </p:cNvSpPr>
          <p:nvPr>
            <p:ph type="body" sz="quarter" idx="11"/>
          </p:nvPr>
        </p:nvSpPr>
        <p:spPr/>
        <p:txBody>
          <a:bodyPr/>
          <a:lstStyle/>
          <a:p>
            <a:r>
              <a:rPr lang="en-US" dirty="0"/>
              <a:t>u</a:t>
            </a:r>
            <a:r>
              <a:rPr lang="en-US" dirty="0" smtClean="0"/>
              <a:t>mesh.thoriya@darshan.ac.in</a:t>
            </a:r>
            <a:endParaRPr lang="en-US" dirty="0"/>
          </a:p>
        </p:txBody>
      </p:sp>
      <p:sp>
        <p:nvSpPr>
          <p:cNvPr id="4" name="Text Placeholder 3">
            <a:extLst>
              <a:ext uri="{FF2B5EF4-FFF2-40B4-BE49-F238E27FC236}">
                <a16:creationId xmlns:a16="http://schemas.microsoft.com/office/drawing/2014/main" xmlns="" id="{6F817D43-889A-4049-ACFD-9B3B648B6A91}"/>
              </a:ext>
            </a:extLst>
          </p:cNvPr>
          <p:cNvSpPr>
            <a:spLocks noGrp="1"/>
          </p:cNvSpPr>
          <p:nvPr>
            <p:ph type="body" sz="quarter" idx="12"/>
          </p:nvPr>
        </p:nvSpPr>
        <p:spPr/>
        <p:txBody>
          <a:bodyPr/>
          <a:lstStyle/>
          <a:p>
            <a:r>
              <a:rPr lang="en-US" dirty="0" smtClean="0"/>
              <a:t>9714233355</a:t>
            </a:r>
            <a:endParaRPr lang="en-US" dirty="0"/>
          </a:p>
        </p:txBody>
      </p:sp>
      <p:sp>
        <p:nvSpPr>
          <p:cNvPr id="5" name="Text Placeholder 4">
            <a:extLst>
              <a:ext uri="{FF2B5EF4-FFF2-40B4-BE49-F238E27FC236}">
                <a16:creationId xmlns:a16="http://schemas.microsoft.com/office/drawing/2014/main" xmlns="" id="{B786D614-6447-4787-8025-9C902A1B7344}"/>
              </a:ext>
            </a:extLst>
          </p:cNvPr>
          <p:cNvSpPr>
            <a:spLocks noGrp="1"/>
          </p:cNvSpPr>
          <p:nvPr>
            <p:ph type="body" sz="quarter" idx="13"/>
          </p:nvPr>
        </p:nvSpPr>
        <p:spPr>
          <a:xfrm>
            <a:off x="1837678" y="5546560"/>
            <a:ext cx="3735998" cy="290081"/>
          </a:xfrm>
        </p:spPr>
        <p:txBody>
          <a:bodyPr/>
          <a:lstStyle/>
          <a:p>
            <a:r>
              <a:rPr lang="en-US" dirty="0"/>
              <a:t>Computer Engineering Department</a:t>
            </a:r>
          </a:p>
        </p:txBody>
      </p:sp>
      <p:sp>
        <p:nvSpPr>
          <p:cNvPr id="6" name="Text Placeholder 5">
            <a:extLst>
              <a:ext uri="{FF2B5EF4-FFF2-40B4-BE49-F238E27FC236}">
                <a16:creationId xmlns:a16="http://schemas.microsoft.com/office/drawing/2014/main" xmlns="" id="{1F7AB9BC-FE08-46B2-A19C-803CB5DF0CD1}"/>
              </a:ext>
            </a:extLst>
          </p:cNvPr>
          <p:cNvSpPr>
            <a:spLocks noGrp="1"/>
          </p:cNvSpPr>
          <p:nvPr>
            <p:ph type="body" sz="quarter" idx="14"/>
          </p:nvPr>
        </p:nvSpPr>
        <p:spPr/>
        <p:txBody>
          <a:bodyPr/>
          <a:lstStyle/>
          <a:p>
            <a:r>
              <a:rPr lang="en-US" dirty="0"/>
              <a:t>Prof. </a:t>
            </a:r>
            <a:r>
              <a:rPr lang="en-US" dirty="0" smtClean="0"/>
              <a:t>Umesh H. </a:t>
            </a:r>
            <a:r>
              <a:rPr lang="en-US" dirty="0" err="1" smtClean="0"/>
              <a:t>Thoriya</a:t>
            </a:r>
            <a:endParaRPr lang="en-US" dirty="0"/>
          </a:p>
        </p:txBody>
      </p:sp>
      <p:sp>
        <p:nvSpPr>
          <p:cNvPr id="1027" name="Text Placeholder 1026">
            <a:extLst>
              <a:ext uri="{FF2B5EF4-FFF2-40B4-BE49-F238E27FC236}">
                <a16:creationId xmlns:a16="http://schemas.microsoft.com/office/drawing/2014/main" xmlns="" id="{D1F0AA94-EAF3-4868-942A-0125EFC5C764}"/>
              </a:ext>
            </a:extLst>
          </p:cNvPr>
          <p:cNvSpPr>
            <a:spLocks noGrp="1"/>
          </p:cNvSpPr>
          <p:nvPr>
            <p:ph type="body" sz="quarter" idx="16"/>
          </p:nvPr>
        </p:nvSpPr>
        <p:spPr/>
        <p:txBody>
          <a:bodyPr/>
          <a:lstStyle/>
          <a:p>
            <a:pPr>
              <a:lnSpc>
                <a:spcPct val="100000"/>
              </a:lnSpc>
            </a:pPr>
            <a:r>
              <a:rPr lang="en-US" sz="2000" b="1" dirty="0"/>
              <a:t>Distributed </a:t>
            </a:r>
            <a:r>
              <a:rPr lang="en-US" sz="2000" b="1" dirty="0" smtClean="0"/>
              <a:t>System </a:t>
            </a:r>
            <a:r>
              <a:rPr lang="en-US" sz="2000" dirty="0" smtClean="0">
                <a:latin typeface="Roboto Condensed Light" panose="02000000000000000000" pitchFamily="2" charset="0"/>
                <a:ea typeface="Roboto Condensed Light" panose="02000000000000000000" pitchFamily="2" charset="0"/>
              </a:rPr>
              <a:t>(DS)</a:t>
            </a:r>
            <a:endParaRPr lang="en-US" sz="2000" dirty="0">
              <a:latin typeface="Roboto Condensed Light" panose="02000000000000000000" pitchFamily="2" charset="0"/>
              <a:ea typeface="Roboto Condensed Light" panose="02000000000000000000" pitchFamily="2" charset="0"/>
            </a:endParaRPr>
          </a:p>
          <a:p>
            <a:pPr>
              <a:lnSpc>
                <a:spcPct val="100000"/>
              </a:lnSpc>
            </a:pPr>
            <a:r>
              <a:rPr lang="en-US" sz="2000" dirty="0">
                <a:latin typeface="Roboto Condensed Light" panose="02000000000000000000" pitchFamily="2" charset="0"/>
                <a:ea typeface="Roboto Condensed Light" panose="02000000000000000000" pitchFamily="2" charset="0"/>
              </a:rPr>
              <a:t>GTU #3170719</a:t>
            </a:r>
          </a:p>
        </p:txBody>
      </p:sp>
      <p:sp>
        <p:nvSpPr>
          <p:cNvPr id="11" name="AutoShape 3">
            <a:extLst>
              <a:ext uri="{FF2B5EF4-FFF2-40B4-BE49-F238E27FC236}">
                <a16:creationId xmlns:a16="http://schemas.microsoft.com/office/drawing/2014/main" xmlns=""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Picture Placeholder 11">
            <a:extLst>
              <a:ext uri="{FF2B5EF4-FFF2-40B4-BE49-F238E27FC236}">
                <a16:creationId xmlns:a16="http://schemas.microsoft.com/office/drawing/2014/main" xmlns="" id="{D6337D8C-443B-4C47-A28D-6B3C54970252}"/>
              </a:ext>
            </a:extLst>
          </p:cNvPr>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tretch>
            <a:fillRect/>
          </a:stretch>
        </p:blipFill>
        <p:spPr>
          <a:xfrm>
            <a:off x="353569" y="5211251"/>
            <a:ext cx="1353599" cy="1353599"/>
          </a:xfrm>
        </p:spPr>
      </p:pic>
    </p:spTree>
    <p:extLst>
      <p:ext uri="{BB962C8B-B14F-4D97-AF65-F5344CB8AC3E}">
        <p14:creationId xmlns:p14="http://schemas.microsoft.com/office/powerpoint/2010/main" val="661001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D9EBF344-4A7B-4C4A-AF6D-6441BD040AB3}"/>
              </a:ext>
            </a:extLst>
          </p:cNvPr>
          <p:cNvCxnSpPr>
            <a:cxnSpLocks/>
          </p:cNvCxnSpPr>
          <p:nvPr/>
        </p:nvCxnSpPr>
        <p:spPr>
          <a:xfrm>
            <a:off x="1191446" y="-29028"/>
            <a:ext cx="0" cy="34834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xmlns=""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xmlns="" id="{4BD1E24D-7739-4C4F-8234-2614FB54ADBC}"/>
              </a:ext>
            </a:extLst>
          </p:cNvPr>
          <p:cNvSpPr/>
          <p:nvPr/>
        </p:nvSpPr>
        <p:spPr>
          <a:xfrm>
            <a:off x="954165" y="305540"/>
            <a:ext cx="474562" cy="474562"/>
          </a:xfrm>
          <a:prstGeom prst="ellipse">
            <a:avLst/>
          </a:prstGeom>
          <a:solidFill>
            <a:schemeClr val="tx2"/>
          </a:solidFill>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xmlns=""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xmlns="" id="{F34260FD-CAA3-43A0-977C-7E4B57013872}"/>
              </a:ext>
            </a:extLst>
          </p:cNvPr>
          <p:cNvCxnSpPr>
            <a:cxnSpLocks/>
            <a:stCxn id="6" idx="4"/>
          </p:cNvCxnSpPr>
          <p:nvPr/>
        </p:nvCxnSpPr>
        <p:spPr>
          <a:xfrm>
            <a:off x="1191446" y="780102"/>
            <a:ext cx="0" cy="416775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BDA2F9A4-6988-4274-8384-12496EC9D59D}"/>
              </a:ext>
            </a:extLst>
          </p:cNvPr>
          <p:cNvSpPr txBox="1"/>
          <p:nvPr/>
        </p:nvSpPr>
        <p:spPr>
          <a:xfrm>
            <a:off x="1666008" y="319314"/>
            <a:ext cx="8810452" cy="2308324"/>
          </a:xfrm>
          <a:prstGeom prst="rect">
            <a:avLst/>
          </a:prstGeom>
          <a:noFill/>
        </p:spPr>
        <p:txBody>
          <a:bodyPr wrap="square" rtlCol="0">
            <a:spAutoFit/>
          </a:bodyPr>
          <a:lstStyle/>
          <a:p>
            <a:r>
              <a:rPr lang="en-US" sz="2400" b="1" dirty="0"/>
              <a:t>Topics to be covered</a:t>
            </a:r>
          </a:p>
          <a:p>
            <a:pPr marL="742950" lvl="1" indent="-285750">
              <a:lnSpc>
                <a:spcPct val="150000"/>
              </a:lnSpc>
              <a:buFont typeface="Arial" panose="020B0604020202020204" pitchFamily="34" charset="0"/>
              <a:buChar char="•"/>
            </a:pPr>
            <a:r>
              <a:rPr lang="en-US" sz="2000" dirty="0">
                <a:solidFill>
                  <a:schemeClr val="accent6"/>
                </a:solidFill>
              </a:rPr>
              <a:t>Distributed Object-based </a:t>
            </a:r>
            <a:r>
              <a:rPr lang="en-US" sz="2000" dirty="0" smtClean="0">
                <a:solidFill>
                  <a:schemeClr val="accent6"/>
                </a:solidFill>
              </a:rPr>
              <a:t>System</a:t>
            </a:r>
          </a:p>
          <a:p>
            <a:pPr marL="742950" lvl="1" indent="-285750">
              <a:lnSpc>
                <a:spcPct val="150000"/>
              </a:lnSpc>
              <a:buFont typeface="Arial" panose="020B0604020202020204" pitchFamily="34" charset="0"/>
              <a:buChar char="•"/>
            </a:pPr>
            <a:r>
              <a:rPr lang="en-US" sz="2000" dirty="0" smtClean="0">
                <a:solidFill>
                  <a:schemeClr val="accent6"/>
                </a:solidFill>
              </a:rPr>
              <a:t>Distributed </a:t>
            </a:r>
            <a:r>
              <a:rPr lang="en-US" sz="2000" dirty="0">
                <a:solidFill>
                  <a:schemeClr val="accent6"/>
                </a:solidFill>
              </a:rPr>
              <a:t>File </a:t>
            </a:r>
            <a:r>
              <a:rPr lang="en-US" sz="2000" dirty="0" smtClean="0">
                <a:solidFill>
                  <a:schemeClr val="accent6"/>
                </a:solidFill>
              </a:rPr>
              <a:t>System</a:t>
            </a:r>
          </a:p>
          <a:p>
            <a:pPr marL="742950" lvl="1" indent="-285750">
              <a:lnSpc>
                <a:spcPct val="150000"/>
              </a:lnSpc>
              <a:buFont typeface="Arial" panose="020B0604020202020204" pitchFamily="34" charset="0"/>
              <a:buChar char="•"/>
            </a:pPr>
            <a:r>
              <a:rPr lang="en-US" sz="2000" dirty="0" smtClean="0">
                <a:solidFill>
                  <a:schemeClr val="accent6"/>
                </a:solidFill>
              </a:rPr>
              <a:t>Distributed </a:t>
            </a:r>
            <a:r>
              <a:rPr lang="en-US" sz="2000" dirty="0">
                <a:solidFill>
                  <a:schemeClr val="accent6"/>
                </a:solidFill>
              </a:rPr>
              <a:t>Web-based </a:t>
            </a:r>
            <a:r>
              <a:rPr lang="en-US" sz="2000" dirty="0" smtClean="0">
                <a:solidFill>
                  <a:schemeClr val="accent6"/>
                </a:solidFill>
              </a:rPr>
              <a:t>System</a:t>
            </a:r>
          </a:p>
          <a:p>
            <a:pPr marL="742950" lvl="1" indent="-285750">
              <a:lnSpc>
                <a:spcPct val="150000"/>
              </a:lnSpc>
              <a:buFont typeface="Arial" panose="020B0604020202020204" pitchFamily="34" charset="0"/>
              <a:buChar char="•"/>
            </a:pPr>
            <a:r>
              <a:rPr lang="en-US" sz="2000" dirty="0" smtClean="0">
                <a:solidFill>
                  <a:schemeClr val="accent6"/>
                </a:solidFill>
              </a:rPr>
              <a:t>Distributed </a:t>
            </a:r>
            <a:r>
              <a:rPr lang="en-US" sz="2000" dirty="0">
                <a:solidFill>
                  <a:schemeClr val="accent6"/>
                </a:solidFill>
              </a:rPr>
              <a:t>Coordination based System</a:t>
            </a:r>
          </a:p>
        </p:txBody>
      </p:sp>
    </p:spTree>
    <p:extLst>
      <p:ext uri="{BB962C8B-B14F-4D97-AF65-F5344CB8AC3E}">
        <p14:creationId xmlns:p14="http://schemas.microsoft.com/office/powerpoint/2010/main" val="58527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Categories of Distributed System</a:t>
            </a:r>
          </a:p>
        </p:txBody>
      </p:sp>
      <p:sp>
        <p:nvSpPr>
          <p:cNvPr id="4" name="TextBox 3"/>
          <p:cNvSpPr txBox="1"/>
          <p:nvPr/>
        </p:nvSpPr>
        <p:spPr>
          <a:xfrm>
            <a:off x="645459" y="3966882"/>
            <a:ext cx="8579223" cy="830997"/>
          </a:xfrm>
          <a:prstGeom prst="rect">
            <a:avLst/>
          </a:prstGeom>
          <a:noFill/>
        </p:spPr>
        <p:txBody>
          <a:bodyPr wrap="square" rtlCol="0">
            <a:spAutoFit/>
          </a:bodyPr>
          <a:lstStyle/>
          <a:p>
            <a:r>
              <a:rPr lang="en-IN" sz="4800" b="1" dirty="0">
                <a:solidFill>
                  <a:srgbClr val="1D3064"/>
                </a:solidFill>
              </a:rPr>
              <a:t>Distributed Object-based System</a:t>
            </a:r>
          </a:p>
        </p:txBody>
      </p:sp>
    </p:spTree>
    <p:extLst>
      <p:ext uri="{BB962C8B-B14F-4D97-AF65-F5344CB8AC3E}">
        <p14:creationId xmlns:p14="http://schemas.microsoft.com/office/powerpoint/2010/main" val="26916618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Distributed Object-based System</a:t>
            </a:r>
          </a:p>
        </p:txBody>
      </p:sp>
      <p:sp>
        <p:nvSpPr>
          <p:cNvPr id="6" name="Content Placeholder 5"/>
          <p:cNvSpPr>
            <a:spLocks noGrp="1"/>
          </p:cNvSpPr>
          <p:nvPr>
            <p:ph idx="1"/>
          </p:nvPr>
        </p:nvSpPr>
        <p:spPr/>
        <p:txBody>
          <a:bodyPr/>
          <a:lstStyle/>
          <a:p>
            <a:r>
              <a:rPr lang="en-US" dirty="0"/>
              <a:t>In distributed object-based systems, the notion of an </a:t>
            </a:r>
            <a:r>
              <a:rPr lang="en-US" dirty="0" smtClean="0"/>
              <a:t>object plays </a:t>
            </a:r>
            <a:r>
              <a:rPr lang="en-US" dirty="0"/>
              <a:t>a key </a:t>
            </a:r>
            <a:r>
              <a:rPr lang="en-US" dirty="0" smtClean="0"/>
              <a:t>role in </a:t>
            </a:r>
            <a:r>
              <a:rPr lang="en-US" dirty="0"/>
              <a:t>establishing distribution transparency. </a:t>
            </a:r>
            <a:endParaRPr lang="en-US" dirty="0" smtClean="0"/>
          </a:p>
          <a:p>
            <a:r>
              <a:rPr lang="en-US" dirty="0" smtClean="0"/>
              <a:t>In </a:t>
            </a:r>
            <a:r>
              <a:rPr lang="en-US" dirty="0"/>
              <a:t>principle</a:t>
            </a:r>
            <a:r>
              <a:rPr lang="en-US" dirty="0" smtClean="0"/>
              <a:t>, everything </a:t>
            </a:r>
            <a:r>
              <a:rPr lang="en-US" dirty="0"/>
              <a:t>is treated as an object </a:t>
            </a:r>
            <a:r>
              <a:rPr lang="en-US" dirty="0" smtClean="0"/>
              <a:t>and clients </a:t>
            </a:r>
            <a:r>
              <a:rPr lang="en-US" dirty="0"/>
              <a:t>are offered services </a:t>
            </a:r>
            <a:r>
              <a:rPr lang="en-US" dirty="0" smtClean="0"/>
              <a:t>and resources </a:t>
            </a:r>
            <a:r>
              <a:rPr lang="en-US" dirty="0"/>
              <a:t>in the form of objects that they can invoke</a:t>
            </a:r>
            <a:r>
              <a:rPr lang="en-US" dirty="0" smtClean="0"/>
              <a:t>.</a:t>
            </a:r>
          </a:p>
          <a:p>
            <a:r>
              <a:rPr lang="en-US" dirty="0" smtClean="0"/>
              <a:t>Few examples </a:t>
            </a:r>
            <a:r>
              <a:rPr lang="en-US" dirty="0"/>
              <a:t>of </a:t>
            </a:r>
            <a:r>
              <a:rPr lang="en-US" dirty="0" smtClean="0"/>
              <a:t>Object based systems are CORBA</a:t>
            </a:r>
            <a:r>
              <a:rPr lang="en-US" dirty="0"/>
              <a:t>, Java-based systems, and Globe</a:t>
            </a:r>
            <a:endParaRPr lang="en-IN" dirty="0"/>
          </a:p>
        </p:txBody>
      </p:sp>
    </p:spTree>
    <p:extLst>
      <p:ext uri="{BB962C8B-B14F-4D97-AF65-F5344CB8AC3E}">
        <p14:creationId xmlns:p14="http://schemas.microsoft.com/office/powerpoint/2010/main" val="369929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Distributed Objects</a:t>
            </a:r>
          </a:p>
        </p:txBody>
      </p:sp>
      <p:sp>
        <p:nvSpPr>
          <p:cNvPr id="5" name="TextBox 4"/>
          <p:cNvSpPr txBox="1"/>
          <p:nvPr/>
        </p:nvSpPr>
        <p:spPr>
          <a:xfrm>
            <a:off x="1283073" y="5666970"/>
            <a:ext cx="8202707" cy="461665"/>
          </a:xfrm>
          <a:prstGeom prst="rect">
            <a:avLst/>
          </a:prstGeom>
          <a:solidFill>
            <a:srgbClr val="1D3064"/>
          </a:solidFill>
        </p:spPr>
        <p:txBody>
          <a:bodyPr wrap="square" rtlCol="0">
            <a:spAutoFit/>
          </a:bodyPr>
          <a:lstStyle/>
          <a:p>
            <a:r>
              <a:rPr lang="en-US" sz="2400" dirty="0">
                <a:solidFill>
                  <a:schemeClr val="bg1"/>
                </a:solidFill>
              </a:rPr>
              <a:t>Common organization of a </a:t>
            </a:r>
            <a:r>
              <a:rPr lang="en-US" sz="2400" dirty="0" smtClean="0">
                <a:solidFill>
                  <a:schemeClr val="bg1"/>
                </a:solidFill>
              </a:rPr>
              <a:t>remote object </a:t>
            </a:r>
            <a:r>
              <a:rPr lang="en-US" sz="2400" dirty="0">
                <a:solidFill>
                  <a:schemeClr val="bg1"/>
                </a:solidFill>
              </a:rPr>
              <a:t>with client-side proxy.</a:t>
            </a:r>
            <a:endParaRPr lang="en-IN" sz="2400" dirty="0">
              <a:solidFill>
                <a:schemeClr val="bg1"/>
              </a:solidFill>
            </a:endParaRPr>
          </a:p>
        </p:txBody>
      </p:sp>
      <p:pic>
        <p:nvPicPr>
          <p:cNvPr id="4" name="Picture 3"/>
          <p:cNvPicPr>
            <a:picLocks noChangeAspect="1"/>
          </p:cNvPicPr>
          <p:nvPr/>
        </p:nvPicPr>
        <p:blipFill>
          <a:blip r:embed="rId2"/>
          <a:stretch>
            <a:fillRect/>
          </a:stretch>
        </p:blipFill>
        <p:spPr>
          <a:xfrm>
            <a:off x="2069726" y="1388860"/>
            <a:ext cx="6629400" cy="3600450"/>
          </a:xfrm>
          <a:prstGeom prst="rect">
            <a:avLst/>
          </a:prstGeom>
        </p:spPr>
      </p:pic>
      <p:sp>
        <p:nvSpPr>
          <p:cNvPr id="6" name="TextBox 5"/>
          <p:cNvSpPr txBox="1"/>
          <p:nvPr/>
        </p:nvSpPr>
        <p:spPr>
          <a:xfrm>
            <a:off x="524435" y="1196788"/>
            <a:ext cx="941294" cy="369332"/>
          </a:xfrm>
          <a:prstGeom prst="rect">
            <a:avLst/>
          </a:prstGeom>
          <a:noFill/>
        </p:spPr>
        <p:txBody>
          <a:bodyPr wrap="square" rtlCol="0">
            <a:spAutoFit/>
          </a:bodyPr>
          <a:lstStyle/>
          <a:p>
            <a:endParaRPr lang="en-IN" dirty="0"/>
          </a:p>
        </p:txBody>
      </p:sp>
      <p:sp>
        <p:nvSpPr>
          <p:cNvPr id="7" name="TextBox 6"/>
          <p:cNvSpPr txBox="1"/>
          <p:nvPr/>
        </p:nvSpPr>
        <p:spPr>
          <a:xfrm>
            <a:off x="2729753" y="1204194"/>
            <a:ext cx="1775012" cy="400110"/>
          </a:xfrm>
          <a:prstGeom prst="rect">
            <a:avLst/>
          </a:prstGeom>
          <a:noFill/>
        </p:spPr>
        <p:txBody>
          <a:bodyPr wrap="square" rtlCol="0">
            <a:spAutoFit/>
          </a:bodyPr>
          <a:lstStyle/>
          <a:p>
            <a:r>
              <a:rPr lang="en-IN" sz="2000" dirty="0">
                <a:solidFill>
                  <a:schemeClr val="accent6"/>
                </a:solidFill>
              </a:rPr>
              <a:t>Client machine</a:t>
            </a:r>
          </a:p>
        </p:txBody>
      </p:sp>
      <p:sp>
        <p:nvSpPr>
          <p:cNvPr id="8" name="TextBox 7"/>
          <p:cNvSpPr txBox="1"/>
          <p:nvPr/>
        </p:nvSpPr>
        <p:spPr>
          <a:xfrm>
            <a:off x="6418729" y="1196788"/>
            <a:ext cx="1775012" cy="400110"/>
          </a:xfrm>
          <a:prstGeom prst="rect">
            <a:avLst/>
          </a:prstGeom>
          <a:noFill/>
        </p:spPr>
        <p:txBody>
          <a:bodyPr wrap="square" rtlCol="0">
            <a:spAutoFit/>
          </a:bodyPr>
          <a:lstStyle/>
          <a:p>
            <a:r>
              <a:rPr lang="en-IN" sz="2000" dirty="0">
                <a:solidFill>
                  <a:schemeClr val="accent6"/>
                </a:solidFill>
              </a:rPr>
              <a:t>Server machine</a:t>
            </a:r>
          </a:p>
        </p:txBody>
      </p:sp>
      <p:sp>
        <p:nvSpPr>
          <p:cNvPr id="9" name="TextBox 8"/>
          <p:cNvSpPr txBox="1"/>
          <p:nvPr/>
        </p:nvSpPr>
        <p:spPr>
          <a:xfrm>
            <a:off x="1007969" y="2542754"/>
            <a:ext cx="1519518" cy="646331"/>
          </a:xfrm>
          <a:prstGeom prst="rect">
            <a:avLst/>
          </a:prstGeom>
          <a:noFill/>
        </p:spPr>
        <p:txBody>
          <a:bodyPr wrap="square" rtlCol="0">
            <a:spAutoFit/>
          </a:bodyPr>
          <a:lstStyle/>
          <a:p>
            <a:r>
              <a:rPr lang="en-US" dirty="0" smtClean="0">
                <a:solidFill>
                  <a:srgbClr val="1D3064"/>
                </a:solidFill>
              </a:rPr>
              <a:t>Client invokes a </a:t>
            </a:r>
            <a:r>
              <a:rPr lang="en-US" dirty="0">
                <a:solidFill>
                  <a:srgbClr val="1D3064"/>
                </a:solidFill>
              </a:rPr>
              <a:t>method</a:t>
            </a:r>
            <a:endParaRPr lang="en-IN" dirty="0">
              <a:solidFill>
                <a:srgbClr val="1D3064"/>
              </a:solidFill>
            </a:endParaRPr>
          </a:p>
        </p:txBody>
      </p:sp>
      <p:sp>
        <p:nvSpPr>
          <p:cNvPr id="10" name="TextBox 9"/>
          <p:cNvSpPr txBox="1"/>
          <p:nvPr/>
        </p:nvSpPr>
        <p:spPr>
          <a:xfrm>
            <a:off x="8543364" y="2430612"/>
            <a:ext cx="1519518" cy="369332"/>
          </a:xfrm>
          <a:prstGeom prst="rect">
            <a:avLst/>
          </a:prstGeom>
          <a:noFill/>
        </p:spPr>
        <p:txBody>
          <a:bodyPr wrap="square" rtlCol="0">
            <a:spAutoFit/>
          </a:bodyPr>
          <a:lstStyle/>
          <a:p>
            <a:r>
              <a:rPr lang="en-US" dirty="0">
                <a:solidFill>
                  <a:srgbClr val="1D3064"/>
                </a:solidFill>
              </a:rPr>
              <a:t>Method</a:t>
            </a:r>
            <a:endParaRPr lang="en-IN" dirty="0">
              <a:solidFill>
                <a:srgbClr val="1D3064"/>
              </a:solidFill>
            </a:endParaRPr>
          </a:p>
        </p:txBody>
      </p:sp>
      <p:sp>
        <p:nvSpPr>
          <p:cNvPr id="11" name="TextBox 10"/>
          <p:cNvSpPr txBox="1"/>
          <p:nvPr/>
        </p:nvSpPr>
        <p:spPr>
          <a:xfrm>
            <a:off x="8543364" y="3107634"/>
            <a:ext cx="1519518" cy="369332"/>
          </a:xfrm>
          <a:prstGeom prst="rect">
            <a:avLst/>
          </a:prstGeom>
          <a:noFill/>
        </p:spPr>
        <p:txBody>
          <a:bodyPr wrap="square" rtlCol="0">
            <a:spAutoFit/>
          </a:bodyPr>
          <a:lstStyle/>
          <a:p>
            <a:r>
              <a:rPr lang="en-US" dirty="0">
                <a:solidFill>
                  <a:srgbClr val="1D3064"/>
                </a:solidFill>
              </a:rPr>
              <a:t>Interface</a:t>
            </a:r>
            <a:endParaRPr lang="en-IN" dirty="0">
              <a:solidFill>
                <a:srgbClr val="1D3064"/>
              </a:solidFill>
            </a:endParaRPr>
          </a:p>
        </p:txBody>
      </p:sp>
      <p:sp>
        <p:nvSpPr>
          <p:cNvPr id="12" name="TextBox 11"/>
          <p:cNvSpPr txBox="1"/>
          <p:nvPr/>
        </p:nvSpPr>
        <p:spPr>
          <a:xfrm>
            <a:off x="8542241" y="1566120"/>
            <a:ext cx="1519518" cy="369332"/>
          </a:xfrm>
          <a:prstGeom prst="rect">
            <a:avLst/>
          </a:prstGeom>
          <a:noFill/>
        </p:spPr>
        <p:txBody>
          <a:bodyPr wrap="square" rtlCol="0">
            <a:spAutoFit/>
          </a:bodyPr>
          <a:lstStyle/>
          <a:p>
            <a:r>
              <a:rPr lang="en-US" dirty="0">
                <a:solidFill>
                  <a:srgbClr val="1D3064"/>
                </a:solidFill>
              </a:rPr>
              <a:t>Object</a:t>
            </a:r>
            <a:endParaRPr lang="en-IN" dirty="0">
              <a:solidFill>
                <a:srgbClr val="1D3064"/>
              </a:solidFill>
            </a:endParaRPr>
          </a:p>
        </p:txBody>
      </p:sp>
      <p:sp>
        <p:nvSpPr>
          <p:cNvPr id="13" name="TextBox 12"/>
          <p:cNvSpPr txBox="1"/>
          <p:nvPr/>
        </p:nvSpPr>
        <p:spPr>
          <a:xfrm>
            <a:off x="8473324" y="2058476"/>
            <a:ext cx="1519518" cy="369332"/>
          </a:xfrm>
          <a:prstGeom prst="rect">
            <a:avLst/>
          </a:prstGeom>
          <a:noFill/>
        </p:spPr>
        <p:txBody>
          <a:bodyPr wrap="square" rtlCol="0">
            <a:spAutoFit/>
          </a:bodyPr>
          <a:lstStyle/>
          <a:p>
            <a:r>
              <a:rPr lang="en-US" dirty="0">
                <a:solidFill>
                  <a:srgbClr val="1D3064"/>
                </a:solidFill>
              </a:rPr>
              <a:t>State</a:t>
            </a:r>
            <a:endParaRPr lang="en-IN" dirty="0">
              <a:solidFill>
                <a:srgbClr val="1D3064"/>
              </a:solidFill>
            </a:endParaRPr>
          </a:p>
        </p:txBody>
      </p:sp>
      <p:sp>
        <p:nvSpPr>
          <p:cNvPr id="14" name="TextBox 13"/>
          <p:cNvSpPr txBox="1"/>
          <p:nvPr/>
        </p:nvSpPr>
        <p:spPr>
          <a:xfrm>
            <a:off x="4775665" y="2316341"/>
            <a:ext cx="1643063" cy="646331"/>
          </a:xfrm>
          <a:prstGeom prst="rect">
            <a:avLst/>
          </a:prstGeom>
          <a:noFill/>
        </p:spPr>
        <p:txBody>
          <a:bodyPr wrap="square" rtlCol="0">
            <a:spAutoFit/>
          </a:bodyPr>
          <a:lstStyle/>
          <a:p>
            <a:r>
              <a:rPr lang="en-US" dirty="0" smtClean="0">
                <a:solidFill>
                  <a:srgbClr val="1D3064"/>
                </a:solidFill>
              </a:rPr>
              <a:t>Same interface as </a:t>
            </a:r>
            <a:r>
              <a:rPr lang="en-US" dirty="0">
                <a:solidFill>
                  <a:srgbClr val="1D3064"/>
                </a:solidFill>
              </a:rPr>
              <a:t>object</a:t>
            </a:r>
            <a:endParaRPr lang="en-IN" dirty="0">
              <a:solidFill>
                <a:srgbClr val="1D3064"/>
              </a:solidFill>
            </a:endParaRPr>
          </a:p>
        </p:txBody>
      </p:sp>
      <p:sp>
        <p:nvSpPr>
          <p:cNvPr id="15" name="TextBox 14"/>
          <p:cNvSpPr txBox="1"/>
          <p:nvPr/>
        </p:nvSpPr>
        <p:spPr>
          <a:xfrm>
            <a:off x="4916581" y="3147338"/>
            <a:ext cx="1502147" cy="1200329"/>
          </a:xfrm>
          <a:prstGeom prst="rect">
            <a:avLst/>
          </a:prstGeom>
          <a:noFill/>
        </p:spPr>
        <p:txBody>
          <a:bodyPr wrap="square" rtlCol="0">
            <a:spAutoFit/>
          </a:bodyPr>
          <a:lstStyle/>
          <a:p>
            <a:r>
              <a:rPr lang="en-US" dirty="0" smtClean="0">
                <a:solidFill>
                  <a:srgbClr val="1D3064"/>
                </a:solidFill>
              </a:rPr>
              <a:t>Skeleton invokes same method at </a:t>
            </a:r>
            <a:r>
              <a:rPr lang="en-US" dirty="0">
                <a:solidFill>
                  <a:srgbClr val="1D3064"/>
                </a:solidFill>
              </a:rPr>
              <a:t>object</a:t>
            </a:r>
            <a:endParaRPr lang="en-IN" dirty="0">
              <a:solidFill>
                <a:srgbClr val="1D3064"/>
              </a:solidFill>
            </a:endParaRPr>
          </a:p>
        </p:txBody>
      </p:sp>
      <p:sp>
        <p:nvSpPr>
          <p:cNvPr id="16" name="TextBox 15"/>
          <p:cNvSpPr txBox="1"/>
          <p:nvPr/>
        </p:nvSpPr>
        <p:spPr>
          <a:xfrm>
            <a:off x="5550548" y="4800399"/>
            <a:ext cx="2477345" cy="646331"/>
          </a:xfrm>
          <a:prstGeom prst="rect">
            <a:avLst/>
          </a:prstGeom>
          <a:noFill/>
        </p:spPr>
        <p:txBody>
          <a:bodyPr wrap="square" rtlCol="0">
            <a:spAutoFit/>
          </a:bodyPr>
          <a:lstStyle/>
          <a:p>
            <a:r>
              <a:rPr lang="en-US" dirty="0" smtClean="0"/>
              <a:t>Marshalled invocation is passed </a:t>
            </a:r>
            <a:r>
              <a:rPr lang="en-US" dirty="0"/>
              <a:t>across network</a:t>
            </a:r>
            <a:endParaRPr lang="en-IN" dirty="0"/>
          </a:p>
        </p:txBody>
      </p:sp>
      <p:sp>
        <p:nvSpPr>
          <p:cNvPr id="17" name="TextBox 16"/>
          <p:cNvSpPr txBox="1"/>
          <p:nvPr/>
        </p:nvSpPr>
        <p:spPr>
          <a:xfrm>
            <a:off x="6855197" y="3301502"/>
            <a:ext cx="1024779" cy="369332"/>
          </a:xfrm>
          <a:prstGeom prst="rect">
            <a:avLst/>
          </a:prstGeom>
          <a:noFill/>
        </p:spPr>
        <p:txBody>
          <a:bodyPr wrap="square" rtlCol="0">
            <a:spAutoFit/>
          </a:bodyPr>
          <a:lstStyle/>
          <a:p>
            <a:r>
              <a:rPr lang="en-US" b="1" dirty="0"/>
              <a:t>Skeleton</a:t>
            </a:r>
            <a:endParaRPr lang="en-IN" b="1" dirty="0"/>
          </a:p>
        </p:txBody>
      </p:sp>
      <p:sp>
        <p:nvSpPr>
          <p:cNvPr id="18" name="TextBox 17"/>
          <p:cNvSpPr txBox="1"/>
          <p:nvPr/>
        </p:nvSpPr>
        <p:spPr>
          <a:xfrm>
            <a:off x="3254189" y="3340197"/>
            <a:ext cx="917202" cy="369332"/>
          </a:xfrm>
          <a:prstGeom prst="rect">
            <a:avLst/>
          </a:prstGeom>
          <a:noFill/>
        </p:spPr>
        <p:txBody>
          <a:bodyPr wrap="square" rtlCol="0">
            <a:spAutoFit/>
          </a:bodyPr>
          <a:lstStyle/>
          <a:p>
            <a:r>
              <a:rPr lang="en-US" b="1" dirty="0"/>
              <a:t>Proxy</a:t>
            </a:r>
            <a:endParaRPr lang="en-IN" b="1" dirty="0"/>
          </a:p>
        </p:txBody>
      </p:sp>
      <p:sp>
        <p:nvSpPr>
          <p:cNvPr id="19" name="TextBox 18"/>
          <p:cNvSpPr txBox="1"/>
          <p:nvPr/>
        </p:nvSpPr>
        <p:spPr>
          <a:xfrm>
            <a:off x="2758049" y="1840869"/>
            <a:ext cx="791975" cy="400110"/>
          </a:xfrm>
          <a:prstGeom prst="rect">
            <a:avLst/>
          </a:prstGeom>
          <a:noFill/>
        </p:spPr>
        <p:txBody>
          <a:bodyPr wrap="square" rtlCol="0">
            <a:spAutoFit/>
          </a:bodyPr>
          <a:lstStyle/>
          <a:p>
            <a:r>
              <a:rPr lang="en-IN" sz="2000" dirty="0" smtClean="0">
                <a:solidFill>
                  <a:schemeClr val="accent4"/>
                </a:solidFill>
              </a:rPr>
              <a:t>Client</a:t>
            </a:r>
            <a:endParaRPr lang="en-IN" sz="2000" dirty="0">
              <a:solidFill>
                <a:schemeClr val="accent4"/>
              </a:solidFill>
            </a:endParaRPr>
          </a:p>
        </p:txBody>
      </p:sp>
      <p:sp>
        <p:nvSpPr>
          <p:cNvPr id="20" name="TextBox 19"/>
          <p:cNvSpPr txBox="1"/>
          <p:nvPr/>
        </p:nvSpPr>
        <p:spPr>
          <a:xfrm>
            <a:off x="6418729" y="1789158"/>
            <a:ext cx="903194" cy="400110"/>
          </a:xfrm>
          <a:prstGeom prst="rect">
            <a:avLst/>
          </a:prstGeom>
          <a:noFill/>
        </p:spPr>
        <p:txBody>
          <a:bodyPr wrap="square" rtlCol="0">
            <a:spAutoFit/>
          </a:bodyPr>
          <a:lstStyle/>
          <a:p>
            <a:r>
              <a:rPr lang="en-IN" sz="2000" dirty="0" smtClean="0">
                <a:solidFill>
                  <a:schemeClr val="accent4"/>
                </a:solidFill>
              </a:rPr>
              <a:t>Server</a:t>
            </a:r>
            <a:endParaRPr lang="en-IN" sz="2000" dirty="0">
              <a:solidFill>
                <a:schemeClr val="accent4"/>
              </a:solidFill>
            </a:endParaRPr>
          </a:p>
        </p:txBody>
      </p:sp>
      <p:sp>
        <p:nvSpPr>
          <p:cNvPr id="21" name="TextBox 20"/>
          <p:cNvSpPr txBox="1"/>
          <p:nvPr/>
        </p:nvSpPr>
        <p:spPr>
          <a:xfrm>
            <a:off x="2622177" y="3801710"/>
            <a:ext cx="1116106" cy="369332"/>
          </a:xfrm>
          <a:prstGeom prst="rect">
            <a:avLst/>
          </a:prstGeom>
          <a:noFill/>
        </p:spPr>
        <p:txBody>
          <a:bodyPr wrap="square" rtlCol="0">
            <a:spAutoFit/>
          </a:bodyPr>
          <a:lstStyle/>
          <a:p>
            <a:r>
              <a:rPr lang="en-IN" b="1" dirty="0" smtClean="0">
                <a:solidFill>
                  <a:srgbClr val="1D3064"/>
                </a:solidFill>
              </a:rPr>
              <a:t>Client OS</a:t>
            </a:r>
            <a:endParaRPr lang="en-IN" b="1" dirty="0">
              <a:solidFill>
                <a:srgbClr val="1D3064"/>
              </a:solidFill>
            </a:endParaRPr>
          </a:p>
        </p:txBody>
      </p:sp>
      <p:sp>
        <p:nvSpPr>
          <p:cNvPr id="22" name="TextBox 21"/>
          <p:cNvSpPr txBox="1"/>
          <p:nvPr/>
        </p:nvSpPr>
        <p:spPr>
          <a:xfrm>
            <a:off x="7321923" y="3801976"/>
            <a:ext cx="1116106" cy="369332"/>
          </a:xfrm>
          <a:prstGeom prst="rect">
            <a:avLst/>
          </a:prstGeom>
          <a:noFill/>
        </p:spPr>
        <p:txBody>
          <a:bodyPr wrap="square" rtlCol="0">
            <a:spAutoFit/>
          </a:bodyPr>
          <a:lstStyle/>
          <a:p>
            <a:r>
              <a:rPr lang="en-IN" b="1" dirty="0" smtClean="0">
                <a:solidFill>
                  <a:srgbClr val="1D3064"/>
                </a:solidFill>
              </a:rPr>
              <a:t>Server OS</a:t>
            </a:r>
            <a:endParaRPr lang="en-IN" b="1" dirty="0">
              <a:solidFill>
                <a:srgbClr val="1D3064"/>
              </a:solidFill>
            </a:endParaRPr>
          </a:p>
        </p:txBody>
      </p:sp>
      <p:sp>
        <p:nvSpPr>
          <p:cNvPr id="23" name="TextBox 22"/>
          <p:cNvSpPr txBox="1"/>
          <p:nvPr/>
        </p:nvSpPr>
        <p:spPr>
          <a:xfrm>
            <a:off x="2729753" y="4615733"/>
            <a:ext cx="1135439" cy="400110"/>
          </a:xfrm>
          <a:prstGeom prst="rect">
            <a:avLst/>
          </a:prstGeom>
          <a:noFill/>
        </p:spPr>
        <p:txBody>
          <a:bodyPr wrap="square" rtlCol="0">
            <a:spAutoFit/>
          </a:bodyPr>
          <a:lstStyle/>
          <a:p>
            <a:r>
              <a:rPr lang="en-IN" sz="2000" b="1" dirty="0" smtClean="0">
                <a:solidFill>
                  <a:srgbClr val="1D3064"/>
                </a:solidFill>
              </a:rPr>
              <a:t>Network</a:t>
            </a:r>
            <a:endParaRPr lang="en-IN" sz="2000" b="1" dirty="0">
              <a:solidFill>
                <a:srgbClr val="1D3064"/>
              </a:solidFill>
            </a:endParaRPr>
          </a:p>
        </p:txBody>
      </p:sp>
    </p:spTree>
    <p:extLst>
      <p:ext uri="{BB962C8B-B14F-4D97-AF65-F5344CB8AC3E}">
        <p14:creationId xmlns:p14="http://schemas.microsoft.com/office/powerpoint/2010/main" val="2329917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Distributed Objects</a:t>
            </a:r>
          </a:p>
        </p:txBody>
      </p:sp>
      <p:sp>
        <p:nvSpPr>
          <p:cNvPr id="6" name="Content Placeholder 5"/>
          <p:cNvSpPr>
            <a:spLocks noGrp="1"/>
          </p:cNvSpPr>
          <p:nvPr>
            <p:ph idx="1"/>
          </p:nvPr>
        </p:nvSpPr>
        <p:spPr/>
        <p:txBody>
          <a:bodyPr/>
          <a:lstStyle/>
          <a:p>
            <a:r>
              <a:rPr lang="en-US" dirty="0"/>
              <a:t>Data and operations </a:t>
            </a:r>
            <a:r>
              <a:rPr lang="en-US" dirty="0">
                <a:solidFill>
                  <a:schemeClr val="accent6"/>
                </a:solidFill>
              </a:rPr>
              <a:t>encapsulated</a:t>
            </a:r>
            <a:r>
              <a:rPr lang="en-US" dirty="0"/>
              <a:t> in an object</a:t>
            </a:r>
          </a:p>
          <a:p>
            <a:r>
              <a:rPr lang="en-US" dirty="0" smtClean="0"/>
              <a:t>Operations </a:t>
            </a:r>
            <a:r>
              <a:rPr lang="en-US" dirty="0"/>
              <a:t>implemented as </a:t>
            </a:r>
            <a:r>
              <a:rPr lang="en-US" dirty="0">
                <a:solidFill>
                  <a:schemeClr val="accent6"/>
                </a:solidFill>
              </a:rPr>
              <a:t>methods</a:t>
            </a:r>
            <a:r>
              <a:rPr lang="en-US" dirty="0"/>
              <a:t> grouped into </a:t>
            </a:r>
            <a:r>
              <a:rPr lang="en-US" dirty="0">
                <a:solidFill>
                  <a:schemeClr val="accent6"/>
                </a:solidFill>
              </a:rPr>
              <a:t>interfaces</a:t>
            </a:r>
          </a:p>
          <a:p>
            <a:r>
              <a:rPr lang="en-US" dirty="0" smtClean="0"/>
              <a:t>Object </a:t>
            </a:r>
            <a:r>
              <a:rPr lang="en-US" dirty="0"/>
              <a:t>offers only its </a:t>
            </a:r>
            <a:r>
              <a:rPr lang="en-US" dirty="0">
                <a:solidFill>
                  <a:schemeClr val="accent6"/>
                </a:solidFill>
              </a:rPr>
              <a:t>interface</a:t>
            </a:r>
            <a:r>
              <a:rPr lang="en-US" dirty="0"/>
              <a:t> to clients</a:t>
            </a:r>
          </a:p>
          <a:p>
            <a:r>
              <a:rPr lang="en-US" dirty="0" smtClean="0">
                <a:solidFill>
                  <a:schemeClr val="accent6"/>
                </a:solidFill>
              </a:rPr>
              <a:t>Object </a:t>
            </a:r>
            <a:r>
              <a:rPr lang="en-US" dirty="0">
                <a:solidFill>
                  <a:schemeClr val="accent6"/>
                </a:solidFill>
              </a:rPr>
              <a:t>server </a:t>
            </a:r>
            <a:r>
              <a:rPr lang="en-US" dirty="0"/>
              <a:t>is responsible for a collection of objects</a:t>
            </a:r>
          </a:p>
          <a:p>
            <a:r>
              <a:rPr lang="en-US" dirty="0" smtClean="0">
                <a:solidFill>
                  <a:schemeClr val="accent6"/>
                </a:solidFill>
              </a:rPr>
              <a:t>Client </a:t>
            </a:r>
            <a:r>
              <a:rPr lang="en-US" dirty="0">
                <a:solidFill>
                  <a:schemeClr val="accent6"/>
                </a:solidFill>
              </a:rPr>
              <a:t>stub (proxy) </a:t>
            </a:r>
            <a:r>
              <a:rPr lang="en-US" dirty="0"/>
              <a:t>implements interface</a:t>
            </a:r>
          </a:p>
          <a:p>
            <a:r>
              <a:rPr lang="en-US" dirty="0" smtClean="0">
                <a:solidFill>
                  <a:schemeClr val="accent6"/>
                </a:solidFill>
              </a:rPr>
              <a:t>Server </a:t>
            </a:r>
            <a:r>
              <a:rPr lang="en-US" dirty="0">
                <a:solidFill>
                  <a:schemeClr val="accent6"/>
                </a:solidFill>
              </a:rPr>
              <a:t>skeleton </a:t>
            </a:r>
            <a:r>
              <a:rPr lang="en-US" dirty="0"/>
              <a:t>handles (un)marshaling and object invocation</a:t>
            </a:r>
            <a:endParaRPr lang="en-IN" dirty="0"/>
          </a:p>
        </p:txBody>
      </p:sp>
    </p:spTree>
    <p:extLst>
      <p:ext uri="{BB962C8B-B14F-4D97-AF65-F5344CB8AC3E}">
        <p14:creationId xmlns:p14="http://schemas.microsoft.com/office/powerpoint/2010/main" val="3702929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Example: Enterprise Java Beans</a:t>
            </a:r>
          </a:p>
        </p:txBody>
      </p:sp>
      <p:sp>
        <p:nvSpPr>
          <p:cNvPr id="3" name="Content Placeholder 2"/>
          <p:cNvSpPr>
            <a:spLocks noGrp="1"/>
          </p:cNvSpPr>
          <p:nvPr>
            <p:ph idx="1"/>
          </p:nvPr>
        </p:nvSpPr>
        <p:spPr>
          <a:xfrm>
            <a:off x="131180" y="863444"/>
            <a:ext cx="7757227" cy="5590565"/>
          </a:xfrm>
        </p:spPr>
        <p:txBody>
          <a:bodyPr/>
          <a:lstStyle/>
          <a:p>
            <a:r>
              <a:rPr lang="en-US" dirty="0"/>
              <a:t>An EJB is essentially a </a:t>
            </a:r>
            <a:r>
              <a:rPr lang="en-US" dirty="0">
                <a:solidFill>
                  <a:schemeClr val="accent6"/>
                </a:solidFill>
              </a:rPr>
              <a:t>Java object </a:t>
            </a:r>
            <a:r>
              <a:rPr lang="en-US" dirty="0"/>
              <a:t>that is hosted by a special server offering different ways for remote clients to invoke that </a:t>
            </a:r>
            <a:r>
              <a:rPr lang="en-US" dirty="0" smtClean="0"/>
              <a:t>object</a:t>
            </a:r>
          </a:p>
          <a:p>
            <a:r>
              <a:rPr lang="en-US" dirty="0" smtClean="0"/>
              <a:t>The important </a:t>
            </a:r>
            <a:r>
              <a:rPr lang="en-US" dirty="0"/>
              <a:t>issue is that an EJB is </a:t>
            </a:r>
            <a:r>
              <a:rPr lang="en-US" dirty="0">
                <a:solidFill>
                  <a:schemeClr val="accent6"/>
                </a:solidFill>
              </a:rPr>
              <a:t>embedded inside a container</a:t>
            </a:r>
            <a:r>
              <a:rPr lang="en-US" dirty="0"/>
              <a:t> which effectively provides interfaces to underlying services that are implemented by the application </a:t>
            </a:r>
            <a:r>
              <a:rPr lang="en-US" dirty="0" smtClean="0"/>
              <a:t>server.</a:t>
            </a:r>
          </a:p>
          <a:p>
            <a:r>
              <a:rPr lang="en-US" dirty="0" smtClean="0"/>
              <a:t>The </a:t>
            </a:r>
            <a:r>
              <a:rPr lang="en-US" dirty="0"/>
              <a:t>container can more or less automatically bind the EJB to these services, meaning that the correct references are readily available to a </a:t>
            </a:r>
            <a:r>
              <a:rPr lang="en-US" dirty="0" smtClean="0"/>
              <a:t>programmer</a:t>
            </a:r>
          </a:p>
          <a:p>
            <a:r>
              <a:rPr lang="en-US" dirty="0"/>
              <a:t>Typical services include those for remote method invocation (RMI), database access (JDBC), naming (JNDI), and messaging (JMS</a:t>
            </a:r>
            <a:r>
              <a:rPr lang="en-US" dirty="0" smtClean="0"/>
              <a:t>).</a:t>
            </a:r>
          </a:p>
        </p:txBody>
      </p:sp>
      <p:sp>
        <p:nvSpPr>
          <p:cNvPr id="5" name="TextBox 4"/>
          <p:cNvSpPr txBox="1"/>
          <p:nvPr/>
        </p:nvSpPr>
        <p:spPr>
          <a:xfrm>
            <a:off x="8174805" y="5092387"/>
            <a:ext cx="3660284" cy="830997"/>
          </a:xfrm>
          <a:prstGeom prst="rect">
            <a:avLst/>
          </a:prstGeom>
          <a:solidFill>
            <a:srgbClr val="1D3064"/>
          </a:solidFill>
        </p:spPr>
        <p:txBody>
          <a:bodyPr wrap="square" rtlCol="0">
            <a:spAutoFit/>
          </a:bodyPr>
          <a:lstStyle/>
          <a:p>
            <a:pPr algn="just"/>
            <a:r>
              <a:rPr lang="en-US" sz="2400" dirty="0">
                <a:solidFill>
                  <a:schemeClr val="bg1"/>
                </a:solidFill>
              </a:rPr>
              <a:t>General architecture of an Enterprise Java </a:t>
            </a:r>
            <a:r>
              <a:rPr lang="en-US" sz="2400" dirty="0" smtClean="0">
                <a:solidFill>
                  <a:schemeClr val="bg1"/>
                </a:solidFill>
              </a:rPr>
              <a:t>Beans server</a:t>
            </a:r>
            <a:endParaRPr lang="en-IN" sz="2400" dirty="0">
              <a:solidFill>
                <a:schemeClr val="bg1"/>
              </a:solidFill>
            </a:endParaRPr>
          </a:p>
        </p:txBody>
      </p:sp>
      <p:pic>
        <p:nvPicPr>
          <p:cNvPr id="6" name="Picture 5"/>
          <p:cNvPicPr>
            <a:picLocks noChangeAspect="1"/>
          </p:cNvPicPr>
          <p:nvPr/>
        </p:nvPicPr>
        <p:blipFill>
          <a:blip r:embed="rId2"/>
          <a:stretch>
            <a:fillRect/>
          </a:stretch>
        </p:blipFill>
        <p:spPr>
          <a:xfrm>
            <a:off x="8443745" y="863444"/>
            <a:ext cx="3505200" cy="4076700"/>
          </a:xfrm>
          <a:prstGeom prst="rect">
            <a:avLst/>
          </a:prstGeom>
        </p:spPr>
      </p:pic>
      <p:sp>
        <p:nvSpPr>
          <p:cNvPr id="7" name="TextBox 6"/>
          <p:cNvSpPr txBox="1"/>
          <p:nvPr/>
        </p:nvSpPr>
        <p:spPr>
          <a:xfrm>
            <a:off x="7981530" y="1116106"/>
            <a:ext cx="1162470" cy="400110"/>
          </a:xfrm>
          <a:prstGeom prst="rect">
            <a:avLst/>
          </a:prstGeom>
          <a:noFill/>
        </p:spPr>
        <p:txBody>
          <a:bodyPr wrap="square" rtlCol="0">
            <a:spAutoFit/>
          </a:bodyPr>
          <a:lstStyle/>
          <a:p>
            <a:r>
              <a:rPr lang="en-IN" sz="2000" dirty="0">
                <a:solidFill>
                  <a:srgbClr val="1D3064"/>
                </a:solidFill>
              </a:rPr>
              <a:t>Container</a:t>
            </a:r>
          </a:p>
        </p:txBody>
      </p:sp>
      <p:sp>
        <p:nvSpPr>
          <p:cNvPr id="8" name="TextBox 7"/>
          <p:cNvSpPr txBox="1"/>
          <p:nvPr/>
        </p:nvSpPr>
        <p:spPr>
          <a:xfrm>
            <a:off x="8174805" y="1926575"/>
            <a:ext cx="1075765" cy="400110"/>
          </a:xfrm>
          <a:prstGeom prst="rect">
            <a:avLst/>
          </a:prstGeom>
          <a:noFill/>
        </p:spPr>
        <p:txBody>
          <a:bodyPr wrap="square" rtlCol="0">
            <a:spAutoFit/>
          </a:bodyPr>
          <a:lstStyle/>
          <a:p>
            <a:r>
              <a:rPr lang="en-IN" sz="2000" dirty="0">
                <a:solidFill>
                  <a:srgbClr val="1D3064"/>
                </a:solidFill>
              </a:rPr>
              <a:t>Server</a:t>
            </a:r>
          </a:p>
        </p:txBody>
      </p:sp>
      <p:sp>
        <p:nvSpPr>
          <p:cNvPr id="9" name="TextBox 8"/>
          <p:cNvSpPr txBox="1"/>
          <p:nvPr/>
        </p:nvSpPr>
        <p:spPr>
          <a:xfrm>
            <a:off x="7962056" y="2406232"/>
            <a:ext cx="1075765" cy="400110"/>
          </a:xfrm>
          <a:prstGeom prst="rect">
            <a:avLst/>
          </a:prstGeom>
          <a:noFill/>
        </p:spPr>
        <p:txBody>
          <a:bodyPr wrap="square" rtlCol="0">
            <a:spAutoFit/>
          </a:bodyPr>
          <a:lstStyle/>
          <a:p>
            <a:r>
              <a:rPr lang="en-IN" sz="2000" dirty="0">
                <a:solidFill>
                  <a:srgbClr val="1D3064"/>
                </a:solidFill>
              </a:rPr>
              <a:t>Services</a:t>
            </a:r>
          </a:p>
        </p:txBody>
      </p:sp>
      <p:sp>
        <p:nvSpPr>
          <p:cNvPr id="10" name="TextBox 9"/>
          <p:cNvSpPr txBox="1"/>
          <p:nvPr/>
        </p:nvSpPr>
        <p:spPr>
          <a:xfrm>
            <a:off x="8358044" y="4349130"/>
            <a:ext cx="1075765" cy="369332"/>
          </a:xfrm>
          <a:prstGeom prst="rect">
            <a:avLst/>
          </a:prstGeom>
          <a:noFill/>
        </p:spPr>
        <p:txBody>
          <a:bodyPr wrap="square" rtlCol="0">
            <a:spAutoFit/>
          </a:bodyPr>
          <a:lstStyle/>
          <a:p>
            <a:r>
              <a:rPr lang="en-IN" b="1" dirty="0">
                <a:solidFill>
                  <a:schemeClr val="accent6"/>
                </a:solidFill>
              </a:rPr>
              <a:t>Network</a:t>
            </a:r>
          </a:p>
        </p:txBody>
      </p:sp>
      <p:sp>
        <p:nvSpPr>
          <p:cNvPr id="12" name="Rounded Rectangle 11"/>
          <p:cNvSpPr/>
          <p:nvPr/>
        </p:nvSpPr>
        <p:spPr>
          <a:xfrm>
            <a:off x="9860168" y="1427633"/>
            <a:ext cx="564777" cy="456923"/>
          </a:xfrm>
          <a:prstGeom prst="round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EJB</a:t>
            </a:r>
            <a:endParaRPr lang="en-IN" sz="1600" b="1" dirty="0"/>
          </a:p>
        </p:txBody>
      </p:sp>
      <p:sp>
        <p:nvSpPr>
          <p:cNvPr id="13" name="Rounded Rectangle 12"/>
          <p:cNvSpPr/>
          <p:nvPr/>
        </p:nvSpPr>
        <p:spPr>
          <a:xfrm>
            <a:off x="10176401" y="1327666"/>
            <a:ext cx="564777" cy="456923"/>
          </a:xfrm>
          <a:prstGeom prst="round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EJB</a:t>
            </a:r>
            <a:endParaRPr lang="en-IN" sz="1600" b="1" dirty="0"/>
          </a:p>
        </p:txBody>
      </p:sp>
      <p:sp>
        <p:nvSpPr>
          <p:cNvPr id="11" name="Rounded Rectangle 10"/>
          <p:cNvSpPr/>
          <p:nvPr/>
        </p:nvSpPr>
        <p:spPr>
          <a:xfrm>
            <a:off x="10518067" y="1243391"/>
            <a:ext cx="564777" cy="456923"/>
          </a:xfrm>
          <a:prstGeom prst="round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EJB</a:t>
            </a:r>
            <a:endParaRPr lang="en-IN" sz="1600" b="1" dirty="0"/>
          </a:p>
        </p:txBody>
      </p:sp>
    </p:spTree>
    <p:extLst>
      <p:ext uri="{BB962C8B-B14F-4D97-AF65-F5344CB8AC3E}">
        <p14:creationId xmlns:p14="http://schemas.microsoft.com/office/powerpoint/2010/main" val="195901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Types of </a:t>
            </a:r>
            <a:r>
              <a:rPr lang="en-US" dirty="0" smtClean="0"/>
              <a:t>EJBs(</a:t>
            </a:r>
            <a:r>
              <a:rPr lang="en-US" dirty="0"/>
              <a:t>Enterprise Java </a:t>
            </a:r>
            <a:r>
              <a:rPr lang="en-US" dirty="0" smtClean="0"/>
              <a:t>Beans)</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457200" indent="-457200">
              <a:lnSpc>
                <a:spcPct val="100000"/>
              </a:lnSpc>
              <a:buFont typeface="+mj-lt"/>
              <a:buAutoNum type="arabicPeriod"/>
            </a:pPr>
            <a:r>
              <a:rPr lang="en-US" dirty="0"/>
              <a:t>Stateless session beans</a:t>
            </a:r>
          </a:p>
          <a:p>
            <a:pPr marL="457200" indent="-457200">
              <a:lnSpc>
                <a:spcPct val="100000"/>
              </a:lnSpc>
              <a:buFont typeface="+mj-lt"/>
              <a:buAutoNum type="arabicPeriod"/>
            </a:pPr>
            <a:r>
              <a:rPr lang="en-US" dirty="0" err="1"/>
              <a:t>Stateful</a:t>
            </a:r>
            <a:r>
              <a:rPr lang="en-US" dirty="0"/>
              <a:t> session beans</a:t>
            </a:r>
          </a:p>
          <a:p>
            <a:pPr marL="457200" indent="-457200">
              <a:lnSpc>
                <a:spcPct val="100000"/>
              </a:lnSpc>
              <a:buFont typeface="+mj-lt"/>
              <a:buAutoNum type="arabicPeriod"/>
            </a:pPr>
            <a:r>
              <a:rPr lang="en-US" dirty="0"/>
              <a:t>Entity beans</a:t>
            </a:r>
          </a:p>
          <a:p>
            <a:pPr marL="457200" indent="-457200">
              <a:lnSpc>
                <a:spcPct val="100000"/>
              </a:lnSpc>
              <a:buFont typeface="+mj-lt"/>
              <a:buAutoNum type="arabicPeriod"/>
            </a:pPr>
            <a:r>
              <a:rPr lang="en-US" dirty="0"/>
              <a:t>Message-driven </a:t>
            </a:r>
            <a:r>
              <a:rPr lang="en-US" dirty="0" smtClean="0"/>
              <a:t>beans</a:t>
            </a:r>
            <a:endParaRPr lang="en-US" dirty="0"/>
          </a:p>
        </p:txBody>
      </p:sp>
    </p:spTree>
    <p:extLst>
      <p:ext uri="{BB962C8B-B14F-4D97-AF65-F5344CB8AC3E}">
        <p14:creationId xmlns:p14="http://schemas.microsoft.com/office/powerpoint/2010/main" val="331820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Types of </a:t>
            </a:r>
            <a:r>
              <a:rPr lang="en-US" dirty="0" smtClean="0"/>
              <a:t>EJBs(</a:t>
            </a:r>
            <a:r>
              <a:rPr lang="en-US" dirty="0"/>
              <a:t>Enterprise Java </a:t>
            </a:r>
            <a:r>
              <a:rPr lang="en-US" dirty="0" smtClean="0"/>
              <a:t>Beans)</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buFont typeface="Wingdings 3" panose="05040102010807070707" pitchFamily="18" charset="2"/>
              <a:buChar char=""/>
            </a:pPr>
            <a:r>
              <a:rPr lang="en-US" b="1" dirty="0">
                <a:solidFill>
                  <a:srgbClr val="1D3064"/>
                </a:solidFill>
              </a:rPr>
              <a:t>Stateless session bean</a:t>
            </a:r>
            <a:r>
              <a:rPr lang="en-US" dirty="0"/>
              <a:t>: Transient object, called once, does its work and is done.</a:t>
            </a:r>
          </a:p>
          <a:p>
            <a:pPr lvl="2"/>
            <a:r>
              <a:rPr lang="en-US" sz="2400" dirty="0"/>
              <a:t>Example: execute an SQL query and return result to caller.</a:t>
            </a:r>
          </a:p>
          <a:p>
            <a:pPr>
              <a:buFont typeface="Wingdings 3" panose="05040102010807070707" pitchFamily="18" charset="2"/>
              <a:buChar char=""/>
            </a:pPr>
            <a:r>
              <a:rPr lang="en-US" b="1" dirty="0" err="1" smtClean="0">
                <a:solidFill>
                  <a:srgbClr val="1D3064"/>
                </a:solidFill>
              </a:rPr>
              <a:t>Stateful</a:t>
            </a:r>
            <a:r>
              <a:rPr lang="en-US" b="1" dirty="0" smtClean="0">
                <a:solidFill>
                  <a:srgbClr val="1D3064"/>
                </a:solidFill>
              </a:rPr>
              <a:t> </a:t>
            </a:r>
            <a:r>
              <a:rPr lang="en-US" b="1" dirty="0">
                <a:solidFill>
                  <a:srgbClr val="1D3064"/>
                </a:solidFill>
              </a:rPr>
              <a:t>session bean</a:t>
            </a:r>
            <a:r>
              <a:rPr lang="en-US" dirty="0"/>
              <a:t>: Transient object, but maintains client-related state </a:t>
            </a:r>
            <a:r>
              <a:rPr lang="en-US" dirty="0" smtClean="0"/>
              <a:t>until the </a:t>
            </a:r>
            <a:r>
              <a:rPr lang="en-US" dirty="0"/>
              <a:t>end of a </a:t>
            </a:r>
            <a:r>
              <a:rPr lang="en-US" dirty="0" smtClean="0"/>
              <a:t>session.</a:t>
            </a:r>
          </a:p>
          <a:p>
            <a:pPr lvl="2"/>
            <a:r>
              <a:rPr lang="en-US" sz="2400" dirty="0"/>
              <a:t>Example: shopping cart.</a:t>
            </a:r>
          </a:p>
          <a:p>
            <a:pPr>
              <a:buFont typeface="Wingdings 3" panose="05040102010807070707" pitchFamily="18" charset="2"/>
              <a:buChar char=""/>
            </a:pPr>
            <a:r>
              <a:rPr lang="en-US" b="1" dirty="0" smtClean="0">
                <a:solidFill>
                  <a:srgbClr val="1D3064"/>
                </a:solidFill>
              </a:rPr>
              <a:t>Entity </a:t>
            </a:r>
            <a:r>
              <a:rPr lang="en-US" b="1" dirty="0">
                <a:solidFill>
                  <a:srgbClr val="1D3064"/>
                </a:solidFill>
              </a:rPr>
              <a:t>bean</a:t>
            </a:r>
            <a:r>
              <a:rPr lang="en-US" dirty="0"/>
              <a:t>: Persistent, </a:t>
            </a:r>
            <a:r>
              <a:rPr lang="en-US" dirty="0" smtClean="0"/>
              <a:t>state-</a:t>
            </a:r>
            <a:r>
              <a:rPr lang="en-US" dirty="0" err="1" smtClean="0"/>
              <a:t>ful</a:t>
            </a:r>
            <a:r>
              <a:rPr lang="en-US" dirty="0" smtClean="0"/>
              <a:t> </a:t>
            </a:r>
            <a:r>
              <a:rPr lang="en-US" dirty="0"/>
              <a:t>object, can be invoked during different sessions.</a:t>
            </a:r>
          </a:p>
          <a:p>
            <a:pPr lvl="2"/>
            <a:r>
              <a:rPr lang="en-US" sz="2400" dirty="0"/>
              <a:t>Example: object maintaining client info on last number of sessions.</a:t>
            </a:r>
          </a:p>
          <a:p>
            <a:pPr>
              <a:buFont typeface="Wingdings 3" panose="05040102010807070707" pitchFamily="18" charset="2"/>
              <a:buChar char=""/>
            </a:pPr>
            <a:r>
              <a:rPr lang="en-US" b="1" dirty="0" smtClean="0">
                <a:solidFill>
                  <a:srgbClr val="1D3064"/>
                </a:solidFill>
              </a:rPr>
              <a:t>Message-driven </a:t>
            </a:r>
            <a:r>
              <a:rPr lang="en-US" b="1" dirty="0">
                <a:solidFill>
                  <a:srgbClr val="1D3064"/>
                </a:solidFill>
              </a:rPr>
              <a:t>bean</a:t>
            </a:r>
            <a:r>
              <a:rPr lang="en-US" dirty="0"/>
              <a:t>: Reactive objects, often triggered by message </a:t>
            </a:r>
            <a:r>
              <a:rPr lang="en-US" dirty="0" smtClean="0"/>
              <a:t>types.</a:t>
            </a:r>
          </a:p>
          <a:p>
            <a:pPr lvl="2"/>
            <a:r>
              <a:rPr lang="en-US" sz="2400" dirty="0"/>
              <a:t>Used to implement publish/subscribe forms of communication.</a:t>
            </a:r>
          </a:p>
        </p:txBody>
      </p:sp>
    </p:spTree>
    <p:extLst>
      <p:ext uri="{BB962C8B-B14F-4D97-AF65-F5344CB8AC3E}">
        <p14:creationId xmlns:p14="http://schemas.microsoft.com/office/powerpoint/2010/main" val="192764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Globe Distributed Shared </a:t>
            </a:r>
            <a:r>
              <a:rPr lang="en-US" dirty="0" smtClean="0"/>
              <a:t>Objects</a:t>
            </a:r>
            <a:endParaRPr lang="en-US" dirty="0"/>
          </a:p>
        </p:txBody>
      </p:sp>
      <p:sp>
        <p:nvSpPr>
          <p:cNvPr id="4" name="Content Placeholder 3"/>
          <p:cNvSpPr>
            <a:spLocks noGrp="1"/>
          </p:cNvSpPr>
          <p:nvPr>
            <p:ph idx="1"/>
          </p:nvPr>
        </p:nvSpPr>
        <p:spPr>
          <a:xfrm>
            <a:off x="131180" y="863444"/>
            <a:ext cx="6928526" cy="5590565"/>
          </a:xfrm>
        </p:spPr>
        <p:txBody>
          <a:bodyPr/>
          <a:lstStyle/>
          <a:p>
            <a:r>
              <a:rPr lang="en-US" dirty="0" smtClean="0"/>
              <a:t>A </a:t>
            </a:r>
            <a:r>
              <a:rPr lang="en-US" dirty="0"/>
              <a:t>Globe object is a physically distributed shared object: the object’s state may be physically distributed across several </a:t>
            </a:r>
            <a:r>
              <a:rPr lang="en-US" dirty="0" smtClean="0"/>
              <a:t>machines</a:t>
            </a:r>
          </a:p>
          <a:p>
            <a:r>
              <a:rPr lang="en-US" dirty="0">
                <a:solidFill>
                  <a:schemeClr val="accent6"/>
                </a:solidFill>
              </a:rPr>
              <a:t>Local object</a:t>
            </a:r>
            <a:r>
              <a:rPr lang="en-US" dirty="0"/>
              <a:t>: A </a:t>
            </a:r>
            <a:r>
              <a:rPr lang="en-US" dirty="0" smtClean="0"/>
              <a:t>non-distributed </a:t>
            </a:r>
            <a:r>
              <a:rPr lang="en-US" dirty="0"/>
              <a:t>object residing a single address space, often representing a distributed shared object</a:t>
            </a:r>
          </a:p>
          <a:p>
            <a:r>
              <a:rPr lang="en-US" dirty="0">
                <a:solidFill>
                  <a:schemeClr val="accent6"/>
                </a:solidFill>
              </a:rPr>
              <a:t>Contact point</a:t>
            </a:r>
            <a:r>
              <a:rPr lang="en-US" dirty="0"/>
              <a:t>: A point where clients can contact the distributed object; each contact point is described through a contact </a:t>
            </a:r>
            <a:r>
              <a:rPr lang="en-US" dirty="0" smtClean="0"/>
              <a:t>address</a:t>
            </a:r>
            <a:endParaRPr lang="en-US" dirty="0"/>
          </a:p>
          <a:p>
            <a:endParaRPr lang="en-IN" dirty="0"/>
          </a:p>
        </p:txBody>
      </p:sp>
      <p:sp>
        <p:nvSpPr>
          <p:cNvPr id="5" name="TextBox 4"/>
          <p:cNvSpPr txBox="1"/>
          <p:nvPr/>
        </p:nvSpPr>
        <p:spPr>
          <a:xfrm>
            <a:off x="7678461" y="4543796"/>
            <a:ext cx="3613056" cy="830997"/>
          </a:xfrm>
          <a:prstGeom prst="rect">
            <a:avLst/>
          </a:prstGeom>
          <a:solidFill>
            <a:srgbClr val="1D3064"/>
          </a:solidFill>
        </p:spPr>
        <p:txBody>
          <a:bodyPr wrap="square" rtlCol="0">
            <a:spAutoFit/>
          </a:bodyPr>
          <a:lstStyle/>
          <a:p>
            <a:r>
              <a:rPr lang="en-US" sz="2400" dirty="0">
                <a:solidFill>
                  <a:schemeClr val="bg1"/>
                </a:solidFill>
              </a:rPr>
              <a:t>The organization of a </a:t>
            </a:r>
            <a:r>
              <a:rPr lang="en-US" sz="2400" dirty="0" smtClean="0">
                <a:solidFill>
                  <a:schemeClr val="bg1"/>
                </a:solidFill>
              </a:rPr>
              <a:t>Globe distributed </a:t>
            </a:r>
            <a:r>
              <a:rPr lang="en-US" sz="2400" dirty="0">
                <a:solidFill>
                  <a:schemeClr val="bg1"/>
                </a:solidFill>
              </a:rPr>
              <a:t>shared object</a:t>
            </a:r>
          </a:p>
        </p:txBody>
      </p:sp>
      <p:pic>
        <p:nvPicPr>
          <p:cNvPr id="6" name="Picture 5"/>
          <p:cNvPicPr>
            <a:picLocks noChangeAspect="1"/>
          </p:cNvPicPr>
          <p:nvPr/>
        </p:nvPicPr>
        <p:blipFill>
          <a:blip r:embed="rId2"/>
          <a:stretch>
            <a:fillRect/>
          </a:stretch>
        </p:blipFill>
        <p:spPr>
          <a:xfrm>
            <a:off x="7818063" y="1237409"/>
            <a:ext cx="3629025" cy="3038475"/>
          </a:xfrm>
          <a:prstGeom prst="rect">
            <a:avLst/>
          </a:prstGeom>
        </p:spPr>
      </p:pic>
      <p:sp>
        <p:nvSpPr>
          <p:cNvPr id="7" name="TextBox 6"/>
          <p:cNvSpPr txBox="1"/>
          <p:nvPr/>
        </p:nvSpPr>
        <p:spPr>
          <a:xfrm>
            <a:off x="8214242" y="969497"/>
            <a:ext cx="2764414" cy="400110"/>
          </a:xfrm>
          <a:prstGeom prst="rect">
            <a:avLst/>
          </a:prstGeom>
          <a:noFill/>
        </p:spPr>
        <p:txBody>
          <a:bodyPr wrap="square" rtlCol="0">
            <a:spAutoFit/>
          </a:bodyPr>
          <a:lstStyle/>
          <a:p>
            <a:r>
              <a:rPr lang="en-IN" sz="2000" b="1" dirty="0">
                <a:solidFill>
                  <a:schemeClr val="accent6"/>
                </a:solidFill>
              </a:rPr>
              <a:t>Distributed shared object</a:t>
            </a:r>
          </a:p>
        </p:txBody>
      </p:sp>
      <p:sp>
        <p:nvSpPr>
          <p:cNvPr id="8" name="TextBox 7"/>
          <p:cNvSpPr txBox="1"/>
          <p:nvPr/>
        </p:nvSpPr>
        <p:spPr>
          <a:xfrm>
            <a:off x="10978656" y="1237409"/>
            <a:ext cx="814108" cy="646331"/>
          </a:xfrm>
          <a:prstGeom prst="rect">
            <a:avLst/>
          </a:prstGeom>
          <a:noFill/>
        </p:spPr>
        <p:txBody>
          <a:bodyPr wrap="square" rtlCol="0">
            <a:spAutoFit/>
          </a:bodyPr>
          <a:lstStyle/>
          <a:p>
            <a:r>
              <a:rPr lang="en-IN" dirty="0">
                <a:solidFill>
                  <a:srgbClr val="1D3064"/>
                </a:solidFill>
              </a:rPr>
              <a:t>Local object</a:t>
            </a:r>
          </a:p>
        </p:txBody>
      </p:sp>
      <p:sp>
        <p:nvSpPr>
          <p:cNvPr id="9" name="TextBox 8"/>
          <p:cNvSpPr txBox="1"/>
          <p:nvPr/>
        </p:nvSpPr>
        <p:spPr>
          <a:xfrm>
            <a:off x="11266324" y="2225282"/>
            <a:ext cx="925676" cy="369332"/>
          </a:xfrm>
          <a:prstGeom prst="rect">
            <a:avLst/>
          </a:prstGeom>
          <a:noFill/>
        </p:spPr>
        <p:txBody>
          <a:bodyPr wrap="square" rtlCol="0">
            <a:spAutoFit/>
          </a:bodyPr>
          <a:lstStyle/>
          <a:p>
            <a:r>
              <a:rPr lang="en-IN" dirty="0">
                <a:solidFill>
                  <a:srgbClr val="1D3064"/>
                </a:solidFill>
              </a:rPr>
              <a:t>Process</a:t>
            </a:r>
          </a:p>
        </p:txBody>
      </p:sp>
      <p:sp>
        <p:nvSpPr>
          <p:cNvPr id="10" name="TextBox 9"/>
          <p:cNvSpPr txBox="1"/>
          <p:nvPr/>
        </p:nvSpPr>
        <p:spPr>
          <a:xfrm>
            <a:off x="11291517" y="3815501"/>
            <a:ext cx="1019869" cy="369332"/>
          </a:xfrm>
          <a:prstGeom prst="rect">
            <a:avLst/>
          </a:prstGeom>
          <a:noFill/>
        </p:spPr>
        <p:txBody>
          <a:bodyPr wrap="square" rtlCol="0">
            <a:spAutoFit/>
          </a:bodyPr>
          <a:lstStyle/>
          <a:p>
            <a:r>
              <a:rPr lang="en-IN" dirty="0">
                <a:solidFill>
                  <a:srgbClr val="1D3064"/>
                </a:solidFill>
              </a:rPr>
              <a:t>Interface</a:t>
            </a:r>
          </a:p>
        </p:txBody>
      </p:sp>
      <p:sp>
        <p:nvSpPr>
          <p:cNvPr id="11" name="TextBox 10"/>
          <p:cNvSpPr txBox="1"/>
          <p:nvPr/>
        </p:nvSpPr>
        <p:spPr>
          <a:xfrm>
            <a:off x="8948192" y="2510067"/>
            <a:ext cx="1073594" cy="369332"/>
          </a:xfrm>
          <a:prstGeom prst="rect">
            <a:avLst/>
          </a:prstGeom>
          <a:noFill/>
        </p:spPr>
        <p:txBody>
          <a:bodyPr wrap="square" rtlCol="0">
            <a:spAutoFit/>
          </a:bodyPr>
          <a:lstStyle/>
          <a:p>
            <a:r>
              <a:rPr lang="en-IN" b="1" dirty="0">
                <a:solidFill>
                  <a:srgbClr val="0E3755"/>
                </a:solidFill>
              </a:rPr>
              <a:t>Network</a:t>
            </a:r>
          </a:p>
        </p:txBody>
      </p:sp>
    </p:spTree>
    <p:extLst>
      <p:ext uri="{BB962C8B-B14F-4D97-AF65-F5344CB8AC3E}">
        <p14:creationId xmlns:p14="http://schemas.microsoft.com/office/powerpoint/2010/main" val="2456344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Globe Distributed Shared </a:t>
            </a:r>
            <a:r>
              <a:rPr lang="en-US" dirty="0" smtClean="0"/>
              <a:t>Objects</a:t>
            </a:r>
            <a:endParaRPr lang="en-US" dirty="0"/>
          </a:p>
        </p:txBody>
      </p:sp>
      <p:sp>
        <p:nvSpPr>
          <p:cNvPr id="4" name="Content Placeholder 3"/>
          <p:cNvSpPr>
            <a:spLocks noGrp="1"/>
          </p:cNvSpPr>
          <p:nvPr>
            <p:ph idx="1"/>
          </p:nvPr>
        </p:nvSpPr>
        <p:spPr>
          <a:xfrm>
            <a:off x="131179" y="863444"/>
            <a:ext cx="7160790" cy="5590565"/>
          </a:xfrm>
        </p:spPr>
        <p:txBody>
          <a:bodyPr/>
          <a:lstStyle/>
          <a:p>
            <a:r>
              <a:rPr lang="en-US" dirty="0"/>
              <a:t>Globe attempts to separate functionality from distribution by distinguishing different local </a:t>
            </a:r>
            <a:r>
              <a:rPr lang="en-US" dirty="0" smtClean="0"/>
              <a:t>sub-objects</a:t>
            </a:r>
          </a:p>
          <a:p>
            <a:r>
              <a:rPr lang="en-US" dirty="0">
                <a:solidFill>
                  <a:schemeClr val="accent6"/>
                </a:solidFill>
              </a:rPr>
              <a:t>Semantics </a:t>
            </a:r>
            <a:r>
              <a:rPr lang="en-US" dirty="0" smtClean="0">
                <a:solidFill>
                  <a:schemeClr val="accent6"/>
                </a:solidFill>
              </a:rPr>
              <a:t>sub-object</a:t>
            </a:r>
            <a:r>
              <a:rPr lang="en-US" dirty="0"/>
              <a:t>: Contains the methods that implement the functionality of the distributed shared </a:t>
            </a:r>
            <a:r>
              <a:rPr lang="en-US" dirty="0" smtClean="0"/>
              <a:t>object</a:t>
            </a:r>
            <a:endParaRPr lang="en-US" dirty="0"/>
          </a:p>
          <a:p>
            <a:r>
              <a:rPr lang="en-US" dirty="0">
                <a:solidFill>
                  <a:schemeClr val="accent6"/>
                </a:solidFill>
              </a:rPr>
              <a:t>Communication </a:t>
            </a:r>
            <a:r>
              <a:rPr lang="en-US" dirty="0" smtClean="0">
                <a:solidFill>
                  <a:schemeClr val="accent6"/>
                </a:solidFill>
              </a:rPr>
              <a:t>sub-object</a:t>
            </a:r>
            <a:r>
              <a:rPr lang="en-US" dirty="0"/>
              <a:t>: Provides a (relatively simple), network-independent interface for communication between local </a:t>
            </a:r>
            <a:r>
              <a:rPr lang="en-US" dirty="0" smtClean="0"/>
              <a:t>objects</a:t>
            </a:r>
          </a:p>
          <a:p>
            <a:r>
              <a:rPr lang="en-US" dirty="0">
                <a:solidFill>
                  <a:schemeClr val="accent6"/>
                </a:solidFill>
              </a:rPr>
              <a:t>Replication sub-object</a:t>
            </a:r>
            <a:r>
              <a:rPr lang="en-US" dirty="0"/>
              <a:t>: Contains the implementation of an object-specific consistency protocol that controls exactly when a method on the semantics sub-object may be </a:t>
            </a:r>
            <a:r>
              <a:rPr lang="en-US" dirty="0" smtClean="0"/>
              <a:t>invoked</a:t>
            </a:r>
            <a:endParaRPr lang="en-US" dirty="0"/>
          </a:p>
          <a:p>
            <a:r>
              <a:rPr lang="en-US" dirty="0">
                <a:solidFill>
                  <a:schemeClr val="accent6"/>
                </a:solidFill>
              </a:rPr>
              <a:t>Control sub-object</a:t>
            </a:r>
            <a:r>
              <a:rPr lang="en-US" dirty="0"/>
              <a:t>: Connects the user-defined interfaces of the semantics sub-object to the generic, predefined interfaces of the replication sub-object</a:t>
            </a:r>
          </a:p>
          <a:p>
            <a:endParaRPr lang="en-US" dirty="0" smtClean="0"/>
          </a:p>
        </p:txBody>
      </p:sp>
      <p:sp>
        <p:nvSpPr>
          <p:cNvPr id="5" name="TextBox 4"/>
          <p:cNvSpPr txBox="1"/>
          <p:nvPr/>
        </p:nvSpPr>
        <p:spPr>
          <a:xfrm>
            <a:off x="7717785" y="5107994"/>
            <a:ext cx="4474215" cy="707886"/>
          </a:xfrm>
          <a:prstGeom prst="rect">
            <a:avLst/>
          </a:prstGeom>
          <a:solidFill>
            <a:srgbClr val="1D3064"/>
          </a:solidFill>
        </p:spPr>
        <p:txBody>
          <a:bodyPr wrap="square" rtlCol="0">
            <a:spAutoFit/>
          </a:bodyPr>
          <a:lstStyle/>
          <a:p>
            <a:r>
              <a:rPr lang="en-US" sz="2000" dirty="0">
                <a:solidFill>
                  <a:schemeClr val="bg1"/>
                </a:solidFill>
              </a:rPr>
              <a:t>The general organization of </a:t>
            </a:r>
            <a:r>
              <a:rPr lang="en-US" sz="2000" dirty="0" smtClean="0">
                <a:solidFill>
                  <a:schemeClr val="bg1"/>
                </a:solidFill>
              </a:rPr>
              <a:t>a local </a:t>
            </a:r>
            <a:r>
              <a:rPr lang="en-US" sz="2000" dirty="0">
                <a:solidFill>
                  <a:schemeClr val="bg1"/>
                </a:solidFill>
              </a:rPr>
              <a:t>object for distributed shared objects in Globe</a:t>
            </a:r>
          </a:p>
        </p:txBody>
      </p:sp>
      <p:sp>
        <p:nvSpPr>
          <p:cNvPr id="6" name="Rounded Rectangle 5"/>
          <p:cNvSpPr/>
          <p:nvPr/>
        </p:nvSpPr>
        <p:spPr>
          <a:xfrm>
            <a:off x="9311087" y="1748116"/>
            <a:ext cx="1204513" cy="60511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Control</a:t>
            </a:r>
          </a:p>
          <a:p>
            <a:pPr algn="ctr"/>
            <a:r>
              <a:rPr lang="en-IN" dirty="0">
                <a:solidFill>
                  <a:schemeClr val="tx1"/>
                </a:solidFill>
              </a:rPr>
              <a:t>subobject</a:t>
            </a:r>
          </a:p>
        </p:txBody>
      </p:sp>
      <p:sp>
        <p:nvSpPr>
          <p:cNvPr id="7" name="Rounded Rectangle 6"/>
          <p:cNvSpPr/>
          <p:nvPr/>
        </p:nvSpPr>
        <p:spPr>
          <a:xfrm>
            <a:off x="7717786" y="2451847"/>
            <a:ext cx="1276704" cy="60511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Replication</a:t>
            </a:r>
          </a:p>
          <a:p>
            <a:pPr algn="ctr"/>
            <a:r>
              <a:rPr lang="en-IN" dirty="0">
                <a:solidFill>
                  <a:schemeClr val="tx1"/>
                </a:solidFill>
              </a:rPr>
              <a:t>subobject</a:t>
            </a:r>
          </a:p>
        </p:txBody>
      </p:sp>
      <p:sp>
        <p:nvSpPr>
          <p:cNvPr id="8" name="Rounded Rectangle 7"/>
          <p:cNvSpPr/>
          <p:nvPr/>
        </p:nvSpPr>
        <p:spPr>
          <a:xfrm>
            <a:off x="7503459" y="3310732"/>
            <a:ext cx="1713499" cy="60511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Communication</a:t>
            </a:r>
          </a:p>
          <a:p>
            <a:pPr algn="ctr"/>
            <a:r>
              <a:rPr lang="en-IN" dirty="0">
                <a:solidFill>
                  <a:schemeClr val="tx1"/>
                </a:solidFill>
              </a:rPr>
              <a:t>subobject</a:t>
            </a:r>
          </a:p>
        </p:txBody>
      </p:sp>
      <p:sp>
        <p:nvSpPr>
          <p:cNvPr id="9" name="Rounded Rectangle 8"/>
          <p:cNvSpPr/>
          <p:nvPr/>
        </p:nvSpPr>
        <p:spPr>
          <a:xfrm>
            <a:off x="10754405" y="2451847"/>
            <a:ext cx="1204513" cy="60511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Semantics</a:t>
            </a:r>
          </a:p>
          <a:p>
            <a:pPr algn="ctr"/>
            <a:r>
              <a:rPr lang="en-IN" dirty="0">
                <a:solidFill>
                  <a:schemeClr val="tx1"/>
                </a:solidFill>
              </a:rPr>
              <a:t>subobject</a:t>
            </a:r>
          </a:p>
        </p:txBody>
      </p:sp>
      <p:sp>
        <p:nvSpPr>
          <p:cNvPr id="11" name="Rounded Rectangle 10"/>
          <p:cNvSpPr/>
          <p:nvPr/>
        </p:nvSpPr>
        <p:spPr>
          <a:xfrm>
            <a:off x="7379041" y="4246227"/>
            <a:ext cx="1972591" cy="81751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Communication</a:t>
            </a:r>
          </a:p>
          <a:p>
            <a:pPr algn="ctr"/>
            <a:r>
              <a:rPr lang="en-US" dirty="0">
                <a:solidFill>
                  <a:schemeClr val="tx1"/>
                </a:solidFill>
              </a:rPr>
              <a:t>with other local</a:t>
            </a:r>
          </a:p>
          <a:p>
            <a:pPr algn="ctr"/>
            <a:r>
              <a:rPr lang="en-US" dirty="0">
                <a:solidFill>
                  <a:schemeClr val="tx1"/>
                </a:solidFill>
              </a:rPr>
              <a:t>objects</a:t>
            </a:r>
            <a:endParaRPr lang="en-IN" dirty="0">
              <a:solidFill>
                <a:schemeClr val="tx1"/>
              </a:solidFill>
            </a:endParaRPr>
          </a:p>
        </p:txBody>
      </p:sp>
      <p:sp>
        <p:nvSpPr>
          <p:cNvPr id="12" name="Rounded Rectangle 11"/>
          <p:cNvSpPr/>
          <p:nvPr/>
        </p:nvSpPr>
        <p:spPr>
          <a:xfrm>
            <a:off x="7405935" y="1601143"/>
            <a:ext cx="4707037" cy="2486763"/>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Arrow Connector 13"/>
          <p:cNvCxnSpPr>
            <a:stCxn id="7" idx="0"/>
          </p:cNvCxnSpPr>
          <p:nvPr/>
        </p:nvCxnSpPr>
        <p:spPr>
          <a:xfrm flipV="1">
            <a:off x="8356138" y="2057401"/>
            <a:ext cx="954949" cy="394446"/>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9" idx="0"/>
          </p:cNvCxnSpPr>
          <p:nvPr/>
        </p:nvCxnSpPr>
        <p:spPr>
          <a:xfrm>
            <a:off x="10515600" y="2052915"/>
            <a:ext cx="841062" cy="398932"/>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2"/>
            <a:endCxn id="8" idx="0"/>
          </p:cNvCxnSpPr>
          <p:nvPr/>
        </p:nvCxnSpPr>
        <p:spPr>
          <a:xfrm>
            <a:off x="8356138" y="3056965"/>
            <a:ext cx="4071" cy="253767"/>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2"/>
            <a:endCxn id="11" idx="0"/>
          </p:cNvCxnSpPr>
          <p:nvPr/>
        </p:nvCxnSpPr>
        <p:spPr>
          <a:xfrm>
            <a:off x="8360209" y="3915850"/>
            <a:ext cx="5128" cy="330377"/>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236095" y="714206"/>
            <a:ext cx="3036620" cy="923330"/>
          </a:xfrm>
          <a:prstGeom prst="rect">
            <a:avLst/>
          </a:prstGeom>
          <a:noFill/>
        </p:spPr>
        <p:txBody>
          <a:bodyPr wrap="square" rtlCol="0">
            <a:spAutoFit/>
          </a:bodyPr>
          <a:lstStyle/>
          <a:p>
            <a:r>
              <a:rPr lang="en-US" dirty="0"/>
              <a:t>Same interface as implemented</a:t>
            </a:r>
          </a:p>
          <a:p>
            <a:r>
              <a:rPr lang="en-US" dirty="0"/>
              <a:t>by semantics subobject</a:t>
            </a:r>
          </a:p>
          <a:p>
            <a:endParaRPr lang="en-IN" dirty="0"/>
          </a:p>
        </p:txBody>
      </p:sp>
      <p:sp>
        <p:nvSpPr>
          <p:cNvPr id="24" name="Rectangle 23"/>
          <p:cNvSpPr/>
          <p:nvPr/>
        </p:nvSpPr>
        <p:spPr>
          <a:xfrm>
            <a:off x="9499447" y="1504325"/>
            <a:ext cx="827792" cy="14491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Connector 25"/>
          <p:cNvCxnSpPr/>
          <p:nvPr/>
        </p:nvCxnSpPr>
        <p:spPr>
          <a:xfrm flipV="1">
            <a:off x="10195618" y="1277471"/>
            <a:ext cx="109109" cy="2268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503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Processes: Object servers</a:t>
            </a:r>
          </a:p>
        </p:txBody>
      </p:sp>
      <p:sp>
        <p:nvSpPr>
          <p:cNvPr id="4" name="Content Placeholder 3"/>
          <p:cNvSpPr>
            <a:spLocks noGrp="1"/>
          </p:cNvSpPr>
          <p:nvPr>
            <p:ph idx="1"/>
          </p:nvPr>
        </p:nvSpPr>
        <p:spPr/>
        <p:txBody>
          <a:bodyPr/>
          <a:lstStyle/>
          <a:p>
            <a:r>
              <a:rPr lang="en-US" dirty="0" smtClean="0"/>
              <a:t>Servant The </a:t>
            </a:r>
            <a:r>
              <a:rPr lang="en-US" dirty="0"/>
              <a:t>actual implementation of an object, sometimes containing only method implementations</a:t>
            </a:r>
            <a:r>
              <a:rPr lang="en-US" dirty="0" smtClean="0"/>
              <a:t>:</a:t>
            </a:r>
          </a:p>
          <a:p>
            <a:r>
              <a:rPr lang="en-US" dirty="0" smtClean="0"/>
              <a:t>Skeleton: Server-side </a:t>
            </a:r>
            <a:r>
              <a:rPr lang="en-US" dirty="0"/>
              <a:t>stub for handling network I/O:</a:t>
            </a:r>
          </a:p>
          <a:p>
            <a:pPr lvl="2"/>
            <a:r>
              <a:rPr lang="en-US" sz="2400" dirty="0"/>
              <a:t>Un-</a:t>
            </a:r>
            <a:r>
              <a:rPr lang="en-US" sz="2400" dirty="0" err="1"/>
              <a:t>marshalls</a:t>
            </a:r>
            <a:r>
              <a:rPr lang="en-US" sz="2400" dirty="0"/>
              <a:t> incoming requests, and calls the appropriate servant code</a:t>
            </a:r>
          </a:p>
          <a:p>
            <a:pPr lvl="2"/>
            <a:r>
              <a:rPr lang="en-US" sz="2400" dirty="0"/>
              <a:t>Marshalls results and sends reply message</a:t>
            </a:r>
          </a:p>
          <a:p>
            <a:pPr lvl="2"/>
            <a:r>
              <a:rPr lang="en-US" sz="2400" dirty="0"/>
              <a:t>Generated from interface </a:t>
            </a:r>
            <a:r>
              <a:rPr lang="en-US" sz="2400" dirty="0" smtClean="0"/>
              <a:t>specifications</a:t>
            </a:r>
          </a:p>
          <a:p>
            <a:pPr lvl="2"/>
            <a:endParaRPr lang="en-US" sz="2400" dirty="0"/>
          </a:p>
          <a:p>
            <a:r>
              <a:rPr lang="en-US" dirty="0"/>
              <a:t>The “</a:t>
            </a:r>
            <a:r>
              <a:rPr lang="en-US" dirty="0">
                <a:solidFill>
                  <a:schemeClr val="accent6"/>
                </a:solidFill>
              </a:rPr>
              <a:t>manager</a:t>
            </a:r>
            <a:r>
              <a:rPr lang="en-US" dirty="0"/>
              <a:t>” of a set of objects:</a:t>
            </a:r>
          </a:p>
          <a:p>
            <a:pPr lvl="2"/>
            <a:r>
              <a:rPr lang="en-US" sz="2400" dirty="0"/>
              <a:t>Inspects (as first) incoming requests</a:t>
            </a:r>
          </a:p>
          <a:p>
            <a:pPr lvl="2"/>
            <a:r>
              <a:rPr lang="en-US" sz="2400" dirty="0"/>
              <a:t>Ensures referenced object is activated (requires identification of servant)</a:t>
            </a:r>
          </a:p>
          <a:p>
            <a:pPr lvl="2"/>
            <a:r>
              <a:rPr lang="en-US" sz="2400" dirty="0"/>
              <a:t>Passes request to appropriate skeleton, following specific activation policy</a:t>
            </a:r>
          </a:p>
          <a:p>
            <a:pPr lvl="2"/>
            <a:r>
              <a:rPr lang="en-US" sz="2400" dirty="0"/>
              <a:t>Responsible for generating object </a:t>
            </a:r>
            <a:r>
              <a:rPr lang="en-US" sz="2400" dirty="0" smtClean="0"/>
              <a:t>references</a:t>
            </a:r>
            <a:endParaRPr lang="en-US" sz="2400" dirty="0"/>
          </a:p>
        </p:txBody>
      </p:sp>
    </p:spTree>
    <p:extLst>
      <p:ext uri="{BB962C8B-B14F-4D97-AF65-F5344CB8AC3E}">
        <p14:creationId xmlns:p14="http://schemas.microsoft.com/office/powerpoint/2010/main" val="238675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Object Adapter</a:t>
            </a:r>
          </a:p>
        </p:txBody>
      </p:sp>
      <p:sp>
        <p:nvSpPr>
          <p:cNvPr id="4" name="Content Placeholder 3"/>
          <p:cNvSpPr>
            <a:spLocks noGrp="1"/>
          </p:cNvSpPr>
          <p:nvPr>
            <p:ph idx="1"/>
          </p:nvPr>
        </p:nvSpPr>
        <p:spPr>
          <a:xfrm>
            <a:off x="131180" y="863444"/>
            <a:ext cx="7538861" cy="5590565"/>
          </a:xfrm>
        </p:spPr>
        <p:txBody>
          <a:bodyPr/>
          <a:lstStyle/>
          <a:p>
            <a:r>
              <a:rPr lang="en-US" dirty="0" smtClean="0"/>
              <a:t>The </a:t>
            </a:r>
            <a:r>
              <a:rPr lang="en-US" dirty="0"/>
              <a:t>role of the object adapter is to bridge the gap between CORBA objects with </a:t>
            </a:r>
            <a:r>
              <a:rPr lang="en-US" dirty="0" smtClean="0"/>
              <a:t>IDL interfaces </a:t>
            </a:r>
            <a:r>
              <a:rPr lang="en-US" dirty="0"/>
              <a:t>and the programming language interfaces of the corresponding </a:t>
            </a:r>
            <a:r>
              <a:rPr lang="en-US" dirty="0" smtClean="0"/>
              <a:t>servant classes</a:t>
            </a:r>
            <a:r>
              <a:rPr lang="en-US" dirty="0"/>
              <a:t>.</a:t>
            </a:r>
          </a:p>
          <a:p>
            <a:r>
              <a:rPr lang="en-US" dirty="0"/>
              <a:t>An object adapter has the following tasks</a:t>
            </a:r>
          </a:p>
          <a:p>
            <a:pPr lvl="2"/>
            <a:r>
              <a:rPr lang="en-US" sz="2400" dirty="0"/>
              <a:t>It creates remote object references for CORBA objects</a:t>
            </a:r>
          </a:p>
          <a:p>
            <a:pPr lvl="2"/>
            <a:r>
              <a:rPr lang="en-US" sz="2400" dirty="0"/>
              <a:t>It dispatches each RMI via skeleton to the appropriate servant</a:t>
            </a:r>
          </a:p>
          <a:p>
            <a:pPr lvl="2"/>
            <a:r>
              <a:rPr lang="en-US" sz="2400" dirty="0"/>
              <a:t>It activates and deactivates servants </a:t>
            </a:r>
            <a:endParaRPr lang="en-IN" sz="2400" dirty="0"/>
          </a:p>
        </p:txBody>
      </p:sp>
      <p:sp>
        <p:nvSpPr>
          <p:cNvPr id="5" name="TextBox 4"/>
          <p:cNvSpPr txBox="1"/>
          <p:nvPr/>
        </p:nvSpPr>
        <p:spPr>
          <a:xfrm>
            <a:off x="7983940" y="5593756"/>
            <a:ext cx="4093325" cy="707886"/>
          </a:xfrm>
          <a:prstGeom prst="rect">
            <a:avLst/>
          </a:prstGeom>
          <a:solidFill>
            <a:srgbClr val="1D3064"/>
          </a:solidFill>
        </p:spPr>
        <p:txBody>
          <a:bodyPr wrap="square" rtlCol="0">
            <a:spAutoFit/>
          </a:bodyPr>
          <a:lstStyle/>
          <a:p>
            <a:pPr algn="just"/>
            <a:r>
              <a:rPr lang="en-US" sz="2000" dirty="0">
                <a:solidFill>
                  <a:schemeClr val="bg1"/>
                </a:solidFill>
              </a:rPr>
              <a:t>Organization of an object </a:t>
            </a:r>
            <a:r>
              <a:rPr lang="en-US" sz="2000" dirty="0" smtClean="0">
                <a:solidFill>
                  <a:schemeClr val="bg1"/>
                </a:solidFill>
              </a:rPr>
              <a:t>server supporting </a:t>
            </a:r>
            <a:r>
              <a:rPr lang="en-US" sz="2000" dirty="0">
                <a:solidFill>
                  <a:schemeClr val="bg1"/>
                </a:solidFill>
              </a:rPr>
              <a:t>different activation policies</a:t>
            </a:r>
          </a:p>
        </p:txBody>
      </p:sp>
      <p:pic>
        <p:nvPicPr>
          <p:cNvPr id="6" name="Picture 5"/>
          <p:cNvPicPr>
            <a:picLocks noChangeAspect="1"/>
          </p:cNvPicPr>
          <p:nvPr/>
        </p:nvPicPr>
        <p:blipFill>
          <a:blip r:embed="rId2"/>
          <a:stretch>
            <a:fillRect/>
          </a:stretch>
        </p:blipFill>
        <p:spPr>
          <a:xfrm>
            <a:off x="7983940" y="973307"/>
            <a:ext cx="3887611" cy="4601847"/>
          </a:xfrm>
          <a:prstGeom prst="rect">
            <a:avLst/>
          </a:prstGeom>
        </p:spPr>
      </p:pic>
      <p:sp>
        <p:nvSpPr>
          <p:cNvPr id="7" name="TextBox 6"/>
          <p:cNvSpPr txBox="1"/>
          <p:nvPr/>
        </p:nvSpPr>
        <p:spPr>
          <a:xfrm>
            <a:off x="7670041" y="678778"/>
            <a:ext cx="2460982" cy="369332"/>
          </a:xfrm>
          <a:prstGeom prst="rect">
            <a:avLst/>
          </a:prstGeom>
          <a:noFill/>
        </p:spPr>
        <p:txBody>
          <a:bodyPr wrap="square" rtlCol="0">
            <a:spAutoFit/>
          </a:bodyPr>
          <a:lstStyle/>
          <a:p>
            <a:r>
              <a:rPr lang="en-IN" dirty="0">
                <a:solidFill>
                  <a:srgbClr val="0E3755"/>
                </a:solidFill>
              </a:rPr>
              <a:t>Server with three objects</a:t>
            </a:r>
          </a:p>
        </p:txBody>
      </p:sp>
      <p:sp>
        <p:nvSpPr>
          <p:cNvPr id="8" name="TextBox 7"/>
          <p:cNvSpPr txBox="1"/>
          <p:nvPr/>
        </p:nvSpPr>
        <p:spPr>
          <a:xfrm>
            <a:off x="10310147" y="788642"/>
            <a:ext cx="1767118" cy="369332"/>
          </a:xfrm>
          <a:prstGeom prst="rect">
            <a:avLst/>
          </a:prstGeom>
          <a:noFill/>
        </p:spPr>
        <p:txBody>
          <a:bodyPr wrap="square" rtlCol="0">
            <a:spAutoFit/>
          </a:bodyPr>
          <a:lstStyle/>
          <a:p>
            <a:r>
              <a:rPr lang="en-IN" dirty="0">
                <a:solidFill>
                  <a:srgbClr val="0E3755"/>
                </a:solidFill>
              </a:rPr>
              <a:t>Server machine</a:t>
            </a:r>
          </a:p>
        </p:txBody>
      </p:sp>
      <p:sp>
        <p:nvSpPr>
          <p:cNvPr id="9" name="TextBox 8"/>
          <p:cNvSpPr txBox="1"/>
          <p:nvPr/>
        </p:nvSpPr>
        <p:spPr>
          <a:xfrm>
            <a:off x="8315502" y="1503727"/>
            <a:ext cx="1170060" cy="923330"/>
          </a:xfrm>
          <a:prstGeom prst="rect">
            <a:avLst/>
          </a:prstGeom>
          <a:noFill/>
        </p:spPr>
        <p:txBody>
          <a:bodyPr wrap="square" rtlCol="0">
            <a:spAutoFit/>
          </a:bodyPr>
          <a:lstStyle/>
          <a:p>
            <a:r>
              <a:rPr lang="en-IN" dirty="0" smtClean="0">
                <a:solidFill>
                  <a:srgbClr val="0E3755"/>
                </a:solidFill>
              </a:rPr>
              <a:t>Object's stub (</a:t>
            </a:r>
            <a:r>
              <a:rPr lang="en-IN" dirty="0">
                <a:solidFill>
                  <a:srgbClr val="0E3755"/>
                </a:solidFill>
              </a:rPr>
              <a:t>skeleton)</a:t>
            </a:r>
          </a:p>
        </p:txBody>
      </p:sp>
      <p:sp>
        <p:nvSpPr>
          <p:cNvPr id="10" name="TextBox 9"/>
          <p:cNvSpPr txBox="1"/>
          <p:nvPr/>
        </p:nvSpPr>
        <p:spPr>
          <a:xfrm>
            <a:off x="10030602" y="3717734"/>
            <a:ext cx="1399398" cy="338554"/>
          </a:xfrm>
          <a:prstGeom prst="rect">
            <a:avLst/>
          </a:prstGeom>
          <a:noFill/>
        </p:spPr>
        <p:txBody>
          <a:bodyPr wrap="square" rtlCol="0">
            <a:spAutoFit/>
          </a:bodyPr>
          <a:lstStyle/>
          <a:p>
            <a:r>
              <a:rPr lang="en-IN" sz="1600" dirty="0">
                <a:solidFill>
                  <a:schemeClr val="accent6"/>
                </a:solidFill>
              </a:rPr>
              <a:t>Object adapter</a:t>
            </a:r>
          </a:p>
        </p:txBody>
      </p:sp>
      <p:sp>
        <p:nvSpPr>
          <p:cNvPr id="11" name="TextBox 10"/>
          <p:cNvSpPr txBox="1"/>
          <p:nvPr/>
        </p:nvSpPr>
        <p:spPr>
          <a:xfrm>
            <a:off x="8488777" y="3739572"/>
            <a:ext cx="1399398" cy="338554"/>
          </a:xfrm>
          <a:prstGeom prst="rect">
            <a:avLst/>
          </a:prstGeom>
          <a:noFill/>
        </p:spPr>
        <p:txBody>
          <a:bodyPr wrap="square" rtlCol="0">
            <a:spAutoFit/>
          </a:bodyPr>
          <a:lstStyle/>
          <a:p>
            <a:r>
              <a:rPr lang="en-IN" sz="1600" dirty="0">
                <a:solidFill>
                  <a:schemeClr val="accent6"/>
                </a:solidFill>
              </a:rPr>
              <a:t>Object adapter</a:t>
            </a:r>
          </a:p>
        </p:txBody>
      </p:sp>
      <p:sp>
        <p:nvSpPr>
          <p:cNvPr id="12" name="TextBox 11"/>
          <p:cNvSpPr txBox="1"/>
          <p:nvPr/>
        </p:nvSpPr>
        <p:spPr>
          <a:xfrm>
            <a:off x="9251136" y="4275590"/>
            <a:ext cx="1353218" cy="584775"/>
          </a:xfrm>
          <a:prstGeom prst="rect">
            <a:avLst/>
          </a:prstGeom>
          <a:noFill/>
        </p:spPr>
        <p:txBody>
          <a:bodyPr wrap="square" rtlCol="0">
            <a:spAutoFit/>
          </a:bodyPr>
          <a:lstStyle/>
          <a:p>
            <a:r>
              <a:rPr lang="en-IN" sz="1600" dirty="0">
                <a:solidFill>
                  <a:srgbClr val="0E3755"/>
                </a:solidFill>
              </a:rPr>
              <a:t>Request</a:t>
            </a:r>
          </a:p>
          <a:p>
            <a:r>
              <a:rPr lang="en-IN" sz="1600" dirty="0" err="1">
                <a:solidFill>
                  <a:srgbClr val="0E3755"/>
                </a:solidFill>
              </a:rPr>
              <a:t>demultiplexer</a:t>
            </a:r>
            <a:endParaRPr lang="en-IN" sz="1600" dirty="0">
              <a:solidFill>
                <a:srgbClr val="0E3755"/>
              </a:solidFill>
            </a:endParaRPr>
          </a:p>
        </p:txBody>
      </p:sp>
      <p:sp>
        <p:nvSpPr>
          <p:cNvPr id="13" name="TextBox 12"/>
          <p:cNvSpPr txBox="1"/>
          <p:nvPr/>
        </p:nvSpPr>
        <p:spPr>
          <a:xfrm>
            <a:off x="8821271" y="4910390"/>
            <a:ext cx="1014895" cy="369332"/>
          </a:xfrm>
          <a:prstGeom prst="rect">
            <a:avLst/>
          </a:prstGeom>
          <a:noFill/>
        </p:spPr>
        <p:txBody>
          <a:bodyPr wrap="square" rtlCol="0">
            <a:spAutoFit/>
          </a:bodyPr>
          <a:lstStyle/>
          <a:p>
            <a:r>
              <a:rPr lang="en-IN" b="1" dirty="0">
                <a:solidFill>
                  <a:srgbClr val="0E3755"/>
                </a:solidFill>
              </a:rPr>
              <a:t>Local OS</a:t>
            </a:r>
          </a:p>
        </p:txBody>
      </p:sp>
    </p:spTree>
    <p:extLst>
      <p:ext uri="{BB962C8B-B14F-4D97-AF65-F5344CB8AC3E}">
        <p14:creationId xmlns:p14="http://schemas.microsoft.com/office/powerpoint/2010/main" val="760023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Communication: Client-to-object binding</a:t>
            </a:r>
          </a:p>
        </p:txBody>
      </p:sp>
      <p:sp>
        <p:nvSpPr>
          <p:cNvPr id="4" name="Content Placeholder 3"/>
          <p:cNvSpPr>
            <a:spLocks noGrp="1"/>
          </p:cNvSpPr>
          <p:nvPr>
            <p:ph idx="1"/>
          </p:nvPr>
        </p:nvSpPr>
        <p:spPr/>
        <p:txBody>
          <a:bodyPr/>
          <a:lstStyle/>
          <a:p>
            <a:r>
              <a:rPr lang="en-US" dirty="0"/>
              <a:t>Object reference: Having an object reference allows a client to bind to an object</a:t>
            </a:r>
            <a:endParaRPr lang="en-US" dirty="0" smtClean="0"/>
          </a:p>
          <a:p>
            <a:pPr lvl="2"/>
            <a:r>
              <a:rPr lang="en-US" sz="2400" dirty="0"/>
              <a:t>Reference denotes server, object, and communication protocol</a:t>
            </a:r>
          </a:p>
          <a:p>
            <a:pPr lvl="2"/>
            <a:r>
              <a:rPr lang="en-US" sz="2400" dirty="0" smtClean="0"/>
              <a:t>Client </a:t>
            </a:r>
            <a:r>
              <a:rPr lang="en-US" sz="2400" dirty="0"/>
              <a:t>loads associated stub code</a:t>
            </a:r>
          </a:p>
          <a:p>
            <a:pPr lvl="2"/>
            <a:r>
              <a:rPr lang="en-US" sz="2400" dirty="0" smtClean="0"/>
              <a:t>Stub </a:t>
            </a:r>
            <a:r>
              <a:rPr lang="en-US" sz="2400" dirty="0"/>
              <a:t>is instantiated and initialized for specific </a:t>
            </a:r>
            <a:r>
              <a:rPr lang="en-US" sz="2400" dirty="0" smtClean="0"/>
              <a:t>object</a:t>
            </a:r>
          </a:p>
          <a:p>
            <a:pPr lvl="2"/>
            <a:endParaRPr lang="en-US" sz="2400" dirty="0"/>
          </a:p>
          <a:p>
            <a:pPr marL="265113" lvl="2" indent="-265113">
              <a:spcBef>
                <a:spcPts val="1000"/>
              </a:spcBef>
              <a:buFont typeface="Webdings" panose="05030102010509060703" pitchFamily="18" charset="2"/>
              <a:buChar char=""/>
            </a:pPr>
            <a:r>
              <a:rPr lang="en-US" sz="2400" dirty="0"/>
              <a:t>Two ways of binding</a:t>
            </a:r>
          </a:p>
          <a:p>
            <a:pPr marL="1371600" lvl="2" indent="-457200">
              <a:buFont typeface="+mj-lt"/>
              <a:buAutoNum type="arabicPeriod"/>
            </a:pPr>
            <a:r>
              <a:rPr lang="en-US" sz="2400" dirty="0">
                <a:solidFill>
                  <a:schemeClr val="accent6"/>
                </a:solidFill>
              </a:rPr>
              <a:t>Implicit</a:t>
            </a:r>
            <a:r>
              <a:rPr lang="en-US" sz="2400" dirty="0"/>
              <a:t>: Invoke methods directly on the referenced object</a:t>
            </a:r>
          </a:p>
          <a:p>
            <a:pPr marL="1371600" lvl="2" indent="-457200">
              <a:buFont typeface="+mj-lt"/>
              <a:buAutoNum type="arabicPeriod"/>
            </a:pPr>
            <a:r>
              <a:rPr lang="en-US" sz="2400" dirty="0">
                <a:solidFill>
                  <a:schemeClr val="accent6"/>
                </a:solidFill>
              </a:rPr>
              <a:t>Explicit</a:t>
            </a:r>
            <a:r>
              <a:rPr lang="en-US" sz="2400" dirty="0"/>
              <a:t>: Client must first explicitly bind to object before invoking it</a:t>
            </a:r>
          </a:p>
        </p:txBody>
      </p:sp>
    </p:spTree>
    <p:extLst>
      <p:ext uri="{BB962C8B-B14F-4D97-AF65-F5344CB8AC3E}">
        <p14:creationId xmlns:p14="http://schemas.microsoft.com/office/powerpoint/2010/main" val="1117012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Java Remote Method Invocation (RMI)</a:t>
            </a:r>
          </a:p>
        </p:txBody>
      </p:sp>
      <p:sp>
        <p:nvSpPr>
          <p:cNvPr id="4" name="Content Placeholder 3"/>
          <p:cNvSpPr>
            <a:spLocks noGrp="1"/>
          </p:cNvSpPr>
          <p:nvPr>
            <p:ph idx="1"/>
          </p:nvPr>
        </p:nvSpPr>
        <p:spPr/>
        <p:txBody>
          <a:bodyPr/>
          <a:lstStyle/>
          <a:p>
            <a:r>
              <a:rPr lang="en-US" dirty="0"/>
              <a:t>The Java Remote Method Invocation (RMI) system allows an object </a:t>
            </a:r>
            <a:r>
              <a:rPr lang="en-US" dirty="0" smtClean="0"/>
              <a:t>running in </a:t>
            </a:r>
            <a:r>
              <a:rPr lang="en-US" dirty="0"/>
              <a:t>one Java Virtual Machine (VM) to invoke methods on an object running </a:t>
            </a:r>
            <a:r>
              <a:rPr lang="en-US" dirty="0" smtClean="0"/>
              <a:t>in another </a:t>
            </a:r>
            <a:r>
              <a:rPr lang="en-US" dirty="0"/>
              <a:t>Java VM.</a:t>
            </a:r>
          </a:p>
          <a:p>
            <a:r>
              <a:rPr lang="en-US" dirty="0" smtClean="0"/>
              <a:t>Java </a:t>
            </a:r>
            <a:r>
              <a:rPr lang="en-US" dirty="0"/>
              <a:t>RMI provides applications with transparent and lightweight access to </a:t>
            </a:r>
            <a:r>
              <a:rPr lang="en-US" dirty="0" smtClean="0"/>
              <a:t>remote objects</a:t>
            </a:r>
            <a:r>
              <a:rPr lang="en-US" dirty="0"/>
              <a:t>. RMI defines a high-level protocol and API.</a:t>
            </a:r>
          </a:p>
          <a:p>
            <a:r>
              <a:rPr lang="en-US" dirty="0" smtClean="0"/>
              <a:t>Programming </a:t>
            </a:r>
            <a:r>
              <a:rPr lang="en-US" dirty="0"/>
              <a:t>distributed applications in Java RMI is simple.</a:t>
            </a:r>
          </a:p>
          <a:p>
            <a:pPr lvl="2"/>
            <a:r>
              <a:rPr lang="en-US" sz="2400" dirty="0"/>
              <a:t>It is a single-language system.</a:t>
            </a:r>
          </a:p>
          <a:p>
            <a:pPr lvl="2"/>
            <a:r>
              <a:rPr lang="en-US" sz="2400" dirty="0"/>
              <a:t>The programmer of a remote object must consider its behavior in a concurrent environment.</a:t>
            </a:r>
          </a:p>
        </p:txBody>
      </p:sp>
    </p:spTree>
    <p:extLst>
      <p:ext uri="{BB962C8B-B14F-4D97-AF65-F5344CB8AC3E}">
        <p14:creationId xmlns:p14="http://schemas.microsoft.com/office/powerpoint/2010/main" val="26453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Remote Method Invocation (RMI)</a:t>
            </a:r>
          </a:p>
        </p:txBody>
      </p:sp>
      <p:sp>
        <p:nvSpPr>
          <p:cNvPr id="4" name="Content Placeholder 3"/>
          <p:cNvSpPr>
            <a:spLocks noGrp="1"/>
          </p:cNvSpPr>
          <p:nvPr>
            <p:ph idx="1"/>
          </p:nvPr>
        </p:nvSpPr>
        <p:spPr>
          <a:xfrm>
            <a:off x="131180" y="863444"/>
            <a:ext cx="6740267" cy="5590565"/>
          </a:xfrm>
        </p:spPr>
        <p:txBody>
          <a:bodyPr/>
          <a:lstStyle/>
          <a:p>
            <a:pPr marL="0" indent="0">
              <a:buNone/>
            </a:pPr>
            <a:r>
              <a:rPr lang="en-US" b="1" dirty="0">
                <a:solidFill>
                  <a:srgbClr val="1D3064"/>
                </a:solidFill>
              </a:rPr>
              <a:t>RMI </a:t>
            </a:r>
            <a:r>
              <a:rPr lang="en-US" b="1" dirty="0" smtClean="0">
                <a:solidFill>
                  <a:srgbClr val="1D3064"/>
                </a:solidFill>
              </a:rPr>
              <a:t>Architecture</a:t>
            </a:r>
          </a:p>
          <a:p>
            <a:r>
              <a:rPr lang="en-US" dirty="0">
                <a:solidFill>
                  <a:srgbClr val="C00000"/>
                </a:solidFill>
              </a:rPr>
              <a:t>Stub</a:t>
            </a:r>
            <a:r>
              <a:rPr lang="en-US" dirty="0"/>
              <a:t>: lives on the client; pretends to be the remote object</a:t>
            </a:r>
          </a:p>
          <a:p>
            <a:r>
              <a:rPr lang="en-US" dirty="0" smtClean="0">
                <a:solidFill>
                  <a:srgbClr val="C00000"/>
                </a:solidFill>
              </a:rPr>
              <a:t>Skeleton</a:t>
            </a:r>
            <a:r>
              <a:rPr lang="en-US" dirty="0"/>
              <a:t>: lives on the server; talks to the true remote object</a:t>
            </a:r>
          </a:p>
          <a:p>
            <a:r>
              <a:rPr lang="en-US" dirty="0" smtClean="0">
                <a:solidFill>
                  <a:srgbClr val="C00000"/>
                </a:solidFill>
              </a:rPr>
              <a:t>Reference </a:t>
            </a:r>
            <a:r>
              <a:rPr lang="en-US" dirty="0">
                <a:solidFill>
                  <a:srgbClr val="C00000"/>
                </a:solidFill>
              </a:rPr>
              <a:t>Layer</a:t>
            </a:r>
            <a:r>
              <a:rPr lang="en-US" dirty="0"/>
              <a:t>: determines if referenced object is local or remote</a:t>
            </a:r>
          </a:p>
          <a:p>
            <a:r>
              <a:rPr lang="en-US" dirty="0" smtClean="0">
                <a:solidFill>
                  <a:srgbClr val="C00000"/>
                </a:solidFill>
              </a:rPr>
              <a:t>Transport </a:t>
            </a:r>
            <a:r>
              <a:rPr lang="en-US" dirty="0">
                <a:solidFill>
                  <a:srgbClr val="C00000"/>
                </a:solidFill>
              </a:rPr>
              <a:t>Layer</a:t>
            </a:r>
            <a:r>
              <a:rPr lang="en-US" dirty="0"/>
              <a:t>: packages remote invocations; dispatches messages </a:t>
            </a:r>
            <a:r>
              <a:rPr lang="en-US" dirty="0" smtClean="0"/>
              <a:t>between stub </a:t>
            </a:r>
            <a:r>
              <a:rPr lang="en-US" dirty="0"/>
              <a:t>and </a:t>
            </a:r>
            <a:r>
              <a:rPr lang="en-US" dirty="0" smtClean="0"/>
              <a:t>skeleton</a:t>
            </a:r>
            <a:endParaRPr lang="en-US" dirty="0"/>
          </a:p>
        </p:txBody>
      </p:sp>
      <p:sp>
        <p:nvSpPr>
          <p:cNvPr id="5" name="Rounded Rectangle 4"/>
          <p:cNvSpPr/>
          <p:nvPr/>
        </p:nvSpPr>
        <p:spPr>
          <a:xfrm>
            <a:off x="7389159" y="1251333"/>
            <a:ext cx="1062317" cy="55133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accent6"/>
                </a:solidFill>
              </a:rPr>
              <a:t>Client</a:t>
            </a:r>
            <a:endParaRPr lang="en-IN" sz="2400" dirty="0">
              <a:solidFill>
                <a:schemeClr val="accent6"/>
              </a:solidFill>
            </a:endParaRPr>
          </a:p>
        </p:txBody>
      </p:sp>
      <p:sp>
        <p:nvSpPr>
          <p:cNvPr id="6" name="Rounded Rectangle 5"/>
          <p:cNvSpPr/>
          <p:nvPr/>
        </p:nvSpPr>
        <p:spPr>
          <a:xfrm>
            <a:off x="10580594" y="1230784"/>
            <a:ext cx="1062317" cy="55133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accent6"/>
                </a:solidFill>
              </a:rPr>
              <a:t>Server</a:t>
            </a:r>
            <a:endParaRPr lang="en-IN" sz="2400" dirty="0">
              <a:solidFill>
                <a:schemeClr val="accent6"/>
              </a:solidFill>
            </a:endParaRPr>
          </a:p>
        </p:txBody>
      </p:sp>
      <p:sp>
        <p:nvSpPr>
          <p:cNvPr id="7" name="Rectangle 6"/>
          <p:cNvSpPr/>
          <p:nvPr/>
        </p:nvSpPr>
        <p:spPr>
          <a:xfrm>
            <a:off x="7368989" y="2622176"/>
            <a:ext cx="1102659"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Stub</a:t>
            </a:r>
            <a:endParaRPr lang="en-IN" sz="2000" dirty="0">
              <a:solidFill>
                <a:srgbClr val="0E3755"/>
              </a:solidFill>
            </a:endParaRPr>
          </a:p>
        </p:txBody>
      </p:sp>
      <p:sp>
        <p:nvSpPr>
          <p:cNvPr id="8" name="Rectangle 7"/>
          <p:cNvSpPr/>
          <p:nvPr/>
        </p:nvSpPr>
        <p:spPr>
          <a:xfrm>
            <a:off x="10560424" y="2622176"/>
            <a:ext cx="1102659"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Skeleton</a:t>
            </a:r>
            <a:endParaRPr lang="en-IN" sz="2000" dirty="0">
              <a:solidFill>
                <a:srgbClr val="0E3755"/>
              </a:solidFill>
            </a:endParaRPr>
          </a:p>
        </p:txBody>
      </p:sp>
      <p:sp>
        <p:nvSpPr>
          <p:cNvPr id="9" name="Rectangle 8"/>
          <p:cNvSpPr/>
          <p:nvPr/>
        </p:nvSpPr>
        <p:spPr>
          <a:xfrm>
            <a:off x="7368989" y="3228420"/>
            <a:ext cx="4294094"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tx1"/>
                </a:solidFill>
              </a:rPr>
              <a:t>RMI Reference Layer</a:t>
            </a:r>
            <a:endParaRPr lang="en-IN" sz="2000" dirty="0">
              <a:solidFill>
                <a:schemeClr val="tx1"/>
              </a:solidFill>
            </a:endParaRPr>
          </a:p>
        </p:txBody>
      </p:sp>
      <p:sp>
        <p:nvSpPr>
          <p:cNvPr id="10" name="Rectangle 9"/>
          <p:cNvSpPr/>
          <p:nvPr/>
        </p:nvSpPr>
        <p:spPr>
          <a:xfrm>
            <a:off x="7368989" y="3834664"/>
            <a:ext cx="4294094"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RMI Transport Layer</a:t>
            </a:r>
            <a:endParaRPr lang="en-IN" sz="2000" dirty="0">
              <a:solidFill>
                <a:srgbClr val="0E3755"/>
              </a:solidFill>
            </a:endParaRPr>
          </a:p>
        </p:txBody>
      </p:sp>
      <p:sp>
        <p:nvSpPr>
          <p:cNvPr id="11" name="Rectangle 10"/>
          <p:cNvSpPr/>
          <p:nvPr/>
        </p:nvSpPr>
        <p:spPr>
          <a:xfrm>
            <a:off x="7368989" y="4440908"/>
            <a:ext cx="4294094"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tx1"/>
                </a:solidFill>
              </a:rPr>
              <a:t>TCP/IP</a:t>
            </a:r>
            <a:endParaRPr lang="en-IN" sz="2000" dirty="0">
              <a:solidFill>
                <a:schemeClr val="tx1"/>
              </a:solidFill>
            </a:endParaRPr>
          </a:p>
        </p:txBody>
      </p:sp>
      <p:cxnSp>
        <p:nvCxnSpPr>
          <p:cNvPr id="13" name="Straight Arrow Connector 12"/>
          <p:cNvCxnSpPr>
            <a:stCxn id="5" idx="2"/>
            <a:endCxn id="7" idx="0"/>
          </p:cNvCxnSpPr>
          <p:nvPr/>
        </p:nvCxnSpPr>
        <p:spPr>
          <a:xfrm>
            <a:off x="7920318" y="1802663"/>
            <a:ext cx="1" cy="819513"/>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6" idx="2"/>
            <a:endCxn id="8" idx="0"/>
          </p:cNvCxnSpPr>
          <p:nvPr/>
        </p:nvCxnSpPr>
        <p:spPr>
          <a:xfrm>
            <a:off x="11111753" y="1782114"/>
            <a:ext cx="1" cy="840062"/>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6385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Remote Method Invocation (RMI)</a:t>
            </a:r>
          </a:p>
        </p:txBody>
      </p:sp>
      <p:sp>
        <p:nvSpPr>
          <p:cNvPr id="4" name="Content Placeholder 3"/>
          <p:cNvSpPr>
            <a:spLocks noGrp="1"/>
          </p:cNvSpPr>
          <p:nvPr>
            <p:ph idx="1"/>
          </p:nvPr>
        </p:nvSpPr>
        <p:spPr/>
        <p:txBody>
          <a:bodyPr/>
          <a:lstStyle/>
          <a:p>
            <a:r>
              <a:rPr lang="en-US" dirty="0"/>
              <a:t>Client invokes method at stub</a:t>
            </a:r>
          </a:p>
          <a:p>
            <a:r>
              <a:rPr lang="en-US" dirty="0" smtClean="0"/>
              <a:t>Stub </a:t>
            </a:r>
            <a:r>
              <a:rPr lang="en-US" dirty="0"/>
              <a:t>marshals request and sends it to server</a:t>
            </a:r>
          </a:p>
          <a:p>
            <a:r>
              <a:rPr lang="en-US" dirty="0" smtClean="0"/>
              <a:t>Server </a:t>
            </a:r>
            <a:r>
              <a:rPr lang="en-US" dirty="0"/>
              <a:t>ensures referenced object is active:</a:t>
            </a:r>
          </a:p>
          <a:p>
            <a:pPr lvl="2"/>
            <a:r>
              <a:rPr lang="en-US" sz="2400" dirty="0"/>
              <a:t>Create separate process to hold object</a:t>
            </a:r>
          </a:p>
          <a:p>
            <a:pPr lvl="2"/>
            <a:r>
              <a:rPr lang="en-US" sz="2400" dirty="0"/>
              <a:t>Load the object into server process</a:t>
            </a:r>
          </a:p>
          <a:p>
            <a:r>
              <a:rPr lang="en-US" dirty="0" smtClean="0"/>
              <a:t>Request </a:t>
            </a:r>
            <a:r>
              <a:rPr lang="en-US" dirty="0"/>
              <a:t>is </a:t>
            </a:r>
            <a:r>
              <a:rPr lang="en-US" dirty="0" err="1"/>
              <a:t>unmarshaled</a:t>
            </a:r>
            <a:r>
              <a:rPr lang="en-US" dirty="0"/>
              <a:t> by object’s skeleton, and referenced method is invoked</a:t>
            </a:r>
          </a:p>
          <a:p>
            <a:r>
              <a:rPr lang="en-US" dirty="0" smtClean="0"/>
              <a:t>If </a:t>
            </a:r>
            <a:r>
              <a:rPr lang="en-US" dirty="0"/>
              <a:t>request contained an object reference, invocation is applied recursively (i.e., server </a:t>
            </a:r>
            <a:r>
              <a:rPr lang="en-US" dirty="0" smtClean="0"/>
              <a:t>acts as </a:t>
            </a:r>
            <a:r>
              <a:rPr lang="en-US" dirty="0"/>
              <a:t>client)</a:t>
            </a:r>
          </a:p>
          <a:p>
            <a:r>
              <a:rPr lang="en-US" dirty="0" smtClean="0"/>
              <a:t>Result </a:t>
            </a:r>
            <a:r>
              <a:rPr lang="en-US" dirty="0"/>
              <a:t>is marshaled and passed back to client</a:t>
            </a:r>
          </a:p>
          <a:p>
            <a:r>
              <a:rPr lang="en-US" dirty="0" smtClean="0"/>
              <a:t>Client </a:t>
            </a:r>
            <a:r>
              <a:rPr lang="en-US" dirty="0"/>
              <a:t>stub </a:t>
            </a:r>
            <a:r>
              <a:rPr lang="en-US" dirty="0" err="1"/>
              <a:t>unmarshals</a:t>
            </a:r>
            <a:r>
              <a:rPr lang="en-US" dirty="0"/>
              <a:t> reply and passes result to client application</a:t>
            </a:r>
            <a:endParaRPr lang="en-US" sz="2400" dirty="0"/>
          </a:p>
        </p:txBody>
      </p:sp>
    </p:spTree>
    <p:extLst>
      <p:ext uri="{BB962C8B-B14F-4D97-AF65-F5344CB8AC3E}">
        <p14:creationId xmlns:p14="http://schemas.microsoft.com/office/powerpoint/2010/main" val="165486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RMI: Parameter passing</a:t>
            </a:r>
          </a:p>
        </p:txBody>
      </p:sp>
      <p:sp>
        <p:nvSpPr>
          <p:cNvPr id="4" name="Content Placeholder 3"/>
          <p:cNvSpPr>
            <a:spLocks noGrp="1"/>
          </p:cNvSpPr>
          <p:nvPr>
            <p:ph idx="1"/>
          </p:nvPr>
        </p:nvSpPr>
        <p:spPr/>
        <p:txBody>
          <a:bodyPr/>
          <a:lstStyle/>
          <a:p>
            <a:r>
              <a:rPr lang="en-US" dirty="0" smtClean="0"/>
              <a:t>Object </a:t>
            </a:r>
            <a:r>
              <a:rPr lang="en-US" dirty="0"/>
              <a:t>reference: Much easier than in the case of </a:t>
            </a:r>
            <a:r>
              <a:rPr lang="en-US" dirty="0" smtClean="0"/>
              <a:t>RPC</a:t>
            </a:r>
          </a:p>
          <a:p>
            <a:pPr lvl="2"/>
            <a:r>
              <a:rPr lang="en-US" sz="2400" dirty="0"/>
              <a:t>Server can simply bind to referenced object, and invoke methods</a:t>
            </a:r>
          </a:p>
          <a:p>
            <a:pPr lvl="2"/>
            <a:r>
              <a:rPr lang="en-US" sz="2400" dirty="0"/>
              <a:t>Unbind when referenced object is no longer needed</a:t>
            </a:r>
          </a:p>
          <a:p>
            <a:r>
              <a:rPr lang="en-US" dirty="0"/>
              <a:t>Object-by-value: A client may also pass a complete object as parameter </a:t>
            </a:r>
            <a:r>
              <a:rPr lang="en-US" dirty="0" smtClean="0"/>
              <a:t>value</a:t>
            </a:r>
            <a:endParaRPr lang="en-US" dirty="0"/>
          </a:p>
          <a:p>
            <a:pPr lvl="2"/>
            <a:r>
              <a:rPr lang="en-US" sz="2400" dirty="0"/>
              <a:t>An object has to be marshaled:</a:t>
            </a:r>
          </a:p>
          <a:p>
            <a:pPr marL="1519238" lvl="2" indent="-442913">
              <a:buFont typeface="Wingdings" panose="05000000000000000000" pitchFamily="2" charset="2"/>
              <a:buChar char="ü"/>
            </a:pPr>
            <a:r>
              <a:rPr lang="en-US" sz="2400" dirty="0" smtClean="0"/>
              <a:t>Marshall </a:t>
            </a:r>
            <a:r>
              <a:rPr lang="en-US" sz="2400" dirty="0"/>
              <a:t>its state</a:t>
            </a:r>
          </a:p>
          <a:p>
            <a:pPr marL="1519238" lvl="2" indent="-442913">
              <a:buFont typeface="Wingdings" panose="05000000000000000000" pitchFamily="2" charset="2"/>
              <a:buChar char="ü"/>
            </a:pPr>
            <a:r>
              <a:rPr lang="en-US" sz="2400" dirty="0" smtClean="0"/>
              <a:t>Marshall </a:t>
            </a:r>
            <a:r>
              <a:rPr lang="en-US" sz="2400" dirty="0"/>
              <a:t>its methods, or give a reference to where an implementation </a:t>
            </a:r>
            <a:r>
              <a:rPr lang="en-US" sz="2400" dirty="0" smtClean="0"/>
              <a:t>can be </a:t>
            </a:r>
            <a:r>
              <a:rPr lang="en-US" sz="2400" dirty="0"/>
              <a:t>found</a:t>
            </a:r>
          </a:p>
          <a:p>
            <a:pPr lvl="2"/>
            <a:r>
              <a:rPr lang="en-US" sz="2400" dirty="0" smtClean="0"/>
              <a:t>Server un-marshals </a:t>
            </a:r>
            <a:r>
              <a:rPr lang="en-US" sz="2400" dirty="0"/>
              <a:t>object. Note that we have now created a copy of the </a:t>
            </a:r>
            <a:r>
              <a:rPr lang="en-US" sz="2400" dirty="0" smtClean="0"/>
              <a:t>original object</a:t>
            </a:r>
            <a:r>
              <a:rPr lang="en-US" sz="2400" dirty="0"/>
              <a:t>.</a:t>
            </a:r>
          </a:p>
          <a:p>
            <a:pPr lvl="2"/>
            <a:r>
              <a:rPr lang="en-US" sz="2400" dirty="0" smtClean="0"/>
              <a:t>Object-by-value </a:t>
            </a:r>
            <a:r>
              <a:rPr lang="en-US" sz="2400" dirty="0"/>
              <a:t>passing tends to introduce nasty problems</a:t>
            </a:r>
          </a:p>
        </p:txBody>
      </p:sp>
    </p:spTree>
    <p:extLst>
      <p:ext uri="{BB962C8B-B14F-4D97-AF65-F5344CB8AC3E}">
        <p14:creationId xmlns:p14="http://schemas.microsoft.com/office/powerpoint/2010/main" val="878272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RMI: Parameter passing</a:t>
            </a:r>
          </a:p>
        </p:txBody>
      </p:sp>
      <p:sp>
        <p:nvSpPr>
          <p:cNvPr id="5" name="TextBox 4"/>
          <p:cNvSpPr txBox="1"/>
          <p:nvPr/>
        </p:nvSpPr>
        <p:spPr>
          <a:xfrm>
            <a:off x="1434479" y="5738156"/>
            <a:ext cx="7926482" cy="461665"/>
          </a:xfrm>
          <a:prstGeom prst="rect">
            <a:avLst/>
          </a:prstGeom>
          <a:solidFill>
            <a:srgbClr val="1D3064"/>
          </a:solidFill>
        </p:spPr>
        <p:txBody>
          <a:bodyPr wrap="square" rtlCol="0">
            <a:spAutoFit/>
          </a:bodyPr>
          <a:lstStyle/>
          <a:p>
            <a:r>
              <a:rPr lang="en-US" sz="2400" dirty="0">
                <a:solidFill>
                  <a:schemeClr val="bg1"/>
                </a:solidFill>
              </a:rPr>
              <a:t>The situation when passing an </a:t>
            </a:r>
            <a:r>
              <a:rPr lang="en-US" sz="2400" dirty="0" smtClean="0">
                <a:solidFill>
                  <a:schemeClr val="bg1"/>
                </a:solidFill>
              </a:rPr>
              <a:t>object by </a:t>
            </a:r>
            <a:r>
              <a:rPr lang="en-US" sz="2400" dirty="0">
                <a:solidFill>
                  <a:schemeClr val="bg1"/>
                </a:solidFill>
              </a:rPr>
              <a:t>reference or by value</a:t>
            </a:r>
          </a:p>
        </p:txBody>
      </p:sp>
      <p:pic>
        <p:nvPicPr>
          <p:cNvPr id="4" name="Picture 3"/>
          <p:cNvPicPr>
            <a:picLocks noChangeAspect="1"/>
          </p:cNvPicPr>
          <p:nvPr/>
        </p:nvPicPr>
        <p:blipFill>
          <a:blip r:embed="rId2"/>
          <a:stretch>
            <a:fillRect/>
          </a:stretch>
        </p:blipFill>
        <p:spPr>
          <a:xfrm>
            <a:off x="1275371" y="1081367"/>
            <a:ext cx="7720151" cy="4485715"/>
          </a:xfrm>
          <a:prstGeom prst="rect">
            <a:avLst/>
          </a:prstGeom>
        </p:spPr>
      </p:pic>
      <p:sp>
        <p:nvSpPr>
          <p:cNvPr id="6" name="TextBox 5"/>
          <p:cNvSpPr txBox="1"/>
          <p:nvPr/>
        </p:nvSpPr>
        <p:spPr>
          <a:xfrm>
            <a:off x="2235014" y="856361"/>
            <a:ext cx="1329908" cy="400110"/>
          </a:xfrm>
          <a:prstGeom prst="rect">
            <a:avLst/>
          </a:prstGeom>
          <a:noFill/>
        </p:spPr>
        <p:txBody>
          <a:bodyPr wrap="square" rtlCol="0">
            <a:spAutoFit/>
          </a:bodyPr>
          <a:lstStyle/>
          <a:p>
            <a:r>
              <a:rPr lang="en-IN" sz="2000" b="1" dirty="0">
                <a:solidFill>
                  <a:schemeClr val="accent6"/>
                </a:solidFill>
              </a:rPr>
              <a:t>Machine A</a:t>
            </a:r>
          </a:p>
        </p:txBody>
      </p:sp>
      <p:sp>
        <p:nvSpPr>
          <p:cNvPr id="8" name="TextBox 7"/>
          <p:cNvSpPr txBox="1"/>
          <p:nvPr/>
        </p:nvSpPr>
        <p:spPr>
          <a:xfrm>
            <a:off x="76094" y="3046524"/>
            <a:ext cx="1950288" cy="923330"/>
          </a:xfrm>
          <a:prstGeom prst="rect">
            <a:avLst/>
          </a:prstGeom>
          <a:noFill/>
        </p:spPr>
        <p:txBody>
          <a:bodyPr wrap="square" rtlCol="0">
            <a:spAutoFit/>
          </a:bodyPr>
          <a:lstStyle/>
          <a:p>
            <a:r>
              <a:rPr lang="en-US" dirty="0">
                <a:solidFill>
                  <a:srgbClr val="1D3064"/>
                </a:solidFill>
              </a:rPr>
              <a:t>Client code with</a:t>
            </a:r>
          </a:p>
          <a:p>
            <a:r>
              <a:rPr lang="en-US" dirty="0">
                <a:solidFill>
                  <a:srgbClr val="1D3064"/>
                </a:solidFill>
              </a:rPr>
              <a:t>RMI to server at C</a:t>
            </a:r>
          </a:p>
          <a:p>
            <a:r>
              <a:rPr lang="en-US" dirty="0">
                <a:solidFill>
                  <a:srgbClr val="1D3064"/>
                </a:solidFill>
              </a:rPr>
              <a:t>(proxy)</a:t>
            </a:r>
            <a:endParaRPr lang="en-IN" dirty="0">
              <a:solidFill>
                <a:srgbClr val="1D3064"/>
              </a:solidFill>
            </a:endParaRPr>
          </a:p>
        </p:txBody>
      </p:sp>
      <p:sp>
        <p:nvSpPr>
          <p:cNvPr id="9" name="TextBox 8"/>
          <p:cNvSpPr txBox="1"/>
          <p:nvPr/>
        </p:nvSpPr>
        <p:spPr>
          <a:xfrm>
            <a:off x="8836414" y="4488512"/>
            <a:ext cx="1706080" cy="369332"/>
          </a:xfrm>
          <a:prstGeom prst="rect">
            <a:avLst/>
          </a:prstGeom>
          <a:noFill/>
        </p:spPr>
        <p:txBody>
          <a:bodyPr wrap="square" rtlCol="0">
            <a:spAutoFit/>
          </a:bodyPr>
          <a:lstStyle/>
          <a:p>
            <a:r>
              <a:rPr lang="en-US" dirty="0">
                <a:solidFill>
                  <a:srgbClr val="1D3064"/>
                </a:solidFill>
              </a:rPr>
              <a:t>Copy of R1 to O2</a:t>
            </a:r>
            <a:endParaRPr lang="en-IN" dirty="0">
              <a:solidFill>
                <a:srgbClr val="1D3064"/>
              </a:solidFill>
            </a:endParaRPr>
          </a:p>
        </p:txBody>
      </p:sp>
      <p:sp>
        <p:nvSpPr>
          <p:cNvPr id="10" name="TextBox 9"/>
          <p:cNvSpPr txBox="1"/>
          <p:nvPr/>
        </p:nvSpPr>
        <p:spPr>
          <a:xfrm>
            <a:off x="7882093" y="5037741"/>
            <a:ext cx="2675124" cy="646331"/>
          </a:xfrm>
          <a:prstGeom prst="rect">
            <a:avLst/>
          </a:prstGeom>
          <a:noFill/>
        </p:spPr>
        <p:txBody>
          <a:bodyPr wrap="square" rtlCol="0">
            <a:spAutoFit/>
          </a:bodyPr>
          <a:lstStyle/>
          <a:p>
            <a:r>
              <a:rPr lang="en-IN" dirty="0">
                <a:solidFill>
                  <a:srgbClr val="1D3064"/>
                </a:solidFill>
              </a:rPr>
              <a:t>Server code</a:t>
            </a:r>
          </a:p>
          <a:p>
            <a:r>
              <a:rPr lang="en-IN" dirty="0">
                <a:solidFill>
                  <a:srgbClr val="1D3064"/>
                </a:solidFill>
              </a:rPr>
              <a:t>(method implementation)</a:t>
            </a:r>
          </a:p>
        </p:txBody>
      </p:sp>
      <p:sp>
        <p:nvSpPr>
          <p:cNvPr id="11" name="TextBox 10"/>
          <p:cNvSpPr txBox="1"/>
          <p:nvPr/>
        </p:nvSpPr>
        <p:spPr>
          <a:xfrm>
            <a:off x="2074385" y="1541629"/>
            <a:ext cx="1638454" cy="369332"/>
          </a:xfrm>
          <a:prstGeom prst="rect">
            <a:avLst/>
          </a:prstGeom>
          <a:noFill/>
        </p:spPr>
        <p:txBody>
          <a:bodyPr wrap="square" rtlCol="0">
            <a:spAutoFit/>
          </a:bodyPr>
          <a:lstStyle/>
          <a:p>
            <a:r>
              <a:rPr lang="en-IN" b="1" dirty="0">
                <a:solidFill>
                  <a:srgbClr val="0E3755"/>
                </a:solidFill>
              </a:rPr>
              <a:t>Local </a:t>
            </a:r>
            <a:r>
              <a:rPr lang="en-IN" b="1" dirty="0" smtClean="0">
                <a:solidFill>
                  <a:srgbClr val="0E3755"/>
                </a:solidFill>
              </a:rPr>
              <a:t>object O1</a:t>
            </a:r>
            <a:endParaRPr lang="en-IN" b="1" dirty="0">
              <a:solidFill>
                <a:srgbClr val="0E3755"/>
              </a:solidFill>
            </a:endParaRPr>
          </a:p>
        </p:txBody>
      </p:sp>
      <p:sp>
        <p:nvSpPr>
          <p:cNvPr id="12" name="TextBox 11"/>
          <p:cNvSpPr txBox="1"/>
          <p:nvPr/>
        </p:nvSpPr>
        <p:spPr>
          <a:xfrm>
            <a:off x="6823947" y="1595471"/>
            <a:ext cx="1809905" cy="369332"/>
          </a:xfrm>
          <a:prstGeom prst="rect">
            <a:avLst/>
          </a:prstGeom>
          <a:noFill/>
        </p:spPr>
        <p:txBody>
          <a:bodyPr wrap="square" rtlCol="0">
            <a:spAutoFit/>
          </a:bodyPr>
          <a:lstStyle/>
          <a:p>
            <a:r>
              <a:rPr lang="en-IN" b="1" dirty="0">
                <a:solidFill>
                  <a:srgbClr val="0E3755"/>
                </a:solidFill>
              </a:rPr>
              <a:t>Remote </a:t>
            </a:r>
            <a:r>
              <a:rPr lang="en-IN" b="1" dirty="0" smtClean="0">
                <a:solidFill>
                  <a:srgbClr val="0E3755"/>
                </a:solidFill>
              </a:rPr>
              <a:t>object O2</a:t>
            </a:r>
            <a:endParaRPr lang="en-IN" b="1" dirty="0">
              <a:solidFill>
                <a:srgbClr val="0E3755"/>
              </a:solidFill>
            </a:endParaRPr>
          </a:p>
        </p:txBody>
      </p:sp>
      <p:sp>
        <p:nvSpPr>
          <p:cNvPr id="13" name="TextBox 12"/>
          <p:cNvSpPr txBox="1"/>
          <p:nvPr/>
        </p:nvSpPr>
        <p:spPr>
          <a:xfrm>
            <a:off x="5923044" y="3785188"/>
            <a:ext cx="1299882" cy="369332"/>
          </a:xfrm>
          <a:prstGeom prst="rect">
            <a:avLst/>
          </a:prstGeom>
          <a:noFill/>
        </p:spPr>
        <p:txBody>
          <a:bodyPr wrap="square" rtlCol="0">
            <a:spAutoFit/>
          </a:bodyPr>
          <a:lstStyle/>
          <a:p>
            <a:r>
              <a:rPr lang="en-IN" b="1" dirty="0">
                <a:solidFill>
                  <a:srgbClr val="1D3064"/>
                </a:solidFill>
              </a:rPr>
              <a:t>Copy of O1</a:t>
            </a:r>
          </a:p>
        </p:txBody>
      </p:sp>
      <p:sp>
        <p:nvSpPr>
          <p:cNvPr id="14" name="TextBox 13"/>
          <p:cNvSpPr txBox="1"/>
          <p:nvPr/>
        </p:nvSpPr>
        <p:spPr>
          <a:xfrm>
            <a:off x="4424546" y="3678151"/>
            <a:ext cx="1210374" cy="646331"/>
          </a:xfrm>
          <a:prstGeom prst="rect">
            <a:avLst/>
          </a:prstGeom>
          <a:noFill/>
        </p:spPr>
        <p:txBody>
          <a:bodyPr wrap="square" rtlCol="0">
            <a:spAutoFit/>
          </a:bodyPr>
          <a:lstStyle/>
          <a:p>
            <a:r>
              <a:rPr lang="en-IN" dirty="0">
                <a:solidFill>
                  <a:srgbClr val="0E3755"/>
                </a:solidFill>
              </a:rPr>
              <a:t>New local</a:t>
            </a:r>
          </a:p>
          <a:p>
            <a:r>
              <a:rPr lang="en-IN" dirty="0">
                <a:solidFill>
                  <a:srgbClr val="0E3755"/>
                </a:solidFill>
              </a:rPr>
              <a:t>reference</a:t>
            </a:r>
          </a:p>
        </p:txBody>
      </p:sp>
      <p:sp>
        <p:nvSpPr>
          <p:cNvPr id="15" name="TextBox 14"/>
          <p:cNvSpPr txBox="1"/>
          <p:nvPr/>
        </p:nvSpPr>
        <p:spPr>
          <a:xfrm>
            <a:off x="4706031" y="1726295"/>
            <a:ext cx="1447798" cy="646331"/>
          </a:xfrm>
          <a:prstGeom prst="rect">
            <a:avLst/>
          </a:prstGeom>
          <a:noFill/>
        </p:spPr>
        <p:txBody>
          <a:bodyPr wrap="square" rtlCol="0">
            <a:spAutoFit/>
          </a:bodyPr>
          <a:lstStyle/>
          <a:p>
            <a:r>
              <a:rPr lang="en-IN" dirty="0">
                <a:solidFill>
                  <a:srgbClr val="0E3755"/>
                </a:solidFill>
              </a:rPr>
              <a:t>Remote</a:t>
            </a:r>
          </a:p>
          <a:p>
            <a:r>
              <a:rPr lang="en-IN" dirty="0">
                <a:solidFill>
                  <a:srgbClr val="0E3755"/>
                </a:solidFill>
              </a:rPr>
              <a:t>reference R1</a:t>
            </a:r>
          </a:p>
        </p:txBody>
      </p:sp>
      <p:sp>
        <p:nvSpPr>
          <p:cNvPr id="16" name="TextBox 15"/>
          <p:cNvSpPr txBox="1"/>
          <p:nvPr/>
        </p:nvSpPr>
        <p:spPr>
          <a:xfrm>
            <a:off x="1950288" y="4324482"/>
            <a:ext cx="2474258" cy="646331"/>
          </a:xfrm>
          <a:prstGeom prst="rect">
            <a:avLst/>
          </a:prstGeom>
          <a:noFill/>
        </p:spPr>
        <p:txBody>
          <a:bodyPr wrap="square" rtlCol="0">
            <a:spAutoFit/>
          </a:bodyPr>
          <a:lstStyle/>
          <a:p>
            <a:r>
              <a:rPr lang="en-US" dirty="0" smtClean="0">
                <a:solidFill>
                  <a:srgbClr val="1D3064"/>
                </a:solidFill>
              </a:rPr>
              <a:t>Remote invocation with L1 </a:t>
            </a:r>
            <a:r>
              <a:rPr lang="en-US" dirty="0">
                <a:solidFill>
                  <a:srgbClr val="1D3064"/>
                </a:solidFill>
              </a:rPr>
              <a:t>and R1 </a:t>
            </a:r>
            <a:r>
              <a:rPr lang="en-US" dirty="0" smtClean="0">
                <a:solidFill>
                  <a:srgbClr val="1D3064"/>
                </a:solidFill>
              </a:rPr>
              <a:t>as parameters</a:t>
            </a:r>
            <a:endParaRPr lang="en-IN" dirty="0">
              <a:solidFill>
                <a:srgbClr val="1D3064"/>
              </a:solidFill>
            </a:endParaRPr>
          </a:p>
        </p:txBody>
      </p:sp>
      <p:sp>
        <p:nvSpPr>
          <p:cNvPr id="17" name="TextBox 16"/>
          <p:cNvSpPr txBox="1"/>
          <p:nvPr/>
        </p:nvSpPr>
        <p:spPr>
          <a:xfrm>
            <a:off x="7037700" y="881338"/>
            <a:ext cx="1329908" cy="400110"/>
          </a:xfrm>
          <a:prstGeom prst="rect">
            <a:avLst/>
          </a:prstGeom>
          <a:noFill/>
        </p:spPr>
        <p:txBody>
          <a:bodyPr wrap="square" rtlCol="0">
            <a:spAutoFit/>
          </a:bodyPr>
          <a:lstStyle/>
          <a:p>
            <a:r>
              <a:rPr lang="en-IN" sz="2000" b="1" dirty="0">
                <a:solidFill>
                  <a:schemeClr val="accent6"/>
                </a:solidFill>
              </a:rPr>
              <a:t>Machine </a:t>
            </a:r>
            <a:r>
              <a:rPr lang="en-IN" sz="2000" b="1" dirty="0" smtClean="0">
                <a:solidFill>
                  <a:schemeClr val="accent6"/>
                </a:solidFill>
              </a:rPr>
              <a:t>B</a:t>
            </a:r>
            <a:endParaRPr lang="en-IN" sz="2000" b="1" dirty="0">
              <a:solidFill>
                <a:schemeClr val="accent6"/>
              </a:solidFill>
            </a:endParaRPr>
          </a:p>
        </p:txBody>
      </p:sp>
      <p:sp>
        <p:nvSpPr>
          <p:cNvPr id="18" name="TextBox 17"/>
          <p:cNvSpPr txBox="1"/>
          <p:nvPr/>
        </p:nvSpPr>
        <p:spPr>
          <a:xfrm>
            <a:off x="5907230" y="5315492"/>
            <a:ext cx="1329908" cy="400110"/>
          </a:xfrm>
          <a:prstGeom prst="rect">
            <a:avLst/>
          </a:prstGeom>
          <a:noFill/>
        </p:spPr>
        <p:txBody>
          <a:bodyPr wrap="square" rtlCol="0">
            <a:spAutoFit/>
          </a:bodyPr>
          <a:lstStyle/>
          <a:p>
            <a:r>
              <a:rPr lang="en-IN" sz="2000" b="1" dirty="0">
                <a:solidFill>
                  <a:schemeClr val="accent6"/>
                </a:solidFill>
              </a:rPr>
              <a:t>Machine </a:t>
            </a:r>
            <a:r>
              <a:rPr lang="en-IN" sz="2000" b="1" dirty="0" smtClean="0">
                <a:solidFill>
                  <a:schemeClr val="accent6"/>
                </a:solidFill>
              </a:rPr>
              <a:t>C</a:t>
            </a:r>
            <a:endParaRPr lang="en-IN" sz="2000" b="1" dirty="0">
              <a:solidFill>
                <a:schemeClr val="accent6"/>
              </a:solidFill>
            </a:endParaRPr>
          </a:p>
        </p:txBody>
      </p:sp>
      <p:sp>
        <p:nvSpPr>
          <p:cNvPr id="19" name="TextBox 18"/>
          <p:cNvSpPr txBox="1"/>
          <p:nvPr/>
        </p:nvSpPr>
        <p:spPr>
          <a:xfrm>
            <a:off x="369753" y="1602214"/>
            <a:ext cx="1362970" cy="646331"/>
          </a:xfrm>
          <a:prstGeom prst="rect">
            <a:avLst/>
          </a:prstGeom>
          <a:noFill/>
        </p:spPr>
        <p:txBody>
          <a:bodyPr wrap="square" rtlCol="0">
            <a:spAutoFit/>
          </a:bodyPr>
          <a:lstStyle/>
          <a:p>
            <a:pPr algn="r"/>
            <a:r>
              <a:rPr lang="en-IN" dirty="0"/>
              <a:t>Local</a:t>
            </a:r>
          </a:p>
          <a:p>
            <a:pPr algn="r"/>
            <a:r>
              <a:rPr lang="en-IN" dirty="0"/>
              <a:t>reference L1</a:t>
            </a:r>
          </a:p>
        </p:txBody>
      </p:sp>
    </p:spTree>
    <p:extLst>
      <p:ext uri="{BB962C8B-B14F-4D97-AF65-F5344CB8AC3E}">
        <p14:creationId xmlns:p14="http://schemas.microsoft.com/office/powerpoint/2010/main" val="23585294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CORBA: Overview</a:t>
            </a:r>
          </a:p>
        </p:txBody>
      </p:sp>
      <p:sp>
        <p:nvSpPr>
          <p:cNvPr id="4" name="Content Placeholder 3"/>
          <p:cNvSpPr>
            <a:spLocks noGrp="1"/>
          </p:cNvSpPr>
          <p:nvPr>
            <p:ph idx="1"/>
          </p:nvPr>
        </p:nvSpPr>
        <p:spPr/>
        <p:txBody>
          <a:bodyPr/>
          <a:lstStyle/>
          <a:p>
            <a:r>
              <a:rPr lang="en-US" dirty="0" smtClean="0"/>
              <a:t>OMG : </a:t>
            </a:r>
            <a:r>
              <a:rPr lang="en-US" dirty="0" smtClean="0">
                <a:solidFill>
                  <a:schemeClr val="accent6"/>
                </a:solidFill>
              </a:rPr>
              <a:t>The </a:t>
            </a:r>
            <a:r>
              <a:rPr lang="en-US" dirty="0">
                <a:solidFill>
                  <a:schemeClr val="accent6"/>
                </a:solidFill>
              </a:rPr>
              <a:t>Object Management Group </a:t>
            </a:r>
            <a:r>
              <a:rPr lang="en-US" dirty="0"/>
              <a:t>(OMG) was formed in 1989 and now has over </a:t>
            </a:r>
            <a:r>
              <a:rPr lang="en-US" dirty="0" smtClean="0"/>
              <a:t>800 members.</a:t>
            </a:r>
          </a:p>
          <a:p>
            <a:r>
              <a:rPr lang="en-US" dirty="0" smtClean="0"/>
              <a:t>Its </a:t>
            </a:r>
            <a:r>
              <a:rPr lang="en-US" dirty="0"/>
              <a:t>aims were:</a:t>
            </a:r>
            <a:endParaRPr lang="en-US" dirty="0" smtClean="0"/>
          </a:p>
          <a:p>
            <a:pPr lvl="2"/>
            <a:r>
              <a:rPr lang="en-US" sz="2400" dirty="0" smtClean="0"/>
              <a:t>To </a:t>
            </a:r>
            <a:r>
              <a:rPr lang="en-US" sz="2400" dirty="0"/>
              <a:t>make better use of distributed systems</a:t>
            </a:r>
          </a:p>
          <a:p>
            <a:pPr lvl="2"/>
            <a:r>
              <a:rPr lang="en-US" sz="2400" dirty="0"/>
              <a:t>T</a:t>
            </a:r>
            <a:r>
              <a:rPr lang="en-US" sz="2400" dirty="0" smtClean="0"/>
              <a:t>o </a:t>
            </a:r>
            <a:r>
              <a:rPr lang="en-US" sz="2400" dirty="0"/>
              <a:t>use object-oriented programming</a:t>
            </a:r>
          </a:p>
          <a:p>
            <a:pPr lvl="2"/>
            <a:r>
              <a:rPr lang="en-US" sz="2400" dirty="0" smtClean="0"/>
              <a:t>To </a:t>
            </a:r>
            <a:r>
              <a:rPr lang="en-US" sz="2400" dirty="0"/>
              <a:t>allow objects in different programming languages to communicate with </a:t>
            </a:r>
            <a:r>
              <a:rPr lang="en-US" sz="2400" dirty="0" smtClean="0"/>
              <a:t>one another</a:t>
            </a:r>
            <a:endParaRPr lang="en-US" sz="2400" dirty="0"/>
          </a:p>
          <a:p>
            <a:pPr lvl="2"/>
            <a:r>
              <a:rPr lang="en-US" sz="2400" dirty="0" smtClean="0"/>
              <a:t>The </a:t>
            </a:r>
            <a:r>
              <a:rPr lang="en-US" sz="2400" dirty="0"/>
              <a:t>object request broker (ORB) enables clients to invoke methods in a </a:t>
            </a:r>
            <a:r>
              <a:rPr lang="en-US" sz="2400" dirty="0" smtClean="0"/>
              <a:t>remote object</a:t>
            </a:r>
            <a:endParaRPr lang="en-US" sz="2400" dirty="0"/>
          </a:p>
          <a:p>
            <a:pPr lvl="2"/>
            <a:r>
              <a:rPr lang="en-US" sz="2400" dirty="0" smtClean="0"/>
              <a:t>CORBA </a:t>
            </a:r>
            <a:r>
              <a:rPr lang="en-US" sz="2400" dirty="0"/>
              <a:t>(Common Object Request Broker Architecture) is a specification of </a:t>
            </a:r>
            <a:r>
              <a:rPr lang="en-US" sz="2400" dirty="0" smtClean="0"/>
              <a:t>an architecture </a:t>
            </a:r>
            <a:r>
              <a:rPr lang="en-US" sz="2400" dirty="0"/>
              <a:t>supporting this (rather than an implementation such as RMI).</a:t>
            </a:r>
          </a:p>
        </p:txBody>
      </p:sp>
    </p:spTree>
    <p:extLst>
      <p:ext uri="{BB962C8B-B14F-4D97-AF65-F5344CB8AC3E}">
        <p14:creationId xmlns:p14="http://schemas.microsoft.com/office/powerpoint/2010/main" val="3338884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CORBA: Overview</a:t>
            </a:r>
          </a:p>
        </p:txBody>
      </p:sp>
      <p:sp>
        <p:nvSpPr>
          <p:cNvPr id="4" name="Content Placeholder 3"/>
          <p:cNvSpPr>
            <a:spLocks noGrp="1"/>
          </p:cNvSpPr>
          <p:nvPr>
            <p:ph idx="1"/>
          </p:nvPr>
        </p:nvSpPr>
        <p:spPr/>
        <p:txBody>
          <a:bodyPr/>
          <a:lstStyle/>
          <a:p>
            <a:r>
              <a:rPr lang="en-US" dirty="0"/>
              <a:t>CORBA (Common Object Request Broker Architecture) is a specification of </a:t>
            </a:r>
            <a:r>
              <a:rPr lang="en-US" dirty="0" smtClean="0"/>
              <a:t>an architecture </a:t>
            </a:r>
            <a:r>
              <a:rPr lang="en-US" dirty="0"/>
              <a:t>supporting this (rather than an implementation such as RMI</a:t>
            </a:r>
            <a:r>
              <a:rPr lang="en-US" dirty="0" smtClean="0"/>
              <a:t>).</a:t>
            </a:r>
          </a:p>
          <a:p>
            <a:r>
              <a:rPr lang="en-US" dirty="0" smtClean="0">
                <a:solidFill>
                  <a:schemeClr val="accent6"/>
                </a:solidFill>
              </a:rPr>
              <a:t>ORB(Object </a:t>
            </a:r>
            <a:r>
              <a:rPr lang="en-US" dirty="0">
                <a:solidFill>
                  <a:schemeClr val="accent6"/>
                </a:solidFill>
              </a:rPr>
              <a:t>Request </a:t>
            </a:r>
            <a:r>
              <a:rPr lang="en-US" dirty="0" smtClean="0">
                <a:solidFill>
                  <a:schemeClr val="accent6"/>
                </a:solidFill>
              </a:rPr>
              <a:t>Broker) </a:t>
            </a:r>
            <a:r>
              <a:rPr lang="en-US" dirty="0" smtClean="0"/>
              <a:t>: </a:t>
            </a:r>
            <a:r>
              <a:rPr lang="en-US" dirty="0"/>
              <a:t>the runtime system responsible for communication between objects </a:t>
            </a:r>
            <a:r>
              <a:rPr lang="en-US" dirty="0" smtClean="0"/>
              <a:t>and their </a:t>
            </a:r>
            <a:r>
              <a:rPr lang="en-US" dirty="0"/>
              <a:t>clients</a:t>
            </a:r>
          </a:p>
          <a:p>
            <a:r>
              <a:rPr lang="en-US" dirty="0" smtClean="0"/>
              <a:t>CORBA </a:t>
            </a:r>
            <a:r>
              <a:rPr lang="en-US" dirty="0"/>
              <a:t>facilities: collections of classes and objects that provide </a:t>
            </a:r>
            <a:r>
              <a:rPr lang="en-US" dirty="0" smtClean="0"/>
              <a:t>general-purpose capabilities </a:t>
            </a:r>
            <a:r>
              <a:rPr lang="en-US" dirty="0"/>
              <a:t>that are useful in many applications.</a:t>
            </a:r>
          </a:p>
          <a:p>
            <a:pPr lvl="2"/>
            <a:r>
              <a:rPr lang="en-US" sz="2400" dirty="0"/>
              <a:t>Horizontal facilities: user interfaces, information management, system management, task management</a:t>
            </a:r>
          </a:p>
          <a:p>
            <a:pPr lvl="2"/>
            <a:r>
              <a:rPr lang="en-US" sz="2400" dirty="0"/>
              <a:t>Vertical facilities: e.g., electronic commerce, banking, manufacturing, healthcare, telecommunications</a:t>
            </a:r>
            <a:endParaRPr lang="en-IN" sz="2400" dirty="0"/>
          </a:p>
        </p:txBody>
      </p:sp>
    </p:spTree>
    <p:extLst>
      <p:ext uri="{BB962C8B-B14F-4D97-AF65-F5344CB8AC3E}">
        <p14:creationId xmlns:p14="http://schemas.microsoft.com/office/powerpoint/2010/main" val="207941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CORBA: Overview</a:t>
            </a:r>
          </a:p>
        </p:txBody>
      </p:sp>
      <p:sp>
        <p:nvSpPr>
          <p:cNvPr id="4" name="Content Placeholder 3"/>
          <p:cNvSpPr>
            <a:spLocks noGrp="1"/>
          </p:cNvSpPr>
          <p:nvPr>
            <p:ph idx="1"/>
          </p:nvPr>
        </p:nvSpPr>
        <p:spPr/>
        <p:txBody>
          <a:bodyPr/>
          <a:lstStyle/>
          <a:p>
            <a:endParaRPr lang="en-US" dirty="0" smtClean="0"/>
          </a:p>
          <a:p>
            <a:endParaRPr lang="en-US" dirty="0"/>
          </a:p>
          <a:p>
            <a:endParaRPr lang="en-US" dirty="0" smtClean="0"/>
          </a:p>
          <a:p>
            <a:endParaRPr lang="en-US" dirty="0" smtClean="0"/>
          </a:p>
          <a:p>
            <a:endParaRPr lang="en-US" dirty="0"/>
          </a:p>
          <a:p>
            <a:endParaRPr lang="en-US" dirty="0" smtClean="0"/>
          </a:p>
          <a:p>
            <a:r>
              <a:rPr lang="en-US" dirty="0" smtClean="0">
                <a:solidFill>
                  <a:schemeClr val="accent6"/>
                </a:solidFill>
              </a:rPr>
              <a:t>ORB</a:t>
            </a:r>
            <a:r>
              <a:rPr lang="en-US" dirty="0"/>
              <a:t>: the runtime system responsible for communication between objects </a:t>
            </a:r>
            <a:r>
              <a:rPr lang="en-US" dirty="0" smtClean="0"/>
              <a:t>and their </a:t>
            </a:r>
            <a:r>
              <a:rPr lang="en-US" dirty="0"/>
              <a:t>clients</a:t>
            </a:r>
          </a:p>
          <a:p>
            <a:r>
              <a:rPr lang="en-US" dirty="0" smtClean="0">
                <a:solidFill>
                  <a:schemeClr val="accent6"/>
                </a:solidFill>
              </a:rPr>
              <a:t>CORBA </a:t>
            </a:r>
            <a:r>
              <a:rPr lang="en-US" dirty="0">
                <a:solidFill>
                  <a:schemeClr val="accent6"/>
                </a:solidFill>
              </a:rPr>
              <a:t>facilities</a:t>
            </a:r>
            <a:r>
              <a:rPr lang="en-US" dirty="0"/>
              <a:t>: collections of classes and objects that provide </a:t>
            </a:r>
            <a:r>
              <a:rPr lang="en-US" dirty="0" smtClean="0"/>
              <a:t>general-purpose capabilities </a:t>
            </a:r>
            <a:r>
              <a:rPr lang="en-US" dirty="0"/>
              <a:t>that are useful in many applications.</a:t>
            </a:r>
          </a:p>
          <a:p>
            <a:pPr lvl="2"/>
            <a:r>
              <a:rPr lang="en-US" sz="2400" dirty="0">
                <a:solidFill>
                  <a:srgbClr val="1D3064"/>
                </a:solidFill>
              </a:rPr>
              <a:t>Horizontal facilities</a:t>
            </a:r>
            <a:r>
              <a:rPr lang="en-US" sz="2400" dirty="0"/>
              <a:t>: user interfaces, information management, system management, task management</a:t>
            </a:r>
          </a:p>
          <a:p>
            <a:pPr lvl="2"/>
            <a:r>
              <a:rPr lang="en-US" sz="2400" dirty="0">
                <a:solidFill>
                  <a:srgbClr val="1D3064"/>
                </a:solidFill>
              </a:rPr>
              <a:t>Vertical facilities</a:t>
            </a:r>
            <a:r>
              <a:rPr lang="en-US" sz="2400" dirty="0"/>
              <a:t>: e.g., electronic commerce, banking, manufacturing, healthcare, telecommunications</a:t>
            </a:r>
          </a:p>
        </p:txBody>
      </p:sp>
      <p:grpSp>
        <p:nvGrpSpPr>
          <p:cNvPr id="23" name="Group 22"/>
          <p:cNvGrpSpPr/>
          <p:nvPr/>
        </p:nvGrpSpPr>
        <p:grpSpPr>
          <a:xfrm>
            <a:off x="416859" y="837676"/>
            <a:ext cx="11510682" cy="2479423"/>
            <a:chOff x="416859" y="837676"/>
            <a:chExt cx="11510682" cy="2479423"/>
          </a:xfrm>
        </p:grpSpPr>
        <p:sp>
          <p:nvSpPr>
            <p:cNvPr id="5" name="Rounded Rectangle 4"/>
            <p:cNvSpPr/>
            <p:nvPr/>
          </p:nvSpPr>
          <p:spPr>
            <a:xfrm>
              <a:off x="416859" y="837676"/>
              <a:ext cx="2660277" cy="101078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accent6"/>
                  </a:solidFill>
                </a:rPr>
                <a:t>Application Objects</a:t>
              </a:r>
              <a:endParaRPr lang="en-IN" sz="2400" dirty="0">
                <a:solidFill>
                  <a:schemeClr val="accent6"/>
                </a:solidFill>
              </a:endParaRPr>
            </a:p>
          </p:txBody>
        </p:sp>
        <p:sp>
          <p:nvSpPr>
            <p:cNvPr id="6" name="Rounded Rectangle 5"/>
            <p:cNvSpPr/>
            <p:nvPr/>
          </p:nvSpPr>
          <p:spPr>
            <a:xfrm>
              <a:off x="6338572" y="837676"/>
              <a:ext cx="2751639" cy="101078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accent6"/>
                  </a:solidFill>
                </a:rPr>
                <a:t>Horizontal </a:t>
              </a:r>
              <a:r>
                <a:rPr lang="en-IN" sz="2400" dirty="0" smtClean="0">
                  <a:solidFill>
                    <a:schemeClr val="accent6"/>
                  </a:solidFill>
                </a:rPr>
                <a:t>facilities </a:t>
              </a:r>
            </a:p>
            <a:p>
              <a:pPr algn="ctr"/>
              <a:r>
                <a:rPr lang="en-IN" sz="2400" dirty="0" smtClean="0">
                  <a:solidFill>
                    <a:schemeClr val="accent6"/>
                  </a:solidFill>
                </a:rPr>
                <a:t>(general purpose)</a:t>
              </a:r>
              <a:endParaRPr lang="en-IN" sz="2400" dirty="0">
                <a:solidFill>
                  <a:schemeClr val="accent6"/>
                </a:solidFill>
              </a:endParaRPr>
            </a:p>
          </p:txBody>
        </p:sp>
        <p:sp>
          <p:nvSpPr>
            <p:cNvPr id="8" name="Rectangle 7"/>
            <p:cNvSpPr/>
            <p:nvPr/>
          </p:nvSpPr>
          <p:spPr>
            <a:xfrm>
              <a:off x="416859" y="2710855"/>
              <a:ext cx="11510682"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smtClean="0">
                  <a:solidFill>
                    <a:srgbClr val="0E3755"/>
                  </a:solidFill>
                </a:rPr>
                <a:t>Object Request Broker</a:t>
              </a:r>
              <a:endParaRPr lang="en-IN" sz="2800" b="1" dirty="0">
                <a:solidFill>
                  <a:srgbClr val="0E3755"/>
                </a:solidFill>
              </a:endParaRPr>
            </a:p>
          </p:txBody>
        </p:sp>
        <p:cxnSp>
          <p:nvCxnSpPr>
            <p:cNvPr id="12" name="Straight Arrow Connector 11"/>
            <p:cNvCxnSpPr>
              <a:stCxn id="5" idx="2"/>
            </p:cNvCxnSpPr>
            <p:nvPr/>
          </p:nvCxnSpPr>
          <p:spPr>
            <a:xfrm flipH="1">
              <a:off x="1734671" y="1848456"/>
              <a:ext cx="12327" cy="8623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5"/>
            <p:cNvSpPr/>
            <p:nvPr/>
          </p:nvSpPr>
          <p:spPr>
            <a:xfrm>
              <a:off x="3362815" y="837676"/>
              <a:ext cx="2552770" cy="101078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accent6"/>
                  </a:solidFill>
                </a:rPr>
                <a:t>Vertical </a:t>
              </a:r>
              <a:r>
                <a:rPr lang="en-IN" sz="2400" dirty="0" smtClean="0">
                  <a:solidFill>
                    <a:schemeClr val="accent6"/>
                  </a:solidFill>
                </a:rPr>
                <a:t>facilities (domain specific)</a:t>
              </a:r>
              <a:endParaRPr lang="en-IN" sz="2400" dirty="0">
                <a:solidFill>
                  <a:schemeClr val="accent6"/>
                </a:solidFill>
              </a:endParaRPr>
            </a:p>
          </p:txBody>
        </p:sp>
        <p:sp>
          <p:nvSpPr>
            <p:cNvPr id="17" name="Rounded Rectangle 16"/>
            <p:cNvSpPr/>
            <p:nvPr/>
          </p:nvSpPr>
          <p:spPr>
            <a:xfrm>
              <a:off x="9513198" y="863444"/>
              <a:ext cx="2414343" cy="985012"/>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accent6"/>
                  </a:solidFill>
                </a:rPr>
                <a:t>Common object services</a:t>
              </a:r>
              <a:endParaRPr lang="en-IN" sz="2400" dirty="0">
                <a:solidFill>
                  <a:schemeClr val="accent6"/>
                </a:solidFill>
              </a:endParaRPr>
            </a:p>
          </p:txBody>
        </p:sp>
        <p:cxnSp>
          <p:nvCxnSpPr>
            <p:cNvPr id="20" name="Straight Arrow Connector 19"/>
            <p:cNvCxnSpPr/>
            <p:nvPr/>
          </p:nvCxnSpPr>
          <p:spPr>
            <a:xfrm flipH="1">
              <a:off x="4639200" y="1847330"/>
              <a:ext cx="12327" cy="8623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7708227" y="1847330"/>
              <a:ext cx="12327" cy="8623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10645255" y="1847330"/>
              <a:ext cx="12327" cy="8623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3742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CORBA: Components (Main CORBA </a:t>
            </a:r>
            <a:r>
              <a:rPr lang="en-US" dirty="0" smtClean="0"/>
              <a:t>Components)</a:t>
            </a:r>
            <a:endParaRPr lang="en-US" dirty="0"/>
          </a:p>
        </p:txBody>
      </p:sp>
      <p:sp>
        <p:nvSpPr>
          <p:cNvPr id="4" name="Content Placeholder 3"/>
          <p:cNvSpPr>
            <a:spLocks noGrp="1"/>
          </p:cNvSpPr>
          <p:nvPr>
            <p:ph idx="1"/>
          </p:nvPr>
        </p:nvSpPr>
        <p:spPr/>
        <p:txBody>
          <a:bodyPr/>
          <a:lstStyle/>
          <a:p>
            <a:r>
              <a:rPr lang="en-US" dirty="0" smtClean="0">
                <a:solidFill>
                  <a:schemeClr val="accent6"/>
                </a:solidFill>
              </a:rPr>
              <a:t>An </a:t>
            </a:r>
            <a:r>
              <a:rPr lang="en-US" dirty="0">
                <a:solidFill>
                  <a:schemeClr val="accent6"/>
                </a:solidFill>
              </a:rPr>
              <a:t>Interface Definition Language (IDL) </a:t>
            </a:r>
            <a:r>
              <a:rPr lang="en-US" dirty="0"/>
              <a:t>and its mapping onto the </a:t>
            </a:r>
            <a:r>
              <a:rPr lang="en-US" dirty="0" smtClean="0"/>
              <a:t>implementation language </a:t>
            </a:r>
            <a:r>
              <a:rPr lang="en-US" dirty="0"/>
              <a:t>(C, C ++, Java, Smalltalk, Ada, COBOL)</a:t>
            </a:r>
          </a:p>
          <a:p>
            <a:pPr lvl="2"/>
            <a:r>
              <a:rPr lang="en-US" sz="2400" dirty="0"/>
              <a:t>specifies the syntax of objects and services</a:t>
            </a:r>
          </a:p>
          <a:p>
            <a:pPr lvl="2"/>
            <a:r>
              <a:rPr lang="en-US" sz="2400" dirty="0"/>
              <a:t>cannot be used to describe semantics</a:t>
            </a:r>
          </a:p>
          <a:p>
            <a:pPr lvl="2"/>
            <a:r>
              <a:rPr lang="en-US" sz="2400" dirty="0"/>
              <a:t>object can be implemented by a language without classes</a:t>
            </a:r>
          </a:p>
          <a:p>
            <a:r>
              <a:rPr lang="en-US" dirty="0" smtClean="0">
                <a:solidFill>
                  <a:schemeClr val="accent6"/>
                </a:solidFill>
              </a:rPr>
              <a:t>An </a:t>
            </a:r>
            <a:r>
              <a:rPr lang="en-US" dirty="0">
                <a:solidFill>
                  <a:schemeClr val="accent6"/>
                </a:solidFill>
              </a:rPr>
              <a:t>Interface Repository (IR) </a:t>
            </a:r>
            <a:r>
              <a:rPr lang="en-US" dirty="0"/>
              <a:t>representing the interfaces of all objects </a:t>
            </a:r>
            <a:r>
              <a:rPr lang="en-US" dirty="0" smtClean="0"/>
              <a:t>available in </a:t>
            </a:r>
            <a:r>
              <a:rPr lang="en-US" dirty="0"/>
              <a:t>the distributed system.</a:t>
            </a:r>
          </a:p>
          <a:p>
            <a:r>
              <a:rPr lang="en-US" dirty="0" smtClean="0"/>
              <a:t>A </a:t>
            </a:r>
            <a:r>
              <a:rPr lang="en-US" dirty="0"/>
              <a:t>fully dynamic calling mechanism allowing:</a:t>
            </a:r>
          </a:p>
          <a:p>
            <a:pPr lvl="2"/>
            <a:r>
              <a:rPr lang="en-US" sz="2400" dirty="0"/>
              <a:t>run-time discovery of objects</a:t>
            </a:r>
          </a:p>
          <a:p>
            <a:pPr lvl="2"/>
            <a:r>
              <a:rPr lang="en-US" sz="2400" dirty="0"/>
              <a:t>discovery of available interfaces from an IR</a:t>
            </a:r>
          </a:p>
          <a:p>
            <a:pPr lvl="2"/>
            <a:r>
              <a:rPr lang="en-US" sz="2400" dirty="0"/>
              <a:t>construction of message requests</a:t>
            </a:r>
          </a:p>
          <a:p>
            <a:pPr lvl="2"/>
            <a:r>
              <a:rPr lang="en-US" sz="2400" dirty="0"/>
              <a:t>sending of message requests</a:t>
            </a:r>
          </a:p>
          <a:p>
            <a:r>
              <a:rPr lang="en-US" dirty="0" smtClean="0">
                <a:solidFill>
                  <a:schemeClr val="accent6"/>
                </a:solidFill>
              </a:rPr>
              <a:t>Object </a:t>
            </a:r>
            <a:r>
              <a:rPr lang="en-US" dirty="0">
                <a:solidFill>
                  <a:schemeClr val="accent6"/>
                </a:solidFill>
              </a:rPr>
              <a:t>Adapters</a:t>
            </a:r>
            <a:r>
              <a:rPr lang="en-US" dirty="0"/>
              <a:t>: an abstraction mechanism for removing implementation </a:t>
            </a:r>
            <a:r>
              <a:rPr lang="en-US" dirty="0" smtClean="0"/>
              <a:t>details from </a:t>
            </a:r>
            <a:r>
              <a:rPr lang="en-US" dirty="0"/>
              <a:t>the message substrate.</a:t>
            </a:r>
            <a:endParaRPr lang="en-US" sz="2400" dirty="0"/>
          </a:p>
        </p:txBody>
      </p:sp>
    </p:spTree>
    <p:extLst>
      <p:ext uri="{BB962C8B-B14F-4D97-AF65-F5344CB8AC3E}">
        <p14:creationId xmlns:p14="http://schemas.microsoft.com/office/powerpoint/2010/main" val="273477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CORBA: </a:t>
            </a:r>
            <a:r>
              <a:rPr lang="en-US" dirty="0" err="1"/>
              <a:t>Organisation</a:t>
            </a:r>
            <a:endParaRPr lang="en-US" dirty="0"/>
          </a:p>
        </p:txBody>
      </p:sp>
      <p:sp>
        <p:nvSpPr>
          <p:cNvPr id="5" name="TextBox 4"/>
          <p:cNvSpPr txBox="1"/>
          <p:nvPr/>
        </p:nvSpPr>
        <p:spPr>
          <a:xfrm>
            <a:off x="424011" y="4517872"/>
            <a:ext cx="3480179" cy="1569660"/>
          </a:xfrm>
          <a:prstGeom prst="rect">
            <a:avLst/>
          </a:prstGeom>
          <a:noFill/>
        </p:spPr>
        <p:txBody>
          <a:bodyPr wrap="square" rtlCol="0">
            <a:spAutoFit/>
          </a:bodyPr>
          <a:lstStyle/>
          <a:p>
            <a:r>
              <a:rPr lang="en-US" sz="2400" dirty="0">
                <a:solidFill>
                  <a:schemeClr val="accent6"/>
                </a:solidFill>
              </a:rPr>
              <a:t>ORB offers:</a:t>
            </a:r>
          </a:p>
          <a:p>
            <a:r>
              <a:rPr lang="en-US" sz="2400" dirty="0"/>
              <a:t>– Basic communication</a:t>
            </a:r>
          </a:p>
          <a:p>
            <a:r>
              <a:rPr lang="en-US" sz="2400" dirty="0"/>
              <a:t>– Object references</a:t>
            </a:r>
          </a:p>
          <a:p>
            <a:r>
              <a:rPr lang="en-US" sz="2400" dirty="0"/>
              <a:t>– Initial finding of services</a:t>
            </a:r>
            <a:endParaRPr lang="en-IN" sz="2400" dirty="0"/>
          </a:p>
        </p:txBody>
      </p:sp>
      <p:sp>
        <p:nvSpPr>
          <p:cNvPr id="6" name="TextBox 5"/>
          <p:cNvSpPr txBox="1"/>
          <p:nvPr/>
        </p:nvSpPr>
        <p:spPr>
          <a:xfrm>
            <a:off x="4601978" y="4590103"/>
            <a:ext cx="6782937" cy="1200329"/>
          </a:xfrm>
          <a:prstGeom prst="rect">
            <a:avLst/>
          </a:prstGeom>
          <a:noFill/>
        </p:spPr>
        <p:txBody>
          <a:bodyPr wrap="square" rtlCol="0">
            <a:spAutoFit/>
          </a:bodyPr>
          <a:lstStyle/>
          <a:p>
            <a:r>
              <a:rPr lang="en-US" sz="2400" dirty="0">
                <a:solidFill>
                  <a:schemeClr val="accent6"/>
                </a:solidFill>
              </a:rPr>
              <a:t>Interfaces:</a:t>
            </a:r>
          </a:p>
          <a:p>
            <a:r>
              <a:rPr lang="en-US" sz="2400" dirty="0"/>
              <a:t>– Static (described in IDL)</a:t>
            </a:r>
          </a:p>
          <a:p>
            <a:r>
              <a:rPr lang="en-US" sz="2400" dirty="0"/>
              <a:t>– Run-time creation (</a:t>
            </a:r>
            <a:r>
              <a:rPr lang="en-US" sz="2400" dirty="0" smtClean="0"/>
              <a:t>Dynamic Invocation </a:t>
            </a:r>
            <a:r>
              <a:rPr lang="en-US" sz="2400" dirty="0"/>
              <a:t>Interface)</a:t>
            </a:r>
            <a:endParaRPr lang="en-IN" sz="2400" dirty="0"/>
          </a:p>
        </p:txBody>
      </p:sp>
      <p:grpSp>
        <p:nvGrpSpPr>
          <p:cNvPr id="23" name="Group 22"/>
          <p:cNvGrpSpPr/>
          <p:nvPr/>
        </p:nvGrpSpPr>
        <p:grpSpPr>
          <a:xfrm>
            <a:off x="1255595" y="750601"/>
            <a:ext cx="9222190" cy="3896472"/>
            <a:chOff x="1255595" y="750601"/>
            <a:chExt cx="9222190" cy="3896472"/>
          </a:xfrm>
        </p:grpSpPr>
        <p:pic>
          <p:nvPicPr>
            <p:cNvPr id="3" name="Picture 2"/>
            <p:cNvPicPr>
              <a:picLocks noChangeAspect="1"/>
            </p:cNvPicPr>
            <p:nvPr/>
          </p:nvPicPr>
          <p:blipFill>
            <a:blip r:embed="rId2"/>
            <a:stretch>
              <a:fillRect/>
            </a:stretch>
          </p:blipFill>
          <p:spPr>
            <a:xfrm>
              <a:off x="1255595" y="1174277"/>
              <a:ext cx="9222190" cy="3175406"/>
            </a:xfrm>
            <a:prstGeom prst="rect">
              <a:avLst/>
            </a:prstGeom>
          </p:spPr>
        </p:pic>
        <p:sp>
          <p:nvSpPr>
            <p:cNvPr id="7" name="TextBox 6"/>
            <p:cNvSpPr txBox="1"/>
            <p:nvPr/>
          </p:nvSpPr>
          <p:spPr>
            <a:xfrm>
              <a:off x="1997083" y="1342466"/>
              <a:ext cx="1947120" cy="400110"/>
            </a:xfrm>
            <a:prstGeom prst="rect">
              <a:avLst/>
            </a:prstGeom>
            <a:noFill/>
          </p:spPr>
          <p:txBody>
            <a:bodyPr wrap="square" rtlCol="0">
              <a:spAutoFit/>
            </a:bodyPr>
            <a:lstStyle/>
            <a:p>
              <a:r>
                <a:rPr lang="en-IN" sz="2000" dirty="0" smtClean="0"/>
                <a:t>Client application</a:t>
              </a:r>
              <a:endParaRPr lang="en-IN" sz="2000" dirty="0"/>
            </a:p>
          </p:txBody>
        </p:sp>
        <p:sp>
          <p:nvSpPr>
            <p:cNvPr id="8" name="TextBox 7"/>
            <p:cNvSpPr txBox="1"/>
            <p:nvPr/>
          </p:nvSpPr>
          <p:spPr>
            <a:xfrm>
              <a:off x="7138179" y="750601"/>
              <a:ext cx="2260980" cy="461665"/>
            </a:xfrm>
            <a:prstGeom prst="rect">
              <a:avLst/>
            </a:prstGeom>
            <a:noFill/>
          </p:spPr>
          <p:txBody>
            <a:bodyPr wrap="square" rtlCol="0">
              <a:spAutoFit/>
            </a:bodyPr>
            <a:lstStyle/>
            <a:p>
              <a:r>
                <a:rPr lang="en-IN" sz="2400" b="1" dirty="0" smtClean="0">
                  <a:solidFill>
                    <a:srgbClr val="1D3064"/>
                  </a:solidFill>
                </a:rPr>
                <a:t>Server machine</a:t>
              </a:r>
              <a:endParaRPr lang="en-IN" sz="2400" b="1" dirty="0">
                <a:solidFill>
                  <a:srgbClr val="1D3064"/>
                </a:solidFill>
              </a:endParaRPr>
            </a:p>
          </p:txBody>
        </p:sp>
        <p:sp>
          <p:nvSpPr>
            <p:cNvPr id="9" name="TextBox 8"/>
            <p:cNvSpPr txBox="1"/>
            <p:nvPr/>
          </p:nvSpPr>
          <p:spPr>
            <a:xfrm>
              <a:off x="2033484" y="755441"/>
              <a:ext cx="2097222" cy="461665"/>
            </a:xfrm>
            <a:prstGeom prst="rect">
              <a:avLst/>
            </a:prstGeom>
            <a:noFill/>
          </p:spPr>
          <p:txBody>
            <a:bodyPr wrap="square" rtlCol="0">
              <a:spAutoFit/>
            </a:bodyPr>
            <a:lstStyle/>
            <a:p>
              <a:r>
                <a:rPr lang="en-IN" sz="2400" b="1" dirty="0" smtClean="0">
                  <a:solidFill>
                    <a:srgbClr val="1D3064"/>
                  </a:solidFill>
                </a:rPr>
                <a:t>Client machine</a:t>
              </a:r>
              <a:endParaRPr lang="en-IN" sz="2400" b="1" dirty="0">
                <a:solidFill>
                  <a:srgbClr val="1D3064"/>
                </a:solidFill>
              </a:endParaRPr>
            </a:p>
          </p:txBody>
        </p:sp>
        <p:sp>
          <p:nvSpPr>
            <p:cNvPr id="10" name="TextBox 9"/>
            <p:cNvSpPr txBox="1"/>
            <p:nvPr/>
          </p:nvSpPr>
          <p:spPr>
            <a:xfrm>
              <a:off x="6892119" y="1342466"/>
              <a:ext cx="2533934" cy="400110"/>
            </a:xfrm>
            <a:prstGeom prst="rect">
              <a:avLst/>
            </a:prstGeom>
            <a:noFill/>
          </p:spPr>
          <p:txBody>
            <a:bodyPr wrap="square" rtlCol="0">
              <a:spAutoFit/>
            </a:bodyPr>
            <a:lstStyle/>
            <a:p>
              <a:r>
                <a:rPr lang="en-IN" sz="2000" dirty="0" smtClean="0"/>
                <a:t>Object implementation</a:t>
              </a:r>
              <a:endParaRPr lang="en-IN" sz="2000" dirty="0"/>
            </a:p>
          </p:txBody>
        </p:sp>
        <p:sp>
          <p:nvSpPr>
            <p:cNvPr id="11" name="TextBox 10"/>
            <p:cNvSpPr txBox="1"/>
            <p:nvPr/>
          </p:nvSpPr>
          <p:spPr>
            <a:xfrm>
              <a:off x="1314732" y="1865946"/>
              <a:ext cx="1069074" cy="923330"/>
            </a:xfrm>
            <a:prstGeom prst="rect">
              <a:avLst/>
            </a:prstGeom>
            <a:noFill/>
          </p:spPr>
          <p:txBody>
            <a:bodyPr wrap="square" rtlCol="0">
              <a:spAutoFit/>
            </a:bodyPr>
            <a:lstStyle/>
            <a:p>
              <a:r>
                <a:rPr lang="en-IN" dirty="0" smtClean="0">
                  <a:solidFill>
                    <a:schemeClr val="accent6"/>
                  </a:solidFill>
                </a:rPr>
                <a:t>Static</a:t>
              </a:r>
            </a:p>
            <a:p>
              <a:r>
                <a:rPr lang="en-IN" dirty="0" smtClean="0">
                  <a:solidFill>
                    <a:schemeClr val="accent6"/>
                  </a:solidFill>
                </a:rPr>
                <a:t>IDL</a:t>
              </a:r>
            </a:p>
            <a:p>
              <a:r>
                <a:rPr lang="en-IN" dirty="0" smtClean="0">
                  <a:solidFill>
                    <a:schemeClr val="accent6"/>
                  </a:solidFill>
                </a:rPr>
                <a:t>proxy</a:t>
              </a:r>
              <a:endParaRPr lang="en-IN" dirty="0">
                <a:solidFill>
                  <a:schemeClr val="accent6"/>
                </a:solidFill>
              </a:endParaRPr>
            </a:p>
          </p:txBody>
        </p:sp>
        <p:sp>
          <p:nvSpPr>
            <p:cNvPr id="12" name="TextBox 11"/>
            <p:cNvSpPr txBox="1"/>
            <p:nvPr/>
          </p:nvSpPr>
          <p:spPr>
            <a:xfrm>
              <a:off x="2442943" y="1886413"/>
              <a:ext cx="1069074" cy="923330"/>
            </a:xfrm>
            <a:prstGeom prst="rect">
              <a:avLst/>
            </a:prstGeom>
            <a:noFill/>
          </p:spPr>
          <p:txBody>
            <a:bodyPr wrap="square" rtlCol="0">
              <a:spAutoFit/>
            </a:bodyPr>
            <a:lstStyle/>
            <a:p>
              <a:r>
                <a:rPr lang="en-IN" dirty="0" smtClean="0">
                  <a:solidFill>
                    <a:schemeClr val="accent6"/>
                  </a:solidFill>
                </a:rPr>
                <a:t>Static</a:t>
              </a:r>
            </a:p>
            <a:p>
              <a:r>
                <a:rPr lang="en-IN" dirty="0" smtClean="0">
                  <a:solidFill>
                    <a:schemeClr val="accent6"/>
                  </a:solidFill>
                </a:rPr>
                <a:t>IDL</a:t>
              </a:r>
            </a:p>
            <a:p>
              <a:r>
                <a:rPr lang="en-IN" dirty="0" smtClean="0">
                  <a:solidFill>
                    <a:schemeClr val="accent6"/>
                  </a:solidFill>
                </a:rPr>
                <a:t>proxy</a:t>
              </a:r>
              <a:endParaRPr lang="en-IN" dirty="0">
                <a:solidFill>
                  <a:schemeClr val="accent6"/>
                </a:solidFill>
              </a:endParaRPr>
            </a:p>
          </p:txBody>
        </p:sp>
        <p:sp>
          <p:nvSpPr>
            <p:cNvPr id="13" name="TextBox 12"/>
            <p:cNvSpPr txBox="1"/>
            <p:nvPr/>
          </p:nvSpPr>
          <p:spPr>
            <a:xfrm>
              <a:off x="3596170" y="1865946"/>
              <a:ext cx="1069074" cy="923330"/>
            </a:xfrm>
            <a:prstGeom prst="rect">
              <a:avLst/>
            </a:prstGeom>
            <a:noFill/>
          </p:spPr>
          <p:txBody>
            <a:bodyPr wrap="square" rtlCol="0">
              <a:spAutoFit/>
            </a:bodyPr>
            <a:lstStyle/>
            <a:p>
              <a:r>
                <a:rPr lang="en-IN" dirty="0" smtClean="0">
                  <a:solidFill>
                    <a:schemeClr val="accent6"/>
                  </a:solidFill>
                </a:rPr>
                <a:t>Static</a:t>
              </a:r>
            </a:p>
            <a:p>
              <a:r>
                <a:rPr lang="en-IN" dirty="0" smtClean="0">
                  <a:solidFill>
                    <a:schemeClr val="accent6"/>
                  </a:solidFill>
                </a:rPr>
                <a:t>IDL</a:t>
              </a:r>
            </a:p>
            <a:p>
              <a:r>
                <a:rPr lang="en-IN" dirty="0" smtClean="0">
                  <a:solidFill>
                    <a:schemeClr val="accent6"/>
                  </a:solidFill>
                </a:rPr>
                <a:t>proxy</a:t>
              </a:r>
              <a:endParaRPr lang="en-IN" dirty="0">
                <a:solidFill>
                  <a:schemeClr val="accent6"/>
                </a:solidFill>
              </a:endParaRPr>
            </a:p>
          </p:txBody>
        </p:sp>
        <p:sp>
          <p:nvSpPr>
            <p:cNvPr id="14" name="TextBox 13"/>
            <p:cNvSpPr txBox="1"/>
            <p:nvPr/>
          </p:nvSpPr>
          <p:spPr>
            <a:xfrm>
              <a:off x="5925827" y="1885903"/>
              <a:ext cx="1069074" cy="923330"/>
            </a:xfrm>
            <a:prstGeom prst="rect">
              <a:avLst/>
            </a:prstGeom>
            <a:noFill/>
          </p:spPr>
          <p:txBody>
            <a:bodyPr wrap="square" rtlCol="0">
              <a:spAutoFit/>
            </a:bodyPr>
            <a:lstStyle/>
            <a:p>
              <a:r>
                <a:rPr lang="en-IN" dirty="0" smtClean="0">
                  <a:solidFill>
                    <a:schemeClr val="accent6"/>
                  </a:solidFill>
                </a:rPr>
                <a:t>Static</a:t>
              </a:r>
            </a:p>
            <a:p>
              <a:r>
                <a:rPr lang="en-IN" dirty="0" smtClean="0">
                  <a:solidFill>
                    <a:schemeClr val="accent6"/>
                  </a:solidFill>
                </a:rPr>
                <a:t>IDL</a:t>
              </a:r>
            </a:p>
            <a:p>
              <a:r>
                <a:rPr lang="en-IN" dirty="0" smtClean="0">
                  <a:solidFill>
                    <a:schemeClr val="accent6"/>
                  </a:solidFill>
                </a:rPr>
                <a:t>proxy</a:t>
              </a:r>
              <a:endParaRPr lang="en-IN" dirty="0">
                <a:solidFill>
                  <a:schemeClr val="accent6"/>
                </a:solidFill>
              </a:endParaRPr>
            </a:p>
          </p:txBody>
        </p:sp>
        <p:sp>
          <p:nvSpPr>
            <p:cNvPr id="15" name="TextBox 14"/>
            <p:cNvSpPr txBox="1"/>
            <p:nvPr/>
          </p:nvSpPr>
          <p:spPr>
            <a:xfrm>
              <a:off x="6994901" y="2018019"/>
              <a:ext cx="1069074" cy="369332"/>
            </a:xfrm>
            <a:prstGeom prst="rect">
              <a:avLst/>
            </a:prstGeom>
            <a:noFill/>
          </p:spPr>
          <p:txBody>
            <a:bodyPr wrap="square" rtlCol="0">
              <a:spAutoFit/>
            </a:bodyPr>
            <a:lstStyle/>
            <a:p>
              <a:r>
                <a:rPr lang="en-IN" dirty="0" smtClean="0">
                  <a:solidFill>
                    <a:schemeClr val="accent6"/>
                  </a:solidFill>
                </a:rPr>
                <a:t>Skeleton</a:t>
              </a:r>
              <a:endParaRPr lang="en-IN" dirty="0">
                <a:solidFill>
                  <a:schemeClr val="accent6"/>
                </a:solidFill>
              </a:endParaRPr>
            </a:p>
          </p:txBody>
        </p:sp>
        <p:sp>
          <p:nvSpPr>
            <p:cNvPr id="16" name="TextBox 15"/>
            <p:cNvSpPr txBox="1"/>
            <p:nvPr/>
          </p:nvSpPr>
          <p:spPr>
            <a:xfrm>
              <a:off x="8063975" y="1778703"/>
              <a:ext cx="1069074" cy="923330"/>
            </a:xfrm>
            <a:prstGeom prst="rect">
              <a:avLst/>
            </a:prstGeom>
            <a:noFill/>
          </p:spPr>
          <p:txBody>
            <a:bodyPr wrap="square" rtlCol="0">
              <a:spAutoFit/>
            </a:bodyPr>
            <a:lstStyle/>
            <a:p>
              <a:r>
                <a:rPr lang="en-IN" sz="1750" dirty="0" smtClean="0">
                  <a:solidFill>
                    <a:schemeClr val="accent6"/>
                  </a:solidFill>
                </a:rPr>
                <a:t>Dynamic</a:t>
              </a:r>
            </a:p>
            <a:p>
              <a:r>
                <a:rPr lang="en-IN" sz="1750" dirty="0" smtClean="0">
                  <a:solidFill>
                    <a:schemeClr val="accent6"/>
                  </a:solidFill>
                </a:rPr>
                <a:t>Skeleton</a:t>
              </a:r>
            </a:p>
            <a:p>
              <a:r>
                <a:rPr lang="en-IN" sz="1750" dirty="0" smtClean="0">
                  <a:solidFill>
                    <a:schemeClr val="accent6"/>
                  </a:solidFill>
                </a:rPr>
                <a:t>Interface</a:t>
              </a:r>
              <a:endParaRPr lang="en-IN" sz="1750" dirty="0">
                <a:solidFill>
                  <a:schemeClr val="accent6"/>
                </a:solidFill>
              </a:endParaRPr>
            </a:p>
          </p:txBody>
        </p:sp>
        <p:sp>
          <p:nvSpPr>
            <p:cNvPr id="17" name="TextBox 16"/>
            <p:cNvSpPr txBox="1"/>
            <p:nvPr/>
          </p:nvSpPr>
          <p:spPr>
            <a:xfrm>
              <a:off x="9251323" y="1912956"/>
              <a:ext cx="1069074" cy="646331"/>
            </a:xfrm>
            <a:prstGeom prst="rect">
              <a:avLst/>
            </a:prstGeom>
            <a:noFill/>
          </p:spPr>
          <p:txBody>
            <a:bodyPr wrap="square" rtlCol="0">
              <a:spAutoFit/>
            </a:bodyPr>
            <a:lstStyle/>
            <a:p>
              <a:r>
                <a:rPr lang="en-IN" dirty="0" smtClean="0">
                  <a:solidFill>
                    <a:schemeClr val="accent6"/>
                  </a:solidFill>
                </a:rPr>
                <a:t>ORB</a:t>
              </a:r>
            </a:p>
            <a:p>
              <a:r>
                <a:rPr lang="en-IN" dirty="0" smtClean="0">
                  <a:solidFill>
                    <a:schemeClr val="accent6"/>
                  </a:solidFill>
                </a:rPr>
                <a:t>Interface</a:t>
              </a:r>
              <a:endParaRPr lang="en-IN" dirty="0">
                <a:solidFill>
                  <a:schemeClr val="accent6"/>
                </a:solidFill>
              </a:endParaRPr>
            </a:p>
          </p:txBody>
        </p:sp>
        <p:sp>
          <p:nvSpPr>
            <p:cNvPr id="18" name="TextBox 17"/>
            <p:cNvSpPr txBox="1"/>
            <p:nvPr/>
          </p:nvSpPr>
          <p:spPr>
            <a:xfrm>
              <a:off x="2260964" y="2998237"/>
              <a:ext cx="1869743" cy="400110"/>
            </a:xfrm>
            <a:prstGeom prst="rect">
              <a:avLst/>
            </a:prstGeom>
            <a:noFill/>
          </p:spPr>
          <p:txBody>
            <a:bodyPr wrap="square" rtlCol="0">
              <a:spAutoFit/>
            </a:bodyPr>
            <a:lstStyle/>
            <a:p>
              <a:r>
                <a:rPr lang="en-IN" sz="2000" b="1" dirty="0" smtClean="0"/>
                <a:t>Client ORB</a:t>
              </a:r>
              <a:endParaRPr lang="en-IN" sz="2000" b="1" dirty="0"/>
            </a:p>
          </p:txBody>
        </p:sp>
        <p:sp>
          <p:nvSpPr>
            <p:cNvPr id="19" name="TextBox 18"/>
            <p:cNvSpPr txBox="1"/>
            <p:nvPr/>
          </p:nvSpPr>
          <p:spPr>
            <a:xfrm>
              <a:off x="7333798" y="2912767"/>
              <a:ext cx="1869743" cy="400110"/>
            </a:xfrm>
            <a:prstGeom prst="rect">
              <a:avLst/>
            </a:prstGeom>
            <a:noFill/>
          </p:spPr>
          <p:txBody>
            <a:bodyPr wrap="square" rtlCol="0">
              <a:spAutoFit/>
            </a:bodyPr>
            <a:lstStyle/>
            <a:p>
              <a:r>
                <a:rPr lang="en-IN" sz="2000" b="1" dirty="0" smtClean="0"/>
                <a:t>Server ORB</a:t>
              </a:r>
              <a:endParaRPr lang="en-IN" sz="2000" b="1" dirty="0"/>
            </a:p>
          </p:txBody>
        </p:sp>
        <p:sp>
          <p:nvSpPr>
            <p:cNvPr id="20" name="TextBox 19"/>
            <p:cNvSpPr txBox="1"/>
            <p:nvPr/>
          </p:nvSpPr>
          <p:spPr>
            <a:xfrm>
              <a:off x="2260963" y="3438116"/>
              <a:ext cx="1869743" cy="369332"/>
            </a:xfrm>
            <a:prstGeom prst="rect">
              <a:avLst/>
            </a:prstGeom>
            <a:noFill/>
          </p:spPr>
          <p:txBody>
            <a:bodyPr wrap="square" rtlCol="0">
              <a:spAutoFit/>
            </a:bodyPr>
            <a:lstStyle/>
            <a:p>
              <a:r>
                <a:rPr lang="en-IN" dirty="0" smtClean="0">
                  <a:solidFill>
                    <a:schemeClr val="accent6"/>
                  </a:solidFill>
                </a:rPr>
                <a:t>Local</a:t>
              </a:r>
              <a:r>
                <a:rPr lang="en-IN" dirty="0" smtClean="0"/>
                <a:t> </a:t>
              </a:r>
              <a:r>
                <a:rPr lang="en-IN" dirty="0" smtClean="0">
                  <a:solidFill>
                    <a:schemeClr val="accent6"/>
                  </a:solidFill>
                </a:rPr>
                <a:t>OS</a:t>
              </a:r>
              <a:endParaRPr lang="en-IN" dirty="0">
                <a:solidFill>
                  <a:schemeClr val="accent6"/>
                </a:solidFill>
              </a:endParaRPr>
            </a:p>
          </p:txBody>
        </p:sp>
        <p:sp>
          <p:nvSpPr>
            <p:cNvPr id="21" name="TextBox 20"/>
            <p:cNvSpPr txBox="1"/>
            <p:nvPr/>
          </p:nvSpPr>
          <p:spPr>
            <a:xfrm>
              <a:off x="7333798" y="3423936"/>
              <a:ext cx="1869743" cy="369332"/>
            </a:xfrm>
            <a:prstGeom prst="rect">
              <a:avLst/>
            </a:prstGeom>
            <a:noFill/>
          </p:spPr>
          <p:txBody>
            <a:bodyPr wrap="square" rtlCol="0">
              <a:spAutoFit/>
            </a:bodyPr>
            <a:lstStyle/>
            <a:p>
              <a:r>
                <a:rPr lang="en-IN" dirty="0" smtClean="0">
                  <a:solidFill>
                    <a:schemeClr val="accent6"/>
                  </a:solidFill>
                </a:rPr>
                <a:t>Local OS</a:t>
              </a:r>
              <a:endParaRPr lang="en-IN" dirty="0">
                <a:solidFill>
                  <a:schemeClr val="accent6"/>
                </a:solidFill>
              </a:endParaRPr>
            </a:p>
          </p:txBody>
        </p:sp>
        <p:sp>
          <p:nvSpPr>
            <p:cNvPr id="22" name="TextBox 21"/>
            <p:cNvSpPr txBox="1"/>
            <p:nvPr/>
          </p:nvSpPr>
          <p:spPr>
            <a:xfrm>
              <a:off x="7381580" y="4246963"/>
              <a:ext cx="1869743" cy="400110"/>
            </a:xfrm>
            <a:prstGeom prst="rect">
              <a:avLst/>
            </a:prstGeom>
            <a:noFill/>
          </p:spPr>
          <p:txBody>
            <a:bodyPr wrap="square" rtlCol="0">
              <a:spAutoFit/>
            </a:bodyPr>
            <a:lstStyle/>
            <a:p>
              <a:r>
                <a:rPr lang="en-IN" sz="2000" b="1" dirty="0" smtClean="0">
                  <a:solidFill>
                    <a:srgbClr val="0E3755"/>
                  </a:solidFill>
                </a:rPr>
                <a:t>Network</a:t>
              </a:r>
              <a:endParaRPr lang="en-IN" sz="2000" b="1" dirty="0">
                <a:solidFill>
                  <a:srgbClr val="0E3755"/>
                </a:solidFill>
              </a:endParaRPr>
            </a:p>
          </p:txBody>
        </p:sp>
      </p:grpSp>
    </p:spTree>
    <p:extLst>
      <p:ext uri="{BB962C8B-B14F-4D97-AF65-F5344CB8AC3E}">
        <p14:creationId xmlns:p14="http://schemas.microsoft.com/office/powerpoint/2010/main" val="4199964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CORBA: Communication</a:t>
            </a:r>
          </a:p>
        </p:txBody>
      </p:sp>
      <p:sp>
        <p:nvSpPr>
          <p:cNvPr id="5" name="AutoShape 3"/>
          <p:cNvSpPr>
            <a:spLocks noChangeAspect="1" noChangeArrowheads="1" noTextEdit="1"/>
          </p:cNvSpPr>
          <p:nvPr/>
        </p:nvSpPr>
        <p:spPr bwMode="auto">
          <a:xfrm>
            <a:off x="349997" y="1030941"/>
            <a:ext cx="106045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5" name="Line 13"/>
          <p:cNvSpPr>
            <a:spLocks noChangeShapeType="1"/>
          </p:cNvSpPr>
          <p:nvPr/>
        </p:nvSpPr>
        <p:spPr bwMode="auto">
          <a:xfrm>
            <a:off x="2242297" y="1030941"/>
            <a:ext cx="0" cy="343693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 name="Line 14"/>
          <p:cNvSpPr>
            <a:spLocks noChangeShapeType="1"/>
          </p:cNvSpPr>
          <p:nvPr/>
        </p:nvSpPr>
        <p:spPr bwMode="auto">
          <a:xfrm>
            <a:off x="4999785" y="1030941"/>
            <a:ext cx="0" cy="343693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0" name="Line 18"/>
          <p:cNvSpPr>
            <a:spLocks noChangeShapeType="1"/>
          </p:cNvSpPr>
          <p:nvPr/>
        </p:nvSpPr>
        <p:spPr bwMode="auto">
          <a:xfrm>
            <a:off x="357935" y="1030941"/>
            <a:ext cx="0" cy="343693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1" name="Line 19"/>
          <p:cNvSpPr>
            <a:spLocks noChangeShapeType="1"/>
          </p:cNvSpPr>
          <p:nvPr/>
        </p:nvSpPr>
        <p:spPr bwMode="auto">
          <a:xfrm>
            <a:off x="10929097" y="1030941"/>
            <a:ext cx="0" cy="3438525"/>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80" name="Group 79"/>
          <p:cNvGrpSpPr/>
          <p:nvPr/>
        </p:nvGrpSpPr>
        <p:grpSpPr>
          <a:xfrm>
            <a:off x="351585" y="1037291"/>
            <a:ext cx="10583863" cy="582613"/>
            <a:chOff x="795338" y="1682750"/>
            <a:chExt cx="10583863" cy="582613"/>
          </a:xfrm>
        </p:grpSpPr>
        <p:sp>
          <p:nvSpPr>
            <p:cNvPr id="7" name="Rectangle 5"/>
            <p:cNvSpPr>
              <a:spLocks noChangeArrowheads="1"/>
            </p:cNvSpPr>
            <p:nvPr/>
          </p:nvSpPr>
          <p:spPr bwMode="auto">
            <a:xfrm>
              <a:off x="801688" y="1682750"/>
              <a:ext cx="1884363" cy="582613"/>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 name="Rectangle 6"/>
            <p:cNvSpPr>
              <a:spLocks noChangeArrowheads="1"/>
            </p:cNvSpPr>
            <p:nvPr/>
          </p:nvSpPr>
          <p:spPr bwMode="auto">
            <a:xfrm>
              <a:off x="2686050" y="1682750"/>
              <a:ext cx="2757488" cy="582613"/>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 name="Rectangle 7"/>
            <p:cNvSpPr>
              <a:spLocks noChangeArrowheads="1"/>
            </p:cNvSpPr>
            <p:nvPr/>
          </p:nvSpPr>
          <p:spPr bwMode="auto">
            <a:xfrm>
              <a:off x="5443538" y="1682750"/>
              <a:ext cx="5929313" cy="582613"/>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 name="Line 15"/>
            <p:cNvSpPr>
              <a:spLocks noChangeShapeType="1"/>
            </p:cNvSpPr>
            <p:nvPr/>
          </p:nvSpPr>
          <p:spPr bwMode="auto">
            <a:xfrm>
              <a:off x="795338" y="2265363"/>
              <a:ext cx="10583863" cy="0"/>
            </a:xfrm>
            <a:prstGeom prst="line">
              <a:avLst/>
            </a:prstGeom>
            <a:noFill/>
            <a:ln w="381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2" name="Line 20"/>
            <p:cNvSpPr>
              <a:spLocks noChangeShapeType="1"/>
            </p:cNvSpPr>
            <p:nvPr/>
          </p:nvSpPr>
          <p:spPr bwMode="auto">
            <a:xfrm>
              <a:off x="795338" y="1682750"/>
              <a:ext cx="10583863"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4" name="Rectangle 22"/>
            <p:cNvSpPr>
              <a:spLocks noChangeArrowheads="1"/>
            </p:cNvSpPr>
            <p:nvPr/>
          </p:nvSpPr>
          <p:spPr bwMode="auto">
            <a:xfrm>
              <a:off x="892175" y="1792288"/>
              <a:ext cx="17462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FFFFFF"/>
                  </a:solidFill>
                  <a:effectLst/>
                  <a:latin typeface="Roboto Condensed" panose="02000000000000000000" pitchFamily="2" charset="0"/>
                </a:rPr>
                <a:t>Request type</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5" name="Rectangle 23"/>
            <p:cNvSpPr>
              <a:spLocks noChangeArrowheads="1"/>
            </p:cNvSpPr>
            <p:nvPr/>
          </p:nvSpPr>
          <p:spPr bwMode="auto">
            <a:xfrm>
              <a:off x="2779713" y="1792288"/>
              <a:ext cx="23145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Failure semantics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6" name="Rectangle 24"/>
            <p:cNvSpPr>
              <a:spLocks noChangeArrowheads="1"/>
            </p:cNvSpPr>
            <p:nvPr/>
          </p:nvSpPr>
          <p:spPr bwMode="auto">
            <a:xfrm>
              <a:off x="5534025" y="1792288"/>
              <a:ext cx="15525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FFFFFF"/>
                  </a:solidFill>
                  <a:effectLst/>
                  <a:latin typeface="Roboto Condensed" panose="02000000000000000000" pitchFamily="2" charset="0"/>
                </a:rPr>
                <a:t>Description</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grpSp>
      <p:grpSp>
        <p:nvGrpSpPr>
          <p:cNvPr id="81" name="Group 80"/>
          <p:cNvGrpSpPr/>
          <p:nvPr/>
        </p:nvGrpSpPr>
        <p:grpSpPr>
          <a:xfrm>
            <a:off x="351585" y="1619904"/>
            <a:ext cx="10637838" cy="947738"/>
            <a:chOff x="795338" y="2265363"/>
            <a:chExt cx="10637838" cy="947738"/>
          </a:xfrm>
        </p:grpSpPr>
        <p:sp>
          <p:nvSpPr>
            <p:cNvPr id="10" name="Rectangle 8"/>
            <p:cNvSpPr>
              <a:spLocks noChangeArrowheads="1"/>
            </p:cNvSpPr>
            <p:nvPr/>
          </p:nvSpPr>
          <p:spPr bwMode="auto">
            <a:xfrm>
              <a:off x="801688" y="2265363"/>
              <a:ext cx="1884363" cy="947738"/>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Line 16"/>
            <p:cNvSpPr>
              <a:spLocks noChangeShapeType="1"/>
            </p:cNvSpPr>
            <p:nvPr/>
          </p:nvSpPr>
          <p:spPr bwMode="auto">
            <a:xfrm>
              <a:off x="795338" y="3213100"/>
              <a:ext cx="10583863"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7" name="Rectangle 25"/>
            <p:cNvSpPr>
              <a:spLocks noChangeArrowheads="1"/>
            </p:cNvSpPr>
            <p:nvPr/>
          </p:nvSpPr>
          <p:spPr bwMode="auto">
            <a:xfrm>
              <a:off x="892175" y="2373313"/>
              <a:ext cx="17383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Synchronous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8" name="Rectangle 26"/>
            <p:cNvSpPr>
              <a:spLocks noChangeArrowheads="1"/>
            </p:cNvSpPr>
            <p:nvPr/>
          </p:nvSpPr>
          <p:spPr bwMode="auto">
            <a:xfrm>
              <a:off x="2779713" y="2373313"/>
              <a:ext cx="4175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9" name="Rectangle 27"/>
            <p:cNvSpPr>
              <a:spLocks noChangeArrowheads="1"/>
            </p:cNvSpPr>
            <p:nvPr/>
          </p:nvSpPr>
          <p:spPr bwMode="auto">
            <a:xfrm>
              <a:off x="3044825" y="2373313"/>
              <a:ext cx="228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0" name="Rectangle 28"/>
            <p:cNvSpPr>
              <a:spLocks noChangeArrowheads="1"/>
            </p:cNvSpPr>
            <p:nvPr/>
          </p:nvSpPr>
          <p:spPr bwMode="auto">
            <a:xfrm>
              <a:off x="3121025" y="2373313"/>
              <a:ext cx="762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most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1" name="Rectangle 29"/>
            <p:cNvSpPr>
              <a:spLocks noChangeArrowheads="1"/>
            </p:cNvSpPr>
            <p:nvPr/>
          </p:nvSpPr>
          <p:spPr bwMode="auto">
            <a:xfrm>
              <a:off x="3730625" y="2373313"/>
              <a:ext cx="228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2" name="Rectangle 30"/>
            <p:cNvSpPr>
              <a:spLocks noChangeArrowheads="1"/>
            </p:cNvSpPr>
            <p:nvPr/>
          </p:nvSpPr>
          <p:spPr bwMode="auto">
            <a:xfrm>
              <a:off x="3806825" y="2373313"/>
              <a:ext cx="736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once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3" name="Rectangle 31"/>
            <p:cNvSpPr>
              <a:spLocks noChangeArrowheads="1"/>
            </p:cNvSpPr>
            <p:nvPr/>
          </p:nvSpPr>
          <p:spPr bwMode="auto">
            <a:xfrm>
              <a:off x="5534025" y="2373313"/>
              <a:ext cx="8477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Caller</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4" name="Rectangle 32"/>
            <p:cNvSpPr>
              <a:spLocks noChangeArrowheads="1"/>
            </p:cNvSpPr>
            <p:nvPr/>
          </p:nvSpPr>
          <p:spPr bwMode="auto">
            <a:xfrm>
              <a:off x="6321425" y="2373313"/>
              <a:ext cx="9413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blocks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5" name="Rectangle 33"/>
            <p:cNvSpPr>
              <a:spLocks noChangeArrowheads="1"/>
            </p:cNvSpPr>
            <p:nvPr/>
          </p:nvSpPr>
          <p:spPr bwMode="auto">
            <a:xfrm>
              <a:off x="7200900" y="2373313"/>
              <a:ext cx="6778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until</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6" name="Rectangle 34"/>
            <p:cNvSpPr>
              <a:spLocks noChangeArrowheads="1"/>
            </p:cNvSpPr>
            <p:nvPr/>
          </p:nvSpPr>
          <p:spPr bwMode="auto">
            <a:xfrm>
              <a:off x="7818438" y="2373313"/>
              <a:ext cx="2984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7" name="Rectangle 35"/>
            <p:cNvSpPr>
              <a:spLocks noChangeArrowheads="1"/>
            </p:cNvSpPr>
            <p:nvPr/>
          </p:nvSpPr>
          <p:spPr bwMode="auto">
            <a:xfrm>
              <a:off x="8056563" y="2373313"/>
              <a:ext cx="12604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response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8" name="Rectangle 36"/>
            <p:cNvSpPr>
              <a:spLocks noChangeArrowheads="1"/>
            </p:cNvSpPr>
            <p:nvPr/>
          </p:nvSpPr>
          <p:spPr bwMode="auto">
            <a:xfrm>
              <a:off x="9251950" y="2373313"/>
              <a:ext cx="3603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is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9" name="Rectangle 37"/>
            <p:cNvSpPr>
              <a:spLocks noChangeArrowheads="1"/>
            </p:cNvSpPr>
            <p:nvPr/>
          </p:nvSpPr>
          <p:spPr bwMode="auto">
            <a:xfrm>
              <a:off x="9551988" y="2373313"/>
              <a:ext cx="11604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returned</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0" name="Rectangle 38"/>
            <p:cNvSpPr>
              <a:spLocks noChangeArrowheads="1"/>
            </p:cNvSpPr>
            <p:nvPr/>
          </p:nvSpPr>
          <p:spPr bwMode="auto">
            <a:xfrm>
              <a:off x="10652125" y="2373313"/>
              <a:ext cx="3984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or</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1" name="Rectangle 39"/>
            <p:cNvSpPr>
              <a:spLocks noChangeArrowheads="1"/>
            </p:cNvSpPr>
            <p:nvPr/>
          </p:nvSpPr>
          <p:spPr bwMode="auto">
            <a:xfrm>
              <a:off x="10987088" y="2373313"/>
              <a:ext cx="4460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2" name="Rectangle 40"/>
            <p:cNvSpPr>
              <a:spLocks noChangeArrowheads="1"/>
            </p:cNvSpPr>
            <p:nvPr/>
          </p:nvSpPr>
          <p:spPr bwMode="auto">
            <a:xfrm>
              <a:off x="5534025" y="2740025"/>
              <a:ext cx="13239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exception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3" name="Rectangle 41"/>
            <p:cNvSpPr>
              <a:spLocks noChangeArrowheads="1"/>
            </p:cNvSpPr>
            <p:nvPr/>
          </p:nvSpPr>
          <p:spPr bwMode="auto">
            <a:xfrm>
              <a:off x="6777038" y="2740025"/>
              <a:ext cx="3603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is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4" name="Rectangle 42"/>
            <p:cNvSpPr>
              <a:spLocks noChangeArrowheads="1"/>
            </p:cNvSpPr>
            <p:nvPr/>
          </p:nvSpPr>
          <p:spPr bwMode="auto">
            <a:xfrm>
              <a:off x="7053263" y="2740025"/>
              <a:ext cx="8937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raised</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grpSp>
        <p:nvGrpSpPr>
          <p:cNvPr id="82" name="Group 81"/>
          <p:cNvGrpSpPr/>
          <p:nvPr/>
        </p:nvGrpSpPr>
        <p:grpSpPr>
          <a:xfrm>
            <a:off x="351585" y="2567641"/>
            <a:ext cx="10637837" cy="947738"/>
            <a:chOff x="795338" y="3213100"/>
            <a:chExt cx="10637837" cy="947738"/>
          </a:xfrm>
        </p:grpSpPr>
        <p:sp>
          <p:nvSpPr>
            <p:cNvPr id="11" name="Rectangle 9"/>
            <p:cNvSpPr>
              <a:spLocks noChangeArrowheads="1"/>
            </p:cNvSpPr>
            <p:nvPr/>
          </p:nvSpPr>
          <p:spPr bwMode="auto">
            <a:xfrm>
              <a:off x="801688" y="3213100"/>
              <a:ext cx="1884363" cy="946150"/>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 name="Rectangle 10"/>
            <p:cNvSpPr>
              <a:spLocks noChangeArrowheads="1"/>
            </p:cNvSpPr>
            <p:nvPr/>
          </p:nvSpPr>
          <p:spPr bwMode="auto">
            <a:xfrm>
              <a:off x="2686050" y="3213100"/>
              <a:ext cx="2757488" cy="947738"/>
            </a:xfrm>
            <a:prstGeom prst="rect">
              <a:avLst/>
            </a:prstGeom>
            <a:solidFill>
              <a:srgbClr val="F3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 name="Rectangle 11"/>
            <p:cNvSpPr>
              <a:spLocks noChangeArrowheads="1"/>
            </p:cNvSpPr>
            <p:nvPr/>
          </p:nvSpPr>
          <p:spPr bwMode="auto">
            <a:xfrm>
              <a:off x="5443538" y="3213100"/>
              <a:ext cx="5929313" cy="947738"/>
            </a:xfrm>
            <a:prstGeom prst="rect">
              <a:avLst/>
            </a:prstGeom>
            <a:solidFill>
              <a:srgbClr val="F3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Line 17"/>
            <p:cNvSpPr>
              <a:spLocks noChangeShapeType="1"/>
            </p:cNvSpPr>
            <p:nvPr/>
          </p:nvSpPr>
          <p:spPr bwMode="auto">
            <a:xfrm>
              <a:off x="795338" y="4160838"/>
              <a:ext cx="10583863"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5" name="Rectangle 43"/>
            <p:cNvSpPr>
              <a:spLocks noChangeArrowheads="1"/>
            </p:cNvSpPr>
            <p:nvPr/>
          </p:nvSpPr>
          <p:spPr bwMode="auto">
            <a:xfrm>
              <a:off x="892175" y="3321050"/>
              <a:ext cx="6365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One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6" name="Rectangle 44"/>
            <p:cNvSpPr>
              <a:spLocks noChangeArrowheads="1"/>
            </p:cNvSpPr>
            <p:nvPr/>
          </p:nvSpPr>
          <p:spPr bwMode="auto">
            <a:xfrm>
              <a:off x="1373188" y="3321050"/>
              <a:ext cx="2682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7" name="Rectangle 45"/>
            <p:cNvSpPr>
              <a:spLocks noChangeArrowheads="1"/>
            </p:cNvSpPr>
            <p:nvPr/>
          </p:nvSpPr>
          <p:spPr bwMode="auto">
            <a:xfrm>
              <a:off x="1484313" y="3321050"/>
              <a:ext cx="6286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way</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8" name="Rectangle 46"/>
            <p:cNvSpPr>
              <a:spLocks noChangeArrowheads="1"/>
            </p:cNvSpPr>
            <p:nvPr/>
          </p:nvSpPr>
          <p:spPr bwMode="auto">
            <a:xfrm>
              <a:off x="2779713" y="3321050"/>
              <a:ext cx="6905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Best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9" name="Rectangle 47"/>
            <p:cNvSpPr>
              <a:spLocks noChangeArrowheads="1"/>
            </p:cNvSpPr>
            <p:nvPr/>
          </p:nvSpPr>
          <p:spPr bwMode="auto">
            <a:xfrm>
              <a:off x="3387725" y="3321050"/>
              <a:ext cx="8223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effort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0" name="Rectangle 48"/>
            <p:cNvSpPr>
              <a:spLocks noChangeArrowheads="1"/>
            </p:cNvSpPr>
            <p:nvPr/>
          </p:nvSpPr>
          <p:spPr bwMode="auto">
            <a:xfrm>
              <a:off x="4127500" y="3321050"/>
              <a:ext cx="10810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delivery</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1" name="Rectangle 49"/>
            <p:cNvSpPr>
              <a:spLocks noChangeArrowheads="1"/>
            </p:cNvSpPr>
            <p:nvPr/>
          </p:nvSpPr>
          <p:spPr bwMode="auto">
            <a:xfrm>
              <a:off x="5534025" y="3321050"/>
              <a:ext cx="8477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Caller</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2" name="Rectangle 50"/>
            <p:cNvSpPr>
              <a:spLocks noChangeArrowheads="1"/>
            </p:cNvSpPr>
            <p:nvPr/>
          </p:nvSpPr>
          <p:spPr bwMode="auto">
            <a:xfrm>
              <a:off x="6389688" y="3321050"/>
              <a:ext cx="13303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continues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3" name="Rectangle 51"/>
            <p:cNvSpPr>
              <a:spLocks noChangeArrowheads="1"/>
            </p:cNvSpPr>
            <p:nvPr/>
          </p:nvSpPr>
          <p:spPr bwMode="auto">
            <a:xfrm>
              <a:off x="7727950" y="3321050"/>
              <a:ext cx="16192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immediately</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4" name="Rectangle 52"/>
            <p:cNvSpPr>
              <a:spLocks noChangeArrowheads="1"/>
            </p:cNvSpPr>
            <p:nvPr/>
          </p:nvSpPr>
          <p:spPr bwMode="auto">
            <a:xfrm>
              <a:off x="9351963" y="3321050"/>
              <a:ext cx="10477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without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5" name="Rectangle 53"/>
            <p:cNvSpPr>
              <a:spLocks noChangeArrowheads="1"/>
            </p:cNvSpPr>
            <p:nvPr/>
          </p:nvSpPr>
          <p:spPr bwMode="auto">
            <a:xfrm>
              <a:off x="10407650" y="3321050"/>
              <a:ext cx="10255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waiting</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6" name="Rectangle 54"/>
            <p:cNvSpPr>
              <a:spLocks noChangeArrowheads="1"/>
            </p:cNvSpPr>
            <p:nvPr/>
          </p:nvSpPr>
          <p:spPr bwMode="auto">
            <a:xfrm>
              <a:off x="5534025" y="3687763"/>
              <a:ext cx="4937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for</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7" name="Rectangle 55"/>
            <p:cNvSpPr>
              <a:spLocks noChangeArrowheads="1"/>
            </p:cNvSpPr>
            <p:nvPr/>
          </p:nvSpPr>
          <p:spPr bwMode="auto">
            <a:xfrm>
              <a:off x="5945188" y="3687763"/>
              <a:ext cx="5730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any</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8" name="Rectangle 56"/>
            <p:cNvSpPr>
              <a:spLocks noChangeArrowheads="1"/>
            </p:cNvSpPr>
            <p:nvPr/>
          </p:nvSpPr>
          <p:spPr bwMode="auto">
            <a:xfrm>
              <a:off x="6437313" y="3687763"/>
              <a:ext cx="12604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response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9" name="Rectangle 57"/>
            <p:cNvSpPr>
              <a:spLocks noChangeArrowheads="1"/>
            </p:cNvSpPr>
            <p:nvPr/>
          </p:nvSpPr>
          <p:spPr bwMode="auto">
            <a:xfrm>
              <a:off x="7612063" y="3687763"/>
              <a:ext cx="7223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from</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0" name="Rectangle 58"/>
            <p:cNvSpPr>
              <a:spLocks noChangeArrowheads="1"/>
            </p:cNvSpPr>
            <p:nvPr/>
          </p:nvSpPr>
          <p:spPr bwMode="auto">
            <a:xfrm>
              <a:off x="8250238" y="3687763"/>
              <a:ext cx="5334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the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1" name="Rectangle 59"/>
            <p:cNvSpPr>
              <a:spLocks noChangeArrowheads="1"/>
            </p:cNvSpPr>
            <p:nvPr/>
          </p:nvSpPr>
          <p:spPr bwMode="auto">
            <a:xfrm>
              <a:off x="8701088" y="3687763"/>
              <a:ext cx="8937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server</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grpSp>
        <p:nvGrpSpPr>
          <p:cNvPr id="83" name="Group 82"/>
          <p:cNvGrpSpPr/>
          <p:nvPr/>
        </p:nvGrpSpPr>
        <p:grpSpPr>
          <a:xfrm>
            <a:off x="351585" y="3515379"/>
            <a:ext cx="10639425" cy="946150"/>
            <a:chOff x="795338" y="4160838"/>
            <a:chExt cx="10639425" cy="946150"/>
          </a:xfrm>
        </p:grpSpPr>
        <p:sp>
          <p:nvSpPr>
            <p:cNvPr id="14" name="Rectangle 12"/>
            <p:cNvSpPr>
              <a:spLocks noChangeArrowheads="1"/>
            </p:cNvSpPr>
            <p:nvPr/>
          </p:nvSpPr>
          <p:spPr bwMode="auto">
            <a:xfrm>
              <a:off x="801688" y="4160838"/>
              <a:ext cx="1884363" cy="946150"/>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Line 21"/>
            <p:cNvSpPr>
              <a:spLocks noChangeShapeType="1"/>
            </p:cNvSpPr>
            <p:nvPr/>
          </p:nvSpPr>
          <p:spPr bwMode="auto">
            <a:xfrm>
              <a:off x="795338" y="5106988"/>
              <a:ext cx="10583863"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2" name="Rectangle 60"/>
            <p:cNvSpPr>
              <a:spLocks noChangeArrowheads="1"/>
            </p:cNvSpPr>
            <p:nvPr/>
          </p:nvSpPr>
          <p:spPr bwMode="auto">
            <a:xfrm>
              <a:off x="892175" y="4268788"/>
              <a:ext cx="12207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Deferred</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3" name="Rectangle 61"/>
            <p:cNvSpPr>
              <a:spLocks noChangeArrowheads="1"/>
            </p:cNvSpPr>
            <p:nvPr/>
          </p:nvSpPr>
          <p:spPr bwMode="auto">
            <a:xfrm>
              <a:off x="892175" y="4635500"/>
              <a:ext cx="17383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FFFFFF"/>
                  </a:solidFill>
                  <a:effectLst/>
                  <a:latin typeface="Roboto Condensed" panose="02000000000000000000" pitchFamily="2" charset="0"/>
                </a:rPr>
                <a:t>Synchronous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4" name="Rectangle 62"/>
            <p:cNvSpPr>
              <a:spLocks noChangeArrowheads="1"/>
            </p:cNvSpPr>
            <p:nvPr/>
          </p:nvSpPr>
          <p:spPr bwMode="auto">
            <a:xfrm>
              <a:off x="2779713" y="4268788"/>
              <a:ext cx="4175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5" name="Rectangle 63"/>
            <p:cNvSpPr>
              <a:spLocks noChangeArrowheads="1"/>
            </p:cNvSpPr>
            <p:nvPr/>
          </p:nvSpPr>
          <p:spPr bwMode="auto">
            <a:xfrm>
              <a:off x="3044825" y="4268788"/>
              <a:ext cx="228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6" name="Rectangle 64"/>
            <p:cNvSpPr>
              <a:spLocks noChangeArrowheads="1"/>
            </p:cNvSpPr>
            <p:nvPr/>
          </p:nvSpPr>
          <p:spPr bwMode="auto">
            <a:xfrm>
              <a:off x="3121025" y="4268788"/>
              <a:ext cx="762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most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7" name="Rectangle 65"/>
            <p:cNvSpPr>
              <a:spLocks noChangeArrowheads="1"/>
            </p:cNvSpPr>
            <p:nvPr/>
          </p:nvSpPr>
          <p:spPr bwMode="auto">
            <a:xfrm>
              <a:off x="3730625" y="4268788"/>
              <a:ext cx="228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8" name="Rectangle 66"/>
            <p:cNvSpPr>
              <a:spLocks noChangeArrowheads="1"/>
            </p:cNvSpPr>
            <p:nvPr/>
          </p:nvSpPr>
          <p:spPr bwMode="auto">
            <a:xfrm>
              <a:off x="3806825" y="4268788"/>
              <a:ext cx="736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once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9" name="Rectangle 67"/>
            <p:cNvSpPr>
              <a:spLocks noChangeArrowheads="1"/>
            </p:cNvSpPr>
            <p:nvPr/>
          </p:nvSpPr>
          <p:spPr bwMode="auto">
            <a:xfrm>
              <a:off x="5534025" y="4268788"/>
              <a:ext cx="8477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Caller</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0" name="Rectangle 68"/>
            <p:cNvSpPr>
              <a:spLocks noChangeArrowheads="1"/>
            </p:cNvSpPr>
            <p:nvPr/>
          </p:nvSpPr>
          <p:spPr bwMode="auto">
            <a:xfrm>
              <a:off x="6427788" y="4268788"/>
              <a:ext cx="13303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continues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1" name="Rectangle 69"/>
            <p:cNvSpPr>
              <a:spLocks noChangeArrowheads="1"/>
            </p:cNvSpPr>
            <p:nvPr/>
          </p:nvSpPr>
          <p:spPr bwMode="auto">
            <a:xfrm>
              <a:off x="7804150" y="4268788"/>
              <a:ext cx="16192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immediately</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2" name="Rectangle 70"/>
            <p:cNvSpPr>
              <a:spLocks noChangeArrowheads="1"/>
            </p:cNvSpPr>
            <p:nvPr/>
          </p:nvSpPr>
          <p:spPr bwMode="auto">
            <a:xfrm>
              <a:off x="9466263" y="4268788"/>
              <a:ext cx="5969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and</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3" name="Rectangle 71"/>
            <p:cNvSpPr>
              <a:spLocks noChangeArrowheads="1"/>
            </p:cNvSpPr>
            <p:nvPr/>
          </p:nvSpPr>
          <p:spPr bwMode="auto">
            <a:xfrm>
              <a:off x="10107613" y="4268788"/>
              <a:ext cx="5873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can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4" name="Rectangle 72"/>
            <p:cNvSpPr>
              <a:spLocks noChangeArrowheads="1"/>
            </p:cNvSpPr>
            <p:nvPr/>
          </p:nvSpPr>
          <p:spPr bwMode="auto">
            <a:xfrm>
              <a:off x="10739438" y="4268788"/>
              <a:ext cx="6953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later</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5" name="Rectangle 73"/>
            <p:cNvSpPr>
              <a:spLocks noChangeArrowheads="1"/>
            </p:cNvSpPr>
            <p:nvPr/>
          </p:nvSpPr>
          <p:spPr bwMode="auto">
            <a:xfrm>
              <a:off x="5534025" y="4635500"/>
              <a:ext cx="8032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block</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6" name="Rectangle 74"/>
            <p:cNvSpPr>
              <a:spLocks noChangeArrowheads="1"/>
            </p:cNvSpPr>
            <p:nvPr/>
          </p:nvSpPr>
          <p:spPr bwMode="auto">
            <a:xfrm>
              <a:off x="6256338" y="4635500"/>
              <a:ext cx="6778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until</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7" name="Rectangle 75"/>
            <p:cNvSpPr>
              <a:spLocks noChangeArrowheads="1"/>
            </p:cNvSpPr>
            <p:nvPr/>
          </p:nvSpPr>
          <p:spPr bwMode="auto">
            <a:xfrm>
              <a:off x="6853238" y="4635500"/>
              <a:ext cx="12604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response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8" name="Rectangle 76"/>
            <p:cNvSpPr>
              <a:spLocks noChangeArrowheads="1"/>
            </p:cNvSpPr>
            <p:nvPr/>
          </p:nvSpPr>
          <p:spPr bwMode="auto">
            <a:xfrm>
              <a:off x="8026400" y="4635500"/>
              <a:ext cx="3603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is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9" name="Rectangle 77"/>
            <p:cNvSpPr>
              <a:spLocks noChangeArrowheads="1"/>
            </p:cNvSpPr>
            <p:nvPr/>
          </p:nvSpPr>
          <p:spPr bwMode="auto">
            <a:xfrm>
              <a:off x="8304213" y="4635500"/>
              <a:ext cx="12477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delivered</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652152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CORBA: Event and Notification Services</a:t>
            </a:r>
          </a:p>
        </p:txBody>
      </p:sp>
      <p:grpSp>
        <p:nvGrpSpPr>
          <p:cNvPr id="138" name="Group 137"/>
          <p:cNvGrpSpPr/>
          <p:nvPr/>
        </p:nvGrpSpPr>
        <p:grpSpPr>
          <a:xfrm>
            <a:off x="2749922" y="870061"/>
            <a:ext cx="6418729" cy="2569101"/>
            <a:chOff x="2749922" y="870061"/>
            <a:chExt cx="6418729" cy="2569101"/>
          </a:xfrm>
        </p:grpSpPr>
        <p:sp>
          <p:nvSpPr>
            <p:cNvPr id="86" name="Rectangle 85"/>
            <p:cNvSpPr/>
            <p:nvPr/>
          </p:nvSpPr>
          <p:spPr>
            <a:xfrm>
              <a:off x="2749923" y="1484283"/>
              <a:ext cx="1385047"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accent6"/>
                  </a:solidFill>
                </a:rPr>
                <a:t>Consumer</a:t>
              </a:r>
              <a:endParaRPr lang="en-IN" sz="2000" dirty="0">
                <a:solidFill>
                  <a:schemeClr val="accent6"/>
                </a:solidFill>
              </a:endParaRPr>
            </a:p>
          </p:txBody>
        </p:sp>
        <p:sp>
          <p:nvSpPr>
            <p:cNvPr id="93" name="Rectangle 92"/>
            <p:cNvSpPr/>
            <p:nvPr/>
          </p:nvSpPr>
          <p:spPr>
            <a:xfrm>
              <a:off x="2749922" y="2563225"/>
              <a:ext cx="1385047"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accent6"/>
                  </a:solidFill>
                </a:rPr>
                <a:t>Consumer</a:t>
              </a:r>
              <a:endParaRPr lang="en-IN" sz="2000" dirty="0">
                <a:solidFill>
                  <a:schemeClr val="accent6"/>
                </a:solidFill>
              </a:endParaRPr>
            </a:p>
          </p:txBody>
        </p:sp>
        <p:sp>
          <p:nvSpPr>
            <p:cNvPr id="94" name="Rectangle 93"/>
            <p:cNvSpPr/>
            <p:nvPr/>
          </p:nvSpPr>
          <p:spPr>
            <a:xfrm>
              <a:off x="7783604" y="1222810"/>
              <a:ext cx="1385047"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accent4"/>
                  </a:solidFill>
                </a:rPr>
                <a:t>Supplier</a:t>
              </a:r>
              <a:endParaRPr lang="en-IN" sz="2000" dirty="0">
                <a:solidFill>
                  <a:schemeClr val="accent4"/>
                </a:solidFill>
              </a:endParaRPr>
            </a:p>
          </p:txBody>
        </p:sp>
        <p:sp>
          <p:nvSpPr>
            <p:cNvPr id="95" name="Rectangle 94"/>
            <p:cNvSpPr/>
            <p:nvPr/>
          </p:nvSpPr>
          <p:spPr>
            <a:xfrm>
              <a:off x="7783604" y="2832918"/>
              <a:ext cx="1385047"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accent4"/>
                  </a:solidFill>
                </a:rPr>
                <a:t>Supplier</a:t>
              </a:r>
              <a:endParaRPr lang="en-IN" sz="2000" dirty="0">
                <a:solidFill>
                  <a:schemeClr val="accent4"/>
                </a:solidFill>
              </a:endParaRPr>
            </a:p>
          </p:txBody>
        </p:sp>
        <p:sp>
          <p:nvSpPr>
            <p:cNvPr id="96" name="Rectangle 95"/>
            <p:cNvSpPr/>
            <p:nvPr/>
          </p:nvSpPr>
          <p:spPr>
            <a:xfrm>
              <a:off x="7783604" y="2054758"/>
              <a:ext cx="1385047"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accent4"/>
                  </a:solidFill>
                </a:rPr>
                <a:t>Supplier</a:t>
              </a:r>
              <a:endParaRPr lang="en-IN" sz="2000" dirty="0">
                <a:solidFill>
                  <a:schemeClr val="accent4"/>
                </a:solidFill>
              </a:endParaRPr>
            </a:p>
          </p:txBody>
        </p:sp>
        <p:sp>
          <p:nvSpPr>
            <p:cNvPr id="97" name="Rectangle 96"/>
            <p:cNvSpPr/>
            <p:nvPr/>
          </p:nvSpPr>
          <p:spPr>
            <a:xfrm>
              <a:off x="5041524" y="1995550"/>
              <a:ext cx="2104465"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0E3755"/>
                  </a:solidFill>
                </a:rPr>
                <a:t>Event channel</a:t>
              </a:r>
              <a:endParaRPr lang="en-IN" sz="2400" b="1" dirty="0">
                <a:solidFill>
                  <a:srgbClr val="0E3755"/>
                </a:solidFill>
              </a:endParaRPr>
            </a:p>
          </p:txBody>
        </p:sp>
        <p:sp>
          <p:nvSpPr>
            <p:cNvPr id="3" name="TextBox 2"/>
            <p:cNvSpPr txBox="1"/>
            <p:nvPr/>
          </p:nvSpPr>
          <p:spPr>
            <a:xfrm>
              <a:off x="4406152" y="870061"/>
              <a:ext cx="3106270" cy="400110"/>
            </a:xfrm>
            <a:prstGeom prst="rect">
              <a:avLst/>
            </a:prstGeom>
            <a:noFill/>
          </p:spPr>
          <p:txBody>
            <a:bodyPr wrap="square" rtlCol="0">
              <a:spAutoFit/>
            </a:bodyPr>
            <a:lstStyle/>
            <a:p>
              <a:r>
                <a:rPr lang="en-IN" sz="2000" dirty="0" smtClean="0"/>
                <a:t>Push events to consumers</a:t>
              </a:r>
              <a:endParaRPr lang="en-IN" sz="2000" dirty="0"/>
            </a:p>
          </p:txBody>
        </p:sp>
        <p:cxnSp>
          <p:nvCxnSpPr>
            <p:cNvPr id="6" name="Straight Arrow Connector 5"/>
            <p:cNvCxnSpPr>
              <a:stCxn id="86" idx="3"/>
            </p:cNvCxnSpPr>
            <p:nvPr/>
          </p:nvCxnSpPr>
          <p:spPr>
            <a:xfrm>
              <a:off x="4134970" y="1787405"/>
              <a:ext cx="906554" cy="303122"/>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flipV="1">
              <a:off x="4134969" y="2393649"/>
              <a:ext cx="906555" cy="41629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94" idx="1"/>
            </p:cNvCxnSpPr>
            <p:nvPr/>
          </p:nvCxnSpPr>
          <p:spPr>
            <a:xfrm flipH="1">
              <a:off x="7145989" y="1525932"/>
              <a:ext cx="637615" cy="6049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96" idx="1"/>
              <a:endCxn id="97" idx="3"/>
            </p:cNvCxnSpPr>
            <p:nvPr/>
          </p:nvCxnSpPr>
          <p:spPr>
            <a:xfrm flipH="1" flipV="1">
              <a:off x="7145989" y="2298672"/>
              <a:ext cx="637615" cy="5920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95" idx="1"/>
            </p:cNvCxnSpPr>
            <p:nvPr/>
          </p:nvCxnSpPr>
          <p:spPr>
            <a:xfrm flipH="1" flipV="1">
              <a:off x="7145989" y="2460177"/>
              <a:ext cx="637615" cy="6758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p:nvPr/>
          </p:nvCxnSpPr>
          <p:spPr>
            <a:xfrm flipH="1">
              <a:off x="4588246" y="1298375"/>
              <a:ext cx="453278" cy="6405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p:nvPr/>
          </p:nvCxnSpPr>
          <p:spPr>
            <a:xfrm>
              <a:off x="6600543" y="1298375"/>
              <a:ext cx="683699" cy="6405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9" name="Group 138"/>
          <p:cNvGrpSpPr/>
          <p:nvPr/>
        </p:nvGrpSpPr>
        <p:grpSpPr>
          <a:xfrm>
            <a:off x="2749922" y="3851838"/>
            <a:ext cx="6418729" cy="2569101"/>
            <a:chOff x="3207122" y="3900113"/>
            <a:chExt cx="6418729" cy="2569101"/>
          </a:xfrm>
        </p:grpSpPr>
        <p:sp>
          <p:nvSpPr>
            <p:cNvPr id="116" name="Rectangle 115"/>
            <p:cNvSpPr/>
            <p:nvPr/>
          </p:nvSpPr>
          <p:spPr>
            <a:xfrm>
              <a:off x="3207123" y="4514335"/>
              <a:ext cx="1385047"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accent6"/>
                  </a:solidFill>
                </a:rPr>
                <a:t>Consumer</a:t>
              </a:r>
              <a:endParaRPr lang="en-IN" sz="2000" dirty="0">
                <a:solidFill>
                  <a:schemeClr val="accent6"/>
                </a:solidFill>
              </a:endParaRPr>
            </a:p>
          </p:txBody>
        </p:sp>
        <p:sp>
          <p:nvSpPr>
            <p:cNvPr id="117" name="Rectangle 116"/>
            <p:cNvSpPr/>
            <p:nvPr/>
          </p:nvSpPr>
          <p:spPr>
            <a:xfrm>
              <a:off x="3207122" y="5593277"/>
              <a:ext cx="1385047"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accent6"/>
                  </a:solidFill>
                </a:rPr>
                <a:t>Consumer</a:t>
              </a:r>
              <a:endParaRPr lang="en-IN" sz="2000" dirty="0">
                <a:solidFill>
                  <a:schemeClr val="accent6"/>
                </a:solidFill>
              </a:endParaRPr>
            </a:p>
          </p:txBody>
        </p:sp>
        <p:sp>
          <p:nvSpPr>
            <p:cNvPr id="118" name="Rectangle 117"/>
            <p:cNvSpPr/>
            <p:nvPr/>
          </p:nvSpPr>
          <p:spPr>
            <a:xfrm>
              <a:off x="8240804" y="4252862"/>
              <a:ext cx="1385047"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accent4"/>
                  </a:solidFill>
                </a:rPr>
                <a:t>Supplier</a:t>
              </a:r>
              <a:endParaRPr lang="en-IN" sz="2000" dirty="0">
                <a:solidFill>
                  <a:schemeClr val="accent4"/>
                </a:solidFill>
              </a:endParaRPr>
            </a:p>
          </p:txBody>
        </p:sp>
        <p:sp>
          <p:nvSpPr>
            <p:cNvPr id="119" name="Rectangle 118"/>
            <p:cNvSpPr/>
            <p:nvPr/>
          </p:nvSpPr>
          <p:spPr>
            <a:xfrm>
              <a:off x="8240804" y="5862970"/>
              <a:ext cx="1385047"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accent4"/>
                  </a:solidFill>
                </a:rPr>
                <a:t>Supplier</a:t>
              </a:r>
              <a:endParaRPr lang="en-IN" sz="2000" dirty="0">
                <a:solidFill>
                  <a:schemeClr val="accent4"/>
                </a:solidFill>
              </a:endParaRPr>
            </a:p>
          </p:txBody>
        </p:sp>
        <p:sp>
          <p:nvSpPr>
            <p:cNvPr id="120" name="Rectangle 119"/>
            <p:cNvSpPr/>
            <p:nvPr/>
          </p:nvSpPr>
          <p:spPr>
            <a:xfrm>
              <a:off x="8240804" y="5084810"/>
              <a:ext cx="1385047"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accent4"/>
                  </a:solidFill>
                </a:rPr>
                <a:t>Supplier</a:t>
              </a:r>
              <a:endParaRPr lang="en-IN" sz="2000" dirty="0">
                <a:solidFill>
                  <a:schemeClr val="accent4"/>
                </a:solidFill>
              </a:endParaRPr>
            </a:p>
          </p:txBody>
        </p:sp>
        <p:sp>
          <p:nvSpPr>
            <p:cNvPr id="121" name="Rectangle 120"/>
            <p:cNvSpPr/>
            <p:nvPr/>
          </p:nvSpPr>
          <p:spPr>
            <a:xfrm>
              <a:off x="5498724" y="5025602"/>
              <a:ext cx="2104465" cy="6062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0E3755"/>
                  </a:solidFill>
                </a:rPr>
                <a:t>Event channel</a:t>
              </a:r>
              <a:endParaRPr lang="en-IN" sz="2400" b="1" dirty="0">
                <a:solidFill>
                  <a:srgbClr val="0E3755"/>
                </a:solidFill>
              </a:endParaRPr>
            </a:p>
          </p:txBody>
        </p:sp>
        <p:sp>
          <p:nvSpPr>
            <p:cNvPr id="122" name="TextBox 121"/>
            <p:cNvSpPr txBox="1"/>
            <p:nvPr/>
          </p:nvSpPr>
          <p:spPr>
            <a:xfrm>
              <a:off x="4863352" y="3900113"/>
              <a:ext cx="3106270" cy="400110"/>
            </a:xfrm>
            <a:prstGeom prst="rect">
              <a:avLst/>
            </a:prstGeom>
            <a:noFill/>
          </p:spPr>
          <p:txBody>
            <a:bodyPr wrap="square" rtlCol="0">
              <a:spAutoFit/>
            </a:bodyPr>
            <a:lstStyle/>
            <a:p>
              <a:r>
                <a:rPr lang="en-IN" sz="2000" dirty="0" smtClean="0"/>
                <a:t>Ask suppliers for new event</a:t>
              </a:r>
              <a:endParaRPr lang="en-IN" sz="2000" dirty="0"/>
            </a:p>
          </p:txBody>
        </p:sp>
        <p:cxnSp>
          <p:nvCxnSpPr>
            <p:cNvPr id="123" name="Straight Arrow Connector 122"/>
            <p:cNvCxnSpPr>
              <a:stCxn id="116" idx="3"/>
            </p:cNvCxnSpPr>
            <p:nvPr/>
          </p:nvCxnSpPr>
          <p:spPr>
            <a:xfrm>
              <a:off x="4592170" y="4817457"/>
              <a:ext cx="906554" cy="303122"/>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p:nvPr/>
          </p:nvCxnSpPr>
          <p:spPr>
            <a:xfrm flipV="1">
              <a:off x="4592169" y="5423701"/>
              <a:ext cx="906555" cy="41629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a:stCxn id="118" idx="1"/>
            </p:cNvCxnSpPr>
            <p:nvPr/>
          </p:nvCxnSpPr>
          <p:spPr>
            <a:xfrm flipH="1">
              <a:off x="7603189" y="4555984"/>
              <a:ext cx="637615" cy="604936"/>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a:stCxn id="120" idx="1"/>
              <a:endCxn id="121" idx="3"/>
            </p:cNvCxnSpPr>
            <p:nvPr/>
          </p:nvCxnSpPr>
          <p:spPr>
            <a:xfrm flipH="1" flipV="1">
              <a:off x="7603189" y="5328724"/>
              <a:ext cx="637615" cy="5920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a:stCxn id="119" idx="1"/>
            </p:cNvCxnSpPr>
            <p:nvPr/>
          </p:nvCxnSpPr>
          <p:spPr>
            <a:xfrm flipH="1" flipV="1">
              <a:off x="7603189" y="5490229"/>
              <a:ext cx="637615" cy="675863"/>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flipH="1">
              <a:off x="5045446" y="4328427"/>
              <a:ext cx="453278" cy="6405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p:nvPr/>
          </p:nvCxnSpPr>
          <p:spPr>
            <a:xfrm>
              <a:off x="7057743" y="4328427"/>
              <a:ext cx="683699" cy="6405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0" name="TextBox 129"/>
          <p:cNvSpPr txBox="1"/>
          <p:nvPr/>
        </p:nvSpPr>
        <p:spPr>
          <a:xfrm>
            <a:off x="145114" y="1766513"/>
            <a:ext cx="2326341" cy="461665"/>
          </a:xfrm>
          <a:prstGeom prst="rect">
            <a:avLst/>
          </a:prstGeom>
          <a:noFill/>
        </p:spPr>
        <p:txBody>
          <a:bodyPr wrap="square" rtlCol="0">
            <a:spAutoFit/>
          </a:bodyPr>
          <a:lstStyle/>
          <a:p>
            <a:r>
              <a:rPr lang="en-IN" sz="2400" b="1" dirty="0"/>
              <a:t>Push-style model</a:t>
            </a:r>
          </a:p>
        </p:txBody>
      </p:sp>
      <p:sp>
        <p:nvSpPr>
          <p:cNvPr id="131" name="TextBox 130"/>
          <p:cNvSpPr txBox="1"/>
          <p:nvPr/>
        </p:nvSpPr>
        <p:spPr>
          <a:xfrm>
            <a:off x="145113" y="4919219"/>
            <a:ext cx="2326341" cy="461665"/>
          </a:xfrm>
          <a:prstGeom prst="rect">
            <a:avLst/>
          </a:prstGeom>
          <a:noFill/>
        </p:spPr>
        <p:txBody>
          <a:bodyPr wrap="square" rtlCol="0">
            <a:spAutoFit/>
          </a:bodyPr>
          <a:lstStyle/>
          <a:p>
            <a:r>
              <a:rPr lang="en-IN" sz="2400" b="1" dirty="0"/>
              <a:t>Pull-style model</a:t>
            </a:r>
          </a:p>
        </p:txBody>
      </p:sp>
      <p:cxnSp>
        <p:nvCxnSpPr>
          <p:cNvPr id="135" name="Straight Connector 134"/>
          <p:cNvCxnSpPr/>
          <p:nvPr/>
        </p:nvCxnSpPr>
        <p:spPr>
          <a:xfrm>
            <a:off x="107576" y="3590365"/>
            <a:ext cx="1180651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680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35"/>
                                        </p:tgtEl>
                                        <p:attrNameLst>
                                          <p:attrName>style.visibility</p:attrName>
                                        </p:attrNameLst>
                                      </p:cBhvr>
                                      <p:to>
                                        <p:strVal val="visible"/>
                                      </p:to>
                                    </p:set>
                                    <p:animEffect transition="in" filter="wipe(left)">
                                      <p:cBhvr>
                                        <p:cTn id="15" dur="500"/>
                                        <p:tgtEl>
                                          <p:spTgt spid="13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CORBA: Persistent Communication</a:t>
            </a:r>
          </a:p>
        </p:txBody>
      </p:sp>
      <p:sp>
        <p:nvSpPr>
          <p:cNvPr id="4" name="Content Placeholder 3"/>
          <p:cNvSpPr>
            <a:spLocks noGrp="1"/>
          </p:cNvSpPr>
          <p:nvPr>
            <p:ph idx="1"/>
          </p:nvPr>
        </p:nvSpPr>
        <p:spPr/>
        <p:txBody>
          <a:bodyPr/>
          <a:lstStyle/>
          <a:p>
            <a:r>
              <a:rPr lang="en-US" dirty="0">
                <a:solidFill>
                  <a:schemeClr val="accent6"/>
                </a:solidFill>
              </a:rPr>
              <a:t>CORBA messaging service:</a:t>
            </a:r>
            <a:endParaRPr lang="en-US" dirty="0" smtClean="0"/>
          </a:p>
          <a:p>
            <a:pPr lvl="2"/>
            <a:r>
              <a:rPr lang="en-US" sz="2400" dirty="0"/>
              <a:t>Object-oriented approach to communication</a:t>
            </a:r>
          </a:p>
          <a:p>
            <a:pPr lvl="2"/>
            <a:r>
              <a:rPr lang="en-US" sz="2400" dirty="0" smtClean="0"/>
              <a:t>All </a:t>
            </a:r>
            <a:r>
              <a:rPr lang="en-US" sz="2400" dirty="0"/>
              <a:t>communication takes place by invoking an object</a:t>
            </a:r>
          </a:p>
          <a:p>
            <a:pPr lvl="2"/>
            <a:r>
              <a:rPr lang="en-US" sz="2400" dirty="0" smtClean="0"/>
              <a:t>May </a:t>
            </a:r>
            <a:r>
              <a:rPr lang="en-US" sz="2400" dirty="0"/>
              <a:t>not be possible to get an immediate reply</a:t>
            </a:r>
          </a:p>
          <a:p>
            <a:pPr lvl="2"/>
            <a:r>
              <a:rPr lang="en-US" sz="2400" dirty="0" smtClean="0">
                <a:solidFill>
                  <a:srgbClr val="1D3064"/>
                </a:solidFill>
              </a:rPr>
              <a:t>Callback </a:t>
            </a:r>
            <a:r>
              <a:rPr lang="en-US" sz="2400" dirty="0">
                <a:solidFill>
                  <a:srgbClr val="1D3064"/>
                </a:solidFill>
              </a:rPr>
              <a:t>model</a:t>
            </a:r>
            <a:r>
              <a:rPr lang="en-US" sz="2400" dirty="0"/>
              <a:t>: A client features two interfaces: method and callback</a:t>
            </a:r>
          </a:p>
          <a:p>
            <a:pPr lvl="2"/>
            <a:r>
              <a:rPr lang="en-US" sz="2400" dirty="0" smtClean="0">
                <a:solidFill>
                  <a:srgbClr val="1D3064"/>
                </a:solidFill>
              </a:rPr>
              <a:t>Polling </a:t>
            </a:r>
            <a:r>
              <a:rPr lang="en-US" sz="2400" dirty="0">
                <a:solidFill>
                  <a:srgbClr val="1D3064"/>
                </a:solidFill>
              </a:rPr>
              <a:t>model</a:t>
            </a:r>
            <a:r>
              <a:rPr lang="en-US" sz="2400" dirty="0"/>
              <a:t>: A client is offered a collection of operations to poll its ORB </a:t>
            </a:r>
            <a:r>
              <a:rPr lang="en-US" sz="2400" dirty="0" smtClean="0"/>
              <a:t>for incoming </a:t>
            </a:r>
            <a:r>
              <a:rPr lang="en-US" sz="2400" dirty="0"/>
              <a:t>results</a:t>
            </a:r>
          </a:p>
          <a:p>
            <a:pPr lvl="2"/>
            <a:r>
              <a:rPr lang="en-US" sz="2400" dirty="0" smtClean="0"/>
              <a:t>Messages </a:t>
            </a:r>
            <a:r>
              <a:rPr lang="en-US" sz="2400" dirty="0"/>
              <a:t>sent are stored by the underlying system in case the client or server </a:t>
            </a:r>
            <a:r>
              <a:rPr lang="en-US" sz="2400" dirty="0" smtClean="0"/>
              <a:t>is not </a:t>
            </a:r>
            <a:r>
              <a:rPr lang="en-US" sz="2400" dirty="0"/>
              <a:t>yet running</a:t>
            </a:r>
          </a:p>
        </p:txBody>
      </p:sp>
    </p:spTree>
    <p:extLst>
      <p:ext uri="{BB962C8B-B14F-4D97-AF65-F5344CB8AC3E}">
        <p14:creationId xmlns:p14="http://schemas.microsoft.com/office/powerpoint/2010/main" val="1626620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a:t>CORBA: Messaging</a:t>
            </a:r>
            <a:endParaRPr lang="en-US" dirty="0"/>
          </a:p>
        </p:txBody>
      </p:sp>
      <p:sp>
        <p:nvSpPr>
          <p:cNvPr id="5" name="TextBox 4"/>
          <p:cNvSpPr txBox="1"/>
          <p:nvPr/>
        </p:nvSpPr>
        <p:spPr>
          <a:xfrm>
            <a:off x="7241801" y="1898621"/>
            <a:ext cx="4537821" cy="830997"/>
          </a:xfrm>
          <a:prstGeom prst="rect">
            <a:avLst/>
          </a:prstGeom>
          <a:noFill/>
        </p:spPr>
        <p:txBody>
          <a:bodyPr wrap="square" rtlCol="0">
            <a:spAutoFit/>
          </a:bodyPr>
          <a:lstStyle/>
          <a:p>
            <a:r>
              <a:rPr lang="en-US" sz="2400" dirty="0">
                <a:solidFill>
                  <a:srgbClr val="1D3064"/>
                </a:solidFill>
              </a:rPr>
              <a:t>CORBA’s callback model for </a:t>
            </a:r>
            <a:br>
              <a:rPr lang="en-US" sz="2400" dirty="0">
                <a:solidFill>
                  <a:srgbClr val="1D3064"/>
                </a:solidFill>
              </a:rPr>
            </a:br>
            <a:r>
              <a:rPr lang="en-US" sz="2400" dirty="0">
                <a:solidFill>
                  <a:srgbClr val="1D3064"/>
                </a:solidFill>
              </a:rPr>
              <a:t>asynchronous method invocation</a:t>
            </a:r>
          </a:p>
        </p:txBody>
      </p:sp>
      <p:pic>
        <p:nvPicPr>
          <p:cNvPr id="6" name="Picture 4" descr="10-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827" y="924536"/>
            <a:ext cx="6302188" cy="259063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10-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48" y="3863250"/>
            <a:ext cx="6096747" cy="249289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7241802" y="4458044"/>
            <a:ext cx="4537821" cy="830997"/>
          </a:xfrm>
          <a:prstGeom prst="rect">
            <a:avLst/>
          </a:prstGeom>
          <a:noFill/>
        </p:spPr>
        <p:txBody>
          <a:bodyPr wrap="square" rtlCol="0">
            <a:spAutoFit/>
          </a:bodyPr>
          <a:lstStyle/>
          <a:p>
            <a:r>
              <a:rPr lang="en-US" sz="2400" dirty="0">
                <a:solidFill>
                  <a:srgbClr val="1D3064"/>
                </a:solidFill>
              </a:rPr>
              <a:t>CORBA’s polling model for </a:t>
            </a:r>
            <a:br>
              <a:rPr lang="en-US" sz="2400" dirty="0">
                <a:solidFill>
                  <a:srgbClr val="1D3064"/>
                </a:solidFill>
              </a:rPr>
            </a:br>
            <a:r>
              <a:rPr lang="en-US" sz="2400" dirty="0">
                <a:solidFill>
                  <a:srgbClr val="1D3064"/>
                </a:solidFill>
              </a:rPr>
              <a:t>asynchronous method invocation</a:t>
            </a:r>
          </a:p>
        </p:txBody>
      </p:sp>
      <p:cxnSp>
        <p:nvCxnSpPr>
          <p:cNvPr id="4" name="Straight Connector 3"/>
          <p:cNvCxnSpPr/>
          <p:nvPr/>
        </p:nvCxnSpPr>
        <p:spPr>
          <a:xfrm>
            <a:off x="363069" y="3676538"/>
            <a:ext cx="1141655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45315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CORBA: Object references</a:t>
            </a:r>
          </a:p>
        </p:txBody>
      </p:sp>
      <p:sp>
        <p:nvSpPr>
          <p:cNvPr id="4" name="Content Placeholder 3"/>
          <p:cNvSpPr>
            <a:spLocks noGrp="1"/>
          </p:cNvSpPr>
          <p:nvPr>
            <p:ph idx="1"/>
          </p:nvPr>
        </p:nvSpPr>
        <p:spPr/>
        <p:txBody>
          <a:bodyPr/>
          <a:lstStyle/>
          <a:p>
            <a:r>
              <a:rPr lang="en-US" dirty="0"/>
              <a:t>In order to invoke remote objects, we need a means to uniquely refer to them.</a:t>
            </a:r>
            <a:endParaRPr lang="en-IN" dirty="0"/>
          </a:p>
        </p:txBody>
      </p:sp>
      <p:grpSp>
        <p:nvGrpSpPr>
          <p:cNvPr id="37" name="Group 36"/>
          <p:cNvGrpSpPr/>
          <p:nvPr/>
        </p:nvGrpSpPr>
        <p:grpSpPr>
          <a:xfrm>
            <a:off x="420816" y="1551769"/>
            <a:ext cx="10632666" cy="4434379"/>
            <a:chOff x="434263" y="1282828"/>
            <a:chExt cx="10632666" cy="4434379"/>
          </a:xfrm>
        </p:grpSpPr>
        <p:sp>
          <p:nvSpPr>
            <p:cNvPr id="5" name="Rectangle 4"/>
            <p:cNvSpPr/>
            <p:nvPr/>
          </p:nvSpPr>
          <p:spPr>
            <a:xfrm>
              <a:off x="524434" y="1936376"/>
              <a:ext cx="1223683"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Repository</a:t>
              </a:r>
            </a:p>
            <a:p>
              <a:pPr algn="ctr"/>
              <a:r>
                <a:rPr lang="en-IN" dirty="0" smtClean="0">
                  <a:solidFill>
                    <a:schemeClr val="tx1"/>
                  </a:solidFill>
                </a:rPr>
                <a:t>identifier</a:t>
              </a:r>
              <a:endParaRPr lang="en-IN" dirty="0">
                <a:solidFill>
                  <a:schemeClr val="tx1"/>
                </a:solidFill>
              </a:endParaRPr>
            </a:p>
          </p:txBody>
        </p:sp>
        <p:sp>
          <p:nvSpPr>
            <p:cNvPr id="6" name="Rectangle 5"/>
            <p:cNvSpPr/>
            <p:nvPr/>
          </p:nvSpPr>
          <p:spPr>
            <a:xfrm>
              <a:off x="1900519" y="1936376"/>
              <a:ext cx="1223683"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Profile</a:t>
              </a:r>
            </a:p>
            <a:p>
              <a:pPr algn="ctr"/>
              <a:r>
                <a:rPr lang="en-IN" dirty="0" smtClean="0">
                  <a:solidFill>
                    <a:schemeClr val="tx1"/>
                  </a:solidFill>
                </a:rPr>
                <a:t>ID</a:t>
              </a:r>
            </a:p>
          </p:txBody>
        </p:sp>
        <p:sp>
          <p:nvSpPr>
            <p:cNvPr id="7" name="Rectangle 6"/>
            <p:cNvSpPr/>
            <p:nvPr/>
          </p:nvSpPr>
          <p:spPr>
            <a:xfrm>
              <a:off x="3124202" y="1936376"/>
              <a:ext cx="2129115"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Profile</a:t>
              </a:r>
            </a:p>
          </p:txBody>
        </p:sp>
        <p:sp>
          <p:nvSpPr>
            <p:cNvPr id="8" name="Rectangle 7"/>
            <p:cNvSpPr/>
            <p:nvPr/>
          </p:nvSpPr>
          <p:spPr>
            <a:xfrm>
              <a:off x="7129480" y="1936564"/>
              <a:ext cx="2422413"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smtClean="0">
                <a:solidFill>
                  <a:schemeClr val="tx1"/>
                </a:solidFill>
              </a:endParaRPr>
            </a:p>
          </p:txBody>
        </p:sp>
        <p:sp>
          <p:nvSpPr>
            <p:cNvPr id="9" name="Rectangle 8"/>
            <p:cNvSpPr/>
            <p:nvPr/>
          </p:nvSpPr>
          <p:spPr>
            <a:xfrm>
              <a:off x="757517" y="3509392"/>
              <a:ext cx="1223683"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accent6"/>
                  </a:solidFill>
                </a:rPr>
                <a:t>IIOP</a:t>
              </a:r>
            </a:p>
            <a:p>
              <a:pPr algn="ctr"/>
              <a:r>
                <a:rPr lang="en-IN" dirty="0" smtClean="0">
                  <a:solidFill>
                    <a:schemeClr val="accent6"/>
                  </a:solidFill>
                </a:rPr>
                <a:t>version</a:t>
              </a:r>
              <a:endParaRPr lang="en-IN" dirty="0">
                <a:solidFill>
                  <a:schemeClr val="accent6"/>
                </a:solidFill>
              </a:endParaRPr>
            </a:p>
          </p:txBody>
        </p:sp>
        <p:sp>
          <p:nvSpPr>
            <p:cNvPr id="10" name="Rectangle 9"/>
            <p:cNvSpPr/>
            <p:nvPr/>
          </p:nvSpPr>
          <p:spPr>
            <a:xfrm>
              <a:off x="1980006" y="3509392"/>
              <a:ext cx="1736018"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accent6"/>
                  </a:solidFill>
                </a:rPr>
                <a:t>Host</a:t>
              </a:r>
              <a:endParaRPr lang="en-IN" dirty="0">
                <a:solidFill>
                  <a:schemeClr val="accent6"/>
                </a:solidFill>
              </a:endParaRPr>
            </a:p>
          </p:txBody>
        </p:sp>
        <p:sp>
          <p:nvSpPr>
            <p:cNvPr id="11" name="Rectangle 10"/>
            <p:cNvSpPr/>
            <p:nvPr/>
          </p:nvSpPr>
          <p:spPr>
            <a:xfrm>
              <a:off x="3716466" y="3509102"/>
              <a:ext cx="1223683"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accent6"/>
                  </a:solidFill>
                </a:rPr>
                <a:t>Port</a:t>
              </a:r>
              <a:endParaRPr lang="en-IN" dirty="0">
                <a:solidFill>
                  <a:schemeClr val="accent6"/>
                </a:solidFill>
              </a:endParaRPr>
            </a:p>
          </p:txBody>
        </p:sp>
        <p:sp>
          <p:nvSpPr>
            <p:cNvPr id="12" name="Rectangle 11"/>
            <p:cNvSpPr/>
            <p:nvPr/>
          </p:nvSpPr>
          <p:spPr>
            <a:xfrm>
              <a:off x="6329087" y="3506488"/>
              <a:ext cx="1578086"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accent6"/>
                  </a:solidFill>
                </a:rPr>
                <a:t>Components</a:t>
              </a:r>
              <a:endParaRPr lang="en-IN" dirty="0">
                <a:solidFill>
                  <a:schemeClr val="accent6"/>
                </a:solidFill>
              </a:endParaRPr>
            </a:p>
          </p:txBody>
        </p:sp>
        <p:sp>
          <p:nvSpPr>
            <p:cNvPr id="13" name="Rectangle 12"/>
            <p:cNvSpPr/>
            <p:nvPr/>
          </p:nvSpPr>
          <p:spPr>
            <a:xfrm>
              <a:off x="4931113" y="3509102"/>
              <a:ext cx="1402452"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accent6"/>
                  </a:solidFill>
                </a:rPr>
                <a:t>Object key</a:t>
              </a:r>
              <a:endParaRPr lang="en-IN" dirty="0">
                <a:solidFill>
                  <a:schemeClr val="accent6"/>
                </a:solidFill>
              </a:endParaRPr>
            </a:p>
          </p:txBody>
        </p:sp>
        <p:sp>
          <p:nvSpPr>
            <p:cNvPr id="14" name="Rectangle 13"/>
            <p:cNvSpPr/>
            <p:nvPr/>
          </p:nvSpPr>
          <p:spPr>
            <a:xfrm>
              <a:off x="2973228" y="5031407"/>
              <a:ext cx="2022294"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Adapter</a:t>
              </a:r>
            </a:p>
            <a:p>
              <a:pPr algn="ctr"/>
              <a:r>
                <a:rPr lang="en-IN" dirty="0" smtClean="0">
                  <a:solidFill>
                    <a:schemeClr val="tx1"/>
                  </a:solidFill>
                </a:rPr>
                <a:t>identifier</a:t>
              </a:r>
              <a:endParaRPr lang="en-IN" dirty="0">
                <a:solidFill>
                  <a:schemeClr val="tx1"/>
                </a:solidFill>
              </a:endParaRPr>
            </a:p>
          </p:txBody>
        </p:sp>
        <p:sp>
          <p:nvSpPr>
            <p:cNvPr id="15" name="Rectangle 14"/>
            <p:cNvSpPr/>
            <p:nvPr/>
          </p:nvSpPr>
          <p:spPr>
            <a:xfrm>
              <a:off x="4995522" y="5031407"/>
              <a:ext cx="1223683"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Object</a:t>
              </a:r>
              <a:endParaRPr lang="en-IN" dirty="0">
                <a:solidFill>
                  <a:schemeClr val="tx1"/>
                </a:solidFill>
              </a:endParaRPr>
            </a:p>
            <a:p>
              <a:pPr algn="ctr"/>
              <a:r>
                <a:rPr lang="en-IN" dirty="0" smtClean="0">
                  <a:solidFill>
                    <a:schemeClr val="tx1"/>
                  </a:solidFill>
                </a:rPr>
                <a:t>identifier</a:t>
              </a:r>
              <a:endParaRPr lang="en-IN" dirty="0">
                <a:solidFill>
                  <a:schemeClr val="tx1"/>
                </a:solidFill>
              </a:endParaRPr>
            </a:p>
          </p:txBody>
        </p:sp>
        <p:sp>
          <p:nvSpPr>
            <p:cNvPr id="16" name="Rectangle 15"/>
            <p:cNvSpPr/>
            <p:nvPr/>
          </p:nvSpPr>
          <p:spPr>
            <a:xfrm>
              <a:off x="6211130" y="5031407"/>
              <a:ext cx="2128068"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Other server-  specific information</a:t>
              </a:r>
            </a:p>
          </p:txBody>
        </p:sp>
        <p:sp>
          <p:nvSpPr>
            <p:cNvPr id="17" name="TextBox 16"/>
            <p:cNvSpPr txBox="1"/>
            <p:nvPr/>
          </p:nvSpPr>
          <p:spPr>
            <a:xfrm>
              <a:off x="6912226" y="1420787"/>
              <a:ext cx="4154703" cy="400110"/>
            </a:xfrm>
            <a:prstGeom prst="rect">
              <a:avLst/>
            </a:prstGeom>
            <a:noFill/>
          </p:spPr>
          <p:txBody>
            <a:bodyPr wrap="square" rtlCol="0">
              <a:spAutoFit/>
            </a:bodyPr>
            <a:lstStyle/>
            <a:p>
              <a:r>
                <a:rPr lang="en-IN" sz="2000" dirty="0" smtClean="0">
                  <a:solidFill>
                    <a:srgbClr val="0E3755"/>
                  </a:solidFill>
                </a:rPr>
                <a:t>Interoperable Object Reference (IOR)</a:t>
              </a:r>
              <a:endParaRPr lang="en-IN" sz="2000" dirty="0">
                <a:solidFill>
                  <a:srgbClr val="0E3755"/>
                </a:solidFill>
              </a:endParaRPr>
            </a:p>
          </p:txBody>
        </p:sp>
        <p:sp>
          <p:nvSpPr>
            <p:cNvPr id="18" name="TextBox 17"/>
            <p:cNvSpPr txBox="1"/>
            <p:nvPr/>
          </p:nvSpPr>
          <p:spPr>
            <a:xfrm>
              <a:off x="3716024" y="1282828"/>
              <a:ext cx="1758963" cy="400110"/>
            </a:xfrm>
            <a:prstGeom prst="rect">
              <a:avLst/>
            </a:prstGeom>
            <a:noFill/>
          </p:spPr>
          <p:txBody>
            <a:bodyPr wrap="square" rtlCol="0">
              <a:spAutoFit/>
            </a:bodyPr>
            <a:lstStyle/>
            <a:p>
              <a:r>
                <a:rPr lang="en-IN" sz="2000" dirty="0" smtClean="0">
                  <a:solidFill>
                    <a:srgbClr val="0E3755"/>
                  </a:solidFill>
                </a:rPr>
                <a:t>Tagged Profile</a:t>
              </a:r>
              <a:endParaRPr lang="en-IN" sz="2000" dirty="0">
                <a:solidFill>
                  <a:srgbClr val="0E3755"/>
                </a:solidFill>
              </a:endParaRPr>
            </a:p>
          </p:txBody>
        </p:sp>
        <p:sp>
          <p:nvSpPr>
            <p:cNvPr id="19" name="Rectangle 18"/>
            <p:cNvSpPr/>
            <p:nvPr/>
          </p:nvSpPr>
          <p:spPr>
            <a:xfrm>
              <a:off x="434263" y="1838934"/>
              <a:ext cx="9234172" cy="88105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cxnSp>
          <p:nvCxnSpPr>
            <p:cNvPr id="21" name="Straight Connector 20"/>
            <p:cNvCxnSpPr>
              <a:stCxn id="18" idx="2"/>
            </p:cNvCxnSpPr>
            <p:nvPr/>
          </p:nvCxnSpPr>
          <p:spPr>
            <a:xfrm flipH="1">
              <a:off x="4328308" y="1682938"/>
              <a:ext cx="267198" cy="25314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8" idx="3"/>
            </p:cNvCxnSpPr>
            <p:nvPr/>
          </p:nvCxnSpPr>
          <p:spPr>
            <a:xfrm>
              <a:off x="5474987" y="1482883"/>
              <a:ext cx="1652030" cy="5886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57517" y="2622176"/>
              <a:ext cx="2366685" cy="88431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253317" y="2598128"/>
              <a:ext cx="2653856" cy="90836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2973228" y="4202762"/>
              <a:ext cx="1926513" cy="78124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6329088" y="4192288"/>
              <a:ext cx="2010110" cy="83650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4758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CORBA: Object references</a:t>
            </a:r>
          </a:p>
        </p:txBody>
      </p:sp>
      <p:sp>
        <p:nvSpPr>
          <p:cNvPr id="4" name="Content Placeholder 3"/>
          <p:cNvSpPr>
            <a:spLocks noGrp="1"/>
          </p:cNvSpPr>
          <p:nvPr>
            <p:ph idx="1"/>
          </p:nvPr>
        </p:nvSpPr>
        <p:spPr/>
        <p:txBody>
          <a:bodyPr/>
          <a:lstStyle/>
          <a:p>
            <a:r>
              <a:rPr lang="en-US" dirty="0"/>
              <a:t>It is not important how object references are implemented per object-based system, as </a:t>
            </a:r>
            <a:r>
              <a:rPr lang="en-US" dirty="0" smtClean="0"/>
              <a:t>long as </a:t>
            </a:r>
            <a:r>
              <a:rPr lang="en-US" dirty="0"/>
              <a:t>there is a standard to exchange them between systems.</a:t>
            </a:r>
            <a:endParaRPr lang="en-IN" dirty="0"/>
          </a:p>
        </p:txBody>
      </p:sp>
      <p:grpSp>
        <p:nvGrpSpPr>
          <p:cNvPr id="18" name="Group 17"/>
          <p:cNvGrpSpPr/>
          <p:nvPr/>
        </p:nvGrpSpPr>
        <p:grpSpPr>
          <a:xfrm>
            <a:off x="490362" y="1628727"/>
            <a:ext cx="11299346" cy="3388418"/>
            <a:chOff x="490362" y="1628727"/>
            <a:chExt cx="11299346" cy="3388418"/>
          </a:xfrm>
        </p:grpSpPr>
        <p:pic>
          <p:nvPicPr>
            <p:cNvPr id="13" name="Picture 12"/>
            <p:cNvPicPr>
              <a:picLocks noChangeAspect="1"/>
            </p:cNvPicPr>
            <p:nvPr/>
          </p:nvPicPr>
          <p:blipFill>
            <a:blip r:embed="rId2"/>
            <a:stretch>
              <a:fillRect/>
            </a:stretch>
          </p:blipFill>
          <p:spPr>
            <a:xfrm>
              <a:off x="778808" y="2454920"/>
              <a:ext cx="11010900" cy="2562225"/>
            </a:xfrm>
            <a:prstGeom prst="rect">
              <a:avLst/>
            </a:prstGeom>
          </p:spPr>
        </p:pic>
        <p:sp>
          <p:nvSpPr>
            <p:cNvPr id="8" name="TextBox 7"/>
            <p:cNvSpPr txBox="1"/>
            <p:nvPr/>
          </p:nvSpPr>
          <p:spPr>
            <a:xfrm>
              <a:off x="2182906" y="4118812"/>
              <a:ext cx="2447365" cy="400110"/>
            </a:xfrm>
            <a:prstGeom prst="rect">
              <a:avLst/>
            </a:prstGeom>
            <a:noFill/>
          </p:spPr>
          <p:txBody>
            <a:bodyPr wrap="square" rtlCol="0">
              <a:spAutoFit/>
            </a:bodyPr>
            <a:lstStyle/>
            <a:p>
              <a:r>
                <a:rPr lang="en-IN" sz="2000" b="1" dirty="0">
                  <a:solidFill>
                    <a:schemeClr val="accent6"/>
                  </a:solidFill>
                </a:rPr>
                <a:t>Object system A</a:t>
              </a:r>
            </a:p>
          </p:txBody>
        </p:sp>
        <p:sp>
          <p:nvSpPr>
            <p:cNvPr id="9" name="TextBox 8"/>
            <p:cNvSpPr txBox="1"/>
            <p:nvPr/>
          </p:nvSpPr>
          <p:spPr>
            <a:xfrm>
              <a:off x="7951694" y="4118812"/>
              <a:ext cx="2447365" cy="400110"/>
            </a:xfrm>
            <a:prstGeom prst="rect">
              <a:avLst/>
            </a:prstGeom>
            <a:noFill/>
          </p:spPr>
          <p:txBody>
            <a:bodyPr wrap="square" rtlCol="0">
              <a:spAutoFit/>
            </a:bodyPr>
            <a:lstStyle/>
            <a:p>
              <a:r>
                <a:rPr lang="en-IN" sz="2000" b="1" dirty="0">
                  <a:solidFill>
                    <a:schemeClr val="accent6"/>
                  </a:solidFill>
                </a:rPr>
                <a:t>Object system </a:t>
              </a:r>
              <a:r>
                <a:rPr lang="en-IN" sz="2000" b="1" dirty="0" smtClean="0">
                  <a:solidFill>
                    <a:schemeClr val="accent6"/>
                  </a:solidFill>
                </a:rPr>
                <a:t>B</a:t>
              </a:r>
              <a:endParaRPr lang="en-IN" sz="2000" b="1" dirty="0">
                <a:solidFill>
                  <a:schemeClr val="accent6"/>
                </a:solidFill>
              </a:endParaRPr>
            </a:p>
          </p:txBody>
        </p:sp>
        <p:sp>
          <p:nvSpPr>
            <p:cNvPr id="10" name="TextBox 9"/>
            <p:cNvSpPr txBox="1"/>
            <p:nvPr/>
          </p:nvSpPr>
          <p:spPr>
            <a:xfrm>
              <a:off x="490362" y="1686301"/>
              <a:ext cx="2447365" cy="461665"/>
            </a:xfrm>
            <a:prstGeom prst="rect">
              <a:avLst/>
            </a:prstGeom>
            <a:noFill/>
          </p:spPr>
          <p:txBody>
            <a:bodyPr wrap="square" rtlCol="0">
              <a:spAutoFit/>
            </a:bodyPr>
            <a:lstStyle/>
            <a:p>
              <a:r>
                <a:rPr lang="en-IN" sz="2400" dirty="0"/>
                <a:t>Object server</a:t>
              </a:r>
            </a:p>
          </p:txBody>
        </p:sp>
        <p:sp>
          <p:nvSpPr>
            <p:cNvPr id="11" name="TextBox 10"/>
            <p:cNvSpPr txBox="1"/>
            <p:nvPr/>
          </p:nvSpPr>
          <p:spPr>
            <a:xfrm>
              <a:off x="5402424" y="2024678"/>
              <a:ext cx="1834403" cy="830997"/>
            </a:xfrm>
            <a:prstGeom prst="rect">
              <a:avLst/>
            </a:prstGeom>
            <a:noFill/>
          </p:spPr>
          <p:txBody>
            <a:bodyPr wrap="square" rtlCol="0">
              <a:spAutoFit/>
            </a:bodyPr>
            <a:lstStyle/>
            <a:p>
              <a:r>
                <a:rPr lang="en-IN" sz="2400" dirty="0" smtClean="0">
                  <a:solidFill>
                    <a:schemeClr val="accent6"/>
                  </a:solidFill>
                </a:rPr>
                <a:t>Interoperable references</a:t>
              </a:r>
              <a:endParaRPr lang="en-IN" sz="2400" dirty="0">
                <a:solidFill>
                  <a:schemeClr val="accent6"/>
                </a:solidFill>
              </a:endParaRPr>
            </a:p>
          </p:txBody>
        </p:sp>
        <p:sp>
          <p:nvSpPr>
            <p:cNvPr id="12" name="TextBox 11"/>
            <p:cNvSpPr txBox="1"/>
            <p:nvPr/>
          </p:nvSpPr>
          <p:spPr>
            <a:xfrm>
              <a:off x="7507940" y="1628727"/>
              <a:ext cx="2447365" cy="461665"/>
            </a:xfrm>
            <a:prstGeom prst="rect">
              <a:avLst/>
            </a:prstGeom>
            <a:noFill/>
          </p:spPr>
          <p:txBody>
            <a:bodyPr wrap="square" rtlCol="0">
              <a:spAutoFit/>
            </a:bodyPr>
            <a:lstStyle/>
            <a:p>
              <a:r>
                <a:rPr lang="en-IN" sz="2400" dirty="0"/>
                <a:t>(Half) gateway</a:t>
              </a:r>
            </a:p>
          </p:txBody>
        </p:sp>
        <p:cxnSp>
          <p:nvCxnSpPr>
            <p:cNvPr id="15" name="Straight Arrow Connector 14"/>
            <p:cNvCxnSpPr>
              <a:stCxn id="10" idx="2"/>
            </p:cNvCxnSpPr>
            <p:nvPr/>
          </p:nvCxnSpPr>
          <p:spPr>
            <a:xfrm>
              <a:off x="1714045" y="2147966"/>
              <a:ext cx="152889" cy="5683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7561343" y="2090392"/>
              <a:ext cx="390351" cy="6393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78901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CORBA: Interoperability</a:t>
            </a:r>
          </a:p>
        </p:txBody>
      </p:sp>
      <p:sp>
        <p:nvSpPr>
          <p:cNvPr id="4" name="Content Placeholder 3"/>
          <p:cNvSpPr>
            <a:spLocks noGrp="1"/>
          </p:cNvSpPr>
          <p:nvPr>
            <p:ph idx="1"/>
          </p:nvPr>
        </p:nvSpPr>
        <p:spPr/>
        <p:txBody>
          <a:bodyPr/>
          <a:lstStyle/>
          <a:p>
            <a:r>
              <a:rPr lang="en-US" dirty="0" smtClean="0"/>
              <a:t>Interoperability </a:t>
            </a:r>
            <a:r>
              <a:rPr lang="en-US" dirty="0"/>
              <a:t>is achieved by the introduction of a standard inter-ORB </a:t>
            </a:r>
            <a:r>
              <a:rPr lang="en-US" dirty="0" smtClean="0"/>
              <a:t>protocol </a:t>
            </a:r>
            <a:r>
              <a:rPr lang="en-US" dirty="0" smtClean="0">
                <a:solidFill>
                  <a:schemeClr val="accent6"/>
                </a:solidFill>
              </a:rPr>
              <a:t>(</a:t>
            </a:r>
            <a:r>
              <a:rPr lang="en-US" dirty="0">
                <a:solidFill>
                  <a:schemeClr val="accent6"/>
                </a:solidFill>
              </a:rPr>
              <a:t>General Inter-ORB Protocol GIOP)</a:t>
            </a:r>
            <a:r>
              <a:rPr lang="en-US" dirty="0"/>
              <a:t> which:</a:t>
            </a:r>
          </a:p>
          <a:p>
            <a:pPr lvl="2"/>
            <a:r>
              <a:rPr lang="en-US" sz="2400" dirty="0"/>
              <a:t>Defines an external data representation, called the </a:t>
            </a:r>
            <a:r>
              <a:rPr lang="en-US" sz="2400" dirty="0">
                <a:solidFill>
                  <a:schemeClr val="accent6"/>
                </a:solidFill>
              </a:rPr>
              <a:t>Common Data Representation (CDR)</a:t>
            </a:r>
          </a:p>
          <a:p>
            <a:pPr lvl="2"/>
            <a:r>
              <a:rPr lang="en-US" sz="2400" dirty="0"/>
              <a:t>Specifies formats for the messages in a request-reply protocol including messages for enquiring about the location of an object, for canceling requests and for reporting errors.</a:t>
            </a:r>
          </a:p>
          <a:p>
            <a:r>
              <a:rPr lang="en-US" dirty="0" smtClean="0"/>
              <a:t>The</a:t>
            </a:r>
            <a:r>
              <a:rPr lang="en-US" dirty="0" smtClean="0">
                <a:solidFill>
                  <a:schemeClr val="accent6"/>
                </a:solidFill>
              </a:rPr>
              <a:t> </a:t>
            </a:r>
            <a:r>
              <a:rPr lang="en-US" dirty="0">
                <a:solidFill>
                  <a:schemeClr val="accent6"/>
                </a:solidFill>
              </a:rPr>
              <a:t>Internet Inter-ORB protocol (IIOP) </a:t>
            </a:r>
            <a:r>
              <a:rPr lang="en-US" dirty="0"/>
              <a:t>defines a standard form for remote </a:t>
            </a:r>
            <a:r>
              <a:rPr lang="en-US" dirty="0" smtClean="0"/>
              <a:t>object references</a:t>
            </a:r>
            <a:r>
              <a:rPr lang="en-US" dirty="0"/>
              <a:t>.</a:t>
            </a:r>
          </a:p>
          <a:p>
            <a:pPr lvl="2"/>
            <a:r>
              <a:rPr lang="en-US" sz="2400" dirty="0"/>
              <a:t>IIOP is GIOP implemented in TCP/IP</a:t>
            </a:r>
            <a:endParaRPr lang="en-IN" sz="2400" dirty="0"/>
          </a:p>
        </p:txBody>
      </p:sp>
    </p:spTree>
    <p:extLst>
      <p:ext uri="{BB962C8B-B14F-4D97-AF65-F5344CB8AC3E}">
        <p14:creationId xmlns:p14="http://schemas.microsoft.com/office/powerpoint/2010/main" val="341432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CORBA: Clients and Servers</a:t>
            </a:r>
          </a:p>
        </p:txBody>
      </p:sp>
      <p:sp>
        <p:nvSpPr>
          <p:cNvPr id="4" name="Content Placeholder 3"/>
          <p:cNvSpPr>
            <a:spLocks noGrp="1"/>
          </p:cNvSpPr>
          <p:nvPr>
            <p:ph idx="1"/>
          </p:nvPr>
        </p:nvSpPr>
        <p:spPr/>
        <p:txBody>
          <a:bodyPr/>
          <a:lstStyle/>
          <a:p>
            <a:r>
              <a:rPr lang="en-US" dirty="0"/>
              <a:t>Clients:</a:t>
            </a:r>
          </a:p>
          <a:p>
            <a:pPr lvl="2"/>
            <a:r>
              <a:rPr lang="en-US" sz="2400" dirty="0"/>
              <a:t>The IDL specification is compiled into a </a:t>
            </a:r>
            <a:r>
              <a:rPr lang="en-US" sz="2400" dirty="0">
                <a:solidFill>
                  <a:schemeClr val="accent6"/>
                </a:solidFill>
              </a:rPr>
              <a:t>proxy</a:t>
            </a:r>
          </a:p>
          <a:p>
            <a:pPr lvl="2"/>
            <a:r>
              <a:rPr lang="en-US" sz="2400" dirty="0"/>
              <a:t>Proxy connects a client application to the underlying ORB</a:t>
            </a:r>
          </a:p>
          <a:p>
            <a:r>
              <a:rPr lang="en-US" dirty="0" smtClean="0"/>
              <a:t>Servers</a:t>
            </a:r>
            <a:r>
              <a:rPr lang="en-US" dirty="0"/>
              <a:t>:</a:t>
            </a:r>
          </a:p>
          <a:p>
            <a:pPr lvl="2"/>
            <a:r>
              <a:rPr lang="en-US" sz="2400" dirty="0"/>
              <a:t>The </a:t>
            </a:r>
            <a:r>
              <a:rPr lang="en-US" sz="2400" dirty="0">
                <a:solidFill>
                  <a:schemeClr val="accent6"/>
                </a:solidFill>
              </a:rPr>
              <a:t>Portable Object Adapter (POA) </a:t>
            </a:r>
            <a:r>
              <a:rPr lang="en-US" sz="2400" dirty="0"/>
              <a:t>makes code appear as CORBA objects to clients</a:t>
            </a:r>
          </a:p>
          <a:p>
            <a:pPr lvl="2"/>
            <a:r>
              <a:rPr lang="en-US" sz="2400" dirty="0"/>
              <a:t>Creates remote object references for CORBA objects</a:t>
            </a:r>
          </a:p>
          <a:p>
            <a:pPr lvl="2"/>
            <a:r>
              <a:rPr lang="en-US" sz="2400" dirty="0"/>
              <a:t>Activates objects</a:t>
            </a:r>
          </a:p>
          <a:p>
            <a:pPr lvl="2"/>
            <a:r>
              <a:rPr lang="en-US" sz="2400" dirty="0"/>
              <a:t>Implements a specific </a:t>
            </a:r>
            <a:r>
              <a:rPr lang="en-US" sz="2400" dirty="0">
                <a:solidFill>
                  <a:schemeClr val="accent6"/>
                </a:solidFill>
              </a:rPr>
              <a:t>activation policy </a:t>
            </a:r>
            <a:r>
              <a:rPr lang="en-US" sz="2400" dirty="0"/>
              <a:t>(e.g., thread-per-request, </a:t>
            </a:r>
            <a:r>
              <a:rPr lang="en-US" sz="2400" dirty="0" err="1"/>
              <a:t>threadper</a:t>
            </a:r>
            <a:r>
              <a:rPr lang="en-US" sz="2400" dirty="0"/>
              <a:t>- connection, thread-per-object policy,...)</a:t>
            </a:r>
          </a:p>
          <a:p>
            <a:pPr lvl="2"/>
            <a:r>
              <a:rPr lang="en-US" sz="2400" dirty="0"/>
              <a:t>Methods are implemented by means of </a:t>
            </a:r>
            <a:r>
              <a:rPr lang="en-US" sz="2400" dirty="0">
                <a:solidFill>
                  <a:schemeClr val="accent6"/>
                </a:solidFill>
              </a:rPr>
              <a:t>servants</a:t>
            </a:r>
            <a:r>
              <a:rPr lang="en-US" sz="2400" dirty="0"/>
              <a:t>.</a:t>
            </a:r>
            <a:endParaRPr lang="en-IN" sz="2400" dirty="0"/>
          </a:p>
        </p:txBody>
      </p:sp>
    </p:spTree>
    <p:extLst>
      <p:ext uri="{BB962C8B-B14F-4D97-AF65-F5344CB8AC3E}">
        <p14:creationId xmlns:p14="http://schemas.microsoft.com/office/powerpoint/2010/main" val="1547968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CORBA: Clients and Servers</a:t>
            </a:r>
          </a:p>
        </p:txBody>
      </p:sp>
      <p:sp>
        <p:nvSpPr>
          <p:cNvPr id="4" name="Content Placeholder 3"/>
          <p:cNvSpPr>
            <a:spLocks noGrp="1"/>
          </p:cNvSpPr>
          <p:nvPr>
            <p:ph idx="1"/>
          </p:nvPr>
        </p:nvSpPr>
        <p:spPr/>
        <p:txBody>
          <a:bodyPr/>
          <a:lstStyle/>
          <a:p>
            <a:r>
              <a:rPr lang="en-US" dirty="0"/>
              <a:t>Mapping of CORBA object identifiers to servants.</a:t>
            </a:r>
          </a:p>
        </p:txBody>
      </p:sp>
      <p:grpSp>
        <p:nvGrpSpPr>
          <p:cNvPr id="101" name="Group 100"/>
          <p:cNvGrpSpPr/>
          <p:nvPr/>
        </p:nvGrpSpPr>
        <p:grpSpPr>
          <a:xfrm>
            <a:off x="182739" y="1395420"/>
            <a:ext cx="5123580" cy="4507258"/>
            <a:chOff x="182739" y="1395420"/>
            <a:chExt cx="5123580" cy="4507258"/>
          </a:xfrm>
        </p:grpSpPr>
        <p:sp>
          <p:nvSpPr>
            <p:cNvPr id="5" name="Rounded Rectangle 4"/>
            <p:cNvSpPr/>
            <p:nvPr/>
          </p:nvSpPr>
          <p:spPr>
            <a:xfrm>
              <a:off x="3641713" y="2122172"/>
              <a:ext cx="1363101" cy="55133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accent6"/>
                  </a:solidFill>
                </a:rPr>
                <a:t>Servant</a:t>
              </a:r>
              <a:endParaRPr lang="en-IN" sz="2400" dirty="0">
                <a:solidFill>
                  <a:schemeClr val="accent6"/>
                </a:solidFill>
              </a:endParaRPr>
            </a:p>
          </p:txBody>
        </p:sp>
        <p:cxnSp>
          <p:nvCxnSpPr>
            <p:cNvPr id="8" name="Straight Arrow Connector 7"/>
            <p:cNvCxnSpPr>
              <a:stCxn id="6" idx="3"/>
              <a:endCxn id="16" idx="1"/>
            </p:cNvCxnSpPr>
            <p:nvPr/>
          </p:nvCxnSpPr>
          <p:spPr>
            <a:xfrm flipV="1">
              <a:off x="1631476" y="1671085"/>
              <a:ext cx="948641" cy="825387"/>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a:off x="684932" y="2245186"/>
              <a:ext cx="947115" cy="3022375"/>
              <a:chOff x="1073326" y="2498080"/>
              <a:chExt cx="947115" cy="3022375"/>
            </a:xfrm>
          </p:grpSpPr>
          <p:sp>
            <p:nvSpPr>
              <p:cNvPr id="6" name="Rectangle 5"/>
              <p:cNvSpPr/>
              <p:nvPr/>
            </p:nvSpPr>
            <p:spPr>
              <a:xfrm>
                <a:off x="1073326" y="2498080"/>
                <a:ext cx="946544" cy="50257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OID1</a:t>
                </a:r>
                <a:endParaRPr lang="en-IN" sz="2000" dirty="0">
                  <a:solidFill>
                    <a:srgbClr val="0E3755"/>
                  </a:solidFill>
                </a:endParaRPr>
              </a:p>
            </p:txBody>
          </p:sp>
          <p:sp>
            <p:nvSpPr>
              <p:cNvPr id="10" name="Rectangle 9"/>
              <p:cNvSpPr/>
              <p:nvPr/>
            </p:nvSpPr>
            <p:spPr>
              <a:xfrm>
                <a:off x="1073326" y="3000912"/>
                <a:ext cx="946544" cy="50257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OID2</a:t>
                </a:r>
                <a:endParaRPr lang="en-IN" sz="2000" dirty="0">
                  <a:solidFill>
                    <a:srgbClr val="0E3755"/>
                  </a:solidFill>
                </a:endParaRPr>
              </a:p>
            </p:txBody>
          </p:sp>
          <p:sp>
            <p:nvSpPr>
              <p:cNvPr id="11" name="Rectangle 10"/>
              <p:cNvSpPr/>
              <p:nvPr/>
            </p:nvSpPr>
            <p:spPr>
              <a:xfrm>
                <a:off x="1073326" y="3505941"/>
                <a:ext cx="946544" cy="50257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OID3</a:t>
                </a:r>
                <a:endParaRPr lang="en-IN" sz="2000" dirty="0">
                  <a:solidFill>
                    <a:srgbClr val="0E3755"/>
                  </a:solidFill>
                </a:endParaRPr>
              </a:p>
            </p:txBody>
          </p:sp>
          <p:sp>
            <p:nvSpPr>
              <p:cNvPr id="12" name="Rectangle 11"/>
              <p:cNvSpPr/>
              <p:nvPr/>
            </p:nvSpPr>
            <p:spPr>
              <a:xfrm>
                <a:off x="1073897" y="4010023"/>
                <a:ext cx="946544" cy="50257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OID4</a:t>
                </a:r>
                <a:endParaRPr lang="en-IN" sz="2000" dirty="0">
                  <a:solidFill>
                    <a:srgbClr val="0E3755"/>
                  </a:solidFill>
                </a:endParaRPr>
              </a:p>
            </p:txBody>
          </p:sp>
          <p:sp>
            <p:nvSpPr>
              <p:cNvPr id="13" name="Rectangle 12"/>
              <p:cNvSpPr/>
              <p:nvPr/>
            </p:nvSpPr>
            <p:spPr>
              <a:xfrm>
                <a:off x="1073897" y="4512855"/>
                <a:ext cx="946544" cy="50257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OID5</a:t>
                </a:r>
                <a:endParaRPr lang="en-IN" sz="2000" dirty="0">
                  <a:solidFill>
                    <a:srgbClr val="0E3755"/>
                  </a:solidFill>
                </a:endParaRPr>
              </a:p>
            </p:txBody>
          </p:sp>
          <p:sp>
            <p:nvSpPr>
              <p:cNvPr id="14" name="Rectangle 13"/>
              <p:cNvSpPr/>
              <p:nvPr/>
            </p:nvSpPr>
            <p:spPr>
              <a:xfrm>
                <a:off x="1073897" y="5017884"/>
                <a:ext cx="946544" cy="50257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OID6</a:t>
                </a:r>
                <a:endParaRPr lang="en-IN" sz="2000" dirty="0">
                  <a:solidFill>
                    <a:srgbClr val="0E3755"/>
                  </a:solidFill>
                </a:endParaRPr>
              </a:p>
            </p:txBody>
          </p:sp>
        </p:grpSp>
        <p:sp>
          <p:nvSpPr>
            <p:cNvPr id="15" name="Rounded Rectangle 14"/>
            <p:cNvSpPr/>
            <p:nvPr/>
          </p:nvSpPr>
          <p:spPr>
            <a:xfrm>
              <a:off x="2451363" y="3047466"/>
              <a:ext cx="1363101" cy="55133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accent6"/>
                  </a:solidFill>
                </a:rPr>
                <a:t>Servant</a:t>
              </a:r>
              <a:endParaRPr lang="en-IN" sz="2400" dirty="0">
                <a:solidFill>
                  <a:schemeClr val="accent6"/>
                </a:solidFill>
              </a:endParaRPr>
            </a:p>
          </p:txBody>
        </p:sp>
        <p:sp>
          <p:nvSpPr>
            <p:cNvPr id="16" name="Rounded Rectangle 15"/>
            <p:cNvSpPr/>
            <p:nvPr/>
          </p:nvSpPr>
          <p:spPr>
            <a:xfrm>
              <a:off x="2580117" y="1395420"/>
              <a:ext cx="1363101" cy="55133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accent6"/>
                  </a:solidFill>
                </a:rPr>
                <a:t>Servant</a:t>
              </a:r>
              <a:endParaRPr lang="en-IN" sz="2400" dirty="0">
                <a:solidFill>
                  <a:schemeClr val="accent6"/>
                </a:solidFill>
              </a:endParaRPr>
            </a:p>
          </p:txBody>
        </p:sp>
        <p:sp>
          <p:nvSpPr>
            <p:cNvPr id="17" name="Rounded Rectangle 16"/>
            <p:cNvSpPr/>
            <p:nvPr/>
          </p:nvSpPr>
          <p:spPr>
            <a:xfrm>
              <a:off x="3943218" y="3744814"/>
              <a:ext cx="1363101" cy="55133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accent6"/>
                  </a:solidFill>
                </a:rPr>
                <a:t>Servant</a:t>
              </a:r>
              <a:endParaRPr lang="en-IN" sz="2400" dirty="0">
                <a:solidFill>
                  <a:schemeClr val="accent6"/>
                </a:solidFill>
              </a:endParaRPr>
            </a:p>
          </p:txBody>
        </p:sp>
        <p:sp>
          <p:nvSpPr>
            <p:cNvPr id="19" name="Rounded Rectangle 18"/>
            <p:cNvSpPr/>
            <p:nvPr/>
          </p:nvSpPr>
          <p:spPr>
            <a:xfrm>
              <a:off x="2960162" y="4475072"/>
              <a:ext cx="1363101" cy="55133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accent6"/>
                  </a:solidFill>
                </a:rPr>
                <a:t>Servant</a:t>
              </a:r>
              <a:endParaRPr lang="en-IN" sz="2400" dirty="0">
                <a:solidFill>
                  <a:schemeClr val="accent6"/>
                </a:solidFill>
              </a:endParaRPr>
            </a:p>
          </p:txBody>
        </p:sp>
        <p:sp>
          <p:nvSpPr>
            <p:cNvPr id="20" name="Rounded Rectangle 19"/>
            <p:cNvSpPr/>
            <p:nvPr/>
          </p:nvSpPr>
          <p:spPr>
            <a:xfrm>
              <a:off x="2278611" y="5351348"/>
              <a:ext cx="1363101" cy="55133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accent6"/>
                  </a:solidFill>
                </a:rPr>
                <a:t>Servant</a:t>
              </a:r>
              <a:endParaRPr lang="en-IN" sz="2400" dirty="0">
                <a:solidFill>
                  <a:schemeClr val="accent6"/>
                </a:solidFill>
              </a:endParaRPr>
            </a:p>
          </p:txBody>
        </p:sp>
        <p:sp>
          <p:nvSpPr>
            <p:cNvPr id="22" name="TextBox 21"/>
            <p:cNvSpPr txBox="1"/>
            <p:nvPr/>
          </p:nvSpPr>
          <p:spPr>
            <a:xfrm>
              <a:off x="182739" y="1486419"/>
              <a:ext cx="2235328" cy="400110"/>
            </a:xfrm>
            <a:prstGeom prst="rect">
              <a:avLst/>
            </a:prstGeom>
            <a:noFill/>
          </p:spPr>
          <p:txBody>
            <a:bodyPr wrap="square" rtlCol="0">
              <a:spAutoFit/>
            </a:bodyPr>
            <a:lstStyle/>
            <a:p>
              <a:r>
                <a:rPr lang="en-IN" sz="2000" dirty="0" smtClean="0"/>
                <a:t>Active Object Map</a:t>
              </a:r>
              <a:endParaRPr lang="en-IN" sz="2000" dirty="0"/>
            </a:p>
          </p:txBody>
        </p:sp>
        <p:cxnSp>
          <p:nvCxnSpPr>
            <p:cNvPr id="25" name="Straight Arrow Connector 24"/>
            <p:cNvCxnSpPr>
              <a:stCxn id="13" idx="3"/>
              <a:endCxn id="19" idx="1"/>
            </p:cNvCxnSpPr>
            <p:nvPr/>
          </p:nvCxnSpPr>
          <p:spPr>
            <a:xfrm>
              <a:off x="1632047" y="4511247"/>
              <a:ext cx="1328115" cy="23949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4" idx="3"/>
              <a:endCxn id="20" idx="1"/>
            </p:cNvCxnSpPr>
            <p:nvPr/>
          </p:nvCxnSpPr>
          <p:spPr>
            <a:xfrm>
              <a:off x="1632047" y="5016276"/>
              <a:ext cx="646564" cy="610737"/>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3"/>
              <a:endCxn id="17" idx="1"/>
            </p:cNvCxnSpPr>
            <p:nvPr/>
          </p:nvCxnSpPr>
          <p:spPr>
            <a:xfrm>
              <a:off x="1632047" y="4008415"/>
              <a:ext cx="2311171" cy="12064"/>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1" idx="3"/>
              <a:endCxn id="15" idx="1"/>
            </p:cNvCxnSpPr>
            <p:nvPr/>
          </p:nvCxnSpPr>
          <p:spPr>
            <a:xfrm flipV="1">
              <a:off x="1631476" y="3323131"/>
              <a:ext cx="819887" cy="181202"/>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0" idx="3"/>
              <a:endCxn id="5" idx="1"/>
            </p:cNvCxnSpPr>
            <p:nvPr/>
          </p:nvCxnSpPr>
          <p:spPr>
            <a:xfrm flipV="1">
              <a:off x="1631476" y="2397837"/>
              <a:ext cx="2010237" cy="601467"/>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2" idx="2"/>
              <a:endCxn id="6" idx="0"/>
            </p:cNvCxnSpPr>
            <p:nvPr/>
          </p:nvCxnSpPr>
          <p:spPr>
            <a:xfrm flipH="1">
              <a:off x="1158204" y="1886529"/>
              <a:ext cx="142199" cy="358657"/>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p:cNvSpPr txBox="1"/>
          <p:nvPr/>
        </p:nvSpPr>
        <p:spPr>
          <a:xfrm>
            <a:off x="492730" y="6061817"/>
            <a:ext cx="4589803" cy="461665"/>
          </a:xfrm>
          <a:prstGeom prst="rect">
            <a:avLst/>
          </a:prstGeom>
          <a:solidFill>
            <a:srgbClr val="1D3064"/>
          </a:solidFill>
        </p:spPr>
        <p:txBody>
          <a:bodyPr wrap="square" rtlCol="0">
            <a:spAutoFit/>
          </a:bodyPr>
          <a:lstStyle/>
          <a:p>
            <a:r>
              <a:rPr lang="en-US" sz="2400" dirty="0">
                <a:solidFill>
                  <a:schemeClr val="bg1"/>
                </a:solidFill>
              </a:rPr>
              <a:t>The POA supports multiple </a:t>
            </a:r>
            <a:r>
              <a:rPr lang="en-US" sz="2400" dirty="0" smtClean="0">
                <a:solidFill>
                  <a:schemeClr val="bg1"/>
                </a:solidFill>
              </a:rPr>
              <a:t>servants</a:t>
            </a:r>
            <a:endParaRPr lang="en-US" sz="2400" dirty="0">
              <a:solidFill>
                <a:schemeClr val="bg1"/>
              </a:solidFill>
            </a:endParaRPr>
          </a:p>
        </p:txBody>
      </p:sp>
      <p:sp>
        <p:nvSpPr>
          <p:cNvPr id="44" name="TextBox 43"/>
          <p:cNvSpPr txBox="1"/>
          <p:nvPr/>
        </p:nvSpPr>
        <p:spPr>
          <a:xfrm>
            <a:off x="7133565" y="5314297"/>
            <a:ext cx="4589803" cy="461665"/>
          </a:xfrm>
          <a:prstGeom prst="rect">
            <a:avLst/>
          </a:prstGeom>
          <a:solidFill>
            <a:srgbClr val="1D3064"/>
          </a:solidFill>
        </p:spPr>
        <p:txBody>
          <a:bodyPr wrap="square" rtlCol="0">
            <a:spAutoFit/>
          </a:bodyPr>
          <a:lstStyle/>
          <a:p>
            <a:r>
              <a:rPr lang="en-US" sz="2400" dirty="0">
                <a:solidFill>
                  <a:schemeClr val="bg1"/>
                </a:solidFill>
              </a:rPr>
              <a:t>The POA supports a single servant</a:t>
            </a:r>
          </a:p>
        </p:txBody>
      </p:sp>
      <p:grpSp>
        <p:nvGrpSpPr>
          <p:cNvPr id="100" name="Group 99"/>
          <p:cNvGrpSpPr/>
          <p:nvPr/>
        </p:nvGrpSpPr>
        <p:grpSpPr>
          <a:xfrm>
            <a:off x="6883029" y="1382954"/>
            <a:ext cx="4394311" cy="3789473"/>
            <a:chOff x="6883029" y="1382954"/>
            <a:chExt cx="4394311" cy="3789473"/>
          </a:xfrm>
        </p:grpSpPr>
        <p:grpSp>
          <p:nvGrpSpPr>
            <p:cNvPr id="46" name="Group 45"/>
            <p:cNvGrpSpPr/>
            <p:nvPr/>
          </p:nvGrpSpPr>
          <p:grpSpPr>
            <a:xfrm>
              <a:off x="7381382" y="2150052"/>
              <a:ext cx="947115" cy="3022375"/>
              <a:chOff x="1073326" y="2498080"/>
              <a:chExt cx="947115" cy="3022375"/>
            </a:xfrm>
          </p:grpSpPr>
          <p:sp>
            <p:nvSpPr>
              <p:cNvPr id="47" name="Rectangle 46"/>
              <p:cNvSpPr/>
              <p:nvPr/>
            </p:nvSpPr>
            <p:spPr>
              <a:xfrm>
                <a:off x="1073326" y="2498080"/>
                <a:ext cx="946544" cy="50257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OID1</a:t>
                </a:r>
                <a:endParaRPr lang="en-IN" sz="2000" dirty="0">
                  <a:solidFill>
                    <a:srgbClr val="0E3755"/>
                  </a:solidFill>
                </a:endParaRPr>
              </a:p>
            </p:txBody>
          </p:sp>
          <p:sp>
            <p:nvSpPr>
              <p:cNvPr id="48" name="Rectangle 47"/>
              <p:cNvSpPr/>
              <p:nvPr/>
            </p:nvSpPr>
            <p:spPr>
              <a:xfrm>
                <a:off x="1073326" y="3000912"/>
                <a:ext cx="946544" cy="50257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OID2</a:t>
                </a:r>
                <a:endParaRPr lang="en-IN" sz="2000" dirty="0">
                  <a:solidFill>
                    <a:srgbClr val="0E3755"/>
                  </a:solidFill>
                </a:endParaRPr>
              </a:p>
            </p:txBody>
          </p:sp>
          <p:sp>
            <p:nvSpPr>
              <p:cNvPr id="49" name="Rectangle 48"/>
              <p:cNvSpPr/>
              <p:nvPr/>
            </p:nvSpPr>
            <p:spPr>
              <a:xfrm>
                <a:off x="1073326" y="3505941"/>
                <a:ext cx="946544" cy="50257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OID3</a:t>
                </a:r>
                <a:endParaRPr lang="en-IN" sz="2000" dirty="0">
                  <a:solidFill>
                    <a:srgbClr val="0E3755"/>
                  </a:solidFill>
                </a:endParaRPr>
              </a:p>
            </p:txBody>
          </p:sp>
          <p:sp>
            <p:nvSpPr>
              <p:cNvPr id="50" name="Rectangle 49"/>
              <p:cNvSpPr/>
              <p:nvPr/>
            </p:nvSpPr>
            <p:spPr>
              <a:xfrm>
                <a:off x="1073897" y="4010023"/>
                <a:ext cx="946544" cy="50257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OID4</a:t>
                </a:r>
                <a:endParaRPr lang="en-IN" sz="2000" dirty="0">
                  <a:solidFill>
                    <a:srgbClr val="0E3755"/>
                  </a:solidFill>
                </a:endParaRPr>
              </a:p>
            </p:txBody>
          </p:sp>
          <p:sp>
            <p:nvSpPr>
              <p:cNvPr id="51" name="Rectangle 50"/>
              <p:cNvSpPr/>
              <p:nvPr/>
            </p:nvSpPr>
            <p:spPr>
              <a:xfrm>
                <a:off x="1073897" y="4512855"/>
                <a:ext cx="946544" cy="50257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OID5</a:t>
                </a:r>
                <a:endParaRPr lang="en-IN" sz="2000" dirty="0">
                  <a:solidFill>
                    <a:srgbClr val="0E3755"/>
                  </a:solidFill>
                </a:endParaRPr>
              </a:p>
            </p:txBody>
          </p:sp>
          <p:sp>
            <p:nvSpPr>
              <p:cNvPr id="52" name="Rectangle 51"/>
              <p:cNvSpPr/>
              <p:nvPr/>
            </p:nvSpPr>
            <p:spPr>
              <a:xfrm>
                <a:off x="1073897" y="5017884"/>
                <a:ext cx="946544" cy="50257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rgbClr val="0E3755"/>
                    </a:solidFill>
                  </a:rPr>
                  <a:t>OID6</a:t>
                </a:r>
                <a:endParaRPr lang="en-IN" sz="2000" dirty="0">
                  <a:solidFill>
                    <a:srgbClr val="0E3755"/>
                  </a:solidFill>
                </a:endParaRPr>
              </a:p>
            </p:txBody>
          </p:sp>
        </p:grpSp>
        <p:sp>
          <p:nvSpPr>
            <p:cNvPr id="53" name="Rounded Rectangle 52"/>
            <p:cNvSpPr/>
            <p:nvPr/>
          </p:nvSpPr>
          <p:spPr>
            <a:xfrm>
              <a:off x="9815526" y="3191821"/>
              <a:ext cx="1461814" cy="741821"/>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smtClean="0">
                  <a:solidFill>
                    <a:schemeClr val="accent6"/>
                  </a:solidFill>
                </a:rPr>
                <a:t>Servant</a:t>
              </a:r>
              <a:endParaRPr lang="en-IN" sz="2800" dirty="0">
                <a:solidFill>
                  <a:schemeClr val="accent6"/>
                </a:solidFill>
              </a:endParaRPr>
            </a:p>
          </p:txBody>
        </p:sp>
        <p:sp>
          <p:nvSpPr>
            <p:cNvPr id="57" name="TextBox 56"/>
            <p:cNvSpPr txBox="1"/>
            <p:nvPr/>
          </p:nvSpPr>
          <p:spPr>
            <a:xfrm>
              <a:off x="6883029" y="1382954"/>
              <a:ext cx="2235328" cy="400110"/>
            </a:xfrm>
            <a:prstGeom prst="rect">
              <a:avLst/>
            </a:prstGeom>
            <a:noFill/>
          </p:spPr>
          <p:txBody>
            <a:bodyPr wrap="square" rtlCol="0">
              <a:spAutoFit/>
            </a:bodyPr>
            <a:lstStyle/>
            <a:p>
              <a:r>
                <a:rPr lang="en-IN" sz="2000" dirty="0" smtClean="0"/>
                <a:t>Active Object Map</a:t>
              </a:r>
              <a:endParaRPr lang="en-IN" sz="2000" dirty="0"/>
            </a:p>
          </p:txBody>
        </p:sp>
        <p:cxnSp>
          <p:nvCxnSpPr>
            <p:cNvPr id="58" name="Straight Arrow Connector 57"/>
            <p:cNvCxnSpPr>
              <a:stCxn id="57" idx="2"/>
            </p:cNvCxnSpPr>
            <p:nvPr/>
          </p:nvCxnSpPr>
          <p:spPr>
            <a:xfrm flipH="1">
              <a:off x="7858494" y="1783064"/>
              <a:ext cx="142199" cy="358657"/>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p:cNvCxnSpPr>
              <a:stCxn id="52" idx="3"/>
              <a:endCxn id="53" idx="2"/>
            </p:cNvCxnSpPr>
            <p:nvPr/>
          </p:nvCxnSpPr>
          <p:spPr>
            <a:xfrm flipV="1">
              <a:off x="8328497" y="3933642"/>
              <a:ext cx="2217936" cy="987500"/>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Elbow Connector 87"/>
            <p:cNvCxnSpPr>
              <a:stCxn id="51" idx="3"/>
            </p:cNvCxnSpPr>
            <p:nvPr/>
          </p:nvCxnSpPr>
          <p:spPr>
            <a:xfrm flipV="1">
              <a:off x="8328497" y="3945938"/>
              <a:ext cx="1710493" cy="470175"/>
            </a:xfrm>
            <a:prstGeom prst="bentConnector3">
              <a:avLst>
                <a:gd name="adj1" fmla="val 99528"/>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Elbow Connector 92"/>
            <p:cNvCxnSpPr>
              <a:stCxn id="47" idx="3"/>
              <a:endCxn id="53" idx="0"/>
            </p:cNvCxnSpPr>
            <p:nvPr/>
          </p:nvCxnSpPr>
          <p:spPr>
            <a:xfrm>
              <a:off x="8327926" y="2401338"/>
              <a:ext cx="2218507" cy="790483"/>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Elbow Connector 94"/>
            <p:cNvCxnSpPr>
              <a:stCxn id="48" idx="3"/>
            </p:cNvCxnSpPr>
            <p:nvPr/>
          </p:nvCxnSpPr>
          <p:spPr>
            <a:xfrm>
              <a:off x="8327926" y="2904170"/>
              <a:ext cx="1711064" cy="252232"/>
            </a:xfrm>
            <a:prstGeom prst="bentConnector3">
              <a:avLst>
                <a:gd name="adj1" fmla="val 100297"/>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stCxn id="49" idx="3"/>
            </p:cNvCxnSpPr>
            <p:nvPr/>
          </p:nvCxnSpPr>
          <p:spPr>
            <a:xfrm>
              <a:off x="8327926" y="3409199"/>
              <a:ext cx="1487600" cy="2101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a:off x="8300887" y="3807222"/>
              <a:ext cx="1487600" cy="2101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3" name="Straight Connector 102"/>
          <p:cNvCxnSpPr/>
          <p:nvPr/>
        </p:nvCxnSpPr>
        <p:spPr>
          <a:xfrm>
            <a:off x="6172200" y="1486419"/>
            <a:ext cx="0" cy="45753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222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wipe(up)">
                                      <p:cBhvr>
                                        <p:cTn id="19" dur="500"/>
                                        <p:tgtEl>
                                          <p:spTgt spid="103"/>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0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smtClean="0"/>
              <a:t>Synchronization and Locking</a:t>
            </a:r>
            <a:endParaRPr lang="en-US" dirty="0"/>
          </a:p>
        </p:txBody>
      </p:sp>
      <p:sp>
        <p:nvSpPr>
          <p:cNvPr id="7" name="Content Placeholder 6"/>
          <p:cNvSpPr>
            <a:spLocks noGrp="1"/>
          </p:cNvSpPr>
          <p:nvPr>
            <p:ph idx="1"/>
          </p:nvPr>
        </p:nvSpPr>
        <p:spPr/>
        <p:txBody>
          <a:bodyPr/>
          <a:lstStyle/>
          <a:p>
            <a:r>
              <a:rPr lang="en-US" dirty="0"/>
              <a:t>Problem: Implementation details are hidden behind interfaces</a:t>
            </a:r>
          </a:p>
          <a:p>
            <a:pPr lvl="2"/>
            <a:r>
              <a:rPr lang="en-US" sz="2400" dirty="0"/>
              <a:t>When a process invokes a remote object, it has no knowledge </a:t>
            </a:r>
            <a:r>
              <a:rPr lang="en-US" sz="2400" dirty="0" smtClean="0"/>
              <a:t>whether </a:t>
            </a:r>
            <a:r>
              <a:rPr lang="en-US" sz="2400" dirty="0"/>
              <a:t>that invocation will lead to invoking other objects.</a:t>
            </a:r>
          </a:p>
          <a:p>
            <a:pPr marL="1708150" lvl="2" indent="-457200">
              <a:buFont typeface="Wingdings" panose="05000000000000000000" pitchFamily="2" charset="2"/>
              <a:buChar char="ü"/>
            </a:pPr>
            <a:r>
              <a:rPr lang="en-US" sz="2400" dirty="0"/>
              <a:t>If an object is protected against concurrent access, we may have cascading set of locks the invoking process is unaware </a:t>
            </a:r>
            <a:r>
              <a:rPr lang="en-US" sz="2400" dirty="0" smtClean="0"/>
              <a:t>of</a:t>
            </a:r>
          </a:p>
          <a:p>
            <a:pPr lvl="2"/>
            <a:r>
              <a:rPr lang="en-US" sz="2400" dirty="0" smtClean="0"/>
              <a:t>When dealing with data resources such as files or database tables that are protected by locks, the pattern for the control flow is visible to the process.</a:t>
            </a:r>
          </a:p>
          <a:p>
            <a:endParaRPr lang="en-IN" dirty="0"/>
          </a:p>
        </p:txBody>
      </p:sp>
      <p:pic>
        <p:nvPicPr>
          <p:cNvPr id="9" name="Picture 8"/>
          <p:cNvPicPr>
            <a:picLocks noChangeAspect="1"/>
          </p:cNvPicPr>
          <p:nvPr/>
        </p:nvPicPr>
        <p:blipFill>
          <a:blip r:embed="rId2"/>
          <a:stretch>
            <a:fillRect/>
          </a:stretch>
        </p:blipFill>
        <p:spPr>
          <a:xfrm>
            <a:off x="1582832" y="3536576"/>
            <a:ext cx="2536764" cy="2675385"/>
          </a:xfrm>
          <a:prstGeom prst="rect">
            <a:avLst/>
          </a:prstGeom>
        </p:spPr>
      </p:pic>
      <p:pic>
        <p:nvPicPr>
          <p:cNvPr id="10" name="Picture 9"/>
          <p:cNvPicPr>
            <a:picLocks noChangeAspect="1"/>
          </p:cNvPicPr>
          <p:nvPr/>
        </p:nvPicPr>
        <p:blipFill>
          <a:blip r:embed="rId3"/>
          <a:stretch>
            <a:fillRect/>
          </a:stretch>
        </p:blipFill>
        <p:spPr>
          <a:xfrm>
            <a:off x="6382591" y="3536576"/>
            <a:ext cx="2922774" cy="2698484"/>
          </a:xfrm>
          <a:prstGeom prst="rect">
            <a:avLst/>
          </a:prstGeom>
        </p:spPr>
      </p:pic>
    </p:spTree>
    <p:extLst>
      <p:ext uri="{BB962C8B-B14F-4D97-AF65-F5344CB8AC3E}">
        <p14:creationId xmlns:p14="http://schemas.microsoft.com/office/powerpoint/2010/main" val="3003417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Consistency and Replication</a:t>
            </a:r>
          </a:p>
        </p:txBody>
      </p:sp>
      <p:sp>
        <p:nvSpPr>
          <p:cNvPr id="4" name="Content Placeholder 3"/>
          <p:cNvSpPr>
            <a:spLocks noGrp="1"/>
          </p:cNvSpPr>
          <p:nvPr>
            <p:ph idx="1"/>
          </p:nvPr>
        </p:nvSpPr>
        <p:spPr/>
        <p:txBody>
          <a:bodyPr/>
          <a:lstStyle/>
          <a:p>
            <a:r>
              <a:rPr lang="en-US" dirty="0"/>
              <a:t>General approach to replicated objects:</a:t>
            </a:r>
          </a:p>
          <a:p>
            <a:pPr lvl="2"/>
            <a:r>
              <a:rPr lang="en-US" sz="2400" dirty="0"/>
              <a:t>Traditional approaches </a:t>
            </a:r>
            <a:r>
              <a:rPr lang="en-US" sz="2400" dirty="0" smtClean="0"/>
              <a:t>treating </a:t>
            </a:r>
            <a:r>
              <a:rPr lang="en-US" sz="2400" dirty="0"/>
              <a:t>them as containers of data with their own operations</a:t>
            </a:r>
          </a:p>
          <a:p>
            <a:r>
              <a:rPr lang="en-US" dirty="0"/>
              <a:t>Consistency: Data-centric consistency comes in the form of entry consistency</a:t>
            </a:r>
          </a:p>
          <a:p>
            <a:pPr marL="1371600" lvl="2" indent="-457200">
              <a:buFont typeface="+mj-lt"/>
              <a:buAutoNum type="arabicPeriod"/>
            </a:pPr>
            <a:r>
              <a:rPr lang="en-US" sz="2400" dirty="0"/>
              <a:t>No multiple invocations on the same object </a:t>
            </a:r>
            <a:r>
              <a:rPr lang="en-US" sz="2400" dirty="0" smtClean="0"/>
              <a:t>allowed</a:t>
            </a:r>
            <a:endParaRPr lang="en-US" sz="2400" dirty="0"/>
          </a:p>
          <a:p>
            <a:pPr marL="1371600" lvl="2" indent="-457200">
              <a:buFont typeface="+mj-lt"/>
              <a:buAutoNum type="arabicPeriod"/>
            </a:pPr>
            <a:r>
              <a:rPr lang="en-US" sz="2400" dirty="0" smtClean="0"/>
              <a:t>Ensure </a:t>
            </a:r>
            <a:r>
              <a:rPr lang="en-US" sz="2400" dirty="0"/>
              <a:t>that all the changes to a replicated object are the same.</a:t>
            </a:r>
          </a:p>
        </p:txBody>
      </p:sp>
    </p:spTree>
    <p:extLst>
      <p:ext uri="{BB962C8B-B14F-4D97-AF65-F5344CB8AC3E}">
        <p14:creationId xmlns:p14="http://schemas.microsoft.com/office/powerpoint/2010/main" val="229860409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Entry Consistency</a:t>
            </a:r>
          </a:p>
        </p:txBody>
      </p:sp>
      <p:sp>
        <p:nvSpPr>
          <p:cNvPr id="5" name="TextBox 4"/>
          <p:cNvSpPr txBox="1"/>
          <p:nvPr/>
        </p:nvSpPr>
        <p:spPr>
          <a:xfrm>
            <a:off x="1311649" y="5738157"/>
            <a:ext cx="7926482" cy="461665"/>
          </a:xfrm>
          <a:prstGeom prst="rect">
            <a:avLst/>
          </a:prstGeom>
          <a:solidFill>
            <a:srgbClr val="1D3064"/>
          </a:solidFill>
        </p:spPr>
        <p:txBody>
          <a:bodyPr wrap="square" rtlCol="0">
            <a:spAutoFit/>
          </a:bodyPr>
          <a:lstStyle/>
          <a:p>
            <a:r>
              <a:rPr lang="en-US" sz="2400" dirty="0">
                <a:solidFill>
                  <a:schemeClr val="bg1"/>
                </a:solidFill>
              </a:rPr>
              <a:t>Deterministic thread </a:t>
            </a:r>
            <a:r>
              <a:rPr lang="en-US" sz="2400" dirty="0" smtClean="0">
                <a:solidFill>
                  <a:schemeClr val="bg1"/>
                </a:solidFill>
              </a:rPr>
              <a:t>scheduling for </a:t>
            </a:r>
            <a:r>
              <a:rPr lang="en-US" sz="2400" dirty="0">
                <a:solidFill>
                  <a:schemeClr val="bg1"/>
                </a:solidFill>
              </a:rPr>
              <a:t>replicated object servers</a:t>
            </a:r>
          </a:p>
        </p:txBody>
      </p:sp>
      <p:pic>
        <p:nvPicPr>
          <p:cNvPr id="6" name="Picture 4" descr="10-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040" y="1064091"/>
            <a:ext cx="8775700" cy="4321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6203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Replication </a:t>
            </a:r>
            <a:r>
              <a:rPr lang="en-US" dirty="0" smtClean="0"/>
              <a:t>Frameworks</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Invocations to objects are intercepted at three different points:</a:t>
            </a:r>
          </a:p>
          <a:p>
            <a:pPr lvl="2"/>
            <a:r>
              <a:rPr lang="en-US" sz="2400" dirty="0"/>
              <a:t>At the client side just before the invocation is passed to the stub.</a:t>
            </a:r>
          </a:p>
          <a:p>
            <a:pPr lvl="2"/>
            <a:r>
              <a:rPr lang="en-US" sz="2400" dirty="0"/>
              <a:t>Inside the client’s stub, where the interception forms part of the replication algorithm.</a:t>
            </a:r>
          </a:p>
          <a:p>
            <a:pPr lvl="2"/>
            <a:r>
              <a:rPr lang="en-US" sz="2400" dirty="0"/>
              <a:t>At the server side, just before the object is about to be invoked.</a:t>
            </a:r>
          </a:p>
        </p:txBody>
      </p:sp>
    </p:spTree>
    <p:extLst>
      <p:ext uri="{BB962C8B-B14F-4D97-AF65-F5344CB8AC3E}">
        <p14:creationId xmlns:p14="http://schemas.microsoft.com/office/powerpoint/2010/main" val="232816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Replication </a:t>
            </a:r>
            <a:r>
              <a:rPr lang="en-US" dirty="0" smtClean="0"/>
              <a:t>Frameworks</a:t>
            </a:r>
            <a:endParaRPr lang="en-US" dirty="0"/>
          </a:p>
        </p:txBody>
      </p:sp>
      <p:pic>
        <p:nvPicPr>
          <p:cNvPr id="5" name="Picture 4" descr="10-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624" y="1616542"/>
            <a:ext cx="8659812" cy="28797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30395" y="5081644"/>
            <a:ext cx="5912101" cy="830997"/>
          </a:xfrm>
          <a:prstGeom prst="rect">
            <a:avLst/>
          </a:prstGeom>
          <a:solidFill>
            <a:srgbClr val="1D3064"/>
          </a:solidFill>
        </p:spPr>
        <p:txBody>
          <a:bodyPr wrap="square" rtlCol="0">
            <a:spAutoFit/>
          </a:bodyPr>
          <a:lstStyle/>
          <a:p>
            <a:r>
              <a:rPr lang="en-US" sz="2400" dirty="0">
                <a:solidFill>
                  <a:schemeClr val="bg1"/>
                </a:solidFill>
              </a:rPr>
              <a:t>A general framework for separating replication algorithms from objects in an EJB environment</a:t>
            </a:r>
            <a:endParaRPr lang="en-IN" sz="2400" dirty="0">
              <a:solidFill>
                <a:schemeClr val="bg1"/>
              </a:solidFill>
            </a:endParaRPr>
          </a:p>
        </p:txBody>
      </p:sp>
    </p:spTree>
    <p:extLst>
      <p:ext uri="{BB962C8B-B14F-4D97-AF65-F5344CB8AC3E}">
        <p14:creationId xmlns:p14="http://schemas.microsoft.com/office/powerpoint/2010/main" val="2482648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Fault-Tolerant CORBA</a:t>
            </a:r>
          </a:p>
        </p:txBody>
      </p:sp>
      <p:sp>
        <p:nvSpPr>
          <p:cNvPr id="7" name="TextBox 6"/>
          <p:cNvSpPr txBox="1"/>
          <p:nvPr/>
        </p:nvSpPr>
        <p:spPr>
          <a:xfrm>
            <a:off x="309549" y="5377585"/>
            <a:ext cx="10883972" cy="461665"/>
          </a:xfrm>
          <a:prstGeom prst="rect">
            <a:avLst/>
          </a:prstGeom>
          <a:solidFill>
            <a:srgbClr val="1D3064"/>
          </a:solidFill>
        </p:spPr>
        <p:txBody>
          <a:bodyPr wrap="square" rtlCol="0">
            <a:spAutoFit/>
          </a:bodyPr>
          <a:lstStyle/>
          <a:p>
            <a:r>
              <a:rPr lang="en-US" sz="2400" dirty="0">
                <a:solidFill>
                  <a:schemeClr val="bg1"/>
                </a:solidFill>
              </a:rPr>
              <a:t>A possible organization of </a:t>
            </a:r>
            <a:r>
              <a:rPr lang="en-US" sz="2400" dirty="0" smtClean="0">
                <a:solidFill>
                  <a:schemeClr val="bg1"/>
                </a:solidFill>
              </a:rPr>
              <a:t>an IOGR </a:t>
            </a:r>
            <a:r>
              <a:rPr lang="en-US" sz="2400" dirty="0">
                <a:solidFill>
                  <a:schemeClr val="bg1"/>
                </a:solidFill>
              </a:rPr>
              <a:t>for an object group having a primary and backups</a:t>
            </a:r>
            <a:endParaRPr lang="en-IN" sz="2400" dirty="0">
              <a:solidFill>
                <a:schemeClr val="bg1"/>
              </a:solidFill>
            </a:endParaRPr>
          </a:p>
        </p:txBody>
      </p:sp>
      <p:grpSp>
        <p:nvGrpSpPr>
          <p:cNvPr id="52" name="Group 51"/>
          <p:cNvGrpSpPr/>
          <p:nvPr/>
        </p:nvGrpSpPr>
        <p:grpSpPr>
          <a:xfrm>
            <a:off x="390231" y="852312"/>
            <a:ext cx="10883973" cy="4300623"/>
            <a:chOff x="390231" y="973335"/>
            <a:chExt cx="10883973" cy="4300623"/>
          </a:xfrm>
        </p:grpSpPr>
        <p:sp>
          <p:nvSpPr>
            <p:cNvPr id="8" name="Rectangle 7"/>
            <p:cNvSpPr/>
            <p:nvPr/>
          </p:nvSpPr>
          <p:spPr>
            <a:xfrm>
              <a:off x="869838" y="1517913"/>
              <a:ext cx="1223683"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Repository</a:t>
              </a:r>
            </a:p>
            <a:p>
              <a:pPr algn="ctr"/>
              <a:r>
                <a:rPr lang="en-IN" dirty="0" smtClean="0">
                  <a:solidFill>
                    <a:schemeClr val="tx1"/>
                  </a:solidFill>
                </a:rPr>
                <a:t>identifier</a:t>
              </a:r>
              <a:endParaRPr lang="en-IN" dirty="0">
                <a:solidFill>
                  <a:schemeClr val="tx1"/>
                </a:solidFill>
              </a:endParaRPr>
            </a:p>
          </p:txBody>
        </p:sp>
        <p:sp>
          <p:nvSpPr>
            <p:cNvPr id="9" name="Rectangle 8"/>
            <p:cNvSpPr/>
            <p:nvPr/>
          </p:nvSpPr>
          <p:spPr>
            <a:xfrm>
              <a:off x="2245923" y="1517913"/>
              <a:ext cx="1223683"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Profile</a:t>
              </a:r>
            </a:p>
            <a:p>
              <a:pPr algn="ctr"/>
              <a:r>
                <a:rPr lang="en-IN" dirty="0" smtClean="0">
                  <a:solidFill>
                    <a:schemeClr val="tx1"/>
                  </a:solidFill>
                </a:rPr>
                <a:t>ID</a:t>
              </a:r>
            </a:p>
          </p:txBody>
        </p:sp>
        <p:sp>
          <p:nvSpPr>
            <p:cNvPr id="10" name="Rectangle 9"/>
            <p:cNvSpPr/>
            <p:nvPr/>
          </p:nvSpPr>
          <p:spPr>
            <a:xfrm>
              <a:off x="3469606" y="1517913"/>
              <a:ext cx="2129115"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Profile-1</a:t>
              </a:r>
            </a:p>
          </p:txBody>
        </p:sp>
        <p:sp>
          <p:nvSpPr>
            <p:cNvPr id="11" name="Rectangle 10"/>
            <p:cNvSpPr/>
            <p:nvPr/>
          </p:nvSpPr>
          <p:spPr>
            <a:xfrm>
              <a:off x="6627723" y="1518101"/>
              <a:ext cx="1100113"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Profile</a:t>
              </a:r>
            </a:p>
            <a:p>
              <a:pPr algn="ctr"/>
              <a:r>
                <a:rPr lang="en-IN" dirty="0" smtClean="0">
                  <a:solidFill>
                    <a:schemeClr val="tx1"/>
                  </a:solidFill>
                </a:rPr>
                <a:t>ID</a:t>
              </a:r>
            </a:p>
          </p:txBody>
        </p:sp>
        <p:sp>
          <p:nvSpPr>
            <p:cNvPr id="12" name="Rectangle 11"/>
            <p:cNvSpPr/>
            <p:nvPr/>
          </p:nvSpPr>
          <p:spPr>
            <a:xfrm>
              <a:off x="390231" y="3090929"/>
              <a:ext cx="913906" cy="4994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accent6"/>
                  </a:solidFill>
                </a:rPr>
                <a:t>IIOP</a:t>
              </a:r>
            </a:p>
            <a:p>
              <a:pPr algn="ctr"/>
              <a:r>
                <a:rPr lang="en-IN" sz="1400" dirty="0" smtClean="0">
                  <a:solidFill>
                    <a:schemeClr val="accent6"/>
                  </a:solidFill>
                </a:rPr>
                <a:t>version</a:t>
              </a:r>
              <a:endParaRPr lang="en-IN" sz="1400" dirty="0">
                <a:solidFill>
                  <a:schemeClr val="accent6"/>
                </a:solidFill>
              </a:endParaRPr>
            </a:p>
          </p:txBody>
        </p:sp>
        <p:sp>
          <p:nvSpPr>
            <p:cNvPr id="13" name="Rectangle 12"/>
            <p:cNvSpPr/>
            <p:nvPr/>
          </p:nvSpPr>
          <p:spPr>
            <a:xfrm>
              <a:off x="1303438" y="3090929"/>
              <a:ext cx="878719" cy="4994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accent6"/>
                  </a:solidFill>
                </a:rPr>
                <a:t>Host-1</a:t>
              </a:r>
              <a:endParaRPr lang="en-IN" sz="1400" dirty="0">
                <a:solidFill>
                  <a:schemeClr val="accent6"/>
                </a:solidFill>
              </a:endParaRPr>
            </a:p>
          </p:txBody>
        </p:sp>
        <p:sp>
          <p:nvSpPr>
            <p:cNvPr id="14" name="Rectangle 13"/>
            <p:cNvSpPr/>
            <p:nvPr/>
          </p:nvSpPr>
          <p:spPr>
            <a:xfrm>
              <a:off x="2179288" y="3090639"/>
              <a:ext cx="705330" cy="4994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accent6"/>
                  </a:solidFill>
                </a:rPr>
                <a:t>Port-1</a:t>
              </a:r>
              <a:endParaRPr lang="en-IN" sz="1400" dirty="0">
                <a:solidFill>
                  <a:schemeClr val="accent6"/>
                </a:solidFill>
              </a:endParaRPr>
            </a:p>
          </p:txBody>
        </p:sp>
        <p:sp>
          <p:nvSpPr>
            <p:cNvPr id="15" name="Rectangle 14"/>
            <p:cNvSpPr/>
            <p:nvPr/>
          </p:nvSpPr>
          <p:spPr>
            <a:xfrm>
              <a:off x="3944741" y="3088025"/>
              <a:ext cx="1076252" cy="4994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accent6"/>
                  </a:solidFill>
                </a:rPr>
                <a:t>Components</a:t>
              </a:r>
              <a:endParaRPr lang="en-IN" sz="1400" dirty="0">
                <a:solidFill>
                  <a:schemeClr val="accent6"/>
                </a:solidFill>
              </a:endParaRPr>
            </a:p>
          </p:txBody>
        </p:sp>
        <p:sp>
          <p:nvSpPr>
            <p:cNvPr id="16" name="Rectangle 15"/>
            <p:cNvSpPr/>
            <p:nvPr/>
          </p:nvSpPr>
          <p:spPr>
            <a:xfrm>
              <a:off x="2896390" y="3090639"/>
              <a:ext cx="1047419" cy="4994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accent6"/>
                  </a:solidFill>
                </a:rPr>
                <a:t>Object key-1</a:t>
              </a:r>
              <a:endParaRPr lang="en-IN" sz="1400" dirty="0">
                <a:solidFill>
                  <a:schemeClr val="accent6"/>
                </a:solidFill>
              </a:endParaRPr>
            </a:p>
          </p:txBody>
        </p:sp>
        <p:sp>
          <p:nvSpPr>
            <p:cNvPr id="17" name="Rectangle 16"/>
            <p:cNvSpPr/>
            <p:nvPr/>
          </p:nvSpPr>
          <p:spPr>
            <a:xfrm>
              <a:off x="509659" y="4588158"/>
              <a:ext cx="1346035"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TAG</a:t>
              </a:r>
            </a:p>
            <a:p>
              <a:pPr algn="ctr"/>
              <a:r>
                <a:rPr lang="en-IN" dirty="0" smtClean="0">
                  <a:solidFill>
                    <a:schemeClr val="tx1"/>
                  </a:solidFill>
                </a:rPr>
                <a:t>PRIMARY</a:t>
              </a:r>
              <a:endParaRPr lang="en-IN" dirty="0">
                <a:solidFill>
                  <a:schemeClr val="tx1"/>
                </a:solidFill>
              </a:endParaRPr>
            </a:p>
          </p:txBody>
        </p:sp>
        <p:sp>
          <p:nvSpPr>
            <p:cNvPr id="19" name="Rectangle 18"/>
            <p:cNvSpPr/>
            <p:nvPr/>
          </p:nvSpPr>
          <p:spPr>
            <a:xfrm>
              <a:off x="1855694" y="4588158"/>
              <a:ext cx="2128068"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Other server-  specific information</a:t>
              </a:r>
            </a:p>
          </p:txBody>
        </p:sp>
        <p:sp>
          <p:nvSpPr>
            <p:cNvPr id="20" name="TextBox 19"/>
            <p:cNvSpPr txBox="1"/>
            <p:nvPr/>
          </p:nvSpPr>
          <p:spPr>
            <a:xfrm>
              <a:off x="5472876" y="973335"/>
              <a:ext cx="4787158" cy="400110"/>
            </a:xfrm>
            <a:prstGeom prst="rect">
              <a:avLst/>
            </a:prstGeom>
            <a:noFill/>
          </p:spPr>
          <p:txBody>
            <a:bodyPr wrap="square" rtlCol="0">
              <a:spAutoFit/>
            </a:bodyPr>
            <a:lstStyle/>
            <a:p>
              <a:r>
                <a:rPr lang="en-IN" sz="2000" dirty="0" smtClean="0">
                  <a:solidFill>
                    <a:srgbClr val="0E3755"/>
                  </a:solidFill>
                </a:rPr>
                <a:t>Interoperable Object Group Reference (IOGR)</a:t>
              </a:r>
              <a:endParaRPr lang="en-IN" sz="2000" dirty="0">
                <a:solidFill>
                  <a:srgbClr val="0E3755"/>
                </a:solidFill>
              </a:endParaRPr>
            </a:p>
          </p:txBody>
        </p:sp>
        <p:sp>
          <p:nvSpPr>
            <p:cNvPr id="22" name="Rectangle 21"/>
            <p:cNvSpPr/>
            <p:nvPr/>
          </p:nvSpPr>
          <p:spPr>
            <a:xfrm>
              <a:off x="779667" y="1420471"/>
              <a:ext cx="9234172" cy="88105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cxnSp>
          <p:nvCxnSpPr>
            <p:cNvPr id="25" name="Straight Connector 24"/>
            <p:cNvCxnSpPr/>
            <p:nvPr/>
          </p:nvCxnSpPr>
          <p:spPr>
            <a:xfrm flipH="1">
              <a:off x="390231" y="2203713"/>
              <a:ext cx="3079376" cy="88431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5020993" y="2179665"/>
              <a:ext cx="577728" cy="90836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509659" y="3627479"/>
              <a:ext cx="3434151" cy="93806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7597265" y="3587461"/>
              <a:ext cx="2599755" cy="97518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7730384" y="1519336"/>
              <a:ext cx="2059486"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Profile-N</a:t>
              </a:r>
            </a:p>
          </p:txBody>
        </p:sp>
        <p:sp>
          <p:nvSpPr>
            <p:cNvPr id="30" name="Rectangle 29"/>
            <p:cNvSpPr/>
            <p:nvPr/>
          </p:nvSpPr>
          <p:spPr>
            <a:xfrm>
              <a:off x="6643441" y="3093589"/>
              <a:ext cx="913906" cy="4994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accent6"/>
                  </a:solidFill>
                </a:rPr>
                <a:t>IIOP</a:t>
              </a:r>
            </a:p>
            <a:p>
              <a:pPr algn="ctr"/>
              <a:r>
                <a:rPr lang="en-IN" sz="1400" dirty="0" smtClean="0">
                  <a:solidFill>
                    <a:schemeClr val="accent6"/>
                  </a:solidFill>
                </a:rPr>
                <a:t>version</a:t>
              </a:r>
              <a:endParaRPr lang="en-IN" sz="1400" dirty="0">
                <a:solidFill>
                  <a:schemeClr val="accent6"/>
                </a:solidFill>
              </a:endParaRPr>
            </a:p>
          </p:txBody>
        </p:sp>
        <p:sp>
          <p:nvSpPr>
            <p:cNvPr id="31" name="Rectangle 30"/>
            <p:cNvSpPr/>
            <p:nvPr/>
          </p:nvSpPr>
          <p:spPr>
            <a:xfrm>
              <a:off x="7556648" y="3093589"/>
              <a:ext cx="774701" cy="4994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accent6"/>
                  </a:solidFill>
                </a:rPr>
                <a:t>Host-N</a:t>
              </a:r>
              <a:endParaRPr lang="en-IN" sz="1400" dirty="0">
                <a:solidFill>
                  <a:schemeClr val="accent6"/>
                </a:solidFill>
              </a:endParaRPr>
            </a:p>
          </p:txBody>
        </p:sp>
        <p:sp>
          <p:nvSpPr>
            <p:cNvPr id="32" name="Rectangle 31"/>
            <p:cNvSpPr/>
            <p:nvPr/>
          </p:nvSpPr>
          <p:spPr>
            <a:xfrm>
              <a:off x="8331350" y="3093299"/>
              <a:ext cx="651471" cy="4994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accent6"/>
                  </a:solidFill>
                </a:rPr>
                <a:t>Port-N</a:t>
              </a:r>
              <a:endParaRPr lang="en-IN" sz="1400" dirty="0">
                <a:solidFill>
                  <a:schemeClr val="accent6"/>
                </a:solidFill>
              </a:endParaRPr>
            </a:p>
          </p:txBody>
        </p:sp>
        <p:sp>
          <p:nvSpPr>
            <p:cNvPr id="33" name="Rectangle 32"/>
            <p:cNvSpPr/>
            <p:nvPr/>
          </p:nvSpPr>
          <p:spPr>
            <a:xfrm>
              <a:off x="10197019" y="3090685"/>
              <a:ext cx="1077184" cy="4994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accent6"/>
                  </a:solidFill>
                </a:rPr>
                <a:t>Components</a:t>
              </a:r>
              <a:endParaRPr lang="en-IN" sz="1400" dirty="0">
                <a:solidFill>
                  <a:schemeClr val="accent6"/>
                </a:solidFill>
              </a:endParaRPr>
            </a:p>
          </p:txBody>
        </p:sp>
        <p:sp>
          <p:nvSpPr>
            <p:cNvPr id="34" name="Rectangle 33"/>
            <p:cNvSpPr/>
            <p:nvPr/>
          </p:nvSpPr>
          <p:spPr>
            <a:xfrm>
              <a:off x="8982822" y="3093299"/>
              <a:ext cx="1214198" cy="4994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accent6"/>
                  </a:solidFill>
                </a:rPr>
                <a:t>Object key-N</a:t>
              </a:r>
              <a:endParaRPr lang="en-IN" sz="1400" dirty="0">
                <a:solidFill>
                  <a:schemeClr val="accent6"/>
                </a:solidFill>
              </a:endParaRPr>
            </a:p>
          </p:txBody>
        </p:sp>
        <p:sp>
          <p:nvSpPr>
            <p:cNvPr id="35" name="Rectangle 34"/>
            <p:cNvSpPr/>
            <p:nvPr/>
          </p:nvSpPr>
          <p:spPr>
            <a:xfrm>
              <a:off x="7556648" y="4565548"/>
              <a:ext cx="1346035"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TAG</a:t>
              </a:r>
            </a:p>
            <a:p>
              <a:pPr algn="ctr"/>
              <a:r>
                <a:rPr lang="en-IN" dirty="0" smtClean="0">
                  <a:solidFill>
                    <a:schemeClr val="tx1"/>
                  </a:solidFill>
                </a:rPr>
                <a:t>BACKUP</a:t>
              </a:r>
              <a:endParaRPr lang="en-IN" dirty="0">
                <a:solidFill>
                  <a:schemeClr val="tx1"/>
                </a:solidFill>
              </a:endParaRPr>
            </a:p>
          </p:txBody>
        </p:sp>
        <p:sp>
          <p:nvSpPr>
            <p:cNvPr id="36" name="Rectangle 35"/>
            <p:cNvSpPr/>
            <p:nvPr/>
          </p:nvSpPr>
          <p:spPr>
            <a:xfrm>
              <a:off x="8902683" y="4565548"/>
              <a:ext cx="2128068" cy="685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Other server-  specific information</a:t>
              </a:r>
            </a:p>
          </p:txBody>
        </p:sp>
        <p:cxnSp>
          <p:nvCxnSpPr>
            <p:cNvPr id="37" name="Straight Connector 36"/>
            <p:cNvCxnSpPr/>
            <p:nvPr/>
          </p:nvCxnSpPr>
          <p:spPr>
            <a:xfrm flipH="1">
              <a:off x="6658844" y="2220650"/>
              <a:ext cx="1120762" cy="87235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10060005" y="2319567"/>
              <a:ext cx="1214198" cy="76845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a:off x="4002837" y="3560355"/>
              <a:ext cx="1008555" cy="102780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H="1">
              <a:off x="10971022" y="3595349"/>
              <a:ext cx="303182" cy="97518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656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CORBA- An Example Architecture</a:t>
            </a:r>
          </a:p>
        </p:txBody>
      </p:sp>
      <p:sp>
        <p:nvSpPr>
          <p:cNvPr id="7" name="TextBox 6"/>
          <p:cNvSpPr txBox="1"/>
          <p:nvPr/>
        </p:nvSpPr>
        <p:spPr>
          <a:xfrm>
            <a:off x="1493743" y="5728849"/>
            <a:ext cx="7255995" cy="461665"/>
          </a:xfrm>
          <a:prstGeom prst="rect">
            <a:avLst/>
          </a:prstGeom>
          <a:solidFill>
            <a:srgbClr val="1D3064"/>
          </a:solidFill>
        </p:spPr>
        <p:txBody>
          <a:bodyPr wrap="square" rtlCol="0">
            <a:spAutoFit/>
          </a:bodyPr>
          <a:lstStyle/>
          <a:p>
            <a:r>
              <a:rPr lang="en-US" sz="2400" dirty="0">
                <a:solidFill>
                  <a:schemeClr val="bg1"/>
                </a:solidFill>
              </a:rPr>
              <a:t>An example architecture of </a:t>
            </a:r>
            <a:r>
              <a:rPr lang="en-US" sz="2400" dirty="0" smtClean="0">
                <a:solidFill>
                  <a:schemeClr val="bg1"/>
                </a:solidFill>
              </a:rPr>
              <a:t>a fault-tolerant </a:t>
            </a:r>
            <a:r>
              <a:rPr lang="en-US" sz="2400" dirty="0">
                <a:solidFill>
                  <a:schemeClr val="bg1"/>
                </a:solidFill>
              </a:rPr>
              <a:t>CORBA system.</a:t>
            </a:r>
          </a:p>
        </p:txBody>
      </p:sp>
      <p:grpSp>
        <p:nvGrpSpPr>
          <p:cNvPr id="27" name="Group 26"/>
          <p:cNvGrpSpPr/>
          <p:nvPr/>
        </p:nvGrpSpPr>
        <p:grpSpPr>
          <a:xfrm>
            <a:off x="672353" y="1142147"/>
            <a:ext cx="8417859" cy="4340425"/>
            <a:chOff x="672353" y="1142147"/>
            <a:chExt cx="8417859" cy="4340425"/>
          </a:xfrm>
        </p:grpSpPr>
        <p:sp>
          <p:nvSpPr>
            <p:cNvPr id="3" name="Rectangle 2"/>
            <p:cNvSpPr/>
            <p:nvPr/>
          </p:nvSpPr>
          <p:spPr>
            <a:xfrm>
              <a:off x="3173506" y="1160744"/>
              <a:ext cx="1828801" cy="85900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Object group manager</a:t>
              </a:r>
              <a:endParaRPr lang="en-IN" dirty="0">
                <a:solidFill>
                  <a:schemeClr val="tx1"/>
                </a:solidFill>
              </a:endParaRPr>
            </a:p>
          </p:txBody>
        </p:sp>
        <p:sp>
          <p:nvSpPr>
            <p:cNvPr id="6" name="Rectangle 5"/>
            <p:cNvSpPr/>
            <p:nvPr/>
          </p:nvSpPr>
          <p:spPr>
            <a:xfrm>
              <a:off x="3173507" y="2019753"/>
              <a:ext cx="1828800" cy="85900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Property</a:t>
              </a:r>
            </a:p>
            <a:p>
              <a:pPr algn="ctr"/>
              <a:r>
                <a:rPr lang="en-IN" dirty="0" smtClean="0">
                  <a:solidFill>
                    <a:schemeClr val="tx1"/>
                  </a:solidFill>
                </a:rPr>
                <a:t>manager</a:t>
              </a:r>
              <a:endParaRPr lang="en-IN" dirty="0">
                <a:solidFill>
                  <a:schemeClr val="tx1"/>
                </a:solidFill>
              </a:endParaRPr>
            </a:p>
          </p:txBody>
        </p:sp>
        <p:sp>
          <p:nvSpPr>
            <p:cNvPr id="8" name="Rectangle 7"/>
            <p:cNvSpPr/>
            <p:nvPr/>
          </p:nvSpPr>
          <p:spPr>
            <a:xfrm>
              <a:off x="5477435" y="1160744"/>
              <a:ext cx="1447801" cy="1718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Rectangle 8"/>
            <p:cNvSpPr/>
            <p:nvPr/>
          </p:nvSpPr>
          <p:spPr>
            <a:xfrm>
              <a:off x="3173506" y="2878762"/>
              <a:ext cx="3751730" cy="59327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ORB</a:t>
              </a:r>
              <a:endParaRPr lang="en-IN" dirty="0">
                <a:solidFill>
                  <a:schemeClr val="tx1"/>
                </a:solidFill>
              </a:endParaRPr>
            </a:p>
          </p:txBody>
        </p:sp>
        <p:sp>
          <p:nvSpPr>
            <p:cNvPr id="10" name="Rectangle 9"/>
            <p:cNvSpPr/>
            <p:nvPr/>
          </p:nvSpPr>
          <p:spPr>
            <a:xfrm>
              <a:off x="3173506" y="3470144"/>
              <a:ext cx="3751730" cy="4444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Interceptor</a:t>
              </a:r>
              <a:endParaRPr lang="en-IN" dirty="0">
                <a:solidFill>
                  <a:schemeClr val="tx1"/>
                </a:solidFill>
              </a:endParaRPr>
            </a:p>
          </p:txBody>
        </p:sp>
        <p:sp>
          <p:nvSpPr>
            <p:cNvPr id="11" name="Rectangle 10"/>
            <p:cNvSpPr/>
            <p:nvPr/>
          </p:nvSpPr>
          <p:spPr>
            <a:xfrm>
              <a:off x="3173506" y="3910289"/>
              <a:ext cx="3751730" cy="66641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Replication</a:t>
              </a:r>
              <a:endParaRPr lang="en-IN" dirty="0">
                <a:solidFill>
                  <a:schemeClr val="tx1"/>
                </a:solidFill>
              </a:endParaRPr>
            </a:p>
          </p:txBody>
        </p:sp>
        <p:sp>
          <p:nvSpPr>
            <p:cNvPr id="12" name="Rectangle 11"/>
            <p:cNvSpPr/>
            <p:nvPr/>
          </p:nvSpPr>
          <p:spPr>
            <a:xfrm>
              <a:off x="3173506" y="4569886"/>
              <a:ext cx="3751730" cy="66641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Reliable multicasting</a:t>
              </a:r>
              <a:endParaRPr lang="en-IN" dirty="0">
                <a:solidFill>
                  <a:schemeClr val="tx1"/>
                </a:solidFill>
              </a:endParaRPr>
            </a:p>
          </p:txBody>
        </p:sp>
        <p:sp>
          <p:nvSpPr>
            <p:cNvPr id="13" name="Rectangle 12"/>
            <p:cNvSpPr/>
            <p:nvPr/>
          </p:nvSpPr>
          <p:spPr>
            <a:xfrm>
              <a:off x="672353" y="3813989"/>
              <a:ext cx="1399614" cy="85900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Logging &amp;</a:t>
              </a:r>
            </a:p>
            <a:p>
              <a:pPr algn="ctr"/>
              <a:r>
                <a:rPr lang="en-IN" dirty="0" smtClean="0">
                  <a:solidFill>
                    <a:schemeClr val="tx1"/>
                  </a:solidFill>
                </a:rPr>
                <a:t>Recovery</a:t>
              </a:r>
              <a:endParaRPr lang="en-IN" dirty="0">
                <a:solidFill>
                  <a:schemeClr val="tx1"/>
                </a:solidFill>
              </a:endParaRPr>
            </a:p>
          </p:txBody>
        </p:sp>
        <p:sp>
          <p:nvSpPr>
            <p:cNvPr id="4" name="Flowchart: Magnetic Disk 3"/>
            <p:cNvSpPr/>
            <p:nvPr/>
          </p:nvSpPr>
          <p:spPr>
            <a:xfrm>
              <a:off x="1029260" y="4990019"/>
              <a:ext cx="685800" cy="492553"/>
            </a:xfrm>
            <a:prstGeom prst="flowChartMagneticDisk">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LOG</a:t>
              </a:r>
              <a:endParaRPr lang="en-IN" dirty="0">
                <a:solidFill>
                  <a:schemeClr val="tx1"/>
                </a:solidFill>
              </a:endParaRPr>
            </a:p>
          </p:txBody>
        </p:sp>
        <p:sp>
          <p:nvSpPr>
            <p:cNvPr id="14" name="Rounded Rectangle 13"/>
            <p:cNvSpPr/>
            <p:nvPr/>
          </p:nvSpPr>
          <p:spPr>
            <a:xfrm>
              <a:off x="5768788" y="1403586"/>
              <a:ext cx="927847" cy="519287"/>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Object</a:t>
              </a:r>
              <a:endParaRPr lang="en-IN" dirty="0">
                <a:solidFill>
                  <a:schemeClr val="tx1"/>
                </a:solidFill>
              </a:endParaRPr>
            </a:p>
          </p:txBody>
        </p:sp>
        <p:cxnSp>
          <p:nvCxnSpPr>
            <p:cNvPr id="16" name="Straight Arrow Connector 15"/>
            <p:cNvCxnSpPr>
              <a:stCxn id="13" idx="3"/>
              <a:endCxn id="11" idx="1"/>
            </p:cNvCxnSpPr>
            <p:nvPr/>
          </p:nvCxnSpPr>
          <p:spPr>
            <a:xfrm>
              <a:off x="2071967" y="4243494"/>
              <a:ext cx="110153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3" idx="2"/>
              <a:endCxn id="4" idx="0"/>
            </p:cNvCxnSpPr>
            <p:nvPr/>
          </p:nvCxnSpPr>
          <p:spPr>
            <a:xfrm>
              <a:off x="1372160" y="4672998"/>
              <a:ext cx="0" cy="4812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2" idx="3"/>
            </p:cNvCxnSpPr>
            <p:nvPr/>
          </p:nvCxnSpPr>
          <p:spPr>
            <a:xfrm>
              <a:off x="6925236" y="4903091"/>
              <a:ext cx="1089211" cy="105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434740" y="1663229"/>
              <a:ext cx="1227325" cy="646331"/>
            </a:xfrm>
            <a:prstGeom prst="rect">
              <a:avLst/>
            </a:prstGeom>
            <a:noFill/>
          </p:spPr>
          <p:txBody>
            <a:bodyPr wrap="square" rtlCol="0">
              <a:spAutoFit/>
            </a:bodyPr>
            <a:lstStyle/>
            <a:p>
              <a:r>
                <a:rPr lang="en-IN" dirty="0" smtClean="0"/>
                <a:t>Replication manager</a:t>
              </a:r>
              <a:endParaRPr lang="en-IN" dirty="0"/>
            </a:p>
          </p:txBody>
        </p:sp>
        <p:sp>
          <p:nvSpPr>
            <p:cNvPr id="23" name="TextBox 22"/>
            <p:cNvSpPr txBox="1"/>
            <p:nvPr/>
          </p:nvSpPr>
          <p:spPr>
            <a:xfrm>
              <a:off x="7430901" y="1671047"/>
              <a:ext cx="1484499" cy="646331"/>
            </a:xfrm>
            <a:prstGeom prst="rect">
              <a:avLst/>
            </a:prstGeom>
            <a:noFill/>
          </p:spPr>
          <p:txBody>
            <a:bodyPr wrap="square" rtlCol="0">
              <a:spAutoFit/>
            </a:bodyPr>
            <a:lstStyle/>
            <a:p>
              <a:r>
                <a:rPr lang="en-IN" dirty="0" smtClean="0"/>
                <a:t>Client or</a:t>
              </a:r>
            </a:p>
            <a:p>
              <a:r>
                <a:rPr lang="en-IN" dirty="0" smtClean="0"/>
                <a:t>Object server</a:t>
              </a:r>
              <a:endParaRPr lang="en-IN" dirty="0"/>
            </a:p>
          </p:txBody>
        </p:sp>
        <p:sp>
          <p:nvSpPr>
            <p:cNvPr id="24" name="TextBox 23"/>
            <p:cNvSpPr txBox="1"/>
            <p:nvPr/>
          </p:nvSpPr>
          <p:spPr>
            <a:xfrm>
              <a:off x="7284525" y="4579925"/>
              <a:ext cx="1805687" cy="369332"/>
            </a:xfrm>
            <a:prstGeom prst="rect">
              <a:avLst/>
            </a:prstGeom>
            <a:noFill/>
          </p:spPr>
          <p:txBody>
            <a:bodyPr wrap="square" rtlCol="0">
              <a:spAutoFit/>
            </a:bodyPr>
            <a:lstStyle/>
            <a:p>
              <a:r>
                <a:rPr lang="en-IN" dirty="0" smtClean="0"/>
                <a:t>To other replicas</a:t>
              </a:r>
              <a:endParaRPr lang="en-IN" dirty="0"/>
            </a:p>
          </p:txBody>
        </p:sp>
        <p:sp>
          <p:nvSpPr>
            <p:cNvPr id="25" name="Left Brace 24"/>
            <p:cNvSpPr/>
            <p:nvPr/>
          </p:nvSpPr>
          <p:spPr>
            <a:xfrm>
              <a:off x="2698378" y="1160744"/>
              <a:ext cx="411468" cy="171801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6" name="Left Brace 25"/>
            <p:cNvSpPr/>
            <p:nvPr/>
          </p:nvSpPr>
          <p:spPr>
            <a:xfrm rot="10800000">
              <a:off x="6961549" y="1142147"/>
              <a:ext cx="411468" cy="171801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Tree>
    <p:extLst>
      <p:ext uri="{BB962C8B-B14F-4D97-AF65-F5344CB8AC3E}">
        <p14:creationId xmlns:p14="http://schemas.microsoft.com/office/powerpoint/2010/main" val="1457724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CORBA- An Example Architecture</a:t>
            </a:r>
          </a:p>
        </p:txBody>
      </p:sp>
      <p:sp>
        <p:nvSpPr>
          <p:cNvPr id="15" name="Content Placeholder 14"/>
          <p:cNvSpPr>
            <a:spLocks noGrp="1"/>
          </p:cNvSpPr>
          <p:nvPr>
            <p:ph idx="1"/>
          </p:nvPr>
        </p:nvSpPr>
        <p:spPr/>
        <p:txBody>
          <a:bodyPr/>
          <a:lstStyle/>
          <a:p>
            <a:r>
              <a:rPr lang="en-US" dirty="0"/>
              <a:t>There are several components that play an important role in this architecture. </a:t>
            </a:r>
            <a:endParaRPr lang="en-US" dirty="0" smtClean="0"/>
          </a:p>
          <a:p>
            <a:r>
              <a:rPr lang="en-US" dirty="0" smtClean="0"/>
              <a:t>By </a:t>
            </a:r>
            <a:r>
              <a:rPr lang="en-US" dirty="0"/>
              <a:t>far the most important one is the replication manager, which is responsible for creating and managing a group of replicated </a:t>
            </a:r>
            <a:r>
              <a:rPr lang="en-US" dirty="0" smtClean="0"/>
              <a:t>objects.</a:t>
            </a:r>
          </a:p>
          <a:p>
            <a:r>
              <a:rPr lang="en-US" dirty="0" smtClean="0"/>
              <a:t>A client </a:t>
            </a:r>
            <a:r>
              <a:rPr lang="en-US" dirty="0"/>
              <a:t>there is no fundamental difference between an object group and any other type of CORBA object. </a:t>
            </a:r>
            <a:endParaRPr lang="en-US" dirty="0" smtClean="0"/>
          </a:p>
          <a:p>
            <a:r>
              <a:rPr lang="en-US" dirty="0" smtClean="0"/>
              <a:t>To </a:t>
            </a:r>
            <a:r>
              <a:rPr lang="en-US" dirty="0"/>
              <a:t>create an object group, a client simply invokes the normal </a:t>
            </a:r>
            <a:r>
              <a:rPr lang="en-US" dirty="0" err="1"/>
              <a:t>create_object</a:t>
            </a:r>
            <a:r>
              <a:rPr lang="en-US" dirty="0"/>
              <a:t> operation as offered, in this case, by the replication manager, specifying the type of object to create. The client remains unaware of the fact that it is implicitly creating an object group. </a:t>
            </a:r>
            <a:endParaRPr lang="en-US" dirty="0" smtClean="0"/>
          </a:p>
          <a:p>
            <a:r>
              <a:rPr lang="en-US" dirty="0" smtClean="0"/>
              <a:t>The </a:t>
            </a:r>
            <a:r>
              <a:rPr lang="en-US" dirty="0"/>
              <a:t>number of replicas that are created when starting a new object group is normally determined by the system-dependent default value. </a:t>
            </a:r>
            <a:endParaRPr lang="en-US" dirty="0" smtClean="0"/>
          </a:p>
          <a:p>
            <a:r>
              <a:rPr lang="en-US" dirty="0" smtClean="0"/>
              <a:t>The </a:t>
            </a:r>
            <a:r>
              <a:rPr lang="en-US" dirty="0"/>
              <a:t>replica manager is also responsible for replacing a replica in the case of a failure, thereby ensuring that the number of replicas does not drop below a specified </a:t>
            </a:r>
            <a:r>
              <a:rPr lang="en-US" dirty="0" smtClean="0"/>
              <a:t>minimum.</a:t>
            </a:r>
          </a:p>
          <a:p>
            <a:r>
              <a:rPr lang="en-US" dirty="0"/>
              <a:t>The architecture also shows the use of message-level interceptors. </a:t>
            </a:r>
          </a:p>
        </p:txBody>
      </p:sp>
    </p:spTree>
    <p:extLst>
      <p:ext uri="{BB962C8B-B14F-4D97-AF65-F5344CB8AC3E}">
        <p14:creationId xmlns:p14="http://schemas.microsoft.com/office/powerpoint/2010/main" val="5238886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Example: Fault-Tolerant Java</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Causes for nondeterministic behavior:</a:t>
            </a:r>
          </a:p>
          <a:p>
            <a:pPr lvl="2"/>
            <a:r>
              <a:rPr lang="en-US" sz="2400" dirty="0"/>
              <a:t>JVM can execute native code, that is, code that is external to the JVM and provided to the latter through an interface.</a:t>
            </a:r>
          </a:p>
          <a:p>
            <a:pPr lvl="2"/>
            <a:r>
              <a:rPr lang="en-US" sz="2400" dirty="0"/>
              <a:t>Input data may be subject to non-determinism.</a:t>
            </a:r>
          </a:p>
          <a:p>
            <a:pPr lvl="2"/>
            <a:r>
              <a:rPr lang="en-US" sz="2400" dirty="0"/>
              <a:t>In the presence of failures, different JVMs will produce different output revealing that the machines have been replicated.</a:t>
            </a:r>
          </a:p>
          <a:p>
            <a:pPr marL="0" indent="0">
              <a:buNone/>
            </a:pPr>
            <a:endParaRPr lang="en-US" dirty="0"/>
          </a:p>
        </p:txBody>
      </p:sp>
    </p:spTree>
    <p:extLst>
      <p:ext uri="{BB962C8B-B14F-4D97-AF65-F5344CB8AC3E}">
        <p14:creationId xmlns:p14="http://schemas.microsoft.com/office/powerpoint/2010/main" val="272662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Overview of Globe Security</a:t>
            </a:r>
          </a:p>
        </p:txBody>
      </p:sp>
      <p:sp>
        <p:nvSpPr>
          <p:cNvPr id="7" name="TextBox 6"/>
          <p:cNvSpPr txBox="1"/>
          <p:nvPr/>
        </p:nvSpPr>
        <p:spPr>
          <a:xfrm>
            <a:off x="888905" y="1738417"/>
            <a:ext cx="2332505" cy="461665"/>
          </a:xfrm>
          <a:prstGeom prst="rect">
            <a:avLst/>
          </a:prstGeom>
          <a:noFill/>
        </p:spPr>
        <p:txBody>
          <a:bodyPr wrap="square" rtlCol="0">
            <a:spAutoFit/>
          </a:bodyPr>
          <a:lstStyle/>
          <a:p>
            <a:r>
              <a:rPr lang="en-US" sz="2400" dirty="0">
                <a:solidFill>
                  <a:schemeClr val="accent6"/>
                </a:solidFill>
              </a:rPr>
              <a:t>U</a:t>
            </a:r>
            <a:r>
              <a:rPr lang="en-US" sz="2400" dirty="0" smtClean="0">
                <a:solidFill>
                  <a:schemeClr val="accent6"/>
                </a:solidFill>
              </a:rPr>
              <a:t>ser </a:t>
            </a:r>
            <a:r>
              <a:rPr lang="en-US" sz="2400" dirty="0">
                <a:solidFill>
                  <a:schemeClr val="accent6"/>
                </a:solidFill>
              </a:rPr>
              <a:t>certificate</a:t>
            </a:r>
          </a:p>
        </p:txBody>
      </p:sp>
      <p:sp>
        <p:nvSpPr>
          <p:cNvPr id="10" name="TextBox 9"/>
          <p:cNvSpPr txBox="1"/>
          <p:nvPr/>
        </p:nvSpPr>
        <p:spPr>
          <a:xfrm>
            <a:off x="4723278" y="1738417"/>
            <a:ext cx="2444004" cy="461665"/>
          </a:xfrm>
          <a:prstGeom prst="rect">
            <a:avLst/>
          </a:prstGeom>
          <a:noFill/>
        </p:spPr>
        <p:txBody>
          <a:bodyPr wrap="square" rtlCol="0">
            <a:spAutoFit/>
          </a:bodyPr>
          <a:lstStyle/>
          <a:p>
            <a:r>
              <a:rPr lang="en-US" sz="2400" dirty="0" smtClean="0">
                <a:solidFill>
                  <a:schemeClr val="accent6"/>
                </a:solidFill>
              </a:rPr>
              <a:t>Replica </a:t>
            </a:r>
            <a:r>
              <a:rPr lang="en-US" sz="2400" dirty="0">
                <a:solidFill>
                  <a:schemeClr val="accent6"/>
                </a:solidFill>
              </a:rPr>
              <a:t>certificate</a:t>
            </a:r>
          </a:p>
        </p:txBody>
      </p:sp>
      <p:sp>
        <p:nvSpPr>
          <p:cNvPr id="11" name="TextBox 10"/>
          <p:cNvSpPr txBox="1"/>
          <p:nvPr/>
        </p:nvSpPr>
        <p:spPr>
          <a:xfrm>
            <a:off x="8489856" y="1738417"/>
            <a:ext cx="3464579" cy="461665"/>
          </a:xfrm>
          <a:prstGeom prst="rect">
            <a:avLst/>
          </a:prstGeom>
          <a:noFill/>
        </p:spPr>
        <p:txBody>
          <a:bodyPr wrap="square" rtlCol="0">
            <a:spAutoFit/>
          </a:bodyPr>
          <a:lstStyle/>
          <a:p>
            <a:r>
              <a:rPr lang="en-US" sz="2400" dirty="0" smtClean="0">
                <a:solidFill>
                  <a:schemeClr val="accent6"/>
                </a:solidFill>
              </a:rPr>
              <a:t>Administrative </a:t>
            </a:r>
            <a:r>
              <a:rPr lang="en-US" sz="2400" dirty="0">
                <a:solidFill>
                  <a:schemeClr val="accent6"/>
                </a:solidFill>
              </a:rPr>
              <a:t>certificate</a:t>
            </a:r>
          </a:p>
        </p:txBody>
      </p:sp>
      <p:cxnSp>
        <p:nvCxnSpPr>
          <p:cNvPr id="12" name="Straight Connector 11"/>
          <p:cNvCxnSpPr/>
          <p:nvPr/>
        </p:nvCxnSpPr>
        <p:spPr>
          <a:xfrm>
            <a:off x="3805518" y="1425388"/>
            <a:ext cx="0" cy="36038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763436" y="1425388"/>
            <a:ext cx="0" cy="36038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a:xfrm>
            <a:off x="738984" y="2711731"/>
            <a:ext cx="2351101" cy="1662947"/>
            <a:chOff x="870309" y="4545577"/>
            <a:chExt cx="2351101" cy="1662947"/>
          </a:xfrm>
        </p:grpSpPr>
        <p:sp>
          <p:nvSpPr>
            <p:cNvPr id="5" name="Rectangle 4"/>
            <p:cNvSpPr/>
            <p:nvPr/>
          </p:nvSpPr>
          <p:spPr>
            <a:xfrm>
              <a:off x="870310" y="4545577"/>
              <a:ext cx="2351100" cy="5513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tx1"/>
                  </a:solidFill>
                </a:rPr>
                <a:t>K</a:t>
              </a:r>
              <a:r>
                <a:rPr lang="en-IN" sz="2400" baseline="30000" dirty="0" smtClean="0">
                  <a:solidFill>
                    <a:schemeClr val="tx1"/>
                  </a:solidFill>
                </a:rPr>
                <a:t>+</a:t>
              </a:r>
              <a:r>
                <a:rPr lang="en-IN" sz="2400" baseline="-25000" dirty="0" smtClean="0">
                  <a:solidFill>
                    <a:schemeClr val="tx1"/>
                  </a:solidFill>
                </a:rPr>
                <a:t>Alice</a:t>
              </a:r>
              <a:endParaRPr lang="en-IN" sz="2400" baseline="-25000" dirty="0">
                <a:solidFill>
                  <a:schemeClr val="tx1"/>
                </a:solidFill>
              </a:endParaRPr>
            </a:p>
          </p:txBody>
        </p:sp>
        <p:sp>
          <p:nvSpPr>
            <p:cNvPr id="16" name="Rectangle 15"/>
            <p:cNvSpPr/>
            <p:nvPr/>
          </p:nvSpPr>
          <p:spPr>
            <a:xfrm>
              <a:off x="870309" y="5106125"/>
              <a:ext cx="2351100" cy="5513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tx1"/>
                  </a:solidFill>
                </a:rPr>
                <a:t>U: 0010011100</a:t>
              </a:r>
              <a:endParaRPr lang="en-IN" sz="2400" dirty="0">
                <a:solidFill>
                  <a:schemeClr val="tx1"/>
                </a:solidFill>
              </a:endParaRPr>
            </a:p>
          </p:txBody>
        </p:sp>
        <p:sp>
          <p:nvSpPr>
            <p:cNvPr id="17" name="Rectangle 16"/>
            <p:cNvSpPr/>
            <p:nvPr/>
          </p:nvSpPr>
          <p:spPr>
            <a:xfrm>
              <a:off x="870309" y="5657195"/>
              <a:ext cx="2351100" cy="5513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s</a:t>
              </a:r>
              <a:r>
                <a:rPr lang="en-IN" sz="2400" dirty="0" smtClean="0">
                  <a:solidFill>
                    <a:schemeClr val="tx1"/>
                  </a:solidFill>
                </a:rPr>
                <a:t>ig(O, {U, K</a:t>
              </a:r>
              <a:r>
                <a:rPr lang="en-IN" sz="2400" baseline="30000" dirty="0" smtClean="0">
                  <a:solidFill>
                    <a:schemeClr val="tx1"/>
                  </a:solidFill>
                </a:rPr>
                <a:t>+</a:t>
              </a:r>
              <a:r>
                <a:rPr lang="en-IN" sz="2400" baseline="-25000" dirty="0" smtClean="0">
                  <a:solidFill>
                    <a:schemeClr val="tx1"/>
                  </a:solidFill>
                </a:rPr>
                <a:t>Alice</a:t>
              </a:r>
              <a:r>
                <a:rPr lang="en-IN" sz="2400" dirty="0" smtClean="0">
                  <a:solidFill>
                    <a:schemeClr val="tx1"/>
                  </a:solidFill>
                </a:rPr>
                <a:t>})</a:t>
              </a:r>
              <a:endParaRPr lang="en-IN" sz="2400" baseline="-25000" dirty="0">
                <a:solidFill>
                  <a:schemeClr val="tx1"/>
                </a:solidFill>
              </a:endParaRPr>
            </a:p>
          </p:txBody>
        </p:sp>
      </p:grpSp>
      <p:grpSp>
        <p:nvGrpSpPr>
          <p:cNvPr id="9" name="Group 8"/>
          <p:cNvGrpSpPr/>
          <p:nvPr/>
        </p:nvGrpSpPr>
        <p:grpSpPr>
          <a:xfrm>
            <a:off x="4608927" y="2711731"/>
            <a:ext cx="2351101" cy="1662947"/>
            <a:chOff x="4389626" y="4540282"/>
            <a:chExt cx="2351101" cy="1662947"/>
          </a:xfrm>
        </p:grpSpPr>
        <p:sp>
          <p:nvSpPr>
            <p:cNvPr id="18" name="Rectangle 17"/>
            <p:cNvSpPr/>
            <p:nvPr/>
          </p:nvSpPr>
          <p:spPr>
            <a:xfrm>
              <a:off x="4389627" y="4540282"/>
              <a:ext cx="2351100" cy="5513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err="1" smtClean="0">
                  <a:solidFill>
                    <a:schemeClr val="tx1"/>
                  </a:solidFill>
                </a:rPr>
                <a:t>K</a:t>
              </a:r>
              <a:r>
                <a:rPr lang="en-IN" sz="2400" baseline="30000" dirty="0" err="1" smtClean="0">
                  <a:solidFill>
                    <a:schemeClr val="tx1"/>
                  </a:solidFill>
                </a:rPr>
                <a:t>+</a:t>
              </a:r>
              <a:r>
                <a:rPr lang="en-IN" sz="2400" baseline="-25000" dirty="0" err="1" smtClean="0">
                  <a:solidFill>
                    <a:schemeClr val="tx1"/>
                  </a:solidFill>
                </a:rPr>
                <a:t>Repl</a:t>
              </a:r>
              <a:endParaRPr lang="en-IN" sz="2400" baseline="-25000" dirty="0">
                <a:solidFill>
                  <a:schemeClr val="tx1"/>
                </a:solidFill>
              </a:endParaRPr>
            </a:p>
          </p:txBody>
        </p:sp>
        <p:sp>
          <p:nvSpPr>
            <p:cNvPr id="19" name="Rectangle 18"/>
            <p:cNvSpPr/>
            <p:nvPr/>
          </p:nvSpPr>
          <p:spPr>
            <a:xfrm>
              <a:off x="4389626" y="5100830"/>
              <a:ext cx="2351100" cy="5513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R</a:t>
              </a:r>
              <a:r>
                <a:rPr lang="en-IN" sz="2400" dirty="0" smtClean="0">
                  <a:solidFill>
                    <a:schemeClr val="tx1"/>
                  </a:solidFill>
                </a:rPr>
                <a:t>: 1100011100</a:t>
              </a:r>
              <a:endParaRPr lang="en-IN" sz="2400" dirty="0">
                <a:solidFill>
                  <a:schemeClr val="tx1"/>
                </a:solidFill>
              </a:endParaRPr>
            </a:p>
          </p:txBody>
        </p:sp>
        <p:sp>
          <p:nvSpPr>
            <p:cNvPr id="20" name="Rectangle 19"/>
            <p:cNvSpPr/>
            <p:nvPr/>
          </p:nvSpPr>
          <p:spPr>
            <a:xfrm>
              <a:off x="4389626" y="5651900"/>
              <a:ext cx="2351100" cy="5513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s</a:t>
              </a:r>
              <a:r>
                <a:rPr lang="en-IN" sz="2400" dirty="0" smtClean="0">
                  <a:solidFill>
                    <a:schemeClr val="tx1"/>
                  </a:solidFill>
                </a:rPr>
                <a:t>ig(O, {R, </a:t>
              </a:r>
              <a:r>
                <a:rPr lang="en-IN" sz="2400" dirty="0" err="1" smtClean="0">
                  <a:solidFill>
                    <a:schemeClr val="tx1"/>
                  </a:solidFill>
                </a:rPr>
                <a:t>K</a:t>
              </a:r>
              <a:r>
                <a:rPr lang="en-IN" sz="2400" baseline="30000" dirty="0" err="1" smtClean="0">
                  <a:solidFill>
                    <a:schemeClr val="tx1"/>
                  </a:solidFill>
                </a:rPr>
                <a:t>+</a:t>
              </a:r>
              <a:r>
                <a:rPr lang="en-IN" sz="2400" baseline="-25000" dirty="0" err="1" smtClean="0">
                  <a:solidFill>
                    <a:schemeClr val="tx1"/>
                  </a:solidFill>
                </a:rPr>
                <a:t>Repl</a:t>
              </a:r>
              <a:r>
                <a:rPr lang="en-IN" sz="2400" dirty="0" smtClean="0">
                  <a:solidFill>
                    <a:schemeClr val="tx1"/>
                  </a:solidFill>
                </a:rPr>
                <a:t>})</a:t>
              </a:r>
              <a:endParaRPr lang="en-IN" sz="2400" baseline="-25000" dirty="0">
                <a:solidFill>
                  <a:schemeClr val="tx1"/>
                </a:solidFill>
              </a:endParaRPr>
            </a:p>
          </p:txBody>
        </p:sp>
      </p:grpSp>
      <p:grpSp>
        <p:nvGrpSpPr>
          <p:cNvPr id="27" name="Group 26"/>
          <p:cNvGrpSpPr/>
          <p:nvPr/>
        </p:nvGrpSpPr>
        <p:grpSpPr>
          <a:xfrm>
            <a:off x="8485870" y="2682703"/>
            <a:ext cx="2679494" cy="2757176"/>
            <a:chOff x="8485870" y="2682703"/>
            <a:chExt cx="2679494" cy="2757176"/>
          </a:xfrm>
        </p:grpSpPr>
        <p:grpSp>
          <p:nvGrpSpPr>
            <p:cNvPr id="6" name="Group 5"/>
            <p:cNvGrpSpPr/>
            <p:nvPr/>
          </p:nvGrpSpPr>
          <p:grpSpPr>
            <a:xfrm>
              <a:off x="8489856" y="2682703"/>
              <a:ext cx="2675508" cy="2757176"/>
              <a:chOff x="7324834" y="4534987"/>
              <a:chExt cx="2675508" cy="2757176"/>
            </a:xfrm>
          </p:grpSpPr>
          <p:sp>
            <p:nvSpPr>
              <p:cNvPr id="21" name="Rectangle 20"/>
              <p:cNvSpPr/>
              <p:nvPr/>
            </p:nvSpPr>
            <p:spPr>
              <a:xfrm>
                <a:off x="7324834" y="4534987"/>
                <a:ext cx="2675507" cy="5513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err="1" smtClean="0">
                    <a:solidFill>
                      <a:schemeClr val="tx1"/>
                    </a:solidFill>
                  </a:rPr>
                  <a:t>K</a:t>
                </a:r>
                <a:r>
                  <a:rPr lang="en-IN" sz="2400" baseline="30000" dirty="0" err="1" smtClean="0">
                    <a:solidFill>
                      <a:schemeClr val="tx1"/>
                    </a:solidFill>
                  </a:rPr>
                  <a:t>+</a:t>
                </a:r>
                <a:r>
                  <a:rPr lang="en-IN" sz="2400" baseline="-25000" dirty="0" err="1" smtClean="0">
                    <a:solidFill>
                      <a:schemeClr val="tx1"/>
                    </a:solidFill>
                  </a:rPr>
                  <a:t>Adm</a:t>
                </a:r>
                <a:endParaRPr lang="en-IN" sz="2400" baseline="-25000" dirty="0">
                  <a:solidFill>
                    <a:schemeClr val="tx1"/>
                  </a:solidFill>
                </a:endParaRPr>
              </a:p>
            </p:txBody>
          </p:sp>
          <p:sp>
            <p:nvSpPr>
              <p:cNvPr id="22" name="Rectangle 21"/>
              <p:cNvSpPr/>
              <p:nvPr/>
            </p:nvSpPr>
            <p:spPr>
              <a:xfrm>
                <a:off x="7324834" y="5095535"/>
                <a:ext cx="2675508" cy="5513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R</a:t>
                </a:r>
                <a:r>
                  <a:rPr lang="en-IN" sz="2400" dirty="0" smtClean="0">
                    <a:solidFill>
                      <a:schemeClr val="tx1"/>
                    </a:solidFill>
                  </a:rPr>
                  <a:t>: 1101111100</a:t>
                </a:r>
                <a:endParaRPr lang="en-IN" sz="2400" dirty="0">
                  <a:solidFill>
                    <a:schemeClr val="tx1"/>
                  </a:solidFill>
                </a:endParaRPr>
              </a:p>
            </p:txBody>
          </p:sp>
          <p:sp>
            <p:nvSpPr>
              <p:cNvPr id="23" name="Rectangle 22"/>
              <p:cNvSpPr/>
              <p:nvPr/>
            </p:nvSpPr>
            <p:spPr>
              <a:xfrm>
                <a:off x="7324834" y="6740834"/>
                <a:ext cx="2671522" cy="5513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s</a:t>
                </a:r>
                <a:r>
                  <a:rPr lang="en-IN" sz="2400" dirty="0" smtClean="0">
                    <a:solidFill>
                      <a:schemeClr val="tx1"/>
                    </a:solidFill>
                  </a:rPr>
                  <a:t>ig(O, {R,U,D, </a:t>
                </a:r>
                <a:r>
                  <a:rPr lang="en-IN" sz="2400" dirty="0" err="1" smtClean="0">
                    <a:solidFill>
                      <a:schemeClr val="tx1"/>
                    </a:solidFill>
                  </a:rPr>
                  <a:t>K</a:t>
                </a:r>
                <a:r>
                  <a:rPr lang="en-IN" sz="2400" baseline="30000" dirty="0" err="1" smtClean="0">
                    <a:solidFill>
                      <a:schemeClr val="tx1"/>
                    </a:solidFill>
                  </a:rPr>
                  <a:t>+</a:t>
                </a:r>
                <a:r>
                  <a:rPr lang="en-IN" sz="2400" baseline="-25000" dirty="0" err="1" smtClean="0">
                    <a:solidFill>
                      <a:schemeClr val="tx1"/>
                    </a:solidFill>
                  </a:rPr>
                  <a:t>Adm</a:t>
                </a:r>
                <a:r>
                  <a:rPr lang="en-IN" sz="2400" dirty="0" smtClean="0">
                    <a:solidFill>
                      <a:schemeClr val="tx1"/>
                    </a:solidFill>
                  </a:rPr>
                  <a:t>})</a:t>
                </a:r>
                <a:endParaRPr lang="en-IN" sz="2400" baseline="-25000" dirty="0">
                  <a:solidFill>
                    <a:schemeClr val="tx1"/>
                  </a:solidFill>
                </a:endParaRPr>
              </a:p>
            </p:txBody>
          </p:sp>
          <p:sp>
            <p:nvSpPr>
              <p:cNvPr id="24" name="Rectangle 23"/>
              <p:cNvSpPr/>
              <p:nvPr/>
            </p:nvSpPr>
            <p:spPr>
              <a:xfrm>
                <a:off x="7324834" y="5637298"/>
                <a:ext cx="2675508" cy="5513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tx1"/>
                    </a:solidFill>
                  </a:rPr>
                  <a:t>U: 011001111</a:t>
                </a:r>
                <a:endParaRPr lang="en-IN" sz="2400" dirty="0">
                  <a:solidFill>
                    <a:schemeClr val="tx1"/>
                  </a:solidFill>
                </a:endParaRPr>
              </a:p>
            </p:txBody>
          </p:sp>
        </p:grpSp>
        <p:sp>
          <p:nvSpPr>
            <p:cNvPr id="26" name="Rectangle 25"/>
            <p:cNvSpPr/>
            <p:nvPr/>
          </p:nvSpPr>
          <p:spPr>
            <a:xfrm>
              <a:off x="8485870" y="4344476"/>
              <a:ext cx="2675508" cy="5513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tx1"/>
                  </a:solidFill>
                </a:rPr>
                <a:t>D:1</a:t>
              </a:r>
              <a:endParaRPr lang="en-IN" sz="2400" dirty="0">
                <a:solidFill>
                  <a:schemeClr val="tx1"/>
                </a:solidFill>
              </a:endParaRPr>
            </a:p>
          </p:txBody>
        </p:sp>
      </p:grpSp>
    </p:spTree>
    <p:extLst>
      <p:ext uri="{BB962C8B-B14F-4D97-AF65-F5344CB8AC3E}">
        <p14:creationId xmlns:p14="http://schemas.microsoft.com/office/powerpoint/2010/main" val="4164839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down)">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Secure Method </a:t>
            </a:r>
            <a:r>
              <a:rPr lang="en-US" dirty="0" smtClean="0"/>
              <a:t>Invocation</a:t>
            </a:r>
            <a:endParaRPr lang="en-US" dirty="0"/>
          </a:p>
        </p:txBody>
      </p:sp>
      <p:pic>
        <p:nvPicPr>
          <p:cNvPr id="4" name="Picture 4" descr="10-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855" y="877701"/>
            <a:ext cx="9509508" cy="4119469"/>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1600200" y="877701"/>
            <a:ext cx="927847" cy="1179699"/>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362200" y="1175657"/>
            <a:ext cx="1308192" cy="754743"/>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1785257" y="1977984"/>
            <a:ext cx="576943" cy="754743"/>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2362200" y="2223900"/>
            <a:ext cx="1308192" cy="989513"/>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4368340" y="1770743"/>
            <a:ext cx="1437374" cy="1214483"/>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4368339" y="3028563"/>
            <a:ext cx="2163089" cy="849706"/>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1785257" y="3213413"/>
            <a:ext cx="576944" cy="664856"/>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2439352" y="3979870"/>
            <a:ext cx="1231040" cy="563102"/>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Content Placeholder 2">
            <a:extLst>
              <a:ext uri="{FF2B5EF4-FFF2-40B4-BE49-F238E27FC236}">
                <a16:creationId xmlns:a16="http://schemas.microsoft.com/office/drawing/2014/main" xmlns="" id="{139A428D-8F15-4206-B337-FA27C005FA71}"/>
              </a:ext>
            </a:extLst>
          </p:cNvPr>
          <p:cNvSpPr>
            <a:spLocks noGrp="1"/>
          </p:cNvSpPr>
          <p:nvPr>
            <p:ph idx="1"/>
          </p:nvPr>
        </p:nvSpPr>
        <p:spPr>
          <a:xfrm>
            <a:off x="1084667" y="5263144"/>
            <a:ext cx="8730432" cy="753036"/>
          </a:xfrm>
        </p:spPr>
        <p:txBody>
          <a:bodyPr/>
          <a:lstStyle/>
          <a:p>
            <a:pPr marL="0" indent="0">
              <a:buNone/>
            </a:pPr>
            <a:r>
              <a:rPr lang="en-US" dirty="0" smtClean="0">
                <a:solidFill>
                  <a:schemeClr val="accent6"/>
                </a:solidFill>
              </a:rPr>
              <a:t>1. Application </a:t>
            </a:r>
            <a:r>
              <a:rPr lang="en-US" dirty="0">
                <a:solidFill>
                  <a:schemeClr val="accent6"/>
                </a:solidFill>
              </a:rPr>
              <a:t>issues a invocation request by locally calling the associated </a:t>
            </a:r>
            <a:r>
              <a:rPr lang="en-US" dirty="0" smtClean="0">
                <a:solidFill>
                  <a:schemeClr val="accent6"/>
                </a:solidFill>
              </a:rPr>
              <a:t>method</a:t>
            </a:r>
            <a:endParaRPr lang="en-US" dirty="0">
              <a:solidFill>
                <a:schemeClr val="accent6"/>
              </a:solidFill>
            </a:endParaRPr>
          </a:p>
        </p:txBody>
      </p:sp>
      <p:sp>
        <p:nvSpPr>
          <p:cNvPr id="19" name="Content Placeholder 2">
            <a:extLst>
              <a:ext uri="{FF2B5EF4-FFF2-40B4-BE49-F238E27FC236}">
                <a16:creationId xmlns:a16="http://schemas.microsoft.com/office/drawing/2014/main" xmlns="" id="{139A428D-8F15-4206-B337-FA27C005FA71}"/>
              </a:ext>
            </a:extLst>
          </p:cNvPr>
          <p:cNvSpPr txBox="1">
            <a:spLocks/>
          </p:cNvSpPr>
          <p:nvPr/>
        </p:nvSpPr>
        <p:spPr>
          <a:xfrm>
            <a:off x="1084667" y="5233647"/>
            <a:ext cx="8730432" cy="75303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smtClean="0">
                <a:solidFill>
                  <a:srgbClr val="1D3064"/>
                </a:solidFill>
              </a:rPr>
              <a:t>2. Control sub-object </a:t>
            </a:r>
            <a:r>
              <a:rPr lang="en-US" dirty="0">
                <a:solidFill>
                  <a:srgbClr val="1D3064"/>
                </a:solidFill>
              </a:rPr>
              <a:t>checks the user permissions with the information stored in the local security object. </a:t>
            </a:r>
          </a:p>
        </p:txBody>
      </p:sp>
      <p:sp>
        <p:nvSpPr>
          <p:cNvPr id="20" name="Content Placeholder 2">
            <a:extLst>
              <a:ext uri="{FF2B5EF4-FFF2-40B4-BE49-F238E27FC236}">
                <a16:creationId xmlns:a16="http://schemas.microsoft.com/office/drawing/2014/main" xmlns="" id="{139A428D-8F15-4206-B337-FA27C005FA71}"/>
              </a:ext>
            </a:extLst>
          </p:cNvPr>
          <p:cNvSpPr txBox="1">
            <a:spLocks/>
          </p:cNvSpPr>
          <p:nvPr/>
        </p:nvSpPr>
        <p:spPr>
          <a:xfrm>
            <a:off x="1085922" y="5263144"/>
            <a:ext cx="5010078" cy="39071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smtClean="0">
                <a:solidFill>
                  <a:schemeClr val="accent6"/>
                </a:solidFill>
              </a:rPr>
              <a:t>3</a:t>
            </a:r>
            <a:r>
              <a:rPr lang="en-US" dirty="0">
                <a:solidFill>
                  <a:schemeClr val="accent6"/>
                </a:solidFill>
              </a:rPr>
              <a:t>. Request is marshaled and passed on</a:t>
            </a:r>
          </a:p>
        </p:txBody>
      </p:sp>
      <p:sp>
        <p:nvSpPr>
          <p:cNvPr id="21" name="Content Placeholder 2">
            <a:extLst>
              <a:ext uri="{FF2B5EF4-FFF2-40B4-BE49-F238E27FC236}">
                <a16:creationId xmlns:a16="http://schemas.microsoft.com/office/drawing/2014/main" xmlns="" id="{139A428D-8F15-4206-B337-FA27C005FA71}"/>
              </a:ext>
            </a:extLst>
          </p:cNvPr>
          <p:cNvSpPr txBox="1">
            <a:spLocks/>
          </p:cNvSpPr>
          <p:nvPr/>
        </p:nvSpPr>
        <p:spPr>
          <a:xfrm>
            <a:off x="1084667" y="5424247"/>
            <a:ext cx="8730432" cy="72885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smtClean="0">
                <a:solidFill>
                  <a:srgbClr val="1D3064"/>
                </a:solidFill>
              </a:rPr>
              <a:t>4. Replication sub-object </a:t>
            </a:r>
            <a:r>
              <a:rPr lang="en-US" dirty="0">
                <a:solidFill>
                  <a:srgbClr val="1D3064"/>
                </a:solidFill>
              </a:rPr>
              <a:t>requests the middleware to set up a secure channel to a suitable replica</a:t>
            </a:r>
          </a:p>
        </p:txBody>
      </p:sp>
      <p:sp>
        <p:nvSpPr>
          <p:cNvPr id="22" name="Content Placeholder 2">
            <a:extLst>
              <a:ext uri="{FF2B5EF4-FFF2-40B4-BE49-F238E27FC236}">
                <a16:creationId xmlns:a16="http://schemas.microsoft.com/office/drawing/2014/main" xmlns="" id="{139A428D-8F15-4206-B337-FA27C005FA71}"/>
              </a:ext>
            </a:extLst>
          </p:cNvPr>
          <p:cNvSpPr txBox="1">
            <a:spLocks/>
          </p:cNvSpPr>
          <p:nvPr/>
        </p:nvSpPr>
        <p:spPr>
          <a:xfrm>
            <a:off x="1149099" y="5335094"/>
            <a:ext cx="5955855" cy="42853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smtClean="0">
                <a:solidFill>
                  <a:schemeClr val="accent6"/>
                </a:solidFill>
              </a:rPr>
              <a:t>5. Security </a:t>
            </a:r>
            <a:r>
              <a:rPr lang="en-US" dirty="0">
                <a:solidFill>
                  <a:schemeClr val="accent6"/>
                </a:solidFill>
              </a:rPr>
              <a:t>object first initiates a replica lookup</a:t>
            </a:r>
          </a:p>
        </p:txBody>
      </p:sp>
      <p:sp>
        <p:nvSpPr>
          <p:cNvPr id="23" name="Content Placeholder 2">
            <a:extLst>
              <a:ext uri="{FF2B5EF4-FFF2-40B4-BE49-F238E27FC236}">
                <a16:creationId xmlns:a16="http://schemas.microsoft.com/office/drawing/2014/main" xmlns="" id="{139A428D-8F15-4206-B337-FA27C005FA71}"/>
              </a:ext>
            </a:extLst>
          </p:cNvPr>
          <p:cNvSpPr txBox="1">
            <a:spLocks/>
          </p:cNvSpPr>
          <p:nvPr/>
        </p:nvSpPr>
        <p:spPr>
          <a:xfrm>
            <a:off x="1084667" y="5263144"/>
            <a:ext cx="8730432" cy="102328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smtClean="0">
                <a:solidFill>
                  <a:srgbClr val="1D3064"/>
                </a:solidFill>
              </a:rPr>
              <a:t>6. Once </a:t>
            </a:r>
            <a:r>
              <a:rPr lang="en-US" dirty="0">
                <a:solidFill>
                  <a:srgbClr val="1D3064"/>
                </a:solidFill>
              </a:rPr>
              <a:t>a suitable replica has been found, security </a:t>
            </a:r>
            <a:r>
              <a:rPr lang="en-US" dirty="0" smtClean="0">
                <a:solidFill>
                  <a:srgbClr val="1D3064"/>
                </a:solidFill>
              </a:rPr>
              <a:t>sub-object </a:t>
            </a:r>
            <a:r>
              <a:rPr lang="en-US" dirty="0">
                <a:solidFill>
                  <a:srgbClr val="1D3064"/>
                </a:solidFill>
              </a:rPr>
              <a:t>can set up a secure channel with its peer, after which control is returned to the replication </a:t>
            </a:r>
            <a:r>
              <a:rPr lang="en-US" dirty="0" smtClean="0">
                <a:solidFill>
                  <a:srgbClr val="1D3064"/>
                </a:solidFill>
              </a:rPr>
              <a:t>sub-object</a:t>
            </a:r>
            <a:r>
              <a:rPr lang="en-US" dirty="0">
                <a:solidFill>
                  <a:srgbClr val="1D3064"/>
                </a:solidFill>
              </a:rPr>
              <a:t>.</a:t>
            </a:r>
          </a:p>
        </p:txBody>
      </p:sp>
      <p:sp>
        <p:nvSpPr>
          <p:cNvPr id="24" name="Content Placeholder 2">
            <a:extLst>
              <a:ext uri="{FF2B5EF4-FFF2-40B4-BE49-F238E27FC236}">
                <a16:creationId xmlns:a16="http://schemas.microsoft.com/office/drawing/2014/main" xmlns="" id="{139A428D-8F15-4206-B337-FA27C005FA71}"/>
              </a:ext>
            </a:extLst>
          </p:cNvPr>
          <p:cNvSpPr txBox="1">
            <a:spLocks/>
          </p:cNvSpPr>
          <p:nvPr/>
        </p:nvSpPr>
        <p:spPr>
          <a:xfrm>
            <a:off x="1093016" y="5346685"/>
            <a:ext cx="8730432" cy="46325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smtClean="0">
                <a:solidFill>
                  <a:schemeClr val="accent6"/>
                </a:solidFill>
              </a:rPr>
              <a:t>7. Request </a:t>
            </a:r>
            <a:r>
              <a:rPr lang="en-US" dirty="0">
                <a:solidFill>
                  <a:schemeClr val="accent6"/>
                </a:solidFill>
              </a:rPr>
              <a:t>is now passed on to the communication </a:t>
            </a:r>
            <a:r>
              <a:rPr lang="en-US" dirty="0" smtClean="0">
                <a:solidFill>
                  <a:schemeClr val="accent6"/>
                </a:solidFill>
              </a:rPr>
              <a:t>sub-object</a:t>
            </a:r>
            <a:r>
              <a:rPr lang="en-US" dirty="0">
                <a:solidFill>
                  <a:schemeClr val="accent6"/>
                </a:solidFill>
              </a:rPr>
              <a:t>.</a:t>
            </a:r>
          </a:p>
        </p:txBody>
      </p:sp>
      <p:sp>
        <p:nvSpPr>
          <p:cNvPr id="25" name="Content Placeholder 2">
            <a:extLst>
              <a:ext uri="{FF2B5EF4-FFF2-40B4-BE49-F238E27FC236}">
                <a16:creationId xmlns:a16="http://schemas.microsoft.com/office/drawing/2014/main" xmlns="" id="{139A428D-8F15-4206-B337-FA27C005FA71}"/>
              </a:ext>
            </a:extLst>
          </p:cNvPr>
          <p:cNvSpPr txBox="1">
            <a:spLocks/>
          </p:cNvSpPr>
          <p:nvPr/>
        </p:nvSpPr>
        <p:spPr>
          <a:xfrm>
            <a:off x="1084667" y="5293720"/>
            <a:ext cx="8730432" cy="46325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smtClean="0">
                <a:solidFill>
                  <a:srgbClr val="1D3064"/>
                </a:solidFill>
              </a:rPr>
              <a:t>8. Subobject </a:t>
            </a:r>
            <a:r>
              <a:rPr lang="en-US" dirty="0">
                <a:solidFill>
                  <a:srgbClr val="1D3064"/>
                </a:solidFill>
              </a:rPr>
              <a:t>encrypts and signs the request so that it can pass through the channel</a:t>
            </a:r>
          </a:p>
        </p:txBody>
      </p:sp>
      <p:sp>
        <p:nvSpPr>
          <p:cNvPr id="26" name="Rectangle 25"/>
          <p:cNvSpPr/>
          <p:nvPr/>
        </p:nvSpPr>
        <p:spPr>
          <a:xfrm>
            <a:off x="7088093" y="3453415"/>
            <a:ext cx="1449474" cy="903431"/>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p:cNvSpPr/>
          <p:nvPr/>
        </p:nvSpPr>
        <p:spPr>
          <a:xfrm>
            <a:off x="8537566" y="3173278"/>
            <a:ext cx="454873" cy="704991"/>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p:cNvSpPr/>
          <p:nvPr/>
        </p:nvSpPr>
        <p:spPr>
          <a:xfrm>
            <a:off x="7104954" y="2326341"/>
            <a:ext cx="1432612" cy="800990"/>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p:cNvSpPr/>
          <p:nvPr/>
        </p:nvSpPr>
        <p:spPr>
          <a:xfrm>
            <a:off x="8617675" y="2009502"/>
            <a:ext cx="270831" cy="800990"/>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p:cNvSpPr/>
          <p:nvPr/>
        </p:nvSpPr>
        <p:spPr>
          <a:xfrm>
            <a:off x="7095548" y="1241867"/>
            <a:ext cx="1432612" cy="607983"/>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Content Placeholder 2">
            <a:extLst>
              <a:ext uri="{FF2B5EF4-FFF2-40B4-BE49-F238E27FC236}">
                <a16:creationId xmlns:a16="http://schemas.microsoft.com/office/drawing/2014/main" xmlns="" id="{139A428D-8F15-4206-B337-FA27C005FA71}"/>
              </a:ext>
            </a:extLst>
          </p:cNvPr>
          <p:cNvSpPr txBox="1">
            <a:spLocks/>
          </p:cNvSpPr>
          <p:nvPr/>
        </p:nvSpPr>
        <p:spPr>
          <a:xfrm>
            <a:off x="1132855" y="5242033"/>
            <a:ext cx="8730432" cy="46325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smtClean="0">
                <a:solidFill>
                  <a:schemeClr val="accent6"/>
                </a:solidFill>
              </a:rPr>
              <a:t>9. After </a:t>
            </a:r>
            <a:r>
              <a:rPr lang="en-US" dirty="0">
                <a:solidFill>
                  <a:schemeClr val="accent6"/>
                </a:solidFill>
              </a:rPr>
              <a:t>its receipt, the request is decrypted and authenticated</a:t>
            </a:r>
          </a:p>
        </p:txBody>
      </p:sp>
      <p:sp>
        <p:nvSpPr>
          <p:cNvPr id="38" name="Content Placeholder 2">
            <a:extLst>
              <a:ext uri="{FF2B5EF4-FFF2-40B4-BE49-F238E27FC236}">
                <a16:creationId xmlns:a16="http://schemas.microsoft.com/office/drawing/2014/main" xmlns="" id="{139A428D-8F15-4206-B337-FA27C005FA71}"/>
              </a:ext>
            </a:extLst>
          </p:cNvPr>
          <p:cNvSpPr txBox="1">
            <a:spLocks/>
          </p:cNvSpPr>
          <p:nvPr/>
        </p:nvSpPr>
        <p:spPr>
          <a:xfrm>
            <a:off x="1058472" y="5313701"/>
            <a:ext cx="8730432" cy="46325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smtClean="0">
                <a:solidFill>
                  <a:srgbClr val="1D3064"/>
                </a:solidFill>
              </a:rPr>
              <a:t>10. Request </a:t>
            </a:r>
            <a:r>
              <a:rPr lang="en-US" dirty="0">
                <a:solidFill>
                  <a:srgbClr val="1D3064"/>
                </a:solidFill>
              </a:rPr>
              <a:t>then passed on to the server-side replication </a:t>
            </a:r>
            <a:r>
              <a:rPr lang="en-US" dirty="0" smtClean="0">
                <a:solidFill>
                  <a:srgbClr val="1D3064"/>
                </a:solidFill>
              </a:rPr>
              <a:t>sub-object</a:t>
            </a:r>
            <a:r>
              <a:rPr lang="en-US" dirty="0">
                <a:solidFill>
                  <a:srgbClr val="1D3064"/>
                </a:solidFill>
              </a:rPr>
              <a:t>.</a:t>
            </a:r>
          </a:p>
        </p:txBody>
      </p:sp>
      <p:sp>
        <p:nvSpPr>
          <p:cNvPr id="39" name="Content Placeholder 2">
            <a:extLst>
              <a:ext uri="{FF2B5EF4-FFF2-40B4-BE49-F238E27FC236}">
                <a16:creationId xmlns:a16="http://schemas.microsoft.com/office/drawing/2014/main" xmlns="" id="{139A428D-8F15-4206-B337-FA27C005FA71}"/>
              </a:ext>
            </a:extLst>
          </p:cNvPr>
          <p:cNvSpPr txBox="1">
            <a:spLocks/>
          </p:cNvSpPr>
          <p:nvPr/>
        </p:nvSpPr>
        <p:spPr>
          <a:xfrm>
            <a:off x="1188938" y="5319268"/>
            <a:ext cx="8730432" cy="46325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smtClean="0">
                <a:solidFill>
                  <a:schemeClr val="accent6"/>
                </a:solidFill>
              </a:rPr>
              <a:t>13. Finally</a:t>
            </a:r>
            <a:r>
              <a:rPr lang="en-US" dirty="0">
                <a:solidFill>
                  <a:schemeClr val="accent6"/>
                </a:solidFill>
              </a:rPr>
              <a:t>, the operation can be executed</a:t>
            </a:r>
          </a:p>
        </p:txBody>
      </p:sp>
      <p:sp>
        <p:nvSpPr>
          <p:cNvPr id="40" name="Content Placeholder 2">
            <a:extLst>
              <a:ext uri="{FF2B5EF4-FFF2-40B4-BE49-F238E27FC236}">
                <a16:creationId xmlns:a16="http://schemas.microsoft.com/office/drawing/2014/main" xmlns="" id="{139A428D-8F15-4206-B337-FA27C005FA71}"/>
              </a:ext>
            </a:extLst>
          </p:cNvPr>
          <p:cNvSpPr txBox="1">
            <a:spLocks/>
          </p:cNvSpPr>
          <p:nvPr/>
        </p:nvSpPr>
        <p:spPr>
          <a:xfrm>
            <a:off x="1044828" y="5287069"/>
            <a:ext cx="8730432" cy="46325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smtClean="0">
                <a:solidFill>
                  <a:srgbClr val="1D3064"/>
                </a:solidFill>
              </a:rPr>
              <a:t>12. Request </a:t>
            </a:r>
            <a:r>
              <a:rPr lang="en-US" dirty="0">
                <a:solidFill>
                  <a:srgbClr val="1D3064"/>
                </a:solidFill>
              </a:rPr>
              <a:t>is then </a:t>
            </a:r>
            <a:r>
              <a:rPr lang="en-US" dirty="0" smtClean="0">
                <a:solidFill>
                  <a:srgbClr val="1D3064"/>
                </a:solidFill>
              </a:rPr>
              <a:t>un-marshaled</a:t>
            </a:r>
            <a:endParaRPr lang="en-US" dirty="0">
              <a:solidFill>
                <a:srgbClr val="1D3064"/>
              </a:solidFill>
            </a:endParaRPr>
          </a:p>
        </p:txBody>
      </p:sp>
      <p:sp>
        <p:nvSpPr>
          <p:cNvPr id="41" name="Content Placeholder 2">
            <a:extLst>
              <a:ext uri="{FF2B5EF4-FFF2-40B4-BE49-F238E27FC236}">
                <a16:creationId xmlns:a16="http://schemas.microsoft.com/office/drawing/2014/main" xmlns="" id="{139A428D-8F15-4206-B337-FA27C005FA71}"/>
              </a:ext>
            </a:extLst>
          </p:cNvPr>
          <p:cNvSpPr txBox="1">
            <a:spLocks/>
          </p:cNvSpPr>
          <p:nvPr/>
        </p:nvSpPr>
        <p:spPr>
          <a:xfrm>
            <a:off x="1061127" y="5352130"/>
            <a:ext cx="8730432" cy="46325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smtClean="0">
                <a:solidFill>
                  <a:schemeClr val="accent6"/>
                </a:solidFill>
              </a:rPr>
              <a:t>11. Authorization </a:t>
            </a:r>
            <a:r>
              <a:rPr lang="en-US" dirty="0">
                <a:solidFill>
                  <a:schemeClr val="accent6"/>
                </a:solidFill>
              </a:rPr>
              <a:t>takes place</a:t>
            </a:r>
          </a:p>
        </p:txBody>
      </p:sp>
    </p:spTree>
    <p:extLst>
      <p:ext uri="{BB962C8B-B14F-4D97-AF65-F5344CB8AC3E}">
        <p14:creationId xmlns:p14="http://schemas.microsoft.com/office/powerpoint/2010/main" val="255428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childTnLst>
                                  <p:subTnLst>
                                    <p:set>
                                      <p:cBhvr override="childStyle">
                                        <p:cTn dur="1" fill="hold" display="0" masterRel="nextClick" afterEffect="1"/>
                                        <p:tgtEl>
                                          <p:spTgt spid="18">
                                            <p:txEl>
                                              <p:pRg st="0" end="0"/>
                                            </p:txEl>
                                          </p:spTgt>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7"/>
                                        </p:tgtEl>
                                        <p:attrNameLst>
                                          <p:attrName>style.visibility</p:attrName>
                                        </p:attrNameLst>
                                      </p:cBhvr>
                                      <p:to>
                                        <p:strVal val="visible"/>
                                      </p:to>
                                    </p:set>
                                  </p:childTnLst>
                                  <p:subTnLst>
                                    <p:set>
                                      <p:cBhvr override="childStyle">
                                        <p:cTn dur="1" fill="hold" display="0" masterRel="nextClick" afterEffect="1"/>
                                        <p:tgtEl>
                                          <p:spTgt spid="37"/>
                                        </p:tgtEl>
                                        <p:attrNameLst>
                                          <p:attrName>style.visibility</p:attrName>
                                        </p:attrNameLst>
                                      </p:cBhvr>
                                      <p:to>
                                        <p:strVal val="hidden"/>
                                      </p:to>
                                    </p:set>
                                  </p:subTnLst>
                                </p:cTn>
                              </p:par>
                              <p:par>
                                <p:cTn id="59" presetID="1"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8"/>
                                        </p:tgtEl>
                                        <p:attrNameLst>
                                          <p:attrName>style.visibility</p:attrName>
                                        </p:attrNameLst>
                                      </p:cBhvr>
                                      <p:to>
                                        <p:strVal val="visible"/>
                                      </p:to>
                                    </p:set>
                                  </p:childTnLst>
                                  <p:subTnLst>
                                    <p:set>
                                      <p:cBhvr override="childStyle">
                                        <p:cTn dur="1" fill="hold" display="0" masterRel="nextClick" afterEffect="1"/>
                                        <p:tgtEl>
                                          <p:spTgt spid="38"/>
                                        </p:tgtEl>
                                        <p:attrNameLst>
                                          <p:attrName>style.visibility</p:attrName>
                                        </p:attrNameLst>
                                      </p:cBhvr>
                                      <p:to>
                                        <p:strVal val="hidden"/>
                                      </p:to>
                                    </p:set>
                                  </p:subTnLst>
                                </p:cTn>
                              </p:par>
                              <p:par>
                                <p:cTn id="65" presetID="1"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1"/>
                                        </p:tgtEl>
                                        <p:attrNameLst>
                                          <p:attrName>style.visibility</p:attrName>
                                        </p:attrNameLst>
                                      </p:cBhvr>
                                      <p:to>
                                        <p:strVal val="visible"/>
                                      </p:to>
                                    </p:set>
                                  </p:childTnLst>
                                  <p:subTnLst>
                                    <p:set>
                                      <p:cBhvr override="childStyle">
                                        <p:cTn dur="1" fill="hold" display="0" masterRel="nextClick" afterEffect="1"/>
                                        <p:tgtEl>
                                          <p:spTgt spid="41"/>
                                        </p:tgtEl>
                                        <p:attrNameLst>
                                          <p:attrName>style.visibility</p:attrName>
                                        </p:attrNameLst>
                                      </p:cBhvr>
                                      <p:to>
                                        <p:strVal val="hidden"/>
                                      </p:to>
                                    </p:set>
                                  </p:subTnLst>
                                </p:cTn>
                              </p:par>
                              <p:par>
                                <p:cTn id="71" presetID="1"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0"/>
                                        </p:tgtEl>
                                        <p:attrNameLst>
                                          <p:attrName>style.visibility</p:attrName>
                                        </p:attrNameLst>
                                      </p:cBhvr>
                                      <p:to>
                                        <p:strVal val="visible"/>
                                      </p:to>
                                    </p:set>
                                  </p:childTnLst>
                                  <p:subTnLst>
                                    <p:set>
                                      <p:cBhvr override="childStyle">
                                        <p:cTn dur="1" fill="hold" display="0" masterRel="nextClick" afterEffect="1"/>
                                        <p:tgtEl>
                                          <p:spTgt spid="40"/>
                                        </p:tgtEl>
                                        <p:attrNameLst>
                                          <p:attrName>style.visibility</p:attrName>
                                        </p:attrNameLst>
                                      </p:cBhvr>
                                      <p:to>
                                        <p:strVal val="hidden"/>
                                      </p:to>
                                    </p:set>
                                  </p:subTnLst>
                                </p:cTn>
                              </p:par>
                              <p:par>
                                <p:cTn id="77" presetID="1"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9"/>
                                        </p:tgtEl>
                                        <p:attrNameLst>
                                          <p:attrName>style.visibility</p:attrName>
                                        </p:attrNameLst>
                                      </p:cBhvr>
                                      <p:to>
                                        <p:strVal val="visible"/>
                                      </p:to>
                                    </p:set>
                                  </p:childTnLst>
                                  <p:subTnLst>
                                    <p:set>
                                      <p:cBhvr override="childStyle">
                                        <p:cTn dur="1" fill="hold" display="0" masterRel="nextClick" afterEffect="1"/>
                                        <p:tgtEl>
                                          <p:spTgt spid="39"/>
                                        </p:tgtEl>
                                        <p:attrNameLst>
                                          <p:attrName>style.visibility</p:attrName>
                                        </p:attrNameLst>
                                      </p:cBhvr>
                                      <p:to>
                                        <p:strVal val="hidden"/>
                                      </p:to>
                                    </p:set>
                                  </p:subTnLst>
                                </p:cTn>
                              </p:par>
                              <p:par>
                                <p:cTn id="83" presetID="1" presetClass="entr" presetSubtype="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build="p"/>
      <p:bldP spid="19" grpId="0"/>
      <p:bldP spid="20" grpId="0"/>
      <p:bldP spid="21" grpId="0"/>
      <p:bldP spid="22" grpId="0"/>
      <p:bldP spid="23" grpId="0"/>
      <p:bldP spid="24" grpId="0"/>
      <p:bldP spid="25" grpId="0"/>
      <p:bldP spid="26" grpId="0" animBg="1"/>
      <p:bldP spid="27" grpId="0" animBg="1"/>
      <p:bldP spid="28" grpId="0" animBg="1"/>
      <p:bldP spid="29" grpId="0" animBg="1"/>
      <p:bldP spid="31" grpId="0" animBg="1"/>
      <p:bldP spid="37" grpId="0"/>
      <p:bldP spid="38" grpId="0"/>
      <p:bldP spid="39" grpId="0"/>
      <p:bldP spid="40" grpId="0"/>
      <p:bldP spid="4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Categories of Distributed System</a:t>
            </a:r>
          </a:p>
        </p:txBody>
      </p:sp>
      <p:sp>
        <p:nvSpPr>
          <p:cNvPr id="4" name="TextBox 3"/>
          <p:cNvSpPr txBox="1"/>
          <p:nvPr/>
        </p:nvSpPr>
        <p:spPr>
          <a:xfrm>
            <a:off x="645459" y="3966882"/>
            <a:ext cx="7597589" cy="830997"/>
          </a:xfrm>
          <a:prstGeom prst="rect">
            <a:avLst/>
          </a:prstGeom>
          <a:noFill/>
        </p:spPr>
        <p:txBody>
          <a:bodyPr wrap="square" rtlCol="0">
            <a:spAutoFit/>
          </a:bodyPr>
          <a:lstStyle/>
          <a:p>
            <a:r>
              <a:rPr lang="en-IN" sz="4800" b="1" dirty="0">
                <a:solidFill>
                  <a:srgbClr val="1D3064"/>
                </a:solidFill>
              </a:rPr>
              <a:t>Distributed File System</a:t>
            </a:r>
          </a:p>
        </p:txBody>
      </p:sp>
    </p:spTree>
    <p:extLst>
      <p:ext uri="{BB962C8B-B14F-4D97-AF65-F5344CB8AC3E}">
        <p14:creationId xmlns:p14="http://schemas.microsoft.com/office/powerpoint/2010/main" val="222349868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A distributed file system (DFS) is a </a:t>
            </a:r>
            <a:r>
              <a:rPr lang="en-US" dirty="0">
                <a:solidFill>
                  <a:schemeClr val="accent6"/>
                </a:solidFill>
              </a:rPr>
              <a:t>file system with data stored on a server</a:t>
            </a:r>
            <a:r>
              <a:rPr lang="en-US" dirty="0"/>
              <a:t>. </a:t>
            </a:r>
          </a:p>
          <a:p>
            <a:r>
              <a:rPr lang="en-US" dirty="0"/>
              <a:t>The data is accessed and processed as if it was stored on the local client machine. </a:t>
            </a:r>
          </a:p>
          <a:p>
            <a:r>
              <a:rPr lang="en-US" dirty="0"/>
              <a:t>The DFS makes it convenient to </a:t>
            </a:r>
            <a:r>
              <a:rPr lang="en-US" dirty="0">
                <a:solidFill>
                  <a:schemeClr val="accent6"/>
                </a:solidFill>
              </a:rPr>
              <a:t>share information </a:t>
            </a:r>
            <a:r>
              <a:rPr lang="en-US" dirty="0"/>
              <a:t>and files among users on a network in a controlled and authorized way. </a:t>
            </a:r>
          </a:p>
          <a:p>
            <a:r>
              <a:rPr lang="en-US" dirty="0"/>
              <a:t>Server allows the client users to share files and store data just like they are storing the information locally. </a:t>
            </a:r>
          </a:p>
          <a:p>
            <a:r>
              <a:rPr lang="en-US" dirty="0"/>
              <a:t>Servers have full control over the data and give access control to the clients.</a:t>
            </a:r>
          </a:p>
        </p:txBody>
      </p:sp>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What is Distributed File System?</a:t>
            </a:r>
          </a:p>
        </p:txBody>
      </p:sp>
    </p:spTree>
    <p:extLst>
      <p:ext uri="{BB962C8B-B14F-4D97-AF65-F5344CB8AC3E}">
        <p14:creationId xmlns:p14="http://schemas.microsoft.com/office/powerpoint/2010/main" val="292377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Distributed File System</a:t>
            </a:r>
          </a:p>
        </p:txBody>
      </p:sp>
      <p:sp>
        <p:nvSpPr>
          <p:cNvPr id="5" name="Rectangle 3"/>
          <p:cNvSpPr txBox="1">
            <a:spLocks noChangeArrowheads="1"/>
          </p:cNvSpPr>
          <p:nvPr/>
        </p:nvSpPr>
        <p:spPr>
          <a:xfrm>
            <a:off x="6444334" y="2683108"/>
            <a:ext cx="5590784" cy="1404798"/>
          </a:xfrm>
          <a:prstGeom prst="rect">
            <a:avLst/>
          </a:prstGeom>
          <a:solidFill>
            <a:schemeClr val="bg1"/>
          </a:solidFill>
          <a:ln/>
        </p:spPr>
        <p:txBody>
          <a:bodyPr vert="horz" lIns="91440" tIns="45720" rIns="91440" bIns="45720" rtlCol="0">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altLang="en-US" dirty="0">
                <a:solidFill>
                  <a:schemeClr val="accent6"/>
                </a:solidFill>
                <a:latin typeface="+mn-lt"/>
              </a:rPr>
              <a:t>Distributed file system is a part of distributed system that provides a user with a unified view of the files on the network.</a:t>
            </a:r>
          </a:p>
        </p:txBody>
      </p:sp>
      <p:sp>
        <p:nvSpPr>
          <p:cNvPr id="6" name="Line 253"/>
          <p:cNvSpPr>
            <a:spLocks noChangeShapeType="1"/>
          </p:cNvSpPr>
          <p:nvPr/>
        </p:nvSpPr>
        <p:spPr bwMode="auto">
          <a:xfrm>
            <a:off x="1209861" y="2414027"/>
            <a:ext cx="1588" cy="538163"/>
          </a:xfrm>
          <a:prstGeom prst="line">
            <a:avLst/>
          </a:prstGeom>
          <a:noFill/>
          <a:ln w="28575">
            <a:solidFill>
              <a:srgbClr val="0E3755"/>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Line 254"/>
          <p:cNvSpPr>
            <a:spLocks noChangeShapeType="1"/>
          </p:cNvSpPr>
          <p:nvPr/>
        </p:nvSpPr>
        <p:spPr bwMode="auto">
          <a:xfrm>
            <a:off x="2760849" y="2414027"/>
            <a:ext cx="5354" cy="377826"/>
          </a:xfrm>
          <a:prstGeom prst="line">
            <a:avLst/>
          </a:prstGeom>
          <a:noFill/>
          <a:ln w="28575">
            <a:solidFill>
              <a:srgbClr val="0E3755"/>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 name="Line 255"/>
          <p:cNvSpPr>
            <a:spLocks noChangeShapeType="1"/>
          </p:cNvSpPr>
          <p:nvPr/>
        </p:nvSpPr>
        <p:spPr bwMode="auto">
          <a:xfrm flipH="1">
            <a:off x="5089710" y="2410086"/>
            <a:ext cx="1588" cy="488129"/>
          </a:xfrm>
          <a:prstGeom prst="line">
            <a:avLst/>
          </a:prstGeom>
          <a:noFill/>
          <a:ln w="28575">
            <a:solidFill>
              <a:srgbClr val="0E3755"/>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Line 256"/>
          <p:cNvSpPr>
            <a:spLocks noChangeShapeType="1"/>
          </p:cNvSpPr>
          <p:nvPr/>
        </p:nvSpPr>
        <p:spPr bwMode="auto">
          <a:xfrm flipV="1">
            <a:off x="1597211" y="3479240"/>
            <a:ext cx="1588" cy="484188"/>
          </a:xfrm>
          <a:prstGeom prst="line">
            <a:avLst/>
          </a:prstGeom>
          <a:noFill/>
          <a:ln w="28575">
            <a:solidFill>
              <a:srgbClr val="0E3755"/>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Line 257"/>
          <p:cNvSpPr>
            <a:spLocks noChangeShapeType="1"/>
          </p:cNvSpPr>
          <p:nvPr/>
        </p:nvSpPr>
        <p:spPr bwMode="auto">
          <a:xfrm flipV="1">
            <a:off x="5102102" y="3479240"/>
            <a:ext cx="1588" cy="484188"/>
          </a:xfrm>
          <a:prstGeom prst="line">
            <a:avLst/>
          </a:prstGeom>
          <a:noFill/>
          <a:ln w="28575">
            <a:solidFill>
              <a:srgbClr val="0E3755"/>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Rectangle 258"/>
          <p:cNvSpPr>
            <a:spLocks noChangeArrowheads="1"/>
          </p:cNvSpPr>
          <p:nvPr/>
        </p:nvSpPr>
        <p:spPr bwMode="auto">
          <a:xfrm>
            <a:off x="2156011" y="1486927"/>
            <a:ext cx="1317625" cy="928688"/>
          </a:xfrm>
          <a:prstGeom prst="rect">
            <a:avLst/>
          </a:prstGeom>
          <a:noFill/>
          <a:ln w="28575">
            <a:solidFill>
              <a:srgbClr val="0E3755"/>
            </a:solidFill>
            <a:miter lim="800000"/>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 name="Rectangle 259"/>
          <p:cNvSpPr>
            <a:spLocks noChangeArrowheads="1"/>
          </p:cNvSpPr>
          <p:nvPr/>
        </p:nvSpPr>
        <p:spPr bwMode="auto">
          <a:xfrm>
            <a:off x="2444676" y="1764069"/>
            <a:ext cx="715963" cy="365125"/>
          </a:xfrm>
          <a:prstGeom prst="rect">
            <a:avLst/>
          </a:prstGeom>
          <a:noFill/>
          <a:ln w="28575">
            <a:solidFill>
              <a:srgbClr val="0E3755"/>
            </a:solidFill>
            <a:miter lim="800000"/>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0" lang="en-US" altLang="en-US" sz="1800" dirty="0"/>
              <a:t>cache</a:t>
            </a:r>
          </a:p>
        </p:txBody>
      </p:sp>
      <p:sp>
        <p:nvSpPr>
          <p:cNvPr id="13" name="Rectangle 260"/>
          <p:cNvSpPr>
            <a:spLocks noChangeArrowheads="1"/>
          </p:cNvSpPr>
          <p:nvPr/>
        </p:nvSpPr>
        <p:spPr bwMode="auto">
          <a:xfrm>
            <a:off x="603436" y="1486927"/>
            <a:ext cx="1317625" cy="928688"/>
          </a:xfrm>
          <a:prstGeom prst="rect">
            <a:avLst/>
          </a:prstGeom>
          <a:noFill/>
          <a:ln w="28575">
            <a:solidFill>
              <a:srgbClr val="0E3755"/>
            </a:solidFill>
            <a:miter lim="800000"/>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Rectangle 261"/>
          <p:cNvSpPr>
            <a:spLocks noChangeArrowheads="1"/>
          </p:cNvSpPr>
          <p:nvPr/>
        </p:nvSpPr>
        <p:spPr bwMode="auto">
          <a:xfrm>
            <a:off x="904266" y="1764069"/>
            <a:ext cx="715963" cy="365125"/>
          </a:xfrm>
          <a:prstGeom prst="rect">
            <a:avLst/>
          </a:prstGeom>
          <a:noFill/>
          <a:ln w="28575">
            <a:solidFill>
              <a:srgbClr val="0E3755"/>
            </a:solidFill>
            <a:miter lim="800000"/>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0" lang="en-US" altLang="en-US" sz="1800"/>
              <a:t>cache</a:t>
            </a:r>
          </a:p>
        </p:txBody>
      </p:sp>
      <p:sp>
        <p:nvSpPr>
          <p:cNvPr id="15" name="Rectangle 378"/>
          <p:cNvSpPr>
            <a:spLocks noChangeArrowheads="1"/>
          </p:cNvSpPr>
          <p:nvPr/>
        </p:nvSpPr>
        <p:spPr bwMode="auto">
          <a:xfrm>
            <a:off x="4146788" y="1486825"/>
            <a:ext cx="2200275" cy="928688"/>
          </a:xfrm>
          <a:prstGeom prst="rect">
            <a:avLst/>
          </a:prstGeom>
          <a:noFill/>
          <a:ln w="28575">
            <a:solidFill>
              <a:srgbClr val="0E3755"/>
            </a:solidFill>
            <a:miter lim="800000"/>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Rectangle 379"/>
          <p:cNvSpPr>
            <a:spLocks noChangeArrowheads="1"/>
          </p:cNvSpPr>
          <p:nvPr/>
        </p:nvSpPr>
        <p:spPr bwMode="auto">
          <a:xfrm>
            <a:off x="4395973" y="1793995"/>
            <a:ext cx="715963" cy="365125"/>
          </a:xfrm>
          <a:prstGeom prst="rect">
            <a:avLst/>
          </a:prstGeom>
          <a:noFill/>
          <a:ln w="28575">
            <a:solidFill>
              <a:srgbClr val="0E3755"/>
            </a:solidFill>
            <a:miter lim="800000"/>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0" lang="en-US" altLang="en-US" sz="1800" dirty="0"/>
              <a:t>cache</a:t>
            </a:r>
          </a:p>
        </p:txBody>
      </p:sp>
      <p:sp>
        <p:nvSpPr>
          <p:cNvPr id="17" name="Rectangle 380"/>
          <p:cNvSpPr>
            <a:spLocks noChangeArrowheads="1"/>
          </p:cNvSpPr>
          <p:nvPr/>
        </p:nvSpPr>
        <p:spPr bwMode="auto">
          <a:xfrm>
            <a:off x="920936" y="3979302"/>
            <a:ext cx="1317625" cy="928688"/>
          </a:xfrm>
          <a:prstGeom prst="rect">
            <a:avLst/>
          </a:prstGeom>
          <a:noFill/>
          <a:ln w="28575">
            <a:solidFill>
              <a:srgbClr val="0E3755"/>
            </a:solidFill>
            <a:miter lim="800000"/>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Rectangle 381"/>
          <p:cNvSpPr>
            <a:spLocks noChangeArrowheads="1"/>
          </p:cNvSpPr>
          <p:nvPr/>
        </p:nvSpPr>
        <p:spPr bwMode="auto">
          <a:xfrm>
            <a:off x="1221766" y="4261084"/>
            <a:ext cx="715963" cy="365125"/>
          </a:xfrm>
          <a:prstGeom prst="rect">
            <a:avLst/>
          </a:prstGeom>
          <a:noFill/>
          <a:ln w="28575">
            <a:solidFill>
              <a:srgbClr val="0E3755"/>
            </a:solidFill>
            <a:miter lim="800000"/>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0" lang="en-US" altLang="en-US" sz="1800"/>
              <a:t>cache</a:t>
            </a:r>
          </a:p>
        </p:txBody>
      </p:sp>
      <p:sp>
        <p:nvSpPr>
          <p:cNvPr id="19" name="Rectangle 382"/>
          <p:cNvSpPr>
            <a:spLocks noChangeArrowheads="1"/>
          </p:cNvSpPr>
          <p:nvPr/>
        </p:nvSpPr>
        <p:spPr bwMode="auto">
          <a:xfrm>
            <a:off x="4472174" y="3979302"/>
            <a:ext cx="1317625" cy="928688"/>
          </a:xfrm>
          <a:prstGeom prst="rect">
            <a:avLst/>
          </a:prstGeom>
          <a:noFill/>
          <a:ln w="28575">
            <a:solidFill>
              <a:srgbClr val="0E3755"/>
            </a:solidFill>
            <a:miter lim="800000"/>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Rectangle 383"/>
          <p:cNvSpPr>
            <a:spLocks noChangeArrowheads="1"/>
          </p:cNvSpPr>
          <p:nvPr/>
        </p:nvSpPr>
        <p:spPr bwMode="auto">
          <a:xfrm>
            <a:off x="4773435" y="4261082"/>
            <a:ext cx="715963" cy="365125"/>
          </a:xfrm>
          <a:prstGeom prst="rect">
            <a:avLst/>
          </a:prstGeom>
          <a:noFill/>
          <a:ln w="28575">
            <a:solidFill>
              <a:srgbClr val="0E3755"/>
            </a:solidFill>
            <a:miter lim="800000"/>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0" lang="en-US" altLang="en-US" sz="1800"/>
              <a:t>cache</a:t>
            </a:r>
          </a:p>
        </p:txBody>
      </p:sp>
      <p:cxnSp>
        <p:nvCxnSpPr>
          <p:cNvPr id="21" name="AutoShape 384"/>
          <p:cNvCxnSpPr>
            <a:cxnSpLocks noChangeShapeType="1"/>
            <a:stCxn id="17" idx="2"/>
          </p:cNvCxnSpPr>
          <p:nvPr/>
        </p:nvCxnSpPr>
        <p:spPr bwMode="auto">
          <a:xfrm rot="16200000" flipH="1">
            <a:off x="1421000" y="5066739"/>
            <a:ext cx="738980" cy="421482"/>
          </a:xfrm>
          <a:prstGeom prst="curvedConnector2">
            <a:avLst/>
          </a:prstGeom>
          <a:noFill/>
          <a:ln w="28575">
            <a:solidFill>
              <a:srgbClr val="0E3755"/>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2" name="AutoShape 385"/>
          <p:cNvCxnSpPr>
            <a:cxnSpLocks noChangeShapeType="1"/>
            <a:stCxn id="19" idx="1"/>
          </p:cNvCxnSpPr>
          <p:nvPr/>
        </p:nvCxnSpPr>
        <p:spPr bwMode="auto">
          <a:xfrm rot="10800000" flipV="1">
            <a:off x="3384738" y="4443645"/>
            <a:ext cx="1087437" cy="735533"/>
          </a:xfrm>
          <a:prstGeom prst="curvedConnector4">
            <a:avLst>
              <a:gd name="adj1" fmla="val 75332"/>
              <a:gd name="adj2" fmla="val 1282"/>
            </a:avLst>
          </a:prstGeom>
          <a:noFill/>
          <a:ln w="28575">
            <a:solidFill>
              <a:srgbClr val="0E3755"/>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3" name="AutoShape 386"/>
          <p:cNvCxnSpPr>
            <a:cxnSpLocks noChangeShapeType="1"/>
            <a:stCxn id="19" idx="1"/>
          </p:cNvCxnSpPr>
          <p:nvPr/>
        </p:nvCxnSpPr>
        <p:spPr bwMode="auto">
          <a:xfrm rot="10800000" flipV="1">
            <a:off x="4319774" y="4444440"/>
            <a:ext cx="152400" cy="715963"/>
          </a:xfrm>
          <a:prstGeom prst="curvedConnector2">
            <a:avLst/>
          </a:prstGeom>
          <a:noFill/>
          <a:ln w="28575">
            <a:solidFill>
              <a:srgbClr val="0E3755"/>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4" name="Text Box 619"/>
          <p:cNvSpPr txBox="1">
            <a:spLocks noChangeArrowheads="1"/>
          </p:cNvSpPr>
          <p:nvPr/>
        </p:nvSpPr>
        <p:spPr bwMode="auto">
          <a:xfrm>
            <a:off x="2931938" y="945833"/>
            <a:ext cx="887615" cy="400110"/>
          </a:xfrm>
          <a:prstGeom prst="rect">
            <a:avLst/>
          </a:prstGeom>
          <a:noFill/>
          <a:ln w="28575">
            <a:solidFill>
              <a:srgbClr val="0E3755"/>
            </a:solidFill>
            <a:miter lim="800000"/>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kumimoji="0" lang="en-US" altLang="en-US" sz="2000" dirty="0"/>
              <a:t>Clients</a:t>
            </a:r>
          </a:p>
        </p:txBody>
      </p:sp>
      <p:sp>
        <p:nvSpPr>
          <p:cNvPr id="25" name="Text Box 620"/>
          <p:cNvSpPr txBox="1">
            <a:spLocks noChangeArrowheads="1"/>
          </p:cNvSpPr>
          <p:nvPr/>
        </p:nvSpPr>
        <p:spPr bwMode="auto">
          <a:xfrm>
            <a:off x="2866417" y="3907222"/>
            <a:ext cx="951222" cy="400110"/>
          </a:xfrm>
          <a:prstGeom prst="rect">
            <a:avLst/>
          </a:prstGeom>
          <a:noFill/>
          <a:ln w="28575">
            <a:solidFill>
              <a:srgbClr val="0E3755"/>
            </a:solidFill>
            <a:miter lim="800000"/>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kumimoji="0" lang="en-US" altLang="en-US" sz="2000" dirty="0"/>
              <a:t>Servers</a:t>
            </a:r>
          </a:p>
        </p:txBody>
      </p:sp>
      <p:sp>
        <p:nvSpPr>
          <p:cNvPr id="26" name="Oval 25"/>
          <p:cNvSpPr/>
          <p:nvPr/>
        </p:nvSpPr>
        <p:spPr>
          <a:xfrm>
            <a:off x="766155" y="2766999"/>
            <a:ext cx="5023643" cy="855390"/>
          </a:xfrm>
          <a:prstGeom prst="ellipse">
            <a:avLst/>
          </a:prstGeom>
          <a:ln w="28575">
            <a:solidFill>
              <a:srgbClr val="0E3755"/>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Network</a:t>
            </a:r>
          </a:p>
        </p:txBody>
      </p:sp>
      <p:sp>
        <p:nvSpPr>
          <p:cNvPr id="27" name="Flowchart: Magnetic Disk 26"/>
          <p:cNvSpPr/>
          <p:nvPr/>
        </p:nvSpPr>
        <p:spPr>
          <a:xfrm>
            <a:off x="5361121" y="1541775"/>
            <a:ext cx="757056" cy="834788"/>
          </a:xfrm>
          <a:prstGeom prst="flowChartMagneticDisk">
            <a:avLst/>
          </a:prstGeom>
          <a:ln w="28575">
            <a:solidFill>
              <a:srgbClr val="0E3755"/>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Local Disk</a:t>
            </a:r>
          </a:p>
        </p:txBody>
      </p:sp>
      <p:sp>
        <p:nvSpPr>
          <p:cNvPr id="28" name="Flowchart: Magnetic Disk 27"/>
          <p:cNvSpPr/>
          <p:nvPr/>
        </p:nvSpPr>
        <p:spPr>
          <a:xfrm>
            <a:off x="3948834" y="5169134"/>
            <a:ext cx="788102" cy="970295"/>
          </a:xfrm>
          <a:prstGeom prst="flowChartMagneticDisk">
            <a:avLst/>
          </a:prstGeom>
          <a:ln w="28575">
            <a:solidFill>
              <a:srgbClr val="0E3755"/>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Server Disk</a:t>
            </a:r>
          </a:p>
        </p:txBody>
      </p:sp>
      <p:sp>
        <p:nvSpPr>
          <p:cNvPr id="29" name="Flowchart: Magnetic Disk 28"/>
          <p:cNvSpPr/>
          <p:nvPr/>
        </p:nvSpPr>
        <p:spPr>
          <a:xfrm>
            <a:off x="2981695" y="5180361"/>
            <a:ext cx="788102" cy="970295"/>
          </a:xfrm>
          <a:prstGeom prst="flowChartMagneticDisk">
            <a:avLst/>
          </a:prstGeom>
          <a:ln w="28575">
            <a:solidFill>
              <a:srgbClr val="0E3755"/>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Server Disk</a:t>
            </a:r>
          </a:p>
        </p:txBody>
      </p:sp>
      <p:sp>
        <p:nvSpPr>
          <p:cNvPr id="30" name="Flowchart: Magnetic Disk 29"/>
          <p:cNvSpPr/>
          <p:nvPr/>
        </p:nvSpPr>
        <p:spPr>
          <a:xfrm>
            <a:off x="2014556" y="5160404"/>
            <a:ext cx="788102" cy="970295"/>
          </a:xfrm>
          <a:prstGeom prst="flowChartMagneticDisk">
            <a:avLst/>
          </a:prstGeom>
          <a:ln w="28575">
            <a:solidFill>
              <a:srgbClr val="0E3755"/>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Server Disk</a:t>
            </a:r>
          </a:p>
        </p:txBody>
      </p:sp>
    </p:spTree>
    <p:extLst>
      <p:ext uri="{BB962C8B-B14F-4D97-AF65-F5344CB8AC3E}">
        <p14:creationId xmlns:p14="http://schemas.microsoft.com/office/powerpoint/2010/main" val="3039358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4" grpId="0" animBg="1"/>
      <p:bldP spid="25" grpId="0" animBg="1"/>
      <p:bldP spid="26" grpId="0" animBg="1"/>
      <p:bldP spid="27" grpId="0" animBg="1"/>
      <p:bldP spid="28" grpId="0" animBg="1"/>
      <p:bldP spid="29" grpId="0" animBg="1"/>
      <p:bldP spid="3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Distributed File System- Example</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Google File System (GFS or </a:t>
            </a:r>
            <a:r>
              <a:rPr lang="en-US" dirty="0" err="1"/>
              <a:t>GoogleFS</a:t>
            </a:r>
            <a:r>
              <a:rPr lang="en-US" dirty="0"/>
              <a:t>) is a distributed file system developed by Google to provide efficient, reliable access to data using large clusters of hardware.</a:t>
            </a:r>
          </a:p>
          <a:p>
            <a:endParaRPr lang="en-US" sz="24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78303" y="1985682"/>
            <a:ext cx="6298279" cy="307041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180" y="1820655"/>
            <a:ext cx="5262884" cy="4622294"/>
          </a:xfrm>
          <a:prstGeom prst="rect">
            <a:avLst/>
          </a:prstGeom>
        </p:spPr>
      </p:pic>
    </p:spTree>
    <p:extLst>
      <p:ext uri="{BB962C8B-B14F-4D97-AF65-F5344CB8AC3E}">
        <p14:creationId xmlns:p14="http://schemas.microsoft.com/office/powerpoint/2010/main" val="1782477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Benefits of DFSs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solidFill>
                  <a:schemeClr val="accent6"/>
                </a:solidFill>
              </a:rPr>
              <a:t>File sharing over a network</a:t>
            </a:r>
            <a:r>
              <a:rPr lang="en-US" dirty="0"/>
              <a:t>: without a DFS, we would have to exchange files by e-mail or use applications such as the Internet’s FTP</a:t>
            </a:r>
          </a:p>
          <a:p>
            <a:r>
              <a:rPr lang="en-US" dirty="0" smtClean="0">
                <a:solidFill>
                  <a:schemeClr val="accent6"/>
                </a:solidFill>
              </a:rPr>
              <a:t>Transparent </a:t>
            </a:r>
            <a:r>
              <a:rPr lang="en-US" dirty="0">
                <a:solidFill>
                  <a:schemeClr val="accent6"/>
                </a:solidFill>
              </a:rPr>
              <a:t>files accesses</a:t>
            </a:r>
            <a:r>
              <a:rPr lang="en-US" dirty="0"/>
              <a:t>: A user’s programs can access remote files as if they are local. The remote files have no special APIs; they are accessed just like local ones</a:t>
            </a:r>
          </a:p>
          <a:p>
            <a:r>
              <a:rPr lang="en-US" dirty="0" smtClean="0">
                <a:solidFill>
                  <a:schemeClr val="accent6"/>
                </a:solidFill>
              </a:rPr>
              <a:t>Easy </a:t>
            </a:r>
            <a:r>
              <a:rPr lang="en-US" dirty="0">
                <a:solidFill>
                  <a:schemeClr val="accent6"/>
                </a:solidFill>
              </a:rPr>
              <a:t>file management</a:t>
            </a:r>
            <a:r>
              <a:rPr lang="en-US" dirty="0"/>
              <a:t>: managing a DFS is easier than managing multiple local file systems</a:t>
            </a:r>
          </a:p>
          <a:p>
            <a:endParaRPr lang="en-US" sz="2400" dirty="0"/>
          </a:p>
        </p:txBody>
      </p:sp>
    </p:spTree>
    <p:extLst>
      <p:ext uri="{BB962C8B-B14F-4D97-AF65-F5344CB8AC3E}">
        <p14:creationId xmlns:p14="http://schemas.microsoft.com/office/powerpoint/2010/main" val="362554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DFS Component Placement </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solidFill>
                  <a:schemeClr val="accent6"/>
                </a:solidFill>
              </a:rPr>
              <a:t>Access speed</a:t>
            </a:r>
            <a:r>
              <a:rPr lang="en-US" dirty="0"/>
              <a:t>: Caching information on clients improves performance considerably</a:t>
            </a:r>
          </a:p>
          <a:p>
            <a:r>
              <a:rPr lang="en-US" dirty="0" smtClean="0">
                <a:solidFill>
                  <a:schemeClr val="accent6"/>
                </a:solidFill>
              </a:rPr>
              <a:t>Consistency</a:t>
            </a:r>
            <a:r>
              <a:rPr lang="en-US" dirty="0"/>
              <a:t>: If clients cache information, do all parties share the same view of it?</a:t>
            </a:r>
          </a:p>
          <a:p>
            <a:r>
              <a:rPr lang="en-US" dirty="0" smtClean="0">
                <a:solidFill>
                  <a:schemeClr val="accent6"/>
                </a:solidFill>
              </a:rPr>
              <a:t>Recovery</a:t>
            </a:r>
            <a:r>
              <a:rPr lang="en-US" dirty="0"/>
              <a:t>: If one or more computers crash, to what extent are the others affected? How much information is lost?</a:t>
            </a:r>
          </a:p>
          <a:p>
            <a:endParaRPr lang="en-US" sz="2400" dirty="0"/>
          </a:p>
        </p:txBody>
      </p:sp>
    </p:spTree>
    <p:extLst>
      <p:ext uri="{BB962C8B-B14F-4D97-AF65-F5344CB8AC3E}">
        <p14:creationId xmlns:p14="http://schemas.microsoft.com/office/powerpoint/2010/main" val="255063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DFS Aspects</a:t>
            </a:r>
          </a:p>
        </p:txBody>
      </p:sp>
      <p:graphicFrame>
        <p:nvGraphicFramePr>
          <p:cNvPr id="4" name="Table 3"/>
          <p:cNvGraphicFramePr>
            <a:graphicFrameLocks noGrp="1"/>
          </p:cNvGraphicFramePr>
          <p:nvPr>
            <p:extLst>
              <p:ext uri="{D42A27DB-BD31-4B8C-83A1-F6EECF244321}">
                <p14:modId xmlns:p14="http://schemas.microsoft.com/office/powerpoint/2010/main" val="2086858565"/>
              </p:ext>
            </p:extLst>
          </p:nvPr>
        </p:nvGraphicFramePr>
        <p:xfrm>
          <a:off x="354106" y="970807"/>
          <a:ext cx="11483787" cy="4937759"/>
        </p:xfrm>
        <a:graphic>
          <a:graphicData uri="http://schemas.openxmlformats.org/drawingml/2006/table">
            <a:tbl>
              <a:tblPr firstRow="1" bandRow="1">
                <a:tableStyleId>{72833802-FEF1-4C79-8D5D-14CF1EAF98D9}</a:tableStyleId>
              </a:tblPr>
              <a:tblGrid>
                <a:gridCol w="2863568"/>
                <a:gridCol w="8620219"/>
              </a:tblGrid>
              <a:tr h="370841">
                <a:tc>
                  <a:txBody>
                    <a:bodyPr/>
                    <a:lstStyle/>
                    <a:p>
                      <a:pPr algn="ctr"/>
                      <a:r>
                        <a:rPr lang="en-US" sz="2400" dirty="0" smtClean="0"/>
                        <a:t>Aspect</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3755"/>
                    </a:solidFill>
                  </a:tcPr>
                </a:tc>
                <a:tc>
                  <a:txBody>
                    <a:bodyPr/>
                    <a:lstStyle/>
                    <a:p>
                      <a:pPr algn="ctr"/>
                      <a:r>
                        <a:rPr lang="en-US" sz="2400" dirty="0" smtClean="0"/>
                        <a:t>Description</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3755"/>
                    </a:solidFill>
                  </a:tcPr>
                </a:tc>
              </a:tr>
              <a:tr h="370841">
                <a:tc>
                  <a:txBody>
                    <a:bodyPr/>
                    <a:lstStyle/>
                    <a:p>
                      <a:r>
                        <a:rPr lang="en-US" sz="2400" dirty="0" smtClean="0"/>
                        <a:t>Architecture</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How are DFSs generally organized?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40079">
                <a:tc>
                  <a:txBody>
                    <a:bodyPr/>
                    <a:lstStyle/>
                    <a:p>
                      <a:r>
                        <a:rPr lang="en-US" sz="2400" dirty="0" smtClean="0">
                          <a:solidFill>
                            <a:schemeClr val="tx1"/>
                          </a:solidFill>
                        </a:rPr>
                        <a:t>Processes</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400" dirty="0" smtClean="0">
                          <a:solidFill>
                            <a:schemeClr val="tx1"/>
                          </a:solidFill>
                        </a:rPr>
                        <a:t>Who are the cooperating processes?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400" dirty="0" smtClean="0">
                          <a:solidFill>
                            <a:schemeClr val="tx1"/>
                          </a:solidFill>
                        </a:rPr>
                        <a:t>Are processes </a:t>
                      </a:r>
                      <a:r>
                        <a:rPr lang="en-US" sz="2400" i="1" dirty="0" err="1" smtClean="0">
                          <a:solidFill>
                            <a:schemeClr val="tx1"/>
                          </a:solidFill>
                        </a:rPr>
                        <a:t>stateful</a:t>
                      </a:r>
                      <a:r>
                        <a:rPr lang="en-US" sz="2400" dirty="0" smtClean="0">
                          <a:solidFill>
                            <a:schemeClr val="tx1"/>
                          </a:solidFill>
                        </a:rPr>
                        <a:t> or </a:t>
                      </a:r>
                      <a:r>
                        <a:rPr lang="en-US" sz="2400" i="1" dirty="0" smtClean="0">
                          <a:solidFill>
                            <a:schemeClr val="tx1"/>
                          </a:solidFill>
                        </a:rPr>
                        <a:t>stateless</a:t>
                      </a:r>
                      <a:r>
                        <a:rPr lang="en-US" sz="2400" dirty="0" smtClean="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822960">
                <a:tc>
                  <a:txBody>
                    <a:bodyPr/>
                    <a:lstStyle/>
                    <a:p>
                      <a:r>
                        <a:rPr lang="en-US" sz="2400" dirty="0" smtClean="0">
                          <a:solidFill>
                            <a:schemeClr val="tx1"/>
                          </a:solidFill>
                        </a:rPr>
                        <a:t>Communication</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itchFamily="34" charset="0"/>
                        <a:buChar char="•"/>
                      </a:pPr>
                      <a:r>
                        <a:rPr lang="en-US" sz="2400" dirty="0" smtClean="0">
                          <a:solidFill>
                            <a:schemeClr val="tx1"/>
                          </a:solidFill>
                        </a:rPr>
                        <a:t>What is the typical</a:t>
                      </a:r>
                      <a:r>
                        <a:rPr lang="en-US" sz="2400" baseline="0" dirty="0" smtClean="0">
                          <a:solidFill>
                            <a:schemeClr val="tx1"/>
                          </a:solidFill>
                        </a:rPr>
                        <a:t> </a:t>
                      </a:r>
                      <a:r>
                        <a:rPr lang="en-US" sz="2400" dirty="0" smtClean="0">
                          <a:solidFill>
                            <a:schemeClr val="tx1"/>
                          </a:solidFill>
                        </a:rPr>
                        <a:t>communication paradigm followed</a:t>
                      </a:r>
                      <a:r>
                        <a:rPr lang="en-US" sz="2400" baseline="0" dirty="0" smtClean="0">
                          <a:solidFill>
                            <a:schemeClr val="tx1"/>
                          </a:solidFill>
                        </a:rPr>
                        <a:t> </a:t>
                      </a:r>
                      <a:r>
                        <a:rPr lang="en-US" sz="2400" dirty="0" smtClean="0">
                          <a:solidFill>
                            <a:schemeClr val="tx1"/>
                          </a:solidFill>
                        </a:rPr>
                        <a:t>by DFSs?</a:t>
                      </a:r>
                    </a:p>
                    <a:p>
                      <a:pPr marL="285750" indent="-285750">
                        <a:buFont typeface="Arial" pitchFamily="34" charset="0"/>
                        <a:buChar char="•"/>
                      </a:pPr>
                      <a:r>
                        <a:rPr lang="en-US" sz="2400" dirty="0" smtClean="0">
                          <a:solidFill>
                            <a:schemeClr val="tx1"/>
                          </a:solidFill>
                        </a:rPr>
                        <a:t>How do processes in DFSs communicate?</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1">
                <a:tc>
                  <a:txBody>
                    <a:bodyPr/>
                    <a:lstStyle/>
                    <a:p>
                      <a:r>
                        <a:rPr lang="en-US" sz="2400" dirty="0" smtClean="0">
                          <a:solidFill>
                            <a:schemeClr val="tx1"/>
                          </a:solidFill>
                        </a:rPr>
                        <a:t>Naming</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How is naming often handled in DFSs?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1">
                <a:tc>
                  <a:txBody>
                    <a:bodyPr/>
                    <a:lstStyle/>
                    <a:p>
                      <a:r>
                        <a:rPr lang="en-US" sz="2400" dirty="0" smtClean="0">
                          <a:solidFill>
                            <a:schemeClr val="tx1"/>
                          </a:solidFill>
                        </a:rPr>
                        <a:t>Synchronization</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What are the file</a:t>
                      </a:r>
                      <a:r>
                        <a:rPr lang="en-US" sz="2400" baseline="0" dirty="0" smtClean="0">
                          <a:solidFill>
                            <a:schemeClr val="tx1"/>
                          </a:solidFill>
                        </a:rPr>
                        <a:t> sharing</a:t>
                      </a:r>
                      <a:r>
                        <a:rPr lang="en-US" sz="2400" dirty="0" smtClean="0">
                          <a:solidFill>
                            <a:schemeClr val="tx1"/>
                          </a:solidFill>
                        </a:rPr>
                        <a:t> semantics adopted by DFSs?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9120">
                <a:tc>
                  <a:txBody>
                    <a:bodyPr/>
                    <a:lstStyle/>
                    <a:p>
                      <a:r>
                        <a:rPr lang="en-US" sz="2400" dirty="0" smtClean="0">
                          <a:solidFill>
                            <a:schemeClr val="tx1"/>
                          </a:solidFill>
                        </a:rPr>
                        <a:t>Consistency and Replication</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2400" dirty="0" smtClean="0">
                          <a:solidFill>
                            <a:schemeClr val="tx1"/>
                          </a:solidFill>
                        </a:rPr>
                        <a:t>What are the various features of client-side caching as</a:t>
                      </a:r>
                      <a:r>
                        <a:rPr lang="en-US" sz="2400" baseline="0" dirty="0" smtClean="0">
                          <a:solidFill>
                            <a:schemeClr val="tx1"/>
                          </a:solidFill>
                        </a:rPr>
                        <a:t> well as server-side replication</a:t>
                      </a:r>
                      <a:r>
                        <a:rPr lang="en-US" sz="2400" dirty="0" smtClean="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40079">
                <a:tc>
                  <a:txBody>
                    <a:bodyPr/>
                    <a:lstStyle/>
                    <a:p>
                      <a:r>
                        <a:rPr lang="en-US" sz="2400" dirty="0" smtClean="0">
                          <a:solidFill>
                            <a:schemeClr val="tx1"/>
                          </a:solidFill>
                        </a:rPr>
                        <a:t>Fault Tolerance</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How is fault tolerance handled in DFSs?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110859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Network File System</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Many distributed file systems are organized along the lines of </a:t>
            </a:r>
            <a:br>
              <a:rPr lang="en-US" dirty="0"/>
            </a:br>
            <a:r>
              <a:rPr lang="en-US" dirty="0"/>
              <a:t>client-server architectures</a:t>
            </a:r>
          </a:p>
          <a:p>
            <a:r>
              <a:rPr lang="en-US" dirty="0" smtClean="0"/>
              <a:t>Sun </a:t>
            </a:r>
            <a:r>
              <a:rPr lang="en-US" dirty="0"/>
              <a:t>Microsystem’s Network File System (NFS) is one of the most widely-deployed DFS for Unix-based systems</a:t>
            </a:r>
          </a:p>
          <a:p>
            <a:r>
              <a:rPr lang="en-US" dirty="0" smtClean="0"/>
              <a:t>NFS </a:t>
            </a:r>
            <a:r>
              <a:rPr lang="en-US" dirty="0"/>
              <a:t>comes with a protocol that describes precisely how a client can access a file stored on a (remote) NFS file server</a:t>
            </a:r>
          </a:p>
          <a:p>
            <a:r>
              <a:rPr lang="en-US" dirty="0" smtClean="0"/>
              <a:t>NFS </a:t>
            </a:r>
            <a:r>
              <a:rPr lang="en-US" dirty="0"/>
              <a:t>allows a heterogeneous collection of processes, possibly running on different OSs and machines, to share a common </a:t>
            </a:r>
            <a:r>
              <a:rPr lang="en-US" dirty="0" smtClean="0"/>
              <a:t>file </a:t>
            </a:r>
            <a:r>
              <a:rPr lang="en-US" dirty="0"/>
              <a:t>system</a:t>
            </a:r>
          </a:p>
          <a:p>
            <a:endParaRPr lang="en-US" sz="2400" dirty="0"/>
          </a:p>
        </p:txBody>
      </p:sp>
    </p:spTree>
    <p:extLst>
      <p:ext uri="{BB962C8B-B14F-4D97-AF65-F5344CB8AC3E}">
        <p14:creationId xmlns:p14="http://schemas.microsoft.com/office/powerpoint/2010/main" val="367483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Architectures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Client-Server Distributed File Systems</a:t>
            </a:r>
          </a:p>
          <a:p>
            <a:r>
              <a:rPr lang="en-US" dirty="0"/>
              <a:t>Cluster-Based Distributed File Systems</a:t>
            </a:r>
          </a:p>
          <a:p>
            <a:r>
              <a:rPr lang="en-US" dirty="0"/>
              <a:t>Symmetric Distributed File Systems</a:t>
            </a:r>
          </a:p>
          <a:p>
            <a:endParaRPr lang="en-US" sz="2400" dirty="0"/>
          </a:p>
        </p:txBody>
      </p:sp>
      <p:sp>
        <p:nvSpPr>
          <p:cNvPr id="4" name="Rounded Rectangle 3"/>
          <p:cNvSpPr/>
          <p:nvPr/>
        </p:nvSpPr>
        <p:spPr>
          <a:xfrm>
            <a:off x="225309" y="791883"/>
            <a:ext cx="5190565" cy="484094"/>
          </a:xfrm>
          <a:prstGeom prst="roundRect">
            <a:avLst/>
          </a:prstGeom>
          <a:solidFill>
            <a:srgbClr val="1D3064">
              <a:alpha val="50000"/>
            </a:srgbClr>
          </a:solidFill>
          <a:ln>
            <a:solidFill>
              <a:schemeClr val="accent1">
                <a:shade val="50000"/>
                <a:alpha val="31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08778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Remote Access Model</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The model underlying NFS and similar systems is that of remote access model</a:t>
            </a:r>
          </a:p>
          <a:p>
            <a:endParaRPr lang="en-US" dirty="0"/>
          </a:p>
          <a:p>
            <a:endParaRPr lang="en-US" dirty="0" smtClean="0"/>
          </a:p>
          <a:p>
            <a:endParaRPr lang="en-US" dirty="0"/>
          </a:p>
          <a:p>
            <a:endParaRPr lang="en-US" dirty="0" smtClean="0"/>
          </a:p>
          <a:p>
            <a:endParaRPr lang="en-US" dirty="0"/>
          </a:p>
          <a:p>
            <a:r>
              <a:rPr lang="en-US" dirty="0"/>
              <a:t>In this model, clients:</a:t>
            </a:r>
          </a:p>
          <a:p>
            <a:pPr marL="631825" indent="-363538">
              <a:buFont typeface="Wingdings" panose="05000000000000000000" pitchFamily="2" charset="2"/>
              <a:buChar char="§"/>
            </a:pPr>
            <a:r>
              <a:rPr lang="en-US" dirty="0"/>
              <a:t>Are offered transparent access to a file system that is managed by a remote server</a:t>
            </a:r>
          </a:p>
          <a:p>
            <a:pPr marL="631825" indent="-363538">
              <a:buFont typeface="Wingdings" panose="05000000000000000000" pitchFamily="2" charset="2"/>
              <a:buChar char="§"/>
            </a:pPr>
            <a:r>
              <a:rPr lang="en-US" dirty="0"/>
              <a:t>Are normally unaware of the actual location of files </a:t>
            </a:r>
          </a:p>
          <a:p>
            <a:pPr marL="631825" indent="-363538">
              <a:buFont typeface="Wingdings" panose="05000000000000000000" pitchFamily="2" charset="2"/>
              <a:buChar char="§"/>
            </a:pPr>
            <a:r>
              <a:rPr lang="en-US" dirty="0"/>
              <a:t>Are offered an interface to a file system similar to the interface offered by a conventional local file system</a:t>
            </a:r>
          </a:p>
        </p:txBody>
      </p:sp>
      <p:sp>
        <p:nvSpPr>
          <p:cNvPr id="4" name="Rectangle 3"/>
          <p:cNvSpPr/>
          <p:nvPr/>
        </p:nvSpPr>
        <p:spPr>
          <a:xfrm>
            <a:off x="2480983" y="1793502"/>
            <a:ext cx="1371600" cy="838200"/>
          </a:xfrm>
          <a:prstGeom prst="rect">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5" name="Rectangle 4"/>
          <p:cNvSpPr/>
          <p:nvPr/>
        </p:nvSpPr>
        <p:spPr>
          <a:xfrm>
            <a:off x="5224183" y="1793502"/>
            <a:ext cx="1371600" cy="8382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cxnSp>
        <p:nvCxnSpPr>
          <p:cNvPr id="6" name="Straight Arrow Connector 5"/>
          <p:cNvCxnSpPr/>
          <p:nvPr/>
        </p:nvCxnSpPr>
        <p:spPr>
          <a:xfrm>
            <a:off x="3852583" y="1945902"/>
            <a:ext cx="137160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flipV="1">
            <a:off x="3852583" y="2022102"/>
            <a:ext cx="137160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3852583" y="2403102"/>
            <a:ext cx="137160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3852583" y="2498352"/>
            <a:ext cx="137160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376583" y="2250505"/>
            <a:ext cx="1066800" cy="23038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latin typeface="+mj-lt"/>
              </a:rPr>
              <a:t>File</a:t>
            </a:r>
          </a:p>
        </p:txBody>
      </p:sp>
      <p:sp>
        <p:nvSpPr>
          <p:cNvPr id="11" name="TextBox 19"/>
          <p:cNvSpPr txBox="1">
            <a:spLocks noChangeArrowheads="1"/>
          </p:cNvSpPr>
          <p:nvPr/>
        </p:nvSpPr>
        <p:spPr bwMode="auto">
          <a:xfrm>
            <a:off x="6176683" y="2907845"/>
            <a:ext cx="120577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latin typeface="+mj-lt"/>
              </a:rPr>
              <a:t>File stays </a:t>
            </a:r>
          </a:p>
          <a:p>
            <a:pPr eaLnBrk="1" hangingPunct="1"/>
            <a:r>
              <a:rPr lang="en-US" altLang="en-US" sz="2000" dirty="0">
                <a:latin typeface="+mj-lt"/>
              </a:rPr>
              <a:t>on server</a:t>
            </a:r>
          </a:p>
        </p:txBody>
      </p:sp>
      <p:cxnSp>
        <p:nvCxnSpPr>
          <p:cNvPr id="12" name="Straight Arrow Connector 11"/>
          <p:cNvCxnSpPr>
            <a:stCxn id="10" idx="2"/>
          </p:cNvCxnSpPr>
          <p:nvPr/>
        </p:nvCxnSpPr>
        <p:spPr>
          <a:xfrm>
            <a:off x="5909983" y="2480890"/>
            <a:ext cx="533400" cy="457003"/>
          </a:xfrm>
          <a:prstGeom prst="straightConnector1">
            <a:avLst/>
          </a:prstGeom>
          <a:ln>
            <a:solidFill>
              <a:schemeClr val="accent4"/>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13" name="TextBox 29"/>
          <p:cNvSpPr txBox="1">
            <a:spLocks noChangeArrowheads="1"/>
          </p:cNvSpPr>
          <p:nvPr/>
        </p:nvSpPr>
        <p:spPr bwMode="auto">
          <a:xfrm>
            <a:off x="2662519" y="2034802"/>
            <a:ext cx="826528" cy="369332"/>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mj-lt"/>
              </a:rPr>
              <a:t>Client</a:t>
            </a:r>
          </a:p>
        </p:txBody>
      </p:sp>
      <p:sp>
        <p:nvSpPr>
          <p:cNvPr id="14" name="TextBox 30"/>
          <p:cNvSpPr txBox="1">
            <a:spLocks noChangeArrowheads="1"/>
          </p:cNvSpPr>
          <p:nvPr/>
        </p:nvSpPr>
        <p:spPr bwMode="auto">
          <a:xfrm>
            <a:off x="5472954" y="1868115"/>
            <a:ext cx="792630" cy="369332"/>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mj-lt"/>
              </a:rPr>
              <a:t>Server</a:t>
            </a:r>
          </a:p>
        </p:txBody>
      </p:sp>
      <p:sp>
        <p:nvSpPr>
          <p:cNvPr id="15" name="TextBox 31"/>
          <p:cNvSpPr txBox="1">
            <a:spLocks noChangeArrowheads="1"/>
          </p:cNvSpPr>
          <p:nvPr/>
        </p:nvSpPr>
        <p:spPr bwMode="auto">
          <a:xfrm>
            <a:off x="3668408" y="2631702"/>
            <a:ext cx="177805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latin typeface="+mj-lt"/>
              </a:rPr>
              <a:t>Requests from</a:t>
            </a:r>
          </a:p>
          <a:p>
            <a:pPr algn="ctr" eaLnBrk="1" hangingPunct="1"/>
            <a:r>
              <a:rPr lang="en-US" altLang="en-US" sz="2000" dirty="0">
                <a:latin typeface="+mj-lt"/>
              </a:rPr>
              <a:t>client to access</a:t>
            </a:r>
          </a:p>
          <a:p>
            <a:pPr algn="ctr" eaLnBrk="1" hangingPunct="1"/>
            <a:r>
              <a:rPr lang="en-US" altLang="en-US" sz="2000" dirty="0">
                <a:latin typeface="+mj-lt"/>
              </a:rPr>
              <a:t>remote file</a:t>
            </a:r>
          </a:p>
        </p:txBody>
      </p:sp>
      <p:sp>
        <p:nvSpPr>
          <p:cNvPr id="16" name="TextBox 31"/>
          <p:cNvSpPr txBox="1">
            <a:spLocks noChangeArrowheads="1"/>
          </p:cNvSpPr>
          <p:nvPr/>
        </p:nvSpPr>
        <p:spPr bwMode="auto">
          <a:xfrm>
            <a:off x="3806452" y="1274599"/>
            <a:ext cx="146386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latin typeface="+mj-lt"/>
              </a:rPr>
              <a:t>Replies from</a:t>
            </a:r>
          </a:p>
          <a:p>
            <a:pPr algn="ctr" eaLnBrk="1" hangingPunct="1"/>
            <a:r>
              <a:rPr lang="en-US" altLang="en-US" sz="2000" dirty="0">
                <a:latin typeface="+mj-lt"/>
              </a:rPr>
              <a:t>server</a:t>
            </a:r>
          </a:p>
        </p:txBody>
      </p:sp>
    </p:spTree>
    <p:extLst>
      <p:ext uri="{BB962C8B-B14F-4D97-AF65-F5344CB8AC3E}">
        <p14:creationId xmlns:p14="http://schemas.microsoft.com/office/powerpoint/2010/main" val="371992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par>
                                <p:cTn id="26" presetID="22" presetClass="entr" presetSubtype="8"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right)">
                                      <p:cBhvr>
                                        <p:cTn id="35" dur="500"/>
                                        <p:tgtEl>
                                          <p:spTgt spid="7"/>
                                        </p:tgtEl>
                                      </p:cBhvr>
                                    </p:animEffect>
                                  </p:childTnLst>
                                </p:cTn>
                              </p:par>
                              <p:par>
                                <p:cTn id="36" presetID="22" presetClass="entr" presetSubtype="2"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right)">
                                      <p:cBhvr>
                                        <p:cTn id="38" dur="500"/>
                                        <p:tgtEl>
                                          <p:spTgt spid="9"/>
                                        </p:tgtEl>
                                      </p:cBhvr>
                                    </p:animEffect>
                                  </p:childTnLst>
                                </p:cTn>
                              </p:par>
                              <p:par>
                                <p:cTn id="39" presetID="1"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animBg="1"/>
      <p:bldP spid="11" grpId="0"/>
      <p:bldP spid="13" grpId="0" animBg="1"/>
      <p:bldP spid="14" grpId="0" animBg="1"/>
      <p:bldP spid="15" grpId="0"/>
      <p:bldP spid="1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Upload/Download Model</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It attempts to reduce the amount of network traffic by taking advantage of the locality feature found in file accesses</a:t>
            </a:r>
            <a:r>
              <a:rPr lang="en-US" dirty="0" smtClean="0"/>
              <a:t>.</a:t>
            </a:r>
          </a:p>
          <a:p>
            <a:r>
              <a:rPr lang="en-US" dirty="0"/>
              <a:t>A contrary model, referred to as upload/download model, allows a client to access a file locally after having downloaded it </a:t>
            </a:r>
            <a:r>
              <a:rPr lang="en-US" dirty="0" smtClean="0"/>
              <a:t>from </a:t>
            </a:r>
            <a:r>
              <a:rPr lang="en-US" dirty="0"/>
              <a:t>the server</a:t>
            </a:r>
          </a:p>
          <a:p>
            <a:endParaRPr lang="en-US" dirty="0"/>
          </a:p>
          <a:p>
            <a:endParaRPr lang="en-US" dirty="0" smtClean="0"/>
          </a:p>
          <a:p>
            <a:endParaRPr lang="en-US" dirty="0"/>
          </a:p>
          <a:p>
            <a:endParaRPr lang="en-US" dirty="0" smtClean="0"/>
          </a:p>
          <a:p>
            <a:endParaRPr lang="en-US" dirty="0"/>
          </a:p>
          <a:p>
            <a:endParaRPr lang="en-US" dirty="0" smtClean="0"/>
          </a:p>
          <a:p>
            <a:r>
              <a:rPr lang="en-US" dirty="0"/>
              <a:t>Data is copied from the server's node to the client's node and is cached there.</a:t>
            </a:r>
          </a:p>
          <a:p>
            <a:r>
              <a:rPr lang="en-US" dirty="0"/>
              <a:t>The client's request is processed on the client's node itself by using the cached data</a:t>
            </a:r>
            <a:r>
              <a:rPr lang="en-US" dirty="0" smtClean="0"/>
              <a:t>.</a:t>
            </a:r>
            <a:endParaRPr lang="en-US" dirty="0"/>
          </a:p>
        </p:txBody>
      </p:sp>
      <p:sp>
        <p:nvSpPr>
          <p:cNvPr id="17" name="Rectangle 16"/>
          <p:cNvSpPr/>
          <p:nvPr/>
        </p:nvSpPr>
        <p:spPr>
          <a:xfrm>
            <a:off x="3442447" y="3190737"/>
            <a:ext cx="1525494" cy="977105"/>
          </a:xfrm>
          <a:prstGeom prst="rect">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18" name="Rectangle 17"/>
          <p:cNvSpPr/>
          <p:nvPr/>
        </p:nvSpPr>
        <p:spPr>
          <a:xfrm>
            <a:off x="5425140" y="3190737"/>
            <a:ext cx="1580777" cy="977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19" name="Rectangle 18"/>
          <p:cNvSpPr/>
          <p:nvPr/>
        </p:nvSpPr>
        <p:spPr>
          <a:xfrm>
            <a:off x="3748741" y="3628092"/>
            <a:ext cx="1066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20" name="TextBox 34"/>
          <p:cNvSpPr txBox="1">
            <a:spLocks noChangeArrowheads="1"/>
          </p:cNvSpPr>
          <p:nvPr/>
        </p:nvSpPr>
        <p:spPr bwMode="auto">
          <a:xfrm>
            <a:off x="2502344" y="4251254"/>
            <a:ext cx="190308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latin typeface="+mj-lt"/>
              </a:rPr>
              <a:t>All accesses are </a:t>
            </a:r>
          </a:p>
          <a:p>
            <a:pPr eaLnBrk="1" hangingPunct="1"/>
            <a:r>
              <a:rPr lang="en-US" altLang="en-US" sz="2000" dirty="0">
                <a:latin typeface="+mj-lt"/>
              </a:rPr>
              <a:t>done on client</a:t>
            </a:r>
          </a:p>
        </p:txBody>
      </p:sp>
      <p:cxnSp>
        <p:nvCxnSpPr>
          <p:cNvPr id="21" name="Straight Arrow Connector 20"/>
          <p:cNvCxnSpPr/>
          <p:nvPr/>
        </p:nvCxnSpPr>
        <p:spPr>
          <a:xfrm flipH="1">
            <a:off x="3958291" y="3801130"/>
            <a:ext cx="57150" cy="534987"/>
          </a:xfrm>
          <a:prstGeom prst="straightConnector1">
            <a:avLst/>
          </a:prstGeom>
          <a:ln>
            <a:solidFill>
              <a:schemeClr val="accent4"/>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5653741" y="3482042"/>
            <a:ext cx="914400" cy="241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mj-lt"/>
              </a:rPr>
              <a:t>File</a:t>
            </a:r>
          </a:p>
        </p:txBody>
      </p:sp>
      <p:sp>
        <p:nvSpPr>
          <p:cNvPr id="23" name="Rectangle 22"/>
          <p:cNvSpPr/>
          <p:nvPr/>
        </p:nvSpPr>
        <p:spPr>
          <a:xfrm>
            <a:off x="5653741" y="3818592"/>
            <a:ext cx="914400" cy="2413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mj-lt"/>
              </a:rPr>
              <a:t>New File</a:t>
            </a:r>
          </a:p>
        </p:txBody>
      </p:sp>
      <p:cxnSp>
        <p:nvCxnSpPr>
          <p:cNvPr id="24" name="Straight Arrow Connector 23"/>
          <p:cNvCxnSpPr>
            <a:endCxn id="19" idx="3"/>
          </p:cNvCxnSpPr>
          <p:nvPr/>
        </p:nvCxnSpPr>
        <p:spPr>
          <a:xfrm flipH="1">
            <a:off x="4815541" y="3602692"/>
            <a:ext cx="838200" cy="12065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23" idx="1"/>
          </p:cNvCxnSpPr>
          <p:nvPr/>
        </p:nvCxnSpPr>
        <p:spPr>
          <a:xfrm>
            <a:off x="4815541" y="3723342"/>
            <a:ext cx="838200" cy="2159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5234641" y="2756555"/>
            <a:ext cx="190500" cy="896937"/>
          </a:xfrm>
          <a:prstGeom prst="straightConnector1">
            <a:avLst/>
          </a:prstGeom>
          <a:ln>
            <a:solidFill>
              <a:schemeClr val="accent4"/>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27" name="TextBox 47"/>
          <p:cNvSpPr txBox="1">
            <a:spLocks noChangeArrowheads="1"/>
          </p:cNvSpPr>
          <p:nvPr/>
        </p:nvSpPr>
        <p:spPr bwMode="auto">
          <a:xfrm>
            <a:off x="4536934" y="2447787"/>
            <a:ext cx="21611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latin typeface="+mj-lt"/>
              </a:rPr>
              <a:t>File moved to client</a:t>
            </a:r>
          </a:p>
        </p:txBody>
      </p:sp>
      <p:sp>
        <p:nvSpPr>
          <p:cNvPr id="28" name="TextBox 48"/>
          <p:cNvSpPr txBox="1">
            <a:spLocks noChangeArrowheads="1"/>
          </p:cNvSpPr>
          <p:nvPr/>
        </p:nvSpPr>
        <p:spPr bwMode="auto">
          <a:xfrm>
            <a:off x="3861806" y="3212395"/>
            <a:ext cx="710451" cy="369332"/>
          </a:xfrm>
          <a:prstGeom prst="rect">
            <a:avLst/>
          </a:prstGeom>
          <a:solidFill>
            <a:schemeClr val="bg1">
              <a:lumMod val="85000"/>
            </a:schemeClr>
          </a:solidFill>
          <a:ln>
            <a:noFill/>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mj-lt"/>
              </a:rPr>
              <a:t>Client</a:t>
            </a:r>
          </a:p>
        </p:txBody>
      </p:sp>
      <p:sp>
        <p:nvSpPr>
          <p:cNvPr id="29" name="TextBox 49"/>
          <p:cNvSpPr txBox="1">
            <a:spLocks noChangeArrowheads="1"/>
          </p:cNvSpPr>
          <p:nvPr/>
        </p:nvSpPr>
        <p:spPr bwMode="auto">
          <a:xfrm>
            <a:off x="5825470" y="2881969"/>
            <a:ext cx="7601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mj-lt"/>
              </a:rPr>
              <a:t>Server</a:t>
            </a:r>
          </a:p>
        </p:txBody>
      </p:sp>
      <p:cxnSp>
        <p:nvCxnSpPr>
          <p:cNvPr id="30" name="Straight Arrow Connector 29"/>
          <p:cNvCxnSpPr/>
          <p:nvPr/>
        </p:nvCxnSpPr>
        <p:spPr>
          <a:xfrm>
            <a:off x="5234641" y="3831292"/>
            <a:ext cx="190500" cy="504825"/>
          </a:xfrm>
          <a:prstGeom prst="straightConnector1">
            <a:avLst/>
          </a:prstGeom>
          <a:ln>
            <a:solidFill>
              <a:schemeClr val="accent4"/>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31" name="TextBox 53"/>
          <p:cNvSpPr txBox="1">
            <a:spLocks noChangeArrowheads="1"/>
          </p:cNvSpPr>
          <p:nvPr/>
        </p:nvSpPr>
        <p:spPr bwMode="auto">
          <a:xfrm>
            <a:off x="5140885" y="4327337"/>
            <a:ext cx="259237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latin typeface="+mj-lt"/>
              </a:rPr>
              <a:t>When client is done,</a:t>
            </a:r>
          </a:p>
          <a:p>
            <a:pPr eaLnBrk="1" hangingPunct="1"/>
            <a:r>
              <a:rPr lang="en-US" altLang="en-US" sz="2000" dirty="0">
                <a:latin typeface="+mj-lt"/>
              </a:rPr>
              <a:t>file is returned to server</a:t>
            </a:r>
          </a:p>
        </p:txBody>
      </p:sp>
      <p:cxnSp>
        <p:nvCxnSpPr>
          <p:cNvPr id="32" name="Straight Arrow Connector 31"/>
          <p:cNvCxnSpPr/>
          <p:nvPr/>
        </p:nvCxnSpPr>
        <p:spPr>
          <a:xfrm>
            <a:off x="4967941" y="3474105"/>
            <a:ext cx="4572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0892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left)">
                                      <p:cBhvr>
                                        <p:cTn id="29" dur="500"/>
                                        <p:tgtEl>
                                          <p:spTgt spid="3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right)">
                                      <p:cBhvr>
                                        <p:cTn id="34" dur="500"/>
                                        <p:tgtEl>
                                          <p:spTgt spid="24"/>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0"/>
                                          </p:stCondLst>
                                        </p:cTn>
                                        <p:tgtEl>
                                          <p:spTgt spid="26"/>
                                        </p:tgtEl>
                                        <p:attrNameLst>
                                          <p:attrName>style.visibility</p:attrName>
                                        </p:attrNameLst>
                                      </p:cBhvr>
                                      <p:to>
                                        <p:strVal val="visible"/>
                                      </p:to>
                                    </p:set>
                                  </p:childTnLst>
                                </p:cTn>
                              </p:par>
                            </p:childTnLst>
                          </p:cTn>
                        </p:par>
                        <p:par>
                          <p:cTn id="40" fill="hold">
                            <p:stCondLst>
                              <p:cond delay="500"/>
                            </p:stCondLst>
                            <p:childTnLst>
                              <p:par>
                                <p:cTn id="41" presetID="1" presetClass="entr" presetSubtype="0" fill="hold" grpId="0" nodeType="after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wipe(left)">
                                      <p:cBhvr>
                                        <p:cTn id="53" dur="500"/>
                                        <p:tgtEl>
                                          <p:spTgt spid="25"/>
                                        </p:tgtEl>
                                      </p:cBhvr>
                                    </p:animEffect>
                                  </p:childTnLst>
                                </p:cTn>
                              </p:par>
                            </p:childTnLst>
                          </p:cTn>
                        </p:par>
                        <p:par>
                          <p:cTn id="54" fill="hold">
                            <p:stCondLst>
                              <p:cond delay="500"/>
                            </p:stCondLst>
                            <p:childTnLst>
                              <p:par>
                                <p:cTn id="55" presetID="1" presetClass="entr" presetSubtype="0" fill="hold" nodeType="after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par>
                          <p:cTn id="59" fill="hold">
                            <p:stCondLst>
                              <p:cond delay="500"/>
                            </p:stCondLst>
                            <p:childTnLst>
                              <p:par>
                                <p:cTn id="60" presetID="1" presetClass="entr" presetSubtype="0" fill="hold" grpId="0" nodeType="afterEffect">
                                  <p:stCondLst>
                                    <p:cond delay="0"/>
                                  </p:stCondLst>
                                  <p:childTnLst>
                                    <p:set>
                                      <p:cBhvr>
                                        <p:cTn id="61" dur="1" fill="hold">
                                          <p:stCondLst>
                                            <p:cond delay="0"/>
                                          </p:stCondLst>
                                        </p:cTn>
                                        <p:tgtEl>
                                          <p:spTgt spid="3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p:bldP spid="22" grpId="0" animBg="1"/>
      <p:bldP spid="23" grpId="0" animBg="1"/>
      <p:bldP spid="27" grpId="0"/>
      <p:bldP spid="28" grpId="0" animBg="1"/>
      <p:bldP spid="29" grpId="0"/>
      <p:bldP spid="3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The Basic NFS Architecture</a:t>
            </a:r>
          </a:p>
        </p:txBody>
      </p:sp>
      <p:sp>
        <p:nvSpPr>
          <p:cNvPr id="33" name="Rectangle 32"/>
          <p:cNvSpPr/>
          <p:nvPr/>
        </p:nvSpPr>
        <p:spPr>
          <a:xfrm>
            <a:off x="1712259" y="1659964"/>
            <a:ext cx="2667000" cy="32766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34" name="Rectangle 33"/>
          <p:cNvSpPr/>
          <p:nvPr/>
        </p:nvSpPr>
        <p:spPr>
          <a:xfrm>
            <a:off x="2245659" y="1964764"/>
            <a:ext cx="1600200" cy="381000"/>
          </a:xfrm>
          <a:prstGeom prst="rect">
            <a:avLst/>
          </a:prstGeom>
          <a:solidFill>
            <a:srgbClr val="1D9A7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System call layer</a:t>
            </a:r>
          </a:p>
        </p:txBody>
      </p:sp>
      <p:sp>
        <p:nvSpPr>
          <p:cNvPr id="35" name="Rectangle 34"/>
          <p:cNvSpPr/>
          <p:nvPr/>
        </p:nvSpPr>
        <p:spPr>
          <a:xfrm>
            <a:off x="2245659" y="2498164"/>
            <a:ext cx="1600200" cy="533400"/>
          </a:xfrm>
          <a:prstGeom prst="rect">
            <a:avLst/>
          </a:prstGeom>
          <a:solidFill>
            <a:srgbClr val="1D9A7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latin typeface="+mj-lt"/>
              </a:rPr>
              <a:t>Virtual File System (VFS) layer</a:t>
            </a:r>
          </a:p>
        </p:txBody>
      </p:sp>
      <p:sp>
        <p:nvSpPr>
          <p:cNvPr id="36" name="Rectangle 35"/>
          <p:cNvSpPr/>
          <p:nvPr/>
        </p:nvSpPr>
        <p:spPr>
          <a:xfrm>
            <a:off x="1788459" y="3298264"/>
            <a:ext cx="1181100" cy="4191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1400" dirty="0">
                <a:latin typeface="+mj-lt"/>
              </a:rPr>
              <a:t>Local file system interface</a:t>
            </a:r>
          </a:p>
        </p:txBody>
      </p:sp>
      <p:sp>
        <p:nvSpPr>
          <p:cNvPr id="37" name="Rectangle 36"/>
          <p:cNvSpPr/>
          <p:nvPr/>
        </p:nvSpPr>
        <p:spPr>
          <a:xfrm>
            <a:off x="3121959" y="3298264"/>
            <a:ext cx="1181100" cy="4191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1400" dirty="0">
                <a:latin typeface="+mj-lt"/>
              </a:rPr>
              <a:t>NFS client</a:t>
            </a:r>
          </a:p>
        </p:txBody>
      </p:sp>
      <p:sp>
        <p:nvSpPr>
          <p:cNvPr id="38" name="Can 37"/>
          <p:cNvSpPr/>
          <p:nvPr/>
        </p:nvSpPr>
        <p:spPr>
          <a:xfrm>
            <a:off x="2112309" y="4174564"/>
            <a:ext cx="533400" cy="381000"/>
          </a:xfrm>
          <a:prstGeom prst="ca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39" name="Rectangle 38"/>
          <p:cNvSpPr/>
          <p:nvPr/>
        </p:nvSpPr>
        <p:spPr>
          <a:xfrm>
            <a:off x="3074334" y="4136464"/>
            <a:ext cx="1181100" cy="4191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1400" dirty="0">
                <a:latin typeface="+mj-lt"/>
              </a:rPr>
              <a:t>RPC client stub</a:t>
            </a:r>
          </a:p>
        </p:txBody>
      </p:sp>
      <p:sp>
        <p:nvSpPr>
          <p:cNvPr id="40" name="Rectangle 39"/>
          <p:cNvSpPr/>
          <p:nvPr/>
        </p:nvSpPr>
        <p:spPr>
          <a:xfrm>
            <a:off x="6044547" y="1659964"/>
            <a:ext cx="2667000" cy="32766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41" name="Rectangle 40"/>
          <p:cNvSpPr/>
          <p:nvPr/>
        </p:nvSpPr>
        <p:spPr>
          <a:xfrm>
            <a:off x="6577947" y="1964764"/>
            <a:ext cx="1600200" cy="381000"/>
          </a:xfrm>
          <a:prstGeom prst="rect">
            <a:avLst/>
          </a:prstGeom>
          <a:solidFill>
            <a:srgbClr val="1D9A7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System call layer</a:t>
            </a:r>
          </a:p>
        </p:txBody>
      </p:sp>
      <p:sp>
        <p:nvSpPr>
          <p:cNvPr id="42" name="Rectangle 41"/>
          <p:cNvSpPr/>
          <p:nvPr/>
        </p:nvSpPr>
        <p:spPr>
          <a:xfrm>
            <a:off x="6577947" y="2498164"/>
            <a:ext cx="1600200" cy="533400"/>
          </a:xfrm>
          <a:prstGeom prst="rect">
            <a:avLst/>
          </a:prstGeom>
          <a:solidFill>
            <a:srgbClr val="1D9A7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latin typeface="+mj-lt"/>
              </a:rPr>
              <a:t>Virtual File System (VFS) layer</a:t>
            </a:r>
          </a:p>
        </p:txBody>
      </p:sp>
      <p:sp>
        <p:nvSpPr>
          <p:cNvPr id="43" name="Rectangle 42"/>
          <p:cNvSpPr/>
          <p:nvPr/>
        </p:nvSpPr>
        <p:spPr>
          <a:xfrm>
            <a:off x="6120747" y="3298264"/>
            <a:ext cx="1181100" cy="4191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1400" dirty="0">
                <a:latin typeface="+mj-lt"/>
              </a:rPr>
              <a:t>NFS server</a:t>
            </a:r>
          </a:p>
        </p:txBody>
      </p:sp>
      <p:sp>
        <p:nvSpPr>
          <p:cNvPr id="44" name="Rectangle 43"/>
          <p:cNvSpPr/>
          <p:nvPr/>
        </p:nvSpPr>
        <p:spPr>
          <a:xfrm>
            <a:off x="7454247" y="3298264"/>
            <a:ext cx="1192212" cy="4191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1400" dirty="0">
                <a:latin typeface="+mj-lt"/>
              </a:rPr>
              <a:t>Local file system </a:t>
            </a:r>
          </a:p>
          <a:p>
            <a:pPr algn="ctr">
              <a:defRPr/>
            </a:pPr>
            <a:r>
              <a:rPr lang="en-US" sz="1400" dirty="0">
                <a:latin typeface="+mj-lt"/>
              </a:rPr>
              <a:t>interface</a:t>
            </a:r>
          </a:p>
        </p:txBody>
      </p:sp>
      <p:sp>
        <p:nvSpPr>
          <p:cNvPr id="45" name="Can 44"/>
          <p:cNvSpPr/>
          <p:nvPr/>
        </p:nvSpPr>
        <p:spPr>
          <a:xfrm>
            <a:off x="7778097" y="4174564"/>
            <a:ext cx="533400" cy="381000"/>
          </a:xfrm>
          <a:prstGeom prst="ca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46" name="Rectangle 45"/>
          <p:cNvSpPr/>
          <p:nvPr/>
        </p:nvSpPr>
        <p:spPr>
          <a:xfrm>
            <a:off x="6120747" y="4136464"/>
            <a:ext cx="1181100" cy="4191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1400" dirty="0">
                <a:latin typeface="+mj-lt"/>
              </a:rPr>
              <a:t>RPC server stub</a:t>
            </a:r>
          </a:p>
        </p:txBody>
      </p:sp>
      <p:cxnSp>
        <p:nvCxnSpPr>
          <p:cNvPr id="47" name="Straight Arrow Connector 46"/>
          <p:cNvCxnSpPr>
            <a:stCxn id="34" idx="2"/>
            <a:endCxn id="35" idx="0"/>
          </p:cNvCxnSpPr>
          <p:nvPr/>
        </p:nvCxnSpPr>
        <p:spPr>
          <a:xfrm>
            <a:off x="3045759" y="2345764"/>
            <a:ext cx="0" cy="1524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2645709" y="3031564"/>
            <a:ext cx="0" cy="2667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3464859" y="3031564"/>
            <a:ext cx="0" cy="2667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endCxn id="38" idx="0"/>
          </p:cNvCxnSpPr>
          <p:nvPr/>
        </p:nvCxnSpPr>
        <p:spPr>
          <a:xfrm>
            <a:off x="2379009" y="3717364"/>
            <a:ext cx="0" cy="5524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3712509" y="3717364"/>
            <a:ext cx="0" cy="4191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2645709" y="5469964"/>
            <a:ext cx="5178425"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33" idx="2"/>
          </p:cNvCxnSpPr>
          <p:nvPr/>
        </p:nvCxnSpPr>
        <p:spPr>
          <a:xfrm>
            <a:off x="3045759" y="4936564"/>
            <a:ext cx="0" cy="5334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7435197" y="4936564"/>
            <a:ext cx="0" cy="5334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7389159" y="2345764"/>
            <a:ext cx="0" cy="1524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H="1" flipV="1">
            <a:off x="6970059" y="3031564"/>
            <a:ext cx="0" cy="2667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7808259" y="3031564"/>
            <a:ext cx="0" cy="2667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8044797" y="3717364"/>
            <a:ext cx="0" cy="5524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H="1" flipV="1">
            <a:off x="6711297" y="3717364"/>
            <a:ext cx="0" cy="4191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0" name="TextBox 44"/>
          <p:cNvSpPr txBox="1">
            <a:spLocks noChangeArrowheads="1"/>
          </p:cNvSpPr>
          <p:nvPr/>
        </p:nvSpPr>
        <p:spPr bwMode="auto">
          <a:xfrm>
            <a:off x="2034522" y="5471552"/>
            <a:ext cx="11977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latin typeface="+mj-lt"/>
              </a:rPr>
              <a:t>Network</a:t>
            </a:r>
          </a:p>
        </p:txBody>
      </p:sp>
      <p:cxnSp>
        <p:nvCxnSpPr>
          <p:cNvPr id="61" name="Straight Connector 60"/>
          <p:cNvCxnSpPr>
            <a:stCxn id="39" idx="2"/>
          </p:cNvCxnSpPr>
          <p:nvPr/>
        </p:nvCxnSpPr>
        <p:spPr>
          <a:xfrm>
            <a:off x="3664884" y="4555564"/>
            <a:ext cx="0" cy="6477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3664884" y="5203264"/>
            <a:ext cx="30464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46" idx="2"/>
          </p:cNvCxnSpPr>
          <p:nvPr/>
        </p:nvCxnSpPr>
        <p:spPr>
          <a:xfrm flipV="1">
            <a:off x="6711297" y="4555564"/>
            <a:ext cx="0" cy="6477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 name="TextBox 62"/>
          <p:cNvSpPr txBox="1">
            <a:spLocks noChangeArrowheads="1"/>
          </p:cNvSpPr>
          <p:nvPr/>
        </p:nvSpPr>
        <p:spPr bwMode="auto">
          <a:xfrm>
            <a:off x="2645709" y="1321827"/>
            <a:ext cx="885179" cy="461665"/>
          </a:xfrm>
          <a:prstGeom prst="rect">
            <a:avLst/>
          </a:prstGeom>
          <a:solidFill>
            <a:srgbClr val="0E3755"/>
          </a:solidFill>
          <a:ln>
            <a:noFill/>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solidFill>
                  <a:schemeClr val="bg1"/>
                </a:solidFill>
                <a:latin typeface="+mj-lt"/>
              </a:rPr>
              <a:t>Client</a:t>
            </a:r>
          </a:p>
        </p:txBody>
      </p:sp>
      <p:sp>
        <p:nvSpPr>
          <p:cNvPr id="65" name="TextBox 64"/>
          <p:cNvSpPr txBox="1">
            <a:spLocks noChangeArrowheads="1"/>
          </p:cNvSpPr>
          <p:nvPr/>
        </p:nvSpPr>
        <p:spPr bwMode="auto">
          <a:xfrm>
            <a:off x="7035147" y="1304364"/>
            <a:ext cx="949299" cy="461665"/>
          </a:xfrm>
          <a:prstGeom prst="rect">
            <a:avLst/>
          </a:prstGeom>
          <a:solidFill>
            <a:srgbClr val="0E3755"/>
          </a:solidFill>
          <a:ln>
            <a:noFill/>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solidFill>
                  <a:schemeClr val="bg1"/>
                </a:solidFill>
                <a:latin typeface="+mj-lt"/>
              </a:rPr>
              <a:t>Server</a:t>
            </a:r>
          </a:p>
        </p:txBody>
      </p:sp>
      <p:sp>
        <p:nvSpPr>
          <p:cNvPr id="66" name="TextBox 19488"/>
          <p:cNvSpPr txBox="1">
            <a:spLocks noChangeArrowheads="1"/>
          </p:cNvSpPr>
          <p:nvPr/>
        </p:nvSpPr>
        <p:spPr bwMode="auto">
          <a:xfrm>
            <a:off x="4010245" y="4884731"/>
            <a:ext cx="2339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i="1" dirty="0">
                <a:solidFill>
                  <a:srgbClr val="0E3755"/>
                </a:solidFill>
                <a:latin typeface="+mj-lt"/>
              </a:rPr>
              <a:t>A Client Request in NFS</a:t>
            </a:r>
          </a:p>
        </p:txBody>
      </p:sp>
    </p:spTree>
    <p:extLst>
      <p:ext uri="{BB962C8B-B14F-4D97-AF65-F5344CB8AC3E}">
        <p14:creationId xmlns:p14="http://schemas.microsoft.com/office/powerpoint/2010/main" val="296918429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NFS File Operations</a:t>
            </a:r>
          </a:p>
        </p:txBody>
      </p:sp>
      <p:graphicFrame>
        <p:nvGraphicFramePr>
          <p:cNvPr id="4" name="Table 3"/>
          <p:cNvGraphicFramePr>
            <a:graphicFrameLocks noGrp="1"/>
          </p:cNvGraphicFramePr>
          <p:nvPr>
            <p:extLst>
              <p:ext uri="{D42A27DB-BD31-4B8C-83A1-F6EECF244321}">
                <p14:modId xmlns:p14="http://schemas.microsoft.com/office/powerpoint/2010/main" val="1085674750"/>
              </p:ext>
            </p:extLst>
          </p:nvPr>
        </p:nvGraphicFramePr>
        <p:xfrm>
          <a:off x="100322" y="848291"/>
          <a:ext cx="11562120" cy="4924136"/>
        </p:xfrm>
        <a:graphic>
          <a:graphicData uri="http://schemas.openxmlformats.org/drawingml/2006/table">
            <a:tbl>
              <a:tblPr firstRow="1" bandRow="1">
                <a:tableStyleId>{72833802-FEF1-4C79-8D5D-14CF1EAF98D9}</a:tableStyleId>
              </a:tblPr>
              <a:tblGrid>
                <a:gridCol w="3172991"/>
                <a:gridCol w="1214605"/>
                <a:gridCol w="1213012"/>
                <a:gridCol w="5961512"/>
              </a:tblGrid>
              <a:tr h="446538">
                <a:tc>
                  <a:txBody>
                    <a:bodyPr/>
                    <a:lstStyle/>
                    <a:p>
                      <a:pPr algn="ctr"/>
                      <a:r>
                        <a:rPr lang="en-US" sz="2400" dirty="0" smtClean="0"/>
                        <a:t>Operation</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3755"/>
                    </a:solidFill>
                  </a:tcPr>
                </a:tc>
                <a:tc>
                  <a:txBody>
                    <a:bodyPr/>
                    <a:lstStyle/>
                    <a:p>
                      <a:pPr algn="ctr"/>
                      <a:r>
                        <a:rPr lang="en-US" sz="2400" dirty="0" smtClean="0"/>
                        <a:t>v3</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3755"/>
                    </a:solidFill>
                  </a:tcPr>
                </a:tc>
                <a:tc>
                  <a:txBody>
                    <a:bodyPr/>
                    <a:lstStyle/>
                    <a:p>
                      <a:pPr algn="ctr"/>
                      <a:r>
                        <a:rPr lang="en-US" sz="2400" dirty="0" smtClean="0"/>
                        <a:t>v4</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3755"/>
                    </a:solidFill>
                  </a:tcPr>
                </a:tc>
                <a:tc>
                  <a:txBody>
                    <a:bodyPr/>
                    <a:lstStyle/>
                    <a:p>
                      <a:pPr algn="ctr"/>
                      <a:r>
                        <a:rPr lang="en-US" sz="2400" dirty="0" smtClean="0"/>
                        <a:t>Description</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3755"/>
                    </a:solidFill>
                  </a:tcPr>
                </a:tc>
              </a:tr>
              <a:tr h="446538">
                <a:tc>
                  <a:txBody>
                    <a:bodyPr/>
                    <a:lstStyle/>
                    <a:p>
                      <a:r>
                        <a:rPr lang="en-US" sz="2400" dirty="0" smtClean="0"/>
                        <a:t>Create</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Create a regular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46538">
                <a:tc>
                  <a:txBody>
                    <a:bodyPr/>
                    <a:lstStyle/>
                    <a:p>
                      <a:r>
                        <a:rPr lang="en-US" sz="2400" dirty="0" smtClean="0">
                          <a:solidFill>
                            <a:schemeClr val="tx1"/>
                          </a:solidFill>
                        </a:rPr>
                        <a:t>Create</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2400" dirty="0" smtClean="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2400" dirty="0" smtClean="0">
                          <a:solidFill>
                            <a:schemeClr val="tx1"/>
                          </a:solidFill>
                        </a:rPr>
                        <a:t>Create a </a:t>
                      </a:r>
                      <a:r>
                        <a:rPr lang="en-US" sz="2400" dirty="0" err="1" smtClean="0">
                          <a:solidFill>
                            <a:schemeClr val="tx1"/>
                          </a:solidFill>
                        </a:rPr>
                        <a:t>nonregular</a:t>
                      </a:r>
                      <a:r>
                        <a:rPr lang="en-US" sz="2400" dirty="0" smtClean="0">
                          <a:solidFill>
                            <a:schemeClr val="tx1"/>
                          </a:solidFill>
                        </a:rPr>
                        <a:t>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4028">
                <a:tc>
                  <a:txBody>
                    <a:bodyPr/>
                    <a:lstStyle/>
                    <a:p>
                      <a:r>
                        <a:rPr lang="en-US" sz="2400" dirty="0" smtClean="0">
                          <a:solidFill>
                            <a:schemeClr val="tx1"/>
                          </a:solidFill>
                        </a:rPr>
                        <a:t>Link</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Arial" pitchFamily="34" charset="0"/>
                        <a:buNone/>
                      </a:pPr>
                      <a:r>
                        <a:rPr lang="en-US" sz="2400" dirty="0" smtClean="0">
                          <a:solidFill>
                            <a:schemeClr val="tx1"/>
                          </a:solidFill>
                        </a:rPr>
                        <a:t>Yes</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Arial" pitchFamily="34" charset="0"/>
                        <a:buNone/>
                      </a:pPr>
                      <a:r>
                        <a:rPr lang="en-US" sz="2400" dirty="0" smtClean="0">
                          <a:solidFill>
                            <a:schemeClr val="tx1"/>
                          </a:solidFill>
                        </a:rPr>
                        <a:t>Yes</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Arial" pitchFamily="34" charset="0"/>
                        <a:buNone/>
                      </a:pPr>
                      <a:r>
                        <a:rPr lang="en-US" sz="2400" dirty="0" smtClean="0">
                          <a:solidFill>
                            <a:schemeClr val="tx1"/>
                          </a:solidFill>
                        </a:rPr>
                        <a:t>Create a hard link to a file</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46538">
                <a:tc>
                  <a:txBody>
                    <a:bodyPr/>
                    <a:lstStyle/>
                    <a:p>
                      <a:r>
                        <a:rPr lang="en-US" sz="2400" dirty="0" smtClean="0">
                          <a:solidFill>
                            <a:schemeClr val="tx1"/>
                          </a:solidFill>
                        </a:rPr>
                        <a:t>Symlink</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Create a symbolic link to a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46538">
                <a:tc>
                  <a:txBody>
                    <a:bodyPr/>
                    <a:lstStyle/>
                    <a:p>
                      <a:r>
                        <a:rPr lang="en-US" sz="2400" dirty="0" err="1" smtClean="0">
                          <a:solidFill>
                            <a:schemeClr val="tx1"/>
                          </a:solidFill>
                        </a:rPr>
                        <a:t>Mkdir</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Create a subdirectory in a given directory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32816">
                <a:tc>
                  <a:txBody>
                    <a:bodyPr/>
                    <a:lstStyle/>
                    <a:p>
                      <a:r>
                        <a:rPr lang="en-US" sz="2400" dirty="0" err="1" smtClean="0">
                          <a:solidFill>
                            <a:schemeClr val="tx1"/>
                          </a:solidFill>
                        </a:rPr>
                        <a:t>Mknod</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2400" dirty="0" smtClean="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2400" dirty="0" smtClean="0">
                          <a:solidFill>
                            <a:schemeClr val="tx1"/>
                          </a:solidFill>
                        </a:rPr>
                        <a:t>Create a special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70318">
                <a:tc>
                  <a:txBody>
                    <a:bodyPr/>
                    <a:lstStyle/>
                    <a:p>
                      <a:r>
                        <a:rPr lang="en-US" sz="2400" dirty="0" smtClean="0">
                          <a:solidFill>
                            <a:schemeClr val="tx1"/>
                          </a:solidFill>
                        </a:rPr>
                        <a:t>Rename</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Change the name of a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88901">
                <a:tc>
                  <a:txBody>
                    <a:bodyPr/>
                    <a:lstStyle/>
                    <a:p>
                      <a:r>
                        <a:rPr lang="en-US" sz="2400" dirty="0" smtClean="0">
                          <a:solidFill>
                            <a:schemeClr val="tx1"/>
                          </a:solidFill>
                        </a:rPr>
                        <a:t>Remove</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Remove a file from a file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88901">
                <a:tc>
                  <a:txBody>
                    <a:bodyPr/>
                    <a:lstStyle/>
                    <a:p>
                      <a:r>
                        <a:rPr lang="en-US" sz="2400" dirty="0" err="1" smtClean="0">
                          <a:solidFill>
                            <a:schemeClr val="tx1"/>
                          </a:solidFill>
                        </a:rPr>
                        <a:t>Rmdir</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Remove an empty</a:t>
                      </a:r>
                      <a:r>
                        <a:rPr lang="en-US" sz="2400" baseline="0" dirty="0" smtClean="0">
                          <a:solidFill>
                            <a:schemeClr val="tx1"/>
                          </a:solidFill>
                        </a:rPr>
                        <a:t> </a:t>
                      </a:r>
                      <a:r>
                        <a:rPr lang="en-US" sz="2400" dirty="0" smtClean="0">
                          <a:solidFill>
                            <a:schemeClr val="tx1"/>
                          </a:solidFill>
                        </a:rPr>
                        <a:t>subdirectory from a directory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20179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NFS File Operations</a:t>
            </a:r>
          </a:p>
        </p:txBody>
      </p:sp>
      <p:graphicFrame>
        <p:nvGraphicFramePr>
          <p:cNvPr id="4" name="Table 3"/>
          <p:cNvGraphicFramePr>
            <a:graphicFrameLocks noGrp="1"/>
          </p:cNvGraphicFramePr>
          <p:nvPr>
            <p:extLst>
              <p:ext uri="{D42A27DB-BD31-4B8C-83A1-F6EECF244321}">
                <p14:modId xmlns:p14="http://schemas.microsoft.com/office/powerpoint/2010/main" val="2796603646"/>
              </p:ext>
            </p:extLst>
          </p:nvPr>
        </p:nvGraphicFramePr>
        <p:xfrm>
          <a:off x="100322" y="848291"/>
          <a:ext cx="11562120" cy="4759036"/>
        </p:xfrm>
        <a:graphic>
          <a:graphicData uri="http://schemas.openxmlformats.org/drawingml/2006/table">
            <a:tbl>
              <a:tblPr firstRow="1" bandRow="1">
                <a:tableStyleId>{72833802-FEF1-4C79-8D5D-14CF1EAF98D9}</a:tableStyleId>
              </a:tblPr>
              <a:tblGrid>
                <a:gridCol w="3172991"/>
                <a:gridCol w="1214605"/>
                <a:gridCol w="1213012"/>
                <a:gridCol w="5961512"/>
              </a:tblGrid>
              <a:tr h="447609">
                <a:tc>
                  <a:txBody>
                    <a:bodyPr/>
                    <a:lstStyle/>
                    <a:p>
                      <a:pPr algn="ctr"/>
                      <a:r>
                        <a:rPr lang="en-US" sz="2400" dirty="0" smtClean="0"/>
                        <a:t>Operation</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3755"/>
                    </a:solidFill>
                  </a:tcPr>
                </a:tc>
                <a:tc>
                  <a:txBody>
                    <a:bodyPr/>
                    <a:lstStyle/>
                    <a:p>
                      <a:pPr algn="ctr"/>
                      <a:r>
                        <a:rPr lang="en-US" sz="2400" dirty="0" smtClean="0"/>
                        <a:t>v3</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3755"/>
                    </a:solidFill>
                  </a:tcPr>
                </a:tc>
                <a:tc>
                  <a:txBody>
                    <a:bodyPr/>
                    <a:lstStyle/>
                    <a:p>
                      <a:pPr algn="ctr"/>
                      <a:r>
                        <a:rPr lang="en-US" sz="2400" dirty="0" smtClean="0"/>
                        <a:t>v4</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3755"/>
                    </a:solidFill>
                  </a:tcPr>
                </a:tc>
                <a:tc>
                  <a:txBody>
                    <a:bodyPr/>
                    <a:lstStyle/>
                    <a:p>
                      <a:pPr algn="ctr"/>
                      <a:r>
                        <a:rPr lang="en-US" sz="2400" dirty="0" smtClean="0"/>
                        <a:t>Description</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3755"/>
                    </a:solidFill>
                  </a:tcPr>
                </a:tc>
              </a:tr>
              <a:tr h="447609">
                <a:tc>
                  <a:txBody>
                    <a:bodyPr/>
                    <a:lstStyle/>
                    <a:p>
                      <a:r>
                        <a:rPr lang="en-US" sz="2400" dirty="0" smtClean="0"/>
                        <a:t>Open</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Open a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47609">
                <a:tc>
                  <a:txBody>
                    <a:bodyPr/>
                    <a:lstStyle/>
                    <a:p>
                      <a:r>
                        <a:rPr lang="en-US" sz="2400" dirty="0" smtClean="0"/>
                        <a:t>Close</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Close a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47609">
                <a:tc>
                  <a:txBody>
                    <a:bodyPr/>
                    <a:lstStyle/>
                    <a:p>
                      <a:r>
                        <a:rPr lang="en-US" sz="2400" dirty="0" smtClean="0">
                          <a:solidFill>
                            <a:schemeClr val="tx1"/>
                          </a:solidFill>
                        </a:rPr>
                        <a:t>Lookup</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2400" dirty="0" smtClean="0">
                          <a:solidFill>
                            <a:schemeClr val="tx1"/>
                          </a:solidFill>
                        </a:rPr>
                        <a:t>Look up a file by means of a file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47609">
                <a:tc>
                  <a:txBody>
                    <a:bodyPr/>
                    <a:lstStyle/>
                    <a:p>
                      <a:r>
                        <a:rPr lang="en-US" sz="2400" dirty="0" err="1" smtClean="0">
                          <a:solidFill>
                            <a:schemeClr val="tx1"/>
                          </a:solidFill>
                        </a:rPr>
                        <a:t>Readdir</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Arial" pitchFamily="34" charset="0"/>
                        <a:buNone/>
                      </a:pPr>
                      <a:r>
                        <a:rPr lang="en-US" sz="2400" dirty="0" smtClean="0">
                          <a:solidFill>
                            <a:schemeClr val="tx1"/>
                          </a:solidFill>
                        </a:rPr>
                        <a:t>Yes</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Arial" pitchFamily="34" charset="0"/>
                        <a:buNone/>
                      </a:pPr>
                      <a:r>
                        <a:rPr lang="en-US" sz="2400" dirty="0" smtClean="0">
                          <a:solidFill>
                            <a:schemeClr val="tx1"/>
                          </a:solidFill>
                        </a:rPr>
                        <a:t>Yes</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Arial" pitchFamily="34" charset="0"/>
                        <a:buNone/>
                      </a:pPr>
                      <a:r>
                        <a:rPr lang="en-US" sz="2400" dirty="0" smtClean="0">
                          <a:solidFill>
                            <a:schemeClr val="tx1"/>
                          </a:solidFill>
                        </a:rPr>
                        <a:t>Read the entries in a directory</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47609">
                <a:tc>
                  <a:txBody>
                    <a:bodyPr/>
                    <a:lstStyle/>
                    <a:p>
                      <a:r>
                        <a:rPr lang="en-US" sz="2400" dirty="0" err="1" smtClean="0">
                          <a:solidFill>
                            <a:schemeClr val="tx1"/>
                          </a:solidFill>
                        </a:rPr>
                        <a:t>Readlink</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Read the path name stored in a symbolic link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47609">
                <a:tc>
                  <a:txBody>
                    <a:bodyPr/>
                    <a:lstStyle/>
                    <a:p>
                      <a:r>
                        <a:rPr lang="en-US" sz="2400" dirty="0" err="1" smtClean="0">
                          <a:solidFill>
                            <a:schemeClr val="tx1"/>
                          </a:solidFill>
                        </a:rPr>
                        <a:t>Getattr</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Get the attribute values for a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21638">
                <a:tc>
                  <a:txBody>
                    <a:bodyPr/>
                    <a:lstStyle/>
                    <a:p>
                      <a:r>
                        <a:rPr lang="en-US" sz="2400" dirty="0" err="1" smtClean="0">
                          <a:solidFill>
                            <a:schemeClr val="tx1"/>
                          </a:solidFill>
                        </a:rPr>
                        <a:t>Setattr</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2400" dirty="0" smtClean="0">
                          <a:solidFill>
                            <a:schemeClr val="tx1"/>
                          </a:solidFill>
                        </a:rPr>
                        <a:t>Set one or more attribute values for a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60451">
                <a:tc>
                  <a:txBody>
                    <a:bodyPr/>
                    <a:lstStyle/>
                    <a:p>
                      <a:r>
                        <a:rPr lang="en-US" sz="2400" dirty="0" smtClean="0">
                          <a:solidFill>
                            <a:schemeClr val="tx1"/>
                          </a:solidFill>
                        </a:rPr>
                        <a:t>Read</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Read the data contained in a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76547">
                <a:tc>
                  <a:txBody>
                    <a:bodyPr/>
                    <a:lstStyle/>
                    <a:p>
                      <a:r>
                        <a:rPr lang="en-US" sz="2400" dirty="0" smtClean="0">
                          <a:solidFill>
                            <a:schemeClr val="tx1"/>
                          </a:solidFill>
                        </a:rPr>
                        <a:t>Write</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tx1"/>
                          </a:solidFill>
                        </a:rPr>
                        <a:t>Write data to a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386199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Architectures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Client-Server Distributed File Systems</a:t>
            </a:r>
          </a:p>
          <a:p>
            <a:r>
              <a:rPr lang="en-US" dirty="0"/>
              <a:t>Cluster-Based Distributed File Systems</a:t>
            </a:r>
          </a:p>
          <a:p>
            <a:r>
              <a:rPr lang="en-US" dirty="0"/>
              <a:t>Symmetric Distributed File Systems</a:t>
            </a:r>
          </a:p>
          <a:p>
            <a:endParaRPr lang="en-US" sz="2400" dirty="0"/>
          </a:p>
        </p:txBody>
      </p:sp>
      <p:sp>
        <p:nvSpPr>
          <p:cNvPr id="4" name="Rounded Rectangle 3"/>
          <p:cNvSpPr/>
          <p:nvPr/>
        </p:nvSpPr>
        <p:spPr>
          <a:xfrm>
            <a:off x="174722" y="1256340"/>
            <a:ext cx="5190565" cy="484094"/>
          </a:xfrm>
          <a:prstGeom prst="roundRect">
            <a:avLst/>
          </a:prstGeom>
          <a:solidFill>
            <a:srgbClr val="1D3064">
              <a:alpha val="50000"/>
            </a:srgbClr>
          </a:solidFill>
          <a:ln>
            <a:solidFill>
              <a:schemeClr val="accent1">
                <a:shade val="50000"/>
                <a:alpha val="31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79729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Parallel Applications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b="1" dirty="0"/>
              <a:t>Problems are increasingly becoming computationally challenging</a:t>
            </a:r>
          </a:p>
          <a:p>
            <a:pPr lvl="2"/>
            <a:r>
              <a:rPr lang="en-US" sz="2400" dirty="0"/>
              <a:t>Typically run on large parallel machines </a:t>
            </a:r>
          </a:p>
          <a:p>
            <a:pPr lvl="2"/>
            <a:r>
              <a:rPr lang="en-US" sz="2400" dirty="0"/>
              <a:t>Critical to leveraging parallelism in  all phases</a:t>
            </a:r>
          </a:p>
          <a:p>
            <a:r>
              <a:rPr lang="en-US" dirty="0"/>
              <a:t>Data access is a huge challenge</a:t>
            </a:r>
          </a:p>
          <a:p>
            <a:pPr lvl="2"/>
            <a:r>
              <a:rPr lang="en-US" sz="2400" dirty="0"/>
              <a:t>We can also use parallelism in accessing  data to obtain performance gains</a:t>
            </a:r>
          </a:p>
          <a:p>
            <a:r>
              <a:rPr lang="en-US" dirty="0">
                <a:solidFill>
                  <a:schemeClr val="accent6"/>
                </a:solidFill>
              </a:rPr>
              <a:t>File striping techniques</a:t>
            </a:r>
          </a:p>
          <a:p>
            <a:endParaRPr lang="en-US" sz="2400" dirty="0"/>
          </a:p>
        </p:txBody>
      </p:sp>
    </p:spTree>
    <p:extLst>
      <p:ext uri="{BB962C8B-B14F-4D97-AF65-F5344CB8AC3E}">
        <p14:creationId xmlns:p14="http://schemas.microsoft.com/office/powerpoint/2010/main" val="3900485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File Striping Techniques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Server clusters are often used for parallel applications and their associated file systems are adjusted to satisfy their requirements</a:t>
            </a:r>
          </a:p>
          <a:p>
            <a:r>
              <a:rPr lang="en-US" dirty="0" smtClean="0"/>
              <a:t>One </a:t>
            </a:r>
            <a:r>
              <a:rPr lang="en-US" dirty="0"/>
              <a:t>well-known technique is to deploy file-striping techniques, by which a single file is distributed across multiple servers</a:t>
            </a:r>
          </a:p>
          <a:p>
            <a:r>
              <a:rPr lang="en-US" dirty="0" smtClean="0"/>
              <a:t>Hence</a:t>
            </a:r>
            <a:r>
              <a:rPr lang="en-US" dirty="0"/>
              <a:t>, it becomes possible to fetch different parts in parallel</a:t>
            </a:r>
          </a:p>
          <a:p>
            <a:endParaRPr lang="en-US" sz="2400" dirty="0"/>
          </a:p>
        </p:txBody>
      </p:sp>
      <p:sp>
        <p:nvSpPr>
          <p:cNvPr id="4" name="Can 3"/>
          <p:cNvSpPr/>
          <p:nvPr/>
        </p:nvSpPr>
        <p:spPr>
          <a:xfrm>
            <a:off x="3124200" y="4069976"/>
            <a:ext cx="990600" cy="1600200"/>
          </a:xfrm>
          <a:prstGeom prst="ca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5" name="Rectangle 4"/>
          <p:cNvSpPr/>
          <p:nvPr/>
        </p:nvSpPr>
        <p:spPr>
          <a:xfrm>
            <a:off x="3200399" y="4374775"/>
            <a:ext cx="264459" cy="24363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a</a:t>
            </a:r>
          </a:p>
        </p:txBody>
      </p:sp>
      <p:sp>
        <p:nvSpPr>
          <p:cNvPr id="6" name="Rectangle 5"/>
          <p:cNvSpPr/>
          <p:nvPr/>
        </p:nvSpPr>
        <p:spPr>
          <a:xfrm>
            <a:off x="3809999" y="4425575"/>
            <a:ext cx="264459" cy="24363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b</a:t>
            </a:r>
          </a:p>
        </p:txBody>
      </p:sp>
      <p:sp>
        <p:nvSpPr>
          <p:cNvPr id="7" name="Can 6"/>
          <p:cNvSpPr/>
          <p:nvPr/>
        </p:nvSpPr>
        <p:spPr>
          <a:xfrm>
            <a:off x="4267200" y="4069976"/>
            <a:ext cx="990600" cy="1600200"/>
          </a:xfrm>
          <a:prstGeom prst="ca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8" name="Rectangle 7"/>
          <p:cNvSpPr/>
          <p:nvPr/>
        </p:nvSpPr>
        <p:spPr>
          <a:xfrm>
            <a:off x="4373562" y="4701800"/>
            <a:ext cx="264459" cy="24363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mj-lt"/>
              </a:rPr>
              <a:t>c</a:t>
            </a:r>
          </a:p>
        </p:txBody>
      </p:sp>
      <p:sp>
        <p:nvSpPr>
          <p:cNvPr id="9" name="Rectangle 8"/>
          <p:cNvSpPr/>
          <p:nvPr/>
        </p:nvSpPr>
        <p:spPr>
          <a:xfrm>
            <a:off x="4952999" y="4425575"/>
            <a:ext cx="264459" cy="24363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d</a:t>
            </a:r>
          </a:p>
        </p:txBody>
      </p:sp>
      <p:sp>
        <p:nvSpPr>
          <p:cNvPr id="10" name="Can 9"/>
          <p:cNvSpPr/>
          <p:nvPr/>
        </p:nvSpPr>
        <p:spPr>
          <a:xfrm>
            <a:off x="5410200" y="4069976"/>
            <a:ext cx="990600" cy="1600200"/>
          </a:xfrm>
          <a:prstGeom prst="ca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11" name="Rectangle 10"/>
          <p:cNvSpPr/>
          <p:nvPr/>
        </p:nvSpPr>
        <p:spPr>
          <a:xfrm>
            <a:off x="5764212" y="4374775"/>
            <a:ext cx="264459" cy="24363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e</a:t>
            </a:r>
          </a:p>
        </p:txBody>
      </p:sp>
      <p:sp>
        <p:nvSpPr>
          <p:cNvPr id="12" name="Rectangle 11"/>
          <p:cNvSpPr/>
          <p:nvPr/>
        </p:nvSpPr>
        <p:spPr>
          <a:xfrm>
            <a:off x="4618037" y="4490663"/>
            <a:ext cx="264459" cy="24363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a</a:t>
            </a:r>
          </a:p>
        </p:txBody>
      </p:sp>
      <p:sp>
        <p:nvSpPr>
          <p:cNvPr id="13" name="Rectangle 12"/>
          <p:cNvSpPr/>
          <p:nvPr/>
        </p:nvSpPr>
        <p:spPr>
          <a:xfrm>
            <a:off x="3352799" y="4677988"/>
            <a:ext cx="264459" cy="24363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mj-lt"/>
              </a:rPr>
              <a:t>c</a:t>
            </a:r>
          </a:p>
        </p:txBody>
      </p:sp>
      <p:sp>
        <p:nvSpPr>
          <p:cNvPr id="14" name="Rectangle 13"/>
          <p:cNvSpPr/>
          <p:nvPr/>
        </p:nvSpPr>
        <p:spPr>
          <a:xfrm>
            <a:off x="3276599" y="5292350"/>
            <a:ext cx="264459" cy="24363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d</a:t>
            </a:r>
          </a:p>
        </p:txBody>
      </p:sp>
      <p:sp>
        <p:nvSpPr>
          <p:cNvPr id="15" name="Rectangle 14"/>
          <p:cNvSpPr/>
          <p:nvPr/>
        </p:nvSpPr>
        <p:spPr>
          <a:xfrm>
            <a:off x="6151562" y="4395413"/>
            <a:ext cx="264459" cy="24363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a</a:t>
            </a:r>
          </a:p>
        </p:txBody>
      </p:sp>
      <p:sp>
        <p:nvSpPr>
          <p:cNvPr id="16" name="Rectangle 15"/>
          <p:cNvSpPr/>
          <p:nvPr/>
        </p:nvSpPr>
        <p:spPr>
          <a:xfrm>
            <a:off x="3886199" y="4693863"/>
            <a:ext cx="264459" cy="24363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e</a:t>
            </a:r>
          </a:p>
        </p:txBody>
      </p:sp>
      <p:sp>
        <p:nvSpPr>
          <p:cNvPr id="17" name="Rectangle 16"/>
          <p:cNvSpPr/>
          <p:nvPr/>
        </p:nvSpPr>
        <p:spPr>
          <a:xfrm>
            <a:off x="4876799" y="4741488"/>
            <a:ext cx="264459" cy="24363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b</a:t>
            </a:r>
          </a:p>
        </p:txBody>
      </p:sp>
      <p:sp>
        <p:nvSpPr>
          <p:cNvPr id="18" name="Rectangle 17"/>
          <p:cNvSpPr/>
          <p:nvPr/>
        </p:nvSpPr>
        <p:spPr>
          <a:xfrm>
            <a:off x="6000749" y="4681163"/>
            <a:ext cx="264459" cy="24363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b</a:t>
            </a:r>
          </a:p>
        </p:txBody>
      </p:sp>
      <p:sp>
        <p:nvSpPr>
          <p:cNvPr id="19" name="Rectangle 18"/>
          <p:cNvSpPr/>
          <p:nvPr/>
        </p:nvSpPr>
        <p:spPr>
          <a:xfrm>
            <a:off x="4724399" y="5279650"/>
            <a:ext cx="264459" cy="24363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e</a:t>
            </a:r>
          </a:p>
        </p:txBody>
      </p:sp>
      <p:sp>
        <p:nvSpPr>
          <p:cNvPr id="20" name="Rectangle 19"/>
          <p:cNvSpPr/>
          <p:nvPr/>
        </p:nvSpPr>
        <p:spPr>
          <a:xfrm>
            <a:off x="5688012" y="4931988"/>
            <a:ext cx="264459" cy="24363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d</a:t>
            </a:r>
          </a:p>
        </p:txBody>
      </p:sp>
      <p:sp>
        <p:nvSpPr>
          <p:cNvPr id="21" name="Rectangle 20"/>
          <p:cNvSpPr/>
          <p:nvPr/>
        </p:nvSpPr>
        <p:spPr>
          <a:xfrm>
            <a:off x="6000749" y="5195513"/>
            <a:ext cx="264459" cy="24363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mj-lt"/>
              </a:rPr>
              <a:t>c</a:t>
            </a:r>
          </a:p>
        </p:txBody>
      </p:sp>
      <p:cxnSp>
        <p:nvCxnSpPr>
          <p:cNvPr id="22" name="Straight Connector 21"/>
          <p:cNvCxnSpPr/>
          <p:nvPr/>
        </p:nvCxnSpPr>
        <p:spPr>
          <a:xfrm>
            <a:off x="3276600" y="3917576"/>
            <a:ext cx="2971800"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3276600" y="3917576"/>
            <a:ext cx="0" cy="457200"/>
          </a:xfrm>
          <a:prstGeom prst="straightConnector1">
            <a:avLst/>
          </a:prstGeom>
          <a:ln w="158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4676775" y="3917576"/>
            <a:ext cx="0" cy="552450"/>
          </a:xfrm>
          <a:prstGeom prst="straightConnector1">
            <a:avLst/>
          </a:prstGeom>
          <a:ln w="158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6248400" y="3917576"/>
            <a:ext cx="0" cy="477838"/>
          </a:xfrm>
          <a:prstGeom prst="straightConnector1">
            <a:avLst/>
          </a:prstGeom>
          <a:ln w="158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a:spLocks noChangeArrowheads="1"/>
          </p:cNvSpPr>
          <p:nvPr/>
        </p:nvSpPr>
        <p:spPr bwMode="auto">
          <a:xfrm>
            <a:off x="3244046" y="3428340"/>
            <a:ext cx="2888932" cy="369332"/>
          </a:xfrm>
          <a:prstGeom prst="rect">
            <a:avLst/>
          </a:prstGeom>
          <a:solidFill>
            <a:srgbClr val="0E3755"/>
          </a:solidFill>
          <a:ln w="9525">
            <a:noFill/>
            <a:prstDash val="sysDash"/>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i="1" dirty="0">
                <a:solidFill>
                  <a:schemeClr val="bg1"/>
                </a:solidFill>
                <a:latin typeface="+mj-lt"/>
              </a:rPr>
              <a:t>Accessing file parts in parallel</a:t>
            </a:r>
          </a:p>
        </p:txBody>
      </p:sp>
    </p:spTree>
    <p:extLst>
      <p:ext uri="{BB962C8B-B14F-4D97-AF65-F5344CB8AC3E}">
        <p14:creationId xmlns:p14="http://schemas.microsoft.com/office/powerpoint/2010/main" val="414618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par>
                                <p:cTn id="61" presetID="22" presetClass="entr" presetSubtype="1"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up)">
                                      <p:cBhvr>
                                        <p:cTn id="63" dur="500"/>
                                        <p:tgtEl>
                                          <p:spTgt spid="23"/>
                                        </p:tgtEl>
                                      </p:cBhvr>
                                    </p:animEffect>
                                  </p:childTnLst>
                                </p:cTn>
                              </p:par>
                              <p:par>
                                <p:cTn id="64" presetID="22" presetClass="entr" presetSubtype="1" fill="hold"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wipe(up)">
                                      <p:cBhvr>
                                        <p:cTn id="66" dur="500"/>
                                        <p:tgtEl>
                                          <p:spTgt spid="24"/>
                                        </p:tgtEl>
                                      </p:cBhvr>
                                    </p:animEffect>
                                  </p:childTnLst>
                                </p:cTn>
                              </p:par>
                              <p:par>
                                <p:cTn id="67" presetID="22" presetClass="entr" presetSubtype="1" fill="hold"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wipe(up)">
                                      <p:cBhvr>
                                        <p:cTn id="69" dur="500"/>
                                        <p:tgtEl>
                                          <p:spTgt spid="25"/>
                                        </p:tgtEl>
                                      </p:cBhvr>
                                    </p:animEffect>
                                  </p:childTnLst>
                                </p:cTn>
                              </p:par>
                              <p:par>
                                <p:cTn id="70" presetID="1"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General Purpose Applications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For general-purpose applications, or those with irregular or many different types of data structures, file striping may not be effective</a:t>
            </a:r>
          </a:p>
          <a:p>
            <a:r>
              <a:rPr lang="en-US" dirty="0" smtClean="0"/>
              <a:t>In </a:t>
            </a:r>
            <a:r>
              <a:rPr lang="en-US" dirty="0"/>
              <a:t>those cases, it is often more convenient to partition the file system as a whole and simply store files on different servers</a:t>
            </a:r>
          </a:p>
          <a:p>
            <a:endParaRPr lang="en-US" sz="2400" dirty="0"/>
          </a:p>
        </p:txBody>
      </p:sp>
      <p:sp>
        <p:nvSpPr>
          <p:cNvPr id="27" name="Can 26"/>
          <p:cNvSpPr/>
          <p:nvPr/>
        </p:nvSpPr>
        <p:spPr>
          <a:xfrm>
            <a:off x="3056965" y="3913094"/>
            <a:ext cx="990600" cy="1600200"/>
          </a:xfrm>
          <a:prstGeom prst="ca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28" name="Rectangle 27"/>
          <p:cNvSpPr/>
          <p:nvPr/>
        </p:nvSpPr>
        <p:spPr>
          <a:xfrm>
            <a:off x="3133165" y="4217894"/>
            <a:ext cx="237657" cy="26894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a</a:t>
            </a:r>
          </a:p>
        </p:txBody>
      </p:sp>
      <p:sp>
        <p:nvSpPr>
          <p:cNvPr id="29" name="Rectangle 28"/>
          <p:cNvSpPr/>
          <p:nvPr/>
        </p:nvSpPr>
        <p:spPr>
          <a:xfrm>
            <a:off x="3236353" y="4513169"/>
            <a:ext cx="237657" cy="26894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a</a:t>
            </a:r>
          </a:p>
        </p:txBody>
      </p:sp>
      <p:sp>
        <p:nvSpPr>
          <p:cNvPr id="30" name="Rectangle 29"/>
          <p:cNvSpPr/>
          <p:nvPr/>
        </p:nvSpPr>
        <p:spPr>
          <a:xfrm>
            <a:off x="3209365" y="4827494"/>
            <a:ext cx="237657" cy="26894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a</a:t>
            </a:r>
          </a:p>
        </p:txBody>
      </p:sp>
      <p:sp>
        <p:nvSpPr>
          <p:cNvPr id="31" name="Rectangle 30"/>
          <p:cNvSpPr/>
          <p:nvPr/>
        </p:nvSpPr>
        <p:spPr>
          <a:xfrm>
            <a:off x="3742765" y="4268694"/>
            <a:ext cx="237657" cy="26894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b</a:t>
            </a:r>
          </a:p>
        </p:txBody>
      </p:sp>
      <p:sp>
        <p:nvSpPr>
          <p:cNvPr id="32" name="Rectangle 31"/>
          <p:cNvSpPr/>
          <p:nvPr/>
        </p:nvSpPr>
        <p:spPr>
          <a:xfrm>
            <a:off x="3666565" y="4586194"/>
            <a:ext cx="237657" cy="26894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b</a:t>
            </a:r>
          </a:p>
        </p:txBody>
      </p:sp>
      <p:sp>
        <p:nvSpPr>
          <p:cNvPr id="33" name="Rectangle 32"/>
          <p:cNvSpPr/>
          <p:nvPr/>
        </p:nvSpPr>
        <p:spPr>
          <a:xfrm>
            <a:off x="3742765" y="4932269"/>
            <a:ext cx="237657" cy="26894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b</a:t>
            </a:r>
          </a:p>
        </p:txBody>
      </p:sp>
      <p:sp>
        <p:nvSpPr>
          <p:cNvPr id="34" name="Can 33"/>
          <p:cNvSpPr/>
          <p:nvPr/>
        </p:nvSpPr>
        <p:spPr>
          <a:xfrm>
            <a:off x="4199965" y="3913094"/>
            <a:ext cx="990600" cy="1600200"/>
          </a:xfrm>
          <a:prstGeom prst="ca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35" name="Rectangle 34"/>
          <p:cNvSpPr/>
          <p:nvPr/>
        </p:nvSpPr>
        <p:spPr>
          <a:xfrm>
            <a:off x="4276165" y="4217894"/>
            <a:ext cx="237657" cy="26894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mj-lt"/>
              </a:rPr>
              <a:t>c</a:t>
            </a:r>
          </a:p>
        </p:txBody>
      </p:sp>
      <p:sp>
        <p:nvSpPr>
          <p:cNvPr id="36" name="Rectangle 35"/>
          <p:cNvSpPr/>
          <p:nvPr/>
        </p:nvSpPr>
        <p:spPr>
          <a:xfrm>
            <a:off x="4379353" y="4513169"/>
            <a:ext cx="237657" cy="26894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mj-lt"/>
              </a:rPr>
              <a:t>c</a:t>
            </a:r>
          </a:p>
        </p:txBody>
      </p:sp>
      <p:sp>
        <p:nvSpPr>
          <p:cNvPr id="37" name="Rectangle 36"/>
          <p:cNvSpPr/>
          <p:nvPr/>
        </p:nvSpPr>
        <p:spPr>
          <a:xfrm>
            <a:off x="4352365" y="4827494"/>
            <a:ext cx="237657" cy="26894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mj-lt"/>
              </a:rPr>
              <a:t>c</a:t>
            </a:r>
          </a:p>
        </p:txBody>
      </p:sp>
      <p:sp>
        <p:nvSpPr>
          <p:cNvPr id="38" name="Rectangle 37"/>
          <p:cNvSpPr/>
          <p:nvPr/>
        </p:nvSpPr>
        <p:spPr>
          <a:xfrm>
            <a:off x="4885765" y="4268694"/>
            <a:ext cx="237657" cy="26894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d</a:t>
            </a:r>
          </a:p>
        </p:txBody>
      </p:sp>
      <p:sp>
        <p:nvSpPr>
          <p:cNvPr id="39" name="Rectangle 38"/>
          <p:cNvSpPr/>
          <p:nvPr/>
        </p:nvSpPr>
        <p:spPr>
          <a:xfrm>
            <a:off x="4885765" y="4932269"/>
            <a:ext cx="237657" cy="26894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d</a:t>
            </a:r>
          </a:p>
        </p:txBody>
      </p:sp>
      <p:sp>
        <p:nvSpPr>
          <p:cNvPr id="40" name="Rectangle 39"/>
          <p:cNvSpPr/>
          <p:nvPr/>
        </p:nvSpPr>
        <p:spPr>
          <a:xfrm>
            <a:off x="4809565" y="4586194"/>
            <a:ext cx="237657" cy="26894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d</a:t>
            </a:r>
          </a:p>
        </p:txBody>
      </p:sp>
      <p:sp>
        <p:nvSpPr>
          <p:cNvPr id="41" name="Can 40"/>
          <p:cNvSpPr/>
          <p:nvPr/>
        </p:nvSpPr>
        <p:spPr>
          <a:xfrm>
            <a:off x="5342965" y="3913094"/>
            <a:ext cx="990600" cy="1600200"/>
          </a:xfrm>
          <a:prstGeom prst="ca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42" name="Rectangle 41"/>
          <p:cNvSpPr/>
          <p:nvPr/>
        </p:nvSpPr>
        <p:spPr>
          <a:xfrm>
            <a:off x="5696978" y="4217894"/>
            <a:ext cx="237657" cy="268942"/>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e</a:t>
            </a:r>
          </a:p>
        </p:txBody>
      </p:sp>
      <p:sp>
        <p:nvSpPr>
          <p:cNvPr id="43" name="Rectangle 42"/>
          <p:cNvSpPr/>
          <p:nvPr/>
        </p:nvSpPr>
        <p:spPr>
          <a:xfrm>
            <a:off x="5800165" y="4513169"/>
            <a:ext cx="237657" cy="268942"/>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e</a:t>
            </a:r>
          </a:p>
        </p:txBody>
      </p:sp>
      <p:sp>
        <p:nvSpPr>
          <p:cNvPr id="44" name="Rectangle 43"/>
          <p:cNvSpPr/>
          <p:nvPr/>
        </p:nvSpPr>
        <p:spPr>
          <a:xfrm>
            <a:off x="5773178" y="4827494"/>
            <a:ext cx="237657" cy="268942"/>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latin typeface="+mj-lt"/>
              </a:rPr>
              <a:t>e</a:t>
            </a:r>
          </a:p>
        </p:txBody>
      </p:sp>
      <p:cxnSp>
        <p:nvCxnSpPr>
          <p:cNvPr id="45" name="Straight Arrow Connector 44"/>
          <p:cNvCxnSpPr>
            <a:endCxn id="28" idx="1"/>
          </p:cNvCxnSpPr>
          <p:nvPr/>
        </p:nvCxnSpPr>
        <p:spPr>
          <a:xfrm>
            <a:off x="2752165" y="3536857"/>
            <a:ext cx="381000" cy="815508"/>
          </a:xfrm>
          <a:prstGeom prst="straightConnector1">
            <a:avLst/>
          </a:prstGeom>
          <a:ln w="9525">
            <a:solidFill>
              <a:srgbClr val="C00000"/>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46" name="TextBox 27"/>
          <p:cNvSpPr txBox="1">
            <a:spLocks noChangeArrowheads="1"/>
          </p:cNvSpPr>
          <p:nvPr/>
        </p:nvSpPr>
        <p:spPr bwMode="auto">
          <a:xfrm>
            <a:off x="2021915" y="3228882"/>
            <a:ext cx="1790875" cy="369332"/>
          </a:xfrm>
          <a:prstGeom prst="rect">
            <a:avLst/>
          </a:prstGeom>
          <a:solidFill>
            <a:srgbClr val="0E3755"/>
          </a:solidFill>
          <a:ln w="9525">
            <a:noFill/>
            <a:prstDash val="sysDash"/>
            <a:miter lim="800000"/>
            <a:headEnd/>
            <a:tailEnd/>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latin typeface="+mj-lt"/>
              </a:rPr>
              <a:t>File </a:t>
            </a:r>
            <a:r>
              <a:rPr lang="en-US" altLang="en-US" i="1" dirty="0">
                <a:solidFill>
                  <a:schemeClr val="bg1"/>
                </a:solidFill>
                <a:latin typeface="+mj-lt"/>
              </a:rPr>
              <a:t>block</a:t>
            </a:r>
            <a:r>
              <a:rPr lang="en-US" altLang="en-US" dirty="0">
                <a:solidFill>
                  <a:schemeClr val="bg1"/>
                </a:solidFill>
                <a:latin typeface="+mj-lt"/>
              </a:rPr>
              <a:t> of file </a:t>
            </a:r>
            <a:r>
              <a:rPr lang="en-US" altLang="en-US" i="1" dirty="0">
                <a:solidFill>
                  <a:schemeClr val="bg1"/>
                </a:solidFill>
                <a:latin typeface="+mj-lt"/>
              </a:rPr>
              <a:t>a</a:t>
            </a:r>
          </a:p>
        </p:txBody>
      </p:sp>
    </p:spTree>
    <p:extLst>
      <p:ext uri="{BB962C8B-B14F-4D97-AF65-F5344CB8AC3E}">
        <p14:creationId xmlns:p14="http://schemas.microsoft.com/office/powerpoint/2010/main" val="1863037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Google File System</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Companies like Amazon and Google offer services to Web clients resulting in reads and updates to a massive number of files distributed across literally tens of thousands of computers</a:t>
            </a:r>
          </a:p>
          <a:p>
            <a:r>
              <a:rPr lang="en-US" dirty="0" smtClean="0"/>
              <a:t>In </a:t>
            </a:r>
            <a:r>
              <a:rPr lang="en-US" dirty="0"/>
              <a:t>such environments, the traditional assumptions concerning distributed file systems might no longer hold</a:t>
            </a:r>
          </a:p>
          <a:p>
            <a:pPr lvl="2"/>
            <a:r>
              <a:rPr lang="en-US" sz="2400" dirty="0"/>
              <a:t>Files tend to be very large (TBs or PBs)</a:t>
            </a:r>
          </a:p>
          <a:p>
            <a:pPr lvl="2"/>
            <a:r>
              <a:rPr lang="en-US" sz="2400" dirty="0"/>
              <a:t>For example, we can expect that at any single moment there will be a computer malfunctioning</a:t>
            </a:r>
          </a:p>
          <a:p>
            <a:r>
              <a:rPr lang="en-US" dirty="0" smtClean="0"/>
              <a:t>To </a:t>
            </a:r>
            <a:r>
              <a:rPr lang="en-US" dirty="0"/>
              <a:t>address these problems, Google, for example, has developed its own Google File System (GFS)</a:t>
            </a:r>
          </a:p>
        </p:txBody>
      </p:sp>
    </p:spTree>
    <p:extLst>
      <p:ext uri="{BB962C8B-B14F-4D97-AF65-F5344CB8AC3E}">
        <p14:creationId xmlns:p14="http://schemas.microsoft.com/office/powerpoint/2010/main" val="971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Google File System</a:t>
            </a:r>
          </a:p>
        </p:txBody>
      </p:sp>
      <p:sp>
        <p:nvSpPr>
          <p:cNvPr id="5" name="Rectangle 4"/>
          <p:cNvSpPr/>
          <p:nvPr/>
        </p:nvSpPr>
        <p:spPr>
          <a:xfrm>
            <a:off x="1739152" y="1519518"/>
            <a:ext cx="1752600" cy="914400"/>
          </a:xfrm>
          <a:prstGeom prst="rect">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latin typeface="+mj-lt"/>
              </a:rPr>
              <a:t>GFS client</a:t>
            </a:r>
          </a:p>
        </p:txBody>
      </p:sp>
      <p:sp>
        <p:nvSpPr>
          <p:cNvPr id="6" name="Rectangle 5"/>
          <p:cNvSpPr/>
          <p:nvPr/>
        </p:nvSpPr>
        <p:spPr>
          <a:xfrm>
            <a:off x="5777752" y="1519518"/>
            <a:ext cx="1752600" cy="9144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latin typeface="+mj-lt"/>
              </a:rPr>
              <a:t>Master</a:t>
            </a:r>
          </a:p>
        </p:txBody>
      </p:sp>
      <p:cxnSp>
        <p:nvCxnSpPr>
          <p:cNvPr id="7" name="Straight Arrow Connector 6"/>
          <p:cNvCxnSpPr/>
          <p:nvPr/>
        </p:nvCxnSpPr>
        <p:spPr>
          <a:xfrm>
            <a:off x="3491752" y="1671918"/>
            <a:ext cx="228600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3491752" y="2281518"/>
            <a:ext cx="228600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4482352" y="3729318"/>
            <a:ext cx="1371600" cy="685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US" sz="2000" b="1" dirty="0">
                <a:latin typeface="+mj-lt"/>
              </a:rPr>
              <a:t>Chunk Server</a:t>
            </a:r>
          </a:p>
        </p:txBody>
      </p:sp>
      <p:sp>
        <p:nvSpPr>
          <p:cNvPr id="10" name="Rectangle 9"/>
          <p:cNvSpPr/>
          <p:nvPr/>
        </p:nvSpPr>
        <p:spPr>
          <a:xfrm>
            <a:off x="4482352" y="4415118"/>
            <a:ext cx="1371600" cy="6858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US" sz="2000" dirty="0">
                <a:solidFill>
                  <a:schemeClr val="tx1"/>
                </a:solidFill>
                <a:latin typeface="+mj-lt"/>
              </a:rPr>
              <a:t>Linux File System</a:t>
            </a:r>
          </a:p>
        </p:txBody>
      </p:sp>
      <p:sp>
        <p:nvSpPr>
          <p:cNvPr id="11" name="Rectangle 10"/>
          <p:cNvSpPr/>
          <p:nvPr/>
        </p:nvSpPr>
        <p:spPr>
          <a:xfrm>
            <a:off x="6234952" y="3729318"/>
            <a:ext cx="1371600" cy="685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US" sz="2000" b="1" dirty="0">
                <a:latin typeface="+mj-lt"/>
              </a:rPr>
              <a:t>Chunk Server</a:t>
            </a:r>
          </a:p>
        </p:txBody>
      </p:sp>
      <p:sp>
        <p:nvSpPr>
          <p:cNvPr id="12" name="Rectangle 11"/>
          <p:cNvSpPr/>
          <p:nvPr/>
        </p:nvSpPr>
        <p:spPr>
          <a:xfrm>
            <a:off x="6234952" y="4415118"/>
            <a:ext cx="1371600" cy="6858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US" sz="2000" dirty="0">
                <a:solidFill>
                  <a:schemeClr val="tx1"/>
                </a:solidFill>
                <a:latin typeface="+mj-lt"/>
              </a:rPr>
              <a:t>Linux File System</a:t>
            </a:r>
          </a:p>
        </p:txBody>
      </p:sp>
      <p:sp>
        <p:nvSpPr>
          <p:cNvPr id="13" name="Rectangle 12"/>
          <p:cNvSpPr/>
          <p:nvPr/>
        </p:nvSpPr>
        <p:spPr>
          <a:xfrm>
            <a:off x="7987552" y="3729318"/>
            <a:ext cx="1371600" cy="685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US" sz="2000" b="1" dirty="0">
                <a:latin typeface="+mj-lt"/>
              </a:rPr>
              <a:t>Chunk Server</a:t>
            </a:r>
          </a:p>
        </p:txBody>
      </p:sp>
      <p:sp>
        <p:nvSpPr>
          <p:cNvPr id="14" name="Rectangle 13"/>
          <p:cNvSpPr/>
          <p:nvPr/>
        </p:nvSpPr>
        <p:spPr>
          <a:xfrm>
            <a:off x="7987552" y="4415118"/>
            <a:ext cx="1371600" cy="6858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US" sz="2000" dirty="0">
                <a:solidFill>
                  <a:schemeClr val="tx1"/>
                </a:solidFill>
                <a:latin typeface="+mj-lt"/>
              </a:rPr>
              <a:t>Linux File System</a:t>
            </a:r>
          </a:p>
        </p:txBody>
      </p:sp>
      <p:cxnSp>
        <p:nvCxnSpPr>
          <p:cNvPr id="15" name="Straight Arrow Connector 14"/>
          <p:cNvCxnSpPr>
            <a:endCxn id="9" idx="0"/>
          </p:cNvCxnSpPr>
          <p:nvPr/>
        </p:nvCxnSpPr>
        <p:spPr>
          <a:xfrm flipH="1">
            <a:off x="5168152" y="2433918"/>
            <a:ext cx="609600" cy="12954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 idx="2"/>
          </p:cNvCxnSpPr>
          <p:nvPr/>
        </p:nvCxnSpPr>
        <p:spPr>
          <a:xfrm>
            <a:off x="6654052" y="2433918"/>
            <a:ext cx="0" cy="12954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5625352" y="2433918"/>
            <a:ext cx="609600" cy="12954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1" idx="0"/>
          </p:cNvCxnSpPr>
          <p:nvPr/>
        </p:nvCxnSpPr>
        <p:spPr>
          <a:xfrm flipV="1">
            <a:off x="6920752" y="2433918"/>
            <a:ext cx="0" cy="12954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5" idx="2"/>
          </p:cNvCxnSpPr>
          <p:nvPr/>
        </p:nvCxnSpPr>
        <p:spPr>
          <a:xfrm>
            <a:off x="2615452" y="2433918"/>
            <a:ext cx="0" cy="16383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9" idx="1"/>
          </p:cNvCxnSpPr>
          <p:nvPr/>
        </p:nvCxnSpPr>
        <p:spPr>
          <a:xfrm>
            <a:off x="2615452" y="4072218"/>
            <a:ext cx="186690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2120152" y="4338918"/>
            <a:ext cx="2362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120152" y="2433918"/>
            <a:ext cx="0" cy="19050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a:spLocks noChangeArrowheads="1"/>
          </p:cNvSpPr>
          <p:nvPr/>
        </p:nvSpPr>
        <p:spPr bwMode="auto">
          <a:xfrm>
            <a:off x="3526815" y="1311596"/>
            <a:ext cx="22509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mj-lt"/>
              </a:rPr>
              <a:t>File name, chunk index</a:t>
            </a:r>
          </a:p>
        </p:txBody>
      </p:sp>
      <p:sp>
        <p:nvSpPr>
          <p:cNvPr id="24" name="TextBox 23"/>
          <p:cNvSpPr txBox="1">
            <a:spLocks noChangeArrowheads="1"/>
          </p:cNvSpPr>
          <p:nvPr/>
        </p:nvSpPr>
        <p:spPr bwMode="auto">
          <a:xfrm>
            <a:off x="3770485" y="2290527"/>
            <a:ext cx="16802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mj-lt"/>
              </a:rPr>
              <a:t>Contact address</a:t>
            </a:r>
          </a:p>
        </p:txBody>
      </p:sp>
      <p:sp>
        <p:nvSpPr>
          <p:cNvPr id="25" name="TextBox 41"/>
          <p:cNvSpPr txBox="1">
            <a:spLocks noChangeArrowheads="1"/>
          </p:cNvSpPr>
          <p:nvPr/>
        </p:nvSpPr>
        <p:spPr bwMode="auto">
          <a:xfrm>
            <a:off x="4191052" y="3000678"/>
            <a:ext cx="1274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mj-lt"/>
              </a:rPr>
              <a:t>Instructions</a:t>
            </a:r>
          </a:p>
        </p:txBody>
      </p:sp>
      <p:sp>
        <p:nvSpPr>
          <p:cNvPr id="26" name="TextBox 42"/>
          <p:cNvSpPr txBox="1">
            <a:spLocks noChangeArrowheads="1"/>
          </p:cNvSpPr>
          <p:nvPr/>
        </p:nvSpPr>
        <p:spPr bwMode="auto">
          <a:xfrm>
            <a:off x="8335215" y="3043518"/>
            <a:ext cx="18902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mj-lt"/>
              </a:rPr>
              <a:t>Chunk-server state</a:t>
            </a:r>
          </a:p>
        </p:txBody>
      </p:sp>
      <p:cxnSp>
        <p:nvCxnSpPr>
          <p:cNvPr id="27" name="Straight Arrow Connector 26"/>
          <p:cNvCxnSpPr>
            <a:stCxn id="13" idx="0"/>
          </p:cNvCxnSpPr>
          <p:nvPr/>
        </p:nvCxnSpPr>
        <p:spPr>
          <a:xfrm flipH="1" flipV="1">
            <a:off x="7530352" y="2433918"/>
            <a:ext cx="1143000" cy="12954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7050927" y="2400581"/>
            <a:ext cx="1111250" cy="12954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a:spLocks noChangeArrowheads="1"/>
          </p:cNvSpPr>
          <p:nvPr/>
        </p:nvSpPr>
        <p:spPr bwMode="auto">
          <a:xfrm>
            <a:off x="2802777" y="3726143"/>
            <a:ext cx="15937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mj-lt"/>
              </a:rPr>
              <a:t>Chunk Id, range</a:t>
            </a:r>
          </a:p>
        </p:txBody>
      </p:sp>
      <p:sp>
        <p:nvSpPr>
          <p:cNvPr id="30" name="TextBox 29"/>
          <p:cNvSpPr txBox="1">
            <a:spLocks noChangeArrowheads="1"/>
          </p:cNvSpPr>
          <p:nvPr/>
        </p:nvSpPr>
        <p:spPr bwMode="auto">
          <a:xfrm>
            <a:off x="2729752" y="4415118"/>
            <a:ext cx="1213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mj-lt"/>
              </a:rPr>
              <a:t>Chunk data</a:t>
            </a:r>
          </a:p>
        </p:txBody>
      </p:sp>
    </p:spTree>
    <p:extLst>
      <p:ext uri="{BB962C8B-B14F-4D97-AF65-F5344CB8AC3E}">
        <p14:creationId xmlns:p14="http://schemas.microsoft.com/office/powerpoint/2010/main" val="1774784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left)">
                                      <p:cBhvr>
                                        <p:cTn id="14" dur="500"/>
                                        <p:tgtEl>
                                          <p:spTgt spid="2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right)">
                                      <p:cBhvr>
                                        <p:cTn id="19" dur="500"/>
                                        <p:tgtEl>
                                          <p:spTgt spid="8"/>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right)">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up)">
                                      <p:cBhvr>
                                        <p:cTn id="27" dur="500"/>
                                        <p:tgtEl>
                                          <p:spTgt spid="19"/>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left)">
                                      <p:cBhvr>
                                        <p:cTn id="34" dur="500"/>
                                        <p:tgtEl>
                                          <p:spTgt spid="2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right)">
                                      <p:cBhvr>
                                        <p:cTn id="39" dur="500"/>
                                        <p:tgtEl>
                                          <p:spTgt spid="21"/>
                                        </p:tgtEl>
                                      </p:cBhvr>
                                    </p:animEffect>
                                  </p:childTnLst>
                                </p:cTn>
                              </p:par>
                              <p:par>
                                <p:cTn id="40" presetID="22" presetClass="entr" presetSubtype="2"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wipe(right)">
                                      <p:cBhvr>
                                        <p:cTn id="42" dur="500"/>
                                        <p:tgtEl>
                                          <p:spTgt spid="30"/>
                                        </p:tgtEl>
                                      </p:cBhvr>
                                    </p:animEffect>
                                  </p:childTnLst>
                                </p:cTn>
                              </p:par>
                            </p:childTnLst>
                          </p:cTn>
                        </p:par>
                        <p:par>
                          <p:cTn id="43" fill="hold">
                            <p:stCondLst>
                              <p:cond delay="500"/>
                            </p:stCondLst>
                            <p:childTnLst>
                              <p:par>
                                <p:cTn id="44" presetID="22" presetClass="entr" presetSubtype="4" fill="hold" nodeType="after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down)">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3" grpId="0"/>
      <p:bldP spid="24" grpId="0"/>
      <p:bldP spid="29" grpId="0"/>
      <p:bldP spid="3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GFS </a:t>
            </a:r>
            <a:r>
              <a:rPr lang="en-US" dirty="0" smtClean="0"/>
              <a:t>Mechanics</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Each GFS cluster consists of a single master along with multiple chunk servers</a:t>
            </a:r>
          </a:p>
          <a:p>
            <a:r>
              <a:rPr lang="en-US" dirty="0" smtClean="0"/>
              <a:t>Each </a:t>
            </a:r>
            <a:r>
              <a:rPr lang="en-US" dirty="0"/>
              <a:t>GFS file is divided up into chunks of 64MB</a:t>
            </a:r>
          </a:p>
          <a:p>
            <a:r>
              <a:rPr lang="en-US" dirty="0" smtClean="0"/>
              <a:t>These </a:t>
            </a:r>
            <a:r>
              <a:rPr lang="en-US" dirty="0"/>
              <a:t>chunks are distributed across chunk servers (i.e., using file-striping technique)</a:t>
            </a:r>
          </a:p>
          <a:p>
            <a:r>
              <a:rPr lang="en-US" dirty="0" smtClean="0"/>
              <a:t>The </a:t>
            </a:r>
            <a:r>
              <a:rPr lang="en-US" dirty="0"/>
              <a:t>GFS master allocates chunks to chunk servers</a:t>
            </a:r>
          </a:p>
          <a:p>
            <a:r>
              <a:rPr lang="en-US" dirty="0" smtClean="0"/>
              <a:t>The </a:t>
            </a:r>
            <a:r>
              <a:rPr lang="en-US" dirty="0"/>
              <a:t>master keeps track of where a chunk is </a:t>
            </a:r>
            <a:r>
              <a:rPr lang="en-US" dirty="0" smtClean="0"/>
              <a:t>located</a:t>
            </a:r>
          </a:p>
          <a:p>
            <a:r>
              <a:rPr lang="en-US" dirty="0"/>
              <a:t>The GFS master is contacted for metadata information</a:t>
            </a:r>
          </a:p>
          <a:p>
            <a:r>
              <a:rPr lang="en-US" dirty="0" smtClean="0"/>
              <a:t>The </a:t>
            </a:r>
            <a:r>
              <a:rPr lang="en-US" dirty="0"/>
              <a:t>GFS master maintains a name space, along with a mapping from file name to chunks</a:t>
            </a:r>
          </a:p>
          <a:p>
            <a:r>
              <a:rPr lang="en-US" dirty="0" smtClean="0"/>
              <a:t>The </a:t>
            </a:r>
            <a:r>
              <a:rPr lang="en-US" dirty="0"/>
              <a:t>chunk servers keep an account of what they have stored</a:t>
            </a:r>
          </a:p>
          <a:p>
            <a:r>
              <a:rPr lang="en-US" dirty="0" smtClean="0"/>
              <a:t>Chunks </a:t>
            </a:r>
            <a:r>
              <a:rPr lang="en-US" dirty="0"/>
              <a:t>are replicated (</a:t>
            </a:r>
            <a:r>
              <a:rPr lang="en-US" dirty="0">
                <a:solidFill>
                  <a:schemeClr val="accent6"/>
                </a:solidFill>
              </a:rPr>
              <a:t>server-side- No data caching; but it does cache metadata</a:t>
            </a:r>
            <a:r>
              <a:rPr lang="en-US" dirty="0"/>
              <a:t>) to handle failures (</a:t>
            </a:r>
            <a:r>
              <a:rPr lang="en-US" dirty="0">
                <a:solidFill>
                  <a:schemeClr val="accent6"/>
                </a:solidFill>
              </a:rPr>
              <a:t>No RAID, No SAN</a:t>
            </a:r>
            <a:r>
              <a:rPr lang="en-US" dirty="0"/>
              <a:t>)</a:t>
            </a:r>
          </a:p>
          <a:p>
            <a:r>
              <a:rPr lang="en-US" dirty="0" smtClean="0"/>
              <a:t>Replicas </a:t>
            </a:r>
            <a:r>
              <a:rPr lang="en-US" dirty="0"/>
              <a:t>are updated serially</a:t>
            </a:r>
          </a:p>
          <a:p>
            <a:endParaRPr lang="en-US" dirty="0"/>
          </a:p>
        </p:txBody>
      </p:sp>
    </p:spTree>
    <p:extLst>
      <p:ext uri="{BB962C8B-B14F-4D97-AF65-F5344CB8AC3E}">
        <p14:creationId xmlns:p14="http://schemas.microsoft.com/office/powerpoint/2010/main" val="1710402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Architectures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Client-Server Distributed File Systems</a:t>
            </a:r>
          </a:p>
          <a:p>
            <a:r>
              <a:rPr lang="en-US" dirty="0"/>
              <a:t>Cluster-Based Distributed File Systems</a:t>
            </a:r>
          </a:p>
          <a:p>
            <a:r>
              <a:rPr lang="en-US" dirty="0"/>
              <a:t>Symmetric Distributed File Systems</a:t>
            </a:r>
          </a:p>
          <a:p>
            <a:endParaRPr lang="en-US" sz="2400" dirty="0"/>
          </a:p>
        </p:txBody>
      </p:sp>
      <p:sp>
        <p:nvSpPr>
          <p:cNvPr id="4" name="Rounded Rectangle 3"/>
          <p:cNvSpPr/>
          <p:nvPr/>
        </p:nvSpPr>
        <p:spPr>
          <a:xfrm>
            <a:off x="131180" y="1686646"/>
            <a:ext cx="5190565" cy="484094"/>
          </a:xfrm>
          <a:prstGeom prst="roundRect">
            <a:avLst/>
          </a:prstGeom>
          <a:solidFill>
            <a:srgbClr val="1D3064">
              <a:alpha val="50000"/>
            </a:srgbClr>
          </a:solidFill>
          <a:ln>
            <a:solidFill>
              <a:schemeClr val="accent1">
                <a:shade val="50000"/>
                <a:alpha val="31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22549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Ivy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Fully symmetric organizations that are based on peer-to-peer technology also exist</a:t>
            </a:r>
          </a:p>
          <a:p>
            <a:r>
              <a:rPr lang="en-US" dirty="0" smtClean="0"/>
              <a:t>All </a:t>
            </a:r>
            <a:r>
              <a:rPr lang="en-US" dirty="0"/>
              <a:t>current proposals use a DHT-based system for distributing data, combined with a key-based lookup mechanism</a:t>
            </a:r>
          </a:p>
          <a:p>
            <a:r>
              <a:rPr lang="en-US" dirty="0" smtClean="0"/>
              <a:t>As </a:t>
            </a:r>
            <a:r>
              <a:rPr lang="en-US" dirty="0"/>
              <a:t>an example, Ivy is a distributed file system that is built using a Chord DHT-based system</a:t>
            </a:r>
          </a:p>
          <a:p>
            <a:r>
              <a:rPr lang="en-US" dirty="0" smtClean="0"/>
              <a:t>Data </a:t>
            </a:r>
            <a:r>
              <a:rPr lang="en-US" dirty="0"/>
              <a:t>storage in Ivy is realized by a block-oriented (i.e., blocks are distributed over storage nodes) distributed storage called </a:t>
            </a:r>
            <a:r>
              <a:rPr lang="en-US" dirty="0" err="1"/>
              <a:t>DHash</a:t>
            </a:r>
            <a:endParaRPr lang="en-US" dirty="0"/>
          </a:p>
        </p:txBody>
      </p:sp>
    </p:spTree>
    <p:extLst>
      <p:ext uri="{BB962C8B-B14F-4D97-AF65-F5344CB8AC3E}">
        <p14:creationId xmlns:p14="http://schemas.microsoft.com/office/powerpoint/2010/main" val="3056500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Ivy Architecture</a:t>
            </a:r>
          </a:p>
        </p:txBody>
      </p:sp>
      <p:grpSp>
        <p:nvGrpSpPr>
          <p:cNvPr id="3" name="Group 2"/>
          <p:cNvGrpSpPr/>
          <p:nvPr/>
        </p:nvGrpSpPr>
        <p:grpSpPr>
          <a:xfrm>
            <a:off x="945778" y="1676907"/>
            <a:ext cx="7418293" cy="3675023"/>
            <a:chOff x="945778" y="1676907"/>
            <a:chExt cx="7418293" cy="3675023"/>
          </a:xfrm>
        </p:grpSpPr>
        <p:sp>
          <p:nvSpPr>
            <p:cNvPr id="18" name="Rectangle 17"/>
            <p:cNvSpPr/>
            <p:nvPr/>
          </p:nvSpPr>
          <p:spPr>
            <a:xfrm>
              <a:off x="3258671" y="2456330"/>
              <a:ext cx="1219200" cy="2590800"/>
            </a:xfrm>
            <a:prstGeom prst="rect">
              <a:avLst/>
            </a:prstGeom>
            <a:noFill/>
            <a:ln>
              <a:solidFill>
                <a:srgbClr val="0E375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19" name="Rectangle 18"/>
            <p:cNvSpPr/>
            <p:nvPr/>
          </p:nvSpPr>
          <p:spPr>
            <a:xfrm>
              <a:off x="3411071" y="2684930"/>
              <a:ext cx="914400" cy="304800"/>
            </a:xfrm>
            <a:prstGeom prst="rect">
              <a:avLst/>
            </a:prstGeom>
            <a:solidFill>
              <a:srgbClr val="0E375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latin typeface="+mj-lt"/>
                </a:rPr>
                <a:t>Ivy</a:t>
              </a:r>
            </a:p>
          </p:txBody>
        </p:sp>
        <p:sp>
          <p:nvSpPr>
            <p:cNvPr id="20" name="Rectangle 19"/>
            <p:cNvSpPr/>
            <p:nvPr/>
          </p:nvSpPr>
          <p:spPr>
            <a:xfrm>
              <a:off x="3411071" y="3523130"/>
              <a:ext cx="914400" cy="304800"/>
            </a:xfrm>
            <a:prstGeom prst="rect">
              <a:avLst/>
            </a:prstGeom>
            <a:solidFill>
              <a:srgbClr val="0E375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err="1">
                  <a:latin typeface="+mj-lt"/>
                </a:rPr>
                <a:t>DHash</a:t>
              </a:r>
              <a:endParaRPr lang="en-US" sz="2000" dirty="0">
                <a:latin typeface="+mj-lt"/>
              </a:endParaRPr>
            </a:p>
          </p:txBody>
        </p:sp>
        <p:sp>
          <p:nvSpPr>
            <p:cNvPr id="21" name="Rectangle 20"/>
            <p:cNvSpPr/>
            <p:nvPr/>
          </p:nvSpPr>
          <p:spPr>
            <a:xfrm>
              <a:off x="3411071" y="4361330"/>
              <a:ext cx="914400" cy="304800"/>
            </a:xfrm>
            <a:prstGeom prst="rect">
              <a:avLst/>
            </a:prstGeom>
            <a:solidFill>
              <a:srgbClr val="0E375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latin typeface="+mj-lt"/>
                </a:rPr>
                <a:t>Chord</a:t>
              </a:r>
            </a:p>
          </p:txBody>
        </p:sp>
        <p:sp>
          <p:nvSpPr>
            <p:cNvPr id="22" name="TextBox 3"/>
            <p:cNvSpPr txBox="1">
              <a:spLocks noChangeArrowheads="1"/>
            </p:cNvSpPr>
            <p:nvPr/>
          </p:nvSpPr>
          <p:spPr bwMode="auto">
            <a:xfrm>
              <a:off x="1337891" y="2684930"/>
              <a:ext cx="17796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mj-lt"/>
                </a:rPr>
                <a:t>File System Layer</a:t>
              </a:r>
            </a:p>
          </p:txBody>
        </p:sp>
        <p:sp>
          <p:nvSpPr>
            <p:cNvPr id="23" name="TextBox 8"/>
            <p:cNvSpPr txBox="1">
              <a:spLocks noChangeArrowheads="1"/>
            </p:cNvSpPr>
            <p:nvPr/>
          </p:nvSpPr>
          <p:spPr bwMode="auto">
            <a:xfrm>
              <a:off x="945778" y="3519955"/>
              <a:ext cx="22797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mj-lt"/>
                </a:rPr>
                <a:t>Block-Oriented Storage</a:t>
              </a:r>
            </a:p>
          </p:txBody>
        </p:sp>
        <p:sp>
          <p:nvSpPr>
            <p:cNvPr id="24" name="TextBox 9"/>
            <p:cNvSpPr txBox="1">
              <a:spLocks noChangeArrowheads="1"/>
            </p:cNvSpPr>
            <p:nvPr/>
          </p:nvSpPr>
          <p:spPr bwMode="auto">
            <a:xfrm>
              <a:off x="1791916" y="4358155"/>
              <a:ext cx="11256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mj-lt"/>
                </a:rPr>
                <a:t>DHT Layer</a:t>
              </a:r>
            </a:p>
          </p:txBody>
        </p:sp>
        <p:sp>
          <p:nvSpPr>
            <p:cNvPr id="25" name="Rectangle 24"/>
            <p:cNvSpPr/>
            <p:nvPr/>
          </p:nvSpPr>
          <p:spPr>
            <a:xfrm>
              <a:off x="5163671" y="2456330"/>
              <a:ext cx="1219200" cy="2590800"/>
            </a:xfrm>
            <a:prstGeom prst="rect">
              <a:avLst/>
            </a:prstGeom>
            <a:noFill/>
            <a:ln>
              <a:solidFill>
                <a:srgbClr val="0E375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26" name="Rectangle 25"/>
            <p:cNvSpPr/>
            <p:nvPr/>
          </p:nvSpPr>
          <p:spPr>
            <a:xfrm>
              <a:off x="5316071" y="2684930"/>
              <a:ext cx="914400" cy="304800"/>
            </a:xfrm>
            <a:prstGeom prst="rect">
              <a:avLst/>
            </a:prstGeom>
            <a:solidFill>
              <a:srgbClr val="0E3755"/>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latin typeface="+mj-lt"/>
                </a:rPr>
                <a:t>Ivy</a:t>
              </a:r>
            </a:p>
          </p:txBody>
        </p:sp>
        <p:sp>
          <p:nvSpPr>
            <p:cNvPr id="27" name="Rectangle 26"/>
            <p:cNvSpPr/>
            <p:nvPr/>
          </p:nvSpPr>
          <p:spPr>
            <a:xfrm>
              <a:off x="5316071" y="3523130"/>
              <a:ext cx="914400" cy="304800"/>
            </a:xfrm>
            <a:prstGeom prst="rect">
              <a:avLst/>
            </a:prstGeom>
            <a:solidFill>
              <a:srgbClr val="0E375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err="1">
                  <a:latin typeface="+mj-lt"/>
                </a:rPr>
                <a:t>DHash</a:t>
              </a:r>
              <a:endParaRPr lang="en-US" sz="2000" dirty="0">
                <a:latin typeface="+mj-lt"/>
              </a:endParaRPr>
            </a:p>
          </p:txBody>
        </p:sp>
        <p:sp>
          <p:nvSpPr>
            <p:cNvPr id="28" name="Rectangle 27"/>
            <p:cNvSpPr/>
            <p:nvPr/>
          </p:nvSpPr>
          <p:spPr>
            <a:xfrm>
              <a:off x="5316071" y="4361330"/>
              <a:ext cx="914400" cy="304800"/>
            </a:xfrm>
            <a:prstGeom prst="rect">
              <a:avLst/>
            </a:prstGeom>
            <a:solidFill>
              <a:srgbClr val="0E375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latin typeface="+mj-lt"/>
                </a:rPr>
                <a:t>Chord</a:t>
              </a:r>
            </a:p>
          </p:txBody>
        </p:sp>
        <p:sp>
          <p:nvSpPr>
            <p:cNvPr id="29" name="Rectangle 28"/>
            <p:cNvSpPr/>
            <p:nvPr/>
          </p:nvSpPr>
          <p:spPr>
            <a:xfrm>
              <a:off x="7144871" y="2456330"/>
              <a:ext cx="1219200" cy="2590800"/>
            </a:xfrm>
            <a:prstGeom prst="rect">
              <a:avLst/>
            </a:prstGeom>
            <a:noFill/>
            <a:ln>
              <a:solidFill>
                <a:srgbClr val="0E375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mj-lt"/>
              </a:endParaRPr>
            </a:p>
          </p:txBody>
        </p:sp>
        <p:sp>
          <p:nvSpPr>
            <p:cNvPr id="30" name="Rectangle 29"/>
            <p:cNvSpPr/>
            <p:nvPr/>
          </p:nvSpPr>
          <p:spPr>
            <a:xfrm>
              <a:off x="7297271" y="2684930"/>
              <a:ext cx="914400" cy="304800"/>
            </a:xfrm>
            <a:prstGeom prst="rect">
              <a:avLst/>
            </a:prstGeom>
            <a:solidFill>
              <a:srgbClr val="0E3755"/>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latin typeface="+mj-lt"/>
                </a:rPr>
                <a:t>Ivy</a:t>
              </a:r>
            </a:p>
          </p:txBody>
        </p:sp>
        <p:sp>
          <p:nvSpPr>
            <p:cNvPr id="31" name="Rectangle 30"/>
            <p:cNvSpPr/>
            <p:nvPr/>
          </p:nvSpPr>
          <p:spPr>
            <a:xfrm>
              <a:off x="7297271" y="3523130"/>
              <a:ext cx="914400" cy="304800"/>
            </a:xfrm>
            <a:prstGeom prst="rect">
              <a:avLst/>
            </a:prstGeom>
            <a:solidFill>
              <a:srgbClr val="0E375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err="1">
                  <a:latin typeface="+mj-lt"/>
                </a:rPr>
                <a:t>DHash</a:t>
              </a:r>
              <a:endParaRPr lang="en-US" sz="2000" dirty="0">
                <a:latin typeface="+mj-lt"/>
              </a:endParaRPr>
            </a:p>
          </p:txBody>
        </p:sp>
        <p:sp>
          <p:nvSpPr>
            <p:cNvPr id="32" name="Rectangle 31"/>
            <p:cNvSpPr/>
            <p:nvPr/>
          </p:nvSpPr>
          <p:spPr>
            <a:xfrm>
              <a:off x="7297271" y="4361330"/>
              <a:ext cx="914400" cy="304800"/>
            </a:xfrm>
            <a:prstGeom prst="rect">
              <a:avLst/>
            </a:prstGeom>
            <a:solidFill>
              <a:srgbClr val="0E375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latin typeface="+mj-lt"/>
                </a:rPr>
                <a:t>Chord</a:t>
              </a:r>
            </a:p>
          </p:txBody>
        </p:sp>
        <p:cxnSp>
          <p:nvCxnSpPr>
            <p:cNvPr id="33" name="Straight Arrow Connector 32"/>
            <p:cNvCxnSpPr>
              <a:stCxn id="20" idx="3"/>
              <a:endCxn id="27" idx="1"/>
            </p:cNvCxnSpPr>
            <p:nvPr/>
          </p:nvCxnSpPr>
          <p:spPr>
            <a:xfrm>
              <a:off x="4325471" y="3675530"/>
              <a:ext cx="990600" cy="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7" idx="3"/>
              <a:endCxn id="31" idx="1"/>
            </p:cNvCxnSpPr>
            <p:nvPr/>
          </p:nvCxnSpPr>
          <p:spPr>
            <a:xfrm>
              <a:off x="6230471" y="3675530"/>
              <a:ext cx="1066800" cy="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4325471" y="4513730"/>
              <a:ext cx="990600" cy="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6230471" y="4513730"/>
              <a:ext cx="1066800" cy="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8" idx="2"/>
            </p:cNvCxnSpPr>
            <p:nvPr/>
          </p:nvCxnSpPr>
          <p:spPr>
            <a:xfrm>
              <a:off x="3868271" y="5047130"/>
              <a:ext cx="0" cy="3048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3411071" y="5351930"/>
              <a:ext cx="9144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4325471" y="5351930"/>
              <a:ext cx="990600"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5773271" y="5047130"/>
              <a:ext cx="0" cy="3048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5316071" y="5351930"/>
              <a:ext cx="9144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7754471" y="5047130"/>
              <a:ext cx="0" cy="3048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7297271" y="5351930"/>
              <a:ext cx="9144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306671" y="5351930"/>
              <a:ext cx="990600"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5" name="TextBox 38"/>
            <p:cNvSpPr txBox="1">
              <a:spLocks noChangeArrowheads="1"/>
            </p:cNvSpPr>
            <p:nvPr/>
          </p:nvSpPr>
          <p:spPr bwMode="auto">
            <a:xfrm>
              <a:off x="3496387" y="1676907"/>
              <a:ext cx="33345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latin typeface="+mj-lt"/>
                </a:rPr>
                <a:t>Node where a file system is rooted</a:t>
              </a:r>
            </a:p>
          </p:txBody>
        </p:sp>
        <p:cxnSp>
          <p:nvCxnSpPr>
            <p:cNvPr id="46" name="Straight Arrow Connector 45"/>
            <p:cNvCxnSpPr/>
            <p:nvPr/>
          </p:nvCxnSpPr>
          <p:spPr>
            <a:xfrm flipV="1">
              <a:off x="4020671" y="2118753"/>
              <a:ext cx="304800" cy="337578"/>
            </a:xfrm>
            <a:prstGeom prst="straightConnector1">
              <a:avLst/>
            </a:prstGeom>
            <a:ln w="12700">
              <a:solidFill>
                <a:srgbClr val="7030A0"/>
              </a:solidFill>
              <a:prstDash val="sysDot"/>
              <a:tailEnd type="arrow"/>
            </a:ln>
          </p:spPr>
          <p:style>
            <a:lnRef idx="1">
              <a:schemeClr val="accent1"/>
            </a:lnRef>
            <a:fillRef idx="0">
              <a:schemeClr val="accent1"/>
            </a:fillRef>
            <a:effectRef idx="0">
              <a:schemeClr val="accent1"/>
            </a:effectRef>
            <a:fontRef idx="minor">
              <a:schemeClr val="tx1"/>
            </a:fontRef>
          </p:style>
        </p:cxnSp>
      </p:grpSp>
      <p:sp>
        <p:nvSpPr>
          <p:cNvPr id="5" name="TextBox 4"/>
          <p:cNvSpPr txBox="1"/>
          <p:nvPr/>
        </p:nvSpPr>
        <p:spPr>
          <a:xfrm>
            <a:off x="219789" y="958841"/>
            <a:ext cx="4540470" cy="461665"/>
          </a:xfrm>
          <a:prstGeom prst="rect">
            <a:avLst/>
          </a:prstGeom>
          <a:noFill/>
        </p:spPr>
        <p:txBody>
          <a:bodyPr wrap="square" rtlCol="0">
            <a:spAutoFit/>
          </a:bodyPr>
          <a:lstStyle/>
          <a:p>
            <a:r>
              <a:rPr lang="en-US" sz="2400" dirty="0"/>
              <a:t>Ivy consists of 3 separate layers:</a:t>
            </a:r>
          </a:p>
        </p:txBody>
      </p:sp>
    </p:spTree>
    <p:extLst>
      <p:ext uri="{BB962C8B-B14F-4D97-AF65-F5344CB8AC3E}">
        <p14:creationId xmlns:p14="http://schemas.microsoft.com/office/powerpoint/2010/main" val="2304377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Communication</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Communication in DFSs is mainly based on remote procedure </a:t>
            </a:r>
            <a:br>
              <a:rPr lang="en-US" dirty="0"/>
            </a:br>
            <a:r>
              <a:rPr lang="en-US" dirty="0"/>
              <a:t>calls (</a:t>
            </a:r>
            <a:r>
              <a:rPr lang="en-US" dirty="0">
                <a:solidFill>
                  <a:schemeClr val="accent6"/>
                </a:solidFill>
              </a:rPr>
              <a:t>RPCs</a:t>
            </a:r>
            <a:r>
              <a:rPr lang="en-US" dirty="0"/>
              <a:t>)</a:t>
            </a:r>
          </a:p>
          <a:p>
            <a:r>
              <a:rPr lang="en-US" dirty="0" smtClean="0"/>
              <a:t>For </a:t>
            </a:r>
            <a:r>
              <a:rPr lang="en-US" dirty="0"/>
              <a:t>example, in NFS, all communication between a client and server proceeds along the Open Network Computing RPC (</a:t>
            </a:r>
            <a:r>
              <a:rPr lang="en-US" dirty="0">
                <a:solidFill>
                  <a:schemeClr val="accent6"/>
                </a:solidFill>
              </a:rPr>
              <a:t>ONC RPC</a:t>
            </a:r>
            <a:r>
              <a:rPr lang="en-US" dirty="0"/>
              <a:t>)</a:t>
            </a:r>
          </a:p>
          <a:p>
            <a:r>
              <a:rPr lang="en-US" dirty="0" smtClean="0"/>
              <a:t>The </a:t>
            </a:r>
            <a:r>
              <a:rPr lang="en-US" dirty="0"/>
              <a:t>main reason for choosing RPC is to make the system independent from underlying OSs, networks, and transport protocols</a:t>
            </a:r>
          </a:p>
          <a:p>
            <a:r>
              <a:rPr lang="en-US" dirty="0" smtClean="0"/>
              <a:t>Every </a:t>
            </a:r>
            <a:r>
              <a:rPr lang="en-US" dirty="0"/>
              <a:t>NFS operation can be implemented as a single RPC call to a file server</a:t>
            </a:r>
          </a:p>
        </p:txBody>
      </p:sp>
    </p:spTree>
    <p:extLst>
      <p:ext uri="{BB962C8B-B14F-4D97-AF65-F5344CB8AC3E}">
        <p14:creationId xmlns:p14="http://schemas.microsoft.com/office/powerpoint/2010/main" val="13655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RPCs in NFS</a:t>
            </a:r>
          </a:p>
        </p:txBody>
      </p:sp>
      <p:sp>
        <p:nvSpPr>
          <p:cNvPr id="5" name="Rectangle 3"/>
          <p:cNvSpPr txBox="1">
            <a:spLocks noChangeArrowheads="1"/>
          </p:cNvSpPr>
          <p:nvPr/>
        </p:nvSpPr>
        <p:spPr>
          <a:xfrm>
            <a:off x="-1" y="848564"/>
            <a:ext cx="8392019" cy="568670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lvl="1" indent="-265113">
              <a:spcBef>
                <a:spcPts val="1000"/>
              </a:spcBef>
              <a:buFont typeface="Webdings" panose="05030102010509060703" pitchFamily="18" charset="2"/>
              <a:buChar char=""/>
            </a:pPr>
            <a:r>
              <a:rPr lang="en-US" altLang="en-US" sz="2400" dirty="0"/>
              <a:t>Up until NFSv4, the client was made responsible </a:t>
            </a:r>
            <a:br>
              <a:rPr lang="en-US" altLang="en-US" sz="2400" dirty="0"/>
            </a:br>
            <a:r>
              <a:rPr lang="en-US" altLang="en-US" sz="2400" dirty="0"/>
              <a:t>for making the server’s life as easy as possible by keeping requests simple</a:t>
            </a:r>
          </a:p>
          <a:p>
            <a:pPr marL="265113" lvl="1" indent="-265113">
              <a:spcBef>
                <a:spcPts val="1000"/>
              </a:spcBef>
              <a:buFont typeface="Webdings" panose="05030102010509060703" pitchFamily="18" charset="2"/>
              <a:buChar char=""/>
            </a:pPr>
            <a:r>
              <a:rPr lang="en-US" altLang="en-US" sz="2400" dirty="0"/>
              <a:t>The drawback becomes apparent when considering </a:t>
            </a:r>
            <a:br>
              <a:rPr lang="en-US" altLang="en-US" sz="2400" dirty="0"/>
            </a:br>
            <a:r>
              <a:rPr lang="en-US" altLang="en-US" sz="2400" dirty="0"/>
              <a:t>the use of NFS in a wide-area system</a:t>
            </a:r>
          </a:p>
          <a:p>
            <a:pPr marL="265113" lvl="1" indent="-265113">
              <a:spcBef>
                <a:spcPts val="1000"/>
              </a:spcBef>
              <a:buFont typeface="Webdings" panose="05030102010509060703" pitchFamily="18" charset="2"/>
              <a:buChar char=""/>
            </a:pPr>
            <a:r>
              <a:rPr lang="en-US" altLang="en-US" sz="2400" dirty="0"/>
              <a:t>In that case, the extra latency of a second RPC leads to performance degradation</a:t>
            </a:r>
          </a:p>
          <a:p>
            <a:pPr marL="265113" lvl="1" indent="-265113">
              <a:spcBef>
                <a:spcPts val="1000"/>
              </a:spcBef>
              <a:buFont typeface="Webdings" panose="05030102010509060703" pitchFamily="18" charset="2"/>
              <a:buChar char=""/>
            </a:pPr>
            <a:r>
              <a:rPr lang="en-US" altLang="en-US" sz="2400" dirty="0"/>
              <a:t>To circumvent such problems, NFSv4 supports compound procedures</a:t>
            </a:r>
          </a:p>
          <a:p>
            <a:pPr marL="342900" lvl="1" indent="-342900">
              <a:buFont typeface="Wingdings" panose="05000000000000000000" pitchFamily="2" charset="2"/>
              <a:buChar char="§"/>
            </a:pPr>
            <a:endParaRPr lang="en-US" altLang="en-US" dirty="0" smtClean="0"/>
          </a:p>
          <a:p>
            <a:pPr marL="342900" lvl="1" indent="-342900">
              <a:buFont typeface="Wingdings" panose="05000000000000000000" pitchFamily="2" charset="2"/>
              <a:buChar char="§"/>
            </a:pPr>
            <a:endParaRPr lang="en-US" altLang="en-US" dirty="0" smtClean="0"/>
          </a:p>
          <a:p>
            <a:pPr marL="342900" lvl="1" indent="-342900">
              <a:buFont typeface="Wingdings" panose="05000000000000000000" pitchFamily="2" charset="2"/>
              <a:buChar char="§"/>
            </a:pPr>
            <a:endParaRPr lang="en-US" altLang="en-US" dirty="0" smtClean="0"/>
          </a:p>
          <a:p>
            <a:pPr marL="342900" lvl="1" indent="-342900">
              <a:buFont typeface="Wingdings" panose="05000000000000000000" pitchFamily="2" charset="2"/>
              <a:buChar char="§"/>
            </a:pPr>
            <a:endParaRPr lang="en-US" altLang="en-US" sz="1600" dirty="0" smtClean="0"/>
          </a:p>
          <a:p>
            <a:pPr marL="342900" lvl="1" indent="-342900">
              <a:buFont typeface="Wingdings" panose="05000000000000000000" pitchFamily="2" charset="2"/>
              <a:buChar char="§"/>
            </a:pPr>
            <a:endParaRPr lang="en-US" altLang="en-US" sz="1400" dirty="0" smtClean="0"/>
          </a:p>
        </p:txBody>
      </p:sp>
      <p:cxnSp>
        <p:nvCxnSpPr>
          <p:cNvPr id="6" name="Straight Connector 5"/>
          <p:cNvCxnSpPr/>
          <p:nvPr/>
        </p:nvCxnSpPr>
        <p:spPr>
          <a:xfrm>
            <a:off x="9628094" y="1253378"/>
            <a:ext cx="0" cy="2209800"/>
          </a:xfrm>
          <a:prstGeom prst="line">
            <a:avLst/>
          </a:prstGeom>
          <a:ln w="19050">
            <a:solidFill>
              <a:srgbClr val="0E3755"/>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0466294" y="1253378"/>
            <a:ext cx="0" cy="220980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9628094" y="1558178"/>
            <a:ext cx="838200" cy="190500"/>
          </a:xfrm>
          <a:prstGeom prst="straightConnector1">
            <a:avLst/>
          </a:prstGeom>
          <a:ln w="12700">
            <a:solidFill>
              <a:srgbClr val="0E3755"/>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9628094" y="2167778"/>
            <a:ext cx="838200" cy="190500"/>
          </a:xfrm>
          <a:prstGeom prst="straightConnector1">
            <a:avLst/>
          </a:prstGeom>
          <a:ln w="1270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a:spLocks noChangeArrowheads="1"/>
          </p:cNvSpPr>
          <p:nvPr/>
        </p:nvSpPr>
        <p:spPr bwMode="auto">
          <a:xfrm>
            <a:off x="9704294" y="1253378"/>
            <a:ext cx="7809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0E3755"/>
                </a:solidFill>
                <a:latin typeface="+mj-lt"/>
              </a:rPr>
              <a:t>Lookup</a:t>
            </a:r>
          </a:p>
        </p:txBody>
      </p:sp>
      <p:sp>
        <p:nvSpPr>
          <p:cNvPr id="11" name="TextBox 10"/>
          <p:cNvSpPr txBox="1">
            <a:spLocks noChangeArrowheads="1"/>
          </p:cNvSpPr>
          <p:nvPr/>
        </p:nvSpPr>
        <p:spPr bwMode="auto">
          <a:xfrm>
            <a:off x="10542494" y="1891553"/>
            <a:ext cx="12747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accent6"/>
                </a:solidFill>
                <a:latin typeface="+mj-lt"/>
              </a:rPr>
              <a:t>Lookup name</a:t>
            </a:r>
          </a:p>
        </p:txBody>
      </p:sp>
      <p:cxnSp>
        <p:nvCxnSpPr>
          <p:cNvPr id="12" name="Straight Arrow Connector 11"/>
          <p:cNvCxnSpPr/>
          <p:nvPr/>
        </p:nvCxnSpPr>
        <p:spPr>
          <a:xfrm>
            <a:off x="9628094" y="2624978"/>
            <a:ext cx="838200" cy="228600"/>
          </a:xfrm>
          <a:prstGeom prst="straightConnector1">
            <a:avLst/>
          </a:prstGeom>
          <a:ln w="12700">
            <a:solidFill>
              <a:srgbClr val="0E3755"/>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a:spLocks noChangeArrowheads="1"/>
          </p:cNvSpPr>
          <p:nvPr/>
        </p:nvSpPr>
        <p:spPr bwMode="auto">
          <a:xfrm>
            <a:off x="9704294" y="2424953"/>
            <a:ext cx="5902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0E3755"/>
                </a:solidFill>
                <a:latin typeface="+mj-lt"/>
              </a:rPr>
              <a:t>Read</a:t>
            </a:r>
          </a:p>
        </p:txBody>
      </p:sp>
      <p:cxnSp>
        <p:nvCxnSpPr>
          <p:cNvPr id="14" name="Straight Arrow Connector 13"/>
          <p:cNvCxnSpPr/>
          <p:nvPr/>
        </p:nvCxnSpPr>
        <p:spPr>
          <a:xfrm flipH="1">
            <a:off x="9628094" y="3158378"/>
            <a:ext cx="838200" cy="228600"/>
          </a:xfrm>
          <a:prstGeom prst="straightConnector1">
            <a:avLst/>
          </a:prstGeom>
          <a:ln w="1270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a:spLocks noChangeArrowheads="1"/>
          </p:cNvSpPr>
          <p:nvPr/>
        </p:nvSpPr>
        <p:spPr bwMode="auto">
          <a:xfrm>
            <a:off x="10542494" y="2929778"/>
            <a:ext cx="12971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accent6"/>
                </a:solidFill>
                <a:latin typeface="+mj-lt"/>
              </a:rPr>
              <a:t>Read file data</a:t>
            </a:r>
          </a:p>
        </p:txBody>
      </p:sp>
      <p:cxnSp>
        <p:nvCxnSpPr>
          <p:cNvPr id="16" name="Straight Arrow Connector 15"/>
          <p:cNvCxnSpPr/>
          <p:nvPr/>
        </p:nvCxnSpPr>
        <p:spPr>
          <a:xfrm>
            <a:off x="9399494" y="3067891"/>
            <a:ext cx="0" cy="3952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a:spLocks noChangeArrowheads="1"/>
          </p:cNvSpPr>
          <p:nvPr/>
        </p:nvSpPr>
        <p:spPr bwMode="auto">
          <a:xfrm rot="16200000">
            <a:off x="9105184" y="2570001"/>
            <a:ext cx="5886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mj-lt"/>
              </a:rPr>
              <a:t>Time</a:t>
            </a:r>
          </a:p>
        </p:txBody>
      </p:sp>
      <p:sp>
        <p:nvSpPr>
          <p:cNvPr id="18" name="TextBox 17"/>
          <p:cNvSpPr txBox="1">
            <a:spLocks noChangeArrowheads="1"/>
          </p:cNvSpPr>
          <p:nvPr/>
        </p:nvSpPr>
        <p:spPr bwMode="auto">
          <a:xfrm>
            <a:off x="9216023" y="884035"/>
            <a:ext cx="7681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solidFill>
                  <a:srgbClr val="0E3755"/>
                </a:solidFill>
                <a:latin typeface="+mj-lt"/>
              </a:rPr>
              <a:t>Client</a:t>
            </a:r>
          </a:p>
        </p:txBody>
      </p:sp>
      <p:sp>
        <p:nvSpPr>
          <p:cNvPr id="19" name="TextBox 18"/>
          <p:cNvSpPr txBox="1">
            <a:spLocks noChangeArrowheads="1"/>
          </p:cNvSpPr>
          <p:nvPr/>
        </p:nvSpPr>
        <p:spPr bwMode="auto">
          <a:xfrm>
            <a:off x="10161494" y="900953"/>
            <a:ext cx="8242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solidFill>
                  <a:schemeClr val="accent6"/>
                </a:solidFill>
                <a:latin typeface="+mj-lt"/>
              </a:rPr>
              <a:t>Server</a:t>
            </a:r>
          </a:p>
        </p:txBody>
      </p:sp>
      <p:cxnSp>
        <p:nvCxnSpPr>
          <p:cNvPr id="20" name="Straight Connector 19"/>
          <p:cNvCxnSpPr/>
          <p:nvPr/>
        </p:nvCxnSpPr>
        <p:spPr>
          <a:xfrm>
            <a:off x="9640794" y="4148978"/>
            <a:ext cx="0" cy="2209800"/>
          </a:xfrm>
          <a:prstGeom prst="line">
            <a:avLst/>
          </a:prstGeom>
          <a:ln w="19050">
            <a:solidFill>
              <a:srgbClr val="0E3755"/>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0478994" y="4148978"/>
            <a:ext cx="0" cy="220980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9640794" y="4644278"/>
            <a:ext cx="838200" cy="190500"/>
          </a:xfrm>
          <a:prstGeom prst="straightConnector1">
            <a:avLst/>
          </a:prstGeom>
          <a:ln w="12700">
            <a:solidFill>
              <a:srgbClr val="0E3755"/>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a:spLocks noChangeArrowheads="1"/>
          </p:cNvSpPr>
          <p:nvPr/>
        </p:nvSpPr>
        <p:spPr bwMode="auto">
          <a:xfrm>
            <a:off x="9628094" y="4112466"/>
            <a:ext cx="10488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dirty="0" smtClean="0">
                <a:solidFill>
                  <a:srgbClr val="0E3755"/>
                </a:solidFill>
                <a:latin typeface="+mj-lt"/>
              </a:rPr>
              <a:t>Lookup Open Read</a:t>
            </a:r>
            <a:endParaRPr lang="en-US" altLang="en-US" sz="1400" dirty="0">
              <a:solidFill>
                <a:srgbClr val="0E3755"/>
              </a:solidFill>
              <a:latin typeface="+mj-lt"/>
            </a:endParaRPr>
          </a:p>
        </p:txBody>
      </p:sp>
      <p:sp>
        <p:nvSpPr>
          <p:cNvPr id="24" name="TextBox 23"/>
          <p:cNvSpPr txBox="1">
            <a:spLocks noChangeArrowheads="1"/>
          </p:cNvSpPr>
          <p:nvPr/>
        </p:nvSpPr>
        <p:spPr bwMode="auto">
          <a:xfrm>
            <a:off x="10555194" y="4787153"/>
            <a:ext cx="12747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accent6"/>
                </a:solidFill>
                <a:latin typeface="+mj-lt"/>
              </a:rPr>
              <a:t>Lookup name</a:t>
            </a:r>
          </a:p>
        </p:txBody>
      </p:sp>
      <p:cxnSp>
        <p:nvCxnSpPr>
          <p:cNvPr id="25" name="Straight Arrow Connector 24"/>
          <p:cNvCxnSpPr/>
          <p:nvPr/>
        </p:nvCxnSpPr>
        <p:spPr>
          <a:xfrm flipH="1">
            <a:off x="9640794" y="6053978"/>
            <a:ext cx="838200" cy="228600"/>
          </a:xfrm>
          <a:prstGeom prst="straightConnector1">
            <a:avLst/>
          </a:prstGeom>
          <a:ln w="1270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a:spLocks noChangeArrowheads="1"/>
          </p:cNvSpPr>
          <p:nvPr/>
        </p:nvSpPr>
        <p:spPr bwMode="auto">
          <a:xfrm>
            <a:off x="10555194" y="5825378"/>
            <a:ext cx="12971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accent6"/>
                </a:solidFill>
                <a:latin typeface="+mj-lt"/>
              </a:rPr>
              <a:t>Read file data</a:t>
            </a:r>
          </a:p>
        </p:txBody>
      </p:sp>
      <p:cxnSp>
        <p:nvCxnSpPr>
          <p:cNvPr id="27" name="Straight Arrow Connector 26"/>
          <p:cNvCxnSpPr/>
          <p:nvPr/>
        </p:nvCxnSpPr>
        <p:spPr>
          <a:xfrm>
            <a:off x="9412194" y="5963491"/>
            <a:ext cx="0" cy="3952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a:spLocks noChangeArrowheads="1"/>
          </p:cNvSpPr>
          <p:nvPr/>
        </p:nvSpPr>
        <p:spPr bwMode="auto">
          <a:xfrm rot="16200000">
            <a:off x="9117884" y="5465601"/>
            <a:ext cx="5886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mj-lt"/>
              </a:rPr>
              <a:t>Time</a:t>
            </a:r>
          </a:p>
        </p:txBody>
      </p:sp>
      <p:sp>
        <p:nvSpPr>
          <p:cNvPr id="29" name="TextBox 28"/>
          <p:cNvSpPr txBox="1">
            <a:spLocks noChangeArrowheads="1"/>
          </p:cNvSpPr>
          <p:nvPr/>
        </p:nvSpPr>
        <p:spPr bwMode="auto">
          <a:xfrm>
            <a:off x="9253635" y="3782652"/>
            <a:ext cx="7681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solidFill>
                  <a:srgbClr val="0E3755"/>
                </a:solidFill>
                <a:latin typeface="+mj-lt"/>
              </a:rPr>
              <a:t>Client</a:t>
            </a:r>
          </a:p>
        </p:txBody>
      </p:sp>
      <p:sp>
        <p:nvSpPr>
          <p:cNvPr id="30" name="TextBox 29"/>
          <p:cNvSpPr txBox="1">
            <a:spLocks noChangeArrowheads="1"/>
          </p:cNvSpPr>
          <p:nvPr/>
        </p:nvSpPr>
        <p:spPr bwMode="auto">
          <a:xfrm>
            <a:off x="10174194" y="3796553"/>
            <a:ext cx="8242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chemeClr val="accent6"/>
                </a:solidFill>
                <a:latin typeface="+mj-lt"/>
              </a:rPr>
              <a:t>Server</a:t>
            </a:r>
          </a:p>
        </p:txBody>
      </p:sp>
      <p:sp>
        <p:nvSpPr>
          <p:cNvPr id="31" name="TextBox 30"/>
          <p:cNvSpPr txBox="1">
            <a:spLocks noChangeArrowheads="1"/>
          </p:cNvSpPr>
          <p:nvPr/>
        </p:nvSpPr>
        <p:spPr bwMode="auto">
          <a:xfrm>
            <a:off x="10542494" y="5291978"/>
            <a:ext cx="9060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accent6"/>
                </a:solidFill>
                <a:latin typeface="+mj-lt"/>
              </a:rPr>
              <a:t>Open file</a:t>
            </a:r>
          </a:p>
        </p:txBody>
      </p:sp>
    </p:spTree>
    <p:extLst>
      <p:ext uri="{BB962C8B-B14F-4D97-AF65-F5344CB8AC3E}">
        <p14:creationId xmlns:p14="http://schemas.microsoft.com/office/powerpoint/2010/main" val="1489151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righ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par>
                                <p:cTn id="43" presetID="22" presetClass="entr" presetSubtype="8"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wipe(right)">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wipe(left)">
                                      <p:cBhvr>
                                        <p:cTn id="85" dur="500"/>
                                        <p:tgtEl>
                                          <p:spTgt spid="23"/>
                                        </p:tgtEl>
                                      </p:cBhvr>
                                    </p:animEffect>
                                  </p:childTnLst>
                                </p:cTn>
                              </p:par>
                              <p:par>
                                <p:cTn id="86" presetID="22" presetClass="entr" presetSubtype="8" fill="hold" nodeType="with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wipe(left)">
                                      <p:cBhvr>
                                        <p:cTn id="88" dur="500"/>
                                        <p:tgtEl>
                                          <p:spTgt spid="22"/>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26"/>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22" presetClass="entr" presetSubtype="2" fill="hold" nodeType="click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wipe(right)">
                                      <p:cBhvr>
                                        <p:cTn id="10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5" grpId="0"/>
      <p:bldP spid="17" grpId="0"/>
      <p:bldP spid="18" grpId="0"/>
      <p:bldP spid="19" grpId="0"/>
      <p:bldP spid="23" grpId="0"/>
      <p:bldP spid="24" grpId="0"/>
      <p:bldP spid="26" grpId="0"/>
      <p:bldP spid="28" grpId="0"/>
      <p:bldP spid="29" grpId="0"/>
      <p:bldP spid="30" grpId="0"/>
      <p:bldP spid="3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RPC in Coda (Content Delivery </a:t>
            </a:r>
            <a:r>
              <a:rPr lang="en-US" dirty="0" smtClean="0"/>
              <a:t>Architecture)</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Another enhancement to RPCs has been developed as part of the Coda file system (</a:t>
            </a:r>
            <a:r>
              <a:rPr lang="en-US" dirty="0" err="1"/>
              <a:t>Kistler</a:t>
            </a:r>
            <a:r>
              <a:rPr lang="en-US" dirty="0"/>
              <a:t> and </a:t>
            </a:r>
            <a:r>
              <a:rPr lang="en-US" dirty="0" err="1"/>
              <a:t>Satyanarayanan</a:t>
            </a:r>
            <a:r>
              <a:rPr lang="en-US" dirty="0"/>
              <a:t>, 1992) and referred </a:t>
            </a:r>
            <a:r>
              <a:rPr lang="en-US" dirty="0" smtClean="0"/>
              <a:t>to </a:t>
            </a:r>
            <a:r>
              <a:rPr lang="en-US" dirty="0"/>
              <a:t>as RPC2</a:t>
            </a:r>
          </a:p>
          <a:p>
            <a:r>
              <a:rPr lang="en-US" dirty="0" smtClean="0"/>
              <a:t>RPC2 </a:t>
            </a:r>
            <a:r>
              <a:rPr lang="en-US" dirty="0"/>
              <a:t>is a package that offers reliable RPCs on top of the (unreliable) UDP protocol</a:t>
            </a:r>
          </a:p>
          <a:p>
            <a:r>
              <a:rPr lang="en-US" dirty="0" smtClean="0"/>
              <a:t>Each </a:t>
            </a:r>
            <a:r>
              <a:rPr lang="en-US" dirty="0"/>
              <a:t>time an RPC is made, the RPC2 client code starts a new thread that sends an invocation request to the server then blocks until it receives an answer</a:t>
            </a:r>
          </a:p>
          <a:p>
            <a:r>
              <a:rPr lang="en-US" dirty="0" smtClean="0"/>
              <a:t>As </a:t>
            </a:r>
            <a:r>
              <a:rPr lang="en-US" dirty="0"/>
              <a:t>request processing may take an arbitrary time to complete, the server regularly sends back messages to the client to let it know it is still working on the request</a:t>
            </a:r>
          </a:p>
          <a:p>
            <a:pPr lvl="2"/>
            <a:endParaRPr lang="en-US" sz="2400" b="1" dirty="0">
              <a:solidFill>
                <a:schemeClr val="accent6"/>
              </a:solidFill>
            </a:endParaRPr>
          </a:p>
        </p:txBody>
      </p:sp>
    </p:spTree>
    <p:extLst>
      <p:ext uri="{BB962C8B-B14F-4D97-AF65-F5344CB8AC3E}">
        <p14:creationId xmlns:p14="http://schemas.microsoft.com/office/powerpoint/2010/main" val="781432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RPC in </a:t>
            </a:r>
            <a:r>
              <a:rPr lang="en-US" dirty="0" smtClean="0"/>
              <a:t>Coda</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RPC2 supports multicasting</a:t>
            </a:r>
          </a:p>
          <a:p>
            <a:r>
              <a:rPr lang="en-US" dirty="0" smtClean="0"/>
              <a:t>An </a:t>
            </a:r>
            <a:r>
              <a:rPr lang="en-US" dirty="0"/>
              <a:t>important design issue in Coda is that servers keep track of which clients have a local copy of a file (i.e., </a:t>
            </a:r>
            <a:r>
              <a:rPr lang="en-US" dirty="0" err="1"/>
              <a:t>stateful</a:t>
            </a:r>
            <a:r>
              <a:rPr lang="en-US" dirty="0"/>
              <a:t> servers)</a:t>
            </a:r>
          </a:p>
          <a:p>
            <a:r>
              <a:rPr lang="en-US" dirty="0" smtClean="0"/>
              <a:t>When </a:t>
            </a:r>
            <a:r>
              <a:rPr lang="en-US" dirty="0"/>
              <a:t>a file is modified, a sever invalidates local copies at clients in parallel using multicasting</a:t>
            </a:r>
          </a:p>
          <a:p>
            <a:pPr lvl="2"/>
            <a:endParaRPr lang="en-US" sz="2400" b="1" dirty="0">
              <a:solidFill>
                <a:schemeClr val="accent6"/>
              </a:solidFill>
            </a:endParaRPr>
          </a:p>
        </p:txBody>
      </p:sp>
      <p:cxnSp>
        <p:nvCxnSpPr>
          <p:cNvPr id="4" name="Straight Connector 3"/>
          <p:cNvCxnSpPr/>
          <p:nvPr/>
        </p:nvCxnSpPr>
        <p:spPr>
          <a:xfrm>
            <a:off x="1860177" y="3478306"/>
            <a:ext cx="2819400" cy="0"/>
          </a:xfrm>
          <a:prstGeom prst="line">
            <a:avLst/>
          </a:prstGeom>
          <a:ln w="28575">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1860177" y="4087906"/>
            <a:ext cx="2819400" cy="0"/>
          </a:xfrm>
          <a:prstGeom prst="line">
            <a:avLst/>
          </a:prstGeom>
          <a:ln w="28575">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860177" y="4697506"/>
            <a:ext cx="2819400" cy="0"/>
          </a:xfrm>
          <a:prstGeom prst="line">
            <a:avLst/>
          </a:prstGeom>
          <a:ln w="28575">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7" name="TextBox 6"/>
          <p:cNvSpPr txBox="1">
            <a:spLocks noChangeArrowheads="1"/>
          </p:cNvSpPr>
          <p:nvPr/>
        </p:nvSpPr>
        <p:spPr bwMode="auto">
          <a:xfrm>
            <a:off x="1860177" y="3202081"/>
            <a:ext cx="6511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accent6"/>
                </a:solidFill>
                <a:latin typeface="+mj-lt"/>
              </a:rPr>
              <a:t>Client</a:t>
            </a:r>
          </a:p>
        </p:txBody>
      </p:sp>
      <p:sp>
        <p:nvSpPr>
          <p:cNvPr id="8" name="TextBox 7"/>
          <p:cNvSpPr txBox="1">
            <a:spLocks noChangeArrowheads="1"/>
          </p:cNvSpPr>
          <p:nvPr/>
        </p:nvSpPr>
        <p:spPr bwMode="auto">
          <a:xfrm>
            <a:off x="1860177" y="3811681"/>
            <a:ext cx="6960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00B050"/>
                </a:solidFill>
                <a:latin typeface="+mj-lt"/>
              </a:rPr>
              <a:t>Server</a:t>
            </a:r>
          </a:p>
        </p:txBody>
      </p:sp>
      <p:sp>
        <p:nvSpPr>
          <p:cNvPr id="9" name="TextBox 8"/>
          <p:cNvSpPr txBox="1">
            <a:spLocks noChangeArrowheads="1"/>
          </p:cNvSpPr>
          <p:nvPr/>
        </p:nvSpPr>
        <p:spPr bwMode="auto">
          <a:xfrm>
            <a:off x="1860177" y="4432394"/>
            <a:ext cx="6511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accent6"/>
                </a:solidFill>
                <a:latin typeface="+mj-lt"/>
              </a:rPr>
              <a:t>Client</a:t>
            </a:r>
          </a:p>
        </p:txBody>
      </p:sp>
      <p:cxnSp>
        <p:nvCxnSpPr>
          <p:cNvPr id="10" name="Straight Connector 9"/>
          <p:cNvCxnSpPr/>
          <p:nvPr/>
        </p:nvCxnSpPr>
        <p:spPr>
          <a:xfrm>
            <a:off x="1860177" y="4087906"/>
            <a:ext cx="63658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496765" y="4087906"/>
            <a:ext cx="125412" cy="6096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622177" y="4697506"/>
            <a:ext cx="31908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2941265" y="4087906"/>
            <a:ext cx="214312" cy="609600"/>
          </a:xfrm>
          <a:prstGeom prst="straightConnector1">
            <a:avLst/>
          </a:prstGeom>
          <a:ln w="28575">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155577" y="4087906"/>
            <a:ext cx="1143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269877" y="3478306"/>
            <a:ext cx="190500" cy="6096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460377" y="3478306"/>
            <a:ext cx="381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841377" y="3478306"/>
            <a:ext cx="304800" cy="609600"/>
          </a:xfrm>
          <a:prstGeom prst="straightConnector1">
            <a:avLst/>
          </a:prstGeom>
          <a:ln w="28575">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146177" y="4087906"/>
            <a:ext cx="381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993777" y="4926106"/>
            <a:ext cx="6858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a:spLocks noChangeArrowheads="1"/>
          </p:cNvSpPr>
          <p:nvPr/>
        </p:nvSpPr>
        <p:spPr bwMode="auto">
          <a:xfrm>
            <a:off x="3460377" y="4773706"/>
            <a:ext cx="48763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latin typeface="+mj-lt"/>
              </a:rPr>
              <a:t>Time</a:t>
            </a:r>
          </a:p>
        </p:txBody>
      </p:sp>
      <p:sp>
        <p:nvSpPr>
          <p:cNvPr id="21" name="TextBox 20"/>
          <p:cNvSpPr txBox="1">
            <a:spLocks noChangeArrowheads="1"/>
          </p:cNvSpPr>
          <p:nvPr/>
        </p:nvSpPr>
        <p:spPr bwMode="auto">
          <a:xfrm>
            <a:off x="1538666" y="5153345"/>
            <a:ext cx="2856486" cy="707886"/>
          </a:xfrm>
          <a:prstGeom prst="rect">
            <a:avLst/>
          </a:prstGeom>
          <a:solidFill>
            <a:srgbClr val="1D3064"/>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solidFill>
                  <a:schemeClr val="bg1"/>
                </a:solidFill>
                <a:latin typeface="+mj-lt"/>
              </a:rPr>
              <a:t>Sending an invalidation </a:t>
            </a:r>
            <a:r>
              <a:rPr lang="en-US" altLang="en-US" sz="2000" dirty="0" smtClean="0">
                <a:solidFill>
                  <a:schemeClr val="bg1"/>
                </a:solidFill>
                <a:latin typeface="+mj-lt"/>
              </a:rPr>
              <a:t>message one </a:t>
            </a:r>
            <a:r>
              <a:rPr lang="en-US" altLang="en-US" sz="2000" dirty="0">
                <a:solidFill>
                  <a:schemeClr val="bg1"/>
                </a:solidFill>
                <a:latin typeface="+mj-lt"/>
              </a:rPr>
              <a:t>at a time</a:t>
            </a:r>
          </a:p>
        </p:txBody>
      </p:sp>
      <p:cxnSp>
        <p:nvCxnSpPr>
          <p:cNvPr id="22" name="Straight Connector 21"/>
          <p:cNvCxnSpPr/>
          <p:nvPr/>
        </p:nvCxnSpPr>
        <p:spPr>
          <a:xfrm>
            <a:off x="5632077" y="3021106"/>
            <a:ext cx="0" cy="1890713"/>
          </a:xfrm>
          <a:prstGeom prst="line">
            <a:avLst/>
          </a:prstGeom>
          <a:ln w="1270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23" name="Curved Up Arrow 22"/>
          <p:cNvSpPr/>
          <p:nvPr/>
        </p:nvSpPr>
        <p:spPr>
          <a:xfrm>
            <a:off x="5289177" y="5049931"/>
            <a:ext cx="685800" cy="334963"/>
          </a:xfrm>
          <a:prstGeom prst="curved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latin typeface="+mj-lt"/>
            </a:endParaRPr>
          </a:p>
        </p:txBody>
      </p:sp>
      <p:cxnSp>
        <p:nvCxnSpPr>
          <p:cNvPr id="24" name="Straight Connector 23"/>
          <p:cNvCxnSpPr/>
          <p:nvPr/>
        </p:nvCxnSpPr>
        <p:spPr>
          <a:xfrm>
            <a:off x="6584577" y="3473544"/>
            <a:ext cx="2819400" cy="0"/>
          </a:xfrm>
          <a:prstGeom prst="line">
            <a:avLst/>
          </a:prstGeom>
          <a:ln w="28575">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584577" y="4083144"/>
            <a:ext cx="2819400" cy="0"/>
          </a:xfrm>
          <a:prstGeom prst="line">
            <a:avLst/>
          </a:prstGeom>
          <a:ln w="28575">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584577" y="4692744"/>
            <a:ext cx="2819400" cy="0"/>
          </a:xfrm>
          <a:prstGeom prst="line">
            <a:avLst/>
          </a:prstGeom>
          <a:ln w="28575">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27" name="TextBox 26"/>
          <p:cNvSpPr txBox="1">
            <a:spLocks noChangeArrowheads="1"/>
          </p:cNvSpPr>
          <p:nvPr/>
        </p:nvSpPr>
        <p:spPr bwMode="auto">
          <a:xfrm>
            <a:off x="6584577" y="3197319"/>
            <a:ext cx="6511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accent6"/>
                </a:solidFill>
                <a:latin typeface="+mj-lt"/>
              </a:rPr>
              <a:t>Client</a:t>
            </a:r>
          </a:p>
        </p:txBody>
      </p:sp>
      <p:sp>
        <p:nvSpPr>
          <p:cNvPr id="28" name="TextBox 27"/>
          <p:cNvSpPr txBox="1">
            <a:spLocks noChangeArrowheads="1"/>
          </p:cNvSpPr>
          <p:nvPr/>
        </p:nvSpPr>
        <p:spPr bwMode="auto">
          <a:xfrm>
            <a:off x="6584577" y="3806919"/>
            <a:ext cx="6960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00B050"/>
                </a:solidFill>
                <a:latin typeface="+mj-lt"/>
              </a:rPr>
              <a:t>Server</a:t>
            </a:r>
          </a:p>
        </p:txBody>
      </p:sp>
      <p:sp>
        <p:nvSpPr>
          <p:cNvPr id="29" name="TextBox 28"/>
          <p:cNvSpPr txBox="1">
            <a:spLocks noChangeArrowheads="1"/>
          </p:cNvSpPr>
          <p:nvPr/>
        </p:nvSpPr>
        <p:spPr bwMode="auto">
          <a:xfrm>
            <a:off x="6584577" y="4427631"/>
            <a:ext cx="6511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accent6"/>
                </a:solidFill>
                <a:latin typeface="+mj-lt"/>
              </a:rPr>
              <a:t>Client</a:t>
            </a:r>
          </a:p>
        </p:txBody>
      </p:sp>
      <p:cxnSp>
        <p:nvCxnSpPr>
          <p:cNvPr id="30" name="Straight Connector 29"/>
          <p:cNvCxnSpPr/>
          <p:nvPr/>
        </p:nvCxnSpPr>
        <p:spPr>
          <a:xfrm>
            <a:off x="6584577" y="4083144"/>
            <a:ext cx="63658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7221165" y="4083144"/>
            <a:ext cx="125412" cy="6096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7346577" y="4692744"/>
            <a:ext cx="31908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7665665" y="4083144"/>
            <a:ext cx="214312" cy="609600"/>
          </a:xfrm>
          <a:prstGeom prst="straightConnector1">
            <a:avLst/>
          </a:prstGeom>
          <a:ln w="28575">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7227515" y="4083144"/>
            <a:ext cx="1143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7314827" y="3473544"/>
            <a:ext cx="190500" cy="6096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7537077" y="3473544"/>
            <a:ext cx="381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7918077" y="3465606"/>
            <a:ext cx="152400" cy="617538"/>
          </a:xfrm>
          <a:prstGeom prst="straightConnector1">
            <a:avLst/>
          </a:prstGeom>
          <a:ln w="28575">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8184777" y="4083144"/>
            <a:ext cx="381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8718177" y="4921344"/>
            <a:ext cx="6858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a:spLocks noChangeArrowheads="1"/>
          </p:cNvSpPr>
          <p:nvPr/>
        </p:nvSpPr>
        <p:spPr bwMode="auto">
          <a:xfrm>
            <a:off x="8184777" y="4768944"/>
            <a:ext cx="48763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latin typeface="+mj-lt"/>
              </a:rPr>
              <a:t>Time</a:t>
            </a:r>
          </a:p>
        </p:txBody>
      </p:sp>
      <p:sp>
        <p:nvSpPr>
          <p:cNvPr id="41" name="TextBox 40"/>
          <p:cNvSpPr txBox="1">
            <a:spLocks noChangeArrowheads="1"/>
          </p:cNvSpPr>
          <p:nvPr/>
        </p:nvSpPr>
        <p:spPr bwMode="auto">
          <a:xfrm>
            <a:off x="6370992" y="5209987"/>
            <a:ext cx="3835326" cy="707886"/>
          </a:xfrm>
          <a:prstGeom prst="rect">
            <a:avLst/>
          </a:prstGeom>
          <a:solidFill>
            <a:srgbClr val="1D3064"/>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solidFill>
                  <a:schemeClr val="bg1"/>
                </a:solidFill>
                <a:latin typeface="+mj-lt"/>
              </a:rPr>
              <a:t>Sending an invalidation </a:t>
            </a:r>
            <a:r>
              <a:rPr lang="en-US" altLang="en-US" sz="2000" dirty="0" smtClean="0">
                <a:solidFill>
                  <a:schemeClr val="bg1"/>
                </a:solidFill>
                <a:latin typeface="+mj-lt"/>
              </a:rPr>
              <a:t>message using </a:t>
            </a:r>
            <a:r>
              <a:rPr lang="en-US" altLang="en-US" sz="2000" dirty="0">
                <a:solidFill>
                  <a:schemeClr val="bg1"/>
                </a:solidFill>
                <a:latin typeface="+mj-lt"/>
              </a:rPr>
              <a:t>multicasting as in RPC2</a:t>
            </a:r>
          </a:p>
        </p:txBody>
      </p:sp>
      <p:sp>
        <p:nvSpPr>
          <p:cNvPr id="42" name="TextBox 41"/>
          <p:cNvSpPr txBox="1">
            <a:spLocks noChangeArrowheads="1"/>
          </p:cNvSpPr>
          <p:nvPr/>
        </p:nvSpPr>
        <p:spPr bwMode="auto">
          <a:xfrm>
            <a:off x="1739773" y="4161937"/>
            <a:ext cx="8803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i="1" dirty="0">
                <a:solidFill>
                  <a:srgbClr val="00B050"/>
                </a:solidFill>
                <a:latin typeface="+mj-lt"/>
              </a:rPr>
              <a:t>Invalidate</a:t>
            </a:r>
          </a:p>
        </p:txBody>
      </p:sp>
      <p:sp>
        <p:nvSpPr>
          <p:cNvPr id="43" name="TextBox 42"/>
          <p:cNvSpPr txBox="1">
            <a:spLocks noChangeArrowheads="1"/>
          </p:cNvSpPr>
          <p:nvPr/>
        </p:nvSpPr>
        <p:spPr bwMode="auto">
          <a:xfrm>
            <a:off x="2548258" y="3561902"/>
            <a:ext cx="8803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i="1" dirty="0">
                <a:solidFill>
                  <a:srgbClr val="00B050"/>
                </a:solidFill>
                <a:latin typeface="+mj-lt"/>
              </a:rPr>
              <a:t>Invalidate</a:t>
            </a:r>
          </a:p>
        </p:txBody>
      </p:sp>
      <p:sp>
        <p:nvSpPr>
          <p:cNvPr id="44" name="TextBox 43"/>
          <p:cNvSpPr txBox="1">
            <a:spLocks noChangeArrowheads="1"/>
          </p:cNvSpPr>
          <p:nvPr/>
        </p:nvSpPr>
        <p:spPr bwMode="auto">
          <a:xfrm>
            <a:off x="3119065" y="4308569"/>
            <a:ext cx="577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i="1">
                <a:solidFill>
                  <a:schemeClr val="accent6"/>
                </a:solidFill>
                <a:latin typeface="+mj-lt"/>
              </a:rPr>
              <a:t>Reply</a:t>
            </a:r>
          </a:p>
        </p:txBody>
      </p:sp>
      <p:sp>
        <p:nvSpPr>
          <p:cNvPr id="45" name="TextBox 44"/>
          <p:cNvSpPr txBox="1">
            <a:spLocks noChangeArrowheads="1"/>
          </p:cNvSpPr>
          <p:nvPr/>
        </p:nvSpPr>
        <p:spPr bwMode="auto">
          <a:xfrm>
            <a:off x="4016002" y="3630706"/>
            <a:ext cx="577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i="1" dirty="0">
                <a:solidFill>
                  <a:schemeClr val="accent6"/>
                </a:solidFill>
                <a:latin typeface="+mj-lt"/>
              </a:rPr>
              <a:t>Reply</a:t>
            </a:r>
          </a:p>
        </p:txBody>
      </p:sp>
      <p:sp>
        <p:nvSpPr>
          <p:cNvPr id="46" name="TextBox 45"/>
          <p:cNvSpPr txBox="1">
            <a:spLocks noChangeArrowheads="1"/>
          </p:cNvSpPr>
          <p:nvPr/>
        </p:nvSpPr>
        <p:spPr bwMode="auto">
          <a:xfrm>
            <a:off x="6599074" y="3568794"/>
            <a:ext cx="8803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i="1" dirty="0">
                <a:solidFill>
                  <a:srgbClr val="00B050"/>
                </a:solidFill>
                <a:latin typeface="+mj-lt"/>
              </a:rPr>
              <a:t>Invalidate</a:t>
            </a:r>
          </a:p>
        </p:txBody>
      </p:sp>
      <p:sp>
        <p:nvSpPr>
          <p:cNvPr id="47" name="TextBox 46"/>
          <p:cNvSpPr txBox="1">
            <a:spLocks noChangeArrowheads="1"/>
          </p:cNvSpPr>
          <p:nvPr/>
        </p:nvSpPr>
        <p:spPr bwMode="auto">
          <a:xfrm>
            <a:off x="6508377" y="4178394"/>
            <a:ext cx="8803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i="1">
                <a:solidFill>
                  <a:srgbClr val="00B050"/>
                </a:solidFill>
                <a:latin typeface="+mj-lt"/>
              </a:rPr>
              <a:t>Invalidate</a:t>
            </a:r>
          </a:p>
        </p:txBody>
      </p:sp>
      <p:sp>
        <p:nvSpPr>
          <p:cNvPr id="48" name="TextBox 47"/>
          <p:cNvSpPr txBox="1">
            <a:spLocks noChangeArrowheads="1"/>
          </p:cNvSpPr>
          <p:nvPr/>
        </p:nvSpPr>
        <p:spPr bwMode="auto">
          <a:xfrm>
            <a:off x="8072065" y="3619594"/>
            <a:ext cx="577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i="1">
                <a:solidFill>
                  <a:schemeClr val="accent6"/>
                </a:solidFill>
                <a:latin typeface="+mj-lt"/>
              </a:rPr>
              <a:t>Reply</a:t>
            </a:r>
          </a:p>
        </p:txBody>
      </p:sp>
      <p:sp>
        <p:nvSpPr>
          <p:cNvPr id="49" name="TextBox 48"/>
          <p:cNvSpPr txBox="1">
            <a:spLocks noChangeArrowheads="1"/>
          </p:cNvSpPr>
          <p:nvPr/>
        </p:nvSpPr>
        <p:spPr bwMode="auto">
          <a:xfrm>
            <a:off x="7833940" y="4324444"/>
            <a:ext cx="577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b="1" i="1">
                <a:solidFill>
                  <a:schemeClr val="accent6"/>
                </a:solidFill>
                <a:latin typeface="+mj-lt"/>
              </a:rPr>
              <a:t>Reply</a:t>
            </a:r>
          </a:p>
        </p:txBody>
      </p:sp>
    </p:spTree>
    <p:extLst>
      <p:ext uri="{BB962C8B-B14F-4D97-AF65-F5344CB8AC3E}">
        <p14:creationId xmlns:p14="http://schemas.microsoft.com/office/powerpoint/2010/main" val="360020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22" presetClass="entr" presetSubtype="1"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up)">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down)">
                                      <p:cBhvr>
                                        <p:cTn id="54" dur="500"/>
                                        <p:tgtEl>
                                          <p:spTgt spid="13"/>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wipe(down)">
                                      <p:cBhvr>
                                        <p:cTn id="57" dur="500"/>
                                        <p:tgtEl>
                                          <p:spTgt spid="44"/>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1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wipe(down)">
                                      <p:cBhvr>
                                        <p:cTn id="66" dur="500"/>
                                        <p:tgtEl>
                                          <p:spTgt spid="43"/>
                                        </p:tgtEl>
                                      </p:cBhvr>
                                    </p:animEffect>
                                  </p:childTnLst>
                                </p:cTn>
                              </p:par>
                              <p:par>
                                <p:cTn id="67" presetID="22" presetClass="entr" presetSubtype="4" fill="hold"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wipe(down)">
                                      <p:cBhvr>
                                        <p:cTn id="69" dur="500"/>
                                        <p:tgtEl>
                                          <p:spTgt spid="15"/>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16"/>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17"/>
                                        </p:tgtEl>
                                        <p:attrNameLst>
                                          <p:attrName>style.visibility</p:attrName>
                                        </p:attrNameLst>
                                      </p:cBhvr>
                                      <p:to>
                                        <p:strVal val="visible"/>
                                      </p:to>
                                    </p:set>
                                    <p:animEffect transition="in" filter="wipe(up)">
                                      <p:cBhvr>
                                        <p:cTn id="78" dur="500"/>
                                        <p:tgtEl>
                                          <p:spTgt spid="17"/>
                                        </p:tgtEl>
                                      </p:cBhvr>
                                    </p:animEffect>
                                  </p:childTnLst>
                                </p:cTn>
                              </p:par>
                              <p:par>
                                <p:cTn id="79" presetID="22" presetClass="entr" presetSubtype="1"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wipe(up)">
                                      <p:cBhvr>
                                        <p:cTn id="81" dur="500"/>
                                        <p:tgtEl>
                                          <p:spTgt spid="45"/>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18"/>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nodeType="click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wipe(up)">
                                      <p:cBhvr>
                                        <p:cTn id="90" dur="500"/>
                                        <p:tgtEl>
                                          <p:spTgt spid="22"/>
                                        </p:tgtEl>
                                      </p:cBhvr>
                                    </p:animEffect>
                                  </p:childTnLst>
                                </p:cTn>
                              </p:par>
                            </p:childTnLst>
                          </p:cTn>
                        </p:par>
                        <p:par>
                          <p:cTn id="91" fill="hold">
                            <p:stCondLst>
                              <p:cond delay="500"/>
                            </p:stCondLst>
                            <p:childTnLst>
                              <p:par>
                                <p:cTn id="92" presetID="22" presetClass="entr" presetSubtype="8"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wipe(left)">
                                      <p:cBhvr>
                                        <p:cTn id="94" dur="500"/>
                                        <p:tgtEl>
                                          <p:spTgt spid="23"/>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7"/>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8"/>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9"/>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3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30"/>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22" presetClass="entr" presetSubtype="1" fill="hold" grpId="0" nodeType="clickEffect">
                                  <p:stCondLst>
                                    <p:cond delay="0"/>
                                  </p:stCondLst>
                                  <p:childTnLst>
                                    <p:set>
                                      <p:cBhvr>
                                        <p:cTn id="122" dur="1" fill="hold">
                                          <p:stCondLst>
                                            <p:cond delay="0"/>
                                          </p:stCondLst>
                                        </p:cTn>
                                        <p:tgtEl>
                                          <p:spTgt spid="47"/>
                                        </p:tgtEl>
                                        <p:attrNameLst>
                                          <p:attrName>style.visibility</p:attrName>
                                        </p:attrNameLst>
                                      </p:cBhvr>
                                      <p:to>
                                        <p:strVal val="visible"/>
                                      </p:to>
                                    </p:set>
                                    <p:animEffect transition="in" filter="wipe(up)">
                                      <p:cBhvr>
                                        <p:cTn id="123" dur="500"/>
                                        <p:tgtEl>
                                          <p:spTgt spid="47"/>
                                        </p:tgtEl>
                                      </p:cBhvr>
                                    </p:animEffect>
                                  </p:childTnLst>
                                </p:cTn>
                              </p:par>
                              <p:par>
                                <p:cTn id="124" presetID="22" presetClass="entr" presetSubtype="1" fill="hold" nodeType="withEffect">
                                  <p:stCondLst>
                                    <p:cond delay="0"/>
                                  </p:stCondLst>
                                  <p:childTnLst>
                                    <p:set>
                                      <p:cBhvr>
                                        <p:cTn id="125" dur="1" fill="hold">
                                          <p:stCondLst>
                                            <p:cond delay="0"/>
                                          </p:stCondLst>
                                        </p:cTn>
                                        <p:tgtEl>
                                          <p:spTgt spid="31"/>
                                        </p:tgtEl>
                                        <p:attrNameLst>
                                          <p:attrName>style.visibility</p:attrName>
                                        </p:attrNameLst>
                                      </p:cBhvr>
                                      <p:to>
                                        <p:strVal val="visible"/>
                                      </p:to>
                                    </p:set>
                                    <p:animEffect transition="in" filter="wipe(up)">
                                      <p:cBhvr>
                                        <p:cTn id="126" dur="500"/>
                                        <p:tgtEl>
                                          <p:spTgt spid="31"/>
                                        </p:tgtEl>
                                      </p:cBhvr>
                                    </p:animEffect>
                                  </p:childTnLst>
                                </p:cTn>
                              </p:par>
                            </p:childTnLst>
                          </p:cTn>
                        </p:par>
                        <p:par>
                          <p:cTn id="127" fill="hold">
                            <p:stCondLst>
                              <p:cond delay="500"/>
                            </p:stCondLst>
                            <p:childTnLst>
                              <p:par>
                                <p:cTn id="128" presetID="1" presetClass="entr" presetSubtype="0" fill="hold" nodeType="afterEffect">
                                  <p:stCondLst>
                                    <p:cond delay="0"/>
                                  </p:stCondLst>
                                  <p:childTnLst>
                                    <p:set>
                                      <p:cBhvr>
                                        <p:cTn id="129" dur="1" fill="hold">
                                          <p:stCondLst>
                                            <p:cond delay="0"/>
                                          </p:stCondLst>
                                        </p:cTn>
                                        <p:tgtEl>
                                          <p:spTgt spid="34"/>
                                        </p:tgtEl>
                                        <p:attrNameLst>
                                          <p:attrName>style.visibility</p:attrName>
                                        </p:attrNameLst>
                                      </p:cBhvr>
                                      <p:to>
                                        <p:strVal val="visible"/>
                                      </p:to>
                                    </p:set>
                                  </p:childTnLst>
                                </p:cTn>
                              </p:par>
                            </p:childTnLst>
                          </p:cTn>
                        </p:par>
                        <p:par>
                          <p:cTn id="130" fill="hold">
                            <p:stCondLst>
                              <p:cond delay="500"/>
                            </p:stCondLst>
                            <p:childTnLst>
                              <p:par>
                                <p:cTn id="131" presetID="22" presetClass="entr" presetSubtype="4" fill="hold" grpId="0" nodeType="afterEffect">
                                  <p:stCondLst>
                                    <p:cond delay="0"/>
                                  </p:stCondLst>
                                  <p:childTnLst>
                                    <p:set>
                                      <p:cBhvr>
                                        <p:cTn id="132" dur="1" fill="hold">
                                          <p:stCondLst>
                                            <p:cond delay="0"/>
                                          </p:stCondLst>
                                        </p:cTn>
                                        <p:tgtEl>
                                          <p:spTgt spid="46"/>
                                        </p:tgtEl>
                                        <p:attrNameLst>
                                          <p:attrName>style.visibility</p:attrName>
                                        </p:attrNameLst>
                                      </p:cBhvr>
                                      <p:to>
                                        <p:strVal val="visible"/>
                                      </p:to>
                                    </p:set>
                                    <p:animEffect transition="in" filter="wipe(down)">
                                      <p:cBhvr>
                                        <p:cTn id="133" dur="500"/>
                                        <p:tgtEl>
                                          <p:spTgt spid="46"/>
                                        </p:tgtEl>
                                      </p:cBhvr>
                                    </p:animEffect>
                                  </p:childTnLst>
                                </p:cTn>
                              </p:par>
                              <p:par>
                                <p:cTn id="134" presetID="22" presetClass="entr" presetSubtype="4" fill="hold" nodeType="withEffect">
                                  <p:stCondLst>
                                    <p:cond delay="0"/>
                                  </p:stCondLst>
                                  <p:childTnLst>
                                    <p:set>
                                      <p:cBhvr>
                                        <p:cTn id="135" dur="1" fill="hold">
                                          <p:stCondLst>
                                            <p:cond delay="0"/>
                                          </p:stCondLst>
                                        </p:cTn>
                                        <p:tgtEl>
                                          <p:spTgt spid="35"/>
                                        </p:tgtEl>
                                        <p:attrNameLst>
                                          <p:attrName>style.visibility</p:attrName>
                                        </p:attrNameLst>
                                      </p:cBhvr>
                                      <p:to>
                                        <p:strVal val="visible"/>
                                      </p:to>
                                    </p:set>
                                    <p:animEffect transition="in" filter="wipe(down)">
                                      <p:cBhvr>
                                        <p:cTn id="136" dur="500"/>
                                        <p:tgtEl>
                                          <p:spTgt spid="35"/>
                                        </p:tgtEl>
                                      </p:cBhvr>
                                    </p:animEffec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36"/>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32"/>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nodeType="clickEffect">
                                  <p:stCondLst>
                                    <p:cond delay="0"/>
                                  </p:stCondLst>
                                  <p:childTnLst>
                                    <p:set>
                                      <p:cBhvr>
                                        <p:cTn id="146" dur="1" fill="hold">
                                          <p:stCondLst>
                                            <p:cond delay="0"/>
                                          </p:stCondLst>
                                        </p:cTn>
                                        <p:tgtEl>
                                          <p:spTgt spid="37"/>
                                        </p:tgtEl>
                                        <p:attrNameLst>
                                          <p:attrName>style.visibility</p:attrName>
                                        </p:attrNameLst>
                                      </p:cBhvr>
                                      <p:to>
                                        <p:strVal val="visible"/>
                                      </p:to>
                                    </p:set>
                                    <p:animEffect transition="in" filter="wipe(up)">
                                      <p:cBhvr>
                                        <p:cTn id="147" dur="500"/>
                                        <p:tgtEl>
                                          <p:spTgt spid="37"/>
                                        </p:tgtEl>
                                      </p:cBhvr>
                                    </p:animEffect>
                                  </p:childTnLst>
                                </p:cTn>
                              </p:par>
                              <p:par>
                                <p:cTn id="148" presetID="22" presetClass="entr" presetSubtype="1" fill="hold" grpId="0" nodeType="withEffect">
                                  <p:stCondLst>
                                    <p:cond delay="0"/>
                                  </p:stCondLst>
                                  <p:childTnLst>
                                    <p:set>
                                      <p:cBhvr>
                                        <p:cTn id="149" dur="1" fill="hold">
                                          <p:stCondLst>
                                            <p:cond delay="0"/>
                                          </p:stCondLst>
                                        </p:cTn>
                                        <p:tgtEl>
                                          <p:spTgt spid="48"/>
                                        </p:tgtEl>
                                        <p:attrNameLst>
                                          <p:attrName>style.visibility</p:attrName>
                                        </p:attrNameLst>
                                      </p:cBhvr>
                                      <p:to>
                                        <p:strVal val="visible"/>
                                      </p:to>
                                    </p:set>
                                    <p:animEffect transition="in" filter="wipe(up)">
                                      <p:cBhvr>
                                        <p:cTn id="150" dur="500"/>
                                        <p:tgtEl>
                                          <p:spTgt spid="48"/>
                                        </p:tgtEl>
                                      </p:cBhvr>
                                    </p:animEffect>
                                  </p:childTnLst>
                                </p:cTn>
                              </p:par>
                              <p:par>
                                <p:cTn id="151" presetID="22" presetClass="entr" presetSubtype="4" fill="hold" nodeType="withEffect">
                                  <p:stCondLst>
                                    <p:cond delay="0"/>
                                  </p:stCondLst>
                                  <p:childTnLst>
                                    <p:set>
                                      <p:cBhvr>
                                        <p:cTn id="152" dur="1" fill="hold">
                                          <p:stCondLst>
                                            <p:cond delay="0"/>
                                          </p:stCondLst>
                                        </p:cTn>
                                        <p:tgtEl>
                                          <p:spTgt spid="33"/>
                                        </p:tgtEl>
                                        <p:attrNameLst>
                                          <p:attrName>style.visibility</p:attrName>
                                        </p:attrNameLst>
                                      </p:cBhvr>
                                      <p:to>
                                        <p:strVal val="visible"/>
                                      </p:to>
                                    </p:set>
                                    <p:animEffect transition="in" filter="wipe(down)">
                                      <p:cBhvr>
                                        <p:cTn id="153" dur="500"/>
                                        <p:tgtEl>
                                          <p:spTgt spid="33"/>
                                        </p:tgtEl>
                                      </p:cBhvr>
                                    </p:animEffect>
                                  </p:childTnLst>
                                </p:cTn>
                              </p:par>
                              <p:par>
                                <p:cTn id="154" presetID="22" presetClass="entr" presetSubtype="4" fill="hold" grpId="0" nodeType="withEffect">
                                  <p:stCondLst>
                                    <p:cond delay="0"/>
                                  </p:stCondLst>
                                  <p:childTnLst>
                                    <p:set>
                                      <p:cBhvr>
                                        <p:cTn id="155" dur="1" fill="hold">
                                          <p:stCondLst>
                                            <p:cond delay="0"/>
                                          </p:stCondLst>
                                        </p:cTn>
                                        <p:tgtEl>
                                          <p:spTgt spid="49"/>
                                        </p:tgtEl>
                                        <p:attrNameLst>
                                          <p:attrName>style.visibility</p:attrName>
                                        </p:attrNameLst>
                                      </p:cBhvr>
                                      <p:to>
                                        <p:strVal val="visible"/>
                                      </p:to>
                                    </p:set>
                                    <p:animEffect transition="in" filter="wipe(down)">
                                      <p:cBhvr>
                                        <p:cTn id="156" dur="500"/>
                                        <p:tgtEl>
                                          <p:spTgt spid="49"/>
                                        </p:tgtEl>
                                      </p:cBhvr>
                                    </p:animEffec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20" grpId="0"/>
      <p:bldP spid="21" grpId="0" animBg="1"/>
      <p:bldP spid="23" grpId="0" animBg="1"/>
      <p:bldP spid="27" grpId="0"/>
      <p:bldP spid="28" grpId="0"/>
      <p:bldP spid="29" grpId="0"/>
      <p:bldP spid="40" grpId="0"/>
      <p:bldP spid="41" grpId="0" animBg="1"/>
      <p:bldP spid="42" grpId="0"/>
      <p:bldP spid="43" grpId="0"/>
      <p:bldP spid="44" grpId="0"/>
      <p:bldP spid="45" grpId="0"/>
      <p:bldP spid="46" grpId="0"/>
      <p:bldP spid="47" grpId="0"/>
      <p:bldP spid="48" grpId="0"/>
      <p:bldP spid="49"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Naming In NFS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The fundamental idea underlying the NFS naming model is to provide clients with complete transparency</a:t>
            </a:r>
          </a:p>
          <a:p>
            <a:r>
              <a:rPr lang="en-US" dirty="0" smtClean="0"/>
              <a:t>Transparency </a:t>
            </a:r>
            <a:r>
              <a:rPr lang="en-US" dirty="0"/>
              <a:t>in NFS is achieved by allowing a client to mount a remote file system into its own local file system</a:t>
            </a:r>
          </a:p>
          <a:p>
            <a:r>
              <a:rPr lang="en-US" dirty="0" smtClean="0"/>
              <a:t>However</a:t>
            </a:r>
            <a:r>
              <a:rPr lang="en-US" dirty="0"/>
              <a:t>, instead of mounting an entire file system, NFS allows clients to mount only part of a file system</a:t>
            </a:r>
          </a:p>
          <a:p>
            <a:r>
              <a:rPr lang="en-US" dirty="0" smtClean="0"/>
              <a:t>A </a:t>
            </a:r>
            <a:r>
              <a:rPr lang="en-US" dirty="0"/>
              <a:t>server is said to export a directory to a client when a client mounts a directory, and its entries, into its own name space</a:t>
            </a:r>
          </a:p>
        </p:txBody>
      </p:sp>
    </p:spTree>
    <p:extLst>
      <p:ext uri="{BB962C8B-B14F-4D97-AF65-F5344CB8AC3E}">
        <p14:creationId xmlns:p14="http://schemas.microsoft.com/office/powerpoint/2010/main" val="1298253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Mounting in NFS</a:t>
            </a:r>
          </a:p>
        </p:txBody>
      </p:sp>
      <p:sp>
        <p:nvSpPr>
          <p:cNvPr id="5" name="Rectangle 4"/>
          <p:cNvSpPr/>
          <p:nvPr/>
        </p:nvSpPr>
        <p:spPr>
          <a:xfrm>
            <a:off x="1947722" y="1538941"/>
            <a:ext cx="1752600" cy="26670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6" name="Rectangle 5"/>
          <p:cNvSpPr/>
          <p:nvPr/>
        </p:nvSpPr>
        <p:spPr>
          <a:xfrm>
            <a:off x="2785922" y="1691341"/>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7" name="Rectangle 6"/>
          <p:cNvSpPr/>
          <p:nvPr/>
        </p:nvSpPr>
        <p:spPr>
          <a:xfrm>
            <a:off x="2481122" y="2224741"/>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8" name="Straight Arrow Connector 7"/>
          <p:cNvCxnSpPr>
            <a:stCxn id="6" idx="2"/>
          </p:cNvCxnSpPr>
          <p:nvPr/>
        </p:nvCxnSpPr>
        <p:spPr>
          <a:xfrm flipH="1">
            <a:off x="2633522" y="1996141"/>
            <a:ext cx="304800" cy="228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6" idx="2"/>
          </p:cNvCxnSpPr>
          <p:nvPr/>
        </p:nvCxnSpPr>
        <p:spPr>
          <a:xfrm>
            <a:off x="2938322" y="1996141"/>
            <a:ext cx="381000" cy="228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2023922" y="2910541"/>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11" name="Oval 10"/>
          <p:cNvSpPr/>
          <p:nvPr/>
        </p:nvSpPr>
        <p:spPr>
          <a:xfrm>
            <a:off x="2481122" y="2924829"/>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12" name="Rectangle 11"/>
          <p:cNvSpPr/>
          <p:nvPr/>
        </p:nvSpPr>
        <p:spPr>
          <a:xfrm>
            <a:off x="2938322" y="2910541"/>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13" name="Straight Arrow Connector 12"/>
          <p:cNvCxnSpPr>
            <a:stCxn id="7" idx="2"/>
            <a:endCxn id="10" idx="0"/>
          </p:cNvCxnSpPr>
          <p:nvPr/>
        </p:nvCxnSpPr>
        <p:spPr>
          <a:xfrm flipH="1">
            <a:off x="2176322" y="2529541"/>
            <a:ext cx="4572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11" idx="0"/>
          </p:cNvCxnSpPr>
          <p:nvPr/>
        </p:nvCxnSpPr>
        <p:spPr>
          <a:xfrm>
            <a:off x="2633522" y="2529541"/>
            <a:ext cx="0" cy="3952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2633522" y="2529541"/>
            <a:ext cx="4572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2709722" y="3596341"/>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17" name="Oval 16"/>
          <p:cNvSpPr/>
          <p:nvPr/>
        </p:nvSpPr>
        <p:spPr>
          <a:xfrm>
            <a:off x="3243122" y="3596341"/>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18" name="Straight Arrow Connector 17"/>
          <p:cNvCxnSpPr>
            <a:stCxn id="12" idx="2"/>
            <a:endCxn id="16" idx="0"/>
          </p:cNvCxnSpPr>
          <p:nvPr/>
        </p:nvCxnSpPr>
        <p:spPr>
          <a:xfrm flipH="1">
            <a:off x="2862122" y="3215341"/>
            <a:ext cx="2286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2" idx="2"/>
            <a:endCxn id="17" idx="0"/>
          </p:cNvCxnSpPr>
          <p:nvPr/>
        </p:nvCxnSpPr>
        <p:spPr>
          <a:xfrm>
            <a:off x="3090722" y="3215341"/>
            <a:ext cx="3048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30"/>
          <p:cNvSpPr txBox="1">
            <a:spLocks noChangeArrowheads="1"/>
          </p:cNvSpPr>
          <p:nvPr/>
        </p:nvSpPr>
        <p:spPr bwMode="auto">
          <a:xfrm>
            <a:off x="2123935" y="1919941"/>
            <a:ext cx="683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remote</a:t>
            </a:r>
          </a:p>
        </p:txBody>
      </p:sp>
      <p:sp>
        <p:nvSpPr>
          <p:cNvPr id="21" name="TextBox 34"/>
          <p:cNvSpPr txBox="1">
            <a:spLocks noChangeArrowheads="1"/>
          </p:cNvSpPr>
          <p:nvPr/>
        </p:nvSpPr>
        <p:spPr bwMode="auto">
          <a:xfrm>
            <a:off x="3243122" y="1919941"/>
            <a:ext cx="4074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usr</a:t>
            </a:r>
          </a:p>
        </p:txBody>
      </p:sp>
      <p:sp>
        <p:nvSpPr>
          <p:cNvPr id="22" name="TextBox 35"/>
          <p:cNvSpPr txBox="1">
            <a:spLocks noChangeArrowheads="1"/>
          </p:cNvSpPr>
          <p:nvPr/>
        </p:nvSpPr>
        <p:spPr bwMode="auto">
          <a:xfrm>
            <a:off x="3014522" y="2634316"/>
            <a:ext cx="348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vu</a:t>
            </a:r>
          </a:p>
        </p:txBody>
      </p:sp>
      <p:sp>
        <p:nvSpPr>
          <p:cNvPr id="23" name="TextBox 36"/>
          <p:cNvSpPr txBox="1">
            <a:spLocks noChangeArrowheads="1"/>
          </p:cNvSpPr>
          <p:nvPr/>
        </p:nvSpPr>
        <p:spPr bwMode="auto">
          <a:xfrm>
            <a:off x="3208197" y="3267729"/>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mbox</a:t>
            </a:r>
          </a:p>
        </p:txBody>
      </p:sp>
      <p:sp>
        <p:nvSpPr>
          <p:cNvPr id="24" name="TextBox 37"/>
          <p:cNvSpPr txBox="1">
            <a:spLocks noChangeArrowheads="1"/>
          </p:cNvSpPr>
          <p:nvPr/>
        </p:nvSpPr>
        <p:spPr bwMode="auto">
          <a:xfrm>
            <a:off x="2492235" y="1259541"/>
            <a:ext cx="9749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2000" dirty="0">
                <a:latin typeface="+mj-lt"/>
              </a:rPr>
              <a:t>Client A</a:t>
            </a:r>
          </a:p>
        </p:txBody>
      </p:sp>
      <p:sp>
        <p:nvSpPr>
          <p:cNvPr id="25" name="Rectangle 24"/>
          <p:cNvSpPr/>
          <p:nvPr/>
        </p:nvSpPr>
        <p:spPr>
          <a:xfrm>
            <a:off x="4929047" y="1538941"/>
            <a:ext cx="1752600" cy="26670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26" name="Rectangle 25"/>
          <p:cNvSpPr/>
          <p:nvPr/>
        </p:nvSpPr>
        <p:spPr>
          <a:xfrm>
            <a:off x="5767247" y="1691341"/>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27" name="Rectangle 26"/>
          <p:cNvSpPr/>
          <p:nvPr/>
        </p:nvSpPr>
        <p:spPr>
          <a:xfrm>
            <a:off x="5462447" y="2224741"/>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28" name="Straight Arrow Connector 27"/>
          <p:cNvCxnSpPr>
            <a:stCxn id="26" idx="2"/>
          </p:cNvCxnSpPr>
          <p:nvPr/>
        </p:nvCxnSpPr>
        <p:spPr>
          <a:xfrm flipH="1">
            <a:off x="5614847" y="1996141"/>
            <a:ext cx="304800" cy="228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6" idx="2"/>
          </p:cNvCxnSpPr>
          <p:nvPr/>
        </p:nvCxnSpPr>
        <p:spPr>
          <a:xfrm>
            <a:off x="5919647" y="1996141"/>
            <a:ext cx="381000" cy="228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5005247" y="2910541"/>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31" name="Oval 30"/>
          <p:cNvSpPr/>
          <p:nvPr/>
        </p:nvSpPr>
        <p:spPr>
          <a:xfrm>
            <a:off x="5462447" y="2924829"/>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32" name="Rectangle 31"/>
          <p:cNvSpPr/>
          <p:nvPr/>
        </p:nvSpPr>
        <p:spPr>
          <a:xfrm>
            <a:off x="5919647" y="2910541"/>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33" name="Straight Arrow Connector 32"/>
          <p:cNvCxnSpPr>
            <a:stCxn id="27" idx="2"/>
            <a:endCxn id="30" idx="0"/>
          </p:cNvCxnSpPr>
          <p:nvPr/>
        </p:nvCxnSpPr>
        <p:spPr>
          <a:xfrm flipH="1">
            <a:off x="5157647" y="2529541"/>
            <a:ext cx="4572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31" idx="0"/>
          </p:cNvCxnSpPr>
          <p:nvPr/>
        </p:nvCxnSpPr>
        <p:spPr>
          <a:xfrm>
            <a:off x="5614847" y="2529541"/>
            <a:ext cx="0" cy="3952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5614847" y="2529541"/>
            <a:ext cx="4572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5691047" y="3596341"/>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37" name="Oval 36"/>
          <p:cNvSpPr/>
          <p:nvPr/>
        </p:nvSpPr>
        <p:spPr>
          <a:xfrm>
            <a:off x="6224447" y="3596341"/>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38" name="Straight Arrow Connector 37"/>
          <p:cNvCxnSpPr>
            <a:stCxn id="32" idx="2"/>
            <a:endCxn id="36" idx="0"/>
          </p:cNvCxnSpPr>
          <p:nvPr/>
        </p:nvCxnSpPr>
        <p:spPr>
          <a:xfrm flipH="1">
            <a:off x="5843447" y="3215341"/>
            <a:ext cx="2286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32" idx="2"/>
            <a:endCxn id="37" idx="0"/>
          </p:cNvCxnSpPr>
          <p:nvPr/>
        </p:nvCxnSpPr>
        <p:spPr>
          <a:xfrm>
            <a:off x="6072047" y="3215341"/>
            <a:ext cx="3048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TextBox 54"/>
          <p:cNvSpPr txBox="1">
            <a:spLocks noChangeArrowheads="1"/>
          </p:cNvSpPr>
          <p:nvPr/>
        </p:nvSpPr>
        <p:spPr bwMode="auto">
          <a:xfrm>
            <a:off x="5105260" y="1919941"/>
            <a:ext cx="57259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users</a:t>
            </a:r>
          </a:p>
        </p:txBody>
      </p:sp>
      <p:sp>
        <p:nvSpPr>
          <p:cNvPr id="41" name="TextBox 55"/>
          <p:cNvSpPr txBox="1">
            <a:spLocks noChangeArrowheads="1"/>
          </p:cNvSpPr>
          <p:nvPr/>
        </p:nvSpPr>
        <p:spPr bwMode="auto">
          <a:xfrm>
            <a:off x="6224447" y="1919941"/>
            <a:ext cx="4074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usr</a:t>
            </a:r>
          </a:p>
        </p:txBody>
      </p:sp>
      <p:sp>
        <p:nvSpPr>
          <p:cNvPr id="42" name="TextBox 56"/>
          <p:cNvSpPr txBox="1">
            <a:spLocks noChangeArrowheads="1"/>
          </p:cNvSpPr>
          <p:nvPr/>
        </p:nvSpPr>
        <p:spPr bwMode="auto">
          <a:xfrm>
            <a:off x="5995847" y="2634316"/>
            <a:ext cx="57259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steen</a:t>
            </a:r>
          </a:p>
        </p:txBody>
      </p:sp>
      <p:sp>
        <p:nvSpPr>
          <p:cNvPr id="43" name="TextBox 57"/>
          <p:cNvSpPr txBox="1">
            <a:spLocks noChangeArrowheads="1"/>
          </p:cNvSpPr>
          <p:nvPr/>
        </p:nvSpPr>
        <p:spPr bwMode="auto">
          <a:xfrm>
            <a:off x="6187935" y="3267729"/>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mbox</a:t>
            </a:r>
          </a:p>
        </p:txBody>
      </p:sp>
      <p:sp>
        <p:nvSpPr>
          <p:cNvPr id="44" name="TextBox 58"/>
          <p:cNvSpPr txBox="1">
            <a:spLocks noChangeArrowheads="1"/>
          </p:cNvSpPr>
          <p:nvPr/>
        </p:nvSpPr>
        <p:spPr bwMode="auto">
          <a:xfrm>
            <a:off x="5473560" y="1259541"/>
            <a:ext cx="8242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2000">
                <a:latin typeface="+mj-lt"/>
              </a:rPr>
              <a:t>Server</a:t>
            </a:r>
          </a:p>
        </p:txBody>
      </p:sp>
      <p:sp>
        <p:nvSpPr>
          <p:cNvPr id="45" name="Rectangle 44"/>
          <p:cNvSpPr/>
          <p:nvPr/>
        </p:nvSpPr>
        <p:spPr>
          <a:xfrm>
            <a:off x="7977047" y="1537354"/>
            <a:ext cx="1752600" cy="26670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46" name="Rectangle 45"/>
          <p:cNvSpPr/>
          <p:nvPr/>
        </p:nvSpPr>
        <p:spPr>
          <a:xfrm>
            <a:off x="8815247" y="1689754"/>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47" name="Rectangle 46"/>
          <p:cNvSpPr/>
          <p:nvPr/>
        </p:nvSpPr>
        <p:spPr>
          <a:xfrm>
            <a:off x="8510447" y="2223154"/>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48" name="Straight Arrow Connector 47"/>
          <p:cNvCxnSpPr>
            <a:stCxn id="46" idx="2"/>
          </p:cNvCxnSpPr>
          <p:nvPr/>
        </p:nvCxnSpPr>
        <p:spPr>
          <a:xfrm flipH="1">
            <a:off x="8662847" y="1994554"/>
            <a:ext cx="304800" cy="228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46" idx="2"/>
          </p:cNvCxnSpPr>
          <p:nvPr/>
        </p:nvCxnSpPr>
        <p:spPr>
          <a:xfrm>
            <a:off x="8967647" y="1994554"/>
            <a:ext cx="381000" cy="228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8053247" y="2908954"/>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51" name="Oval 50"/>
          <p:cNvSpPr/>
          <p:nvPr/>
        </p:nvSpPr>
        <p:spPr>
          <a:xfrm>
            <a:off x="8510447" y="2923241"/>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52" name="Rectangle 51"/>
          <p:cNvSpPr/>
          <p:nvPr/>
        </p:nvSpPr>
        <p:spPr>
          <a:xfrm>
            <a:off x="8967647" y="2908954"/>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53" name="Straight Arrow Connector 52"/>
          <p:cNvCxnSpPr>
            <a:stCxn id="47" idx="2"/>
            <a:endCxn id="50" idx="0"/>
          </p:cNvCxnSpPr>
          <p:nvPr/>
        </p:nvCxnSpPr>
        <p:spPr>
          <a:xfrm flipH="1">
            <a:off x="8205647" y="2527954"/>
            <a:ext cx="4572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endCxn id="51" idx="0"/>
          </p:cNvCxnSpPr>
          <p:nvPr/>
        </p:nvCxnSpPr>
        <p:spPr>
          <a:xfrm>
            <a:off x="8662847" y="2527954"/>
            <a:ext cx="0" cy="3952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8662847" y="2527954"/>
            <a:ext cx="4572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8739047" y="3594754"/>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57" name="Oval 56"/>
          <p:cNvSpPr/>
          <p:nvPr/>
        </p:nvSpPr>
        <p:spPr>
          <a:xfrm>
            <a:off x="9272447" y="3594754"/>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58" name="Straight Arrow Connector 57"/>
          <p:cNvCxnSpPr>
            <a:stCxn id="52" idx="2"/>
            <a:endCxn id="56" idx="0"/>
          </p:cNvCxnSpPr>
          <p:nvPr/>
        </p:nvCxnSpPr>
        <p:spPr>
          <a:xfrm flipH="1">
            <a:off x="8891447" y="3213754"/>
            <a:ext cx="2286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52" idx="2"/>
            <a:endCxn id="57" idx="0"/>
          </p:cNvCxnSpPr>
          <p:nvPr/>
        </p:nvCxnSpPr>
        <p:spPr>
          <a:xfrm>
            <a:off x="9120047" y="3213754"/>
            <a:ext cx="3048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0" name="TextBox 75"/>
          <p:cNvSpPr txBox="1">
            <a:spLocks noChangeArrowheads="1"/>
          </p:cNvSpPr>
          <p:nvPr/>
        </p:nvSpPr>
        <p:spPr bwMode="auto">
          <a:xfrm>
            <a:off x="8153260" y="1918354"/>
            <a:ext cx="5261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work</a:t>
            </a:r>
          </a:p>
        </p:txBody>
      </p:sp>
      <p:sp>
        <p:nvSpPr>
          <p:cNvPr id="61" name="TextBox 76"/>
          <p:cNvSpPr txBox="1">
            <a:spLocks noChangeArrowheads="1"/>
          </p:cNvSpPr>
          <p:nvPr/>
        </p:nvSpPr>
        <p:spPr bwMode="auto">
          <a:xfrm>
            <a:off x="9272447" y="1918354"/>
            <a:ext cx="4074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usr</a:t>
            </a:r>
          </a:p>
        </p:txBody>
      </p:sp>
      <p:sp>
        <p:nvSpPr>
          <p:cNvPr id="62" name="TextBox 77"/>
          <p:cNvSpPr txBox="1">
            <a:spLocks noChangeArrowheads="1"/>
          </p:cNvSpPr>
          <p:nvPr/>
        </p:nvSpPr>
        <p:spPr bwMode="auto">
          <a:xfrm>
            <a:off x="9043847" y="2631141"/>
            <a:ext cx="40267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me</a:t>
            </a:r>
          </a:p>
        </p:txBody>
      </p:sp>
      <p:sp>
        <p:nvSpPr>
          <p:cNvPr id="63" name="TextBox 78"/>
          <p:cNvSpPr txBox="1">
            <a:spLocks noChangeArrowheads="1"/>
          </p:cNvSpPr>
          <p:nvPr/>
        </p:nvSpPr>
        <p:spPr bwMode="auto">
          <a:xfrm>
            <a:off x="9235935" y="3266141"/>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mbox</a:t>
            </a:r>
          </a:p>
        </p:txBody>
      </p:sp>
      <p:sp>
        <p:nvSpPr>
          <p:cNvPr id="64" name="TextBox 79"/>
          <p:cNvSpPr txBox="1">
            <a:spLocks noChangeArrowheads="1"/>
          </p:cNvSpPr>
          <p:nvPr/>
        </p:nvSpPr>
        <p:spPr bwMode="auto">
          <a:xfrm>
            <a:off x="8521560" y="1257954"/>
            <a:ext cx="9669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2000">
                <a:latin typeface="+mj-lt"/>
              </a:rPr>
              <a:t>Client B</a:t>
            </a:r>
          </a:p>
        </p:txBody>
      </p:sp>
      <p:cxnSp>
        <p:nvCxnSpPr>
          <p:cNvPr id="65" name="Straight Connector 64"/>
          <p:cNvCxnSpPr>
            <a:stCxn id="5" idx="2"/>
          </p:cNvCxnSpPr>
          <p:nvPr/>
        </p:nvCxnSpPr>
        <p:spPr>
          <a:xfrm>
            <a:off x="2824022" y="4205941"/>
            <a:ext cx="0" cy="609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2328722" y="4815541"/>
            <a:ext cx="69437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a:stCxn id="45" idx="2"/>
          </p:cNvCxnSpPr>
          <p:nvPr/>
        </p:nvCxnSpPr>
        <p:spPr>
          <a:xfrm>
            <a:off x="8853347" y="4204354"/>
            <a:ext cx="0" cy="6111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stCxn id="25" idx="2"/>
          </p:cNvCxnSpPr>
          <p:nvPr/>
        </p:nvCxnSpPr>
        <p:spPr>
          <a:xfrm>
            <a:off x="5805347" y="4205941"/>
            <a:ext cx="0" cy="609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H="1">
            <a:off x="3632060" y="3594754"/>
            <a:ext cx="1947862" cy="0"/>
          </a:xfrm>
          <a:prstGeom prst="straightConnector1">
            <a:avLst/>
          </a:prstGeom>
          <a:ln w="28575">
            <a:solidFill>
              <a:srgbClr val="7030A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6611797" y="3596341"/>
            <a:ext cx="2049463" cy="0"/>
          </a:xfrm>
          <a:prstGeom prst="straightConnector1">
            <a:avLst/>
          </a:prstGeom>
          <a:ln w="28575">
            <a:solidFill>
              <a:srgbClr val="7030A0"/>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71" name="TextBox 114"/>
          <p:cNvSpPr txBox="1">
            <a:spLocks noChangeArrowheads="1"/>
          </p:cNvSpPr>
          <p:nvPr/>
        </p:nvSpPr>
        <p:spPr bwMode="auto">
          <a:xfrm>
            <a:off x="3497365" y="4193220"/>
            <a:ext cx="199926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dirty="0">
                <a:latin typeface="+mj-lt"/>
              </a:rPr>
              <a:t>Exported directory</a:t>
            </a:r>
          </a:p>
          <a:p>
            <a:pPr eaLnBrk="1" hangingPunct="1"/>
            <a:r>
              <a:rPr lang="en-US" altLang="en-US" i="1" dirty="0">
                <a:latin typeface="+mj-lt"/>
              </a:rPr>
              <a:t>mounted</a:t>
            </a:r>
            <a:r>
              <a:rPr lang="en-US" altLang="en-US" dirty="0">
                <a:latin typeface="+mj-lt"/>
              </a:rPr>
              <a:t> by Client A</a:t>
            </a:r>
          </a:p>
        </p:txBody>
      </p:sp>
      <p:sp>
        <p:nvSpPr>
          <p:cNvPr id="72" name="TextBox 115"/>
          <p:cNvSpPr txBox="1">
            <a:spLocks noChangeArrowheads="1"/>
          </p:cNvSpPr>
          <p:nvPr/>
        </p:nvSpPr>
        <p:spPr bwMode="auto">
          <a:xfrm>
            <a:off x="6477102" y="4188458"/>
            <a:ext cx="199285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dirty="0">
                <a:latin typeface="+mj-lt"/>
              </a:rPr>
              <a:t>Exported directory</a:t>
            </a:r>
          </a:p>
          <a:p>
            <a:pPr eaLnBrk="1" hangingPunct="1"/>
            <a:r>
              <a:rPr lang="en-US" altLang="en-US" i="1" dirty="0">
                <a:latin typeface="+mj-lt"/>
              </a:rPr>
              <a:t>mounted</a:t>
            </a:r>
            <a:r>
              <a:rPr lang="en-US" altLang="en-US" dirty="0">
                <a:latin typeface="+mj-lt"/>
              </a:rPr>
              <a:t> by Client B</a:t>
            </a:r>
          </a:p>
        </p:txBody>
      </p:sp>
      <p:sp>
        <p:nvSpPr>
          <p:cNvPr id="73" name="TextBox 124"/>
          <p:cNvSpPr txBox="1">
            <a:spLocks noChangeArrowheads="1"/>
          </p:cNvSpPr>
          <p:nvPr/>
        </p:nvSpPr>
        <p:spPr bwMode="auto">
          <a:xfrm>
            <a:off x="1421625" y="5118754"/>
            <a:ext cx="288893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eaLnBrk="1" hangingPunct="1"/>
            <a:r>
              <a:rPr lang="en-US" altLang="en-US" sz="1600">
                <a:latin typeface="+mj-lt"/>
              </a:rPr>
              <a:t>The file named </a:t>
            </a:r>
            <a:r>
              <a:rPr lang="en-US" altLang="en-US" sz="1600" i="1">
                <a:latin typeface="+mj-lt"/>
              </a:rPr>
              <a:t>/remote/vu/mbox</a:t>
            </a:r>
            <a:r>
              <a:rPr lang="en-US" altLang="en-US" sz="1600">
                <a:latin typeface="+mj-lt"/>
              </a:rPr>
              <a:t> </a:t>
            </a:r>
          </a:p>
          <a:p>
            <a:pPr algn="ctr" eaLnBrk="1" hangingPunct="1"/>
            <a:r>
              <a:rPr lang="en-US" altLang="en-US" sz="1600">
                <a:latin typeface="+mj-lt"/>
              </a:rPr>
              <a:t>at Client A</a:t>
            </a:r>
          </a:p>
        </p:txBody>
      </p:sp>
      <p:sp>
        <p:nvSpPr>
          <p:cNvPr id="74" name="TextBox 125"/>
          <p:cNvSpPr txBox="1">
            <a:spLocks noChangeArrowheads="1"/>
          </p:cNvSpPr>
          <p:nvPr/>
        </p:nvSpPr>
        <p:spPr bwMode="auto">
          <a:xfrm>
            <a:off x="7535948" y="5118754"/>
            <a:ext cx="27109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eaLnBrk="1" hangingPunct="1"/>
            <a:r>
              <a:rPr lang="en-US" altLang="en-US" sz="1600" dirty="0">
                <a:latin typeface="+mj-lt"/>
              </a:rPr>
              <a:t>The file named </a:t>
            </a:r>
            <a:r>
              <a:rPr lang="en-US" altLang="en-US" sz="1600" i="1" dirty="0">
                <a:latin typeface="+mj-lt"/>
              </a:rPr>
              <a:t>/work/vu/</a:t>
            </a:r>
            <a:r>
              <a:rPr lang="en-US" altLang="en-US" sz="1600" i="1" dirty="0" err="1">
                <a:latin typeface="+mj-lt"/>
              </a:rPr>
              <a:t>mbox</a:t>
            </a:r>
            <a:r>
              <a:rPr lang="en-US" altLang="en-US" sz="1600" dirty="0">
                <a:latin typeface="+mj-lt"/>
              </a:rPr>
              <a:t> </a:t>
            </a:r>
          </a:p>
          <a:p>
            <a:pPr algn="ctr" eaLnBrk="1" hangingPunct="1"/>
            <a:r>
              <a:rPr lang="en-US" altLang="en-US" sz="1600" dirty="0">
                <a:latin typeface="+mj-lt"/>
              </a:rPr>
              <a:t>at Client B</a:t>
            </a:r>
          </a:p>
        </p:txBody>
      </p:sp>
      <p:sp>
        <p:nvSpPr>
          <p:cNvPr id="75" name="Freeform 74"/>
          <p:cNvSpPr/>
          <p:nvPr/>
        </p:nvSpPr>
        <p:spPr>
          <a:xfrm>
            <a:off x="5568810" y="2504141"/>
            <a:ext cx="1174750" cy="1647825"/>
          </a:xfrm>
          <a:custGeom>
            <a:avLst/>
            <a:gdLst>
              <a:gd name="connsiteX0" fmla="*/ 595550 w 1174869"/>
              <a:gd name="connsiteY0" fmla="*/ 127094 h 1648585"/>
              <a:gd name="connsiteX1" fmla="*/ 405050 w 1174869"/>
              <a:gd name="connsiteY1" fmla="*/ 127094 h 1648585"/>
              <a:gd name="connsiteX2" fmla="*/ 24050 w 1174869"/>
              <a:gd name="connsiteY2" fmla="*/ 1447894 h 1648585"/>
              <a:gd name="connsiteX3" fmla="*/ 1167050 w 1174869"/>
              <a:gd name="connsiteY3" fmla="*/ 1498694 h 1648585"/>
              <a:gd name="connsiteX4" fmla="*/ 557450 w 1174869"/>
              <a:gd name="connsiteY4" fmla="*/ 50894 h 1648585"/>
              <a:gd name="connsiteX5" fmla="*/ 557450 w 1174869"/>
              <a:gd name="connsiteY5" fmla="*/ 50894 h 164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4869" h="1648585">
                <a:moveTo>
                  <a:pt x="595550" y="127094"/>
                </a:moveTo>
                <a:cubicBezTo>
                  <a:pt x="547925" y="17027"/>
                  <a:pt x="500300" y="-93039"/>
                  <a:pt x="405050" y="127094"/>
                </a:cubicBezTo>
                <a:cubicBezTo>
                  <a:pt x="309800" y="347227"/>
                  <a:pt x="-102950" y="1219294"/>
                  <a:pt x="24050" y="1447894"/>
                </a:cubicBezTo>
                <a:cubicBezTo>
                  <a:pt x="151050" y="1676494"/>
                  <a:pt x="1078150" y="1731527"/>
                  <a:pt x="1167050" y="1498694"/>
                </a:cubicBezTo>
                <a:cubicBezTo>
                  <a:pt x="1255950" y="1265861"/>
                  <a:pt x="557450" y="50894"/>
                  <a:pt x="557450" y="50894"/>
                </a:cubicBezTo>
                <a:lnTo>
                  <a:pt x="557450" y="50894"/>
                </a:lnTo>
              </a:path>
            </a:pathLst>
          </a:custGeom>
          <a:noFill/>
          <a:ln w="28575">
            <a:solidFill>
              <a:srgbClr val="7030A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76" name="Freeform 75"/>
          <p:cNvSpPr/>
          <p:nvPr/>
        </p:nvSpPr>
        <p:spPr>
          <a:xfrm>
            <a:off x="2600185" y="2581929"/>
            <a:ext cx="1174750" cy="1647825"/>
          </a:xfrm>
          <a:custGeom>
            <a:avLst/>
            <a:gdLst>
              <a:gd name="connsiteX0" fmla="*/ 595550 w 1174869"/>
              <a:gd name="connsiteY0" fmla="*/ 127094 h 1648585"/>
              <a:gd name="connsiteX1" fmla="*/ 405050 w 1174869"/>
              <a:gd name="connsiteY1" fmla="*/ 127094 h 1648585"/>
              <a:gd name="connsiteX2" fmla="*/ 24050 w 1174869"/>
              <a:gd name="connsiteY2" fmla="*/ 1447894 h 1648585"/>
              <a:gd name="connsiteX3" fmla="*/ 1167050 w 1174869"/>
              <a:gd name="connsiteY3" fmla="*/ 1498694 h 1648585"/>
              <a:gd name="connsiteX4" fmla="*/ 557450 w 1174869"/>
              <a:gd name="connsiteY4" fmla="*/ 50894 h 1648585"/>
              <a:gd name="connsiteX5" fmla="*/ 557450 w 1174869"/>
              <a:gd name="connsiteY5" fmla="*/ 50894 h 164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4869" h="1648585">
                <a:moveTo>
                  <a:pt x="595550" y="127094"/>
                </a:moveTo>
                <a:cubicBezTo>
                  <a:pt x="547925" y="17027"/>
                  <a:pt x="500300" y="-93039"/>
                  <a:pt x="405050" y="127094"/>
                </a:cubicBezTo>
                <a:cubicBezTo>
                  <a:pt x="309800" y="347227"/>
                  <a:pt x="-102950" y="1219294"/>
                  <a:pt x="24050" y="1447894"/>
                </a:cubicBezTo>
                <a:cubicBezTo>
                  <a:pt x="151050" y="1676494"/>
                  <a:pt x="1078150" y="1731527"/>
                  <a:pt x="1167050" y="1498694"/>
                </a:cubicBezTo>
                <a:cubicBezTo>
                  <a:pt x="1255950" y="1265861"/>
                  <a:pt x="557450" y="50894"/>
                  <a:pt x="557450" y="50894"/>
                </a:cubicBezTo>
                <a:lnTo>
                  <a:pt x="557450" y="50894"/>
                </a:lnTo>
              </a:path>
            </a:pathLst>
          </a:custGeom>
          <a:noFill/>
          <a:ln w="28575">
            <a:solidFill>
              <a:srgbClr val="7030A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77" name="Freeform 76"/>
          <p:cNvSpPr/>
          <p:nvPr/>
        </p:nvSpPr>
        <p:spPr>
          <a:xfrm>
            <a:off x="8621572" y="2504141"/>
            <a:ext cx="1174750" cy="1647825"/>
          </a:xfrm>
          <a:custGeom>
            <a:avLst/>
            <a:gdLst>
              <a:gd name="connsiteX0" fmla="*/ 595550 w 1174869"/>
              <a:gd name="connsiteY0" fmla="*/ 127094 h 1648585"/>
              <a:gd name="connsiteX1" fmla="*/ 405050 w 1174869"/>
              <a:gd name="connsiteY1" fmla="*/ 127094 h 1648585"/>
              <a:gd name="connsiteX2" fmla="*/ 24050 w 1174869"/>
              <a:gd name="connsiteY2" fmla="*/ 1447894 h 1648585"/>
              <a:gd name="connsiteX3" fmla="*/ 1167050 w 1174869"/>
              <a:gd name="connsiteY3" fmla="*/ 1498694 h 1648585"/>
              <a:gd name="connsiteX4" fmla="*/ 557450 w 1174869"/>
              <a:gd name="connsiteY4" fmla="*/ 50894 h 1648585"/>
              <a:gd name="connsiteX5" fmla="*/ 557450 w 1174869"/>
              <a:gd name="connsiteY5" fmla="*/ 50894 h 164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4869" h="1648585">
                <a:moveTo>
                  <a:pt x="595550" y="127094"/>
                </a:moveTo>
                <a:cubicBezTo>
                  <a:pt x="547925" y="17027"/>
                  <a:pt x="500300" y="-93039"/>
                  <a:pt x="405050" y="127094"/>
                </a:cubicBezTo>
                <a:cubicBezTo>
                  <a:pt x="309800" y="347227"/>
                  <a:pt x="-102950" y="1219294"/>
                  <a:pt x="24050" y="1447894"/>
                </a:cubicBezTo>
                <a:cubicBezTo>
                  <a:pt x="151050" y="1676494"/>
                  <a:pt x="1078150" y="1731527"/>
                  <a:pt x="1167050" y="1498694"/>
                </a:cubicBezTo>
                <a:cubicBezTo>
                  <a:pt x="1255950" y="1265861"/>
                  <a:pt x="557450" y="50894"/>
                  <a:pt x="557450" y="50894"/>
                </a:cubicBezTo>
                <a:lnTo>
                  <a:pt x="557450" y="50894"/>
                </a:lnTo>
              </a:path>
            </a:pathLst>
          </a:custGeom>
          <a:noFill/>
          <a:ln w="28575">
            <a:solidFill>
              <a:srgbClr val="7030A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78" name="Oval 77"/>
          <p:cNvSpPr/>
          <p:nvPr/>
        </p:nvSpPr>
        <p:spPr>
          <a:xfrm>
            <a:off x="2686339" y="5131630"/>
            <a:ext cx="1521050" cy="304800"/>
          </a:xfrm>
          <a:prstGeom prst="ellipse">
            <a:avLst/>
          </a:prstGeom>
          <a:noFill/>
          <a:ln>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latin typeface="+mj-lt"/>
            </a:endParaRPr>
          </a:p>
        </p:txBody>
      </p:sp>
      <p:sp>
        <p:nvSpPr>
          <p:cNvPr id="79" name="Oval 78"/>
          <p:cNvSpPr/>
          <p:nvPr/>
        </p:nvSpPr>
        <p:spPr>
          <a:xfrm>
            <a:off x="8853347" y="5117166"/>
            <a:ext cx="1311275" cy="319264"/>
          </a:xfrm>
          <a:prstGeom prst="ellipse">
            <a:avLst/>
          </a:prstGeom>
          <a:noFill/>
          <a:ln>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latin typeface="+mj-lt"/>
            </a:endParaRPr>
          </a:p>
        </p:txBody>
      </p:sp>
      <p:cxnSp>
        <p:nvCxnSpPr>
          <p:cNvPr id="81" name="Straight Arrow Connector 80"/>
          <p:cNvCxnSpPr/>
          <p:nvPr/>
        </p:nvCxnSpPr>
        <p:spPr>
          <a:xfrm>
            <a:off x="3700322" y="2581929"/>
            <a:ext cx="1228725"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2" name="TextBox 95"/>
          <p:cNvSpPr txBox="1">
            <a:spLocks noChangeArrowheads="1"/>
          </p:cNvSpPr>
          <p:nvPr/>
        </p:nvSpPr>
        <p:spPr bwMode="auto">
          <a:xfrm>
            <a:off x="3738422" y="2019954"/>
            <a:ext cx="11079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Mount steen </a:t>
            </a:r>
          </a:p>
          <a:p>
            <a:pPr eaLnBrk="1" hangingPunct="1"/>
            <a:r>
              <a:rPr lang="en-US" altLang="en-US" sz="1400">
                <a:latin typeface="+mj-lt"/>
              </a:rPr>
              <a:t>subdirectory</a:t>
            </a:r>
          </a:p>
        </p:txBody>
      </p:sp>
      <p:cxnSp>
        <p:nvCxnSpPr>
          <p:cNvPr id="83" name="Straight Arrow Connector 82"/>
          <p:cNvCxnSpPr/>
          <p:nvPr/>
        </p:nvCxnSpPr>
        <p:spPr>
          <a:xfrm flipH="1">
            <a:off x="6681647" y="2605741"/>
            <a:ext cx="12954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4" name="TextBox 98"/>
          <p:cNvSpPr txBox="1">
            <a:spLocks noChangeArrowheads="1"/>
          </p:cNvSpPr>
          <p:nvPr/>
        </p:nvSpPr>
        <p:spPr bwMode="auto">
          <a:xfrm>
            <a:off x="6792772" y="2104091"/>
            <a:ext cx="11079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Mount steen </a:t>
            </a:r>
          </a:p>
          <a:p>
            <a:pPr eaLnBrk="1" hangingPunct="1"/>
            <a:r>
              <a:rPr lang="en-US" altLang="en-US" sz="1400">
                <a:latin typeface="+mj-lt"/>
              </a:rPr>
              <a:t>subdirectory</a:t>
            </a:r>
          </a:p>
        </p:txBody>
      </p:sp>
      <p:sp>
        <p:nvSpPr>
          <p:cNvPr id="85" name="Rectangle 84"/>
          <p:cNvSpPr/>
          <p:nvPr/>
        </p:nvSpPr>
        <p:spPr>
          <a:xfrm>
            <a:off x="3166922" y="2235854"/>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86" name="Rectangle 85"/>
          <p:cNvSpPr/>
          <p:nvPr/>
        </p:nvSpPr>
        <p:spPr>
          <a:xfrm>
            <a:off x="6140310" y="2237441"/>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87" name="Rectangle 86"/>
          <p:cNvSpPr/>
          <p:nvPr/>
        </p:nvSpPr>
        <p:spPr>
          <a:xfrm>
            <a:off x="9170847" y="2223154"/>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89" name="TextBox 88"/>
          <p:cNvSpPr txBox="1"/>
          <p:nvPr/>
        </p:nvSpPr>
        <p:spPr>
          <a:xfrm>
            <a:off x="3985395" y="5768048"/>
            <a:ext cx="3716103" cy="461665"/>
          </a:xfrm>
          <a:prstGeom prst="rect">
            <a:avLst/>
          </a:prstGeom>
          <a:solidFill>
            <a:srgbClr val="1D3064"/>
          </a:solidFill>
        </p:spPr>
        <p:txBody>
          <a:bodyPr wrap="square" rtlCol="0">
            <a:spAutoFit/>
          </a:bodyPr>
          <a:lstStyle/>
          <a:p>
            <a:r>
              <a:rPr lang="en-US" sz="2400" dirty="0">
                <a:solidFill>
                  <a:schemeClr val="bg1"/>
                </a:solidFill>
              </a:rPr>
              <a:t>Sharing files becomes harder</a:t>
            </a:r>
          </a:p>
        </p:txBody>
      </p:sp>
    </p:spTree>
    <p:extLst>
      <p:ext uri="{BB962C8B-B14F-4D97-AF65-F5344CB8AC3E}">
        <p14:creationId xmlns:p14="http://schemas.microsoft.com/office/powerpoint/2010/main" val="3373359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Sharing Files In NFS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A common solution for sharing files in NFS is to provide each client with a name space that is partly standardized</a:t>
            </a:r>
          </a:p>
          <a:p>
            <a:r>
              <a:rPr lang="en-US" dirty="0" smtClean="0"/>
              <a:t>For </a:t>
            </a:r>
            <a:r>
              <a:rPr lang="en-US" dirty="0"/>
              <a:t>example, each client may by using the local directory /</a:t>
            </a:r>
            <a:r>
              <a:rPr lang="en-US" dirty="0" err="1"/>
              <a:t>usr</a:t>
            </a:r>
            <a:r>
              <a:rPr lang="en-US" dirty="0"/>
              <a:t>/bin to mount a file system</a:t>
            </a:r>
          </a:p>
          <a:p>
            <a:r>
              <a:rPr lang="en-US" dirty="0" smtClean="0"/>
              <a:t>A </a:t>
            </a:r>
            <a:r>
              <a:rPr lang="en-US" dirty="0"/>
              <a:t>remote file system can then be mounted in the same manner for each user</a:t>
            </a:r>
          </a:p>
        </p:txBody>
      </p:sp>
    </p:spTree>
    <p:extLst>
      <p:ext uri="{BB962C8B-B14F-4D97-AF65-F5344CB8AC3E}">
        <p14:creationId xmlns:p14="http://schemas.microsoft.com/office/powerpoint/2010/main" val="3016522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Sharing Files In NFS</a:t>
            </a:r>
          </a:p>
        </p:txBody>
      </p:sp>
      <p:sp>
        <p:nvSpPr>
          <p:cNvPr id="5" name="Rectangle 4"/>
          <p:cNvSpPr/>
          <p:nvPr/>
        </p:nvSpPr>
        <p:spPr>
          <a:xfrm>
            <a:off x="2182018" y="1498600"/>
            <a:ext cx="1752600" cy="2667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latin typeface="+mj-lt"/>
            </a:endParaRPr>
          </a:p>
        </p:txBody>
      </p:sp>
      <p:sp>
        <p:nvSpPr>
          <p:cNvPr id="6" name="Rectangle 5"/>
          <p:cNvSpPr/>
          <p:nvPr/>
        </p:nvSpPr>
        <p:spPr>
          <a:xfrm>
            <a:off x="3020218" y="1651000"/>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7" name="Rectangle 6"/>
          <p:cNvSpPr/>
          <p:nvPr/>
        </p:nvSpPr>
        <p:spPr>
          <a:xfrm>
            <a:off x="2715418" y="2184400"/>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8" name="Straight Arrow Connector 7"/>
          <p:cNvCxnSpPr>
            <a:stCxn id="6" idx="2"/>
          </p:cNvCxnSpPr>
          <p:nvPr/>
        </p:nvCxnSpPr>
        <p:spPr>
          <a:xfrm flipH="1">
            <a:off x="2867818" y="1955800"/>
            <a:ext cx="304800" cy="228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6" idx="2"/>
          </p:cNvCxnSpPr>
          <p:nvPr/>
        </p:nvCxnSpPr>
        <p:spPr>
          <a:xfrm>
            <a:off x="3172618" y="1955800"/>
            <a:ext cx="381000" cy="228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2258218" y="2870200"/>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11" name="Oval 10"/>
          <p:cNvSpPr/>
          <p:nvPr/>
        </p:nvSpPr>
        <p:spPr>
          <a:xfrm>
            <a:off x="2715418" y="2884488"/>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12" name="Rectangle 11"/>
          <p:cNvSpPr/>
          <p:nvPr/>
        </p:nvSpPr>
        <p:spPr>
          <a:xfrm>
            <a:off x="3172618" y="2870200"/>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13" name="Straight Arrow Connector 12"/>
          <p:cNvCxnSpPr>
            <a:stCxn id="7" idx="2"/>
            <a:endCxn id="10" idx="0"/>
          </p:cNvCxnSpPr>
          <p:nvPr/>
        </p:nvCxnSpPr>
        <p:spPr>
          <a:xfrm flipH="1">
            <a:off x="2410618" y="2489200"/>
            <a:ext cx="4572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11" idx="0"/>
          </p:cNvCxnSpPr>
          <p:nvPr/>
        </p:nvCxnSpPr>
        <p:spPr>
          <a:xfrm>
            <a:off x="2867818" y="2489200"/>
            <a:ext cx="0" cy="3952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325018" y="2501900"/>
            <a:ext cx="228600" cy="3683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2944018" y="3556000"/>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17" name="Oval 16"/>
          <p:cNvSpPr/>
          <p:nvPr/>
        </p:nvSpPr>
        <p:spPr>
          <a:xfrm>
            <a:off x="3477418" y="3556000"/>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18" name="Straight Arrow Connector 17"/>
          <p:cNvCxnSpPr>
            <a:stCxn id="12" idx="2"/>
            <a:endCxn id="16" idx="0"/>
          </p:cNvCxnSpPr>
          <p:nvPr/>
        </p:nvCxnSpPr>
        <p:spPr>
          <a:xfrm flipH="1">
            <a:off x="3096418" y="3175000"/>
            <a:ext cx="2286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2" idx="2"/>
            <a:endCxn id="17" idx="0"/>
          </p:cNvCxnSpPr>
          <p:nvPr/>
        </p:nvCxnSpPr>
        <p:spPr>
          <a:xfrm>
            <a:off x="3325018" y="3175000"/>
            <a:ext cx="3048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30"/>
          <p:cNvSpPr txBox="1">
            <a:spLocks noChangeArrowheads="1"/>
          </p:cNvSpPr>
          <p:nvPr/>
        </p:nvSpPr>
        <p:spPr bwMode="auto">
          <a:xfrm>
            <a:off x="2358231" y="1879600"/>
            <a:ext cx="683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remote</a:t>
            </a:r>
          </a:p>
        </p:txBody>
      </p:sp>
      <p:sp>
        <p:nvSpPr>
          <p:cNvPr id="21" name="TextBox 34"/>
          <p:cNvSpPr txBox="1">
            <a:spLocks noChangeArrowheads="1"/>
          </p:cNvSpPr>
          <p:nvPr/>
        </p:nvSpPr>
        <p:spPr bwMode="auto">
          <a:xfrm>
            <a:off x="3477418" y="1879600"/>
            <a:ext cx="4074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usr</a:t>
            </a:r>
          </a:p>
        </p:txBody>
      </p:sp>
      <p:sp>
        <p:nvSpPr>
          <p:cNvPr id="22" name="TextBox 35"/>
          <p:cNvSpPr txBox="1">
            <a:spLocks noChangeArrowheads="1"/>
          </p:cNvSpPr>
          <p:nvPr/>
        </p:nvSpPr>
        <p:spPr bwMode="auto">
          <a:xfrm>
            <a:off x="3469481" y="2593975"/>
            <a:ext cx="4010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bin</a:t>
            </a:r>
          </a:p>
        </p:txBody>
      </p:sp>
      <p:sp>
        <p:nvSpPr>
          <p:cNvPr id="23" name="TextBox 36"/>
          <p:cNvSpPr txBox="1">
            <a:spLocks noChangeArrowheads="1"/>
          </p:cNvSpPr>
          <p:nvPr/>
        </p:nvSpPr>
        <p:spPr bwMode="auto">
          <a:xfrm>
            <a:off x="3442493" y="3227388"/>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mbox</a:t>
            </a:r>
          </a:p>
        </p:txBody>
      </p:sp>
      <p:sp>
        <p:nvSpPr>
          <p:cNvPr id="24" name="TextBox 37"/>
          <p:cNvSpPr txBox="1">
            <a:spLocks noChangeArrowheads="1"/>
          </p:cNvSpPr>
          <p:nvPr/>
        </p:nvSpPr>
        <p:spPr bwMode="auto">
          <a:xfrm>
            <a:off x="2726531" y="1219200"/>
            <a:ext cx="9749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2000">
                <a:latin typeface="+mj-lt"/>
              </a:rPr>
              <a:t>Client A</a:t>
            </a:r>
          </a:p>
        </p:txBody>
      </p:sp>
      <p:sp>
        <p:nvSpPr>
          <p:cNvPr id="25" name="Rectangle 24"/>
          <p:cNvSpPr/>
          <p:nvPr/>
        </p:nvSpPr>
        <p:spPr>
          <a:xfrm>
            <a:off x="5163343" y="1498600"/>
            <a:ext cx="1752600" cy="2667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latin typeface="+mj-lt"/>
            </a:endParaRPr>
          </a:p>
        </p:txBody>
      </p:sp>
      <p:sp>
        <p:nvSpPr>
          <p:cNvPr id="26" name="Rectangle 25"/>
          <p:cNvSpPr/>
          <p:nvPr/>
        </p:nvSpPr>
        <p:spPr>
          <a:xfrm>
            <a:off x="6001543" y="1651000"/>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27" name="Rectangle 26"/>
          <p:cNvSpPr/>
          <p:nvPr/>
        </p:nvSpPr>
        <p:spPr>
          <a:xfrm>
            <a:off x="5696743" y="2184400"/>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28" name="Straight Arrow Connector 27"/>
          <p:cNvCxnSpPr>
            <a:stCxn id="26" idx="2"/>
          </p:cNvCxnSpPr>
          <p:nvPr/>
        </p:nvCxnSpPr>
        <p:spPr>
          <a:xfrm flipH="1">
            <a:off x="5849143" y="1955800"/>
            <a:ext cx="304800" cy="228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6" idx="2"/>
          </p:cNvCxnSpPr>
          <p:nvPr/>
        </p:nvCxnSpPr>
        <p:spPr>
          <a:xfrm>
            <a:off x="6153943" y="1955800"/>
            <a:ext cx="381000" cy="228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5239543" y="2870200"/>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31" name="Oval 30"/>
          <p:cNvSpPr/>
          <p:nvPr/>
        </p:nvSpPr>
        <p:spPr>
          <a:xfrm>
            <a:off x="5696743" y="2884488"/>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32" name="Rectangle 31"/>
          <p:cNvSpPr/>
          <p:nvPr/>
        </p:nvSpPr>
        <p:spPr>
          <a:xfrm>
            <a:off x="6153943" y="2870200"/>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33" name="Straight Arrow Connector 32"/>
          <p:cNvCxnSpPr>
            <a:stCxn id="27" idx="2"/>
            <a:endCxn id="30" idx="0"/>
          </p:cNvCxnSpPr>
          <p:nvPr/>
        </p:nvCxnSpPr>
        <p:spPr>
          <a:xfrm flipH="1">
            <a:off x="5391943" y="2489200"/>
            <a:ext cx="4572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31" idx="0"/>
          </p:cNvCxnSpPr>
          <p:nvPr/>
        </p:nvCxnSpPr>
        <p:spPr>
          <a:xfrm>
            <a:off x="5849143" y="2489200"/>
            <a:ext cx="0" cy="3952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5849143" y="2489200"/>
            <a:ext cx="4572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5925343" y="3556000"/>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37" name="Oval 36"/>
          <p:cNvSpPr/>
          <p:nvPr/>
        </p:nvSpPr>
        <p:spPr>
          <a:xfrm>
            <a:off x="6458743" y="3556000"/>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38" name="Straight Arrow Connector 37"/>
          <p:cNvCxnSpPr>
            <a:stCxn id="32" idx="2"/>
            <a:endCxn id="36" idx="0"/>
          </p:cNvCxnSpPr>
          <p:nvPr/>
        </p:nvCxnSpPr>
        <p:spPr>
          <a:xfrm flipH="1">
            <a:off x="6077743" y="3175000"/>
            <a:ext cx="2286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32" idx="2"/>
            <a:endCxn id="37" idx="0"/>
          </p:cNvCxnSpPr>
          <p:nvPr/>
        </p:nvCxnSpPr>
        <p:spPr>
          <a:xfrm>
            <a:off x="6306343" y="3175000"/>
            <a:ext cx="3048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TextBox 54"/>
          <p:cNvSpPr txBox="1">
            <a:spLocks noChangeArrowheads="1"/>
          </p:cNvSpPr>
          <p:nvPr/>
        </p:nvSpPr>
        <p:spPr bwMode="auto">
          <a:xfrm>
            <a:off x="5339556" y="1879600"/>
            <a:ext cx="57259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users</a:t>
            </a:r>
          </a:p>
        </p:txBody>
      </p:sp>
      <p:sp>
        <p:nvSpPr>
          <p:cNvPr id="41" name="TextBox 55"/>
          <p:cNvSpPr txBox="1">
            <a:spLocks noChangeArrowheads="1"/>
          </p:cNvSpPr>
          <p:nvPr/>
        </p:nvSpPr>
        <p:spPr bwMode="auto">
          <a:xfrm>
            <a:off x="6458743" y="1879600"/>
            <a:ext cx="4074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usr</a:t>
            </a:r>
          </a:p>
        </p:txBody>
      </p:sp>
      <p:sp>
        <p:nvSpPr>
          <p:cNvPr id="42" name="TextBox 56"/>
          <p:cNvSpPr txBox="1">
            <a:spLocks noChangeArrowheads="1"/>
          </p:cNvSpPr>
          <p:nvPr/>
        </p:nvSpPr>
        <p:spPr bwMode="auto">
          <a:xfrm>
            <a:off x="6230143" y="2593975"/>
            <a:ext cx="57259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steen</a:t>
            </a:r>
          </a:p>
        </p:txBody>
      </p:sp>
      <p:sp>
        <p:nvSpPr>
          <p:cNvPr id="43" name="TextBox 57"/>
          <p:cNvSpPr txBox="1">
            <a:spLocks noChangeArrowheads="1"/>
          </p:cNvSpPr>
          <p:nvPr/>
        </p:nvSpPr>
        <p:spPr bwMode="auto">
          <a:xfrm>
            <a:off x="6422231" y="3227388"/>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mbox</a:t>
            </a:r>
          </a:p>
        </p:txBody>
      </p:sp>
      <p:sp>
        <p:nvSpPr>
          <p:cNvPr id="44" name="TextBox 58"/>
          <p:cNvSpPr txBox="1">
            <a:spLocks noChangeArrowheads="1"/>
          </p:cNvSpPr>
          <p:nvPr/>
        </p:nvSpPr>
        <p:spPr bwMode="auto">
          <a:xfrm>
            <a:off x="5707856" y="1219200"/>
            <a:ext cx="8242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2000">
                <a:latin typeface="+mj-lt"/>
              </a:rPr>
              <a:t>Server</a:t>
            </a:r>
          </a:p>
        </p:txBody>
      </p:sp>
      <p:sp>
        <p:nvSpPr>
          <p:cNvPr id="45" name="Rectangle 44"/>
          <p:cNvSpPr/>
          <p:nvPr/>
        </p:nvSpPr>
        <p:spPr>
          <a:xfrm>
            <a:off x="8211343" y="1497013"/>
            <a:ext cx="1752600" cy="2667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a:latin typeface="+mj-lt"/>
            </a:endParaRPr>
          </a:p>
        </p:txBody>
      </p:sp>
      <p:sp>
        <p:nvSpPr>
          <p:cNvPr id="46" name="Rectangle 45"/>
          <p:cNvSpPr/>
          <p:nvPr/>
        </p:nvSpPr>
        <p:spPr>
          <a:xfrm>
            <a:off x="9049543" y="1649413"/>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47" name="Rectangle 46"/>
          <p:cNvSpPr/>
          <p:nvPr/>
        </p:nvSpPr>
        <p:spPr>
          <a:xfrm>
            <a:off x="8744743" y="2182813"/>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48" name="Straight Arrow Connector 47"/>
          <p:cNvCxnSpPr>
            <a:stCxn id="46" idx="2"/>
          </p:cNvCxnSpPr>
          <p:nvPr/>
        </p:nvCxnSpPr>
        <p:spPr>
          <a:xfrm flipH="1">
            <a:off x="8897143" y="1954213"/>
            <a:ext cx="304800" cy="228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46" idx="2"/>
          </p:cNvCxnSpPr>
          <p:nvPr/>
        </p:nvCxnSpPr>
        <p:spPr>
          <a:xfrm>
            <a:off x="9201943" y="1954213"/>
            <a:ext cx="381000" cy="228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8287543" y="2868613"/>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51" name="Oval 50"/>
          <p:cNvSpPr/>
          <p:nvPr/>
        </p:nvSpPr>
        <p:spPr>
          <a:xfrm>
            <a:off x="8744743" y="2882900"/>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52" name="Rectangle 51"/>
          <p:cNvSpPr/>
          <p:nvPr/>
        </p:nvSpPr>
        <p:spPr>
          <a:xfrm>
            <a:off x="9201943" y="2868613"/>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53" name="Straight Arrow Connector 52"/>
          <p:cNvCxnSpPr>
            <a:stCxn id="47" idx="2"/>
            <a:endCxn id="50" idx="0"/>
          </p:cNvCxnSpPr>
          <p:nvPr/>
        </p:nvCxnSpPr>
        <p:spPr>
          <a:xfrm flipH="1">
            <a:off x="8439943" y="2487613"/>
            <a:ext cx="4572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endCxn id="51" idx="0"/>
          </p:cNvCxnSpPr>
          <p:nvPr/>
        </p:nvCxnSpPr>
        <p:spPr>
          <a:xfrm>
            <a:off x="8897143" y="2487613"/>
            <a:ext cx="0" cy="3952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87" idx="2"/>
          </p:cNvCxnSpPr>
          <p:nvPr/>
        </p:nvCxnSpPr>
        <p:spPr>
          <a:xfrm flipH="1">
            <a:off x="9354343" y="2487613"/>
            <a:ext cx="2032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8973343" y="3554413"/>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57" name="Oval 56"/>
          <p:cNvSpPr/>
          <p:nvPr/>
        </p:nvSpPr>
        <p:spPr>
          <a:xfrm>
            <a:off x="9506743" y="3554413"/>
            <a:ext cx="304800" cy="304800"/>
          </a:xfrm>
          <a:prstGeom prst="ellipse">
            <a:avLst/>
          </a:prstGeom>
          <a:solidFill>
            <a:srgbClr val="0E3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cxnSp>
        <p:nvCxnSpPr>
          <p:cNvPr id="58" name="Straight Arrow Connector 57"/>
          <p:cNvCxnSpPr>
            <a:stCxn id="52" idx="2"/>
            <a:endCxn id="56" idx="0"/>
          </p:cNvCxnSpPr>
          <p:nvPr/>
        </p:nvCxnSpPr>
        <p:spPr>
          <a:xfrm flipH="1">
            <a:off x="9125743" y="3173413"/>
            <a:ext cx="2286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52" idx="2"/>
            <a:endCxn id="57" idx="0"/>
          </p:cNvCxnSpPr>
          <p:nvPr/>
        </p:nvCxnSpPr>
        <p:spPr>
          <a:xfrm>
            <a:off x="9354343" y="3173413"/>
            <a:ext cx="3048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0" name="TextBox 75"/>
          <p:cNvSpPr txBox="1">
            <a:spLocks noChangeArrowheads="1"/>
          </p:cNvSpPr>
          <p:nvPr/>
        </p:nvSpPr>
        <p:spPr bwMode="auto">
          <a:xfrm>
            <a:off x="8387556" y="1878013"/>
            <a:ext cx="5261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work</a:t>
            </a:r>
          </a:p>
        </p:txBody>
      </p:sp>
      <p:sp>
        <p:nvSpPr>
          <p:cNvPr id="61" name="TextBox 76"/>
          <p:cNvSpPr txBox="1">
            <a:spLocks noChangeArrowheads="1"/>
          </p:cNvSpPr>
          <p:nvPr/>
        </p:nvSpPr>
        <p:spPr bwMode="auto">
          <a:xfrm>
            <a:off x="9506743" y="1878013"/>
            <a:ext cx="4074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usr</a:t>
            </a:r>
          </a:p>
        </p:txBody>
      </p:sp>
      <p:sp>
        <p:nvSpPr>
          <p:cNvPr id="62" name="TextBox 77"/>
          <p:cNvSpPr txBox="1">
            <a:spLocks noChangeArrowheads="1"/>
          </p:cNvSpPr>
          <p:nvPr/>
        </p:nvSpPr>
        <p:spPr bwMode="auto">
          <a:xfrm>
            <a:off x="9403556" y="2590800"/>
            <a:ext cx="4010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bin</a:t>
            </a:r>
          </a:p>
        </p:txBody>
      </p:sp>
      <p:sp>
        <p:nvSpPr>
          <p:cNvPr id="63" name="TextBox 78"/>
          <p:cNvSpPr txBox="1">
            <a:spLocks noChangeArrowheads="1"/>
          </p:cNvSpPr>
          <p:nvPr/>
        </p:nvSpPr>
        <p:spPr bwMode="auto">
          <a:xfrm>
            <a:off x="9470231" y="3225800"/>
            <a:ext cx="575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400">
                <a:latin typeface="+mj-lt"/>
              </a:rPr>
              <a:t>mbox</a:t>
            </a:r>
          </a:p>
        </p:txBody>
      </p:sp>
      <p:sp>
        <p:nvSpPr>
          <p:cNvPr id="64" name="TextBox 79"/>
          <p:cNvSpPr txBox="1">
            <a:spLocks noChangeArrowheads="1"/>
          </p:cNvSpPr>
          <p:nvPr/>
        </p:nvSpPr>
        <p:spPr bwMode="auto">
          <a:xfrm>
            <a:off x="8755856" y="1217613"/>
            <a:ext cx="9669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2000">
                <a:latin typeface="+mj-lt"/>
              </a:rPr>
              <a:t>Client B</a:t>
            </a:r>
          </a:p>
        </p:txBody>
      </p:sp>
      <p:cxnSp>
        <p:nvCxnSpPr>
          <p:cNvPr id="65" name="Straight Connector 64"/>
          <p:cNvCxnSpPr>
            <a:stCxn id="5" idx="2"/>
          </p:cNvCxnSpPr>
          <p:nvPr/>
        </p:nvCxnSpPr>
        <p:spPr>
          <a:xfrm>
            <a:off x="3058318" y="4165600"/>
            <a:ext cx="0" cy="609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2563018" y="4775200"/>
            <a:ext cx="69437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a:stCxn id="45" idx="2"/>
          </p:cNvCxnSpPr>
          <p:nvPr/>
        </p:nvCxnSpPr>
        <p:spPr>
          <a:xfrm>
            <a:off x="9087643" y="4164013"/>
            <a:ext cx="0" cy="6111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stCxn id="25" idx="2"/>
          </p:cNvCxnSpPr>
          <p:nvPr/>
        </p:nvCxnSpPr>
        <p:spPr>
          <a:xfrm>
            <a:off x="6039643" y="4165600"/>
            <a:ext cx="0" cy="609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H="1">
            <a:off x="3866356" y="3554413"/>
            <a:ext cx="1947862" cy="0"/>
          </a:xfrm>
          <a:prstGeom prst="straightConnector1">
            <a:avLst/>
          </a:prstGeom>
          <a:ln w="38100">
            <a:solidFill>
              <a:srgbClr val="7030A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6846093" y="3556000"/>
            <a:ext cx="2049463" cy="0"/>
          </a:xfrm>
          <a:prstGeom prst="straightConnector1">
            <a:avLst/>
          </a:prstGeom>
          <a:ln w="38100">
            <a:solidFill>
              <a:srgbClr val="7030A0"/>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71" name="TextBox 114"/>
          <p:cNvSpPr txBox="1">
            <a:spLocks noChangeArrowheads="1"/>
          </p:cNvSpPr>
          <p:nvPr/>
        </p:nvSpPr>
        <p:spPr bwMode="auto">
          <a:xfrm>
            <a:off x="3783266" y="4179140"/>
            <a:ext cx="199926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dirty="0">
                <a:latin typeface="+mj-lt"/>
              </a:rPr>
              <a:t>Exported directory</a:t>
            </a:r>
          </a:p>
          <a:p>
            <a:pPr eaLnBrk="1" hangingPunct="1"/>
            <a:r>
              <a:rPr lang="en-US" altLang="en-US" i="1" dirty="0">
                <a:latin typeface="+mj-lt"/>
              </a:rPr>
              <a:t>mounted</a:t>
            </a:r>
            <a:r>
              <a:rPr lang="en-US" altLang="en-US" dirty="0">
                <a:latin typeface="+mj-lt"/>
              </a:rPr>
              <a:t> by Client A</a:t>
            </a:r>
          </a:p>
        </p:txBody>
      </p:sp>
      <p:sp>
        <p:nvSpPr>
          <p:cNvPr id="72" name="TextBox 115"/>
          <p:cNvSpPr txBox="1">
            <a:spLocks noChangeArrowheads="1"/>
          </p:cNvSpPr>
          <p:nvPr/>
        </p:nvSpPr>
        <p:spPr bwMode="auto">
          <a:xfrm>
            <a:off x="6763003" y="4174378"/>
            <a:ext cx="199285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dirty="0">
                <a:latin typeface="+mj-lt"/>
              </a:rPr>
              <a:t>Exported directory</a:t>
            </a:r>
          </a:p>
          <a:p>
            <a:pPr eaLnBrk="1" hangingPunct="1"/>
            <a:r>
              <a:rPr lang="en-US" altLang="en-US" i="1" dirty="0">
                <a:latin typeface="+mj-lt"/>
              </a:rPr>
              <a:t>mounted</a:t>
            </a:r>
            <a:r>
              <a:rPr lang="en-US" altLang="en-US" dirty="0">
                <a:latin typeface="+mj-lt"/>
              </a:rPr>
              <a:t> by Client B</a:t>
            </a:r>
          </a:p>
        </p:txBody>
      </p:sp>
      <p:sp>
        <p:nvSpPr>
          <p:cNvPr id="73" name="TextBox 124"/>
          <p:cNvSpPr txBox="1">
            <a:spLocks noChangeArrowheads="1"/>
          </p:cNvSpPr>
          <p:nvPr/>
        </p:nvSpPr>
        <p:spPr bwMode="auto">
          <a:xfrm>
            <a:off x="847165" y="5078413"/>
            <a:ext cx="317112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eaLnBrk="1" hangingPunct="1"/>
            <a:r>
              <a:rPr lang="en-US" altLang="en-US" sz="2000" dirty="0">
                <a:latin typeface="+mj-lt"/>
              </a:rPr>
              <a:t>The file named </a:t>
            </a:r>
            <a:r>
              <a:rPr lang="en-US" altLang="en-US" sz="2000" i="1" dirty="0">
                <a:latin typeface="+mj-lt"/>
              </a:rPr>
              <a:t>/</a:t>
            </a:r>
            <a:r>
              <a:rPr lang="en-US" altLang="en-US" sz="2000" i="1" dirty="0" err="1">
                <a:latin typeface="+mj-lt"/>
              </a:rPr>
              <a:t>usr</a:t>
            </a:r>
            <a:r>
              <a:rPr lang="en-US" altLang="en-US" sz="2000" i="1" dirty="0">
                <a:latin typeface="+mj-lt"/>
              </a:rPr>
              <a:t>/bin/</a:t>
            </a:r>
            <a:r>
              <a:rPr lang="en-US" altLang="en-US" sz="2000" i="1" dirty="0" err="1">
                <a:latin typeface="+mj-lt"/>
              </a:rPr>
              <a:t>mbox</a:t>
            </a:r>
            <a:r>
              <a:rPr lang="en-US" altLang="en-US" sz="2000" dirty="0">
                <a:latin typeface="+mj-lt"/>
              </a:rPr>
              <a:t> </a:t>
            </a:r>
          </a:p>
          <a:p>
            <a:pPr algn="ctr" eaLnBrk="1" hangingPunct="1"/>
            <a:r>
              <a:rPr lang="en-US" altLang="en-US" sz="2000" dirty="0">
                <a:latin typeface="+mj-lt"/>
              </a:rPr>
              <a:t>at Client A</a:t>
            </a:r>
          </a:p>
        </p:txBody>
      </p:sp>
      <p:sp>
        <p:nvSpPr>
          <p:cNvPr id="74" name="TextBox 125"/>
          <p:cNvSpPr txBox="1">
            <a:spLocks noChangeArrowheads="1"/>
          </p:cNvSpPr>
          <p:nvPr/>
        </p:nvSpPr>
        <p:spPr bwMode="auto">
          <a:xfrm>
            <a:off x="8068234" y="5078413"/>
            <a:ext cx="361726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eaLnBrk="1" hangingPunct="1"/>
            <a:r>
              <a:rPr lang="en-US" altLang="en-US" sz="2000" dirty="0">
                <a:latin typeface="+mj-lt"/>
              </a:rPr>
              <a:t>The file named </a:t>
            </a:r>
            <a:r>
              <a:rPr lang="en-US" altLang="en-US" sz="2000" i="1" dirty="0">
                <a:latin typeface="+mj-lt"/>
              </a:rPr>
              <a:t>/</a:t>
            </a:r>
            <a:r>
              <a:rPr lang="en-US" altLang="en-US" sz="2000" i="1" dirty="0" err="1">
                <a:latin typeface="+mj-lt"/>
              </a:rPr>
              <a:t>usr</a:t>
            </a:r>
            <a:r>
              <a:rPr lang="en-US" altLang="en-US" sz="2000" i="1" dirty="0">
                <a:latin typeface="+mj-lt"/>
              </a:rPr>
              <a:t>/bin/</a:t>
            </a:r>
            <a:r>
              <a:rPr lang="en-US" altLang="en-US" sz="2000" i="1" dirty="0" err="1">
                <a:latin typeface="+mj-lt"/>
              </a:rPr>
              <a:t>mbox</a:t>
            </a:r>
            <a:r>
              <a:rPr lang="en-US" altLang="en-US" sz="2000" dirty="0">
                <a:latin typeface="+mj-lt"/>
              </a:rPr>
              <a:t> </a:t>
            </a:r>
          </a:p>
          <a:p>
            <a:pPr algn="ctr" eaLnBrk="1" hangingPunct="1"/>
            <a:r>
              <a:rPr lang="en-US" altLang="en-US" sz="2000" dirty="0">
                <a:latin typeface="+mj-lt"/>
              </a:rPr>
              <a:t>at Client B</a:t>
            </a:r>
          </a:p>
        </p:txBody>
      </p:sp>
      <p:sp>
        <p:nvSpPr>
          <p:cNvPr id="75" name="Freeform 74"/>
          <p:cNvSpPr/>
          <p:nvPr/>
        </p:nvSpPr>
        <p:spPr>
          <a:xfrm>
            <a:off x="5803106" y="2463800"/>
            <a:ext cx="1174750" cy="1647825"/>
          </a:xfrm>
          <a:custGeom>
            <a:avLst/>
            <a:gdLst>
              <a:gd name="connsiteX0" fmla="*/ 595550 w 1174869"/>
              <a:gd name="connsiteY0" fmla="*/ 127094 h 1648585"/>
              <a:gd name="connsiteX1" fmla="*/ 405050 w 1174869"/>
              <a:gd name="connsiteY1" fmla="*/ 127094 h 1648585"/>
              <a:gd name="connsiteX2" fmla="*/ 24050 w 1174869"/>
              <a:gd name="connsiteY2" fmla="*/ 1447894 h 1648585"/>
              <a:gd name="connsiteX3" fmla="*/ 1167050 w 1174869"/>
              <a:gd name="connsiteY3" fmla="*/ 1498694 h 1648585"/>
              <a:gd name="connsiteX4" fmla="*/ 557450 w 1174869"/>
              <a:gd name="connsiteY4" fmla="*/ 50894 h 1648585"/>
              <a:gd name="connsiteX5" fmla="*/ 557450 w 1174869"/>
              <a:gd name="connsiteY5" fmla="*/ 50894 h 164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4869" h="1648585">
                <a:moveTo>
                  <a:pt x="595550" y="127094"/>
                </a:moveTo>
                <a:cubicBezTo>
                  <a:pt x="547925" y="17027"/>
                  <a:pt x="500300" y="-93039"/>
                  <a:pt x="405050" y="127094"/>
                </a:cubicBezTo>
                <a:cubicBezTo>
                  <a:pt x="309800" y="347227"/>
                  <a:pt x="-102950" y="1219294"/>
                  <a:pt x="24050" y="1447894"/>
                </a:cubicBezTo>
                <a:cubicBezTo>
                  <a:pt x="151050" y="1676494"/>
                  <a:pt x="1078150" y="1731527"/>
                  <a:pt x="1167050" y="1498694"/>
                </a:cubicBezTo>
                <a:cubicBezTo>
                  <a:pt x="1255950" y="1265861"/>
                  <a:pt x="557450" y="50894"/>
                  <a:pt x="557450" y="50894"/>
                </a:cubicBezTo>
                <a:lnTo>
                  <a:pt x="557450" y="50894"/>
                </a:lnTo>
              </a:path>
            </a:pathLst>
          </a:custGeom>
          <a:noFill/>
          <a:ln w="38100">
            <a:solidFill>
              <a:srgbClr val="7030A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76" name="Freeform 75"/>
          <p:cNvSpPr/>
          <p:nvPr/>
        </p:nvSpPr>
        <p:spPr>
          <a:xfrm>
            <a:off x="2834481" y="2541588"/>
            <a:ext cx="1174750" cy="1647825"/>
          </a:xfrm>
          <a:custGeom>
            <a:avLst/>
            <a:gdLst>
              <a:gd name="connsiteX0" fmla="*/ 595550 w 1174869"/>
              <a:gd name="connsiteY0" fmla="*/ 127094 h 1648585"/>
              <a:gd name="connsiteX1" fmla="*/ 405050 w 1174869"/>
              <a:gd name="connsiteY1" fmla="*/ 127094 h 1648585"/>
              <a:gd name="connsiteX2" fmla="*/ 24050 w 1174869"/>
              <a:gd name="connsiteY2" fmla="*/ 1447894 h 1648585"/>
              <a:gd name="connsiteX3" fmla="*/ 1167050 w 1174869"/>
              <a:gd name="connsiteY3" fmla="*/ 1498694 h 1648585"/>
              <a:gd name="connsiteX4" fmla="*/ 557450 w 1174869"/>
              <a:gd name="connsiteY4" fmla="*/ 50894 h 1648585"/>
              <a:gd name="connsiteX5" fmla="*/ 557450 w 1174869"/>
              <a:gd name="connsiteY5" fmla="*/ 50894 h 164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4869" h="1648585">
                <a:moveTo>
                  <a:pt x="595550" y="127094"/>
                </a:moveTo>
                <a:cubicBezTo>
                  <a:pt x="547925" y="17027"/>
                  <a:pt x="500300" y="-93039"/>
                  <a:pt x="405050" y="127094"/>
                </a:cubicBezTo>
                <a:cubicBezTo>
                  <a:pt x="309800" y="347227"/>
                  <a:pt x="-102950" y="1219294"/>
                  <a:pt x="24050" y="1447894"/>
                </a:cubicBezTo>
                <a:cubicBezTo>
                  <a:pt x="151050" y="1676494"/>
                  <a:pt x="1078150" y="1731527"/>
                  <a:pt x="1167050" y="1498694"/>
                </a:cubicBezTo>
                <a:cubicBezTo>
                  <a:pt x="1255950" y="1265861"/>
                  <a:pt x="557450" y="50894"/>
                  <a:pt x="557450" y="50894"/>
                </a:cubicBezTo>
                <a:lnTo>
                  <a:pt x="557450" y="50894"/>
                </a:lnTo>
              </a:path>
            </a:pathLst>
          </a:custGeom>
          <a:noFill/>
          <a:ln w="38100">
            <a:solidFill>
              <a:srgbClr val="7030A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77" name="Freeform 76"/>
          <p:cNvSpPr/>
          <p:nvPr/>
        </p:nvSpPr>
        <p:spPr>
          <a:xfrm>
            <a:off x="8855868" y="2463800"/>
            <a:ext cx="1174750" cy="1647825"/>
          </a:xfrm>
          <a:custGeom>
            <a:avLst/>
            <a:gdLst>
              <a:gd name="connsiteX0" fmla="*/ 595550 w 1174869"/>
              <a:gd name="connsiteY0" fmla="*/ 127094 h 1648585"/>
              <a:gd name="connsiteX1" fmla="*/ 405050 w 1174869"/>
              <a:gd name="connsiteY1" fmla="*/ 127094 h 1648585"/>
              <a:gd name="connsiteX2" fmla="*/ 24050 w 1174869"/>
              <a:gd name="connsiteY2" fmla="*/ 1447894 h 1648585"/>
              <a:gd name="connsiteX3" fmla="*/ 1167050 w 1174869"/>
              <a:gd name="connsiteY3" fmla="*/ 1498694 h 1648585"/>
              <a:gd name="connsiteX4" fmla="*/ 557450 w 1174869"/>
              <a:gd name="connsiteY4" fmla="*/ 50894 h 1648585"/>
              <a:gd name="connsiteX5" fmla="*/ 557450 w 1174869"/>
              <a:gd name="connsiteY5" fmla="*/ 50894 h 164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4869" h="1648585">
                <a:moveTo>
                  <a:pt x="595550" y="127094"/>
                </a:moveTo>
                <a:cubicBezTo>
                  <a:pt x="547925" y="17027"/>
                  <a:pt x="500300" y="-93039"/>
                  <a:pt x="405050" y="127094"/>
                </a:cubicBezTo>
                <a:cubicBezTo>
                  <a:pt x="309800" y="347227"/>
                  <a:pt x="-102950" y="1219294"/>
                  <a:pt x="24050" y="1447894"/>
                </a:cubicBezTo>
                <a:cubicBezTo>
                  <a:pt x="151050" y="1676494"/>
                  <a:pt x="1078150" y="1731527"/>
                  <a:pt x="1167050" y="1498694"/>
                </a:cubicBezTo>
                <a:cubicBezTo>
                  <a:pt x="1255950" y="1265861"/>
                  <a:pt x="557450" y="50894"/>
                  <a:pt x="557450" y="50894"/>
                </a:cubicBezTo>
                <a:lnTo>
                  <a:pt x="557450" y="50894"/>
                </a:lnTo>
              </a:path>
            </a:pathLst>
          </a:custGeom>
          <a:noFill/>
          <a:ln w="38100">
            <a:solidFill>
              <a:srgbClr val="7030A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80" name="Bevel 79"/>
          <p:cNvSpPr/>
          <p:nvPr/>
        </p:nvSpPr>
        <p:spPr>
          <a:xfrm>
            <a:off x="4623593" y="4976813"/>
            <a:ext cx="3213100" cy="663575"/>
          </a:xfrm>
          <a:prstGeom prst="bevel">
            <a:avLst/>
          </a:prstGeom>
          <a:solidFill>
            <a:srgbClr val="0E3755"/>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r>
              <a:rPr lang="en-US" sz="2400" dirty="0">
                <a:latin typeface="+mj-lt"/>
              </a:rPr>
              <a:t>Sharing files resolved</a:t>
            </a:r>
          </a:p>
        </p:txBody>
      </p:sp>
      <p:cxnSp>
        <p:nvCxnSpPr>
          <p:cNvPr id="81" name="Straight Arrow Connector 80"/>
          <p:cNvCxnSpPr/>
          <p:nvPr/>
        </p:nvCxnSpPr>
        <p:spPr>
          <a:xfrm>
            <a:off x="3934618" y="2541588"/>
            <a:ext cx="1228725"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2" name="TextBox 95"/>
          <p:cNvSpPr txBox="1">
            <a:spLocks noChangeArrowheads="1"/>
          </p:cNvSpPr>
          <p:nvPr/>
        </p:nvSpPr>
        <p:spPr bwMode="auto">
          <a:xfrm>
            <a:off x="3972718" y="1979613"/>
            <a:ext cx="124104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600" dirty="0">
                <a:latin typeface="+mj-lt"/>
              </a:rPr>
              <a:t>Mount </a:t>
            </a:r>
            <a:r>
              <a:rPr lang="en-US" altLang="en-US" sz="1600" dirty="0" err="1">
                <a:latin typeface="+mj-lt"/>
              </a:rPr>
              <a:t>steen</a:t>
            </a:r>
            <a:r>
              <a:rPr lang="en-US" altLang="en-US" sz="1600" dirty="0">
                <a:latin typeface="+mj-lt"/>
              </a:rPr>
              <a:t> </a:t>
            </a:r>
          </a:p>
          <a:p>
            <a:pPr eaLnBrk="1" hangingPunct="1"/>
            <a:r>
              <a:rPr lang="en-US" altLang="en-US" sz="1600" dirty="0">
                <a:latin typeface="+mj-lt"/>
              </a:rPr>
              <a:t>subdirectory</a:t>
            </a:r>
          </a:p>
        </p:txBody>
      </p:sp>
      <p:cxnSp>
        <p:nvCxnSpPr>
          <p:cNvPr id="83" name="Straight Arrow Connector 82"/>
          <p:cNvCxnSpPr/>
          <p:nvPr/>
        </p:nvCxnSpPr>
        <p:spPr>
          <a:xfrm flipH="1">
            <a:off x="6915943" y="2565400"/>
            <a:ext cx="12954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4" name="TextBox 98"/>
          <p:cNvSpPr txBox="1">
            <a:spLocks noChangeArrowheads="1"/>
          </p:cNvSpPr>
          <p:nvPr/>
        </p:nvSpPr>
        <p:spPr bwMode="auto">
          <a:xfrm>
            <a:off x="7027068" y="2063750"/>
            <a:ext cx="124104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sz="1600">
                <a:latin typeface="+mj-lt"/>
              </a:rPr>
              <a:t>Mount steen </a:t>
            </a:r>
          </a:p>
          <a:p>
            <a:pPr eaLnBrk="1" hangingPunct="1"/>
            <a:r>
              <a:rPr lang="en-US" altLang="en-US" sz="1600">
                <a:latin typeface="+mj-lt"/>
              </a:rPr>
              <a:t>subdirectory</a:t>
            </a:r>
          </a:p>
        </p:txBody>
      </p:sp>
      <p:sp>
        <p:nvSpPr>
          <p:cNvPr id="85" name="Rectangle 84"/>
          <p:cNvSpPr/>
          <p:nvPr/>
        </p:nvSpPr>
        <p:spPr>
          <a:xfrm>
            <a:off x="3401218" y="2195513"/>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86" name="Rectangle 85"/>
          <p:cNvSpPr/>
          <p:nvPr/>
        </p:nvSpPr>
        <p:spPr>
          <a:xfrm>
            <a:off x="6374606" y="2197100"/>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
        <p:nvSpPr>
          <p:cNvPr id="87" name="Rectangle 86"/>
          <p:cNvSpPr/>
          <p:nvPr/>
        </p:nvSpPr>
        <p:spPr>
          <a:xfrm>
            <a:off x="9405143" y="2182813"/>
            <a:ext cx="3048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000">
              <a:latin typeface="+mj-lt"/>
            </a:endParaRPr>
          </a:p>
        </p:txBody>
      </p:sp>
    </p:spTree>
    <p:extLst>
      <p:ext uri="{BB962C8B-B14F-4D97-AF65-F5344CB8AC3E}">
        <p14:creationId xmlns:p14="http://schemas.microsoft.com/office/powerpoint/2010/main" val="357935944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Synchronization In DFSs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457200" indent="-457200">
              <a:buFont typeface="+mj-lt"/>
              <a:buAutoNum type="arabicPeriod"/>
            </a:pPr>
            <a:r>
              <a:rPr lang="en-US" dirty="0"/>
              <a:t>File Sharing Semantics</a:t>
            </a:r>
          </a:p>
          <a:p>
            <a:pPr marL="457200" indent="-457200">
              <a:buFont typeface="+mj-lt"/>
              <a:buAutoNum type="arabicPeriod"/>
            </a:pPr>
            <a:r>
              <a:rPr lang="en-US" dirty="0"/>
              <a:t>Lock Management</a:t>
            </a:r>
          </a:p>
        </p:txBody>
      </p:sp>
    </p:spTree>
    <p:extLst>
      <p:ext uri="{BB962C8B-B14F-4D97-AF65-F5344CB8AC3E}">
        <p14:creationId xmlns:p14="http://schemas.microsoft.com/office/powerpoint/2010/main" val="214660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File Sharing Semantics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A shared file may be simultaneously accessed by multiple users. </a:t>
            </a:r>
          </a:p>
          <a:p>
            <a:r>
              <a:rPr lang="en-US" dirty="0"/>
              <a:t>In such a situation, an important design issue for any file system is to clearly define when modifications of file data made by a user are observable by other users. </a:t>
            </a:r>
          </a:p>
        </p:txBody>
      </p:sp>
      <p:graphicFrame>
        <p:nvGraphicFramePr>
          <p:cNvPr id="4" name="Diagram 3"/>
          <p:cNvGraphicFramePr/>
          <p:nvPr>
            <p:extLst>
              <p:ext uri="{D42A27DB-BD31-4B8C-83A1-F6EECF244321}">
                <p14:modId xmlns:p14="http://schemas.microsoft.com/office/powerpoint/2010/main" val="2884484337"/>
              </p:ext>
            </p:extLst>
          </p:nvPr>
        </p:nvGraphicFramePr>
        <p:xfrm>
          <a:off x="1506071" y="2756647"/>
          <a:ext cx="8305800" cy="266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867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90369306-58DE-417A-BF19-970FA24BF4FE}"/>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F42348BA-F8B8-4FC4-B696-99B94BEFB337}"/>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graphicEl>
                                              <a:dgm id="{8A81B1A0-764E-4D3D-9E64-2B1635CCD529}"/>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graphicEl>
                                              <a:dgm id="{AC77CB1F-C8B6-44D1-83D2-25710E35560A}"/>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2F3B358F-288E-4DED-B01A-C2B1E6EE8FED}"/>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graphicEl>
                                              <a:dgm id="{00733C02-569B-4D71-AC14-ABDCF2C137A2}"/>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graphicEl>
                                              <a:dgm id="{CE8542C9-B645-4126-B5A9-58934009DB0A}"/>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graphicEl>
                                              <a:dgm id="{6BDC9154-73E0-4D0F-BE24-AAED6E3205FB}"/>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graphicEl>
                                              <a:dgm id="{37B78DC1-C49E-432A-B323-EBD2BF1B6B7A}"/>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AtOnce"/>
        </p:bldSub>
      </p:bldGraphic>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File Sharing Semantics - Unix File Semantics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Every read operation on a file sees the effects of all previous write operations performed on that file.</a:t>
            </a:r>
          </a:p>
        </p:txBody>
      </p:sp>
      <p:grpSp>
        <p:nvGrpSpPr>
          <p:cNvPr id="5" name="Group 25"/>
          <p:cNvGrpSpPr>
            <a:grpSpLocks/>
          </p:cNvGrpSpPr>
          <p:nvPr/>
        </p:nvGrpSpPr>
        <p:grpSpPr bwMode="auto">
          <a:xfrm>
            <a:off x="1517556" y="4105745"/>
            <a:ext cx="8147050" cy="814388"/>
            <a:chOff x="688" y="2586"/>
            <a:chExt cx="3941" cy="513"/>
          </a:xfrm>
        </p:grpSpPr>
        <p:sp>
          <p:nvSpPr>
            <p:cNvPr id="6" name="Line 6"/>
            <p:cNvSpPr>
              <a:spLocks noChangeShapeType="1"/>
            </p:cNvSpPr>
            <p:nvPr/>
          </p:nvSpPr>
          <p:spPr bwMode="auto">
            <a:xfrm flipV="1">
              <a:off x="801" y="2746"/>
              <a:ext cx="3828" cy="11"/>
            </a:xfrm>
            <a:prstGeom prst="line">
              <a:avLst/>
            </a:prstGeom>
            <a:noFill/>
            <a:ln w="254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7" name="Group 9"/>
            <p:cNvGrpSpPr>
              <a:grpSpLocks/>
            </p:cNvGrpSpPr>
            <p:nvPr/>
          </p:nvGrpSpPr>
          <p:grpSpPr bwMode="auto">
            <a:xfrm>
              <a:off x="688" y="2598"/>
              <a:ext cx="177" cy="496"/>
              <a:chOff x="620" y="2586"/>
              <a:chExt cx="177" cy="496"/>
            </a:xfrm>
          </p:grpSpPr>
          <p:sp>
            <p:nvSpPr>
              <p:cNvPr id="20" name="Line 7"/>
              <p:cNvSpPr>
                <a:spLocks noChangeShapeType="1"/>
              </p:cNvSpPr>
              <p:nvPr/>
            </p:nvSpPr>
            <p:spPr bwMode="auto">
              <a:xfrm>
                <a:off x="734" y="2586"/>
                <a:ext cx="0" cy="305"/>
              </a:xfrm>
              <a:prstGeom prst="line">
                <a:avLst/>
              </a:prstGeom>
              <a:noFill/>
              <a:ln w="254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 name="Text Box 8"/>
              <p:cNvSpPr txBox="1">
                <a:spLocks noChangeArrowheads="1"/>
              </p:cNvSpPr>
              <p:nvPr/>
            </p:nvSpPr>
            <p:spPr bwMode="auto">
              <a:xfrm>
                <a:off x="620" y="2870"/>
                <a:ext cx="17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a:t>t1</a:t>
                </a:r>
              </a:p>
            </p:txBody>
          </p:sp>
        </p:grpSp>
        <p:grpSp>
          <p:nvGrpSpPr>
            <p:cNvPr id="8" name="Group 10"/>
            <p:cNvGrpSpPr>
              <a:grpSpLocks/>
            </p:cNvGrpSpPr>
            <p:nvPr/>
          </p:nvGrpSpPr>
          <p:grpSpPr bwMode="auto">
            <a:xfrm>
              <a:off x="1383" y="2603"/>
              <a:ext cx="177" cy="496"/>
              <a:chOff x="620" y="2586"/>
              <a:chExt cx="177" cy="496"/>
            </a:xfrm>
          </p:grpSpPr>
          <p:sp>
            <p:nvSpPr>
              <p:cNvPr id="18" name="Line 11"/>
              <p:cNvSpPr>
                <a:spLocks noChangeShapeType="1"/>
              </p:cNvSpPr>
              <p:nvPr/>
            </p:nvSpPr>
            <p:spPr bwMode="auto">
              <a:xfrm>
                <a:off x="734" y="2586"/>
                <a:ext cx="0" cy="305"/>
              </a:xfrm>
              <a:prstGeom prst="line">
                <a:avLst/>
              </a:prstGeom>
              <a:noFill/>
              <a:ln w="254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 name="Text Box 12"/>
              <p:cNvSpPr txBox="1">
                <a:spLocks noChangeArrowheads="1"/>
              </p:cNvSpPr>
              <p:nvPr/>
            </p:nvSpPr>
            <p:spPr bwMode="auto">
              <a:xfrm>
                <a:off x="620" y="2870"/>
                <a:ext cx="17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a:t>t2</a:t>
                </a:r>
              </a:p>
            </p:txBody>
          </p:sp>
        </p:grpSp>
        <p:grpSp>
          <p:nvGrpSpPr>
            <p:cNvPr id="9" name="Group 13"/>
            <p:cNvGrpSpPr>
              <a:grpSpLocks/>
            </p:cNvGrpSpPr>
            <p:nvPr/>
          </p:nvGrpSpPr>
          <p:grpSpPr bwMode="auto">
            <a:xfrm>
              <a:off x="2134" y="2597"/>
              <a:ext cx="177" cy="496"/>
              <a:chOff x="620" y="2586"/>
              <a:chExt cx="177" cy="496"/>
            </a:xfrm>
          </p:grpSpPr>
          <p:sp>
            <p:nvSpPr>
              <p:cNvPr id="16" name="Line 14"/>
              <p:cNvSpPr>
                <a:spLocks noChangeShapeType="1"/>
              </p:cNvSpPr>
              <p:nvPr/>
            </p:nvSpPr>
            <p:spPr bwMode="auto">
              <a:xfrm>
                <a:off x="734" y="2586"/>
                <a:ext cx="0" cy="305"/>
              </a:xfrm>
              <a:prstGeom prst="line">
                <a:avLst/>
              </a:prstGeom>
              <a:noFill/>
              <a:ln w="254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7" name="Text Box 15"/>
              <p:cNvSpPr txBox="1">
                <a:spLocks noChangeArrowheads="1"/>
              </p:cNvSpPr>
              <p:nvPr/>
            </p:nvSpPr>
            <p:spPr bwMode="auto">
              <a:xfrm>
                <a:off x="620" y="2870"/>
                <a:ext cx="17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a:t>t3</a:t>
                </a:r>
              </a:p>
            </p:txBody>
          </p:sp>
        </p:grpSp>
        <p:grpSp>
          <p:nvGrpSpPr>
            <p:cNvPr id="10" name="Group 16"/>
            <p:cNvGrpSpPr>
              <a:grpSpLocks/>
            </p:cNvGrpSpPr>
            <p:nvPr/>
          </p:nvGrpSpPr>
          <p:grpSpPr bwMode="auto">
            <a:xfrm>
              <a:off x="2862" y="2592"/>
              <a:ext cx="177" cy="496"/>
              <a:chOff x="620" y="2586"/>
              <a:chExt cx="177" cy="496"/>
            </a:xfrm>
          </p:grpSpPr>
          <p:sp>
            <p:nvSpPr>
              <p:cNvPr id="14" name="Line 17"/>
              <p:cNvSpPr>
                <a:spLocks noChangeShapeType="1"/>
              </p:cNvSpPr>
              <p:nvPr/>
            </p:nvSpPr>
            <p:spPr bwMode="auto">
              <a:xfrm>
                <a:off x="734" y="2586"/>
                <a:ext cx="0" cy="305"/>
              </a:xfrm>
              <a:prstGeom prst="line">
                <a:avLst/>
              </a:prstGeom>
              <a:noFill/>
              <a:ln w="254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 name="Text Box 18"/>
              <p:cNvSpPr txBox="1">
                <a:spLocks noChangeArrowheads="1"/>
              </p:cNvSpPr>
              <p:nvPr/>
            </p:nvSpPr>
            <p:spPr bwMode="auto">
              <a:xfrm>
                <a:off x="620" y="2870"/>
                <a:ext cx="17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a:t>t4</a:t>
                </a:r>
              </a:p>
            </p:txBody>
          </p:sp>
        </p:grpSp>
        <p:grpSp>
          <p:nvGrpSpPr>
            <p:cNvPr id="11" name="Group 19"/>
            <p:cNvGrpSpPr>
              <a:grpSpLocks/>
            </p:cNvGrpSpPr>
            <p:nvPr/>
          </p:nvGrpSpPr>
          <p:grpSpPr bwMode="auto">
            <a:xfrm>
              <a:off x="3616" y="2586"/>
              <a:ext cx="177" cy="496"/>
              <a:chOff x="657" y="2586"/>
              <a:chExt cx="177" cy="496"/>
            </a:xfrm>
          </p:grpSpPr>
          <p:sp>
            <p:nvSpPr>
              <p:cNvPr id="12" name="Line 20"/>
              <p:cNvSpPr>
                <a:spLocks noChangeShapeType="1"/>
              </p:cNvSpPr>
              <p:nvPr/>
            </p:nvSpPr>
            <p:spPr bwMode="auto">
              <a:xfrm>
                <a:off x="734" y="2586"/>
                <a:ext cx="0" cy="305"/>
              </a:xfrm>
              <a:prstGeom prst="line">
                <a:avLst/>
              </a:prstGeom>
              <a:noFill/>
              <a:ln w="254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 name="Text Box 21"/>
              <p:cNvSpPr txBox="1">
                <a:spLocks noChangeArrowheads="1"/>
              </p:cNvSpPr>
              <p:nvPr/>
            </p:nvSpPr>
            <p:spPr bwMode="auto">
              <a:xfrm>
                <a:off x="657" y="2870"/>
                <a:ext cx="17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dirty="0"/>
                  <a:t>t5</a:t>
                </a:r>
              </a:p>
            </p:txBody>
          </p:sp>
        </p:grpSp>
      </p:grpSp>
      <p:sp>
        <p:nvSpPr>
          <p:cNvPr id="22" name="Text Box 63"/>
          <p:cNvSpPr txBox="1">
            <a:spLocks noChangeArrowheads="1"/>
          </p:cNvSpPr>
          <p:nvPr/>
        </p:nvSpPr>
        <p:spPr bwMode="auto">
          <a:xfrm>
            <a:off x="1314907" y="2331712"/>
            <a:ext cx="10126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2000" b="1" dirty="0">
                <a:solidFill>
                  <a:schemeClr val="tx2"/>
                </a:solidFill>
              </a:rPr>
              <a:t>Client A</a:t>
            </a:r>
          </a:p>
        </p:txBody>
      </p:sp>
      <p:sp>
        <p:nvSpPr>
          <p:cNvPr id="23" name="Text Box 64"/>
          <p:cNvSpPr txBox="1">
            <a:spLocks noChangeArrowheads="1"/>
          </p:cNvSpPr>
          <p:nvPr/>
        </p:nvSpPr>
        <p:spPr bwMode="auto">
          <a:xfrm>
            <a:off x="1309594" y="5320180"/>
            <a:ext cx="10014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2000" b="1" dirty="0">
                <a:solidFill>
                  <a:schemeClr val="tx2"/>
                </a:solidFill>
              </a:rPr>
              <a:t>Client B</a:t>
            </a:r>
          </a:p>
        </p:txBody>
      </p:sp>
      <p:grpSp>
        <p:nvGrpSpPr>
          <p:cNvPr id="24" name="Group 67"/>
          <p:cNvGrpSpPr>
            <a:grpSpLocks/>
          </p:cNvGrpSpPr>
          <p:nvPr/>
        </p:nvGrpSpPr>
        <p:grpSpPr bwMode="auto">
          <a:xfrm>
            <a:off x="2626045" y="4870917"/>
            <a:ext cx="1184276" cy="658813"/>
            <a:chOff x="1003" y="2654"/>
            <a:chExt cx="746" cy="415"/>
          </a:xfrm>
        </p:grpSpPr>
        <p:sp>
          <p:nvSpPr>
            <p:cNvPr id="25" name="Line 65"/>
            <p:cNvSpPr>
              <a:spLocks noChangeShapeType="1"/>
            </p:cNvSpPr>
            <p:nvPr/>
          </p:nvSpPr>
          <p:spPr bwMode="auto">
            <a:xfrm flipV="1">
              <a:off x="1332" y="2654"/>
              <a:ext cx="0" cy="260"/>
            </a:xfrm>
            <a:prstGeom prst="line">
              <a:avLst/>
            </a:prstGeom>
            <a:noFill/>
            <a:ln w="254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 name="Text Box 66"/>
            <p:cNvSpPr txBox="1">
              <a:spLocks noChangeArrowheads="1"/>
            </p:cNvSpPr>
            <p:nvPr/>
          </p:nvSpPr>
          <p:spPr bwMode="auto">
            <a:xfrm>
              <a:off x="1003" y="2836"/>
              <a:ext cx="74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dirty="0"/>
                <a:t>Append(C)</a:t>
              </a:r>
            </a:p>
          </p:txBody>
        </p:sp>
      </p:grpSp>
      <p:sp>
        <p:nvSpPr>
          <p:cNvPr id="27" name="Text Box 70"/>
          <p:cNvSpPr txBox="1">
            <a:spLocks noChangeArrowheads="1"/>
          </p:cNvSpPr>
          <p:nvPr/>
        </p:nvSpPr>
        <p:spPr bwMode="auto">
          <a:xfrm>
            <a:off x="5665694" y="1858398"/>
            <a:ext cx="12041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dirty="0"/>
              <a:t>Append(D)</a:t>
            </a:r>
          </a:p>
        </p:txBody>
      </p:sp>
      <p:sp>
        <p:nvSpPr>
          <p:cNvPr id="28" name="Line 71"/>
          <p:cNvSpPr>
            <a:spLocks noChangeShapeType="1"/>
          </p:cNvSpPr>
          <p:nvPr/>
        </p:nvSpPr>
        <p:spPr bwMode="auto">
          <a:xfrm flipH="1">
            <a:off x="6257373" y="2142107"/>
            <a:ext cx="0" cy="466623"/>
          </a:xfrm>
          <a:prstGeom prst="line">
            <a:avLst/>
          </a:prstGeom>
          <a:noFill/>
          <a:ln w="25400">
            <a:solidFill>
              <a:schemeClr val="tx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 name="Text Box 73"/>
          <p:cNvSpPr txBox="1">
            <a:spLocks noChangeArrowheads="1"/>
          </p:cNvSpPr>
          <p:nvPr/>
        </p:nvSpPr>
        <p:spPr bwMode="auto">
          <a:xfrm>
            <a:off x="4432323" y="2443313"/>
            <a:ext cx="653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dirty="0"/>
              <a:t>Read</a:t>
            </a:r>
          </a:p>
        </p:txBody>
      </p:sp>
      <p:sp>
        <p:nvSpPr>
          <p:cNvPr id="30" name="Text Box 74"/>
          <p:cNvSpPr txBox="1">
            <a:spLocks noChangeArrowheads="1"/>
          </p:cNvSpPr>
          <p:nvPr/>
        </p:nvSpPr>
        <p:spPr bwMode="auto">
          <a:xfrm>
            <a:off x="7389931" y="5151905"/>
            <a:ext cx="653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dirty="0"/>
              <a:t>Read</a:t>
            </a:r>
          </a:p>
        </p:txBody>
      </p:sp>
      <p:sp>
        <p:nvSpPr>
          <p:cNvPr id="31" name="Line 76"/>
          <p:cNvSpPr>
            <a:spLocks noChangeShapeType="1"/>
          </p:cNvSpPr>
          <p:nvPr/>
        </p:nvSpPr>
        <p:spPr bwMode="auto">
          <a:xfrm>
            <a:off x="7723094" y="4870917"/>
            <a:ext cx="0" cy="376238"/>
          </a:xfrm>
          <a:prstGeom prst="line">
            <a:avLst/>
          </a:prstGeom>
          <a:noFill/>
          <a:ln w="254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2" name="Line 77"/>
          <p:cNvSpPr>
            <a:spLocks noChangeShapeType="1"/>
          </p:cNvSpPr>
          <p:nvPr/>
        </p:nvSpPr>
        <p:spPr bwMode="auto">
          <a:xfrm flipV="1">
            <a:off x="4742473" y="2786846"/>
            <a:ext cx="0" cy="230189"/>
          </a:xfrm>
          <a:prstGeom prst="line">
            <a:avLst/>
          </a:prstGeom>
          <a:noFill/>
          <a:ln w="25400">
            <a:solidFill>
              <a:schemeClr val="tx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aphicFrame>
        <p:nvGraphicFramePr>
          <p:cNvPr id="33" name="Table 32"/>
          <p:cNvGraphicFramePr>
            <a:graphicFrameLocks noGrp="1"/>
          </p:cNvGraphicFramePr>
          <p:nvPr>
            <p:extLst>
              <p:ext uri="{D42A27DB-BD31-4B8C-83A1-F6EECF244321}">
                <p14:modId xmlns:p14="http://schemas.microsoft.com/office/powerpoint/2010/main" val="3312893961"/>
              </p:ext>
            </p:extLst>
          </p:nvPr>
        </p:nvGraphicFramePr>
        <p:xfrm>
          <a:off x="1579470" y="3381525"/>
          <a:ext cx="350837" cy="741680"/>
        </p:xfrm>
        <a:graphic>
          <a:graphicData uri="http://schemas.openxmlformats.org/drawingml/2006/table">
            <a:tbl>
              <a:tblPr firstRow="1" bandRow="1">
                <a:tableStyleId>{5C22544A-7EE6-4342-B048-85BDC9FD1C3A}</a:tableStyleId>
              </a:tblPr>
              <a:tblGrid>
                <a:gridCol w="350837">
                  <a:extLst>
                    <a:ext uri="{9D8B030D-6E8A-4147-A177-3AD203B41FA5}">
                      <a16:colId xmlns:a16="http://schemas.microsoft.com/office/drawing/2014/main" xmlns="" val="2419270846"/>
                    </a:ext>
                  </a:extLst>
                </a:gridCol>
              </a:tblGrid>
              <a:tr h="370840">
                <a:tc>
                  <a:txBody>
                    <a:bodyPr/>
                    <a:lstStyle/>
                    <a:p>
                      <a:r>
                        <a:rPr lang="en-US" b="0" dirty="0">
                          <a:solidFill>
                            <a:schemeClr val="tx1"/>
                          </a:solidFill>
                        </a:rPr>
                        <a:t>A</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a16="http://schemas.microsoft.com/office/drawing/2014/main" xmlns="" val="2031929896"/>
                  </a:ext>
                </a:extLst>
              </a:tr>
              <a:tr h="370840">
                <a:tc>
                  <a:txBody>
                    <a:bodyPr/>
                    <a:lstStyle/>
                    <a:p>
                      <a:r>
                        <a:rPr lang="en-US" dirty="0">
                          <a:solidFill>
                            <a:schemeClr val="tx1"/>
                          </a:solidFill>
                        </a:rPr>
                        <a:t>B</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a16="http://schemas.microsoft.com/office/drawing/2014/main" xmlns="" val="2141176733"/>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2017502290"/>
              </p:ext>
            </p:extLst>
          </p:nvPr>
        </p:nvGraphicFramePr>
        <p:xfrm>
          <a:off x="3014546" y="3017036"/>
          <a:ext cx="350837" cy="1112520"/>
        </p:xfrm>
        <a:graphic>
          <a:graphicData uri="http://schemas.openxmlformats.org/drawingml/2006/table">
            <a:tbl>
              <a:tblPr firstRow="1" bandRow="1">
                <a:tableStyleId>{5C22544A-7EE6-4342-B048-85BDC9FD1C3A}</a:tableStyleId>
              </a:tblPr>
              <a:tblGrid>
                <a:gridCol w="350837">
                  <a:extLst>
                    <a:ext uri="{9D8B030D-6E8A-4147-A177-3AD203B41FA5}">
                      <a16:colId xmlns:a16="http://schemas.microsoft.com/office/drawing/2014/main" xmlns="" val="2419270846"/>
                    </a:ext>
                  </a:extLst>
                </a:gridCol>
              </a:tblGrid>
              <a:tr h="370840">
                <a:tc>
                  <a:txBody>
                    <a:bodyPr/>
                    <a:lstStyle/>
                    <a:p>
                      <a:r>
                        <a:rPr lang="en-US" b="0" dirty="0">
                          <a:solidFill>
                            <a:schemeClr val="tx1"/>
                          </a:solidFill>
                        </a:rPr>
                        <a:t>A</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2031929896"/>
                  </a:ext>
                </a:extLst>
              </a:tr>
              <a:tr h="370840">
                <a:tc>
                  <a:txBody>
                    <a:bodyPr/>
                    <a:lstStyle/>
                    <a:p>
                      <a:r>
                        <a:rPr lang="en-US" b="0" dirty="0">
                          <a:solidFill>
                            <a:schemeClr val="tx1"/>
                          </a:solidFill>
                        </a:rPr>
                        <a:t>B</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913277157"/>
                  </a:ext>
                </a:extLst>
              </a:tr>
              <a:tr h="370840">
                <a:tc>
                  <a:txBody>
                    <a:bodyPr/>
                    <a:lstStyle/>
                    <a:p>
                      <a:r>
                        <a:rPr lang="en-US" dirty="0">
                          <a:solidFill>
                            <a:schemeClr val="tx1"/>
                          </a:solidFill>
                        </a:rPr>
                        <a:t>C</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2141176733"/>
                  </a:ext>
                </a:extLst>
              </a:tr>
            </a:tbl>
          </a:graphicData>
        </a:graphic>
      </p:graphicFrame>
      <p:graphicFrame>
        <p:nvGraphicFramePr>
          <p:cNvPr id="35" name="Table 34"/>
          <p:cNvGraphicFramePr>
            <a:graphicFrameLocks noGrp="1"/>
          </p:cNvGraphicFramePr>
          <p:nvPr>
            <p:extLst>
              <p:ext uri="{D42A27DB-BD31-4B8C-83A1-F6EECF244321}">
                <p14:modId xmlns:p14="http://schemas.microsoft.com/office/powerpoint/2010/main" val="767053645"/>
              </p:ext>
            </p:extLst>
          </p:nvPr>
        </p:nvGraphicFramePr>
        <p:xfrm>
          <a:off x="4567054" y="3017036"/>
          <a:ext cx="350837" cy="1112520"/>
        </p:xfrm>
        <a:graphic>
          <a:graphicData uri="http://schemas.openxmlformats.org/drawingml/2006/table">
            <a:tbl>
              <a:tblPr firstRow="1" bandRow="1">
                <a:tableStyleId>{5C22544A-7EE6-4342-B048-85BDC9FD1C3A}</a:tableStyleId>
              </a:tblPr>
              <a:tblGrid>
                <a:gridCol w="350837">
                  <a:extLst>
                    <a:ext uri="{9D8B030D-6E8A-4147-A177-3AD203B41FA5}">
                      <a16:colId xmlns:a16="http://schemas.microsoft.com/office/drawing/2014/main" xmlns="" val="2419270846"/>
                    </a:ext>
                  </a:extLst>
                </a:gridCol>
              </a:tblGrid>
              <a:tr h="370840">
                <a:tc>
                  <a:txBody>
                    <a:bodyPr/>
                    <a:lstStyle/>
                    <a:p>
                      <a:r>
                        <a:rPr lang="en-US" b="0" dirty="0">
                          <a:solidFill>
                            <a:schemeClr val="tx1"/>
                          </a:solidFill>
                        </a:rPr>
                        <a:t>A</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2031929896"/>
                  </a:ext>
                </a:extLst>
              </a:tr>
              <a:tr h="370840">
                <a:tc>
                  <a:txBody>
                    <a:bodyPr/>
                    <a:lstStyle/>
                    <a:p>
                      <a:r>
                        <a:rPr lang="en-US" b="0" dirty="0">
                          <a:solidFill>
                            <a:schemeClr val="tx1"/>
                          </a:solidFill>
                        </a:rPr>
                        <a:t>B</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913277157"/>
                  </a:ext>
                </a:extLst>
              </a:tr>
              <a:tr h="370840">
                <a:tc>
                  <a:txBody>
                    <a:bodyPr/>
                    <a:lstStyle/>
                    <a:p>
                      <a:r>
                        <a:rPr lang="en-US" dirty="0">
                          <a:solidFill>
                            <a:schemeClr val="tx1"/>
                          </a:solidFill>
                        </a:rPr>
                        <a:t>C</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2141176733"/>
                  </a:ext>
                </a:extLst>
              </a:tr>
            </a:tbl>
          </a:graphicData>
        </a:graphic>
      </p:graphicFrame>
      <p:graphicFrame>
        <p:nvGraphicFramePr>
          <p:cNvPr id="36" name="Table 35"/>
          <p:cNvGraphicFramePr>
            <a:graphicFrameLocks noGrp="1"/>
          </p:cNvGraphicFramePr>
          <p:nvPr>
            <p:extLst>
              <p:ext uri="{D42A27DB-BD31-4B8C-83A1-F6EECF244321}">
                <p14:modId xmlns:p14="http://schemas.microsoft.com/office/powerpoint/2010/main" val="2261650922"/>
              </p:ext>
            </p:extLst>
          </p:nvPr>
        </p:nvGraphicFramePr>
        <p:xfrm>
          <a:off x="6071291" y="2622382"/>
          <a:ext cx="350837" cy="1483360"/>
        </p:xfrm>
        <a:graphic>
          <a:graphicData uri="http://schemas.openxmlformats.org/drawingml/2006/table">
            <a:tbl>
              <a:tblPr firstRow="1" bandRow="1">
                <a:tableStyleId>{5C22544A-7EE6-4342-B048-85BDC9FD1C3A}</a:tableStyleId>
              </a:tblPr>
              <a:tblGrid>
                <a:gridCol w="350837">
                  <a:extLst>
                    <a:ext uri="{9D8B030D-6E8A-4147-A177-3AD203B41FA5}">
                      <a16:colId xmlns:a16="http://schemas.microsoft.com/office/drawing/2014/main" xmlns="" val="2419270846"/>
                    </a:ext>
                  </a:extLst>
                </a:gridCol>
              </a:tblGrid>
              <a:tr h="370840">
                <a:tc>
                  <a:txBody>
                    <a:bodyPr/>
                    <a:lstStyle/>
                    <a:p>
                      <a:r>
                        <a:rPr lang="en-US" b="0" dirty="0">
                          <a:solidFill>
                            <a:schemeClr val="tx1"/>
                          </a:solidFill>
                        </a:rPr>
                        <a:t>A</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2031929896"/>
                  </a:ext>
                </a:extLst>
              </a:tr>
              <a:tr h="370840">
                <a:tc>
                  <a:txBody>
                    <a:bodyPr/>
                    <a:lstStyle/>
                    <a:p>
                      <a:r>
                        <a:rPr lang="en-US" b="0" dirty="0">
                          <a:solidFill>
                            <a:schemeClr val="tx1"/>
                          </a:solidFill>
                        </a:rPr>
                        <a:t>B</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913277157"/>
                  </a:ext>
                </a:extLst>
              </a:tr>
              <a:tr h="370840">
                <a:tc>
                  <a:txBody>
                    <a:bodyPr/>
                    <a:lstStyle/>
                    <a:p>
                      <a:r>
                        <a:rPr lang="en-US" dirty="0">
                          <a:solidFill>
                            <a:schemeClr val="tx1"/>
                          </a:solidFill>
                        </a:rPr>
                        <a:t>C</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2141176733"/>
                  </a:ext>
                </a:extLst>
              </a:tr>
              <a:tr h="370840">
                <a:tc>
                  <a:txBody>
                    <a:bodyPr/>
                    <a:lstStyle/>
                    <a:p>
                      <a:r>
                        <a:rPr lang="en-US" dirty="0">
                          <a:solidFill>
                            <a:schemeClr val="tx1"/>
                          </a:solidFill>
                        </a:rPr>
                        <a:t>D</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2268215765"/>
                  </a:ext>
                </a:extLst>
              </a:tr>
            </a:tbl>
          </a:graphicData>
        </a:graphic>
      </p:graphicFrame>
      <p:graphicFrame>
        <p:nvGraphicFramePr>
          <p:cNvPr id="37" name="Table 36"/>
          <p:cNvGraphicFramePr>
            <a:graphicFrameLocks noGrp="1"/>
          </p:cNvGraphicFramePr>
          <p:nvPr>
            <p:extLst>
              <p:ext uri="{D42A27DB-BD31-4B8C-83A1-F6EECF244321}">
                <p14:modId xmlns:p14="http://schemas.microsoft.com/office/powerpoint/2010/main" val="1925594779"/>
              </p:ext>
            </p:extLst>
          </p:nvPr>
        </p:nvGraphicFramePr>
        <p:xfrm>
          <a:off x="7570477" y="2649929"/>
          <a:ext cx="350837" cy="1483360"/>
        </p:xfrm>
        <a:graphic>
          <a:graphicData uri="http://schemas.openxmlformats.org/drawingml/2006/table">
            <a:tbl>
              <a:tblPr firstRow="1" bandRow="1">
                <a:tableStyleId>{5C22544A-7EE6-4342-B048-85BDC9FD1C3A}</a:tableStyleId>
              </a:tblPr>
              <a:tblGrid>
                <a:gridCol w="350837">
                  <a:extLst>
                    <a:ext uri="{9D8B030D-6E8A-4147-A177-3AD203B41FA5}">
                      <a16:colId xmlns:a16="http://schemas.microsoft.com/office/drawing/2014/main" xmlns="" val="2419270846"/>
                    </a:ext>
                  </a:extLst>
                </a:gridCol>
              </a:tblGrid>
              <a:tr h="370840">
                <a:tc>
                  <a:txBody>
                    <a:bodyPr/>
                    <a:lstStyle/>
                    <a:p>
                      <a:r>
                        <a:rPr lang="en-US" b="0" dirty="0">
                          <a:solidFill>
                            <a:schemeClr val="tx1"/>
                          </a:solidFill>
                        </a:rPr>
                        <a:t>A</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2031929896"/>
                  </a:ext>
                </a:extLst>
              </a:tr>
              <a:tr h="370840">
                <a:tc>
                  <a:txBody>
                    <a:bodyPr/>
                    <a:lstStyle/>
                    <a:p>
                      <a:r>
                        <a:rPr lang="en-US" b="0" dirty="0">
                          <a:solidFill>
                            <a:schemeClr val="tx1"/>
                          </a:solidFill>
                        </a:rPr>
                        <a:t>B</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913277157"/>
                  </a:ext>
                </a:extLst>
              </a:tr>
              <a:tr h="370840">
                <a:tc>
                  <a:txBody>
                    <a:bodyPr/>
                    <a:lstStyle/>
                    <a:p>
                      <a:r>
                        <a:rPr lang="en-US" dirty="0">
                          <a:solidFill>
                            <a:schemeClr val="tx1"/>
                          </a:solidFill>
                        </a:rPr>
                        <a:t>C</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2141176733"/>
                  </a:ext>
                </a:extLst>
              </a:tr>
              <a:tr h="370840">
                <a:tc>
                  <a:txBody>
                    <a:bodyPr/>
                    <a:lstStyle/>
                    <a:p>
                      <a:r>
                        <a:rPr lang="en-US" dirty="0">
                          <a:solidFill>
                            <a:schemeClr val="tx1"/>
                          </a:solidFill>
                        </a:rPr>
                        <a:t>D</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2268215765"/>
                  </a:ext>
                </a:extLst>
              </a:tr>
            </a:tbl>
          </a:graphicData>
        </a:graphic>
      </p:graphicFrame>
      <p:sp>
        <p:nvSpPr>
          <p:cNvPr id="38" name="Text Box 74"/>
          <p:cNvSpPr txBox="1">
            <a:spLocks noChangeArrowheads="1"/>
          </p:cNvSpPr>
          <p:nvPr/>
        </p:nvSpPr>
        <p:spPr bwMode="auto">
          <a:xfrm>
            <a:off x="8821170" y="3978507"/>
            <a:ext cx="6495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dirty="0"/>
              <a:t>Time</a:t>
            </a:r>
          </a:p>
        </p:txBody>
      </p:sp>
    </p:spTree>
    <p:extLst>
      <p:ext uri="{BB962C8B-B14F-4D97-AF65-F5344CB8AC3E}">
        <p14:creationId xmlns:p14="http://schemas.microsoft.com/office/powerpoint/2010/main" val="66587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down)">
                                      <p:cBhvr>
                                        <p:cTn id="25" dur="500"/>
                                        <p:tgtEl>
                                          <p:spTgt spid="3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down)">
                                      <p:cBhvr>
                                        <p:cTn id="30" dur="500"/>
                                        <p:tgtEl>
                                          <p:spTgt spid="24"/>
                                        </p:tgtEl>
                                      </p:cBhvr>
                                    </p:animEffect>
                                  </p:childTnLst>
                                </p:cTn>
                              </p:par>
                              <p:par>
                                <p:cTn id="31" presetID="22" presetClass="entr" presetSubtype="4"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wipe(down)">
                                      <p:cBhvr>
                                        <p:cTn id="33" dur="500"/>
                                        <p:tgtEl>
                                          <p:spTgt spid="3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wipe(down)">
                                      <p:cBhvr>
                                        <p:cTn id="38" dur="500"/>
                                        <p:tgtEl>
                                          <p:spTgt spid="35"/>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down)">
                                      <p:cBhvr>
                                        <p:cTn id="41" dur="500"/>
                                        <p:tgtEl>
                                          <p:spTgt spid="32"/>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wipe(down)">
                                      <p:cBhvr>
                                        <p:cTn id="44" dur="500"/>
                                        <p:tgtEl>
                                          <p:spTgt spid="2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up)">
                                      <p:cBhvr>
                                        <p:cTn id="49" dur="500"/>
                                        <p:tgtEl>
                                          <p:spTgt spid="28"/>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ipe(up)">
                                      <p:cBhvr>
                                        <p:cTn id="52" dur="500"/>
                                        <p:tgtEl>
                                          <p:spTgt spid="27"/>
                                        </p:tgtEl>
                                      </p:cBhvr>
                                    </p:animEffect>
                                  </p:childTnLst>
                                </p:cTn>
                              </p:par>
                              <p:par>
                                <p:cTn id="53" presetID="22" presetClass="entr" presetSubtype="1" fill="hold"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wipe(up)">
                                      <p:cBhvr>
                                        <p:cTn id="55" dur="500"/>
                                        <p:tgtEl>
                                          <p:spTgt spid="3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wipe(up)">
                                      <p:cBhvr>
                                        <p:cTn id="60" dur="500"/>
                                        <p:tgtEl>
                                          <p:spTgt spid="37"/>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wipe(up)">
                                      <p:cBhvr>
                                        <p:cTn id="63" dur="500"/>
                                        <p:tgtEl>
                                          <p:spTgt spid="31"/>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wipe(up)">
                                      <p:cBhvr>
                                        <p:cTn id="6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7" grpId="0"/>
      <p:bldP spid="28" grpId="0" animBg="1"/>
      <p:bldP spid="29" grpId="0"/>
      <p:bldP spid="30" grpId="0"/>
      <p:bldP spid="31" grpId="0" animBg="1"/>
      <p:bldP spid="32" grpId="0" animBg="1"/>
      <p:bldP spid="3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File Sharing Semantics - Session Semantics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In session semantics, all changes made to a file during a session are initially made visible only to the client process that opened the session.</a:t>
            </a:r>
          </a:p>
          <a:p>
            <a:r>
              <a:rPr lang="en-US" dirty="0"/>
              <a:t>It is invisible to other remote processes who have the same file open simultaneously.</a:t>
            </a:r>
          </a:p>
          <a:p>
            <a:r>
              <a:rPr lang="en-US" dirty="0"/>
              <a:t>Once the session is closed, the changes made to the file are made visible to remote processes only in later starting sessions.</a:t>
            </a:r>
          </a:p>
        </p:txBody>
      </p:sp>
    </p:spTree>
    <p:extLst>
      <p:ext uri="{BB962C8B-B14F-4D97-AF65-F5344CB8AC3E}">
        <p14:creationId xmlns:p14="http://schemas.microsoft.com/office/powerpoint/2010/main" val="317997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File Sharing Semantics - Session Semantics</a:t>
            </a:r>
          </a:p>
        </p:txBody>
      </p:sp>
      <p:sp>
        <p:nvSpPr>
          <p:cNvPr id="5" name="Line 203"/>
          <p:cNvSpPr>
            <a:spLocks noChangeShapeType="1"/>
          </p:cNvSpPr>
          <p:nvPr/>
        </p:nvSpPr>
        <p:spPr bwMode="auto">
          <a:xfrm flipH="1">
            <a:off x="2946400" y="1686485"/>
            <a:ext cx="5301647" cy="190499"/>
          </a:xfrm>
          <a:prstGeom prst="line">
            <a:avLst/>
          </a:prstGeom>
          <a:noFill/>
          <a:ln w="28575">
            <a:solidFill>
              <a:schemeClr val="accent3">
                <a:lumMod val="75000"/>
              </a:schemeClr>
            </a:solidFill>
            <a:prstDash val="sys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 name="Line 204"/>
          <p:cNvSpPr>
            <a:spLocks noChangeShapeType="1"/>
          </p:cNvSpPr>
          <p:nvPr/>
        </p:nvSpPr>
        <p:spPr bwMode="auto">
          <a:xfrm>
            <a:off x="3197228" y="2897747"/>
            <a:ext cx="5051422" cy="758827"/>
          </a:xfrm>
          <a:prstGeom prst="line">
            <a:avLst/>
          </a:prstGeom>
          <a:noFill/>
          <a:ln w="28575">
            <a:solidFill>
              <a:schemeClr val="accent3">
                <a:lumMod val="75000"/>
              </a:schemeClr>
            </a:solidFill>
            <a:prstDash val="sys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 name="Text Box 70"/>
          <p:cNvSpPr txBox="1">
            <a:spLocks noChangeArrowheads="1"/>
          </p:cNvSpPr>
          <p:nvPr/>
        </p:nvSpPr>
        <p:spPr bwMode="auto">
          <a:xfrm>
            <a:off x="2214566" y="1116573"/>
            <a:ext cx="977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b="1" dirty="0"/>
              <a:t>Client A</a:t>
            </a:r>
          </a:p>
        </p:txBody>
      </p:sp>
      <p:sp>
        <p:nvSpPr>
          <p:cNvPr id="8" name="Text Box 72"/>
          <p:cNvSpPr txBox="1">
            <a:spLocks noChangeArrowheads="1"/>
          </p:cNvSpPr>
          <p:nvPr/>
        </p:nvSpPr>
        <p:spPr bwMode="auto">
          <a:xfrm>
            <a:off x="4134982" y="1075346"/>
            <a:ext cx="982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2000" b="1" dirty="0"/>
              <a:t>Client</a:t>
            </a:r>
            <a:r>
              <a:rPr lang="en-US" altLang="ja-JP" b="1" dirty="0"/>
              <a:t> B</a:t>
            </a:r>
          </a:p>
        </p:txBody>
      </p:sp>
      <p:sp>
        <p:nvSpPr>
          <p:cNvPr id="9" name="Text Box 74"/>
          <p:cNvSpPr txBox="1">
            <a:spLocks noChangeArrowheads="1"/>
          </p:cNvSpPr>
          <p:nvPr/>
        </p:nvSpPr>
        <p:spPr bwMode="auto">
          <a:xfrm>
            <a:off x="6279096" y="1080003"/>
            <a:ext cx="9741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2000" b="1" dirty="0"/>
              <a:t>Client</a:t>
            </a:r>
            <a:r>
              <a:rPr lang="en-US" altLang="ja-JP" b="1" dirty="0"/>
              <a:t> C</a:t>
            </a:r>
          </a:p>
        </p:txBody>
      </p:sp>
      <p:grpSp>
        <p:nvGrpSpPr>
          <p:cNvPr id="10" name="Group 78"/>
          <p:cNvGrpSpPr>
            <a:grpSpLocks/>
          </p:cNvGrpSpPr>
          <p:nvPr/>
        </p:nvGrpSpPr>
        <p:grpSpPr bwMode="auto">
          <a:xfrm>
            <a:off x="2390775" y="1780147"/>
            <a:ext cx="558800" cy="274638"/>
            <a:chOff x="1348" y="2033"/>
            <a:chExt cx="352" cy="173"/>
          </a:xfrm>
          <a:solidFill>
            <a:schemeClr val="accent1">
              <a:lumMod val="20000"/>
              <a:lumOff val="80000"/>
            </a:schemeClr>
          </a:solidFill>
        </p:grpSpPr>
        <p:sp>
          <p:nvSpPr>
            <p:cNvPr id="11" name="Rectangle 76"/>
            <p:cNvSpPr>
              <a:spLocks noChangeArrowheads="1"/>
            </p:cNvSpPr>
            <p:nvPr/>
          </p:nvSpPr>
          <p:spPr bwMode="auto">
            <a:xfrm>
              <a:off x="1348" y="2033"/>
              <a:ext cx="168" cy="173"/>
            </a:xfrm>
            <a:prstGeom prst="rect">
              <a:avLst/>
            </a:prstGeom>
            <a:solidFill>
              <a:schemeClr val="tx2">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a</a:t>
              </a:r>
            </a:p>
          </p:txBody>
        </p:sp>
        <p:sp>
          <p:nvSpPr>
            <p:cNvPr id="12" name="Rectangle 77"/>
            <p:cNvSpPr>
              <a:spLocks noChangeArrowheads="1"/>
            </p:cNvSpPr>
            <p:nvPr/>
          </p:nvSpPr>
          <p:spPr bwMode="auto">
            <a:xfrm>
              <a:off x="1523" y="2033"/>
              <a:ext cx="177" cy="173"/>
            </a:xfrm>
            <a:prstGeom prst="rect">
              <a:avLst/>
            </a:prstGeom>
            <a:solidFill>
              <a:schemeClr val="tx2">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b</a:t>
              </a:r>
            </a:p>
          </p:txBody>
        </p:sp>
      </p:grpSp>
      <p:grpSp>
        <p:nvGrpSpPr>
          <p:cNvPr id="13" name="Group 92"/>
          <p:cNvGrpSpPr>
            <a:grpSpLocks/>
          </p:cNvGrpSpPr>
          <p:nvPr/>
        </p:nvGrpSpPr>
        <p:grpSpPr bwMode="auto">
          <a:xfrm>
            <a:off x="2381250" y="2221473"/>
            <a:ext cx="812800" cy="274638"/>
            <a:chOff x="988" y="2193"/>
            <a:chExt cx="512" cy="173"/>
          </a:xfrm>
          <a:solidFill>
            <a:schemeClr val="accent1">
              <a:lumMod val="20000"/>
              <a:lumOff val="80000"/>
            </a:schemeClr>
          </a:solidFill>
        </p:grpSpPr>
        <p:sp>
          <p:nvSpPr>
            <p:cNvPr id="14" name="Rectangle 80"/>
            <p:cNvSpPr>
              <a:spLocks noChangeArrowheads="1"/>
            </p:cNvSpPr>
            <p:nvPr/>
          </p:nvSpPr>
          <p:spPr bwMode="auto">
            <a:xfrm>
              <a:off x="988" y="2193"/>
              <a:ext cx="175" cy="173"/>
            </a:xfrm>
            <a:prstGeom prst="rect">
              <a:avLst/>
            </a:prstGeom>
            <a:solidFill>
              <a:schemeClr val="tx2">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a</a:t>
              </a:r>
            </a:p>
          </p:txBody>
        </p:sp>
        <p:sp>
          <p:nvSpPr>
            <p:cNvPr id="15" name="Rectangle 81"/>
            <p:cNvSpPr>
              <a:spLocks noChangeArrowheads="1"/>
            </p:cNvSpPr>
            <p:nvPr/>
          </p:nvSpPr>
          <p:spPr bwMode="auto">
            <a:xfrm>
              <a:off x="1163" y="2193"/>
              <a:ext cx="169" cy="173"/>
            </a:xfrm>
            <a:prstGeom prst="rect">
              <a:avLst/>
            </a:prstGeom>
            <a:solidFill>
              <a:schemeClr val="tx2">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b</a:t>
              </a:r>
            </a:p>
          </p:txBody>
        </p:sp>
        <p:sp>
          <p:nvSpPr>
            <p:cNvPr id="16" name="Rectangle 82"/>
            <p:cNvSpPr>
              <a:spLocks noChangeArrowheads="1"/>
            </p:cNvSpPr>
            <p:nvPr/>
          </p:nvSpPr>
          <p:spPr bwMode="auto">
            <a:xfrm>
              <a:off x="1331" y="2193"/>
              <a:ext cx="169" cy="173"/>
            </a:xfrm>
            <a:prstGeom prst="rect">
              <a:avLst/>
            </a:prstGeom>
            <a:solidFill>
              <a:schemeClr val="tx2">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c</a:t>
              </a:r>
            </a:p>
          </p:txBody>
        </p:sp>
      </p:grpSp>
      <p:sp>
        <p:nvSpPr>
          <p:cNvPr id="17" name="Line 95"/>
          <p:cNvSpPr>
            <a:spLocks noChangeShapeType="1"/>
          </p:cNvSpPr>
          <p:nvPr/>
        </p:nvSpPr>
        <p:spPr bwMode="auto">
          <a:xfrm>
            <a:off x="2134968" y="1917466"/>
            <a:ext cx="254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 name="Line 96"/>
          <p:cNvSpPr>
            <a:spLocks noChangeShapeType="1"/>
          </p:cNvSpPr>
          <p:nvPr/>
        </p:nvSpPr>
        <p:spPr bwMode="auto">
          <a:xfrm>
            <a:off x="6172200" y="3669116"/>
            <a:ext cx="254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 name="Text Box 99"/>
          <p:cNvSpPr txBox="1">
            <a:spLocks noChangeArrowheads="1"/>
          </p:cNvSpPr>
          <p:nvPr/>
        </p:nvSpPr>
        <p:spPr bwMode="auto">
          <a:xfrm>
            <a:off x="1411758" y="1778966"/>
            <a:ext cx="81144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dirty="0"/>
              <a:t>Open(file)</a:t>
            </a:r>
          </a:p>
        </p:txBody>
      </p:sp>
      <p:sp>
        <p:nvSpPr>
          <p:cNvPr id="20" name="Text Box 100"/>
          <p:cNvSpPr txBox="1">
            <a:spLocks noChangeArrowheads="1"/>
          </p:cNvSpPr>
          <p:nvPr/>
        </p:nvSpPr>
        <p:spPr bwMode="auto">
          <a:xfrm>
            <a:off x="5317309" y="3502684"/>
            <a:ext cx="94448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t>Append(x)</a:t>
            </a:r>
          </a:p>
        </p:txBody>
      </p:sp>
      <p:sp>
        <p:nvSpPr>
          <p:cNvPr id="21" name="Line 103"/>
          <p:cNvSpPr>
            <a:spLocks noChangeShapeType="1"/>
          </p:cNvSpPr>
          <p:nvPr/>
        </p:nvSpPr>
        <p:spPr bwMode="auto">
          <a:xfrm>
            <a:off x="6174050" y="4256647"/>
            <a:ext cx="254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 name="Text Box 104"/>
          <p:cNvSpPr txBox="1">
            <a:spLocks noChangeArrowheads="1"/>
          </p:cNvSpPr>
          <p:nvPr/>
        </p:nvSpPr>
        <p:spPr bwMode="auto">
          <a:xfrm>
            <a:off x="5347765" y="4093811"/>
            <a:ext cx="91403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t>Close(file)</a:t>
            </a:r>
          </a:p>
        </p:txBody>
      </p:sp>
      <p:sp>
        <p:nvSpPr>
          <p:cNvPr id="23" name="Line 69"/>
          <p:cNvSpPr>
            <a:spLocks noChangeShapeType="1"/>
          </p:cNvSpPr>
          <p:nvPr/>
        </p:nvSpPr>
        <p:spPr bwMode="auto">
          <a:xfrm>
            <a:off x="2665413" y="1535673"/>
            <a:ext cx="0" cy="4241800"/>
          </a:xfrm>
          <a:prstGeom prst="line">
            <a:avLst/>
          </a:prstGeom>
          <a:noFill/>
          <a:ln w="190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 name="Line 71"/>
          <p:cNvSpPr>
            <a:spLocks noChangeShapeType="1"/>
          </p:cNvSpPr>
          <p:nvPr/>
        </p:nvSpPr>
        <p:spPr bwMode="auto">
          <a:xfrm>
            <a:off x="4608513" y="1549960"/>
            <a:ext cx="0" cy="4241800"/>
          </a:xfrm>
          <a:prstGeom prst="line">
            <a:avLst/>
          </a:prstGeom>
          <a:noFill/>
          <a:ln w="190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 name="Line 73"/>
          <p:cNvSpPr>
            <a:spLocks noChangeShapeType="1"/>
          </p:cNvSpPr>
          <p:nvPr/>
        </p:nvSpPr>
        <p:spPr bwMode="auto">
          <a:xfrm>
            <a:off x="6704013" y="1508685"/>
            <a:ext cx="0" cy="4241800"/>
          </a:xfrm>
          <a:prstGeom prst="line">
            <a:avLst/>
          </a:prstGeom>
          <a:noFill/>
          <a:ln w="190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 name="Line 105"/>
          <p:cNvSpPr>
            <a:spLocks noChangeShapeType="1"/>
          </p:cNvSpPr>
          <p:nvPr/>
        </p:nvSpPr>
        <p:spPr bwMode="auto">
          <a:xfrm>
            <a:off x="8521700" y="1535673"/>
            <a:ext cx="0" cy="4241800"/>
          </a:xfrm>
          <a:prstGeom prst="line">
            <a:avLst/>
          </a:prstGeom>
          <a:noFill/>
          <a:ln w="190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7" name="Text Box 106"/>
          <p:cNvSpPr txBox="1">
            <a:spLocks noChangeArrowheads="1"/>
          </p:cNvSpPr>
          <p:nvPr/>
        </p:nvSpPr>
        <p:spPr bwMode="auto">
          <a:xfrm>
            <a:off x="8093927" y="1075346"/>
            <a:ext cx="8706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2000" b="1" dirty="0"/>
              <a:t>Server</a:t>
            </a:r>
            <a:endParaRPr lang="en-US" altLang="ja-JP" b="1" dirty="0"/>
          </a:p>
        </p:txBody>
      </p:sp>
      <p:grpSp>
        <p:nvGrpSpPr>
          <p:cNvPr id="28" name="Group 107"/>
          <p:cNvGrpSpPr>
            <a:grpSpLocks/>
          </p:cNvGrpSpPr>
          <p:nvPr/>
        </p:nvGrpSpPr>
        <p:grpSpPr bwMode="auto">
          <a:xfrm>
            <a:off x="8248650" y="1590449"/>
            <a:ext cx="546100" cy="279400"/>
            <a:chOff x="1356" y="2033"/>
            <a:chExt cx="344" cy="176"/>
          </a:xfrm>
          <a:solidFill>
            <a:schemeClr val="tx2">
              <a:lumMod val="20000"/>
              <a:lumOff val="80000"/>
            </a:schemeClr>
          </a:solidFill>
        </p:grpSpPr>
        <p:sp>
          <p:nvSpPr>
            <p:cNvPr id="29" name="Rectangle 108"/>
            <p:cNvSpPr>
              <a:spLocks noChangeArrowheads="1"/>
            </p:cNvSpPr>
            <p:nvPr/>
          </p:nvSpPr>
          <p:spPr bwMode="auto">
            <a:xfrm>
              <a:off x="1356" y="2033"/>
              <a:ext cx="169" cy="176"/>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a</a:t>
              </a:r>
            </a:p>
          </p:txBody>
        </p:sp>
        <p:sp>
          <p:nvSpPr>
            <p:cNvPr id="30" name="Rectangle 109"/>
            <p:cNvSpPr>
              <a:spLocks noChangeArrowheads="1"/>
            </p:cNvSpPr>
            <p:nvPr/>
          </p:nvSpPr>
          <p:spPr bwMode="auto">
            <a:xfrm>
              <a:off x="1531" y="2033"/>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a:t>b</a:t>
              </a:r>
            </a:p>
          </p:txBody>
        </p:sp>
      </p:grpSp>
      <p:grpSp>
        <p:nvGrpSpPr>
          <p:cNvPr id="31" name="Group 110"/>
          <p:cNvGrpSpPr>
            <a:grpSpLocks/>
          </p:cNvGrpSpPr>
          <p:nvPr/>
        </p:nvGrpSpPr>
        <p:grpSpPr bwMode="auto">
          <a:xfrm>
            <a:off x="8248251" y="3545041"/>
            <a:ext cx="812800" cy="274638"/>
            <a:chOff x="972" y="2945"/>
            <a:chExt cx="512" cy="173"/>
          </a:xfrm>
          <a:solidFill>
            <a:schemeClr val="tx2">
              <a:lumMod val="20000"/>
              <a:lumOff val="80000"/>
            </a:schemeClr>
          </a:solidFill>
        </p:grpSpPr>
        <p:sp>
          <p:nvSpPr>
            <p:cNvPr id="32" name="Rectangle 111"/>
            <p:cNvSpPr>
              <a:spLocks noChangeArrowheads="1"/>
            </p:cNvSpPr>
            <p:nvPr/>
          </p:nvSpPr>
          <p:spPr bwMode="auto">
            <a:xfrm>
              <a:off x="972"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a</a:t>
              </a:r>
            </a:p>
          </p:txBody>
        </p:sp>
        <p:sp>
          <p:nvSpPr>
            <p:cNvPr id="33" name="Rectangle 112"/>
            <p:cNvSpPr>
              <a:spLocks noChangeArrowheads="1"/>
            </p:cNvSpPr>
            <p:nvPr/>
          </p:nvSpPr>
          <p:spPr bwMode="auto">
            <a:xfrm>
              <a:off x="1149"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b</a:t>
              </a:r>
            </a:p>
          </p:txBody>
        </p:sp>
        <p:sp>
          <p:nvSpPr>
            <p:cNvPr id="34" name="Rectangle 113"/>
            <p:cNvSpPr>
              <a:spLocks noChangeArrowheads="1"/>
            </p:cNvSpPr>
            <p:nvPr/>
          </p:nvSpPr>
          <p:spPr bwMode="auto">
            <a:xfrm>
              <a:off x="1315"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c</a:t>
              </a:r>
            </a:p>
          </p:txBody>
        </p:sp>
      </p:grpSp>
      <p:sp>
        <p:nvSpPr>
          <p:cNvPr id="35" name="Line 134"/>
          <p:cNvSpPr>
            <a:spLocks noChangeShapeType="1"/>
          </p:cNvSpPr>
          <p:nvPr/>
        </p:nvSpPr>
        <p:spPr bwMode="auto">
          <a:xfrm>
            <a:off x="4084035" y="4215374"/>
            <a:ext cx="254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6" name="Text Box 144"/>
          <p:cNvSpPr txBox="1">
            <a:spLocks noChangeArrowheads="1"/>
          </p:cNvSpPr>
          <p:nvPr/>
        </p:nvSpPr>
        <p:spPr bwMode="auto">
          <a:xfrm>
            <a:off x="3253231" y="4049389"/>
            <a:ext cx="91884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t>Open(file)</a:t>
            </a:r>
          </a:p>
        </p:txBody>
      </p:sp>
      <p:grpSp>
        <p:nvGrpSpPr>
          <p:cNvPr id="37" name="Group 145"/>
          <p:cNvGrpSpPr>
            <a:grpSpLocks/>
          </p:cNvGrpSpPr>
          <p:nvPr/>
        </p:nvGrpSpPr>
        <p:grpSpPr bwMode="auto">
          <a:xfrm>
            <a:off x="6429945" y="2840603"/>
            <a:ext cx="546100" cy="274638"/>
            <a:chOff x="1356" y="2033"/>
            <a:chExt cx="344" cy="173"/>
          </a:xfrm>
          <a:solidFill>
            <a:schemeClr val="tx2">
              <a:lumMod val="20000"/>
              <a:lumOff val="80000"/>
            </a:schemeClr>
          </a:solidFill>
        </p:grpSpPr>
        <p:sp>
          <p:nvSpPr>
            <p:cNvPr id="38" name="Rectangle 146"/>
            <p:cNvSpPr>
              <a:spLocks noChangeArrowheads="1"/>
            </p:cNvSpPr>
            <p:nvPr/>
          </p:nvSpPr>
          <p:spPr bwMode="auto">
            <a:xfrm>
              <a:off x="1356" y="2033"/>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a</a:t>
              </a:r>
            </a:p>
          </p:txBody>
        </p:sp>
        <p:sp>
          <p:nvSpPr>
            <p:cNvPr id="39" name="Rectangle 147"/>
            <p:cNvSpPr>
              <a:spLocks noChangeArrowheads="1"/>
            </p:cNvSpPr>
            <p:nvPr/>
          </p:nvSpPr>
          <p:spPr bwMode="auto">
            <a:xfrm>
              <a:off x="1531" y="2033"/>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b</a:t>
              </a:r>
            </a:p>
          </p:txBody>
        </p:sp>
      </p:grpSp>
      <p:sp>
        <p:nvSpPr>
          <p:cNvPr id="40" name="Line 148"/>
          <p:cNvSpPr>
            <a:spLocks noChangeShapeType="1"/>
          </p:cNvSpPr>
          <p:nvPr/>
        </p:nvSpPr>
        <p:spPr bwMode="auto">
          <a:xfrm>
            <a:off x="6174049" y="2977922"/>
            <a:ext cx="254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 name="Text Box 149"/>
          <p:cNvSpPr txBox="1">
            <a:spLocks noChangeArrowheads="1"/>
          </p:cNvSpPr>
          <p:nvPr/>
        </p:nvSpPr>
        <p:spPr bwMode="auto">
          <a:xfrm>
            <a:off x="5342957" y="2814349"/>
            <a:ext cx="91884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t>Open(file)</a:t>
            </a:r>
          </a:p>
        </p:txBody>
      </p:sp>
      <p:grpSp>
        <p:nvGrpSpPr>
          <p:cNvPr id="42" name="Group 150"/>
          <p:cNvGrpSpPr>
            <a:grpSpLocks/>
          </p:cNvGrpSpPr>
          <p:nvPr/>
        </p:nvGrpSpPr>
        <p:grpSpPr bwMode="auto">
          <a:xfrm>
            <a:off x="4338035" y="4078055"/>
            <a:ext cx="812800" cy="274638"/>
            <a:chOff x="972" y="2943"/>
            <a:chExt cx="512" cy="173"/>
          </a:xfrm>
          <a:solidFill>
            <a:schemeClr val="tx2">
              <a:lumMod val="20000"/>
              <a:lumOff val="80000"/>
            </a:schemeClr>
          </a:solidFill>
        </p:grpSpPr>
        <p:sp>
          <p:nvSpPr>
            <p:cNvPr id="43" name="Rectangle 151"/>
            <p:cNvSpPr>
              <a:spLocks noChangeArrowheads="1"/>
            </p:cNvSpPr>
            <p:nvPr/>
          </p:nvSpPr>
          <p:spPr bwMode="auto">
            <a:xfrm>
              <a:off x="972" y="2943"/>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a</a:t>
              </a:r>
            </a:p>
          </p:txBody>
        </p:sp>
        <p:sp>
          <p:nvSpPr>
            <p:cNvPr id="44" name="Rectangle 152"/>
            <p:cNvSpPr>
              <a:spLocks noChangeArrowheads="1"/>
            </p:cNvSpPr>
            <p:nvPr/>
          </p:nvSpPr>
          <p:spPr bwMode="auto">
            <a:xfrm>
              <a:off x="1147" y="2943"/>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b</a:t>
              </a:r>
            </a:p>
          </p:txBody>
        </p:sp>
        <p:sp>
          <p:nvSpPr>
            <p:cNvPr id="45" name="Rectangle 153"/>
            <p:cNvSpPr>
              <a:spLocks noChangeArrowheads="1"/>
            </p:cNvSpPr>
            <p:nvPr/>
          </p:nvSpPr>
          <p:spPr bwMode="auto">
            <a:xfrm>
              <a:off x="1315" y="2943"/>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c</a:t>
              </a:r>
            </a:p>
          </p:txBody>
        </p:sp>
      </p:grpSp>
      <p:grpSp>
        <p:nvGrpSpPr>
          <p:cNvPr id="46" name="Group 156"/>
          <p:cNvGrpSpPr>
            <a:grpSpLocks/>
          </p:cNvGrpSpPr>
          <p:nvPr/>
        </p:nvGrpSpPr>
        <p:grpSpPr bwMode="auto">
          <a:xfrm>
            <a:off x="6421439" y="3544247"/>
            <a:ext cx="812800" cy="276226"/>
            <a:chOff x="988" y="2193"/>
            <a:chExt cx="512" cy="174"/>
          </a:xfrm>
          <a:solidFill>
            <a:schemeClr val="tx2">
              <a:lumMod val="20000"/>
              <a:lumOff val="80000"/>
            </a:schemeClr>
          </a:solidFill>
        </p:grpSpPr>
        <p:sp>
          <p:nvSpPr>
            <p:cNvPr id="47" name="Rectangle 157"/>
            <p:cNvSpPr>
              <a:spLocks noChangeArrowheads="1"/>
            </p:cNvSpPr>
            <p:nvPr/>
          </p:nvSpPr>
          <p:spPr bwMode="auto">
            <a:xfrm>
              <a:off x="988" y="2193"/>
              <a:ext cx="169" cy="17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a</a:t>
              </a:r>
            </a:p>
          </p:txBody>
        </p:sp>
        <p:sp>
          <p:nvSpPr>
            <p:cNvPr id="48" name="Rectangle 158"/>
            <p:cNvSpPr>
              <a:spLocks noChangeArrowheads="1"/>
            </p:cNvSpPr>
            <p:nvPr/>
          </p:nvSpPr>
          <p:spPr bwMode="auto">
            <a:xfrm>
              <a:off x="1163" y="2193"/>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b</a:t>
              </a:r>
            </a:p>
          </p:txBody>
        </p:sp>
        <p:sp>
          <p:nvSpPr>
            <p:cNvPr id="49" name="Rectangle 159"/>
            <p:cNvSpPr>
              <a:spLocks noChangeArrowheads="1"/>
            </p:cNvSpPr>
            <p:nvPr/>
          </p:nvSpPr>
          <p:spPr bwMode="auto">
            <a:xfrm>
              <a:off x="1331" y="2193"/>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a:t>x</a:t>
              </a:r>
            </a:p>
          </p:txBody>
        </p:sp>
      </p:grpSp>
      <p:sp>
        <p:nvSpPr>
          <p:cNvPr id="50" name="Line 181"/>
          <p:cNvSpPr>
            <a:spLocks noChangeShapeType="1"/>
          </p:cNvSpPr>
          <p:nvPr/>
        </p:nvSpPr>
        <p:spPr bwMode="auto">
          <a:xfrm>
            <a:off x="4085622" y="4957526"/>
            <a:ext cx="254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1" name="Text Box 182"/>
          <p:cNvSpPr txBox="1">
            <a:spLocks noChangeArrowheads="1"/>
          </p:cNvSpPr>
          <p:nvPr/>
        </p:nvSpPr>
        <p:spPr bwMode="auto">
          <a:xfrm>
            <a:off x="3267101" y="4785319"/>
            <a:ext cx="91403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t>Close(file)</a:t>
            </a:r>
          </a:p>
        </p:txBody>
      </p:sp>
      <p:sp>
        <p:nvSpPr>
          <p:cNvPr id="52" name="Line 183"/>
          <p:cNvSpPr>
            <a:spLocks noChangeShapeType="1"/>
          </p:cNvSpPr>
          <p:nvPr/>
        </p:nvSpPr>
        <p:spPr bwMode="auto">
          <a:xfrm>
            <a:off x="4084035" y="4588357"/>
            <a:ext cx="254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3" name="Text Box 184"/>
          <p:cNvSpPr txBox="1">
            <a:spLocks noChangeArrowheads="1"/>
          </p:cNvSpPr>
          <p:nvPr/>
        </p:nvSpPr>
        <p:spPr bwMode="auto">
          <a:xfrm>
            <a:off x="3217521" y="4418556"/>
            <a:ext cx="96051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t>Append(d)</a:t>
            </a:r>
          </a:p>
        </p:txBody>
      </p:sp>
      <p:grpSp>
        <p:nvGrpSpPr>
          <p:cNvPr id="54" name="Group 185"/>
          <p:cNvGrpSpPr>
            <a:grpSpLocks/>
          </p:cNvGrpSpPr>
          <p:nvPr/>
        </p:nvGrpSpPr>
        <p:grpSpPr bwMode="auto">
          <a:xfrm>
            <a:off x="4331495" y="4451038"/>
            <a:ext cx="1096963" cy="279400"/>
            <a:chOff x="961" y="2945"/>
            <a:chExt cx="691" cy="176"/>
          </a:xfrm>
          <a:solidFill>
            <a:schemeClr val="tx2">
              <a:lumMod val="20000"/>
              <a:lumOff val="80000"/>
            </a:schemeClr>
          </a:solidFill>
        </p:grpSpPr>
        <p:sp>
          <p:nvSpPr>
            <p:cNvPr id="55" name="Rectangle 186"/>
            <p:cNvSpPr>
              <a:spLocks noChangeArrowheads="1"/>
            </p:cNvSpPr>
            <p:nvPr/>
          </p:nvSpPr>
          <p:spPr bwMode="auto">
            <a:xfrm>
              <a:off x="961" y="2945"/>
              <a:ext cx="169" cy="176"/>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a</a:t>
              </a:r>
            </a:p>
          </p:txBody>
        </p:sp>
        <p:sp>
          <p:nvSpPr>
            <p:cNvPr id="56" name="Rectangle 187"/>
            <p:cNvSpPr>
              <a:spLocks noChangeArrowheads="1"/>
            </p:cNvSpPr>
            <p:nvPr/>
          </p:nvSpPr>
          <p:spPr bwMode="auto">
            <a:xfrm>
              <a:off x="1140"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b</a:t>
              </a:r>
            </a:p>
          </p:txBody>
        </p:sp>
        <p:sp>
          <p:nvSpPr>
            <p:cNvPr id="57" name="Rectangle 188"/>
            <p:cNvSpPr>
              <a:spLocks noChangeArrowheads="1"/>
            </p:cNvSpPr>
            <p:nvPr/>
          </p:nvSpPr>
          <p:spPr bwMode="auto">
            <a:xfrm>
              <a:off x="1311"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a:t>c</a:t>
              </a:r>
            </a:p>
          </p:txBody>
        </p:sp>
        <p:sp>
          <p:nvSpPr>
            <p:cNvPr id="58" name="Rectangle 189"/>
            <p:cNvSpPr>
              <a:spLocks noChangeArrowheads="1"/>
            </p:cNvSpPr>
            <p:nvPr/>
          </p:nvSpPr>
          <p:spPr bwMode="auto">
            <a:xfrm>
              <a:off x="1483"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a:t>d</a:t>
              </a:r>
            </a:p>
          </p:txBody>
        </p:sp>
      </p:grpSp>
      <p:sp>
        <p:nvSpPr>
          <p:cNvPr id="59" name="Line 205"/>
          <p:cNvSpPr>
            <a:spLocks noChangeShapeType="1"/>
          </p:cNvSpPr>
          <p:nvPr/>
        </p:nvSpPr>
        <p:spPr bwMode="auto">
          <a:xfrm flipH="1">
            <a:off x="6991347" y="1686485"/>
            <a:ext cx="1247772" cy="1293812"/>
          </a:xfrm>
          <a:prstGeom prst="line">
            <a:avLst/>
          </a:prstGeom>
          <a:noFill/>
          <a:ln w="28575">
            <a:solidFill>
              <a:schemeClr val="folHlink"/>
            </a:solidFill>
            <a:prstDash val="sys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 name="Line 206"/>
          <p:cNvSpPr>
            <a:spLocks noChangeShapeType="1"/>
          </p:cNvSpPr>
          <p:nvPr/>
        </p:nvSpPr>
        <p:spPr bwMode="auto">
          <a:xfrm>
            <a:off x="2122399" y="2361621"/>
            <a:ext cx="254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1" name="Text Box 209"/>
          <p:cNvSpPr txBox="1">
            <a:spLocks noChangeArrowheads="1"/>
          </p:cNvSpPr>
          <p:nvPr/>
        </p:nvSpPr>
        <p:spPr bwMode="auto">
          <a:xfrm>
            <a:off x="1271062" y="2202996"/>
            <a:ext cx="94128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t>Append(c)</a:t>
            </a:r>
          </a:p>
        </p:txBody>
      </p:sp>
      <p:sp>
        <p:nvSpPr>
          <p:cNvPr id="62" name="Line 212"/>
          <p:cNvSpPr>
            <a:spLocks noChangeShapeType="1"/>
          </p:cNvSpPr>
          <p:nvPr/>
        </p:nvSpPr>
        <p:spPr bwMode="auto">
          <a:xfrm>
            <a:off x="2122399" y="2897747"/>
            <a:ext cx="254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3" name="Text Box 213"/>
          <p:cNvSpPr txBox="1">
            <a:spLocks noChangeArrowheads="1"/>
          </p:cNvSpPr>
          <p:nvPr/>
        </p:nvSpPr>
        <p:spPr bwMode="auto">
          <a:xfrm>
            <a:off x="1309166" y="2732638"/>
            <a:ext cx="91403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t>Close(file)</a:t>
            </a:r>
          </a:p>
        </p:txBody>
      </p:sp>
      <p:sp>
        <p:nvSpPr>
          <p:cNvPr id="64" name="Line 216"/>
          <p:cNvSpPr>
            <a:spLocks noChangeShapeType="1"/>
          </p:cNvSpPr>
          <p:nvPr/>
        </p:nvSpPr>
        <p:spPr bwMode="auto">
          <a:xfrm>
            <a:off x="7230942" y="4236009"/>
            <a:ext cx="1024058" cy="625476"/>
          </a:xfrm>
          <a:prstGeom prst="line">
            <a:avLst/>
          </a:prstGeom>
          <a:noFill/>
          <a:ln w="28575">
            <a:solidFill>
              <a:schemeClr val="folHlink"/>
            </a:solidFill>
            <a:prstDash val="sys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5" name="Line 217"/>
          <p:cNvSpPr>
            <a:spLocks noChangeShapeType="1"/>
          </p:cNvSpPr>
          <p:nvPr/>
        </p:nvSpPr>
        <p:spPr bwMode="auto">
          <a:xfrm flipH="1">
            <a:off x="5173663" y="3713718"/>
            <a:ext cx="3065462" cy="503244"/>
          </a:xfrm>
          <a:prstGeom prst="line">
            <a:avLst/>
          </a:prstGeom>
          <a:noFill/>
          <a:ln w="28575">
            <a:solidFill>
              <a:srgbClr val="FF0000"/>
            </a:solidFill>
            <a:prstDash val="sys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6" name="Line 218"/>
          <p:cNvSpPr>
            <a:spLocks noChangeShapeType="1"/>
          </p:cNvSpPr>
          <p:nvPr/>
        </p:nvSpPr>
        <p:spPr bwMode="auto">
          <a:xfrm>
            <a:off x="5434998" y="4957526"/>
            <a:ext cx="2807302" cy="399259"/>
          </a:xfrm>
          <a:prstGeom prst="line">
            <a:avLst/>
          </a:prstGeom>
          <a:noFill/>
          <a:ln w="28575">
            <a:solidFill>
              <a:srgbClr val="FF0000"/>
            </a:solidFill>
            <a:prstDash val="sys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67" name="Group 92"/>
          <p:cNvGrpSpPr>
            <a:grpSpLocks/>
          </p:cNvGrpSpPr>
          <p:nvPr/>
        </p:nvGrpSpPr>
        <p:grpSpPr bwMode="auto">
          <a:xfrm>
            <a:off x="2378078" y="2760428"/>
            <a:ext cx="814388" cy="274638"/>
            <a:chOff x="987" y="2193"/>
            <a:chExt cx="513" cy="173"/>
          </a:xfrm>
          <a:solidFill>
            <a:schemeClr val="tx2">
              <a:lumMod val="20000"/>
              <a:lumOff val="80000"/>
            </a:schemeClr>
          </a:solidFill>
        </p:grpSpPr>
        <p:sp>
          <p:nvSpPr>
            <p:cNvPr id="68" name="Rectangle 80"/>
            <p:cNvSpPr>
              <a:spLocks noChangeArrowheads="1"/>
            </p:cNvSpPr>
            <p:nvPr/>
          </p:nvSpPr>
          <p:spPr bwMode="auto">
            <a:xfrm>
              <a:off x="987" y="2193"/>
              <a:ext cx="175"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a</a:t>
              </a:r>
            </a:p>
          </p:txBody>
        </p:sp>
        <p:sp>
          <p:nvSpPr>
            <p:cNvPr id="69" name="Rectangle 81"/>
            <p:cNvSpPr>
              <a:spLocks noChangeArrowheads="1"/>
            </p:cNvSpPr>
            <p:nvPr/>
          </p:nvSpPr>
          <p:spPr bwMode="auto">
            <a:xfrm>
              <a:off x="1172" y="2193"/>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b</a:t>
              </a:r>
            </a:p>
          </p:txBody>
        </p:sp>
        <p:sp>
          <p:nvSpPr>
            <p:cNvPr id="70" name="Rectangle 82"/>
            <p:cNvSpPr>
              <a:spLocks noChangeArrowheads="1"/>
            </p:cNvSpPr>
            <p:nvPr/>
          </p:nvSpPr>
          <p:spPr bwMode="auto">
            <a:xfrm>
              <a:off x="1331" y="2193"/>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a:t>c</a:t>
              </a:r>
            </a:p>
          </p:txBody>
        </p:sp>
      </p:grpSp>
      <p:grpSp>
        <p:nvGrpSpPr>
          <p:cNvPr id="71" name="Group 156"/>
          <p:cNvGrpSpPr>
            <a:grpSpLocks/>
          </p:cNvGrpSpPr>
          <p:nvPr/>
        </p:nvGrpSpPr>
        <p:grpSpPr bwMode="auto">
          <a:xfrm>
            <a:off x="6428049" y="4101865"/>
            <a:ext cx="812800" cy="276226"/>
            <a:chOff x="988" y="2193"/>
            <a:chExt cx="512" cy="174"/>
          </a:xfrm>
          <a:solidFill>
            <a:schemeClr val="tx2">
              <a:lumMod val="20000"/>
              <a:lumOff val="80000"/>
            </a:schemeClr>
          </a:solidFill>
        </p:grpSpPr>
        <p:sp>
          <p:nvSpPr>
            <p:cNvPr id="72" name="Rectangle 157"/>
            <p:cNvSpPr>
              <a:spLocks noChangeArrowheads="1"/>
            </p:cNvSpPr>
            <p:nvPr/>
          </p:nvSpPr>
          <p:spPr bwMode="auto">
            <a:xfrm>
              <a:off x="988" y="2193"/>
              <a:ext cx="169" cy="17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a</a:t>
              </a:r>
            </a:p>
          </p:txBody>
        </p:sp>
        <p:sp>
          <p:nvSpPr>
            <p:cNvPr id="73" name="Rectangle 158"/>
            <p:cNvSpPr>
              <a:spLocks noChangeArrowheads="1"/>
            </p:cNvSpPr>
            <p:nvPr/>
          </p:nvSpPr>
          <p:spPr bwMode="auto">
            <a:xfrm>
              <a:off x="1163" y="2193"/>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a:t>b</a:t>
              </a:r>
            </a:p>
          </p:txBody>
        </p:sp>
        <p:sp>
          <p:nvSpPr>
            <p:cNvPr id="74" name="Rectangle 159"/>
            <p:cNvSpPr>
              <a:spLocks noChangeArrowheads="1"/>
            </p:cNvSpPr>
            <p:nvPr/>
          </p:nvSpPr>
          <p:spPr bwMode="auto">
            <a:xfrm>
              <a:off x="1331" y="2193"/>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a:t>x</a:t>
              </a:r>
            </a:p>
          </p:txBody>
        </p:sp>
      </p:grpSp>
      <p:grpSp>
        <p:nvGrpSpPr>
          <p:cNvPr id="75" name="Group 185"/>
          <p:cNvGrpSpPr>
            <a:grpSpLocks/>
          </p:cNvGrpSpPr>
          <p:nvPr/>
        </p:nvGrpSpPr>
        <p:grpSpPr bwMode="auto">
          <a:xfrm>
            <a:off x="4331685" y="4832050"/>
            <a:ext cx="1084263" cy="279400"/>
            <a:chOff x="969" y="2945"/>
            <a:chExt cx="683" cy="176"/>
          </a:xfrm>
          <a:solidFill>
            <a:schemeClr val="tx2">
              <a:lumMod val="20000"/>
              <a:lumOff val="80000"/>
            </a:schemeClr>
          </a:solidFill>
        </p:grpSpPr>
        <p:sp>
          <p:nvSpPr>
            <p:cNvPr id="76" name="Rectangle 186"/>
            <p:cNvSpPr>
              <a:spLocks noChangeArrowheads="1"/>
            </p:cNvSpPr>
            <p:nvPr/>
          </p:nvSpPr>
          <p:spPr bwMode="auto">
            <a:xfrm>
              <a:off x="969" y="2945"/>
              <a:ext cx="169" cy="176"/>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a</a:t>
              </a:r>
            </a:p>
          </p:txBody>
        </p:sp>
        <p:sp>
          <p:nvSpPr>
            <p:cNvPr id="77" name="Rectangle 187"/>
            <p:cNvSpPr>
              <a:spLocks noChangeArrowheads="1"/>
            </p:cNvSpPr>
            <p:nvPr/>
          </p:nvSpPr>
          <p:spPr bwMode="auto">
            <a:xfrm>
              <a:off x="1147"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a:t>b</a:t>
              </a:r>
            </a:p>
          </p:txBody>
        </p:sp>
        <p:sp>
          <p:nvSpPr>
            <p:cNvPr id="78" name="Rectangle 188"/>
            <p:cNvSpPr>
              <a:spLocks noChangeArrowheads="1"/>
            </p:cNvSpPr>
            <p:nvPr/>
          </p:nvSpPr>
          <p:spPr bwMode="auto">
            <a:xfrm>
              <a:off x="1315"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a:t>c</a:t>
              </a:r>
            </a:p>
          </p:txBody>
        </p:sp>
        <p:sp>
          <p:nvSpPr>
            <p:cNvPr id="79" name="Rectangle 189"/>
            <p:cNvSpPr>
              <a:spLocks noChangeArrowheads="1"/>
            </p:cNvSpPr>
            <p:nvPr/>
          </p:nvSpPr>
          <p:spPr bwMode="auto">
            <a:xfrm>
              <a:off x="1483"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a:t>d</a:t>
              </a:r>
            </a:p>
          </p:txBody>
        </p:sp>
      </p:grpSp>
      <p:grpSp>
        <p:nvGrpSpPr>
          <p:cNvPr id="80" name="Group 79"/>
          <p:cNvGrpSpPr/>
          <p:nvPr/>
        </p:nvGrpSpPr>
        <p:grpSpPr>
          <a:xfrm>
            <a:off x="8248422" y="4707653"/>
            <a:ext cx="1078040" cy="274638"/>
            <a:chOff x="7346951" y="4872038"/>
            <a:chExt cx="1078040" cy="274638"/>
          </a:xfrm>
          <a:solidFill>
            <a:schemeClr val="tx2">
              <a:lumMod val="20000"/>
              <a:lumOff val="80000"/>
            </a:schemeClr>
          </a:solidFill>
        </p:grpSpPr>
        <p:grpSp>
          <p:nvGrpSpPr>
            <p:cNvPr id="81" name="Group 175"/>
            <p:cNvGrpSpPr>
              <a:grpSpLocks/>
            </p:cNvGrpSpPr>
            <p:nvPr/>
          </p:nvGrpSpPr>
          <p:grpSpPr bwMode="auto">
            <a:xfrm>
              <a:off x="7346951" y="4872038"/>
              <a:ext cx="804863" cy="274638"/>
              <a:chOff x="972" y="2945"/>
              <a:chExt cx="507" cy="173"/>
            </a:xfrm>
            <a:grpFill/>
          </p:grpSpPr>
          <p:sp>
            <p:nvSpPr>
              <p:cNvPr id="83" name="Rectangle 176"/>
              <p:cNvSpPr>
                <a:spLocks noChangeArrowheads="1"/>
              </p:cNvSpPr>
              <p:nvPr/>
            </p:nvSpPr>
            <p:spPr bwMode="auto">
              <a:xfrm>
                <a:off x="972"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a</a:t>
                </a:r>
              </a:p>
            </p:txBody>
          </p:sp>
          <p:sp>
            <p:nvSpPr>
              <p:cNvPr id="84" name="Rectangle 177"/>
              <p:cNvSpPr>
                <a:spLocks noChangeArrowheads="1"/>
              </p:cNvSpPr>
              <p:nvPr/>
            </p:nvSpPr>
            <p:spPr bwMode="auto">
              <a:xfrm>
                <a:off x="1147"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b</a:t>
                </a:r>
              </a:p>
            </p:txBody>
          </p:sp>
          <p:sp>
            <p:nvSpPr>
              <p:cNvPr id="85" name="Rectangle 178"/>
              <p:cNvSpPr>
                <a:spLocks noChangeArrowheads="1"/>
              </p:cNvSpPr>
              <p:nvPr/>
            </p:nvSpPr>
            <p:spPr bwMode="auto">
              <a:xfrm>
                <a:off x="1310"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c</a:t>
                </a:r>
              </a:p>
            </p:txBody>
          </p:sp>
        </p:grpSp>
        <p:sp>
          <p:nvSpPr>
            <p:cNvPr id="82" name="Rectangle 178"/>
            <p:cNvSpPr>
              <a:spLocks noChangeArrowheads="1"/>
            </p:cNvSpPr>
            <p:nvPr/>
          </p:nvSpPr>
          <p:spPr bwMode="auto">
            <a:xfrm>
              <a:off x="8156703" y="4872038"/>
              <a:ext cx="268288" cy="27463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x</a:t>
              </a:r>
            </a:p>
          </p:txBody>
        </p:sp>
      </p:grpSp>
      <p:grpSp>
        <p:nvGrpSpPr>
          <p:cNvPr id="86" name="Group 85"/>
          <p:cNvGrpSpPr/>
          <p:nvPr/>
        </p:nvGrpSpPr>
        <p:grpSpPr>
          <a:xfrm>
            <a:off x="8246961" y="5242563"/>
            <a:ext cx="1341439" cy="274638"/>
            <a:chOff x="7315200" y="5392738"/>
            <a:chExt cx="1341439" cy="274638"/>
          </a:xfrm>
          <a:solidFill>
            <a:schemeClr val="tx2">
              <a:lumMod val="20000"/>
              <a:lumOff val="80000"/>
            </a:schemeClr>
          </a:solidFill>
        </p:grpSpPr>
        <p:grpSp>
          <p:nvGrpSpPr>
            <p:cNvPr id="87" name="Group 195"/>
            <p:cNvGrpSpPr>
              <a:grpSpLocks/>
            </p:cNvGrpSpPr>
            <p:nvPr/>
          </p:nvGrpSpPr>
          <p:grpSpPr bwMode="auto">
            <a:xfrm>
              <a:off x="7315200" y="5392738"/>
              <a:ext cx="1079500" cy="274638"/>
              <a:chOff x="972" y="2945"/>
              <a:chExt cx="680" cy="173"/>
            </a:xfrm>
            <a:grpFill/>
          </p:grpSpPr>
          <p:sp>
            <p:nvSpPr>
              <p:cNvPr id="89" name="Rectangle 196"/>
              <p:cNvSpPr>
                <a:spLocks noChangeArrowheads="1"/>
              </p:cNvSpPr>
              <p:nvPr/>
            </p:nvSpPr>
            <p:spPr bwMode="auto">
              <a:xfrm>
                <a:off x="972"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a</a:t>
                </a:r>
              </a:p>
            </p:txBody>
          </p:sp>
          <p:sp>
            <p:nvSpPr>
              <p:cNvPr id="90" name="Rectangle 197"/>
              <p:cNvSpPr>
                <a:spLocks noChangeArrowheads="1"/>
              </p:cNvSpPr>
              <p:nvPr/>
            </p:nvSpPr>
            <p:spPr bwMode="auto">
              <a:xfrm>
                <a:off x="1147"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b</a:t>
                </a:r>
              </a:p>
            </p:txBody>
          </p:sp>
          <p:sp>
            <p:nvSpPr>
              <p:cNvPr id="91" name="Rectangle 198"/>
              <p:cNvSpPr>
                <a:spLocks noChangeArrowheads="1"/>
              </p:cNvSpPr>
              <p:nvPr/>
            </p:nvSpPr>
            <p:spPr bwMode="auto">
              <a:xfrm>
                <a:off x="1312"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c</a:t>
                </a:r>
              </a:p>
            </p:txBody>
          </p:sp>
          <p:sp>
            <p:nvSpPr>
              <p:cNvPr id="92" name="Rectangle 199"/>
              <p:cNvSpPr>
                <a:spLocks noChangeArrowheads="1"/>
              </p:cNvSpPr>
              <p:nvPr/>
            </p:nvSpPr>
            <p:spPr bwMode="auto">
              <a:xfrm>
                <a:off x="1483" y="2945"/>
                <a:ext cx="169" cy="17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x</a:t>
                </a:r>
              </a:p>
            </p:txBody>
          </p:sp>
        </p:grpSp>
        <p:sp>
          <p:nvSpPr>
            <p:cNvPr id="88" name="Rectangle 199"/>
            <p:cNvSpPr>
              <a:spLocks noChangeArrowheads="1"/>
            </p:cNvSpPr>
            <p:nvPr/>
          </p:nvSpPr>
          <p:spPr bwMode="auto">
            <a:xfrm>
              <a:off x="8388351" y="5392738"/>
              <a:ext cx="268288" cy="27463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dirty="0"/>
                <a:t>d</a:t>
              </a:r>
            </a:p>
          </p:txBody>
        </p:sp>
      </p:grpSp>
    </p:spTree>
    <p:extLst>
      <p:ext uri="{BB962C8B-B14F-4D97-AF65-F5344CB8AC3E}">
        <p14:creationId xmlns:p14="http://schemas.microsoft.com/office/powerpoint/2010/main" val="4075689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right)">
                                      <p:cBhvr>
                                        <p:cTn id="19" dur="500"/>
                                        <p:tgtEl>
                                          <p:spTgt spid="17"/>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right)">
                                      <p:cBhvr>
                                        <p:cTn id="22" dur="500"/>
                                        <p:tgtEl>
                                          <p:spTgt spid="19"/>
                                        </p:tgtEl>
                                      </p:cBhvr>
                                    </p:animEffect>
                                  </p:childTnLst>
                                </p:cTn>
                              </p:par>
                              <p:par>
                                <p:cTn id="23" presetID="22" presetClass="entr" presetSubtype="2"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right)">
                                      <p:cBhvr>
                                        <p:cTn id="25" dur="500"/>
                                        <p:tgtEl>
                                          <p:spTgt spid="10"/>
                                        </p:tgtEl>
                                      </p:cBhvr>
                                    </p:animEffect>
                                  </p:childTnLst>
                                </p:cTn>
                              </p:par>
                              <p:par>
                                <p:cTn id="26" presetID="22" presetClass="entr" presetSubtype="2"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right)">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0"/>
                                        </p:tgtEl>
                                        <p:attrNameLst>
                                          <p:attrName>style.visibility</p:attrName>
                                        </p:attrNameLst>
                                      </p:cBhvr>
                                      <p:to>
                                        <p:strVal val="visible"/>
                                      </p:to>
                                    </p:set>
                                    <p:animEffect transition="in" filter="wipe(left)">
                                      <p:cBhvr>
                                        <p:cTn id="33" dur="500"/>
                                        <p:tgtEl>
                                          <p:spTgt spid="6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61"/>
                                        </p:tgtEl>
                                        <p:attrNameLst>
                                          <p:attrName>style.visibility</p:attrName>
                                        </p:attrNameLst>
                                      </p:cBhvr>
                                      <p:to>
                                        <p:strVal val="visible"/>
                                      </p:to>
                                    </p:set>
                                    <p:animEffect transition="in" filter="wipe(left)">
                                      <p:cBhvr>
                                        <p:cTn id="36" dur="500"/>
                                        <p:tgtEl>
                                          <p:spTgt spid="61"/>
                                        </p:tgtEl>
                                      </p:cBhvr>
                                    </p:animEffect>
                                  </p:childTnLst>
                                </p:cTn>
                              </p:par>
                              <p:par>
                                <p:cTn id="37" presetID="22" presetClass="entr" presetSubtype="8"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up)">
                                      <p:cBhvr>
                                        <p:cTn id="44" dur="500"/>
                                        <p:tgtEl>
                                          <p:spTgt spid="8"/>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up)">
                                      <p:cBhvr>
                                        <p:cTn id="47" dur="500"/>
                                        <p:tgtEl>
                                          <p:spTgt spid="24"/>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up)">
                                      <p:cBhvr>
                                        <p:cTn id="50" dur="500"/>
                                        <p:tgtEl>
                                          <p:spTgt spid="9"/>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wipe(up)">
                                      <p:cBhvr>
                                        <p:cTn id="53" dur="500"/>
                                        <p:tgtEl>
                                          <p:spTgt spid="2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grpId="0" nodeType="clickEffect">
                                  <p:stCondLst>
                                    <p:cond delay="0"/>
                                  </p:stCondLst>
                                  <p:childTnLst>
                                    <p:set>
                                      <p:cBhvr>
                                        <p:cTn id="57" dur="1" fill="hold">
                                          <p:stCondLst>
                                            <p:cond delay="0"/>
                                          </p:stCondLst>
                                        </p:cTn>
                                        <p:tgtEl>
                                          <p:spTgt spid="59"/>
                                        </p:tgtEl>
                                        <p:attrNameLst>
                                          <p:attrName>style.visibility</p:attrName>
                                        </p:attrNameLst>
                                      </p:cBhvr>
                                      <p:to>
                                        <p:strVal val="visible"/>
                                      </p:to>
                                    </p:set>
                                    <p:animEffect transition="in" filter="wipe(right)">
                                      <p:cBhvr>
                                        <p:cTn id="58" dur="500"/>
                                        <p:tgtEl>
                                          <p:spTgt spid="59"/>
                                        </p:tgtEl>
                                      </p:cBhvr>
                                    </p:animEffect>
                                  </p:childTnLst>
                                </p:cTn>
                              </p:par>
                              <p:par>
                                <p:cTn id="59" presetID="22" presetClass="entr" presetSubtype="2" fill="hold" nodeType="with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wipe(right)">
                                      <p:cBhvr>
                                        <p:cTn id="61" dur="500"/>
                                        <p:tgtEl>
                                          <p:spTgt spid="37"/>
                                        </p:tgtEl>
                                      </p:cBhvr>
                                    </p:animEffect>
                                  </p:childTnLst>
                                </p:cTn>
                              </p:par>
                              <p:par>
                                <p:cTn id="62" presetID="22" presetClass="entr" presetSubtype="2"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wipe(right)">
                                      <p:cBhvr>
                                        <p:cTn id="64" dur="500"/>
                                        <p:tgtEl>
                                          <p:spTgt spid="40"/>
                                        </p:tgtEl>
                                      </p:cBhvr>
                                    </p:animEffect>
                                  </p:childTnLst>
                                </p:cTn>
                              </p:par>
                              <p:par>
                                <p:cTn id="65" presetID="22" presetClass="entr" presetSubtype="2" fill="hold" grpId="0" nodeType="with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wipe(right)">
                                      <p:cBhvr>
                                        <p:cTn id="67" dur="500"/>
                                        <p:tgtEl>
                                          <p:spTgt spid="4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3"/>
                                        </p:tgtEl>
                                        <p:attrNameLst>
                                          <p:attrName>style.visibility</p:attrName>
                                        </p:attrNameLst>
                                      </p:cBhvr>
                                      <p:to>
                                        <p:strVal val="visible"/>
                                      </p:to>
                                    </p:set>
                                    <p:animEffect transition="in" filter="wipe(left)">
                                      <p:cBhvr>
                                        <p:cTn id="72" dur="500"/>
                                        <p:tgtEl>
                                          <p:spTgt spid="63"/>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62"/>
                                        </p:tgtEl>
                                        <p:attrNameLst>
                                          <p:attrName>style.visibility</p:attrName>
                                        </p:attrNameLst>
                                      </p:cBhvr>
                                      <p:to>
                                        <p:strVal val="visible"/>
                                      </p:to>
                                    </p:set>
                                    <p:animEffect transition="in" filter="wipe(left)">
                                      <p:cBhvr>
                                        <p:cTn id="75" dur="500"/>
                                        <p:tgtEl>
                                          <p:spTgt spid="62"/>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6"/>
                                        </p:tgtEl>
                                        <p:attrNameLst>
                                          <p:attrName>style.visibility</p:attrName>
                                        </p:attrNameLst>
                                      </p:cBhvr>
                                      <p:to>
                                        <p:strVal val="visible"/>
                                      </p:to>
                                    </p:set>
                                    <p:animEffect transition="in" filter="wipe(left)">
                                      <p:cBhvr>
                                        <p:cTn id="78" dur="500"/>
                                        <p:tgtEl>
                                          <p:spTgt spid="6"/>
                                        </p:tgtEl>
                                      </p:cBhvr>
                                    </p:animEffect>
                                  </p:childTnLst>
                                </p:cTn>
                              </p:par>
                              <p:par>
                                <p:cTn id="79" presetID="22" presetClass="entr" presetSubtype="8" fill="hold" nodeType="withEffect">
                                  <p:stCondLst>
                                    <p:cond delay="0"/>
                                  </p:stCondLst>
                                  <p:childTnLst>
                                    <p:set>
                                      <p:cBhvr>
                                        <p:cTn id="80" dur="1" fill="hold">
                                          <p:stCondLst>
                                            <p:cond delay="0"/>
                                          </p:stCondLst>
                                        </p:cTn>
                                        <p:tgtEl>
                                          <p:spTgt spid="67"/>
                                        </p:tgtEl>
                                        <p:attrNameLst>
                                          <p:attrName>style.visibility</p:attrName>
                                        </p:attrNameLst>
                                      </p:cBhvr>
                                      <p:to>
                                        <p:strVal val="visible"/>
                                      </p:to>
                                    </p:set>
                                    <p:animEffect transition="in" filter="wipe(left)">
                                      <p:cBhvr>
                                        <p:cTn id="81" dur="500"/>
                                        <p:tgtEl>
                                          <p:spTgt spid="67"/>
                                        </p:tgtEl>
                                      </p:cBhvr>
                                    </p:animEffect>
                                  </p:childTnLst>
                                </p:cTn>
                              </p:par>
                              <p:par>
                                <p:cTn id="82" presetID="22" presetClass="entr" presetSubtype="8"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wipe(left)">
                                      <p:cBhvr>
                                        <p:cTn id="84" dur="500"/>
                                        <p:tgtEl>
                                          <p:spTgt spid="31"/>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wipe(left)">
                                      <p:cBhvr>
                                        <p:cTn id="89" dur="500"/>
                                        <p:tgtEl>
                                          <p:spTgt spid="18"/>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wipe(left)">
                                      <p:cBhvr>
                                        <p:cTn id="92" dur="500"/>
                                        <p:tgtEl>
                                          <p:spTgt spid="20"/>
                                        </p:tgtEl>
                                      </p:cBhvr>
                                    </p:animEffect>
                                  </p:childTnLst>
                                </p:cTn>
                              </p:par>
                              <p:par>
                                <p:cTn id="93" presetID="22" presetClass="entr" presetSubtype="8" fill="hold" nodeType="withEffect">
                                  <p:stCondLst>
                                    <p:cond delay="0"/>
                                  </p:stCondLst>
                                  <p:childTnLst>
                                    <p:set>
                                      <p:cBhvr>
                                        <p:cTn id="94" dur="1" fill="hold">
                                          <p:stCondLst>
                                            <p:cond delay="0"/>
                                          </p:stCondLst>
                                        </p:cTn>
                                        <p:tgtEl>
                                          <p:spTgt spid="46"/>
                                        </p:tgtEl>
                                        <p:attrNameLst>
                                          <p:attrName>style.visibility</p:attrName>
                                        </p:attrNameLst>
                                      </p:cBhvr>
                                      <p:to>
                                        <p:strVal val="visible"/>
                                      </p:to>
                                    </p:set>
                                    <p:animEffect transition="in" filter="wipe(left)">
                                      <p:cBhvr>
                                        <p:cTn id="95" dur="500"/>
                                        <p:tgtEl>
                                          <p:spTgt spid="46"/>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2" fill="hold" grpId="0" nodeType="clickEffect">
                                  <p:stCondLst>
                                    <p:cond delay="0"/>
                                  </p:stCondLst>
                                  <p:childTnLst>
                                    <p:set>
                                      <p:cBhvr>
                                        <p:cTn id="99" dur="1" fill="hold">
                                          <p:stCondLst>
                                            <p:cond delay="0"/>
                                          </p:stCondLst>
                                        </p:cTn>
                                        <p:tgtEl>
                                          <p:spTgt spid="65"/>
                                        </p:tgtEl>
                                        <p:attrNameLst>
                                          <p:attrName>style.visibility</p:attrName>
                                        </p:attrNameLst>
                                      </p:cBhvr>
                                      <p:to>
                                        <p:strVal val="visible"/>
                                      </p:to>
                                    </p:set>
                                    <p:animEffect transition="in" filter="wipe(right)">
                                      <p:cBhvr>
                                        <p:cTn id="100" dur="500"/>
                                        <p:tgtEl>
                                          <p:spTgt spid="65"/>
                                        </p:tgtEl>
                                      </p:cBhvr>
                                    </p:animEffect>
                                  </p:childTnLst>
                                </p:cTn>
                              </p:par>
                              <p:par>
                                <p:cTn id="101" presetID="22" presetClass="entr" presetSubtype="2" fill="hold" grpId="0" nodeType="with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wipe(right)">
                                      <p:cBhvr>
                                        <p:cTn id="103" dur="500"/>
                                        <p:tgtEl>
                                          <p:spTgt spid="35"/>
                                        </p:tgtEl>
                                      </p:cBhvr>
                                    </p:animEffect>
                                  </p:childTnLst>
                                </p:cTn>
                              </p:par>
                              <p:par>
                                <p:cTn id="104" presetID="22" presetClass="entr" presetSubtype="2" fill="hold" grpId="0" nodeType="withEffect">
                                  <p:stCondLst>
                                    <p:cond delay="0"/>
                                  </p:stCondLst>
                                  <p:childTnLst>
                                    <p:set>
                                      <p:cBhvr>
                                        <p:cTn id="105" dur="1" fill="hold">
                                          <p:stCondLst>
                                            <p:cond delay="0"/>
                                          </p:stCondLst>
                                        </p:cTn>
                                        <p:tgtEl>
                                          <p:spTgt spid="36"/>
                                        </p:tgtEl>
                                        <p:attrNameLst>
                                          <p:attrName>style.visibility</p:attrName>
                                        </p:attrNameLst>
                                      </p:cBhvr>
                                      <p:to>
                                        <p:strVal val="visible"/>
                                      </p:to>
                                    </p:set>
                                    <p:animEffect transition="in" filter="wipe(right)">
                                      <p:cBhvr>
                                        <p:cTn id="106" dur="500"/>
                                        <p:tgtEl>
                                          <p:spTgt spid="36"/>
                                        </p:tgtEl>
                                      </p:cBhvr>
                                    </p:animEffect>
                                  </p:childTnLst>
                                </p:cTn>
                              </p:par>
                              <p:par>
                                <p:cTn id="107" presetID="22" presetClass="entr" presetSubtype="2" fill="hold" nodeType="withEffect">
                                  <p:stCondLst>
                                    <p:cond delay="0"/>
                                  </p:stCondLst>
                                  <p:childTnLst>
                                    <p:set>
                                      <p:cBhvr>
                                        <p:cTn id="108" dur="1" fill="hold">
                                          <p:stCondLst>
                                            <p:cond delay="0"/>
                                          </p:stCondLst>
                                        </p:cTn>
                                        <p:tgtEl>
                                          <p:spTgt spid="42"/>
                                        </p:tgtEl>
                                        <p:attrNameLst>
                                          <p:attrName>style.visibility</p:attrName>
                                        </p:attrNameLst>
                                      </p:cBhvr>
                                      <p:to>
                                        <p:strVal val="visible"/>
                                      </p:to>
                                    </p:set>
                                    <p:animEffect transition="in" filter="wipe(right)">
                                      <p:cBhvr>
                                        <p:cTn id="109" dur="500"/>
                                        <p:tgtEl>
                                          <p:spTgt spid="42"/>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21"/>
                                        </p:tgtEl>
                                        <p:attrNameLst>
                                          <p:attrName>style.visibility</p:attrName>
                                        </p:attrNameLst>
                                      </p:cBhvr>
                                      <p:to>
                                        <p:strVal val="visible"/>
                                      </p:to>
                                    </p:set>
                                    <p:animEffect transition="in" filter="wipe(left)">
                                      <p:cBhvr>
                                        <p:cTn id="114" dur="500"/>
                                        <p:tgtEl>
                                          <p:spTgt spid="21"/>
                                        </p:tgtEl>
                                      </p:cBhvr>
                                    </p:animEffect>
                                  </p:childTnLst>
                                </p:cTn>
                              </p:par>
                              <p:par>
                                <p:cTn id="115" presetID="22" presetClass="entr" presetSubtype="8" fill="hold" grpId="0" nodeType="withEffect">
                                  <p:stCondLst>
                                    <p:cond delay="0"/>
                                  </p:stCondLst>
                                  <p:childTnLst>
                                    <p:set>
                                      <p:cBhvr>
                                        <p:cTn id="116" dur="1" fill="hold">
                                          <p:stCondLst>
                                            <p:cond delay="0"/>
                                          </p:stCondLst>
                                        </p:cTn>
                                        <p:tgtEl>
                                          <p:spTgt spid="22"/>
                                        </p:tgtEl>
                                        <p:attrNameLst>
                                          <p:attrName>style.visibility</p:attrName>
                                        </p:attrNameLst>
                                      </p:cBhvr>
                                      <p:to>
                                        <p:strVal val="visible"/>
                                      </p:to>
                                    </p:set>
                                    <p:animEffect transition="in" filter="wipe(left)">
                                      <p:cBhvr>
                                        <p:cTn id="117" dur="500"/>
                                        <p:tgtEl>
                                          <p:spTgt spid="22"/>
                                        </p:tgtEl>
                                      </p:cBhvr>
                                    </p:animEffect>
                                  </p:childTnLst>
                                </p:cTn>
                              </p:par>
                              <p:par>
                                <p:cTn id="118" presetID="22" presetClass="entr" presetSubtype="8" fill="hold" grpId="0" nodeType="withEffect">
                                  <p:stCondLst>
                                    <p:cond delay="0"/>
                                  </p:stCondLst>
                                  <p:childTnLst>
                                    <p:set>
                                      <p:cBhvr>
                                        <p:cTn id="119" dur="1" fill="hold">
                                          <p:stCondLst>
                                            <p:cond delay="0"/>
                                          </p:stCondLst>
                                        </p:cTn>
                                        <p:tgtEl>
                                          <p:spTgt spid="64"/>
                                        </p:tgtEl>
                                        <p:attrNameLst>
                                          <p:attrName>style.visibility</p:attrName>
                                        </p:attrNameLst>
                                      </p:cBhvr>
                                      <p:to>
                                        <p:strVal val="visible"/>
                                      </p:to>
                                    </p:set>
                                    <p:animEffect transition="in" filter="wipe(left)">
                                      <p:cBhvr>
                                        <p:cTn id="120" dur="500"/>
                                        <p:tgtEl>
                                          <p:spTgt spid="64"/>
                                        </p:tgtEl>
                                      </p:cBhvr>
                                    </p:animEffect>
                                  </p:childTnLst>
                                </p:cTn>
                              </p:par>
                              <p:par>
                                <p:cTn id="121" presetID="22" presetClass="entr" presetSubtype="8" fill="hold" nodeType="withEffect">
                                  <p:stCondLst>
                                    <p:cond delay="0"/>
                                  </p:stCondLst>
                                  <p:childTnLst>
                                    <p:set>
                                      <p:cBhvr>
                                        <p:cTn id="122" dur="1" fill="hold">
                                          <p:stCondLst>
                                            <p:cond delay="0"/>
                                          </p:stCondLst>
                                        </p:cTn>
                                        <p:tgtEl>
                                          <p:spTgt spid="71"/>
                                        </p:tgtEl>
                                        <p:attrNameLst>
                                          <p:attrName>style.visibility</p:attrName>
                                        </p:attrNameLst>
                                      </p:cBhvr>
                                      <p:to>
                                        <p:strVal val="visible"/>
                                      </p:to>
                                    </p:set>
                                    <p:animEffect transition="in" filter="wipe(left)">
                                      <p:cBhvr>
                                        <p:cTn id="123" dur="500"/>
                                        <p:tgtEl>
                                          <p:spTgt spid="71"/>
                                        </p:tgtEl>
                                      </p:cBhvr>
                                    </p:animEffect>
                                  </p:childTnLst>
                                </p:cTn>
                              </p:par>
                              <p:par>
                                <p:cTn id="124" presetID="22" presetClass="entr" presetSubtype="8" fill="hold" nodeType="withEffect">
                                  <p:stCondLst>
                                    <p:cond delay="0"/>
                                  </p:stCondLst>
                                  <p:childTnLst>
                                    <p:set>
                                      <p:cBhvr>
                                        <p:cTn id="125" dur="1" fill="hold">
                                          <p:stCondLst>
                                            <p:cond delay="0"/>
                                          </p:stCondLst>
                                        </p:cTn>
                                        <p:tgtEl>
                                          <p:spTgt spid="80"/>
                                        </p:tgtEl>
                                        <p:attrNameLst>
                                          <p:attrName>style.visibility</p:attrName>
                                        </p:attrNameLst>
                                      </p:cBhvr>
                                      <p:to>
                                        <p:strVal val="visible"/>
                                      </p:to>
                                    </p:set>
                                    <p:animEffect transition="in" filter="wipe(left)">
                                      <p:cBhvr>
                                        <p:cTn id="126" dur="500"/>
                                        <p:tgtEl>
                                          <p:spTgt spid="80"/>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54"/>
                                        </p:tgtEl>
                                        <p:attrNameLst>
                                          <p:attrName>style.visibility</p:attrName>
                                        </p:attrNameLst>
                                      </p:cBhvr>
                                      <p:to>
                                        <p:strVal val="visible"/>
                                      </p:to>
                                    </p:set>
                                    <p:animEffect transition="in" filter="wipe(left)">
                                      <p:cBhvr>
                                        <p:cTn id="131" dur="500"/>
                                        <p:tgtEl>
                                          <p:spTgt spid="54"/>
                                        </p:tgtEl>
                                      </p:cBhvr>
                                    </p:animEffect>
                                  </p:childTnLst>
                                </p:cTn>
                              </p:par>
                              <p:par>
                                <p:cTn id="132" presetID="22" presetClass="entr" presetSubtype="8" fill="hold" grpId="0" nodeType="with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wipe(left)">
                                      <p:cBhvr>
                                        <p:cTn id="134" dur="500"/>
                                        <p:tgtEl>
                                          <p:spTgt spid="52"/>
                                        </p:tgtEl>
                                      </p:cBhvr>
                                    </p:animEffect>
                                  </p:childTnLst>
                                </p:cTn>
                              </p:par>
                              <p:par>
                                <p:cTn id="135" presetID="22" presetClass="entr" presetSubtype="8" fill="hold" grpId="0" nodeType="with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wipe(left)">
                                      <p:cBhvr>
                                        <p:cTn id="137" dur="500"/>
                                        <p:tgtEl>
                                          <p:spTgt spid="53"/>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50"/>
                                        </p:tgtEl>
                                        <p:attrNameLst>
                                          <p:attrName>style.visibility</p:attrName>
                                        </p:attrNameLst>
                                      </p:cBhvr>
                                      <p:to>
                                        <p:strVal val="visible"/>
                                      </p:to>
                                    </p:set>
                                    <p:animEffect transition="in" filter="wipe(left)">
                                      <p:cBhvr>
                                        <p:cTn id="142" dur="500"/>
                                        <p:tgtEl>
                                          <p:spTgt spid="50"/>
                                        </p:tgtEl>
                                      </p:cBhvr>
                                    </p:animEffect>
                                  </p:childTnLst>
                                </p:cTn>
                              </p:par>
                              <p:par>
                                <p:cTn id="143" presetID="22" presetClass="entr" presetSubtype="8" fill="hold" grpId="0" nodeType="withEffect">
                                  <p:stCondLst>
                                    <p:cond delay="0"/>
                                  </p:stCondLst>
                                  <p:childTnLst>
                                    <p:set>
                                      <p:cBhvr>
                                        <p:cTn id="144" dur="1" fill="hold">
                                          <p:stCondLst>
                                            <p:cond delay="0"/>
                                          </p:stCondLst>
                                        </p:cTn>
                                        <p:tgtEl>
                                          <p:spTgt spid="51"/>
                                        </p:tgtEl>
                                        <p:attrNameLst>
                                          <p:attrName>style.visibility</p:attrName>
                                        </p:attrNameLst>
                                      </p:cBhvr>
                                      <p:to>
                                        <p:strVal val="visible"/>
                                      </p:to>
                                    </p:set>
                                    <p:animEffect transition="in" filter="wipe(left)">
                                      <p:cBhvr>
                                        <p:cTn id="145" dur="500"/>
                                        <p:tgtEl>
                                          <p:spTgt spid="51"/>
                                        </p:tgtEl>
                                      </p:cBhvr>
                                    </p:animEffect>
                                  </p:childTnLst>
                                </p:cTn>
                              </p:par>
                              <p:par>
                                <p:cTn id="146" presetID="22" presetClass="entr" presetSubtype="8" fill="hold" grpId="0" nodeType="withEffect">
                                  <p:stCondLst>
                                    <p:cond delay="0"/>
                                  </p:stCondLst>
                                  <p:childTnLst>
                                    <p:set>
                                      <p:cBhvr>
                                        <p:cTn id="147" dur="1" fill="hold">
                                          <p:stCondLst>
                                            <p:cond delay="0"/>
                                          </p:stCondLst>
                                        </p:cTn>
                                        <p:tgtEl>
                                          <p:spTgt spid="66"/>
                                        </p:tgtEl>
                                        <p:attrNameLst>
                                          <p:attrName>style.visibility</p:attrName>
                                        </p:attrNameLst>
                                      </p:cBhvr>
                                      <p:to>
                                        <p:strVal val="visible"/>
                                      </p:to>
                                    </p:set>
                                    <p:animEffect transition="in" filter="wipe(left)">
                                      <p:cBhvr>
                                        <p:cTn id="148" dur="500"/>
                                        <p:tgtEl>
                                          <p:spTgt spid="66"/>
                                        </p:tgtEl>
                                      </p:cBhvr>
                                    </p:animEffect>
                                  </p:childTnLst>
                                </p:cTn>
                              </p:par>
                              <p:par>
                                <p:cTn id="149" presetID="22" presetClass="entr" presetSubtype="8" fill="hold" nodeType="withEffect">
                                  <p:stCondLst>
                                    <p:cond delay="0"/>
                                  </p:stCondLst>
                                  <p:childTnLst>
                                    <p:set>
                                      <p:cBhvr>
                                        <p:cTn id="150" dur="1" fill="hold">
                                          <p:stCondLst>
                                            <p:cond delay="0"/>
                                          </p:stCondLst>
                                        </p:cTn>
                                        <p:tgtEl>
                                          <p:spTgt spid="86"/>
                                        </p:tgtEl>
                                        <p:attrNameLst>
                                          <p:attrName>style.visibility</p:attrName>
                                        </p:attrNameLst>
                                      </p:cBhvr>
                                      <p:to>
                                        <p:strVal val="visible"/>
                                      </p:to>
                                    </p:set>
                                    <p:animEffect transition="in" filter="wipe(left)">
                                      <p:cBhvr>
                                        <p:cTn id="151" dur="500"/>
                                        <p:tgtEl>
                                          <p:spTgt spid="86"/>
                                        </p:tgtEl>
                                      </p:cBhvr>
                                    </p:animEffect>
                                  </p:childTnLst>
                                </p:cTn>
                              </p:par>
                              <p:par>
                                <p:cTn id="152" presetID="22" presetClass="entr" presetSubtype="8" fill="hold" nodeType="withEffect">
                                  <p:stCondLst>
                                    <p:cond delay="0"/>
                                  </p:stCondLst>
                                  <p:childTnLst>
                                    <p:set>
                                      <p:cBhvr>
                                        <p:cTn id="153" dur="1" fill="hold">
                                          <p:stCondLst>
                                            <p:cond delay="0"/>
                                          </p:stCondLst>
                                        </p:cTn>
                                        <p:tgtEl>
                                          <p:spTgt spid="75"/>
                                        </p:tgtEl>
                                        <p:attrNameLst>
                                          <p:attrName>style.visibility</p:attrName>
                                        </p:attrNameLst>
                                      </p:cBhvr>
                                      <p:to>
                                        <p:strVal val="visible"/>
                                      </p:to>
                                    </p:set>
                                    <p:animEffect transition="in" filter="wipe(left)">
                                      <p:cBhvr>
                                        <p:cTn id="154"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9" grpId="0"/>
      <p:bldP spid="17" grpId="0" animBg="1"/>
      <p:bldP spid="18" grpId="0" animBg="1"/>
      <p:bldP spid="19" grpId="0"/>
      <p:bldP spid="20" grpId="0"/>
      <p:bldP spid="21" grpId="0" animBg="1"/>
      <p:bldP spid="22" grpId="0"/>
      <p:bldP spid="23" grpId="0" animBg="1"/>
      <p:bldP spid="24" grpId="0" animBg="1"/>
      <p:bldP spid="25" grpId="0" animBg="1"/>
      <p:bldP spid="26" grpId="0" animBg="1"/>
      <p:bldP spid="27" grpId="0"/>
      <p:bldP spid="35" grpId="0" animBg="1"/>
      <p:bldP spid="36" grpId="0"/>
      <p:bldP spid="40" grpId="0" animBg="1"/>
      <p:bldP spid="41" grpId="0"/>
      <p:bldP spid="50" grpId="0" animBg="1"/>
      <p:bldP spid="51" grpId="0"/>
      <p:bldP spid="52" grpId="0" animBg="1"/>
      <p:bldP spid="53" grpId="0"/>
      <p:bldP spid="59" grpId="0" animBg="1"/>
      <p:bldP spid="60" grpId="0" animBg="1"/>
      <p:bldP spid="61" grpId="0"/>
      <p:bldP spid="62" grpId="0" animBg="1"/>
      <p:bldP spid="63" grpId="0"/>
      <p:bldP spid="64" grpId="0" animBg="1"/>
      <p:bldP spid="65" grpId="0" animBg="1"/>
      <p:bldP spid="66"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File Sharing Semantics - Immutable Shared-files Semantics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Change to the file are handled by creating a new updated version of the file. </a:t>
            </a:r>
          </a:p>
          <a:p>
            <a:pPr>
              <a:lnSpc>
                <a:spcPct val="100000"/>
              </a:lnSpc>
            </a:pPr>
            <a:r>
              <a:rPr lang="en-US" dirty="0"/>
              <a:t>Therefore, the semantics allows files to be shared only in the read-only mode</a:t>
            </a:r>
            <a:r>
              <a:rPr lang="en-US" dirty="0" smtClean="0"/>
              <a:t>.</a:t>
            </a:r>
            <a:endParaRPr lang="en-US" sz="2400" dirty="0"/>
          </a:p>
          <a:p>
            <a:pPr lvl="2"/>
            <a:endParaRPr lang="en-US" sz="2400" dirty="0" smtClean="0"/>
          </a:p>
          <a:p>
            <a:pPr lvl="2"/>
            <a:endParaRPr lang="en-US" sz="2400" dirty="0"/>
          </a:p>
          <a:p>
            <a:pPr lvl="2"/>
            <a:endParaRPr lang="en-US" sz="2400" dirty="0" smtClean="0"/>
          </a:p>
        </p:txBody>
      </p:sp>
      <p:sp>
        <p:nvSpPr>
          <p:cNvPr id="4" name="Rectangle 3"/>
          <p:cNvSpPr>
            <a:spLocks noChangeArrowheads="1"/>
          </p:cNvSpPr>
          <p:nvPr/>
        </p:nvSpPr>
        <p:spPr bwMode="auto">
          <a:xfrm>
            <a:off x="7341130" y="2672340"/>
            <a:ext cx="676148" cy="706882"/>
          </a:xfrm>
          <a:prstGeom prst="rect">
            <a:avLst/>
          </a:prstGeom>
          <a:solidFill>
            <a:schemeClr val="accent3">
              <a:lumMod val="60000"/>
              <a:lumOff val="40000"/>
            </a:schemeClr>
          </a:solidFill>
          <a:ln w="9525">
            <a:solidFill>
              <a:schemeClr val="tx1"/>
            </a:solidFill>
            <a:miter lim="800000"/>
            <a:headEnd/>
            <a:tailEnd/>
          </a:ln>
          <a:effectLst/>
          <a:extLst/>
        </p:spPr>
        <p:txBody>
          <a:bodyPr wrap="none" anchor="ctr"/>
          <a:lstStyle/>
          <a:p>
            <a:pPr algn="ctr"/>
            <a:r>
              <a:rPr lang="en-US" altLang="en-US" sz="1400" dirty="0"/>
              <a:t>Version</a:t>
            </a:r>
          </a:p>
          <a:p>
            <a:pPr algn="ctr"/>
            <a:r>
              <a:rPr lang="en-US" altLang="en-US" sz="1400" dirty="0"/>
              <a:t>1.0</a:t>
            </a:r>
          </a:p>
        </p:txBody>
      </p:sp>
      <p:sp>
        <p:nvSpPr>
          <p:cNvPr id="5" name="Rectangle 4"/>
          <p:cNvSpPr>
            <a:spLocks noChangeArrowheads="1"/>
          </p:cNvSpPr>
          <p:nvPr/>
        </p:nvSpPr>
        <p:spPr bwMode="auto">
          <a:xfrm>
            <a:off x="4039130" y="3370840"/>
            <a:ext cx="676148" cy="706882"/>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200" dirty="0"/>
              <a:t>Tentative</a:t>
            </a:r>
          </a:p>
          <a:p>
            <a:pPr algn="ctr"/>
            <a:r>
              <a:rPr lang="en-US" altLang="en-US" sz="1200" dirty="0"/>
              <a:t>based on</a:t>
            </a:r>
          </a:p>
          <a:p>
            <a:pPr algn="ctr"/>
            <a:r>
              <a:rPr lang="en-US" altLang="en-US" sz="1200" dirty="0"/>
              <a:t>1.0</a:t>
            </a:r>
          </a:p>
        </p:txBody>
      </p:sp>
      <p:sp>
        <p:nvSpPr>
          <p:cNvPr id="6" name="Rectangle 5"/>
          <p:cNvSpPr>
            <a:spLocks noChangeArrowheads="1"/>
          </p:cNvSpPr>
          <p:nvPr/>
        </p:nvSpPr>
        <p:spPr bwMode="auto">
          <a:xfrm>
            <a:off x="1613430" y="3332740"/>
            <a:ext cx="676148" cy="706882"/>
          </a:xfrm>
          <a:prstGeom prst="rect">
            <a:avLst/>
          </a:prstGeom>
          <a:solidFill>
            <a:schemeClr val="accent2">
              <a:lumMod val="40000"/>
              <a:lumOff val="60000"/>
            </a:schemeClr>
          </a:solidFill>
          <a:ln w="9525">
            <a:solidFill>
              <a:schemeClr val="tx1"/>
            </a:solidFill>
            <a:miter lim="800000"/>
            <a:headEnd/>
            <a:tailEnd/>
          </a:ln>
          <a:effectLst/>
          <a:extLst/>
        </p:spPr>
        <p:txBody>
          <a:bodyPr wrap="none" anchor="ctr"/>
          <a:lstStyle/>
          <a:p>
            <a:pPr algn="ctr"/>
            <a:r>
              <a:rPr lang="en-US" altLang="en-US" sz="1200" dirty="0"/>
              <a:t>Tentative</a:t>
            </a:r>
          </a:p>
          <a:p>
            <a:pPr algn="ctr"/>
            <a:r>
              <a:rPr lang="en-US" altLang="en-US" sz="1200" dirty="0"/>
              <a:t>based on</a:t>
            </a:r>
          </a:p>
          <a:p>
            <a:pPr algn="ctr"/>
            <a:r>
              <a:rPr lang="en-US" altLang="en-US" sz="1200" dirty="0"/>
              <a:t>1.0</a:t>
            </a:r>
          </a:p>
        </p:txBody>
      </p:sp>
      <p:sp>
        <p:nvSpPr>
          <p:cNvPr id="7" name="Rectangle 6"/>
          <p:cNvSpPr>
            <a:spLocks noChangeArrowheads="1"/>
          </p:cNvSpPr>
          <p:nvPr/>
        </p:nvSpPr>
        <p:spPr bwMode="auto">
          <a:xfrm>
            <a:off x="7353830" y="3891540"/>
            <a:ext cx="676148" cy="706882"/>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dirty="0"/>
              <a:t>Version</a:t>
            </a:r>
          </a:p>
          <a:p>
            <a:pPr algn="ctr"/>
            <a:r>
              <a:rPr lang="en-US" altLang="en-US" sz="1400" dirty="0"/>
              <a:t>1.1</a:t>
            </a:r>
          </a:p>
        </p:txBody>
      </p:sp>
      <p:sp>
        <p:nvSpPr>
          <p:cNvPr id="8" name="Line 7"/>
          <p:cNvSpPr>
            <a:spLocks noChangeShapeType="1"/>
          </p:cNvSpPr>
          <p:nvPr/>
        </p:nvSpPr>
        <p:spPr bwMode="auto">
          <a:xfrm flipH="1">
            <a:off x="4715278" y="3277820"/>
            <a:ext cx="2625852" cy="238943"/>
          </a:xfrm>
          <a:prstGeom prst="line">
            <a:avLst/>
          </a:prstGeom>
          <a:noFill/>
          <a:ln w="25400">
            <a:solidFill>
              <a:schemeClr val="tx1"/>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 name="Line 8"/>
          <p:cNvSpPr>
            <a:spLocks noChangeShapeType="1"/>
          </p:cNvSpPr>
          <p:nvPr/>
        </p:nvSpPr>
        <p:spPr bwMode="auto">
          <a:xfrm flipH="1">
            <a:off x="2289578" y="2914201"/>
            <a:ext cx="5051552" cy="556454"/>
          </a:xfrm>
          <a:prstGeom prst="line">
            <a:avLst/>
          </a:prstGeom>
          <a:noFill/>
          <a:ln w="25400">
            <a:solidFill>
              <a:schemeClr val="tx1"/>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 name="Line 9"/>
          <p:cNvSpPr>
            <a:spLocks noChangeShapeType="1"/>
          </p:cNvSpPr>
          <p:nvPr/>
        </p:nvSpPr>
        <p:spPr bwMode="auto">
          <a:xfrm>
            <a:off x="4715278" y="3949219"/>
            <a:ext cx="2638552" cy="285794"/>
          </a:xfrm>
          <a:prstGeom prst="line">
            <a:avLst/>
          </a:prstGeom>
          <a:noFill/>
          <a:ln w="25400">
            <a:solidFill>
              <a:schemeClr val="tx1"/>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1" name="Text Box 12"/>
          <p:cNvSpPr txBox="1">
            <a:spLocks noChangeArrowheads="1"/>
          </p:cNvSpPr>
          <p:nvPr/>
        </p:nvSpPr>
        <p:spPr bwMode="auto">
          <a:xfrm rot="1071231">
            <a:off x="6898154" y="4990247"/>
            <a:ext cx="1770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dirty="0"/>
              <a:t>Version conflict</a:t>
            </a:r>
          </a:p>
        </p:txBody>
      </p:sp>
      <p:sp>
        <p:nvSpPr>
          <p:cNvPr id="12" name="Rectangle 15"/>
          <p:cNvSpPr>
            <a:spLocks noChangeArrowheads="1"/>
          </p:cNvSpPr>
          <p:nvPr/>
        </p:nvSpPr>
        <p:spPr bwMode="auto">
          <a:xfrm>
            <a:off x="8573030" y="5453640"/>
            <a:ext cx="676148" cy="706882"/>
          </a:xfrm>
          <a:prstGeom prst="rect">
            <a:avLst/>
          </a:prstGeom>
          <a:solidFill>
            <a:srgbClr val="D6B580"/>
          </a:solidFill>
          <a:ln w="9525">
            <a:solidFill>
              <a:schemeClr val="tx1"/>
            </a:solidFill>
            <a:miter lim="800000"/>
            <a:headEnd/>
            <a:tailEnd/>
          </a:ln>
          <a:effectLst/>
          <a:extLst/>
        </p:spPr>
        <p:txBody>
          <a:bodyPr wrap="none" anchor="ctr"/>
          <a:lstStyle/>
          <a:p>
            <a:pPr algn="ctr"/>
            <a:r>
              <a:rPr lang="en-US" altLang="en-US" sz="1400" dirty="0"/>
              <a:t>Version</a:t>
            </a:r>
          </a:p>
          <a:p>
            <a:pPr algn="ctr"/>
            <a:r>
              <a:rPr lang="en-US" altLang="en-US" sz="1400" dirty="0"/>
              <a:t>1.2</a:t>
            </a:r>
          </a:p>
        </p:txBody>
      </p:sp>
      <p:sp>
        <p:nvSpPr>
          <p:cNvPr id="13" name="Text Box 17"/>
          <p:cNvSpPr txBox="1">
            <a:spLocks noChangeArrowheads="1"/>
          </p:cNvSpPr>
          <p:nvPr/>
        </p:nvSpPr>
        <p:spPr bwMode="auto">
          <a:xfrm>
            <a:off x="8261855" y="6084677"/>
            <a:ext cx="129849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Merged File</a:t>
            </a:r>
          </a:p>
        </p:txBody>
      </p:sp>
      <p:sp>
        <p:nvSpPr>
          <p:cNvPr id="14" name="Line 18"/>
          <p:cNvSpPr>
            <a:spLocks noChangeShapeType="1"/>
          </p:cNvSpPr>
          <p:nvPr/>
        </p:nvSpPr>
        <p:spPr bwMode="auto">
          <a:xfrm>
            <a:off x="2289578" y="3880382"/>
            <a:ext cx="3937589" cy="1151999"/>
          </a:xfrm>
          <a:prstGeom prst="line">
            <a:avLst/>
          </a:prstGeom>
          <a:noFill/>
          <a:ln w="25400">
            <a:solidFill>
              <a:schemeClr val="tx1"/>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 name="Line 19"/>
          <p:cNvSpPr>
            <a:spLocks noChangeShapeType="1"/>
          </p:cNvSpPr>
          <p:nvPr/>
        </p:nvSpPr>
        <p:spPr bwMode="auto">
          <a:xfrm>
            <a:off x="7714129" y="4589467"/>
            <a:ext cx="858902" cy="864173"/>
          </a:xfrm>
          <a:prstGeom prst="line">
            <a:avLst/>
          </a:prstGeom>
          <a:noFill/>
          <a:ln w="25400">
            <a:solidFill>
              <a:schemeClr val="tx1"/>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 name="Text Box 22"/>
          <p:cNvSpPr txBox="1">
            <a:spLocks noChangeArrowheads="1"/>
          </p:cNvSpPr>
          <p:nvPr/>
        </p:nvSpPr>
        <p:spPr bwMode="auto">
          <a:xfrm>
            <a:off x="7358529" y="2344744"/>
            <a:ext cx="8493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dirty="0"/>
              <a:t>Server</a:t>
            </a:r>
          </a:p>
        </p:txBody>
      </p:sp>
      <p:sp>
        <p:nvSpPr>
          <p:cNvPr id="17" name="Text Box 23"/>
          <p:cNvSpPr txBox="1">
            <a:spLocks noChangeArrowheads="1"/>
          </p:cNvSpPr>
          <p:nvPr/>
        </p:nvSpPr>
        <p:spPr bwMode="auto">
          <a:xfrm>
            <a:off x="4094629" y="2382844"/>
            <a:ext cx="977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dirty="0"/>
              <a:t>Client B</a:t>
            </a:r>
          </a:p>
        </p:txBody>
      </p:sp>
      <p:sp>
        <p:nvSpPr>
          <p:cNvPr id="18" name="Text Box 24"/>
          <p:cNvSpPr txBox="1">
            <a:spLocks noChangeArrowheads="1"/>
          </p:cNvSpPr>
          <p:nvPr/>
        </p:nvSpPr>
        <p:spPr bwMode="auto">
          <a:xfrm>
            <a:off x="1541929" y="2408244"/>
            <a:ext cx="977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dirty="0"/>
              <a:t>Client A</a:t>
            </a:r>
          </a:p>
        </p:txBody>
      </p:sp>
      <p:sp>
        <p:nvSpPr>
          <p:cNvPr id="19" name="Rectangle 6"/>
          <p:cNvSpPr>
            <a:spLocks noChangeArrowheads="1"/>
          </p:cNvSpPr>
          <p:nvPr/>
        </p:nvSpPr>
        <p:spPr bwMode="auto">
          <a:xfrm>
            <a:off x="6211419" y="4653540"/>
            <a:ext cx="676148" cy="706882"/>
          </a:xfrm>
          <a:prstGeom prst="rect">
            <a:avLst/>
          </a:prstGeom>
          <a:solidFill>
            <a:schemeClr val="accent2">
              <a:lumMod val="40000"/>
              <a:lumOff val="60000"/>
            </a:schemeClr>
          </a:solidFill>
          <a:ln w="9525">
            <a:solidFill>
              <a:schemeClr val="tx1"/>
            </a:solidFill>
            <a:miter lim="800000"/>
            <a:headEnd/>
            <a:tailEnd/>
          </a:ln>
          <a:effectLst/>
          <a:extLst/>
        </p:spPr>
        <p:txBody>
          <a:bodyPr wrap="none" anchor="ctr"/>
          <a:lstStyle/>
          <a:p>
            <a:pPr algn="ctr"/>
            <a:r>
              <a:rPr lang="en-US" altLang="en-US" sz="1400" dirty="0"/>
              <a:t>Version</a:t>
            </a:r>
          </a:p>
          <a:p>
            <a:pPr algn="ctr"/>
            <a:r>
              <a:rPr lang="en-US" altLang="en-US" sz="1400" dirty="0"/>
              <a:t>1.1</a:t>
            </a:r>
          </a:p>
        </p:txBody>
      </p:sp>
      <p:sp>
        <p:nvSpPr>
          <p:cNvPr id="20" name="Line 19"/>
          <p:cNvSpPr>
            <a:spLocks noChangeShapeType="1"/>
          </p:cNvSpPr>
          <p:nvPr/>
        </p:nvSpPr>
        <p:spPr bwMode="auto">
          <a:xfrm>
            <a:off x="6882429" y="5030877"/>
            <a:ext cx="1690601" cy="544999"/>
          </a:xfrm>
          <a:prstGeom prst="line">
            <a:avLst/>
          </a:prstGeom>
          <a:noFill/>
          <a:ln w="25400">
            <a:solidFill>
              <a:schemeClr val="tx1"/>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 name="Text Box 73"/>
          <p:cNvSpPr txBox="1">
            <a:spLocks noChangeArrowheads="1"/>
          </p:cNvSpPr>
          <p:nvPr/>
        </p:nvSpPr>
        <p:spPr bwMode="auto">
          <a:xfrm rot="21253213">
            <a:off x="3414276" y="2830045"/>
            <a:ext cx="20900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ja-JP" dirty="0"/>
              <a:t>Access File</a:t>
            </a:r>
          </a:p>
        </p:txBody>
      </p:sp>
      <p:sp>
        <p:nvSpPr>
          <p:cNvPr id="22" name="Text Box 73"/>
          <p:cNvSpPr txBox="1">
            <a:spLocks noChangeArrowheads="1"/>
          </p:cNvSpPr>
          <p:nvPr/>
        </p:nvSpPr>
        <p:spPr bwMode="auto">
          <a:xfrm rot="21283202">
            <a:off x="5076933" y="3038211"/>
            <a:ext cx="20900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ja-JP" dirty="0"/>
              <a:t>Access File</a:t>
            </a:r>
          </a:p>
        </p:txBody>
      </p:sp>
    </p:spTree>
    <p:extLst>
      <p:ext uri="{BB962C8B-B14F-4D97-AF65-F5344CB8AC3E}">
        <p14:creationId xmlns:p14="http://schemas.microsoft.com/office/powerpoint/2010/main" val="248611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right)">
                                      <p:cBhvr>
                                        <p:cTn id="23" dur="500"/>
                                        <p:tgtEl>
                                          <p:spTgt spid="4"/>
                                        </p:tgtEl>
                                      </p:cBhvr>
                                    </p:animEffect>
                                  </p:childTnLst>
                                </p:cTn>
                              </p:par>
                              <p:par>
                                <p:cTn id="24" presetID="22" presetClass="entr" presetSubtype="2"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right)">
                                      <p:cBhvr>
                                        <p:cTn id="26" dur="500"/>
                                        <p:tgtEl>
                                          <p:spTgt spid="9"/>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down)">
                                      <p:cBhvr>
                                        <p:cTn id="29" dur="500"/>
                                        <p:tgtEl>
                                          <p:spTgt spid="21"/>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righ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right)">
                                      <p:cBhvr>
                                        <p:cTn id="37" dur="500"/>
                                        <p:tgtEl>
                                          <p:spTgt spid="8"/>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down)">
                                      <p:cBhvr>
                                        <p:cTn id="40" dur="500"/>
                                        <p:tgtEl>
                                          <p:spTgt spid="22"/>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right)">
                                      <p:cBhvr>
                                        <p:cTn id="43"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wipe(left)">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left)">
                                      <p:cBhvr>
                                        <p:cTn id="56" dur="500"/>
                                        <p:tgtEl>
                                          <p:spTgt spid="14"/>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wipe(left)">
                                      <p:cBhvr>
                                        <p:cTn id="59" dur="5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wipe(left)">
                                      <p:cBhvr>
                                        <p:cTn id="64" dur="500"/>
                                        <p:tgtEl>
                                          <p:spTgt spid="15"/>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wipe(left)">
                                      <p:cBhvr>
                                        <p:cTn id="67" dur="500"/>
                                        <p:tgtEl>
                                          <p:spTgt spid="11"/>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left)">
                                      <p:cBhvr>
                                        <p:cTn id="70" dur="500"/>
                                        <p:tgtEl>
                                          <p:spTgt spid="20"/>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wipe(left)">
                                      <p:cBhvr>
                                        <p:cTn id="73" dur="500"/>
                                        <p:tgtEl>
                                          <p:spTgt spid="12"/>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wipe(left)">
                                      <p:cBhvr>
                                        <p:cTn id="7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p:bldP spid="12" grpId="0" animBg="1"/>
      <p:bldP spid="13" grpId="0"/>
      <p:bldP spid="14" grpId="0" animBg="1"/>
      <p:bldP spid="15" grpId="0" animBg="1"/>
      <p:bldP spid="16" grpId="0"/>
      <p:bldP spid="17" grpId="0"/>
      <p:bldP spid="18" grpId="0"/>
      <p:bldP spid="19" grpId="0" animBg="1"/>
      <p:bldP spid="20" grpId="0" animBg="1"/>
      <p:bldP spid="21" grpId="0"/>
      <p:bldP spid="22"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File Sharing Semantics- Transaction like Semantics</a:t>
            </a:r>
          </a:p>
        </p:txBody>
      </p:sp>
      <p:sp>
        <p:nvSpPr>
          <p:cNvPr id="5" name="Content Placeholder 4"/>
          <p:cNvSpPr>
            <a:spLocks noGrp="1"/>
          </p:cNvSpPr>
          <p:nvPr>
            <p:ph idx="1"/>
          </p:nvPr>
        </p:nvSpPr>
        <p:spPr/>
        <p:txBody>
          <a:bodyPr/>
          <a:lstStyle/>
          <a:p>
            <a:r>
              <a:rPr lang="en-US" dirty="0"/>
              <a:t>A transaction is a set of operations enclosed in-between a pair of </a:t>
            </a:r>
            <a:r>
              <a:rPr lang="en-US" dirty="0" err="1"/>
              <a:t>begin_transaction</a:t>
            </a:r>
            <a:r>
              <a:rPr lang="en-US" dirty="0"/>
              <a:t> and </a:t>
            </a:r>
            <a:r>
              <a:rPr lang="en-US" dirty="0" err="1"/>
              <a:t>end_transaction</a:t>
            </a:r>
            <a:r>
              <a:rPr lang="en-US" dirty="0"/>
              <a:t> like operations.</a:t>
            </a:r>
          </a:p>
          <a:p>
            <a:r>
              <a:rPr lang="en-US" dirty="0"/>
              <a:t>All the transactions will be carried out in order, without any interference from other concurrent transactions.</a:t>
            </a:r>
          </a:p>
          <a:p>
            <a:r>
              <a:rPr lang="en-US" dirty="0"/>
              <a:t>Partial modifications will not be visible to other concurrently executing transactions until the transaction ends.</a:t>
            </a:r>
          </a:p>
          <a:p>
            <a:r>
              <a:rPr lang="en-US" dirty="0"/>
              <a:t>The example of this is a banking system.</a:t>
            </a:r>
          </a:p>
          <a:p>
            <a:endParaRPr lang="en-US" dirty="0"/>
          </a:p>
          <a:p>
            <a:endParaRPr lang="en-US" dirty="0" smtClean="0"/>
          </a:p>
          <a:p>
            <a:endParaRPr lang="en-US" dirty="0"/>
          </a:p>
        </p:txBody>
      </p:sp>
      <p:sp>
        <p:nvSpPr>
          <p:cNvPr id="22" name="Rectangle 21"/>
          <p:cNvSpPr/>
          <p:nvPr/>
        </p:nvSpPr>
        <p:spPr>
          <a:xfrm>
            <a:off x="990600" y="4762500"/>
            <a:ext cx="990600" cy="762000"/>
          </a:xfrm>
          <a:prstGeom prst="rect">
            <a:avLst/>
          </a:prstGeom>
          <a:ln w="19050">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50 Coins</a:t>
            </a:r>
          </a:p>
        </p:txBody>
      </p:sp>
      <p:sp>
        <p:nvSpPr>
          <p:cNvPr id="23" name="Oval 22"/>
          <p:cNvSpPr/>
          <p:nvPr/>
        </p:nvSpPr>
        <p:spPr>
          <a:xfrm>
            <a:off x="3505200" y="4381500"/>
            <a:ext cx="1524000" cy="1447800"/>
          </a:xfrm>
          <a:prstGeom prst="ellipse">
            <a:avLst/>
          </a:prstGeom>
          <a:ln w="19050">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Authority</a:t>
            </a:r>
          </a:p>
        </p:txBody>
      </p:sp>
      <p:sp>
        <p:nvSpPr>
          <p:cNvPr id="25" name="Rectangle 24"/>
          <p:cNvSpPr/>
          <p:nvPr/>
        </p:nvSpPr>
        <p:spPr>
          <a:xfrm>
            <a:off x="6781800" y="4076700"/>
            <a:ext cx="990600" cy="762000"/>
          </a:xfrm>
          <a:prstGeom prst="rect">
            <a:avLst/>
          </a:prstGeom>
          <a:ln w="19050">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6" name="Rectangle 25"/>
          <p:cNvSpPr/>
          <p:nvPr/>
        </p:nvSpPr>
        <p:spPr>
          <a:xfrm>
            <a:off x="6781800" y="5410200"/>
            <a:ext cx="990600" cy="762000"/>
          </a:xfrm>
          <a:prstGeom prst="rect">
            <a:avLst/>
          </a:prstGeom>
          <a:ln w="19050">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cxnSp>
        <p:nvCxnSpPr>
          <p:cNvPr id="27" name="Straight Arrow Connector 26"/>
          <p:cNvCxnSpPr>
            <a:endCxn id="23" idx="2"/>
          </p:cNvCxnSpPr>
          <p:nvPr/>
        </p:nvCxnSpPr>
        <p:spPr>
          <a:xfrm>
            <a:off x="1981200" y="4762500"/>
            <a:ext cx="1524000" cy="342900"/>
          </a:xfrm>
          <a:prstGeom prst="straightConnector1">
            <a:avLst/>
          </a:prstGeom>
          <a:ln w="19050">
            <a:solidFill>
              <a:srgbClr val="1D3064"/>
            </a:solidFill>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p:cNvCxnSpPr>
            <a:endCxn id="23" idx="2"/>
          </p:cNvCxnSpPr>
          <p:nvPr/>
        </p:nvCxnSpPr>
        <p:spPr>
          <a:xfrm flipV="1">
            <a:off x="1981200" y="5105400"/>
            <a:ext cx="1524000" cy="419100"/>
          </a:xfrm>
          <a:prstGeom prst="straightConnector1">
            <a:avLst/>
          </a:prstGeom>
          <a:ln w="19050">
            <a:solidFill>
              <a:srgbClr val="1D3064"/>
            </a:solidFill>
            <a:tailEnd type="triangle"/>
          </a:ln>
        </p:spPr>
        <p:style>
          <a:lnRef idx="3">
            <a:schemeClr val="accent1"/>
          </a:lnRef>
          <a:fillRef idx="0">
            <a:schemeClr val="accent1"/>
          </a:fillRef>
          <a:effectRef idx="2">
            <a:schemeClr val="accent1"/>
          </a:effectRef>
          <a:fontRef idx="minor">
            <a:schemeClr val="tx1"/>
          </a:fontRef>
        </p:style>
      </p:cxnSp>
      <p:cxnSp>
        <p:nvCxnSpPr>
          <p:cNvPr id="31" name="Straight Arrow Connector 30"/>
          <p:cNvCxnSpPr>
            <a:stCxn id="23" idx="6"/>
            <a:endCxn id="25" idx="1"/>
          </p:cNvCxnSpPr>
          <p:nvPr/>
        </p:nvCxnSpPr>
        <p:spPr>
          <a:xfrm flipV="1">
            <a:off x="5029200" y="4457700"/>
            <a:ext cx="1752600" cy="647700"/>
          </a:xfrm>
          <a:prstGeom prst="straightConnector1">
            <a:avLst/>
          </a:prstGeom>
          <a:ln w="19050">
            <a:solidFill>
              <a:srgbClr val="1D3064"/>
            </a:solidFill>
            <a:tailEnd type="triangle"/>
          </a:ln>
        </p:spPr>
        <p:style>
          <a:lnRef idx="3">
            <a:schemeClr val="accent1"/>
          </a:lnRef>
          <a:fillRef idx="0">
            <a:schemeClr val="accent1"/>
          </a:fillRef>
          <a:effectRef idx="2">
            <a:schemeClr val="accent1"/>
          </a:effectRef>
          <a:fontRef idx="minor">
            <a:schemeClr val="tx1"/>
          </a:fontRef>
        </p:style>
      </p:cxnSp>
      <p:cxnSp>
        <p:nvCxnSpPr>
          <p:cNvPr id="32" name="Straight Arrow Connector 31"/>
          <p:cNvCxnSpPr>
            <a:stCxn id="23" idx="6"/>
            <a:endCxn id="26" idx="1"/>
          </p:cNvCxnSpPr>
          <p:nvPr/>
        </p:nvCxnSpPr>
        <p:spPr>
          <a:xfrm>
            <a:off x="5029200" y="5105400"/>
            <a:ext cx="1752600" cy="685800"/>
          </a:xfrm>
          <a:prstGeom prst="straightConnector1">
            <a:avLst/>
          </a:prstGeom>
          <a:ln w="19050">
            <a:solidFill>
              <a:srgbClr val="1D3064"/>
            </a:solidFill>
            <a:tailEnd type="triangle"/>
          </a:ln>
        </p:spPr>
        <p:style>
          <a:lnRef idx="3">
            <a:schemeClr val="accent1"/>
          </a:lnRef>
          <a:fillRef idx="0">
            <a:schemeClr val="accent1"/>
          </a:fillRef>
          <a:effectRef idx="2">
            <a:schemeClr val="accent1"/>
          </a:effectRef>
          <a:fontRef idx="minor">
            <a:schemeClr val="tx1"/>
          </a:fontRef>
        </p:style>
      </p:cxnSp>
      <p:sp>
        <p:nvSpPr>
          <p:cNvPr id="33" name="TextBox 32"/>
          <p:cNvSpPr txBox="1"/>
          <p:nvPr/>
        </p:nvSpPr>
        <p:spPr>
          <a:xfrm rot="765186">
            <a:off x="2313937" y="4569913"/>
            <a:ext cx="856259" cy="369332"/>
          </a:xfrm>
          <a:prstGeom prst="rect">
            <a:avLst/>
          </a:prstGeom>
          <a:noFill/>
        </p:spPr>
        <p:txBody>
          <a:bodyPr wrap="square" rtlCol="0">
            <a:spAutoFit/>
          </a:bodyPr>
          <a:lstStyle/>
          <a:p>
            <a:r>
              <a:rPr lang="en-US" dirty="0"/>
              <a:t>50 to B</a:t>
            </a:r>
          </a:p>
        </p:txBody>
      </p:sp>
      <p:sp>
        <p:nvSpPr>
          <p:cNvPr id="34" name="TextBox 33"/>
          <p:cNvSpPr txBox="1"/>
          <p:nvPr/>
        </p:nvSpPr>
        <p:spPr>
          <a:xfrm rot="20673907">
            <a:off x="2319707" y="5314584"/>
            <a:ext cx="856259" cy="369332"/>
          </a:xfrm>
          <a:prstGeom prst="rect">
            <a:avLst/>
          </a:prstGeom>
          <a:noFill/>
        </p:spPr>
        <p:txBody>
          <a:bodyPr wrap="square" rtlCol="0">
            <a:spAutoFit/>
          </a:bodyPr>
          <a:lstStyle/>
          <a:p>
            <a:r>
              <a:rPr lang="en-US" dirty="0"/>
              <a:t>50 to C</a:t>
            </a:r>
          </a:p>
        </p:txBody>
      </p:sp>
      <p:sp>
        <p:nvSpPr>
          <p:cNvPr id="35" name="TextBox 34"/>
          <p:cNvSpPr txBox="1"/>
          <p:nvPr/>
        </p:nvSpPr>
        <p:spPr>
          <a:xfrm>
            <a:off x="1333500" y="5540422"/>
            <a:ext cx="356566" cy="369332"/>
          </a:xfrm>
          <a:prstGeom prst="rect">
            <a:avLst/>
          </a:prstGeom>
          <a:noFill/>
        </p:spPr>
        <p:txBody>
          <a:bodyPr wrap="square" rtlCol="0">
            <a:spAutoFit/>
          </a:bodyPr>
          <a:lstStyle/>
          <a:p>
            <a:r>
              <a:rPr lang="en-US" b="1" dirty="0"/>
              <a:t>A</a:t>
            </a:r>
          </a:p>
        </p:txBody>
      </p:sp>
      <p:sp>
        <p:nvSpPr>
          <p:cNvPr id="36" name="TextBox 35"/>
          <p:cNvSpPr txBox="1"/>
          <p:nvPr/>
        </p:nvSpPr>
        <p:spPr>
          <a:xfrm>
            <a:off x="7098817" y="4800600"/>
            <a:ext cx="356566" cy="369332"/>
          </a:xfrm>
          <a:prstGeom prst="rect">
            <a:avLst/>
          </a:prstGeom>
          <a:noFill/>
        </p:spPr>
        <p:txBody>
          <a:bodyPr wrap="square" rtlCol="0">
            <a:spAutoFit/>
          </a:bodyPr>
          <a:lstStyle/>
          <a:p>
            <a:r>
              <a:rPr lang="en-US" b="1" dirty="0"/>
              <a:t>B</a:t>
            </a:r>
          </a:p>
        </p:txBody>
      </p:sp>
      <p:sp>
        <p:nvSpPr>
          <p:cNvPr id="37" name="TextBox 36"/>
          <p:cNvSpPr txBox="1"/>
          <p:nvPr/>
        </p:nvSpPr>
        <p:spPr>
          <a:xfrm>
            <a:off x="7122544" y="6107668"/>
            <a:ext cx="356566" cy="369332"/>
          </a:xfrm>
          <a:prstGeom prst="rect">
            <a:avLst/>
          </a:prstGeom>
          <a:noFill/>
        </p:spPr>
        <p:txBody>
          <a:bodyPr wrap="square" rtlCol="0">
            <a:spAutoFit/>
          </a:bodyPr>
          <a:lstStyle/>
          <a:p>
            <a:r>
              <a:rPr lang="en-US" b="1" dirty="0"/>
              <a:t>C</a:t>
            </a:r>
          </a:p>
        </p:txBody>
      </p:sp>
      <p:sp>
        <p:nvSpPr>
          <p:cNvPr id="38" name="TextBox 37"/>
          <p:cNvSpPr txBox="1"/>
          <p:nvPr/>
        </p:nvSpPr>
        <p:spPr>
          <a:xfrm rot="20326210">
            <a:off x="5420377" y="4390238"/>
            <a:ext cx="863014" cy="369332"/>
          </a:xfrm>
          <a:prstGeom prst="rect">
            <a:avLst/>
          </a:prstGeom>
          <a:noFill/>
        </p:spPr>
        <p:txBody>
          <a:bodyPr wrap="square" rtlCol="0">
            <a:spAutoFit/>
          </a:bodyPr>
          <a:lstStyle/>
          <a:p>
            <a:r>
              <a:rPr lang="en-US" dirty="0"/>
              <a:t>50 to B</a:t>
            </a:r>
          </a:p>
        </p:txBody>
      </p:sp>
      <p:sp>
        <p:nvSpPr>
          <p:cNvPr id="39" name="TextBox 38"/>
          <p:cNvSpPr txBox="1"/>
          <p:nvPr/>
        </p:nvSpPr>
        <p:spPr>
          <a:xfrm rot="1320392">
            <a:off x="5447270" y="5438686"/>
            <a:ext cx="863014" cy="369332"/>
          </a:xfrm>
          <a:prstGeom prst="rect">
            <a:avLst/>
          </a:prstGeom>
          <a:noFill/>
        </p:spPr>
        <p:txBody>
          <a:bodyPr wrap="square" rtlCol="0">
            <a:spAutoFit/>
          </a:bodyPr>
          <a:lstStyle/>
          <a:p>
            <a:r>
              <a:rPr lang="en-US" dirty="0"/>
              <a:t>0 to C</a:t>
            </a:r>
          </a:p>
        </p:txBody>
      </p:sp>
    </p:spTree>
    <p:extLst>
      <p:ext uri="{BB962C8B-B14F-4D97-AF65-F5344CB8AC3E}">
        <p14:creationId xmlns:p14="http://schemas.microsoft.com/office/powerpoint/2010/main" val="459631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left)">
                                      <p:cBhvr>
                                        <p:cTn id="10" dur="500"/>
                                        <p:tgtEl>
                                          <p:spTgt spid="2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wipe(left)">
                                      <p:cBhvr>
                                        <p:cTn id="13" dur="500"/>
                                        <p:tgtEl>
                                          <p:spTgt spid="3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left)">
                                      <p:cBhvr>
                                        <p:cTn id="16" dur="500"/>
                                        <p:tgtEl>
                                          <p:spTgt spid="3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left)">
                                      <p:cBhvr>
                                        <p:cTn id="19" dur="500"/>
                                        <p:tgtEl>
                                          <p:spTgt spid="2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left)">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500"/>
                                        <p:tgtEl>
                                          <p:spTgt spid="33"/>
                                        </p:tgtEl>
                                      </p:cBhvr>
                                    </p:animEffect>
                                  </p:childTnLst>
                                </p:cTn>
                              </p:par>
                              <p:par>
                                <p:cTn id="28" presetID="22" presetClass="entr" presetSubtype="8" fill="hold"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wipe(left)">
                                      <p:cBhvr>
                                        <p:cTn id="30" dur="500"/>
                                        <p:tgtEl>
                                          <p:spTgt spid="27"/>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wipe(left)">
                                      <p:cBhvr>
                                        <p:cTn id="33" dur="500"/>
                                        <p:tgtEl>
                                          <p:spTgt spid="34"/>
                                        </p:tgtEl>
                                      </p:cBhvr>
                                    </p:animEffect>
                                  </p:childTnLst>
                                </p:cTn>
                              </p:par>
                              <p:par>
                                <p:cTn id="34" presetID="22" presetClass="entr" presetSubtype="8" fill="hold"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wipe(left)">
                                      <p:cBhvr>
                                        <p:cTn id="36" dur="50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wipe(left)">
                                      <p:cBhvr>
                                        <p:cTn id="41" dur="500"/>
                                        <p:tgtEl>
                                          <p:spTgt spid="23"/>
                                        </p:tgtEl>
                                      </p:cBhvr>
                                    </p:animEffect>
                                  </p:childTnLst>
                                </p:cTn>
                              </p:par>
                              <p:par>
                                <p:cTn id="42" presetID="22" presetClass="entr" presetSubtype="8" fill="hold"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wipe(left)">
                                      <p:cBhvr>
                                        <p:cTn id="44" dur="500"/>
                                        <p:tgtEl>
                                          <p:spTgt spid="31"/>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wipe(left)">
                                      <p:cBhvr>
                                        <p:cTn id="47" dur="500"/>
                                        <p:tgtEl>
                                          <p:spTgt spid="39"/>
                                        </p:tgtEl>
                                      </p:cBhvr>
                                    </p:animEffect>
                                  </p:childTnLst>
                                </p:cTn>
                              </p:par>
                              <p:par>
                                <p:cTn id="48" presetID="22" presetClass="entr" presetSubtype="8" fill="hold"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wipe(left)">
                                      <p:cBhvr>
                                        <p:cTn id="50" dur="500"/>
                                        <p:tgtEl>
                                          <p:spTgt spid="32"/>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wipe(left)">
                                      <p:cBhvr>
                                        <p:cTn id="5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5" grpId="0" animBg="1"/>
      <p:bldP spid="26" grpId="0" animBg="1"/>
      <p:bldP spid="33" grpId="0"/>
      <p:bldP spid="34" grpId="0"/>
      <p:bldP spid="35" grpId="0"/>
      <p:bldP spid="36" grpId="0"/>
      <p:bldP spid="37" grpId="0"/>
      <p:bldP spid="38" grpId="0"/>
      <p:bldP spid="39"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Categories of Distributed System</a:t>
            </a:r>
          </a:p>
        </p:txBody>
      </p:sp>
      <p:sp>
        <p:nvSpPr>
          <p:cNvPr id="4" name="TextBox 3"/>
          <p:cNvSpPr txBox="1"/>
          <p:nvPr/>
        </p:nvSpPr>
        <p:spPr>
          <a:xfrm>
            <a:off x="645459" y="3966882"/>
            <a:ext cx="8579223" cy="830997"/>
          </a:xfrm>
          <a:prstGeom prst="rect">
            <a:avLst/>
          </a:prstGeom>
          <a:noFill/>
        </p:spPr>
        <p:txBody>
          <a:bodyPr wrap="square" rtlCol="0">
            <a:spAutoFit/>
          </a:bodyPr>
          <a:lstStyle/>
          <a:p>
            <a:r>
              <a:rPr lang="en-IN" sz="4800" b="1" dirty="0">
                <a:solidFill>
                  <a:srgbClr val="1D3064"/>
                </a:solidFill>
              </a:rPr>
              <a:t>Distributed Web-Based Systems</a:t>
            </a:r>
          </a:p>
        </p:txBody>
      </p:sp>
    </p:spTree>
    <p:extLst>
      <p:ext uri="{BB962C8B-B14F-4D97-AF65-F5344CB8AC3E}">
        <p14:creationId xmlns:p14="http://schemas.microsoft.com/office/powerpoint/2010/main" val="256001004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Distributed Web-Based Systems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The World Wide Web (WWW) </a:t>
            </a:r>
            <a:r>
              <a:rPr lang="en-US" dirty="0" smtClean="0"/>
              <a:t>can be </a:t>
            </a:r>
            <a:r>
              <a:rPr lang="en-US" dirty="0"/>
              <a:t>viewed as a huge distributed system consisting </a:t>
            </a:r>
            <a:r>
              <a:rPr lang="en-US" dirty="0" smtClean="0"/>
              <a:t>of millions </a:t>
            </a:r>
            <a:r>
              <a:rPr lang="en-US" dirty="0"/>
              <a:t>of clients </a:t>
            </a:r>
            <a:r>
              <a:rPr lang="en-US" dirty="0" smtClean="0"/>
              <a:t>and servers </a:t>
            </a:r>
            <a:r>
              <a:rPr lang="en-US" dirty="0"/>
              <a:t>for accessing linked </a:t>
            </a:r>
            <a:r>
              <a:rPr lang="en-US" dirty="0" smtClean="0"/>
              <a:t>documents.</a:t>
            </a:r>
          </a:p>
          <a:p>
            <a:r>
              <a:rPr lang="en-US" dirty="0" smtClean="0"/>
              <a:t>Servers </a:t>
            </a:r>
            <a:r>
              <a:rPr lang="en-US" dirty="0"/>
              <a:t>maintain collections </a:t>
            </a:r>
            <a:r>
              <a:rPr lang="en-US" dirty="0" smtClean="0"/>
              <a:t>of documents</a:t>
            </a:r>
            <a:r>
              <a:rPr lang="en-US" dirty="0"/>
              <a:t>, while clients provide users an easy-to-use interface for </a:t>
            </a:r>
            <a:r>
              <a:rPr lang="en-US" dirty="0" smtClean="0"/>
              <a:t>presenting and accessing those </a:t>
            </a:r>
            <a:r>
              <a:rPr lang="en-US" dirty="0"/>
              <a:t>documents.</a:t>
            </a:r>
            <a:endParaRPr lang="en-US" sz="2400" dirty="0"/>
          </a:p>
        </p:txBody>
      </p:sp>
    </p:spTree>
    <p:extLst>
      <p:ext uri="{BB962C8B-B14F-4D97-AF65-F5344CB8AC3E}">
        <p14:creationId xmlns:p14="http://schemas.microsoft.com/office/powerpoint/2010/main" val="1267052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Architecture</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Many Web-based systems are organized as simple client-server architecture.</a:t>
            </a:r>
          </a:p>
          <a:p>
            <a:r>
              <a:rPr lang="en-US" dirty="0"/>
              <a:t>The simplest way to refer to a document is by means of a reference called a Uniform Resource Locator (URL).</a:t>
            </a:r>
          </a:p>
          <a:p>
            <a:r>
              <a:rPr lang="en-US" dirty="0"/>
              <a:t>It specifies where a document is located, often by embedding the Domain name server (DNS) of its associated server.</a:t>
            </a:r>
          </a:p>
          <a:p>
            <a:r>
              <a:rPr lang="en-US" dirty="0"/>
              <a:t>A URL specifies the application-level protocol for transferring the document across the network.</a:t>
            </a:r>
          </a:p>
          <a:p>
            <a:r>
              <a:rPr lang="en-US" dirty="0"/>
              <a:t>A client interacts with Web servers through a special application known as a browser.</a:t>
            </a:r>
          </a:p>
          <a:p>
            <a:r>
              <a:rPr lang="en-US" dirty="0"/>
              <a:t>A browser is responsible for properly displaying a document.</a:t>
            </a:r>
          </a:p>
        </p:txBody>
      </p:sp>
    </p:spTree>
    <p:extLst>
      <p:ext uri="{BB962C8B-B14F-4D97-AF65-F5344CB8AC3E}">
        <p14:creationId xmlns:p14="http://schemas.microsoft.com/office/powerpoint/2010/main" val="4133625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Traditional web based system</a:t>
            </a:r>
          </a:p>
        </p:txBody>
      </p:sp>
      <p:grpSp>
        <p:nvGrpSpPr>
          <p:cNvPr id="27" name="Group 26"/>
          <p:cNvGrpSpPr/>
          <p:nvPr/>
        </p:nvGrpSpPr>
        <p:grpSpPr>
          <a:xfrm>
            <a:off x="1667435" y="1698812"/>
            <a:ext cx="2133600" cy="2743200"/>
            <a:chOff x="914400" y="1981200"/>
            <a:chExt cx="2133600" cy="2743200"/>
          </a:xfrm>
        </p:grpSpPr>
        <p:sp>
          <p:nvSpPr>
            <p:cNvPr id="28" name="Rectangle 27"/>
            <p:cNvSpPr/>
            <p:nvPr/>
          </p:nvSpPr>
          <p:spPr>
            <a:xfrm>
              <a:off x="914400" y="1981200"/>
              <a:ext cx="2133600" cy="2743200"/>
            </a:xfrm>
            <a:prstGeom prst="rect">
              <a:avLst/>
            </a:prstGeom>
            <a:solidFill>
              <a:sysClr val="window" lastClr="FFFFFF"/>
            </a:solidFill>
            <a:ln w="25400" cap="flat" cmpd="sng" algn="ctr">
              <a:solidFill>
                <a:srgbClr val="0E3755"/>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black"/>
                </a:solidFill>
                <a:effectLst/>
                <a:uLnTx/>
                <a:uFillTx/>
                <a:latin typeface="+mj-lt"/>
                <a:ea typeface="+mn-ea"/>
                <a:cs typeface="+mn-cs"/>
              </a:endParaRPr>
            </a:p>
          </p:txBody>
        </p:sp>
        <p:sp>
          <p:nvSpPr>
            <p:cNvPr id="29" name="TextBox 28"/>
            <p:cNvSpPr txBox="1"/>
            <p:nvPr/>
          </p:nvSpPr>
          <p:spPr>
            <a:xfrm>
              <a:off x="1066800" y="4202668"/>
              <a:ext cx="1828800" cy="369332"/>
            </a:xfrm>
            <a:prstGeom prst="rect">
              <a:avLst/>
            </a:prstGeom>
            <a:noFill/>
            <a:ln>
              <a:solidFill>
                <a:srgbClr val="0E3755"/>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mj-lt"/>
                </a:rPr>
                <a:t>Operating System</a:t>
              </a:r>
            </a:p>
          </p:txBody>
        </p:sp>
        <p:sp>
          <p:nvSpPr>
            <p:cNvPr id="30" name="TextBox 29"/>
            <p:cNvSpPr txBox="1"/>
            <p:nvPr/>
          </p:nvSpPr>
          <p:spPr>
            <a:xfrm>
              <a:off x="1066800" y="2133600"/>
              <a:ext cx="1828800" cy="1384995"/>
            </a:xfrm>
            <a:prstGeom prst="rect">
              <a:avLst/>
            </a:prstGeom>
            <a:noFill/>
            <a:ln w="28575">
              <a:solidFill>
                <a:schemeClr val="accent6"/>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smtClean="0">
                <a:ln>
                  <a:noFill/>
                </a:ln>
                <a:solidFill>
                  <a:prstClr val="black"/>
                </a:solidFill>
                <a:effectLst/>
                <a:uLnTx/>
                <a:uFillTx/>
                <a:latin typeface="+mj-lt"/>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smtClean="0">
                  <a:ln>
                    <a:noFill/>
                  </a:ln>
                  <a:solidFill>
                    <a:prstClr val="black"/>
                  </a:solidFill>
                  <a:effectLst/>
                  <a:uLnTx/>
                  <a:uFillTx/>
                  <a:latin typeface="+mj-lt"/>
                </a:rPr>
                <a:t>Browser</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smtClean="0">
                <a:ln>
                  <a:noFill/>
                </a:ln>
                <a:solidFill>
                  <a:prstClr val="black"/>
                </a:solidFill>
                <a:effectLst/>
                <a:uLnTx/>
                <a:uFillTx/>
                <a:latin typeface="+mj-lt"/>
              </a:endParaRPr>
            </a:p>
          </p:txBody>
        </p:sp>
      </p:grpSp>
      <p:grpSp>
        <p:nvGrpSpPr>
          <p:cNvPr id="31" name="Group 30"/>
          <p:cNvGrpSpPr/>
          <p:nvPr/>
        </p:nvGrpSpPr>
        <p:grpSpPr>
          <a:xfrm>
            <a:off x="4791635" y="1696467"/>
            <a:ext cx="2133600" cy="2743200"/>
            <a:chOff x="4038600" y="1978855"/>
            <a:chExt cx="2133600" cy="2743200"/>
          </a:xfrm>
        </p:grpSpPr>
        <p:sp>
          <p:nvSpPr>
            <p:cNvPr id="32" name="Rectangle 31"/>
            <p:cNvSpPr/>
            <p:nvPr/>
          </p:nvSpPr>
          <p:spPr>
            <a:xfrm>
              <a:off x="4038600" y="1978855"/>
              <a:ext cx="2133600" cy="2743200"/>
            </a:xfrm>
            <a:prstGeom prst="rect">
              <a:avLst/>
            </a:prstGeom>
            <a:solidFill>
              <a:sysClr val="window" lastClr="FFFFFF"/>
            </a:solidFill>
            <a:ln w="25400" cap="flat" cmpd="sng" algn="ctr">
              <a:solidFill>
                <a:srgbClr val="0E3755"/>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black"/>
                </a:solidFill>
                <a:effectLst/>
                <a:uLnTx/>
                <a:uFillTx/>
                <a:latin typeface="+mj-lt"/>
                <a:ea typeface="+mn-ea"/>
                <a:cs typeface="+mn-cs"/>
              </a:endParaRPr>
            </a:p>
          </p:txBody>
        </p:sp>
        <p:sp>
          <p:nvSpPr>
            <p:cNvPr id="33" name="TextBox 32"/>
            <p:cNvSpPr txBox="1"/>
            <p:nvPr/>
          </p:nvSpPr>
          <p:spPr>
            <a:xfrm>
              <a:off x="4191000" y="4200323"/>
              <a:ext cx="1828800" cy="369332"/>
            </a:xfrm>
            <a:prstGeom prst="rect">
              <a:avLst/>
            </a:prstGeom>
            <a:noFill/>
            <a:ln>
              <a:solidFill>
                <a:srgbClr val="0E3755"/>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mj-lt"/>
                </a:rPr>
                <a:t>Operating System</a:t>
              </a:r>
            </a:p>
          </p:txBody>
        </p:sp>
        <p:sp>
          <p:nvSpPr>
            <p:cNvPr id="34" name="TextBox 33"/>
            <p:cNvSpPr txBox="1"/>
            <p:nvPr/>
          </p:nvSpPr>
          <p:spPr>
            <a:xfrm>
              <a:off x="4191000" y="2131255"/>
              <a:ext cx="1828800" cy="1384995"/>
            </a:xfrm>
            <a:prstGeom prst="rect">
              <a:avLst/>
            </a:prstGeom>
            <a:noFill/>
            <a:ln w="28575">
              <a:solidFill>
                <a:schemeClr val="accent6"/>
              </a:solidFill>
            </a:ln>
          </p:spPr>
          <p:txBody>
            <a:bodyPr wrap="square" rtlCol="0" anchor="ctr"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smtClean="0">
                  <a:ln>
                    <a:noFill/>
                  </a:ln>
                  <a:solidFill>
                    <a:prstClr val="black"/>
                  </a:solidFill>
                  <a:effectLst/>
                  <a:uLnTx/>
                  <a:uFillTx/>
                  <a:latin typeface="+mj-lt"/>
                </a:rPr>
                <a:t>Web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smtClean="0">
                  <a:ln>
                    <a:noFill/>
                  </a:ln>
                  <a:solidFill>
                    <a:prstClr val="black"/>
                  </a:solidFill>
                  <a:effectLst/>
                  <a:uLnTx/>
                  <a:uFillTx/>
                  <a:latin typeface="+mj-lt"/>
                </a:rPr>
                <a:t>Server</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smtClean="0">
                <a:ln>
                  <a:noFill/>
                </a:ln>
                <a:solidFill>
                  <a:prstClr val="black"/>
                </a:solidFill>
                <a:effectLst/>
                <a:uLnTx/>
                <a:uFillTx/>
                <a:latin typeface="+mj-lt"/>
              </a:endParaRPr>
            </a:p>
          </p:txBody>
        </p:sp>
      </p:grpSp>
      <p:sp>
        <p:nvSpPr>
          <p:cNvPr id="35" name="Flowchart: Magnetic Disk 34"/>
          <p:cNvSpPr/>
          <p:nvPr/>
        </p:nvSpPr>
        <p:spPr>
          <a:xfrm>
            <a:off x="7915835" y="1741340"/>
            <a:ext cx="1524000" cy="1405272"/>
          </a:xfrm>
          <a:prstGeom prst="flowChartMagneticDisk">
            <a:avLst/>
          </a:prstGeom>
          <a:solidFill>
            <a:sysClr val="window" lastClr="FFFFFF"/>
          </a:solidFill>
          <a:ln w="25400" cap="flat" cmpd="sng" algn="ctr">
            <a:solidFill>
              <a:schemeClr val="accent4"/>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black"/>
              </a:solidFill>
              <a:effectLst/>
              <a:uLnTx/>
              <a:uFillTx/>
              <a:latin typeface="+mj-lt"/>
              <a:ea typeface="+mn-ea"/>
              <a:cs typeface="+mn-cs"/>
            </a:endParaRPr>
          </a:p>
        </p:txBody>
      </p:sp>
      <p:cxnSp>
        <p:nvCxnSpPr>
          <p:cNvPr id="36" name="Elbow Connector 35"/>
          <p:cNvCxnSpPr/>
          <p:nvPr/>
        </p:nvCxnSpPr>
        <p:spPr>
          <a:xfrm>
            <a:off x="2924737" y="3233862"/>
            <a:ext cx="2552698" cy="12700"/>
          </a:xfrm>
          <a:prstGeom prst="bentConnector4">
            <a:avLst>
              <a:gd name="adj1" fmla="val 5638"/>
              <a:gd name="adj2" fmla="val 13586157"/>
            </a:avLst>
          </a:prstGeom>
          <a:noFill/>
          <a:ln w="9525" cap="flat" cmpd="sng" algn="ctr">
            <a:solidFill>
              <a:schemeClr val="tx1"/>
            </a:solidFill>
            <a:prstDash val="solid"/>
            <a:tailEnd type="triangle"/>
          </a:ln>
          <a:effectLst/>
        </p:spPr>
      </p:cxnSp>
      <p:cxnSp>
        <p:nvCxnSpPr>
          <p:cNvPr id="37" name="Elbow Connector 36"/>
          <p:cNvCxnSpPr/>
          <p:nvPr/>
        </p:nvCxnSpPr>
        <p:spPr>
          <a:xfrm rot="10800000">
            <a:off x="2772337" y="3222812"/>
            <a:ext cx="2552698" cy="12700"/>
          </a:xfrm>
          <a:prstGeom prst="bentConnector4">
            <a:avLst>
              <a:gd name="adj1" fmla="val -16405"/>
              <a:gd name="adj2" fmla="val -15213835"/>
            </a:avLst>
          </a:prstGeom>
          <a:noFill/>
          <a:ln w="9525" cap="flat" cmpd="sng" algn="ctr">
            <a:solidFill>
              <a:schemeClr val="tx1"/>
            </a:solidFill>
            <a:prstDash val="solid"/>
            <a:tailEnd type="triangle"/>
          </a:ln>
          <a:effectLst/>
        </p:spPr>
      </p:cxnSp>
      <p:grpSp>
        <p:nvGrpSpPr>
          <p:cNvPr id="38" name="Group 37"/>
          <p:cNvGrpSpPr/>
          <p:nvPr/>
        </p:nvGrpSpPr>
        <p:grpSpPr>
          <a:xfrm>
            <a:off x="1895398" y="4438164"/>
            <a:ext cx="4705349" cy="1308795"/>
            <a:chOff x="1095376" y="4722055"/>
            <a:chExt cx="4705349" cy="1308795"/>
          </a:xfrm>
        </p:grpSpPr>
        <p:cxnSp>
          <p:nvCxnSpPr>
            <p:cNvPr id="39" name="Straight Connector 38"/>
            <p:cNvCxnSpPr/>
            <p:nvPr/>
          </p:nvCxnSpPr>
          <p:spPr>
            <a:xfrm>
              <a:off x="1095376" y="6012799"/>
              <a:ext cx="4705349" cy="18051"/>
            </a:xfrm>
            <a:prstGeom prst="line">
              <a:avLst/>
            </a:prstGeom>
            <a:noFill/>
            <a:ln w="28575" cap="flat" cmpd="sng" algn="ctr">
              <a:solidFill>
                <a:srgbClr val="0E3755"/>
              </a:solidFill>
              <a:prstDash val="solid"/>
            </a:ln>
            <a:effectLst/>
          </p:spPr>
        </p:cxnSp>
        <p:cxnSp>
          <p:nvCxnSpPr>
            <p:cNvPr id="40" name="Straight Connector 39"/>
            <p:cNvCxnSpPr/>
            <p:nvPr/>
          </p:nvCxnSpPr>
          <p:spPr>
            <a:xfrm>
              <a:off x="1752600" y="4722055"/>
              <a:ext cx="0" cy="1290744"/>
            </a:xfrm>
            <a:prstGeom prst="line">
              <a:avLst/>
            </a:prstGeom>
            <a:noFill/>
            <a:ln w="28575" cap="flat" cmpd="sng" algn="ctr">
              <a:solidFill>
                <a:srgbClr val="0E3755"/>
              </a:solidFill>
              <a:prstDash val="solid"/>
            </a:ln>
            <a:effectLst/>
          </p:spPr>
        </p:cxnSp>
        <p:cxnSp>
          <p:nvCxnSpPr>
            <p:cNvPr id="41" name="Straight Connector 40"/>
            <p:cNvCxnSpPr/>
            <p:nvPr/>
          </p:nvCxnSpPr>
          <p:spPr>
            <a:xfrm>
              <a:off x="5257800" y="4724400"/>
              <a:ext cx="0" cy="1290744"/>
            </a:xfrm>
            <a:prstGeom prst="line">
              <a:avLst/>
            </a:prstGeom>
            <a:noFill/>
            <a:ln w="28575" cap="flat" cmpd="sng" algn="ctr">
              <a:solidFill>
                <a:srgbClr val="0E3755"/>
              </a:solidFill>
              <a:prstDash val="solid"/>
            </a:ln>
            <a:effectLst/>
          </p:spPr>
        </p:cxnSp>
      </p:grpSp>
      <p:sp>
        <p:nvSpPr>
          <p:cNvPr id="42" name="TextBox 41"/>
          <p:cNvSpPr txBox="1"/>
          <p:nvPr/>
        </p:nvSpPr>
        <p:spPr>
          <a:xfrm>
            <a:off x="2962835" y="4635383"/>
            <a:ext cx="2595262" cy="369332"/>
          </a:xfrm>
          <a:prstGeom prst="rect">
            <a:avLst/>
          </a:prstGeom>
          <a:noFill/>
        </p:spPr>
        <p:txBody>
          <a:bodyPr wrap="none" rtlCol="0">
            <a:spAutoFit/>
          </a:bodyPr>
          <a:lstStyle/>
          <a:p>
            <a:r>
              <a:rPr lang="en-US" dirty="0">
                <a:solidFill>
                  <a:prstClr val="black"/>
                </a:solidFill>
                <a:latin typeface="+mj-lt"/>
              </a:rPr>
              <a:t>1. Get Document Request</a:t>
            </a:r>
          </a:p>
        </p:txBody>
      </p:sp>
      <p:sp>
        <p:nvSpPr>
          <p:cNvPr id="43" name="TextBox 42"/>
          <p:cNvSpPr txBox="1"/>
          <p:nvPr/>
        </p:nvSpPr>
        <p:spPr>
          <a:xfrm>
            <a:off x="3572435" y="5140589"/>
            <a:ext cx="1398909" cy="369332"/>
          </a:xfrm>
          <a:prstGeom prst="rect">
            <a:avLst/>
          </a:prstGeom>
          <a:noFill/>
        </p:spPr>
        <p:txBody>
          <a:bodyPr wrap="none" rtlCol="0">
            <a:spAutoFit/>
          </a:bodyPr>
          <a:lstStyle/>
          <a:p>
            <a:r>
              <a:rPr lang="en-US" dirty="0">
                <a:solidFill>
                  <a:prstClr val="black"/>
                </a:solidFill>
                <a:latin typeface="+mj-lt"/>
              </a:rPr>
              <a:t>3. Responses</a:t>
            </a:r>
          </a:p>
        </p:txBody>
      </p:sp>
      <p:sp>
        <p:nvSpPr>
          <p:cNvPr id="44" name="TextBox 43"/>
          <p:cNvSpPr txBox="1"/>
          <p:nvPr/>
        </p:nvSpPr>
        <p:spPr>
          <a:xfrm>
            <a:off x="1787372" y="1026662"/>
            <a:ext cx="1991251" cy="461665"/>
          </a:xfrm>
          <a:prstGeom prst="rect">
            <a:avLst/>
          </a:prstGeom>
          <a:solidFill>
            <a:srgbClr val="0E3755"/>
          </a:solidFill>
        </p:spPr>
        <p:txBody>
          <a:bodyPr wrap="none" rtlCol="0">
            <a:spAutoFit/>
          </a:bodyPr>
          <a:lstStyle/>
          <a:p>
            <a:r>
              <a:rPr lang="en-US" sz="2400" dirty="0">
                <a:solidFill>
                  <a:schemeClr val="bg1"/>
                </a:solidFill>
                <a:latin typeface="+mj-lt"/>
              </a:rPr>
              <a:t>Client Machine</a:t>
            </a:r>
          </a:p>
        </p:txBody>
      </p:sp>
      <p:sp>
        <p:nvSpPr>
          <p:cNvPr id="45" name="TextBox 44"/>
          <p:cNvSpPr txBox="1"/>
          <p:nvPr/>
        </p:nvSpPr>
        <p:spPr>
          <a:xfrm>
            <a:off x="4791635" y="1050880"/>
            <a:ext cx="2055371" cy="461665"/>
          </a:xfrm>
          <a:prstGeom prst="rect">
            <a:avLst/>
          </a:prstGeom>
          <a:solidFill>
            <a:srgbClr val="0E3755"/>
          </a:solidFill>
        </p:spPr>
        <p:txBody>
          <a:bodyPr wrap="none" rtlCol="0">
            <a:spAutoFit/>
          </a:bodyPr>
          <a:lstStyle/>
          <a:p>
            <a:r>
              <a:rPr lang="en-US" sz="2400" dirty="0">
                <a:solidFill>
                  <a:schemeClr val="bg1"/>
                </a:solidFill>
                <a:latin typeface="+mj-lt"/>
              </a:rPr>
              <a:t>Server Machine</a:t>
            </a:r>
          </a:p>
        </p:txBody>
      </p:sp>
      <p:cxnSp>
        <p:nvCxnSpPr>
          <p:cNvPr id="46" name="Straight Arrow Connector 45"/>
          <p:cNvCxnSpPr/>
          <p:nvPr/>
        </p:nvCxnSpPr>
        <p:spPr>
          <a:xfrm>
            <a:off x="5706035" y="2918012"/>
            <a:ext cx="0" cy="328550"/>
          </a:xfrm>
          <a:prstGeom prst="straightConnector1">
            <a:avLst/>
          </a:prstGeom>
          <a:noFill/>
          <a:ln w="9525" cap="flat" cmpd="sng" algn="ctr">
            <a:solidFill>
              <a:srgbClr val="4F81BD"/>
            </a:solidFill>
            <a:prstDash val="solid"/>
            <a:tailEnd type="triangle"/>
          </a:ln>
          <a:effectLst/>
        </p:spPr>
      </p:cxnSp>
      <p:cxnSp>
        <p:nvCxnSpPr>
          <p:cNvPr id="47" name="Straight Connector 46"/>
          <p:cNvCxnSpPr/>
          <p:nvPr/>
        </p:nvCxnSpPr>
        <p:spPr>
          <a:xfrm>
            <a:off x="5706035" y="2918012"/>
            <a:ext cx="2209800" cy="0"/>
          </a:xfrm>
          <a:prstGeom prst="line">
            <a:avLst/>
          </a:prstGeom>
          <a:noFill/>
          <a:ln w="9525" cap="flat" cmpd="sng" algn="ctr">
            <a:solidFill>
              <a:schemeClr val="accent4"/>
            </a:solidFill>
            <a:prstDash val="solid"/>
          </a:ln>
          <a:effectLst/>
        </p:spPr>
      </p:cxnSp>
      <p:sp>
        <p:nvSpPr>
          <p:cNvPr id="48" name="TextBox 47"/>
          <p:cNvSpPr txBox="1"/>
          <p:nvPr/>
        </p:nvSpPr>
        <p:spPr>
          <a:xfrm>
            <a:off x="6925235" y="3068067"/>
            <a:ext cx="2756652" cy="646331"/>
          </a:xfrm>
          <a:prstGeom prst="rect">
            <a:avLst/>
          </a:prstGeom>
          <a:noFill/>
        </p:spPr>
        <p:txBody>
          <a:bodyPr wrap="none" rtlCol="0">
            <a:spAutoFit/>
          </a:bodyPr>
          <a:lstStyle/>
          <a:p>
            <a:pPr algn="ctr"/>
            <a:r>
              <a:rPr lang="en-US" dirty="0">
                <a:solidFill>
                  <a:prstClr val="black"/>
                </a:solidFill>
                <a:latin typeface="+mj-lt"/>
              </a:rPr>
              <a:t>2. Server fetches document</a:t>
            </a:r>
          </a:p>
          <a:p>
            <a:pPr algn="ctr"/>
            <a:r>
              <a:rPr lang="en-US" dirty="0">
                <a:solidFill>
                  <a:prstClr val="black"/>
                </a:solidFill>
                <a:latin typeface="+mj-lt"/>
              </a:rPr>
              <a:t> from local file</a:t>
            </a:r>
          </a:p>
        </p:txBody>
      </p:sp>
    </p:spTree>
    <p:extLst>
      <p:ext uri="{BB962C8B-B14F-4D97-AF65-F5344CB8AC3E}">
        <p14:creationId xmlns:p14="http://schemas.microsoft.com/office/powerpoint/2010/main" val="1615147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par>
                                <p:cTn id="8" presetID="22" presetClass="entr" presetSubtype="4"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down)">
                                      <p:cBhvr>
                                        <p:cTn id="10" dur="500"/>
                                        <p:tgtEl>
                                          <p:spTgt spid="2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wipe(down)">
                                      <p:cBhvr>
                                        <p:cTn id="13" dur="500"/>
                                        <p:tgtEl>
                                          <p:spTgt spid="45"/>
                                        </p:tgtEl>
                                      </p:cBhvr>
                                    </p:animEffect>
                                  </p:childTnLst>
                                </p:cTn>
                              </p:par>
                              <p:par>
                                <p:cTn id="14" presetID="22" presetClass="entr" presetSubtype="4"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down)">
                                      <p:cBhvr>
                                        <p:cTn id="16" dur="500"/>
                                        <p:tgtEl>
                                          <p:spTgt spid="31"/>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down)">
                                      <p:cBhvr>
                                        <p:cTn id="19" dur="500"/>
                                        <p:tgtEl>
                                          <p:spTgt spid="35"/>
                                        </p:tgtEl>
                                      </p:cBhvr>
                                    </p:animEffect>
                                  </p:childTnLst>
                                </p:cTn>
                              </p:par>
                              <p:par>
                                <p:cTn id="20" presetID="22" presetClass="entr" presetSubtype="4"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down)">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wipe(left)">
                                      <p:cBhvr>
                                        <p:cTn id="27" dur="500"/>
                                        <p:tgtEl>
                                          <p:spTgt spid="42"/>
                                        </p:tgtEl>
                                      </p:cBhvr>
                                    </p:animEffect>
                                  </p:childTnLst>
                                </p:cTn>
                              </p:par>
                              <p:par>
                                <p:cTn id="28" presetID="22" presetClass="entr" presetSubtype="8" fill="hold"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wipe(left)">
                                      <p:cBhvr>
                                        <p:cTn id="30" dur="500"/>
                                        <p:tgtEl>
                                          <p:spTgt spid="3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wipe(right)">
                                      <p:cBhvr>
                                        <p:cTn id="35" dur="500"/>
                                        <p:tgtEl>
                                          <p:spTgt spid="47"/>
                                        </p:tgtEl>
                                      </p:cBhvr>
                                    </p:animEffect>
                                  </p:childTnLst>
                                </p:cTn>
                              </p:par>
                              <p:par>
                                <p:cTn id="36" presetID="22" presetClass="entr" presetSubtype="2" fill="hold" grpId="0" nodeType="with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wipe(right)">
                                      <p:cBhvr>
                                        <p:cTn id="38" dur="500"/>
                                        <p:tgtEl>
                                          <p:spTgt spid="48"/>
                                        </p:tgtEl>
                                      </p:cBhvr>
                                    </p:animEffect>
                                  </p:childTnLst>
                                </p:cTn>
                              </p:par>
                              <p:par>
                                <p:cTn id="39" presetID="22" presetClass="entr" presetSubtype="1" fill="hold"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wipe(up)">
                                      <p:cBhvr>
                                        <p:cTn id="41" dur="500"/>
                                        <p:tgtEl>
                                          <p:spTgt spid="4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wipe(right)">
                                      <p:cBhvr>
                                        <p:cTn id="46" dur="500"/>
                                        <p:tgtEl>
                                          <p:spTgt spid="43"/>
                                        </p:tgtEl>
                                      </p:cBhvr>
                                    </p:animEffect>
                                  </p:childTnLst>
                                </p:cTn>
                              </p:par>
                              <p:par>
                                <p:cTn id="47" presetID="22" presetClass="entr" presetSubtype="2"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wipe(right)">
                                      <p:cBhvr>
                                        <p:cTn id="4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2" grpId="0"/>
      <p:bldP spid="43" grpId="0"/>
      <p:bldP spid="44" grpId="0" animBg="1"/>
      <p:bldP spid="45" grpId="0" animBg="1"/>
      <p:bldP spid="4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Web Documents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Fundamental to the Web is that all information comes in the form of a document.</a:t>
            </a:r>
          </a:p>
          <a:p>
            <a:r>
              <a:rPr lang="en-US" dirty="0"/>
              <a:t>Most documents can be divided into two parts:</a:t>
            </a:r>
          </a:p>
          <a:p>
            <a:pPr marL="914400" lvl="1" indent="-457200">
              <a:buFont typeface="+mj-lt"/>
              <a:buAutoNum type="arabicPeriod"/>
            </a:pPr>
            <a:r>
              <a:rPr lang="en-US" sz="2400" dirty="0"/>
              <a:t>A main part that acts as a template.</a:t>
            </a:r>
          </a:p>
          <a:p>
            <a:pPr marL="914400" lvl="1" indent="-457200">
              <a:buFont typeface="+mj-lt"/>
              <a:buAutoNum type="arabicPeriod"/>
            </a:pPr>
            <a:r>
              <a:rPr lang="en-US" sz="2400" dirty="0"/>
              <a:t>The second part consists of many different bits and pieces that jointly constitute the document that is displayed in a browser.</a:t>
            </a:r>
          </a:p>
          <a:p>
            <a:r>
              <a:rPr lang="en-US" dirty="0"/>
              <a:t>The main part is generally written in a markup language (HTML, XML</a:t>
            </a:r>
            <a:r>
              <a:rPr lang="en-US" dirty="0" smtClean="0"/>
              <a:t>).</a:t>
            </a:r>
          </a:p>
          <a:p>
            <a:r>
              <a:rPr lang="en-US" dirty="0"/>
              <a:t>Each embedded document has an associated MIME (Multipurpose Internet Mail Exchange) type.</a:t>
            </a:r>
          </a:p>
          <a:p>
            <a:r>
              <a:rPr lang="en-US" dirty="0"/>
              <a:t>It was developed to provide information on the content of a message body that was sent as part of electronic mail.</a:t>
            </a:r>
          </a:p>
          <a:p>
            <a:endParaRPr lang="en-US" dirty="0"/>
          </a:p>
        </p:txBody>
      </p:sp>
    </p:spTree>
    <p:extLst>
      <p:ext uri="{BB962C8B-B14F-4D97-AF65-F5344CB8AC3E}">
        <p14:creationId xmlns:p14="http://schemas.microsoft.com/office/powerpoint/2010/main" val="3393765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MIME Types</a:t>
            </a:r>
          </a:p>
        </p:txBody>
      </p:sp>
      <p:graphicFrame>
        <p:nvGraphicFramePr>
          <p:cNvPr id="5" name="Table 4"/>
          <p:cNvGraphicFramePr>
            <a:graphicFrameLocks noGrp="1"/>
          </p:cNvGraphicFramePr>
          <p:nvPr>
            <p:extLst/>
          </p:nvPr>
        </p:nvGraphicFramePr>
        <p:xfrm>
          <a:off x="509598" y="831318"/>
          <a:ext cx="10046342" cy="457200"/>
        </p:xfrm>
        <a:graphic>
          <a:graphicData uri="http://schemas.openxmlformats.org/drawingml/2006/table">
            <a:tbl>
              <a:tblPr firstRow="1" bandRow="1">
                <a:tableStyleId>{5C22544A-7EE6-4342-B048-85BDC9FD1C3A}</a:tableStyleId>
              </a:tblPr>
              <a:tblGrid>
                <a:gridCol w="1616151">
                  <a:extLst>
                    <a:ext uri="{9D8B030D-6E8A-4147-A177-3AD203B41FA5}">
                      <a16:colId xmlns="" xmlns:a16="http://schemas.microsoft.com/office/drawing/2014/main" val="257945307"/>
                    </a:ext>
                  </a:extLst>
                </a:gridCol>
                <a:gridCol w="2096628">
                  <a:extLst>
                    <a:ext uri="{9D8B030D-6E8A-4147-A177-3AD203B41FA5}">
                      <a16:colId xmlns="" xmlns:a16="http://schemas.microsoft.com/office/drawing/2014/main" val="2345050392"/>
                    </a:ext>
                  </a:extLst>
                </a:gridCol>
                <a:gridCol w="6333563">
                  <a:extLst>
                    <a:ext uri="{9D8B030D-6E8A-4147-A177-3AD203B41FA5}">
                      <a16:colId xmlns="" xmlns:a16="http://schemas.microsoft.com/office/drawing/2014/main" val="2208455893"/>
                    </a:ext>
                  </a:extLst>
                </a:gridCol>
              </a:tblGrid>
              <a:tr h="356347">
                <a:tc>
                  <a:txBody>
                    <a:bodyPr/>
                    <a:lstStyle/>
                    <a:p>
                      <a:r>
                        <a:rPr lang="en-US" sz="2400" dirty="0"/>
                        <a:t>Type</a:t>
                      </a:r>
                    </a:p>
                  </a:txBody>
                  <a:tcPr>
                    <a:solidFill>
                      <a:schemeClr val="tx2"/>
                    </a:solidFill>
                  </a:tcPr>
                </a:tc>
                <a:tc>
                  <a:txBody>
                    <a:bodyPr/>
                    <a:lstStyle/>
                    <a:p>
                      <a:r>
                        <a:rPr lang="en-US" sz="2400" dirty="0"/>
                        <a:t>Subtype</a:t>
                      </a:r>
                    </a:p>
                  </a:txBody>
                  <a:tcPr>
                    <a:solidFill>
                      <a:schemeClr val="tx2"/>
                    </a:solidFill>
                  </a:tcPr>
                </a:tc>
                <a:tc>
                  <a:txBody>
                    <a:bodyPr/>
                    <a:lstStyle/>
                    <a:p>
                      <a:r>
                        <a:rPr lang="en-US" sz="2400" dirty="0"/>
                        <a:t>Description</a:t>
                      </a:r>
                    </a:p>
                  </a:txBody>
                  <a:tcPr>
                    <a:solidFill>
                      <a:schemeClr val="tx2"/>
                    </a:solidFill>
                  </a:tcPr>
                </a:tc>
                <a:extLst>
                  <a:ext uri="{0D108BD9-81ED-4DB2-BD59-A6C34878D82A}">
                    <a16:rowId xmlns="" xmlns:a16="http://schemas.microsoft.com/office/drawing/2014/main" val="2569319100"/>
                  </a:ext>
                </a:extLst>
              </a:tr>
            </a:tbl>
          </a:graphicData>
        </a:graphic>
      </p:graphicFrame>
      <p:graphicFrame>
        <p:nvGraphicFramePr>
          <p:cNvPr id="6" name="Table 5"/>
          <p:cNvGraphicFramePr>
            <a:graphicFrameLocks noGrp="1"/>
          </p:cNvGraphicFramePr>
          <p:nvPr>
            <p:extLst/>
          </p:nvPr>
        </p:nvGraphicFramePr>
        <p:xfrm>
          <a:off x="513227" y="1298110"/>
          <a:ext cx="10046342" cy="1097280"/>
        </p:xfrm>
        <a:graphic>
          <a:graphicData uri="http://schemas.openxmlformats.org/drawingml/2006/table">
            <a:tbl>
              <a:tblPr firstRow="1" bandRow="1">
                <a:tableStyleId>{5C22544A-7EE6-4342-B048-85BDC9FD1C3A}</a:tableStyleId>
              </a:tblPr>
              <a:tblGrid>
                <a:gridCol w="1616151">
                  <a:extLst>
                    <a:ext uri="{9D8B030D-6E8A-4147-A177-3AD203B41FA5}">
                      <a16:colId xmlns="" xmlns:a16="http://schemas.microsoft.com/office/drawing/2014/main" val="257945307"/>
                    </a:ext>
                  </a:extLst>
                </a:gridCol>
                <a:gridCol w="2096628">
                  <a:extLst>
                    <a:ext uri="{9D8B030D-6E8A-4147-A177-3AD203B41FA5}">
                      <a16:colId xmlns="" xmlns:a16="http://schemas.microsoft.com/office/drawing/2014/main" val="2345050392"/>
                    </a:ext>
                  </a:extLst>
                </a:gridCol>
                <a:gridCol w="6333563">
                  <a:extLst>
                    <a:ext uri="{9D8B030D-6E8A-4147-A177-3AD203B41FA5}">
                      <a16:colId xmlns="" xmlns:a16="http://schemas.microsoft.com/office/drawing/2014/main" val="2208455893"/>
                    </a:ext>
                  </a:extLst>
                </a:gridCol>
              </a:tblGrid>
              <a:tr h="356347">
                <a:tc rowSpan="3">
                  <a:txBody>
                    <a:bodyPr/>
                    <a:lstStyle/>
                    <a:p>
                      <a:pPr algn="ctr"/>
                      <a:r>
                        <a:rPr lang="en-US" b="0" dirty="0">
                          <a:solidFill>
                            <a:sysClr val="windowText" lastClr="000000"/>
                          </a:solidFill>
                        </a:rPr>
                        <a:t>Text</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b="0" dirty="0">
                          <a:solidFill>
                            <a:sysClr val="windowText" lastClr="000000"/>
                          </a:solidFill>
                        </a:rPr>
                        <a:t>Plain</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b="0" dirty="0">
                          <a:solidFill>
                            <a:sysClr val="windowText" lastClr="000000"/>
                          </a:solidFill>
                        </a:rPr>
                        <a:t>Unformatted text</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r h="356347">
                <a:tc vMerge="1">
                  <a:txBody>
                    <a:bodyPr/>
                    <a:lstStyle/>
                    <a:p>
                      <a:endParaRPr lang="en-US" dirty="0">
                        <a:solidFill>
                          <a:sysClr val="windowText" lastClr="000000"/>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HTML</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Text including HTML markup commands</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170336391"/>
                  </a:ext>
                </a:extLst>
              </a:tr>
              <a:tr h="356347">
                <a:tc vMerge="1">
                  <a:txBody>
                    <a:bodyPr/>
                    <a:lstStyle/>
                    <a:p>
                      <a:endParaRPr lang="en-US" dirty="0">
                        <a:solidFill>
                          <a:sysClr val="windowText" lastClr="000000"/>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XML</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Text including XML markup commands</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3973615952"/>
                  </a:ext>
                </a:extLst>
              </a:tr>
            </a:tbl>
          </a:graphicData>
        </a:graphic>
      </p:graphicFrame>
      <p:graphicFrame>
        <p:nvGraphicFramePr>
          <p:cNvPr id="7" name="Table 6"/>
          <p:cNvGraphicFramePr>
            <a:graphicFrameLocks noGrp="1"/>
          </p:cNvGraphicFramePr>
          <p:nvPr>
            <p:extLst/>
          </p:nvPr>
        </p:nvGraphicFramePr>
        <p:xfrm>
          <a:off x="509598" y="2376544"/>
          <a:ext cx="10046342" cy="731520"/>
        </p:xfrm>
        <a:graphic>
          <a:graphicData uri="http://schemas.openxmlformats.org/drawingml/2006/table">
            <a:tbl>
              <a:tblPr firstRow="1" bandRow="1">
                <a:tableStyleId>{5C22544A-7EE6-4342-B048-85BDC9FD1C3A}</a:tableStyleId>
              </a:tblPr>
              <a:tblGrid>
                <a:gridCol w="1616151">
                  <a:extLst>
                    <a:ext uri="{9D8B030D-6E8A-4147-A177-3AD203B41FA5}">
                      <a16:colId xmlns="" xmlns:a16="http://schemas.microsoft.com/office/drawing/2014/main" val="257945307"/>
                    </a:ext>
                  </a:extLst>
                </a:gridCol>
                <a:gridCol w="2096628">
                  <a:extLst>
                    <a:ext uri="{9D8B030D-6E8A-4147-A177-3AD203B41FA5}">
                      <a16:colId xmlns="" xmlns:a16="http://schemas.microsoft.com/office/drawing/2014/main" val="2345050392"/>
                    </a:ext>
                  </a:extLst>
                </a:gridCol>
                <a:gridCol w="6333563">
                  <a:extLst>
                    <a:ext uri="{9D8B030D-6E8A-4147-A177-3AD203B41FA5}">
                      <a16:colId xmlns="" xmlns:a16="http://schemas.microsoft.com/office/drawing/2014/main" val="2208455893"/>
                    </a:ext>
                  </a:extLst>
                </a:gridCol>
              </a:tblGrid>
              <a:tr h="356347">
                <a:tc rowSpan="2">
                  <a:txBody>
                    <a:bodyPr/>
                    <a:lstStyle/>
                    <a:p>
                      <a:pPr algn="ctr"/>
                      <a:r>
                        <a:rPr lang="en-US" b="0" dirty="0">
                          <a:solidFill>
                            <a:sysClr val="windowText" lastClr="000000"/>
                          </a:solidFill>
                        </a:rPr>
                        <a:t>Image</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b="0" dirty="0">
                          <a:solidFill>
                            <a:sysClr val="windowText" lastClr="000000"/>
                          </a:solidFill>
                        </a:rPr>
                        <a:t>GIF</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b="0" dirty="0">
                          <a:solidFill>
                            <a:sysClr val="windowText" lastClr="000000"/>
                          </a:solidFill>
                        </a:rPr>
                        <a:t>Image in GIF format</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r h="356347">
                <a:tc vMerge="1">
                  <a:txBody>
                    <a:bodyPr/>
                    <a:lstStyle/>
                    <a:p>
                      <a:pPr algn="ctr"/>
                      <a:endParaRPr lang="en-US" b="0" dirty="0">
                        <a:solidFill>
                          <a:sysClr val="windowText" lastClr="000000"/>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JPEG</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Image in JPEG format</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170336391"/>
                  </a:ext>
                </a:extLst>
              </a:tr>
            </a:tbl>
          </a:graphicData>
        </a:graphic>
      </p:graphicFrame>
      <p:graphicFrame>
        <p:nvGraphicFramePr>
          <p:cNvPr id="8" name="Table 7"/>
          <p:cNvGraphicFramePr>
            <a:graphicFrameLocks noGrp="1"/>
          </p:cNvGraphicFramePr>
          <p:nvPr>
            <p:extLst/>
          </p:nvPr>
        </p:nvGraphicFramePr>
        <p:xfrm>
          <a:off x="509598" y="3092824"/>
          <a:ext cx="10046342" cy="731520"/>
        </p:xfrm>
        <a:graphic>
          <a:graphicData uri="http://schemas.openxmlformats.org/drawingml/2006/table">
            <a:tbl>
              <a:tblPr firstRow="1" bandRow="1">
                <a:tableStyleId>{5C22544A-7EE6-4342-B048-85BDC9FD1C3A}</a:tableStyleId>
              </a:tblPr>
              <a:tblGrid>
                <a:gridCol w="1616151">
                  <a:extLst>
                    <a:ext uri="{9D8B030D-6E8A-4147-A177-3AD203B41FA5}">
                      <a16:colId xmlns="" xmlns:a16="http://schemas.microsoft.com/office/drawing/2014/main" val="257945307"/>
                    </a:ext>
                  </a:extLst>
                </a:gridCol>
                <a:gridCol w="2096628">
                  <a:extLst>
                    <a:ext uri="{9D8B030D-6E8A-4147-A177-3AD203B41FA5}">
                      <a16:colId xmlns="" xmlns:a16="http://schemas.microsoft.com/office/drawing/2014/main" val="2345050392"/>
                    </a:ext>
                  </a:extLst>
                </a:gridCol>
                <a:gridCol w="6333563">
                  <a:extLst>
                    <a:ext uri="{9D8B030D-6E8A-4147-A177-3AD203B41FA5}">
                      <a16:colId xmlns="" xmlns:a16="http://schemas.microsoft.com/office/drawing/2014/main" val="2208455893"/>
                    </a:ext>
                  </a:extLst>
                </a:gridCol>
              </a:tblGrid>
              <a:tr h="356347">
                <a:tc rowSpan="2">
                  <a:txBody>
                    <a:bodyPr/>
                    <a:lstStyle/>
                    <a:p>
                      <a:pPr algn="ctr"/>
                      <a:r>
                        <a:rPr lang="en-US" b="0" dirty="0">
                          <a:solidFill>
                            <a:sysClr val="windowText" lastClr="000000"/>
                          </a:solidFill>
                        </a:rPr>
                        <a:t>Audio</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b="0" dirty="0">
                          <a:solidFill>
                            <a:sysClr val="windowText" lastClr="000000"/>
                          </a:solidFill>
                        </a:rPr>
                        <a:t>Basic</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b="0" dirty="0">
                          <a:solidFill>
                            <a:sysClr val="windowText" lastClr="000000"/>
                          </a:solidFill>
                        </a:rPr>
                        <a:t>Audio, 8-bit PCM sampled at 8000 Hz</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r h="356347">
                <a:tc vMerge="1">
                  <a:txBody>
                    <a:bodyPr/>
                    <a:lstStyle/>
                    <a:p>
                      <a:pPr algn="ctr"/>
                      <a:endParaRPr lang="en-US" b="0" dirty="0">
                        <a:solidFill>
                          <a:sysClr val="windowText" lastClr="000000"/>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Tone</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A specific audible tone</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170336391"/>
                  </a:ext>
                </a:extLst>
              </a:tr>
            </a:tbl>
          </a:graphicData>
        </a:graphic>
      </p:graphicFrame>
      <p:graphicFrame>
        <p:nvGraphicFramePr>
          <p:cNvPr id="9" name="Table 8"/>
          <p:cNvGraphicFramePr>
            <a:graphicFrameLocks noGrp="1"/>
          </p:cNvGraphicFramePr>
          <p:nvPr>
            <p:extLst/>
          </p:nvPr>
        </p:nvGraphicFramePr>
        <p:xfrm>
          <a:off x="509598" y="3824344"/>
          <a:ext cx="10046342" cy="731520"/>
        </p:xfrm>
        <a:graphic>
          <a:graphicData uri="http://schemas.openxmlformats.org/drawingml/2006/table">
            <a:tbl>
              <a:tblPr firstRow="1" bandRow="1">
                <a:tableStyleId>{5C22544A-7EE6-4342-B048-85BDC9FD1C3A}</a:tableStyleId>
              </a:tblPr>
              <a:tblGrid>
                <a:gridCol w="1616151">
                  <a:extLst>
                    <a:ext uri="{9D8B030D-6E8A-4147-A177-3AD203B41FA5}">
                      <a16:colId xmlns="" xmlns:a16="http://schemas.microsoft.com/office/drawing/2014/main" val="257945307"/>
                    </a:ext>
                  </a:extLst>
                </a:gridCol>
                <a:gridCol w="2096628">
                  <a:extLst>
                    <a:ext uri="{9D8B030D-6E8A-4147-A177-3AD203B41FA5}">
                      <a16:colId xmlns="" xmlns:a16="http://schemas.microsoft.com/office/drawing/2014/main" val="2345050392"/>
                    </a:ext>
                  </a:extLst>
                </a:gridCol>
                <a:gridCol w="6333563">
                  <a:extLst>
                    <a:ext uri="{9D8B030D-6E8A-4147-A177-3AD203B41FA5}">
                      <a16:colId xmlns="" xmlns:a16="http://schemas.microsoft.com/office/drawing/2014/main" val="2208455893"/>
                    </a:ext>
                  </a:extLst>
                </a:gridCol>
              </a:tblGrid>
              <a:tr h="356347">
                <a:tc rowSpan="2">
                  <a:txBody>
                    <a:bodyPr/>
                    <a:lstStyle/>
                    <a:p>
                      <a:pPr algn="ctr"/>
                      <a:r>
                        <a:rPr lang="en-US" b="0" dirty="0">
                          <a:solidFill>
                            <a:sysClr val="windowText" lastClr="000000"/>
                          </a:solidFill>
                        </a:rPr>
                        <a:t>Video</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b="0" dirty="0">
                          <a:solidFill>
                            <a:sysClr val="windowText" lastClr="000000"/>
                          </a:solidFill>
                        </a:rPr>
                        <a:t>MPEG</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b="0" dirty="0">
                          <a:solidFill>
                            <a:sysClr val="windowText" lastClr="000000"/>
                          </a:solidFill>
                        </a:rPr>
                        <a:t>Movie in MPEG format</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r h="356347">
                <a:tc vMerge="1">
                  <a:txBody>
                    <a:bodyPr/>
                    <a:lstStyle/>
                    <a:p>
                      <a:pPr algn="ctr"/>
                      <a:endParaRPr lang="en-US" b="0" dirty="0">
                        <a:solidFill>
                          <a:sysClr val="windowText" lastClr="000000"/>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Pointer</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Representation of a pointer device for presentation</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170336391"/>
                  </a:ext>
                </a:extLst>
              </a:tr>
            </a:tbl>
          </a:graphicData>
        </a:graphic>
      </p:graphicFrame>
      <p:graphicFrame>
        <p:nvGraphicFramePr>
          <p:cNvPr id="10" name="Table 9"/>
          <p:cNvGraphicFramePr>
            <a:graphicFrameLocks noGrp="1"/>
          </p:cNvGraphicFramePr>
          <p:nvPr>
            <p:extLst/>
          </p:nvPr>
        </p:nvGraphicFramePr>
        <p:xfrm>
          <a:off x="509598" y="4540624"/>
          <a:ext cx="10046342" cy="731520"/>
        </p:xfrm>
        <a:graphic>
          <a:graphicData uri="http://schemas.openxmlformats.org/drawingml/2006/table">
            <a:tbl>
              <a:tblPr firstRow="1" bandRow="1">
                <a:tableStyleId>{5C22544A-7EE6-4342-B048-85BDC9FD1C3A}</a:tableStyleId>
              </a:tblPr>
              <a:tblGrid>
                <a:gridCol w="1616151">
                  <a:extLst>
                    <a:ext uri="{9D8B030D-6E8A-4147-A177-3AD203B41FA5}">
                      <a16:colId xmlns="" xmlns:a16="http://schemas.microsoft.com/office/drawing/2014/main" val="257945307"/>
                    </a:ext>
                  </a:extLst>
                </a:gridCol>
                <a:gridCol w="2096628">
                  <a:extLst>
                    <a:ext uri="{9D8B030D-6E8A-4147-A177-3AD203B41FA5}">
                      <a16:colId xmlns="" xmlns:a16="http://schemas.microsoft.com/office/drawing/2014/main" val="2345050392"/>
                    </a:ext>
                  </a:extLst>
                </a:gridCol>
                <a:gridCol w="6333563">
                  <a:extLst>
                    <a:ext uri="{9D8B030D-6E8A-4147-A177-3AD203B41FA5}">
                      <a16:colId xmlns="" xmlns:a16="http://schemas.microsoft.com/office/drawing/2014/main" val="2208455893"/>
                    </a:ext>
                  </a:extLst>
                </a:gridCol>
              </a:tblGrid>
              <a:tr h="356347">
                <a:tc rowSpan="2">
                  <a:txBody>
                    <a:bodyPr/>
                    <a:lstStyle/>
                    <a:p>
                      <a:pPr algn="ctr"/>
                      <a:r>
                        <a:rPr lang="en-US" b="0" dirty="0">
                          <a:solidFill>
                            <a:sysClr val="windowText" lastClr="000000"/>
                          </a:solidFill>
                        </a:rPr>
                        <a:t>Multipart</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b="0" dirty="0">
                          <a:solidFill>
                            <a:sysClr val="windowText" lastClr="000000"/>
                          </a:solidFill>
                        </a:rPr>
                        <a:t>Mixed</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b="0" dirty="0">
                          <a:solidFill>
                            <a:sysClr val="windowText" lastClr="000000"/>
                          </a:solidFill>
                        </a:rPr>
                        <a:t>Independent parts in the specified order</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r h="356347">
                <a:tc vMerge="1">
                  <a:txBody>
                    <a:bodyPr/>
                    <a:lstStyle/>
                    <a:p>
                      <a:pPr algn="ctr"/>
                      <a:endParaRPr lang="en-US" b="0" dirty="0">
                        <a:solidFill>
                          <a:sysClr val="windowText" lastClr="000000"/>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Parallel</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Parts must be viewed simultaneously</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170336391"/>
                  </a:ext>
                </a:extLst>
              </a:tr>
            </a:tbl>
          </a:graphicData>
        </a:graphic>
      </p:graphicFrame>
      <p:graphicFrame>
        <p:nvGraphicFramePr>
          <p:cNvPr id="11" name="Table 10"/>
          <p:cNvGraphicFramePr>
            <a:graphicFrameLocks noGrp="1"/>
          </p:cNvGraphicFramePr>
          <p:nvPr>
            <p:extLst/>
          </p:nvPr>
        </p:nvGraphicFramePr>
        <p:xfrm>
          <a:off x="509598" y="5281556"/>
          <a:ext cx="10046342" cy="1097280"/>
        </p:xfrm>
        <a:graphic>
          <a:graphicData uri="http://schemas.openxmlformats.org/drawingml/2006/table">
            <a:tbl>
              <a:tblPr firstRow="1" bandRow="1">
                <a:tableStyleId>{5C22544A-7EE6-4342-B048-85BDC9FD1C3A}</a:tableStyleId>
              </a:tblPr>
              <a:tblGrid>
                <a:gridCol w="1616151">
                  <a:extLst>
                    <a:ext uri="{9D8B030D-6E8A-4147-A177-3AD203B41FA5}">
                      <a16:colId xmlns="" xmlns:a16="http://schemas.microsoft.com/office/drawing/2014/main" val="257945307"/>
                    </a:ext>
                  </a:extLst>
                </a:gridCol>
                <a:gridCol w="2096628">
                  <a:extLst>
                    <a:ext uri="{9D8B030D-6E8A-4147-A177-3AD203B41FA5}">
                      <a16:colId xmlns="" xmlns:a16="http://schemas.microsoft.com/office/drawing/2014/main" val="2345050392"/>
                    </a:ext>
                  </a:extLst>
                </a:gridCol>
                <a:gridCol w="6333563">
                  <a:extLst>
                    <a:ext uri="{9D8B030D-6E8A-4147-A177-3AD203B41FA5}">
                      <a16:colId xmlns="" xmlns:a16="http://schemas.microsoft.com/office/drawing/2014/main" val="2208455893"/>
                    </a:ext>
                  </a:extLst>
                </a:gridCol>
              </a:tblGrid>
              <a:tr h="356347">
                <a:tc rowSpan="3">
                  <a:txBody>
                    <a:bodyPr/>
                    <a:lstStyle/>
                    <a:p>
                      <a:pPr algn="ctr"/>
                      <a:r>
                        <a:rPr lang="en-US" b="0" dirty="0">
                          <a:solidFill>
                            <a:sysClr val="windowText" lastClr="000000"/>
                          </a:solidFill>
                        </a:rPr>
                        <a:t>Application</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b="0" dirty="0">
                          <a:solidFill>
                            <a:sysClr val="windowText" lastClr="000000"/>
                          </a:solidFill>
                        </a:rPr>
                        <a:t>Octet- stream</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b="0" dirty="0">
                          <a:solidFill>
                            <a:sysClr val="windowText" lastClr="000000"/>
                          </a:solidFill>
                        </a:rPr>
                        <a:t>A uninterpreted byte sequence</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r h="356347">
                <a:tc vMerge="1">
                  <a:txBody>
                    <a:bodyPr/>
                    <a:lstStyle/>
                    <a:p>
                      <a:endParaRPr lang="en-US" dirty="0">
                        <a:solidFill>
                          <a:sysClr val="windowText" lastClr="000000"/>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Postscript</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A printable document in postscript</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170336391"/>
                  </a:ext>
                </a:extLst>
              </a:tr>
              <a:tr h="356347">
                <a:tc vMerge="1">
                  <a:txBody>
                    <a:bodyPr/>
                    <a:lstStyle/>
                    <a:p>
                      <a:endParaRPr lang="en-US" dirty="0">
                        <a:solidFill>
                          <a:sysClr val="windowText" lastClr="000000"/>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PDF</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r>
                        <a:rPr lang="en-US" dirty="0">
                          <a:solidFill>
                            <a:sysClr val="windowText" lastClr="000000"/>
                          </a:solidFill>
                        </a:rPr>
                        <a:t>A printable document in PDF</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3973615952"/>
                  </a:ext>
                </a:extLst>
              </a:tr>
            </a:tbl>
          </a:graphicData>
        </a:graphic>
      </p:graphicFrame>
    </p:spTree>
    <p:extLst>
      <p:ext uri="{BB962C8B-B14F-4D97-AF65-F5344CB8AC3E}">
        <p14:creationId xmlns:p14="http://schemas.microsoft.com/office/powerpoint/2010/main" val="2624287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Multitier Architecture</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Common Gateway Interface (CGI) defines a standard way by which a Web server can execute a program taking user data as input.</a:t>
            </a:r>
          </a:p>
          <a:p>
            <a:pPr>
              <a:lnSpc>
                <a:spcPct val="100000"/>
              </a:lnSpc>
            </a:pPr>
            <a:r>
              <a:rPr lang="en-US" dirty="0"/>
              <a:t>User data come from an HTML forms.</a:t>
            </a:r>
          </a:p>
          <a:p>
            <a:pPr>
              <a:lnSpc>
                <a:spcPct val="100000"/>
              </a:lnSpc>
            </a:pPr>
            <a:r>
              <a:rPr lang="en-US" dirty="0"/>
              <a:t>It specifies the program that is to be executed at the server side, along with parameter values that are filled in by the user.</a:t>
            </a:r>
          </a:p>
          <a:p>
            <a:pPr>
              <a:lnSpc>
                <a:spcPct val="100000"/>
              </a:lnSpc>
            </a:pPr>
            <a:r>
              <a:rPr lang="en-US" dirty="0"/>
              <a:t>Once the form has been completed, the program's name and collected parameter values are sent to the server.</a:t>
            </a:r>
          </a:p>
          <a:p>
            <a:pPr>
              <a:lnSpc>
                <a:spcPct val="100000"/>
              </a:lnSpc>
            </a:pPr>
            <a:r>
              <a:rPr lang="en-US" dirty="0"/>
              <a:t>When the server get a request it starts the program named in the request and passes its parameter values.</a:t>
            </a:r>
          </a:p>
          <a:p>
            <a:pPr>
              <a:lnSpc>
                <a:spcPct val="100000"/>
              </a:lnSpc>
            </a:pPr>
            <a:r>
              <a:rPr lang="en-US" dirty="0"/>
              <a:t>Program simply does its work and returns the results in the form of a document that is sent back to the user's browser to be displayed.</a:t>
            </a:r>
          </a:p>
        </p:txBody>
      </p:sp>
    </p:spTree>
    <p:extLst>
      <p:ext uri="{BB962C8B-B14F-4D97-AF65-F5344CB8AC3E}">
        <p14:creationId xmlns:p14="http://schemas.microsoft.com/office/powerpoint/2010/main" val="424240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Multitier Architecture</a:t>
            </a:r>
          </a:p>
        </p:txBody>
      </p:sp>
      <p:sp>
        <p:nvSpPr>
          <p:cNvPr id="5" name="Rectangle 4"/>
          <p:cNvSpPr/>
          <p:nvPr/>
        </p:nvSpPr>
        <p:spPr>
          <a:xfrm>
            <a:off x="1985683" y="1680882"/>
            <a:ext cx="1752600" cy="2514600"/>
          </a:xfrm>
          <a:prstGeom prst="rect">
            <a:avLst/>
          </a:prstGeom>
          <a:ln w="19050">
            <a:solidFill>
              <a:srgbClr val="0E375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p:cNvSpPr txBox="1"/>
          <p:nvPr/>
        </p:nvSpPr>
        <p:spPr>
          <a:xfrm>
            <a:off x="2290483" y="1909482"/>
            <a:ext cx="1149674" cy="1200329"/>
          </a:xfrm>
          <a:prstGeom prst="rect">
            <a:avLst/>
          </a:prstGeom>
          <a:noFill/>
          <a:ln w="28575">
            <a:solidFill>
              <a:schemeClr val="accent6"/>
            </a:solidFill>
          </a:ln>
        </p:spPr>
        <p:txBody>
          <a:bodyPr wrap="none" rtlCol="0">
            <a:spAutoFit/>
          </a:bodyPr>
          <a:lstStyle/>
          <a:p>
            <a:pPr algn="ctr"/>
            <a:r>
              <a:rPr lang="en-US" sz="2400" dirty="0"/>
              <a:t>HTTP</a:t>
            </a:r>
          </a:p>
          <a:p>
            <a:pPr algn="ctr"/>
            <a:r>
              <a:rPr lang="en-US" sz="2400" dirty="0"/>
              <a:t>request</a:t>
            </a:r>
          </a:p>
          <a:p>
            <a:pPr algn="ctr"/>
            <a:r>
              <a:rPr lang="en-US" sz="2400" dirty="0"/>
              <a:t>handler</a:t>
            </a:r>
          </a:p>
        </p:txBody>
      </p:sp>
      <p:sp>
        <p:nvSpPr>
          <p:cNvPr id="7" name="Rectangle 6"/>
          <p:cNvSpPr/>
          <p:nvPr/>
        </p:nvSpPr>
        <p:spPr>
          <a:xfrm>
            <a:off x="4652683" y="1680882"/>
            <a:ext cx="1752600" cy="2514600"/>
          </a:xfrm>
          <a:prstGeom prst="rect">
            <a:avLst/>
          </a:prstGeom>
          <a:ln w="19050">
            <a:solidFill>
              <a:srgbClr val="0E375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extBox 7"/>
          <p:cNvSpPr txBox="1"/>
          <p:nvPr/>
        </p:nvSpPr>
        <p:spPr>
          <a:xfrm>
            <a:off x="4881283" y="1909482"/>
            <a:ext cx="1245854" cy="1200329"/>
          </a:xfrm>
          <a:prstGeom prst="rect">
            <a:avLst/>
          </a:prstGeom>
          <a:noFill/>
          <a:ln w="28575">
            <a:solidFill>
              <a:schemeClr val="accent6"/>
            </a:solidFill>
          </a:ln>
        </p:spPr>
        <p:txBody>
          <a:bodyPr wrap="none" rtlCol="0">
            <a:spAutoFit/>
          </a:bodyPr>
          <a:lstStyle/>
          <a:p>
            <a:pPr algn="ctr"/>
            <a:r>
              <a:rPr lang="en-US" sz="2400" dirty="0"/>
              <a:t>CGI</a:t>
            </a:r>
          </a:p>
          <a:p>
            <a:pPr algn="ctr"/>
            <a:r>
              <a:rPr lang="en-US" sz="2400" dirty="0"/>
              <a:t>Program</a:t>
            </a:r>
          </a:p>
          <a:p>
            <a:pPr algn="ctr"/>
            <a:endParaRPr lang="en-US" sz="2400" dirty="0"/>
          </a:p>
        </p:txBody>
      </p:sp>
      <p:sp>
        <p:nvSpPr>
          <p:cNvPr id="9" name="Rectangle 8"/>
          <p:cNvSpPr/>
          <p:nvPr/>
        </p:nvSpPr>
        <p:spPr>
          <a:xfrm>
            <a:off x="7395883" y="1669996"/>
            <a:ext cx="1777374" cy="2514600"/>
          </a:xfrm>
          <a:prstGeom prst="rect">
            <a:avLst/>
          </a:prstGeom>
          <a:ln w="19050">
            <a:solidFill>
              <a:srgbClr val="0E375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Flowchart: Magnetic Disk 9"/>
          <p:cNvSpPr/>
          <p:nvPr/>
        </p:nvSpPr>
        <p:spPr>
          <a:xfrm>
            <a:off x="7789270" y="2927296"/>
            <a:ext cx="990600" cy="838200"/>
          </a:xfrm>
          <a:prstGeom prst="flowChartMagneticDisk">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1" name="Straight Arrow Connector 10"/>
          <p:cNvCxnSpPr/>
          <p:nvPr/>
        </p:nvCxnSpPr>
        <p:spPr>
          <a:xfrm>
            <a:off x="1452283" y="2290482"/>
            <a:ext cx="8382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440157" y="2290482"/>
            <a:ext cx="144112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440157" y="2747682"/>
            <a:ext cx="144112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1452283" y="2747682"/>
            <a:ext cx="84389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p:cNvCxnSpPr/>
          <p:nvPr/>
        </p:nvCxnSpPr>
        <p:spPr>
          <a:xfrm rot="10800000">
            <a:off x="6127137" y="2290482"/>
            <a:ext cx="2106946" cy="636814"/>
          </a:xfrm>
          <a:prstGeom prst="bentConnector3">
            <a:avLst>
              <a:gd name="adj1" fmla="val -288"/>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844391" y="4651317"/>
            <a:ext cx="1714828" cy="400110"/>
          </a:xfrm>
          <a:prstGeom prst="rect">
            <a:avLst/>
          </a:prstGeom>
          <a:noFill/>
        </p:spPr>
        <p:txBody>
          <a:bodyPr wrap="none" rtlCol="0">
            <a:spAutoFit/>
          </a:bodyPr>
          <a:lstStyle/>
          <a:p>
            <a:r>
              <a:rPr lang="en-US" sz="2000" dirty="0"/>
              <a:t>1. Get Request</a:t>
            </a:r>
          </a:p>
        </p:txBody>
      </p:sp>
      <p:sp>
        <p:nvSpPr>
          <p:cNvPr id="17" name="TextBox 16"/>
          <p:cNvSpPr txBox="1"/>
          <p:nvPr/>
        </p:nvSpPr>
        <p:spPr>
          <a:xfrm>
            <a:off x="1852598" y="5143137"/>
            <a:ext cx="3773212" cy="400110"/>
          </a:xfrm>
          <a:prstGeom prst="rect">
            <a:avLst/>
          </a:prstGeom>
          <a:noFill/>
        </p:spPr>
        <p:txBody>
          <a:bodyPr wrap="none" rtlCol="0">
            <a:spAutoFit/>
          </a:bodyPr>
          <a:lstStyle/>
          <a:p>
            <a:r>
              <a:rPr lang="en-US" sz="2000" dirty="0"/>
              <a:t>2. Start process to fetch document</a:t>
            </a:r>
          </a:p>
        </p:txBody>
      </p:sp>
      <p:sp>
        <p:nvSpPr>
          <p:cNvPr id="18" name="TextBox 17"/>
          <p:cNvSpPr txBox="1"/>
          <p:nvPr/>
        </p:nvSpPr>
        <p:spPr>
          <a:xfrm>
            <a:off x="5677864" y="4685326"/>
            <a:ext cx="2606932" cy="400110"/>
          </a:xfrm>
          <a:prstGeom prst="rect">
            <a:avLst/>
          </a:prstGeom>
          <a:noFill/>
        </p:spPr>
        <p:txBody>
          <a:bodyPr wrap="none" rtlCol="0">
            <a:spAutoFit/>
          </a:bodyPr>
          <a:lstStyle/>
          <a:p>
            <a:r>
              <a:rPr lang="en-US" sz="2000" dirty="0"/>
              <a:t>3. Database Interaction</a:t>
            </a:r>
          </a:p>
        </p:txBody>
      </p:sp>
      <p:sp>
        <p:nvSpPr>
          <p:cNvPr id="19" name="TextBox 18"/>
          <p:cNvSpPr txBox="1"/>
          <p:nvPr/>
        </p:nvSpPr>
        <p:spPr>
          <a:xfrm>
            <a:off x="5686358" y="5143137"/>
            <a:ext cx="3004925" cy="400110"/>
          </a:xfrm>
          <a:prstGeom prst="rect">
            <a:avLst/>
          </a:prstGeom>
          <a:noFill/>
        </p:spPr>
        <p:txBody>
          <a:bodyPr wrap="none" rtlCol="0">
            <a:spAutoFit/>
          </a:bodyPr>
          <a:lstStyle/>
          <a:p>
            <a:r>
              <a:rPr lang="en-US" sz="2000" dirty="0"/>
              <a:t>4. HTML Document creator</a:t>
            </a:r>
          </a:p>
        </p:txBody>
      </p:sp>
      <p:sp>
        <p:nvSpPr>
          <p:cNvPr id="20" name="TextBox 19"/>
          <p:cNvSpPr txBox="1"/>
          <p:nvPr/>
        </p:nvSpPr>
        <p:spPr>
          <a:xfrm>
            <a:off x="4523976" y="5689485"/>
            <a:ext cx="1846275" cy="400110"/>
          </a:xfrm>
          <a:prstGeom prst="rect">
            <a:avLst/>
          </a:prstGeom>
          <a:noFill/>
        </p:spPr>
        <p:txBody>
          <a:bodyPr wrap="none" rtlCol="0">
            <a:spAutoFit/>
          </a:bodyPr>
          <a:lstStyle/>
          <a:p>
            <a:r>
              <a:rPr lang="en-US" sz="2000" dirty="0"/>
              <a:t>5. Return Result</a:t>
            </a:r>
          </a:p>
        </p:txBody>
      </p:sp>
      <p:sp>
        <p:nvSpPr>
          <p:cNvPr id="21" name="TextBox 20"/>
          <p:cNvSpPr txBox="1"/>
          <p:nvPr/>
        </p:nvSpPr>
        <p:spPr>
          <a:xfrm>
            <a:off x="2286691" y="4187495"/>
            <a:ext cx="1356462" cy="400110"/>
          </a:xfrm>
          <a:prstGeom prst="rect">
            <a:avLst/>
          </a:prstGeom>
          <a:noFill/>
        </p:spPr>
        <p:txBody>
          <a:bodyPr wrap="none" rtlCol="0">
            <a:spAutoFit/>
          </a:bodyPr>
          <a:lstStyle/>
          <a:p>
            <a:r>
              <a:rPr lang="en-US" sz="2000" b="1" dirty="0">
                <a:solidFill>
                  <a:srgbClr val="1D3064"/>
                </a:solidFill>
              </a:rPr>
              <a:t>Web Server</a:t>
            </a:r>
          </a:p>
        </p:txBody>
      </p:sp>
      <p:sp>
        <p:nvSpPr>
          <p:cNvPr id="22" name="TextBox 21"/>
          <p:cNvSpPr txBox="1"/>
          <p:nvPr/>
        </p:nvSpPr>
        <p:spPr>
          <a:xfrm>
            <a:off x="4930819" y="4195482"/>
            <a:ext cx="1444626" cy="400110"/>
          </a:xfrm>
          <a:prstGeom prst="rect">
            <a:avLst/>
          </a:prstGeom>
          <a:noFill/>
        </p:spPr>
        <p:txBody>
          <a:bodyPr wrap="none" rtlCol="0">
            <a:spAutoFit/>
          </a:bodyPr>
          <a:lstStyle/>
          <a:p>
            <a:r>
              <a:rPr lang="en-US" sz="2000" b="1" dirty="0">
                <a:solidFill>
                  <a:srgbClr val="1D3064"/>
                </a:solidFill>
              </a:rPr>
              <a:t>CGI Process</a:t>
            </a:r>
          </a:p>
        </p:txBody>
      </p:sp>
      <p:sp>
        <p:nvSpPr>
          <p:cNvPr id="23" name="TextBox 22"/>
          <p:cNvSpPr txBox="1"/>
          <p:nvPr/>
        </p:nvSpPr>
        <p:spPr>
          <a:xfrm>
            <a:off x="7472083" y="4169593"/>
            <a:ext cx="1843774" cy="400110"/>
          </a:xfrm>
          <a:prstGeom prst="rect">
            <a:avLst/>
          </a:prstGeom>
          <a:noFill/>
        </p:spPr>
        <p:txBody>
          <a:bodyPr wrap="none" rtlCol="0">
            <a:spAutoFit/>
          </a:bodyPr>
          <a:lstStyle/>
          <a:p>
            <a:r>
              <a:rPr lang="en-US" sz="2000" b="1" dirty="0">
                <a:solidFill>
                  <a:srgbClr val="1D3064"/>
                </a:solidFill>
              </a:rPr>
              <a:t>Database server</a:t>
            </a:r>
          </a:p>
        </p:txBody>
      </p:sp>
      <p:sp>
        <p:nvSpPr>
          <p:cNvPr id="24" name="TextBox 23"/>
          <p:cNvSpPr txBox="1"/>
          <p:nvPr/>
        </p:nvSpPr>
        <p:spPr>
          <a:xfrm>
            <a:off x="1633965" y="1895203"/>
            <a:ext cx="336952" cy="461665"/>
          </a:xfrm>
          <a:prstGeom prst="rect">
            <a:avLst/>
          </a:prstGeom>
          <a:noFill/>
        </p:spPr>
        <p:txBody>
          <a:bodyPr wrap="none" rtlCol="0">
            <a:spAutoFit/>
          </a:bodyPr>
          <a:lstStyle/>
          <a:p>
            <a:r>
              <a:rPr lang="en-US" sz="2400" dirty="0">
                <a:solidFill>
                  <a:srgbClr val="0E3755"/>
                </a:solidFill>
              </a:rPr>
              <a:t>1</a:t>
            </a:r>
          </a:p>
        </p:txBody>
      </p:sp>
      <p:sp>
        <p:nvSpPr>
          <p:cNvPr id="25" name="TextBox 24"/>
          <p:cNvSpPr txBox="1"/>
          <p:nvPr/>
        </p:nvSpPr>
        <p:spPr>
          <a:xfrm>
            <a:off x="3991809" y="1876213"/>
            <a:ext cx="336952" cy="461665"/>
          </a:xfrm>
          <a:prstGeom prst="rect">
            <a:avLst/>
          </a:prstGeom>
          <a:noFill/>
        </p:spPr>
        <p:txBody>
          <a:bodyPr wrap="none" rtlCol="0">
            <a:spAutoFit/>
          </a:bodyPr>
          <a:lstStyle/>
          <a:p>
            <a:r>
              <a:rPr lang="en-US" sz="2400" dirty="0">
                <a:solidFill>
                  <a:srgbClr val="0E3755"/>
                </a:solidFill>
              </a:rPr>
              <a:t>2</a:t>
            </a:r>
          </a:p>
        </p:txBody>
      </p:sp>
      <p:sp>
        <p:nvSpPr>
          <p:cNvPr id="26" name="TextBox 25"/>
          <p:cNvSpPr txBox="1"/>
          <p:nvPr/>
        </p:nvSpPr>
        <p:spPr>
          <a:xfrm>
            <a:off x="7058931" y="1910973"/>
            <a:ext cx="336952" cy="461665"/>
          </a:xfrm>
          <a:prstGeom prst="rect">
            <a:avLst/>
          </a:prstGeom>
          <a:noFill/>
        </p:spPr>
        <p:txBody>
          <a:bodyPr wrap="none" rtlCol="0">
            <a:spAutoFit/>
          </a:bodyPr>
          <a:lstStyle/>
          <a:p>
            <a:r>
              <a:rPr lang="en-US" sz="2400" dirty="0">
                <a:solidFill>
                  <a:srgbClr val="0E3755"/>
                </a:solidFill>
              </a:rPr>
              <a:t>3</a:t>
            </a:r>
          </a:p>
        </p:txBody>
      </p:sp>
      <p:sp>
        <p:nvSpPr>
          <p:cNvPr id="27" name="TextBox 26"/>
          <p:cNvSpPr txBox="1"/>
          <p:nvPr/>
        </p:nvSpPr>
        <p:spPr>
          <a:xfrm>
            <a:off x="3977295" y="2704858"/>
            <a:ext cx="336952" cy="461665"/>
          </a:xfrm>
          <a:prstGeom prst="rect">
            <a:avLst/>
          </a:prstGeom>
          <a:noFill/>
        </p:spPr>
        <p:txBody>
          <a:bodyPr wrap="none" rtlCol="0">
            <a:spAutoFit/>
          </a:bodyPr>
          <a:lstStyle/>
          <a:p>
            <a:r>
              <a:rPr lang="en-US" sz="2400" dirty="0">
                <a:solidFill>
                  <a:srgbClr val="0E3755"/>
                </a:solidFill>
              </a:rPr>
              <a:t>4</a:t>
            </a:r>
          </a:p>
        </p:txBody>
      </p:sp>
      <p:sp>
        <p:nvSpPr>
          <p:cNvPr id="28" name="TextBox 27"/>
          <p:cNvSpPr txBox="1"/>
          <p:nvPr/>
        </p:nvSpPr>
        <p:spPr>
          <a:xfrm>
            <a:off x="1619041" y="2693972"/>
            <a:ext cx="336952" cy="461665"/>
          </a:xfrm>
          <a:prstGeom prst="rect">
            <a:avLst/>
          </a:prstGeom>
          <a:noFill/>
        </p:spPr>
        <p:txBody>
          <a:bodyPr wrap="none" rtlCol="0">
            <a:spAutoFit/>
          </a:bodyPr>
          <a:lstStyle/>
          <a:p>
            <a:r>
              <a:rPr lang="en-US" sz="2400" dirty="0">
                <a:solidFill>
                  <a:srgbClr val="0E3755"/>
                </a:solidFill>
              </a:rPr>
              <a:t>5</a:t>
            </a:r>
          </a:p>
        </p:txBody>
      </p:sp>
    </p:spTree>
    <p:extLst>
      <p:ext uri="{BB962C8B-B14F-4D97-AF65-F5344CB8AC3E}">
        <p14:creationId xmlns:p14="http://schemas.microsoft.com/office/powerpoint/2010/main" val="191517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500"/>
                                        <p:tgtEl>
                                          <p:spTgt spid="8"/>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down)">
                                      <p:cBhvr>
                                        <p:cTn id="22" dur="500"/>
                                        <p:tgtEl>
                                          <p:spTgt spid="2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down)">
                                      <p:cBhvr>
                                        <p:cTn id="28" dur="500"/>
                                        <p:tgtEl>
                                          <p:spTgt spid="9"/>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down)">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left)">
                                      <p:cBhvr>
                                        <p:cTn id="36" dur="500"/>
                                        <p:tgtEl>
                                          <p:spTgt spid="24"/>
                                        </p:tgtEl>
                                      </p:cBhvr>
                                    </p:animEffect>
                                  </p:childTnLst>
                                </p:cTn>
                              </p:par>
                              <p:par>
                                <p:cTn id="37" presetID="22" presetClass="entr" presetSubtype="8"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left)">
                                      <p:cBhvr>
                                        <p:cTn id="47" dur="500"/>
                                        <p:tgtEl>
                                          <p:spTgt spid="25"/>
                                        </p:tgtEl>
                                      </p:cBhvr>
                                    </p:animEffect>
                                  </p:childTnLst>
                                </p:cTn>
                              </p:par>
                              <p:par>
                                <p:cTn id="48" presetID="22" presetClass="entr" presetSubtype="8" fill="hold"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left)">
                                      <p:cBhvr>
                                        <p:cTn id="50" dur="500"/>
                                        <p:tgtEl>
                                          <p:spTgt spid="12"/>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500"/>
                                        <p:tgtEl>
                                          <p:spTgt spid="15"/>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wipe(left)">
                                      <p:cBhvr>
                                        <p:cTn id="61" dur="500"/>
                                        <p:tgtEl>
                                          <p:spTgt spid="26"/>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wipe(left)">
                                      <p:cBhvr>
                                        <p:cTn id="64" dur="500"/>
                                        <p:tgtEl>
                                          <p:spTgt spid="1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wipe(right)">
                                      <p:cBhvr>
                                        <p:cTn id="69" dur="500"/>
                                        <p:tgtEl>
                                          <p:spTgt spid="13"/>
                                        </p:tgtEl>
                                      </p:cBhvr>
                                    </p:animEffect>
                                  </p:childTnLst>
                                </p:cTn>
                              </p:par>
                              <p:par>
                                <p:cTn id="70" presetID="22" presetClass="entr" presetSubtype="2"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wipe(right)">
                                      <p:cBhvr>
                                        <p:cTn id="72" dur="500"/>
                                        <p:tgtEl>
                                          <p:spTgt spid="27"/>
                                        </p:tgtEl>
                                      </p:cBhvr>
                                    </p:animEffect>
                                  </p:childTnLst>
                                </p:cTn>
                              </p:par>
                              <p:par>
                                <p:cTn id="73" presetID="22" presetClass="entr" presetSubtype="2"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wipe(right)">
                                      <p:cBhvr>
                                        <p:cTn id="75" dur="500"/>
                                        <p:tgtEl>
                                          <p:spTgt spid="1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2" fill="hold" nodeType="click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wipe(right)">
                                      <p:cBhvr>
                                        <p:cTn id="80" dur="500"/>
                                        <p:tgtEl>
                                          <p:spTgt spid="14"/>
                                        </p:tgtEl>
                                      </p:cBhvr>
                                    </p:animEffect>
                                  </p:childTnLst>
                                </p:cTn>
                              </p:par>
                              <p:par>
                                <p:cTn id="81" presetID="22" presetClass="entr" presetSubtype="2"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wipe(right)">
                                      <p:cBhvr>
                                        <p:cTn id="83" dur="500"/>
                                        <p:tgtEl>
                                          <p:spTgt spid="28"/>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20"/>
                                        </p:tgtEl>
                                        <p:attrNameLst>
                                          <p:attrName>style.visibility</p:attrName>
                                        </p:attrNameLst>
                                      </p:cBhvr>
                                      <p:to>
                                        <p:strVal val="visible"/>
                                      </p:to>
                                    </p:set>
                                    <p:animEffect transition="in" filter="wipe(down)">
                                      <p:cBhvr>
                                        <p:cTn id="8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Web Services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Services available over the web.</a:t>
            </a:r>
          </a:p>
          <a:p>
            <a:r>
              <a:rPr lang="en-US" dirty="0"/>
              <a:t>The basic idea is that some client application can call upon the services as provided by a server application.</a:t>
            </a:r>
          </a:p>
          <a:p>
            <a:r>
              <a:rPr lang="en-US" dirty="0">
                <a:solidFill>
                  <a:schemeClr val="accent6"/>
                </a:solidFill>
              </a:rPr>
              <a:t>UDDI</a:t>
            </a:r>
            <a:r>
              <a:rPr lang="en-US" dirty="0"/>
              <a:t> prescribes the layout of a database containing service descriptions that will allow Web service clients to browse for relevant services.</a:t>
            </a:r>
          </a:p>
          <a:p>
            <a:r>
              <a:rPr lang="en-US" dirty="0"/>
              <a:t>UDDI stands for Universal Description, Discovery and Integration standard.</a:t>
            </a:r>
          </a:p>
          <a:p>
            <a:r>
              <a:rPr lang="en-US" dirty="0"/>
              <a:t>Services are described by means of the Web Services Definition Language (</a:t>
            </a:r>
            <a:r>
              <a:rPr lang="en-US" dirty="0">
                <a:solidFill>
                  <a:schemeClr val="accent6"/>
                </a:solidFill>
              </a:rPr>
              <a:t>WSDL</a:t>
            </a:r>
            <a:r>
              <a:rPr lang="en-US" dirty="0" smtClean="0"/>
              <a:t>).</a:t>
            </a:r>
          </a:p>
          <a:p>
            <a:r>
              <a:rPr lang="en-US" dirty="0"/>
              <a:t>WSDL description contains the precise definitions of the interfaces provided by a procedure specification, data types and location.</a:t>
            </a:r>
          </a:p>
          <a:p>
            <a:r>
              <a:rPr lang="en-US" dirty="0"/>
              <a:t>Core element of a Web service is the specification of how communication takes place.</a:t>
            </a:r>
          </a:p>
          <a:p>
            <a:r>
              <a:rPr lang="en-US" dirty="0"/>
              <a:t>The Simple Object Access Protocol (</a:t>
            </a:r>
            <a:r>
              <a:rPr lang="en-US" dirty="0">
                <a:solidFill>
                  <a:schemeClr val="accent6"/>
                </a:solidFill>
              </a:rPr>
              <a:t>SOAP</a:t>
            </a:r>
            <a:r>
              <a:rPr lang="en-US" dirty="0"/>
              <a:t>) is used, which is essentially a framework in which much of the communication between two processes can be standardized</a:t>
            </a:r>
            <a:r>
              <a:rPr lang="en-US" dirty="0" smtClean="0"/>
              <a:t>.</a:t>
            </a:r>
            <a:endParaRPr lang="en-US" dirty="0"/>
          </a:p>
        </p:txBody>
      </p:sp>
    </p:spTree>
    <p:extLst>
      <p:ext uri="{BB962C8B-B14F-4D97-AF65-F5344CB8AC3E}">
        <p14:creationId xmlns:p14="http://schemas.microsoft.com/office/powerpoint/2010/main" val="1823406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Web Services</a:t>
            </a:r>
          </a:p>
        </p:txBody>
      </p:sp>
      <p:grpSp>
        <p:nvGrpSpPr>
          <p:cNvPr id="5" name="Group 4"/>
          <p:cNvGrpSpPr/>
          <p:nvPr/>
        </p:nvGrpSpPr>
        <p:grpSpPr>
          <a:xfrm>
            <a:off x="2393576" y="1470212"/>
            <a:ext cx="1752600" cy="2667000"/>
            <a:chOff x="990600" y="1676400"/>
            <a:chExt cx="1752600" cy="2667000"/>
          </a:xfrm>
        </p:grpSpPr>
        <p:sp>
          <p:nvSpPr>
            <p:cNvPr id="6" name="Rectangle 5"/>
            <p:cNvSpPr/>
            <p:nvPr/>
          </p:nvSpPr>
          <p:spPr>
            <a:xfrm>
              <a:off x="990600" y="1676400"/>
              <a:ext cx="1752600" cy="2667000"/>
            </a:xfrm>
            <a:prstGeom prst="rect">
              <a:avLst/>
            </a:prstGeom>
            <a:ln w="28575">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7" name="Group 6"/>
            <p:cNvGrpSpPr/>
            <p:nvPr/>
          </p:nvGrpSpPr>
          <p:grpSpPr>
            <a:xfrm>
              <a:off x="1087333" y="1828800"/>
              <a:ext cx="1565814" cy="1290429"/>
              <a:chOff x="1087333" y="2057400"/>
              <a:chExt cx="1565814" cy="1290429"/>
            </a:xfrm>
          </p:grpSpPr>
          <p:sp>
            <p:nvSpPr>
              <p:cNvPr id="9" name="TextBox 8"/>
              <p:cNvSpPr txBox="1"/>
              <p:nvPr/>
            </p:nvSpPr>
            <p:spPr>
              <a:xfrm>
                <a:off x="1087333" y="2057400"/>
                <a:ext cx="1565814" cy="830997"/>
              </a:xfrm>
              <a:prstGeom prst="rect">
                <a:avLst/>
              </a:prstGeom>
              <a:noFill/>
              <a:ln w="38100">
                <a:solidFill>
                  <a:schemeClr val="accent6"/>
                </a:solidFill>
              </a:ln>
            </p:spPr>
            <p:txBody>
              <a:bodyPr wrap="none" rtlCol="0">
                <a:spAutoFit/>
              </a:bodyPr>
              <a:lstStyle/>
              <a:p>
                <a:pPr algn="ctr"/>
                <a:r>
                  <a:rPr lang="en-US" sz="2400" dirty="0"/>
                  <a:t>Client</a:t>
                </a:r>
              </a:p>
              <a:p>
                <a:pPr algn="ctr"/>
                <a:r>
                  <a:rPr lang="en-US" sz="2400" dirty="0"/>
                  <a:t>application</a:t>
                </a:r>
              </a:p>
            </p:txBody>
          </p:sp>
          <p:sp>
            <p:nvSpPr>
              <p:cNvPr id="10" name="TextBox 9"/>
              <p:cNvSpPr txBox="1"/>
              <p:nvPr/>
            </p:nvSpPr>
            <p:spPr>
              <a:xfrm>
                <a:off x="1087333" y="2886164"/>
                <a:ext cx="1565814" cy="461665"/>
              </a:xfrm>
              <a:prstGeom prst="rect">
                <a:avLst/>
              </a:prstGeom>
              <a:noFill/>
              <a:ln w="38100">
                <a:solidFill>
                  <a:schemeClr val="accent6"/>
                </a:solidFill>
              </a:ln>
            </p:spPr>
            <p:txBody>
              <a:bodyPr wrap="square" rtlCol="0">
                <a:spAutoFit/>
              </a:bodyPr>
              <a:lstStyle/>
              <a:p>
                <a:pPr algn="ctr"/>
                <a:r>
                  <a:rPr lang="en-US" sz="2400" dirty="0"/>
                  <a:t>Stub</a:t>
                </a:r>
              </a:p>
            </p:txBody>
          </p:sp>
        </p:grpSp>
        <p:sp>
          <p:nvSpPr>
            <p:cNvPr id="8" name="TextBox 7"/>
            <p:cNvSpPr txBox="1"/>
            <p:nvPr/>
          </p:nvSpPr>
          <p:spPr>
            <a:xfrm>
              <a:off x="1083993" y="3682425"/>
              <a:ext cx="1565814" cy="584775"/>
            </a:xfrm>
            <a:prstGeom prst="rect">
              <a:avLst/>
            </a:prstGeom>
            <a:noFill/>
            <a:ln>
              <a:solidFill>
                <a:schemeClr val="accent1"/>
              </a:solidFill>
            </a:ln>
          </p:spPr>
          <p:txBody>
            <a:bodyPr wrap="square" rtlCol="0">
              <a:spAutoFit/>
            </a:bodyPr>
            <a:lstStyle/>
            <a:p>
              <a:pPr algn="ctr"/>
              <a:r>
                <a:rPr lang="en-US" sz="1600" dirty="0"/>
                <a:t>Communication</a:t>
              </a:r>
            </a:p>
            <a:p>
              <a:pPr algn="ctr"/>
              <a:r>
                <a:rPr lang="en-US" sz="1600" dirty="0"/>
                <a:t>subsystem</a:t>
              </a:r>
            </a:p>
          </p:txBody>
        </p:sp>
      </p:grpSp>
      <p:grpSp>
        <p:nvGrpSpPr>
          <p:cNvPr id="11" name="Group 10"/>
          <p:cNvGrpSpPr/>
          <p:nvPr/>
        </p:nvGrpSpPr>
        <p:grpSpPr>
          <a:xfrm>
            <a:off x="7422776" y="1470212"/>
            <a:ext cx="1752600" cy="2667000"/>
            <a:chOff x="990600" y="1676400"/>
            <a:chExt cx="1752600" cy="2667000"/>
          </a:xfrm>
        </p:grpSpPr>
        <p:sp>
          <p:nvSpPr>
            <p:cNvPr id="12" name="Rectangle 11"/>
            <p:cNvSpPr/>
            <p:nvPr/>
          </p:nvSpPr>
          <p:spPr>
            <a:xfrm>
              <a:off x="990600" y="1676400"/>
              <a:ext cx="1752600" cy="2667000"/>
            </a:xfrm>
            <a:prstGeom prst="rect">
              <a:avLst/>
            </a:prstGeom>
            <a:ln w="28575">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3" name="Group 12"/>
            <p:cNvGrpSpPr/>
            <p:nvPr/>
          </p:nvGrpSpPr>
          <p:grpSpPr>
            <a:xfrm>
              <a:off x="1087333" y="1828800"/>
              <a:ext cx="1565814" cy="1290429"/>
              <a:chOff x="1087333" y="2057400"/>
              <a:chExt cx="1565814" cy="1290429"/>
            </a:xfrm>
          </p:grpSpPr>
          <p:sp>
            <p:nvSpPr>
              <p:cNvPr id="15" name="TextBox 14"/>
              <p:cNvSpPr txBox="1"/>
              <p:nvPr/>
            </p:nvSpPr>
            <p:spPr>
              <a:xfrm>
                <a:off x="1087333" y="2057400"/>
                <a:ext cx="1565814" cy="830997"/>
              </a:xfrm>
              <a:prstGeom prst="rect">
                <a:avLst/>
              </a:prstGeom>
              <a:noFill/>
              <a:ln w="38100">
                <a:solidFill>
                  <a:schemeClr val="accent6"/>
                </a:solidFill>
              </a:ln>
            </p:spPr>
            <p:txBody>
              <a:bodyPr wrap="none" rtlCol="0">
                <a:spAutoFit/>
              </a:bodyPr>
              <a:lstStyle/>
              <a:p>
                <a:pPr algn="ctr"/>
                <a:r>
                  <a:rPr lang="en-US" sz="2400" dirty="0"/>
                  <a:t>Server</a:t>
                </a:r>
              </a:p>
              <a:p>
                <a:pPr algn="ctr"/>
                <a:r>
                  <a:rPr lang="en-US" sz="2400" dirty="0"/>
                  <a:t>application</a:t>
                </a:r>
              </a:p>
            </p:txBody>
          </p:sp>
          <p:sp>
            <p:nvSpPr>
              <p:cNvPr id="16" name="TextBox 15"/>
              <p:cNvSpPr txBox="1"/>
              <p:nvPr/>
            </p:nvSpPr>
            <p:spPr>
              <a:xfrm>
                <a:off x="1087333" y="2886164"/>
                <a:ext cx="1565814" cy="461665"/>
              </a:xfrm>
              <a:prstGeom prst="rect">
                <a:avLst/>
              </a:prstGeom>
              <a:noFill/>
              <a:ln w="38100">
                <a:solidFill>
                  <a:schemeClr val="accent6"/>
                </a:solidFill>
              </a:ln>
            </p:spPr>
            <p:txBody>
              <a:bodyPr wrap="square" rtlCol="0">
                <a:spAutoFit/>
              </a:bodyPr>
              <a:lstStyle/>
              <a:p>
                <a:pPr algn="ctr"/>
                <a:r>
                  <a:rPr lang="en-US" sz="2400" dirty="0"/>
                  <a:t>Stub</a:t>
                </a:r>
              </a:p>
            </p:txBody>
          </p:sp>
        </p:grpSp>
        <p:sp>
          <p:nvSpPr>
            <p:cNvPr id="14" name="TextBox 13"/>
            <p:cNvSpPr txBox="1"/>
            <p:nvPr/>
          </p:nvSpPr>
          <p:spPr>
            <a:xfrm>
              <a:off x="1083993" y="3682425"/>
              <a:ext cx="1565814" cy="584775"/>
            </a:xfrm>
            <a:prstGeom prst="rect">
              <a:avLst/>
            </a:prstGeom>
            <a:noFill/>
            <a:ln>
              <a:solidFill>
                <a:schemeClr val="accent1"/>
              </a:solidFill>
            </a:ln>
          </p:spPr>
          <p:txBody>
            <a:bodyPr wrap="square" rtlCol="0">
              <a:spAutoFit/>
            </a:bodyPr>
            <a:lstStyle/>
            <a:p>
              <a:pPr algn="ctr"/>
              <a:r>
                <a:rPr lang="en-US" sz="1600" dirty="0"/>
                <a:t>Communication</a:t>
              </a:r>
            </a:p>
            <a:p>
              <a:pPr algn="ctr"/>
              <a:r>
                <a:rPr lang="en-US" sz="1600" dirty="0"/>
                <a:t>subsystem</a:t>
              </a:r>
            </a:p>
          </p:txBody>
        </p:sp>
      </p:grpSp>
      <p:sp>
        <p:nvSpPr>
          <p:cNvPr id="17" name="TextBox 16"/>
          <p:cNvSpPr txBox="1"/>
          <p:nvPr/>
        </p:nvSpPr>
        <p:spPr>
          <a:xfrm>
            <a:off x="2323703" y="868538"/>
            <a:ext cx="1989647" cy="461665"/>
          </a:xfrm>
          <a:prstGeom prst="rect">
            <a:avLst/>
          </a:prstGeom>
          <a:solidFill>
            <a:srgbClr val="1D3064"/>
          </a:solidFill>
        </p:spPr>
        <p:txBody>
          <a:bodyPr wrap="none" rtlCol="0">
            <a:spAutoFit/>
          </a:bodyPr>
          <a:lstStyle/>
          <a:p>
            <a:r>
              <a:rPr lang="en-US" sz="2400" dirty="0">
                <a:solidFill>
                  <a:schemeClr val="bg1"/>
                </a:solidFill>
              </a:rPr>
              <a:t>Client machine</a:t>
            </a:r>
          </a:p>
        </p:txBody>
      </p:sp>
      <p:sp>
        <p:nvSpPr>
          <p:cNvPr id="18" name="TextBox 17"/>
          <p:cNvSpPr txBox="1"/>
          <p:nvPr/>
        </p:nvSpPr>
        <p:spPr>
          <a:xfrm>
            <a:off x="7336278" y="875043"/>
            <a:ext cx="2053767" cy="461665"/>
          </a:xfrm>
          <a:prstGeom prst="rect">
            <a:avLst/>
          </a:prstGeom>
          <a:solidFill>
            <a:srgbClr val="1D3064"/>
          </a:solidFill>
        </p:spPr>
        <p:txBody>
          <a:bodyPr wrap="none" rtlCol="0">
            <a:spAutoFit/>
          </a:bodyPr>
          <a:lstStyle/>
          <a:p>
            <a:r>
              <a:rPr lang="en-US" sz="2400" dirty="0">
                <a:solidFill>
                  <a:schemeClr val="bg1"/>
                </a:solidFill>
              </a:rPr>
              <a:t>Server machine</a:t>
            </a:r>
          </a:p>
        </p:txBody>
      </p:sp>
      <p:cxnSp>
        <p:nvCxnSpPr>
          <p:cNvPr id="19" name="Straight Arrow Connector 18"/>
          <p:cNvCxnSpPr>
            <a:endCxn id="14" idx="1"/>
          </p:cNvCxnSpPr>
          <p:nvPr/>
        </p:nvCxnSpPr>
        <p:spPr>
          <a:xfrm>
            <a:off x="4052783" y="3756212"/>
            <a:ext cx="3463386" cy="12413"/>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3841376" y="5135253"/>
            <a:ext cx="3886200" cy="855583"/>
            <a:chOff x="2438400" y="5189041"/>
            <a:chExt cx="3886200" cy="855583"/>
          </a:xfrm>
        </p:grpSpPr>
        <p:sp>
          <p:nvSpPr>
            <p:cNvPr id="21" name="Rectangle 20"/>
            <p:cNvSpPr/>
            <p:nvPr/>
          </p:nvSpPr>
          <p:spPr>
            <a:xfrm>
              <a:off x="2438400" y="5189041"/>
              <a:ext cx="3886200" cy="855583"/>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2" name="TextBox 21"/>
            <p:cNvSpPr txBox="1"/>
            <p:nvPr/>
          </p:nvSpPr>
          <p:spPr>
            <a:xfrm>
              <a:off x="2590800" y="5405735"/>
              <a:ext cx="3522393" cy="461665"/>
            </a:xfrm>
            <a:prstGeom prst="rect">
              <a:avLst/>
            </a:prstGeom>
            <a:noFill/>
            <a:ln>
              <a:solidFill>
                <a:schemeClr val="accent1"/>
              </a:solidFill>
            </a:ln>
          </p:spPr>
          <p:txBody>
            <a:bodyPr wrap="square" rtlCol="0">
              <a:spAutoFit/>
            </a:bodyPr>
            <a:lstStyle/>
            <a:p>
              <a:pPr algn="ctr"/>
              <a:r>
                <a:rPr lang="en-US" sz="2400" dirty="0"/>
                <a:t>Service description(WSDL)</a:t>
              </a:r>
            </a:p>
          </p:txBody>
        </p:sp>
      </p:grpSp>
      <p:cxnSp>
        <p:nvCxnSpPr>
          <p:cNvPr id="23" name="Straight Connector 22"/>
          <p:cNvCxnSpPr/>
          <p:nvPr/>
        </p:nvCxnSpPr>
        <p:spPr>
          <a:xfrm>
            <a:off x="9234383" y="1775012"/>
            <a:ext cx="62679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9861176" y="1775012"/>
            <a:ext cx="0" cy="4038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7727576" y="5813612"/>
            <a:ext cx="213360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614383" y="1775012"/>
            <a:ext cx="87258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614383" y="1775012"/>
            <a:ext cx="0" cy="4038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1614383" y="5813612"/>
            <a:ext cx="2226993"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936376" y="5432612"/>
            <a:ext cx="2057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936376" y="2689412"/>
            <a:ext cx="0" cy="27432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9573569" y="2689412"/>
            <a:ext cx="0" cy="27432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7516169" y="5432612"/>
            <a:ext cx="2057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1917468" y="2689412"/>
            <a:ext cx="56950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16" idx="3"/>
          </p:cNvCxnSpPr>
          <p:nvPr/>
        </p:nvCxnSpPr>
        <p:spPr>
          <a:xfrm flipH="1">
            <a:off x="9085323" y="2679723"/>
            <a:ext cx="488246" cy="24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5359320" y="3299012"/>
            <a:ext cx="896399" cy="461665"/>
          </a:xfrm>
          <a:prstGeom prst="rect">
            <a:avLst/>
          </a:prstGeom>
          <a:noFill/>
        </p:spPr>
        <p:txBody>
          <a:bodyPr wrap="none" rtlCol="0">
            <a:spAutoFit/>
          </a:bodyPr>
          <a:lstStyle/>
          <a:p>
            <a:r>
              <a:rPr lang="en-US" sz="2400" b="1" dirty="0"/>
              <a:t>SOAP</a:t>
            </a:r>
          </a:p>
        </p:txBody>
      </p:sp>
      <p:sp>
        <p:nvSpPr>
          <p:cNvPr id="36" name="TextBox 35"/>
          <p:cNvSpPr txBox="1"/>
          <p:nvPr/>
        </p:nvSpPr>
        <p:spPr>
          <a:xfrm>
            <a:off x="2016206" y="4213412"/>
            <a:ext cx="1600118" cy="1015663"/>
          </a:xfrm>
          <a:prstGeom prst="rect">
            <a:avLst/>
          </a:prstGeom>
          <a:noFill/>
        </p:spPr>
        <p:txBody>
          <a:bodyPr wrap="none" rtlCol="0">
            <a:spAutoFit/>
          </a:bodyPr>
          <a:lstStyle/>
          <a:p>
            <a:r>
              <a:rPr lang="en-US" sz="2000" dirty="0"/>
              <a:t>Generate stub</a:t>
            </a:r>
          </a:p>
          <a:p>
            <a:r>
              <a:rPr lang="en-US" sz="2000" dirty="0"/>
              <a:t>from WSDL</a:t>
            </a:r>
          </a:p>
          <a:p>
            <a:r>
              <a:rPr lang="en-US" sz="2000" dirty="0"/>
              <a:t>description</a:t>
            </a:r>
          </a:p>
        </p:txBody>
      </p:sp>
      <p:sp>
        <p:nvSpPr>
          <p:cNvPr id="37" name="TextBox 36"/>
          <p:cNvSpPr txBox="1"/>
          <p:nvPr/>
        </p:nvSpPr>
        <p:spPr>
          <a:xfrm>
            <a:off x="7991595" y="4213412"/>
            <a:ext cx="1600117" cy="1015663"/>
          </a:xfrm>
          <a:prstGeom prst="rect">
            <a:avLst/>
          </a:prstGeom>
          <a:noFill/>
        </p:spPr>
        <p:txBody>
          <a:bodyPr wrap="none" rtlCol="0">
            <a:spAutoFit/>
          </a:bodyPr>
          <a:lstStyle/>
          <a:p>
            <a:pPr algn="r"/>
            <a:r>
              <a:rPr lang="en-US" sz="2000" dirty="0"/>
              <a:t>Generate stub</a:t>
            </a:r>
          </a:p>
          <a:p>
            <a:pPr algn="r"/>
            <a:r>
              <a:rPr lang="en-US" sz="2000" dirty="0"/>
              <a:t>from WSDL</a:t>
            </a:r>
          </a:p>
          <a:p>
            <a:pPr algn="r"/>
            <a:r>
              <a:rPr lang="en-US" sz="2000" dirty="0"/>
              <a:t>description</a:t>
            </a:r>
          </a:p>
        </p:txBody>
      </p:sp>
      <p:sp>
        <p:nvSpPr>
          <p:cNvPr id="38" name="TextBox 37"/>
          <p:cNvSpPr txBox="1"/>
          <p:nvPr/>
        </p:nvSpPr>
        <p:spPr>
          <a:xfrm>
            <a:off x="1269189" y="1177079"/>
            <a:ext cx="1028358" cy="646331"/>
          </a:xfrm>
          <a:prstGeom prst="rect">
            <a:avLst/>
          </a:prstGeom>
          <a:noFill/>
        </p:spPr>
        <p:txBody>
          <a:bodyPr wrap="none" rtlCol="0">
            <a:spAutoFit/>
          </a:bodyPr>
          <a:lstStyle/>
          <a:p>
            <a:r>
              <a:rPr lang="en-US" dirty="0"/>
              <a:t>Look up</a:t>
            </a:r>
          </a:p>
          <a:p>
            <a:r>
              <a:rPr lang="en-US" dirty="0"/>
              <a:t>a service</a:t>
            </a:r>
          </a:p>
        </p:txBody>
      </p:sp>
      <p:sp>
        <p:nvSpPr>
          <p:cNvPr id="39" name="TextBox 38"/>
          <p:cNvSpPr txBox="1"/>
          <p:nvPr/>
        </p:nvSpPr>
        <p:spPr>
          <a:xfrm>
            <a:off x="9480176" y="1180930"/>
            <a:ext cx="917239" cy="646331"/>
          </a:xfrm>
          <a:prstGeom prst="rect">
            <a:avLst/>
          </a:prstGeom>
          <a:noFill/>
        </p:spPr>
        <p:txBody>
          <a:bodyPr wrap="none" rtlCol="0">
            <a:spAutoFit/>
          </a:bodyPr>
          <a:lstStyle/>
          <a:p>
            <a:r>
              <a:rPr lang="en-US" dirty="0"/>
              <a:t>Publish </a:t>
            </a:r>
          </a:p>
          <a:p>
            <a:r>
              <a:rPr lang="en-US" dirty="0"/>
              <a:t>service</a:t>
            </a:r>
          </a:p>
        </p:txBody>
      </p:sp>
      <p:sp>
        <p:nvSpPr>
          <p:cNvPr id="40" name="TextBox 39"/>
          <p:cNvSpPr txBox="1"/>
          <p:nvPr/>
        </p:nvSpPr>
        <p:spPr>
          <a:xfrm>
            <a:off x="4679576" y="5979156"/>
            <a:ext cx="2600392" cy="400110"/>
          </a:xfrm>
          <a:prstGeom prst="rect">
            <a:avLst/>
          </a:prstGeom>
          <a:noFill/>
        </p:spPr>
        <p:txBody>
          <a:bodyPr wrap="none" rtlCol="0">
            <a:spAutoFit/>
          </a:bodyPr>
          <a:lstStyle/>
          <a:p>
            <a:r>
              <a:rPr lang="en-US" sz="2000" dirty="0"/>
              <a:t>Directory service (UDDI)</a:t>
            </a:r>
          </a:p>
        </p:txBody>
      </p:sp>
    </p:spTree>
    <p:extLst>
      <p:ext uri="{BB962C8B-B14F-4D97-AF65-F5344CB8AC3E}">
        <p14:creationId xmlns:p14="http://schemas.microsoft.com/office/powerpoint/2010/main" val="1843679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down)">
                                      <p:cBhvr>
                                        <p:cTn id="10" dur="500"/>
                                        <p:tgtEl>
                                          <p:spTgt spid="1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down)">
                                      <p:cBhvr>
                                        <p:cTn id="13" dur="500"/>
                                        <p:tgtEl>
                                          <p:spTgt spid="18"/>
                                        </p:tgtEl>
                                      </p:cBhvr>
                                    </p:animEffect>
                                  </p:childTnLst>
                                </p:cTn>
                              </p:par>
                              <p:par>
                                <p:cTn id="14" presetID="22" presetClass="entr" presetSubtype="4"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wipe(left)">
                                      <p:cBhvr>
                                        <p:cTn id="24" dur="500"/>
                                        <p:tgtEl>
                                          <p:spTgt spid="3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wipe(down)">
                                      <p:cBhvr>
                                        <p:cTn id="29" dur="500"/>
                                        <p:tgtEl>
                                          <p:spTgt spid="40"/>
                                        </p:tgtEl>
                                      </p:cBhvr>
                                    </p:animEffect>
                                  </p:childTnLst>
                                </p:cTn>
                              </p:par>
                              <p:par>
                                <p:cTn id="30" presetID="22" presetClass="entr" presetSubtype="4"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down)">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wipe(down)">
                                      <p:cBhvr>
                                        <p:cTn id="37" dur="500"/>
                                        <p:tgtEl>
                                          <p:spTgt spid="38"/>
                                        </p:tgtEl>
                                      </p:cBhvr>
                                    </p:animEffect>
                                  </p:childTnLst>
                                </p:cTn>
                              </p:par>
                              <p:par>
                                <p:cTn id="38" presetID="22" presetClass="entr" presetSubtype="2" fill="hold"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wipe(right)">
                                      <p:cBhvr>
                                        <p:cTn id="40" dur="500"/>
                                        <p:tgtEl>
                                          <p:spTgt spid="26"/>
                                        </p:tgtEl>
                                      </p:cBhvr>
                                    </p:animEffect>
                                  </p:childTnLst>
                                </p:cTn>
                              </p:par>
                            </p:childTnLst>
                          </p:cTn>
                        </p:par>
                        <p:par>
                          <p:cTn id="41" fill="hold">
                            <p:stCondLst>
                              <p:cond delay="500"/>
                            </p:stCondLst>
                            <p:childTnLst>
                              <p:par>
                                <p:cTn id="42" presetID="22" presetClass="entr" presetSubtype="1" fill="hold" nodeType="after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up)">
                                      <p:cBhvr>
                                        <p:cTn id="44" dur="500"/>
                                        <p:tgtEl>
                                          <p:spTgt spid="27"/>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wipe(left)">
                                      <p:cBhvr>
                                        <p:cTn id="48" dur="500"/>
                                        <p:tgtEl>
                                          <p:spTgt spid="2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left)">
                                      <p:cBhvr>
                                        <p:cTn id="53" dur="500"/>
                                        <p:tgtEl>
                                          <p:spTgt spid="23"/>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down)">
                                      <p:cBhvr>
                                        <p:cTn id="56" dur="500"/>
                                        <p:tgtEl>
                                          <p:spTgt spid="39"/>
                                        </p:tgtEl>
                                      </p:cBhvr>
                                    </p:animEffect>
                                  </p:childTnLst>
                                </p:cTn>
                              </p:par>
                            </p:childTnLst>
                          </p:cTn>
                        </p:par>
                        <p:par>
                          <p:cTn id="57" fill="hold">
                            <p:stCondLst>
                              <p:cond delay="500"/>
                            </p:stCondLst>
                            <p:childTnLst>
                              <p:par>
                                <p:cTn id="58" presetID="22" presetClass="entr" presetSubtype="1" fill="hold" nodeType="after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wipe(up)">
                                      <p:cBhvr>
                                        <p:cTn id="60" dur="500"/>
                                        <p:tgtEl>
                                          <p:spTgt spid="24"/>
                                        </p:tgtEl>
                                      </p:cBhvr>
                                    </p:animEffect>
                                  </p:childTnLst>
                                </p:cTn>
                              </p:par>
                            </p:childTnLst>
                          </p:cTn>
                        </p:par>
                        <p:par>
                          <p:cTn id="61" fill="hold">
                            <p:stCondLst>
                              <p:cond delay="1000"/>
                            </p:stCondLst>
                            <p:childTnLst>
                              <p:par>
                                <p:cTn id="62" presetID="22" presetClass="entr" presetSubtype="2" fill="hold" nodeType="after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wipe(right)">
                                      <p:cBhvr>
                                        <p:cTn id="64" dur="500"/>
                                        <p:tgtEl>
                                          <p:spTgt spid="2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wipe(down)">
                                      <p:cBhvr>
                                        <p:cTn id="69" dur="500"/>
                                        <p:tgtEl>
                                          <p:spTgt spid="29"/>
                                        </p:tgtEl>
                                      </p:cBhvr>
                                    </p:animEffect>
                                  </p:childTnLst>
                                </p:cTn>
                              </p:par>
                              <p:par>
                                <p:cTn id="70" presetID="22" presetClass="entr" presetSubtype="4" fill="hold"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wipe(down)">
                                      <p:cBhvr>
                                        <p:cTn id="72" dur="500"/>
                                        <p:tgtEl>
                                          <p:spTgt spid="30"/>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wipe(down)">
                                      <p:cBhvr>
                                        <p:cTn id="75" dur="500"/>
                                        <p:tgtEl>
                                          <p:spTgt spid="36"/>
                                        </p:tgtEl>
                                      </p:cBhvr>
                                    </p:animEffect>
                                  </p:childTnLst>
                                </p:cTn>
                              </p:par>
                              <p:par>
                                <p:cTn id="76" presetID="22" presetClass="entr" presetSubtype="4" fill="hold" nodeType="with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wipe(down)">
                                      <p:cBhvr>
                                        <p:cTn id="78" dur="500"/>
                                        <p:tgtEl>
                                          <p:spTgt spid="3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wipe(down)">
                                      <p:cBhvr>
                                        <p:cTn id="83" dur="500"/>
                                        <p:tgtEl>
                                          <p:spTgt spid="37"/>
                                        </p:tgtEl>
                                      </p:cBhvr>
                                    </p:animEffect>
                                  </p:childTnLst>
                                </p:cTn>
                              </p:par>
                              <p:par>
                                <p:cTn id="84" presetID="22" presetClass="entr" presetSubtype="4" fill="hold"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wipe(down)">
                                      <p:cBhvr>
                                        <p:cTn id="86" dur="500"/>
                                        <p:tgtEl>
                                          <p:spTgt spid="34"/>
                                        </p:tgtEl>
                                      </p:cBhvr>
                                    </p:animEffect>
                                  </p:childTnLst>
                                </p:cTn>
                              </p:par>
                              <p:par>
                                <p:cTn id="87" presetID="22" presetClass="entr" presetSubtype="4" fill="hold"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wipe(down)">
                                      <p:cBhvr>
                                        <p:cTn id="89" dur="500"/>
                                        <p:tgtEl>
                                          <p:spTgt spid="31"/>
                                        </p:tgtEl>
                                      </p:cBhvr>
                                    </p:animEffect>
                                  </p:childTnLst>
                                </p:cTn>
                              </p:par>
                              <p:par>
                                <p:cTn id="90" presetID="22" presetClass="entr" presetSubtype="4" fill="hold"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wipe(down)">
                                      <p:cBhvr>
                                        <p:cTn id="9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35" grpId="0"/>
      <p:bldP spid="36" grpId="0"/>
      <p:bldP spid="37" grpId="0"/>
      <p:bldP spid="38" grpId="0"/>
      <p:bldP spid="39" grpId="0"/>
      <p:bldP spid="40"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Processes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The most important processes used in Web-based systems and their internal organization.</a:t>
            </a:r>
          </a:p>
        </p:txBody>
      </p:sp>
      <p:graphicFrame>
        <p:nvGraphicFramePr>
          <p:cNvPr id="4" name="Diagram 3"/>
          <p:cNvGraphicFramePr/>
          <p:nvPr>
            <p:extLst/>
          </p:nvPr>
        </p:nvGraphicFramePr>
        <p:xfrm>
          <a:off x="1653988" y="2182906"/>
          <a:ext cx="7696200" cy="3276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8021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4">
                                            <p:graphicEl>
                                              <a:dgm id="{B8F11015-8E9A-4244-8B17-5574E1E17B47}"/>
                                            </p:graphicEl>
                                          </p:spTgt>
                                        </p:tgtEl>
                                        <p:attrNameLst>
                                          <p:attrName>style.visibility</p:attrName>
                                        </p:attrNameLst>
                                      </p:cBhvr>
                                      <p:to>
                                        <p:strVal val="visible"/>
                                      </p:to>
                                    </p:set>
                                    <p:animEffect transition="in" filter="wipe(left)">
                                      <p:cBhvr>
                                        <p:cTn id="11" dur="500"/>
                                        <p:tgtEl>
                                          <p:spTgt spid="4">
                                            <p:graphicEl>
                                              <a:dgm id="{B8F11015-8E9A-4244-8B17-5574E1E17B47}"/>
                                            </p:graphic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
                                            <p:graphicEl>
                                              <a:dgm id="{86F91543-CDBD-4C1E-9647-EE63256E337F}"/>
                                            </p:graphicEl>
                                          </p:spTgt>
                                        </p:tgtEl>
                                        <p:attrNameLst>
                                          <p:attrName>style.visibility</p:attrName>
                                        </p:attrNameLst>
                                      </p:cBhvr>
                                      <p:to>
                                        <p:strVal val="visible"/>
                                      </p:to>
                                    </p:set>
                                    <p:animEffect transition="in" filter="wipe(left)">
                                      <p:cBhvr>
                                        <p:cTn id="16" dur="500"/>
                                        <p:tgtEl>
                                          <p:spTgt spid="4">
                                            <p:graphicEl>
                                              <a:dgm id="{86F91543-CDBD-4C1E-9647-EE63256E337F}"/>
                                            </p:graphic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
                                            <p:graphicEl>
                                              <a:dgm id="{A97312DD-0F8B-4CFA-A638-23DCD37F468E}"/>
                                            </p:graphicEl>
                                          </p:spTgt>
                                        </p:tgtEl>
                                        <p:attrNameLst>
                                          <p:attrName>style.visibility</p:attrName>
                                        </p:attrNameLst>
                                      </p:cBhvr>
                                      <p:to>
                                        <p:strVal val="visible"/>
                                      </p:to>
                                    </p:set>
                                    <p:animEffect transition="in" filter="wipe(left)">
                                      <p:cBhvr>
                                        <p:cTn id="19" dur="500"/>
                                        <p:tgtEl>
                                          <p:spTgt spid="4">
                                            <p:graphicEl>
                                              <a:dgm id="{A97312DD-0F8B-4CFA-A638-23DCD37F468E}"/>
                                            </p:graphic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
                                            <p:graphicEl>
                                              <a:dgm id="{A82742B0-113F-4669-8E70-9D06DE2227C9}"/>
                                            </p:graphicEl>
                                          </p:spTgt>
                                        </p:tgtEl>
                                        <p:attrNameLst>
                                          <p:attrName>style.visibility</p:attrName>
                                        </p:attrNameLst>
                                      </p:cBhvr>
                                      <p:to>
                                        <p:strVal val="visible"/>
                                      </p:to>
                                    </p:set>
                                    <p:animEffect transition="in" filter="wipe(left)">
                                      <p:cBhvr>
                                        <p:cTn id="24" dur="500"/>
                                        <p:tgtEl>
                                          <p:spTgt spid="4">
                                            <p:graphicEl>
                                              <a:dgm id="{A82742B0-113F-4669-8E70-9D06DE2227C9}"/>
                                            </p:graphic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4">
                                            <p:graphicEl>
                                              <a:dgm id="{CAE5C49D-AE9F-4EED-9E23-E5130075264C}"/>
                                            </p:graphicEl>
                                          </p:spTgt>
                                        </p:tgtEl>
                                        <p:attrNameLst>
                                          <p:attrName>style.visibility</p:attrName>
                                        </p:attrNameLst>
                                      </p:cBhvr>
                                      <p:to>
                                        <p:strVal val="visible"/>
                                      </p:to>
                                    </p:set>
                                    <p:animEffect transition="in" filter="wipe(left)">
                                      <p:cBhvr>
                                        <p:cTn id="27" dur="500"/>
                                        <p:tgtEl>
                                          <p:spTgt spid="4">
                                            <p:graphicEl>
                                              <a:dgm id="{CAE5C49D-AE9F-4EED-9E23-E5130075264C}"/>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graphicEl>
                                              <a:dgm id="{9917C270-710C-4621-8646-00EB37130D5E}"/>
                                            </p:graphicEl>
                                          </p:spTgt>
                                        </p:tgtEl>
                                        <p:attrNameLst>
                                          <p:attrName>style.visibility</p:attrName>
                                        </p:attrNameLst>
                                      </p:cBhvr>
                                      <p:to>
                                        <p:strVal val="visible"/>
                                      </p:to>
                                    </p:set>
                                    <p:animEffect transition="in" filter="wipe(left)">
                                      <p:cBhvr>
                                        <p:cTn id="32" dur="500"/>
                                        <p:tgtEl>
                                          <p:spTgt spid="4">
                                            <p:graphicEl>
                                              <a:dgm id="{9917C270-710C-4621-8646-00EB37130D5E}"/>
                                            </p:graphic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4">
                                            <p:graphicEl>
                                              <a:dgm id="{87BC8AE3-1B31-4C9A-81F4-FB38A4BA4441}"/>
                                            </p:graphicEl>
                                          </p:spTgt>
                                        </p:tgtEl>
                                        <p:attrNameLst>
                                          <p:attrName>style.visibility</p:attrName>
                                        </p:attrNameLst>
                                      </p:cBhvr>
                                      <p:to>
                                        <p:strVal val="visible"/>
                                      </p:to>
                                    </p:set>
                                    <p:animEffect transition="in" filter="wipe(left)">
                                      <p:cBhvr>
                                        <p:cTn id="35" dur="500"/>
                                        <p:tgtEl>
                                          <p:spTgt spid="4">
                                            <p:graphicEl>
                                              <a:dgm id="{87BC8AE3-1B31-4C9A-81F4-FB38A4BA444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Clients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The most important Web client is a piece of software called a Web browser.</a:t>
            </a:r>
          </a:p>
          <a:p>
            <a:pPr>
              <a:lnSpc>
                <a:spcPct val="100000"/>
              </a:lnSpc>
            </a:pPr>
            <a:r>
              <a:rPr lang="en-US" dirty="0"/>
              <a:t>It enables a user to navigate through Web pages by fetching those pages from servers and subsequently displaying them on the users screen.</a:t>
            </a:r>
          </a:p>
          <a:p>
            <a:pPr>
              <a:lnSpc>
                <a:spcPct val="100000"/>
              </a:lnSpc>
            </a:pPr>
            <a:r>
              <a:rPr lang="en-US" dirty="0"/>
              <a:t>The core of a browser is formed by the browser engine and the rendering engine.</a:t>
            </a:r>
          </a:p>
          <a:p>
            <a:pPr>
              <a:lnSpc>
                <a:spcPct val="100000"/>
              </a:lnSpc>
            </a:pPr>
            <a:r>
              <a:rPr lang="en-US" dirty="0"/>
              <a:t>The rendering engine contains all the code for properly displaying documents.</a:t>
            </a:r>
          </a:p>
          <a:p>
            <a:pPr>
              <a:lnSpc>
                <a:spcPct val="100000"/>
              </a:lnSpc>
            </a:pPr>
            <a:r>
              <a:rPr lang="en-US" dirty="0"/>
              <a:t>This rendering require parsing HTML or XML, but may also require script interpreter(for JavaScript).</a:t>
            </a:r>
          </a:p>
        </p:txBody>
      </p:sp>
    </p:spTree>
    <p:extLst>
      <p:ext uri="{BB962C8B-B14F-4D97-AF65-F5344CB8AC3E}">
        <p14:creationId xmlns:p14="http://schemas.microsoft.com/office/powerpoint/2010/main" val="512982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Clients (Web Browser)</a:t>
            </a:r>
          </a:p>
        </p:txBody>
      </p:sp>
      <p:sp>
        <p:nvSpPr>
          <p:cNvPr id="5" name="Rectangle 4"/>
          <p:cNvSpPr/>
          <p:nvPr/>
        </p:nvSpPr>
        <p:spPr>
          <a:xfrm>
            <a:off x="2980765" y="1407459"/>
            <a:ext cx="5334000" cy="685800"/>
          </a:xfrm>
          <a:prstGeom prst="rect">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accent6"/>
                </a:solidFill>
              </a:rPr>
              <a:t>User Interface</a:t>
            </a:r>
          </a:p>
        </p:txBody>
      </p:sp>
      <p:sp>
        <p:nvSpPr>
          <p:cNvPr id="6" name="Rectangle 5"/>
          <p:cNvSpPr/>
          <p:nvPr/>
        </p:nvSpPr>
        <p:spPr>
          <a:xfrm>
            <a:off x="2980765" y="2521430"/>
            <a:ext cx="5334000" cy="685800"/>
          </a:xfrm>
          <a:prstGeom prst="rect">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accent6"/>
                </a:solidFill>
              </a:rPr>
              <a:t>Browser engine</a:t>
            </a:r>
          </a:p>
        </p:txBody>
      </p:sp>
      <p:sp>
        <p:nvSpPr>
          <p:cNvPr id="7" name="Rectangle 6"/>
          <p:cNvSpPr/>
          <p:nvPr/>
        </p:nvSpPr>
        <p:spPr>
          <a:xfrm>
            <a:off x="2980765" y="3655358"/>
            <a:ext cx="5334000" cy="685800"/>
          </a:xfrm>
          <a:prstGeom prst="rect">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accent6"/>
                </a:solidFill>
              </a:rPr>
              <a:t>Rendering engine</a:t>
            </a:r>
          </a:p>
        </p:txBody>
      </p:sp>
      <p:sp>
        <p:nvSpPr>
          <p:cNvPr id="8" name="Flowchart: Magnetic Disk 7"/>
          <p:cNvSpPr/>
          <p:nvPr/>
        </p:nvSpPr>
        <p:spPr>
          <a:xfrm>
            <a:off x="1228165" y="2369030"/>
            <a:ext cx="1219200" cy="990600"/>
          </a:xfrm>
          <a:prstGeom prst="flowChartMagneticDisk">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ectangle 8"/>
          <p:cNvSpPr/>
          <p:nvPr/>
        </p:nvSpPr>
        <p:spPr>
          <a:xfrm>
            <a:off x="9152965" y="1331259"/>
            <a:ext cx="647700" cy="1952171"/>
          </a:xfrm>
          <a:prstGeom prst="rect">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vert="vert" rtlCol="0" anchor="ctr"/>
          <a:lstStyle/>
          <a:p>
            <a:pPr algn="ctr"/>
            <a:r>
              <a:rPr lang="en-US" sz="2000" dirty="0">
                <a:solidFill>
                  <a:srgbClr val="1D3064"/>
                </a:solidFill>
              </a:rPr>
              <a:t>Display back end</a:t>
            </a:r>
          </a:p>
        </p:txBody>
      </p:sp>
      <p:sp>
        <p:nvSpPr>
          <p:cNvPr id="10" name="Rectangle 9"/>
          <p:cNvSpPr/>
          <p:nvPr/>
        </p:nvSpPr>
        <p:spPr>
          <a:xfrm>
            <a:off x="2980765" y="4760259"/>
            <a:ext cx="1534886" cy="1066800"/>
          </a:xfrm>
          <a:prstGeom prst="rect">
            <a:avLst/>
          </a:prstGeom>
          <a:ln w="28575">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Network</a:t>
            </a:r>
          </a:p>
          <a:p>
            <a:pPr algn="ctr"/>
            <a:r>
              <a:rPr lang="en-US" sz="2000" dirty="0"/>
              <a:t>Comm.</a:t>
            </a:r>
          </a:p>
        </p:txBody>
      </p:sp>
      <p:sp>
        <p:nvSpPr>
          <p:cNvPr id="11" name="Rectangle 10"/>
          <p:cNvSpPr/>
          <p:nvPr/>
        </p:nvSpPr>
        <p:spPr>
          <a:xfrm>
            <a:off x="4923865" y="4760259"/>
            <a:ext cx="1524000" cy="1066800"/>
          </a:xfrm>
          <a:prstGeom prst="rect">
            <a:avLst/>
          </a:prstGeom>
          <a:ln w="28575">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Client-side</a:t>
            </a:r>
          </a:p>
          <a:p>
            <a:pPr algn="ctr"/>
            <a:r>
              <a:rPr lang="en-US" sz="2000" dirty="0"/>
              <a:t>Script</a:t>
            </a:r>
          </a:p>
          <a:p>
            <a:pPr algn="ctr"/>
            <a:r>
              <a:rPr lang="en-US" sz="2000" dirty="0"/>
              <a:t>interpreter</a:t>
            </a:r>
          </a:p>
        </p:txBody>
      </p:sp>
      <p:sp>
        <p:nvSpPr>
          <p:cNvPr id="12" name="Rectangle 11"/>
          <p:cNvSpPr/>
          <p:nvPr/>
        </p:nvSpPr>
        <p:spPr>
          <a:xfrm>
            <a:off x="6856079" y="4760259"/>
            <a:ext cx="1458686" cy="1066800"/>
          </a:xfrm>
          <a:prstGeom prst="rect">
            <a:avLst/>
          </a:prstGeom>
          <a:ln w="28575">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HTML/XML</a:t>
            </a:r>
          </a:p>
          <a:p>
            <a:pPr algn="ctr"/>
            <a:r>
              <a:rPr lang="en-US" sz="2000" dirty="0"/>
              <a:t>parser</a:t>
            </a:r>
          </a:p>
        </p:txBody>
      </p:sp>
      <p:cxnSp>
        <p:nvCxnSpPr>
          <p:cNvPr id="13" name="Straight Connector 12"/>
          <p:cNvCxnSpPr>
            <a:stCxn id="5" idx="2"/>
            <a:endCxn id="6" idx="0"/>
          </p:cNvCxnSpPr>
          <p:nvPr/>
        </p:nvCxnSpPr>
        <p:spPr>
          <a:xfrm>
            <a:off x="5647765" y="2093259"/>
            <a:ext cx="0" cy="4281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647765" y="3192716"/>
            <a:ext cx="0" cy="4281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687679" y="4332088"/>
            <a:ext cx="0" cy="4281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762722" y="4332087"/>
            <a:ext cx="0" cy="4281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585422" y="4341158"/>
            <a:ext cx="0" cy="4281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5" idx="3"/>
          </p:cNvCxnSpPr>
          <p:nvPr/>
        </p:nvCxnSpPr>
        <p:spPr>
          <a:xfrm>
            <a:off x="8314765" y="1750359"/>
            <a:ext cx="838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8314765" y="2862516"/>
            <a:ext cx="838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1"/>
            <a:endCxn id="8" idx="4"/>
          </p:cNvCxnSpPr>
          <p:nvPr/>
        </p:nvCxnSpPr>
        <p:spPr>
          <a:xfrm flipH="1">
            <a:off x="2447365" y="2864330"/>
            <a:ext cx="5334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p:cNvCxnSpPr>
            <a:stCxn id="5" idx="1"/>
            <a:endCxn id="8" idx="1"/>
          </p:cNvCxnSpPr>
          <p:nvPr/>
        </p:nvCxnSpPr>
        <p:spPr>
          <a:xfrm rot="10800000" flipV="1">
            <a:off x="1837765" y="1750358"/>
            <a:ext cx="1143000" cy="618671"/>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092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500"/>
                                        <p:tgtEl>
                                          <p:spTgt spid="8"/>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down)">
                                      <p:cBhvr>
                                        <p:cTn id="28" dur="500"/>
                                        <p:tgtEl>
                                          <p:spTgt spid="12"/>
                                        </p:tgtEl>
                                      </p:cBhvr>
                                    </p:animEffect>
                                  </p:childTnLst>
                                </p:cTn>
                              </p:par>
                              <p:par>
                                <p:cTn id="29" presetID="22" presetClass="entr" presetSubtype="4"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down)">
                                      <p:cBhvr>
                                        <p:cTn id="31" dur="500"/>
                                        <p:tgtEl>
                                          <p:spTgt spid="13"/>
                                        </p:tgtEl>
                                      </p:cBhvr>
                                    </p:animEffect>
                                  </p:childTnLst>
                                </p:cTn>
                              </p:par>
                              <p:par>
                                <p:cTn id="32" presetID="22" presetClass="entr" presetSubtype="4"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down)">
                                      <p:cBhvr>
                                        <p:cTn id="34" dur="500"/>
                                        <p:tgtEl>
                                          <p:spTgt spid="14"/>
                                        </p:tgtEl>
                                      </p:cBhvr>
                                    </p:animEffect>
                                  </p:childTnLst>
                                </p:cTn>
                              </p:par>
                              <p:par>
                                <p:cTn id="35" presetID="22" presetClass="entr" presetSubtype="4"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down)">
                                      <p:cBhvr>
                                        <p:cTn id="37" dur="500"/>
                                        <p:tgtEl>
                                          <p:spTgt spid="15"/>
                                        </p:tgtEl>
                                      </p:cBhvr>
                                    </p:animEffect>
                                  </p:childTnLst>
                                </p:cTn>
                              </p:par>
                              <p:par>
                                <p:cTn id="38" presetID="22" presetClass="entr" presetSubtype="4"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down)">
                                      <p:cBhvr>
                                        <p:cTn id="40" dur="500"/>
                                        <p:tgtEl>
                                          <p:spTgt spid="16"/>
                                        </p:tgtEl>
                                      </p:cBhvr>
                                    </p:animEffect>
                                  </p:childTnLst>
                                </p:cTn>
                              </p:par>
                              <p:par>
                                <p:cTn id="41" presetID="22" presetClass="entr" presetSubtype="4"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down)">
                                      <p:cBhvr>
                                        <p:cTn id="43" dur="500"/>
                                        <p:tgtEl>
                                          <p:spTgt spid="17"/>
                                        </p:tgtEl>
                                      </p:cBhvr>
                                    </p:animEffect>
                                  </p:childTnLst>
                                </p:cTn>
                              </p:par>
                              <p:par>
                                <p:cTn id="44" presetID="22" presetClass="entr" presetSubtype="4"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down)">
                                      <p:cBhvr>
                                        <p:cTn id="46" dur="500"/>
                                        <p:tgtEl>
                                          <p:spTgt spid="18"/>
                                        </p:tgtEl>
                                      </p:cBhvr>
                                    </p:animEffect>
                                  </p:childTnLst>
                                </p:cTn>
                              </p:par>
                              <p:par>
                                <p:cTn id="47" presetID="22" presetClass="entr" presetSubtype="4"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par>
                                <p:cTn id="50" presetID="22" presetClass="entr" presetSubtype="4"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down)">
                                      <p:cBhvr>
                                        <p:cTn id="52" dur="500"/>
                                        <p:tgtEl>
                                          <p:spTgt spid="20"/>
                                        </p:tgtEl>
                                      </p:cBhvr>
                                    </p:animEffect>
                                  </p:childTnLst>
                                </p:cTn>
                              </p:par>
                              <p:par>
                                <p:cTn id="53" presetID="22" presetClass="entr" presetSubtype="4"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down)">
                                      <p:cBhvr>
                                        <p:cTn id="5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Apache Web Server</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Apache Portable Runtime (APR), is a library that provides a platform-independent interface for file handling, networking, locking and threading.</a:t>
            </a:r>
          </a:p>
          <a:p>
            <a:pPr>
              <a:lnSpc>
                <a:spcPct val="100000"/>
              </a:lnSpc>
            </a:pPr>
            <a:r>
              <a:rPr lang="en-US" dirty="0"/>
              <a:t>Apache core assumes that requests are processed in a number of phases. </a:t>
            </a:r>
          </a:p>
          <a:p>
            <a:pPr>
              <a:lnSpc>
                <a:spcPct val="100000"/>
              </a:lnSpc>
            </a:pPr>
            <a:r>
              <a:rPr lang="en-US" dirty="0"/>
              <a:t>Each phase consisting of a few hooks.</a:t>
            </a:r>
          </a:p>
          <a:p>
            <a:pPr>
              <a:lnSpc>
                <a:spcPct val="100000"/>
              </a:lnSpc>
            </a:pPr>
            <a:r>
              <a:rPr lang="en-US" dirty="0"/>
              <a:t>Each hook represents a group of similar actions that need to be executed as part of processing a request.</a:t>
            </a:r>
          </a:p>
          <a:p>
            <a:pPr>
              <a:lnSpc>
                <a:spcPct val="100000"/>
              </a:lnSpc>
            </a:pPr>
            <a:r>
              <a:rPr lang="en-US" dirty="0"/>
              <a:t>For example, there is a hook to translate a URL to a local file name.</a:t>
            </a:r>
          </a:p>
        </p:txBody>
      </p:sp>
    </p:spTree>
    <p:extLst>
      <p:ext uri="{BB962C8B-B14F-4D97-AF65-F5344CB8AC3E}">
        <p14:creationId xmlns:p14="http://schemas.microsoft.com/office/powerpoint/2010/main" val="4211609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Apache Web Server</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General organization of the Apache Web server</a:t>
            </a:r>
          </a:p>
        </p:txBody>
      </p:sp>
      <p:grpSp>
        <p:nvGrpSpPr>
          <p:cNvPr id="75" name="Group 74"/>
          <p:cNvGrpSpPr/>
          <p:nvPr/>
        </p:nvGrpSpPr>
        <p:grpSpPr>
          <a:xfrm>
            <a:off x="1855440" y="1687880"/>
            <a:ext cx="1353798" cy="914400"/>
            <a:chOff x="703602" y="1676400"/>
            <a:chExt cx="1353798" cy="914400"/>
          </a:xfrm>
        </p:grpSpPr>
        <p:grpSp>
          <p:nvGrpSpPr>
            <p:cNvPr id="76" name="Group 75"/>
            <p:cNvGrpSpPr/>
            <p:nvPr/>
          </p:nvGrpSpPr>
          <p:grpSpPr>
            <a:xfrm>
              <a:off x="703602" y="2026841"/>
              <a:ext cx="1353798" cy="563959"/>
              <a:chOff x="703602" y="2026841"/>
              <a:chExt cx="1353798" cy="563959"/>
            </a:xfrm>
          </p:grpSpPr>
          <p:sp>
            <p:nvSpPr>
              <p:cNvPr id="78" name="Rectangle 77"/>
              <p:cNvSpPr/>
              <p:nvPr/>
            </p:nvSpPr>
            <p:spPr>
              <a:xfrm>
                <a:off x="703602" y="2026841"/>
                <a:ext cx="1353798" cy="563959"/>
              </a:xfrm>
              <a:prstGeom prst="rect">
                <a:avLst/>
              </a:prstGeom>
              <a:solidFill>
                <a:sysClr val="window" lastClr="FFFFFF"/>
              </a:solidFill>
              <a:ln w="25400"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black"/>
                  </a:solidFill>
                  <a:effectLst/>
                  <a:uLnTx/>
                  <a:uFillTx/>
                  <a:latin typeface="+mj-lt"/>
                  <a:ea typeface="+mn-ea"/>
                  <a:cs typeface="+mn-cs"/>
                </a:endParaRPr>
              </a:p>
            </p:txBody>
          </p:sp>
          <p:sp>
            <p:nvSpPr>
              <p:cNvPr id="79" name="Rectangle 78"/>
              <p:cNvSpPr/>
              <p:nvPr/>
            </p:nvSpPr>
            <p:spPr>
              <a:xfrm>
                <a:off x="762000" y="2087563"/>
                <a:ext cx="210798" cy="457399"/>
              </a:xfrm>
              <a:prstGeom prst="rect">
                <a:avLst/>
              </a:prstGeom>
              <a:no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80" name="Rectangle 79"/>
              <p:cNvSpPr/>
              <p:nvPr/>
            </p:nvSpPr>
            <p:spPr>
              <a:xfrm>
                <a:off x="1031878" y="2087563"/>
                <a:ext cx="210798" cy="457399"/>
              </a:xfrm>
              <a:prstGeom prst="rect">
                <a:avLst/>
              </a:prstGeom>
              <a:solidFill>
                <a:srgbClr val="4F81BD">
                  <a:lumMod val="20000"/>
                  <a:lumOff val="8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81" name="Rectangle 80"/>
              <p:cNvSpPr/>
              <p:nvPr/>
            </p:nvSpPr>
            <p:spPr>
              <a:xfrm>
                <a:off x="1301756" y="2089945"/>
                <a:ext cx="210798" cy="455017"/>
              </a:xfrm>
              <a:prstGeom prst="rect">
                <a:avLst/>
              </a:prstGeom>
              <a:solidFill>
                <a:srgbClr val="4F81BD">
                  <a:lumMod val="40000"/>
                  <a:lumOff val="6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82" name="Rectangle 81"/>
              <p:cNvSpPr/>
              <p:nvPr/>
            </p:nvSpPr>
            <p:spPr>
              <a:xfrm>
                <a:off x="1774152" y="2087563"/>
                <a:ext cx="210798" cy="457399"/>
              </a:xfrm>
              <a:prstGeom prst="rect">
                <a:avLst/>
              </a:prstGeom>
              <a:solidFill>
                <a:srgbClr val="4F81BD">
                  <a:lumMod val="60000"/>
                  <a:lumOff val="4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cxnSp>
            <p:nvCxnSpPr>
              <p:cNvPr id="83" name="Straight Connector 82"/>
              <p:cNvCxnSpPr/>
              <p:nvPr/>
            </p:nvCxnSpPr>
            <p:spPr>
              <a:xfrm>
                <a:off x="1524000" y="2286000"/>
                <a:ext cx="228600" cy="0"/>
              </a:xfrm>
              <a:prstGeom prst="line">
                <a:avLst/>
              </a:prstGeom>
              <a:noFill/>
              <a:ln w="9525" cap="flat" cmpd="sng" algn="ctr">
                <a:solidFill>
                  <a:srgbClr val="4F81BD">
                    <a:shade val="95000"/>
                    <a:satMod val="105000"/>
                  </a:srgbClr>
                </a:solidFill>
                <a:prstDash val="sysDash"/>
              </a:ln>
              <a:effectLst/>
            </p:spPr>
          </p:cxnSp>
        </p:grpSp>
        <p:sp>
          <p:nvSpPr>
            <p:cNvPr id="77" name="TextBox 76"/>
            <p:cNvSpPr txBox="1"/>
            <p:nvPr/>
          </p:nvSpPr>
          <p:spPr>
            <a:xfrm>
              <a:off x="914400" y="1676400"/>
              <a:ext cx="86113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mj-lt"/>
                </a:rPr>
                <a:t>Module</a:t>
              </a:r>
            </a:p>
          </p:txBody>
        </p:sp>
      </p:grpSp>
      <p:grpSp>
        <p:nvGrpSpPr>
          <p:cNvPr id="84" name="Group 83"/>
          <p:cNvGrpSpPr/>
          <p:nvPr/>
        </p:nvGrpSpPr>
        <p:grpSpPr>
          <a:xfrm>
            <a:off x="3623135" y="1687880"/>
            <a:ext cx="1353798" cy="914400"/>
            <a:chOff x="703602" y="1676400"/>
            <a:chExt cx="1353798" cy="914400"/>
          </a:xfrm>
        </p:grpSpPr>
        <p:grpSp>
          <p:nvGrpSpPr>
            <p:cNvPr id="85" name="Group 84"/>
            <p:cNvGrpSpPr/>
            <p:nvPr/>
          </p:nvGrpSpPr>
          <p:grpSpPr>
            <a:xfrm>
              <a:off x="703602" y="2026841"/>
              <a:ext cx="1353798" cy="563959"/>
              <a:chOff x="703602" y="2026841"/>
              <a:chExt cx="1353798" cy="563959"/>
            </a:xfrm>
          </p:grpSpPr>
          <p:sp>
            <p:nvSpPr>
              <p:cNvPr id="87" name="Rectangle 86"/>
              <p:cNvSpPr/>
              <p:nvPr/>
            </p:nvSpPr>
            <p:spPr>
              <a:xfrm>
                <a:off x="703602" y="2026841"/>
                <a:ext cx="1353798" cy="563959"/>
              </a:xfrm>
              <a:prstGeom prst="rect">
                <a:avLst/>
              </a:prstGeom>
              <a:solidFill>
                <a:sysClr val="window" lastClr="FFFFFF"/>
              </a:solidFill>
              <a:ln w="25400"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black"/>
                  </a:solidFill>
                  <a:effectLst/>
                  <a:uLnTx/>
                  <a:uFillTx/>
                  <a:latin typeface="+mj-lt"/>
                  <a:ea typeface="+mn-ea"/>
                  <a:cs typeface="+mn-cs"/>
                </a:endParaRPr>
              </a:p>
            </p:txBody>
          </p:sp>
          <p:sp>
            <p:nvSpPr>
              <p:cNvPr id="88" name="Rectangle 87"/>
              <p:cNvSpPr/>
              <p:nvPr/>
            </p:nvSpPr>
            <p:spPr>
              <a:xfrm>
                <a:off x="762000" y="2087563"/>
                <a:ext cx="210798" cy="457399"/>
              </a:xfrm>
              <a:prstGeom prst="rect">
                <a:avLst/>
              </a:prstGeom>
              <a:no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89" name="Rectangle 88"/>
              <p:cNvSpPr/>
              <p:nvPr/>
            </p:nvSpPr>
            <p:spPr>
              <a:xfrm>
                <a:off x="1031878" y="2087563"/>
                <a:ext cx="210798" cy="457399"/>
              </a:xfrm>
              <a:prstGeom prst="rect">
                <a:avLst/>
              </a:prstGeom>
              <a:solidFill>
                <a:srgbClr val="4F81BD">
                  <a:lumMod val="20000"/>
                  <a:lumOff val="8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90" name="Rectangle 89"/>
              <p:cNvSpPr/>
              <p:nvPr/>
            </p:nvSpPr>
            <p:spPr>
              <a:xfrm>
                <a:off x="1301756" y="2089945"/>
                <a:ext cx="210798" cy="455017"/>
              </a:xfrm>
              <a:prstGeom prst="rect">
                <a:avLst/>
              </a:prstGeom>
              <a:solidFill>
                <a:srgbClr val="4F81BD">
                  <a:lumMod val="40000"/>
                  <a:lumOff val="6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91" name="Rectangle 90"/>
              <p:cNvSpPr/>
              <p:nvPr/>
            </p:nvSpPr>
            <p:spPr>
              <a:xfrm>
                <a:off x="1774152" y="2087563"/>
                <a:ext cx="210798" cy="457399"/>
              </a:xfrm>
              <a:prstGeom prst="rect">
                <a:avLst/>
              </a:prstGeom>
              <a:solidFill>
                <a:srgbClr val="4F81BD">
                  <a:lumMod val="60000"/>
                  <a:lumOff val="4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cxnSp>
            <p:nvCxnSpPr>
              <p:cNvPr id="92" name="Straight Connector 91"/>
              <p:cNvCxnSpPr/>
              <p:nvPr/>
            </p:nvCxnSpPr>
            <p:spPr>
              <a:xfrm>
                <a:off x="1524000" y="2286000"/>
                <a:ext cx="228600" cy="0"/>
              </a:xfrm>
              <a:prstGeom prst="line">
                <a:avLst/>
              </a:prstGeom>
              <a:noFill/>
              <a:ln w="9525" cap="flat" cmpd="sng" algn="ctr">
                <a:solidFill>
                  <a:srgbClr val="4F81BD">
                    <a:shade val="95000"/>
                    <a:satMod val="105000"/>
                  </a:srgbClr>
                </a:solidFill>
                <a:prstDash val="sysDash"/>
              </a:ln>
              <a:effectLst/>
            </p:spPr>
          </p:cxnSp>
        </p:grpSp>
        <p:sp>
          <p:nvSpPr>
            <p:cNvPr id="86" name="TextBox 85"/>
            <p:cNvSpPr txBox="1"/>
            <p:nvPr/>
          </p:nvSpPr>
          <p:spPr>
            <a:xfrm>
              <a:off x="914400" y="1676400"/>
              <a:ext cx="86113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mj-lt"/>
                </a:rPr>
                <a:t>Module</a:t>
              </a:r>
            </a:p>
          </p:txBody>
        </p:sp>
      </p:grpSp>
      <p:grpSp>
        <p:nvGrpSpPr>
          <p:cNvPr id="93" name="Group 92"/>
          <p:cNvGrpSpPr/>
          <p:nvPr/>
        </p:nvGrpSpPr>
        <p:grpSpPr>
          <a:xfrm>
            <a:off x="7400238" y="1687880"/>
            <a:ext cx="1353798" cy="914400"/>
            <a:chOff x="703602" y="1676400"/>
            <a:chExt cx="1353798" cy="914400"/>
          </a:xfrm>
        </p:grpSpPr>
        <p:grpSp>
          <p:nvGrpSpPr>
            <p:cNvPr id="94" name="Group 93"/>
            <p:cNvGrpSpPr/>
            <p:nvPr/>
          </p:nvGrpSpPr>
          <p:grpSpPr>
            <a:xfrm>
              <a:off x="703602" y="2026841"/>
              <a:ext cx="1353798" cy="563959"/>
              <a:chOff x="703602" y="2026841"/>
              <a:chExt cx="1353798" cy="563959"/>
            </a:xfrm>
          </p:grpSpPr>
          <p:sp>
            <p:nvSpPr>
              <p:cNvPr id="96" name="Rectangle 95"/>
              <p:cNvSpPr/>
              <p:nvPr/>
            </p:nvSpPr>
            <p:spPr>
              <a:xfrm>
                <a:off x="703602" y="2026841"/>
                <a:ext cx="1353798" cy="563959"/>
              </a:xfrm>
              <a:prstGeom prst="rect">
                <a:avLst/>
              </a:prstGeom>
              <a:solidFill>
                <a:sysClr val="window" lastClr="FFFFFF"/>
              </a:solidFill>
              <a:ln w="25400"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black"/>
                  </a:solidFill>
                  <a:effectLst/>
                  <a:uLnTx/>
                  <a:uFillTx/>
                  <a:latin typeface="+mj-lt"/>
                  <a:ea typeface="+mn-ea"/>
                  <a:cs typeface="+mn-cs"/>
                </a:endParaRPr>
              </a:p>
            </p:txBody>
          </p:sp>
          <p:sp>
            <p:nvSpPr>
              <p:cNvPr id="97" name="Rectangle 96"/>
              <p:cNvSpPr/>
              <p:nvPr/>
            </p:nvSpPr>
            <p:spPr>
              <a:xfrm>
                <a:off x="762000" y="2087563"/>
                <a:ext cx="210798" cy="457399"/>
              </a:xfrm>
              <a:prstGeom prst="rect">
                <a:avLst/>
              </a:prstGeom>
              <a:no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98" name="Rectangle 97"/>
              <p:cNvSpPr/>
              <p:nvPr/>
            </p:nvSpPr>
            <p:spPr>
              <a:xfrm>
                <a:off x="1031878" y="2087563"/>
                <a:ext cx="210798" cy="457399"/>
              </a:xfrm>
              <a:prstGeom prst="rect">
                <a:avLst/>
              </a:prstGeom>
              <a:solidFill>
                <a:srgbClr val="4F81BD">
                  <a:lumMod val="20000"/>
                  <a:lumOff val="8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99" name="Rectangle 98"/>
              <p:cNvSpPr/>
              <p:nvPr/>
            </p:nvSpPr>
            <p:spPr>
              <a:xfrm>
                <a:off x="1301756" y="2089945"/>
                <a:ext cx="210798" cy="455017"/>
              </a:xfrm>
              <a:prstGeom prst="rect">
                <a:avLst/>
              </a:prstGeom>
              <a:solidFill>
                <a:srgbClr val="4F81BD">
                  <a:lumMod val="40000"/>
                  <a:lumOff val="6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100" name="Rectangle 99"/>
              <p:cNvSpPr/>
              <p:nvPr/>
            </p:nvSpPr>
            <p:spPr>
              <a:xfrm>
                <a:off x="1774152" y="2087563"/>
                <a:ext cx="210798" cy="457399"/>
              </a:xfrm>
              <a:prstGeom prst="rect">
                <a:avLst/>
              </a:prstGeom>
              <a:solidFill>
                <a:srgbClr val="4F81BD">
                  <a:lumMod val="60000"/>
                  <a:lumOff val="4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cxnSp>
            <p:nvCxnSpPr>
              <p:cNvPr id="101" name="Straight Connector 100"/>
              <p:cNvCxnSpPr/>
              <p:nvPr/>
            </p:nvCxnSpPr>
            <p:spPr>
              <a:xfrm>
                <a:off x="1524000" y="2286000"/>
                <a:ext cx="228600" cy="0"/>
              </a:xfrm>
              <a:prstGeom prst="line">
                <a:avLst/>
              </a:prstGeom>
              <a:noFill/>
              <a:ln w="9525" cap="flat" cmpd="sng" algn="ctr">
                <a:solidFill>
                  <a:srgbClr val="4F81BD">
                    <a:shade val="95000"/>
                    <a:satMod val="105000"/>
                  </a:srgbClr>
                </a:solidFill>
                <a:prstDash val="sysDash"/>
              </a:ln>
              <a:effectLst/>
            </p:spPr>
          </p:cxnSp>
        </p:grpSp>
        <p:sp>
          <p:nvSpPr>
            <p:cNvPr id="95" name="TextBox 94"/>
            <p:cNvSpPr txBox="1"/>
            <p:nvPr/>
          </p:nvSpPr>
          <p:spPr>
            <a:xfrm>
              <a:off x="914400" y="1676400"/>
              <a:ext cx="86113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mj-lt"/>
                </a:rPr>
                <a:t>Module</a:t>
              </a:r>
            </a:p>
          </p:txBody>
        </p:sp>
      </p:grpSp>
      <p:grpSp>
        <p:nvGrpSpPr>
          <p:cNvPr id="102" name="Group 101"/>
          <p:cNvGrpSpPr/>
          <p:nvPr/>
        </p:nvGrpSpPr>
        <p:grpSpPr>
          <a:xfrm>
            <a:off x="1761438" y="3745280"/>
            <a:ext cx="6709350" cy="2362200"/>
            <a:chOff x="1008402" y="3733800"/>
            <a:chExt cx="6709350" cy="2362200"/>
          </a:xfrm>
        </p:grpSpPr>
        <p:grpSp>
          <p:nvGrpSpPr>
            <p:cNvPr id="103" name="Group 102"/>
            <p:cNvGrpSpPr/>
            <p:nvPr/>
          </p:nvGrpSpPr>
          <p:grpSpPr>
            <a:xfrm>
              <a:off x="1541802" y="3733800"/>
              <a:ext cx="835493" cy="1173460"/>
              <a:chOff x="1846602" y="3886200"/>
              <a:chExt cx="835493" cy="1173460"/>
            </a:xfrm>
          </p:grpSpPr>
          <p:sp>
            <p:nvSpPr>
              <p:cNvPr id="127" name="Rectangle 126"/>
              <p:cNvSpPr/>
              <p:nvPr/>
            </p:nvSpPr>
            <p:spPr>
              <a:xfrm>
                <a:off x="1879551" y="3886200"/>
                <a:ext cx="802544" cy="533400"/>
              </a:xfrm>
              <a:prstGeom prst="rect">
                <a:avLst/>
              </a:prstGeom>
              <a:solidFill>
                <a:sysClr val="window" lastClr="FFFFFF"/>
              </a:solidFill>
              <a:ln w="25400"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prstClr val="black"/>
                    </a:solidFill>
                    <a:effectLst/>
                    <a:uLnTx/>
                    <a:uFillTx/>
                    <a:latin typeface="+mj-lt"/>
                    <a:ea typeface="+mn-ea"/>
                    <a:cs typeface="+mn-cs"/>
                  </a:rPr>
                  <a:t>Hook</a:t>
                </a:r>
              </a:p>
            </p:txBody>
          </p:sp>
          <p:sp>
            <p:nvSpPr>
              <p:cNvPr id="128" name="Rectangle 127"/>
              <p:cNvSpPr/>
              <p:nvPr/>
            </p:nvSpPr>
            <p:spPr>
              <a:xfrm>
                <a:off x="1846602" y="4602261"/>
                <a:ext cx="210798" cy="457399"/>
              </a:xfrm>
              <a:prstGeom prst="rect">
                <a:avLst/>
              </a:prstGeom>
              <a:no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129" name="Rectangle 128"/>
              <p:cNvSpPr/>
              <p:nvPr/>
            </p:nvSpPr>
            <p:spPr>
              <a:xfrm>
                <a:off x="2151402" y="4602261"/>
                <a:ext cx="210798" cy="457399"/>
              </a:xfrm>
              <a:prstGeom prst="rect">
                <a:avLst/>
              </a:prstGeom>
              <a:no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130" name="Rectangle 129"/>
              <p:cNvSpPr/>
              <p:nvPr/>
            </p:nvSpPr>
            <p:spPr>
              <a:xfrm>
                <a:off x="2456202" y="4602261"/>
                <a:ext cx="210798" cy="457399"/>
              </a:xfrm>
              <a:prstGeom prst="rect">
                <a:avLst/>
              </a:prstGeom>
              <a:no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grpSp>
        <p:grpSp>
          <p:nvGrpSpPr>
            <p:cNvPr id="104" name="Group 103"/>
            <p:cNvGrpSpPr/>
            <p:nvPr/>
          </p:nvGrpSpPr>
          <p:grpSpPr>
            <a:xfrm>
              <a:off x="2761002" y="3733800"/>
              <a:ext cx="802544" cy="1173460"/>
              <a:chOff x="1879551" y="3886200"/>
              <a:chExt cx="802544" cy="1173460"/>
            </a:xfrm>
          </p:grpSpPr>
          <p:sp>
            <p:nvSpPr>
              <p:cNvPr id="124" name="Rectangle 123"/>
              <p:cNvSpPr/>
              <p:nvPr/>
            </p:nvSpPr>
            <p:spPr>
              <a:xfrm>
                <a:off x="1879551" y="3886200"/>
                <a:ext cx="802544" cy="533400"/>
              </a:xfrm>
              <a:prstGeom prst="rect">
                <a:avLst/>
              </a:prstGeom>
              <a:solidFill>
                <a:sysClr val="window" lastClr="FFFFFF"/>
              </a:solidFill>
              <a:ln w="25400"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prstClr val="black"/>
                    </a:solidFill>
                    <a:effectLst/>
                    <a:uLnTx/>
                    <a:uFillTx/>
                    <a:latin typeface="+mj-lt"/>
                    <a:ea typeface="+mn-ea"/>
                    <a:cs typeface="+mn-cs"/>
                  </a:rPr>
                  <a:t>Hook</a:t>
                </a:r>
              </a:p>
            </p:txBody>
          </p:sp>
          <p:sp>
            <p:nvSpPr>
              <p:cNvPr id="125" name="Rectangle 124"/>
              <p:cNvSpPr/>
              <p:nvPr/>
            </p:nvSpPr>
            <p:spPr>
              <a:xfrm>
                <a:off x="2042354" y="4602261"/>
                <a:ext cx="210798" cy="457399"/>
              </a:xfrm>
              <a:prstGeom prst="rect">
                <a:avLst/>
              </a:prstGeom>
              <a:solidFill>
                <a:srgbClr val="4F81BD">
                  <a:lumMod val="20000"/>
                  <a:lumOff val="8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126" name="Rectangle 125"/>
              <p:cNvSpPr/>
              <p:nvPr/>
            </p:nvSpPr>
            <p:spPr>
              <a:xfrm>
                <a:off x="2347154" y="4602261"/>
                <a:ext cx="210798" cy="457399"/>
              </a:xfrm>
              <a:prstGeom prst="rect">
                <a:avLst/>
              </a:prstGeom>
              <a:solidFill>
                <a:srgbClr val="4F81BD">
                  <a:lumMod val="20000"/>
                  <a:lumOff val="8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grpSp>
        <p:grpSp>
          <p:nvGrpSpPr>
            <p:cNvPr id="105" name="Group 104"/>
            <p:cNvGrpSpPr/>
            <p:nvPr/>
          </p:nvGrpSpPr>
          <p:grpSpPr>
            <a:xfrm>
              <a:off x="4015858" y="3733800"/>
              <a:ext cx="802544" cy="1173460"/>
              <a:chOff x="1915207" y="3886200"/>
              <a:chExt cx="802544" cy="1173460"/>
            </a:xfrm>
          </p:grpSpPr>
          <p:sp>
            <p:nvSpPr>
              <p:cNvPr id="121" name="Rectangle 120"/>
              <p:cNvSpPr/>
              <p:nvPr/>
            </p:nvSpPr>
            <p:spPr>
              <a:xfrm>
                <a:off x="1915207" y="3886200"/>
                <a:ext cx="802544" cy="533400"/>
              </a:xfrm>
              <a:prstGeom prst="rect">
                <a:avLst/>
              </a:prstGeom>
              <a:solidFill>
                <a:sysClr val="window" lastClr="FFFFFF"/>
              </a:solidFill>
              <a:ln w="25400"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prstClr val="black"/>
                    </a:solidFill>
                    <a:effectLst/>
                    <a:uLnTx/>
                    <a:uFillTx/>
                    <a:latin typeface="+mj-lt"/>
                    <a:ea typeface="+mn-ea"/>
                    <a:cs typeface="+mn-cs"/>
                  </a:rPr>
                  <a:t>Hook</a:t>
                </a:r>
              </a:p>
            </p:txBody>
          </p:sp>
          <p:sp>
            <p:nvSpPr>
              <p:cNvPr id="122" name="Rectangle 121"/>
              <p:cNvSpPr/>
              <p:nvPr/>
            </p:nvSpPr>
            <p:spPr>
              <a:xfrm>
                <a:off x="2052757" y="4602261"/>
                <a:ext cx="210798" cy="457399"/>
              </a:xfrm>
              <a:prstGeom prst="rect">
                <a:avLst/>
              </a:prstGeom>
              <a:solidFill>
                <a:srgbClr val="4F81BD">
                  <a:lumMod val="40000"/>
                  <a:lumOff val="6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123" name="Rectangle 122"/>
              <p:cNvSpPr/>
              <p:nvPr/>
            </p:nvSpPr>
            <p:spPr>
              <a:xfrm>
                <a:off x="2357557" y="4602261"/>
                <a:ext cx="210798" cy="457399"/>
              </a:xfrm>
              <a:prstGeom prst="rect">
                <a:avLst/>
              </a:prstGeom>
              <a:solidFill>
                <a:srgbClr val="4F81BD">
                  <a:lumMod val="40000"/>
                  <a:lumOff val="6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grpSp>
        <p:grpSp>
          <p:nvGrpSpPr>
            <p:cNvPr id="106" name="Group 105"/>
            <p:cNvGrpSpPr/>
            <p:nvPr/>
          </p:nvGrpSpPr>
          <p:grpSpPr>
            <a:xfrm>
              <a:off x="6229455" y="3733800"/>
              <a:ext cx="835493" cy="1173460"/>
              <a:chOff x="1846602" y="3886200"/>
              <a:chExt cx="835493" cy="1173460"/>
            </a:xfrm>
          </p:grpSpPr>
          <p:sp>
            <p:nvSpPr>
              <p:cNvPr id="117" name="Rectangle 116"/>
              <p:cNvSpPr/>
              <p:nvPr/>
            </p:nvSpPr>
            <p:spPr>
              <a:xfrm>
                <a:off x="1879551" y="3886200"/>
                <a:ext cx="802544" cy="533400"/>
              </a:xfrm>
              <a:prstGeom prst="rect">
                <a:avLst/>
              </a:prstGeom>
              <a:solidFill>
                <a:sysClr val="window" lastClr="FFFFFF"/>
              </a:solidFill>
              <a:ln w="25400"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prstClr val="black"/>
                    </a:solidFill>
                    <a:effectLst/>
                    <a:uLnTx/>
                    <a:uFillTx/>
                    <a:latin typeface="+mj-lt"/>
                    <a:ea typeface="+mn-ea"/>
                    <a:cs typeface="+mn-cs"/>
                  </a:rPr>
                  <a:t>Hook</a:t>
                </a:r>
              </a:p>
            </p:txBody>
          </p:sp>
          <p:sp>
            <p:nvSpPr>
              <p:cNvPr id="118" name="Rectangle 117"/>
              <p:cNvSpPr/>
              <p:nvPr/>
            </p:nvSpPr>
            <p:spPr>
              <a:xfrm>
                <a:off x="1846602" y="4602261"/>
                <a:ext cx="210798" cy="457399"/>
              </a:xfrm>
              <a:prstGeom prst="rect">
                <a:avLst/>
              </a:prstGeom>
              <a:solidFill>
                <a:srgbClr val="4F81BD">
                  <a:lumMod val="60000"/>
                  <a:lumOff val="4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119" name="Rectangle 118"/>
              <p:cNvSpPr/>
              <p:nvPr/>
            </p:nvSpPr>
            <p:spPr>
              <a:xfrm>
                <a:off x="2151402" y="4602261"/>
                <a:ext cx="210798" cy="457399"/>
              </a:xfrm>
              <a:prstGeom prst="rect">
                <a:avLst/>
              </a:prstGeom>
              <a:solidFill>
                <a:srgbClr val="4F81BD">
                  <a:lumMod val="60000"/>
                  <a:lumOff val="4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sp>
            <p:nvSpPr>
              <p:cNvPr id="120" name="Rectangle 119"/>
              <p:cNvSpPr/>
              <p:nvPr/>
            </p:nvSpPr>
            <p:spPr>
              <a:xfrm>
                <a:off x="2456202" y="4602261"/>
                <a:ext cx="210798" cy="457399"/>
              </a:xfrm>
              <a:prstGeom prst="rect">
                <a:avLst/>
              </a:prstGeom>
              <a:solidFill>
                <a:srgbClr val="4F81BD">
                  <a:lumMod val="60000"/>
                  <a:lumOff val="40000"/>
                </a:srgbClr>
              </a:solidFill>
              <a:ln w="9525"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mj-lt"/>
                  <a:ea typeface="+mn-ea"/>
                  <a:cs typeface="+mn-cs"/>
                </a:endParaRPr>
              </a:p>
            </p:txBody>
          </p:sp>
        </p:grpSp>
        <p:sp>
          <p:nvSpPr>
            <p:cNvPr id="107" name="Rectangle 106"/>
            <p:cNvSpPr/>
            <p:nvPr/>
          </p:nvSpPr>
          <p:spPr>
            <a:xfrm>
              <a:off x="3827802" y="5562600"/>
              <a:ext cx="1528568" cy="533400"/>
            </a:xfrm>
            <a:prstGeom prst="rect">
              <a:avLst/>
            </a:prstGeom>
            <a:solidFill>
              <a:sysClr val="window" lastClr="FFFFFF"/>
            </a:solidFill>
            <a:ln w="25400"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prstClr val="black"/>
                  </a:solidFill>
                  <a:effectLst/>
                  <a:uLnTx/>
                  <a:uFillTx/>
                  <a:latin typeface="+mj-lt"/>
                  <a:ea typeface="+mn-ea"/>
                  <a:cs typeface="+mn-cs"/>
                </a:rPr>
                <a:t>Apache core</a:t>
              </a:r>
            </a:p>
          </p:txBody>
        </p:sp>
        <p:cxnSp>
          <p:nvCxnSpPr>
            <p:cNvPr id="108" name="Straight Connector 107"/>
            <p:cNvCxnSpPr>
              <a:stCxn id="107" idx="1"/>
            </p:cNvCxnSpPr>
            <p:nvPr/>
          </p:nvCxnSpPr>
          <p:spPr>
            <a:xfrm flipH="1">
              <a:off x="1008402" y="5829300"/>
              <a:ext cx="2819400" cy="0"/>
            </a:xfrm>
            <a:prstGeom prst="line">
              <a:avLst/>
            </a:prstGeom>
            <a:noFill/>
            <a:ln w="28575" cap="flat" cmpd="sng" algn="ctr">
              <a:solidFill>
                <a:srgbClr val="4F81BD">
                  <a:shade val="95000"/>
                  <a:satMod val="105000"/>
                </a:srgbClr>
              </a:solidFill>
              <a:prstDash val="solid"/>
            </a:ln>
            <a:effectLst/>
          </p:spPr>
        </p:cxnSp>
        <p:cxnSp>
          <p:nvCxnSpPr>
            <p:cNvPr id="109" name="Straight Connector 108"/>
            <p:cNvCxnSpPr/>
            <p:nvPr/>
          </p:nvCxnSpPr>
          <p:spPr>
            <a:xfrm flipV="1">
              <a:off x="1008402" y="4000501"/>
              <a:ext cx="0" cy="1828799"/>
            </a:xfrm>
            <a:prstGeom prst="line">
              <a:avLst/>
            </a:prstGeom>
            <a:noFill/>
            <a:ln w="28575" cap="flat" cmpd="sng" algn="ctr">
              <a:solidFill>
                <a:srgbClr val="4F81BD">
                  <a:shade val="95000"/>
                  <a:satMod val="105000"/>
                </a:srgbClr>
              </a:solidFill>
              <a:prstDash val="solid"/>
            </a:ln>
            <a:effectLst/>
          </p:spPr>
        </p:cxnSp>
        <p:cxnSp>
          <p:nvCxnSpPr>
            <p:cNvPr id="110" name="Straight Arrow Connector 109"/>
            <p:cNvCxnSpPr>
              <a:endCxn id="127" idx="1"/>
            </p:cNvCxnSpPr>
            <p:nvPr/>
          </p:nvCxnSpPr>
          <p:spPr>
            <a:xfrm>
              <a:off x="1008402" y="4000500"/>
              <a:ext cx="566349" cy="0"/>
            </a:xfrm>
            <a:prstGeom prst="straightConnector1">
              <a:avLst/>
            </a:prstGeom>
            <a:noFill/>
            <a:ln w="28575" cap="flat" cmpd="sng" algn="ctr">
              <a:solidFill>
                <a:srgbClr val="4F81BD">
                  <a:shade val="95000"/>
                  <a:satMod val="105000"/>
                </a:srgbClr>
              </a:solidFill>
              <a:prstDash val="solid"/>
              <a:tailEnd type="triangle"/>
            </a:ln>
            <a:effectLst/>
          </p:spPr>
        </p:cxnSp>
        <p:cxnSp>
          <p:nvCxnSpPr>
            <p:cNvPr id="111" name="Straight Arrow Connector 110"/>
            <p:cNvCxnSpPr>
              <a:endCxn id="124" idx="1"/>
            </p:cNvCxnSpPr>
            <p:nvPr/>
          </p:nvCxnSpPr>
          <p:spPr>
            <a:xfrm>
              <a:off x="2357456" y="4000500"/>
              <a:ext cx="403546" cy="0"/>
            </a:xfrm>
            <a:prstGeom prst="straightConnector1">
              <a:avLst/>
            </a:prstGeom>
            <a:noFill/>
            <a:ln w="28575" cap="flat" cmpd="sng" algn="ctr">
              <a:solidFill>
                <a:srgbClr val="4F81BD">
                  <a:shade val="95000"/>
                  <a:satMod val="105000"/>
                </a:srgbClr>
              </a:solidFill>
              <a:prstDash val="solid"/>
              <a:tailEnd type="triangle"/>
            </a:ln>
            <a:effectLst/>
          </p:spPr>
        </p:cxnSp>
        <p:cxnSp>
          <p:nvCxnSpPr>
            <p:cNvPr id="112" name="Straight Arrow Connector 111"/>
            <p:cNvCxnSpPr>
              <a:stCxn id="124" idx="3"/>
              <a:endCxn id="121" idx="1"/>
            </p:cNvCxnSpPr>
            <p:nvPr/>
          </p:nvCxnSpPr>
          <p:spPr>
            <a:xfrm>
              <a:off x="3563546" y="4000500"/>
              <a:ext cx="452312" cy="0"/>
            </a:xfrm>
            <a:prstGeom prst="straightConnector1">
              <a:avLst/>
            </a:prstGeom>
            <a:noFill/>
            <a:ln w="28575" cap="flat" cmpd="sng" algn="ctr">
              <a:solidFill>
                <a:srgbClr val="4F81BD">
                  <a:shade val="95000"/>
                  <a:satMod val="105000"/>
                </a:srgbClr>
              </a:solidFill>
              <a:prstDash val="solid"/>
              <a:tailEnd type="triangle"/>
            </a:ln>
            <a:effectLst/>
          </p:spPr>
        </p:cxnSp>
        <p:cxnSp>
          <p:nvCxnSpPr>
            <p:cNvPr id="113" name="Straight Arrow Connector 112"/>
            <p:cNvCxnSpPr>
              <a:endCxn id="117" idx="1"/>
            </p:cNvCxnSpPr>
            <p:nvPr/>
          </p:nvCxnSpPr>
          <p:spPr>
            <a:xfrm>
              <a:off x="4818402" y="4000500"/>
              <a:ext cx="1444002" cy="0"/>
            </a:xfrm>
            <a:prstGeom prst="straightConnector1">
              <a:avLst/>
            </a:prstGeom>
            <a:noFill/>
            <a:ln w="28575" cap="flat" cmpd="sng" algn="ctr">
              <a:solidFill>
                <a:srgbClr val="4F81BD">
                  <a:shade val="95000"/>
                  <a:satMod val="105000"/>
                </a:srgbClr>
              </a:solidFill>
              <a:prstDash val="solid"/>
              <a:tailEnd type="triangle"/>
            </a:ln>
            <a:effectLst/>
          </p:spPr>
        </p:cxnSp>
        <p:cxnSp>
          <p:nvCxnSpPr>
            <p:cNvPr id="114" name="Straight Connector 113"/>
            <p:cNvCxnSpPr>
              <a:endCxn id="107" idx="3"/>
            </p:cNvCxnSpPr>
            <p:nvPr/>
          </p:nvCxnSpPr>
          <p:spPr>
            <a:xfrm flipH="1">
              <a:off x="5356370" y="5829300"/>
              <a:ext cx="2357632" cy="0"/>
            </a:xfrm>
            <a:prstGeom prst="line">
              <a:avLst/>
            </a:prstGeom>
            <a:noFill/>
            <a:ln w="28575" cap="flat" cmpd="sng" algn="ctr">
              <a:solidFill>
                <a:srgbClr val="4F81BD">
                  <a:shade val="95000"/>
                  <a:satMod val="105000"/>
                </a:srgbClr>
              </a:solidFill>
              <a:prstDash val="solid"/>
            </a:ln>
            <a:effectLst/>
          </p:spPr>
        </p:cxnSp>
        <p:cxnSp>
          <p:nvCxnSpPr>
            <p:cNvPr id="115" name="Straight Connector 114"/>
            <p:cNvCxnSpPr/>
            <p:nvPr/>
          </p:nvCxnSpPr>
          <p:spPr>
            <a:xfrm flipV="1">
              <a:off x="7696200" y="3972380"/>
              <a:ext cx="17802" cy="1856920"/>
            </a:xfrm>
            <a:prstGeom prst="line">
              <a:avLst/>
            </a:prstGeom>
            <a:noFill/>
            <a:ln w="28575" cap="flat" cmpd="sng" algn="ctr">
              <a:solidFill>
                <a:srgbClr val="4F81BD">
                  <a:shade val="95000"/>
                  <a:satMod val="105000"/>
                </a:srgbClr>
              </a:solidFill>
              <a:prstDash val="solid"/>
            </a:ln>
            <a:effectLst/>
          </p:spPr>
        </p:cxnSp>
        <p:cxnSp>
          <p:nvCxnSpPr>
            <p:cNvPr id="116" name="Straight Connector 115"/>
            <p:cNvCxnSpPr/>
            <p:nvPr/>
          </p:nvCxnSpPr>
          <p:spPr>
            <a:xfrm flipH="1">
              <a:off x="7064950" y="3972380"/>
              <a:ext cx="652802" cy="0"/>
            </a:xfrm>
            <a:prstGeom prst="line">
              <a:avLst/>
            </a:prstGeom>
            <a:noFill/>
            <a:ln w="28575" cap="flat" cmpd="sng" algn="ctr">
              <a:solidFill>
                <a:srgbClr val="4F81BD">
                  <a:shade val="95000"/>
                  <a:satMod val="105000"/>
                </a:srgbClr>
              </a:solidFill>
              <a:prstDash val="solid"/>
            </a:ln>
            <a:effectLst/>
          </p:spPr>
        </p:cxnSp>
      </p:grpSp>
      <p:cxnSp>
        <p:nvCxnSpPr>
          <p:cNvPr id="131" name="Straight Connector 130"/>
          <p:cNvCxnSpPr>
            <a:stCxn id="79" idx="2"/>
            <a:endCxn id="127" idx="0"/>
          </p:cNvCxnSpPr>
          <p:nvPr/>
        </p:nvCxnSpPr>
        <p:spPr>
          <a:xfrm>
            <a:off x="2019237" y="2556442"/>
            <a:ext cx="709822" cy="1188838"/>
          </a:xfrm>
          <a:prstGeom prst="line">
            <a:avLst/>
          </a:prstGeom>
          <a:noFill/>
          <a:ln w="9525" cap="flat" cmpd="sng" algn="ctr">
            <a:solidFill>
              <a:srgbClr val="4F81BD">
                <a:shade val="95000"/>
                <a:satMod val="105000"/>
              </a:srgbClr>
            </a:solidFill>
            <a:prstDash val="solid"/>
          </a:ln>
          <a:effectLst/>
        </p:spPr>
      </p:cxnSp>
      <p:cxnSp>
        <p:nvCxnSpPr>
          <p:cNvPr id="132" name="Straight Connector 131"/>
          <p:cNvCxnSpPr>
            <a:stCxn id="80" idx="2"/>
            <a:endCxn id="124" idx="0"/>
          </p:cNvCxnSpPr>
          <p:nvPr/>
        </p:nvCxnSpPr>
        <p:spPr>
          <a:xfrm>
            <a:off x="2289115" y="2556442"/>
            <a:ext cx="1626195" cy="1188838"/>
          </a:xfrm>
          <a:prstGeom prst="line">
            <a:avLst/>
          </a:prstGeom>
          <a:noFill/>
          <a:ln w="9525" cap="flat" cmpd="sng" algn="ctr">
            <a:solidFill>
              <a:srgbClr val="4F81BD">
                <a:shade val="95000"/>
                <a:satMod val="105000"/>
              </a:srgbClr>
            </a:solidFill>
            <a:prstDash val="solid"/>
          </a:ln>
          <a:effectLst/>
        </p:spPr>
      </p:cxnSp>
      <p:cxnSp>
        <p:nvCxnSpPr>
          <p:cNvPr id="133" name="Straight Connector 132"/>
          <p:cNvCxnSpPr>
            <a:stCxn id="82" idx="2"/>
            <a:endCxn id="117" idx="0"/>
          </p:cNvCxnSpPr>
          <p:nvPr/>
        </p:nvCxnSpPr>
        <p:spPr>
          <a:xfrm>
            <a:off x="3031389" y="2556442"/>
            <a:ext cx="4385323" cy="1188838"/>
          </a:xfrm>
          <a:prstGeom prst="line">
            <a:avLst/>
          </a:prstGeom>
          <a:noFill/>
          <a:ln w="9525" cap="flat" cmpd="sng" algn="ctr">
            <a:solidFill>
              <a:srgbClr val="4F81BD">
                <a:shade val="95000"/>
                <a:satMod val="105000"/>
              </a:srgbClr>
            </a:solidFill>
            <a:prstDash val="solid"/>
          </a:ln>
          <a:effectLst/>
        </p:spPr>
      </p:cxnSp>
      <p:cxnSp>
        <p:nvCxnSpPr>
          <p:cNvPr id="134" name="Straight Connector 133"/>
          <p:cNvCxnSpPr>
            <a:stCxn id="88" idx="2"/>
            <a:endCxn id="127" idx="0"/>
          </p:cNvCxnSpPr>
          <p:nvPr/>
        </p:nvCxnSpPr>
        <p:spPr>
          <a:xfrm flipH="1">
            <a:off x="2729059" y="2556442"/>
            <a:ext cx="1057873" cy="1188838"/>
          </a:xfrm>
          <a:prstGeom prst="line">
            <a:avLst/>
          </a:prstGeom>
          <a:noFill/>
          <a:ln w="9525" cap="flat" cmpd="sng" algn="ctr">
            <a:solidFill>
              <a:srgbClr val="4F81BD">
                <a:shade val="95000"/>
                <a:satMod val="105000"/>
              </a:srgbClr>
            </a:solidFill>
            <a:prstDash val="solid"/>
          </a:ln>
          <a:effectLst/>
        </p:spPr>
      </p:cxnSp>
      <p:cxnSp>
        <p:nvCxnSpPr>
          <p:cNvPr id="135" name="Straight Connector 134"/>
          <p:cNvCxnSpPr>
            <a:stCxn id="89" idx="2"/>
            <a:endCxn id="124" idx="0"/>
          </p:cNvCxnSpPr>
          <p:nvPr/>
        </p:nvCxnSpPr>
        <p:spPr>
          <a:xfrm flipH="1">
            <a:off x="3915310" y="2556442"/>
            <a:ext cx="141500" cy="1188838"/>
          </a:xfrm>
          <a:prstGeom prst="line">
            <a:avLst/>
          </a:prstGeom>
          <a:noFill/>
          <a:ln w="9525" cap="flat" cmpd="sng" algn="ctr">
            <a:solidFill>
              <a:srgbClr val="4F81BD">
                <a:shade val="95000"/>
                <a:satMod val="105000"/>
              </a:srgbClr>
            </a:solidFill>
            <a:prstDash val="solid"/>
          </a:ln>
          <a:effectLst/>
        </p:spPr>
      </p:cxnSp>
      <p:cxnSp>
        <p:nvCxnSpPr>
          <p:cNvPr id="136" name="Straight Connector 135"/>
          <p:cNvCxnSpPr>
            <a:stCxn id="90" idx="2"/>
            <a:endCxn id="121" idx="0"/>
          </p:cNvCxnSpPr>
          <p:nvPr/>
        </p:nvCxnSpPr>
        <p:spPr>
          <a:xfrm>
            <a:off x="4326688" y="2556442"/>
            <a:ext cx="843478" cy="1188838"/>
          </a:xfrm>
          <a:prstGeom prst="line">
            <a:avLst/>
          </a:prstGeom>
          <a:noFill/>
          <a:ln w="9525" cap="flat" cmpd="sng" algn="ctr">
            <a:solidFill>
              <a:srgbClr val="4F81BD">
                <a:shade val="95000"/>
                <a:satMod val="105000"/>
              </a:srgbClr>
            </a:solidFill>
            <a:prstDash val="solid"/>
          </a:ln>
          <a:effectLst/>
        </p:spPr>
      </p:cxnSp>
      <p:cxnSp>
        <p:nvCxnSpPr>
          <p:cNvPr id="137" name="Straight Connector 136"/>
          <p:cNvCxnSpPr>
            <a:stCxn id="91" idx="2"/>
            <a:endCxn id="117" idx="0"/>
          </p:cNvCxnSpPr>
          <p:nvPr/>
        </p:nvCxnSpPr>
        <p:spPr>
          <a:xfrm>
            <a:off x="4799084" y="2556442"/>
            <a:ext cx="2617628" cy="1188838"/>
          </a:xfrm>
          <a:prstGeom prst="line">
            <a:avLst/>
          </a:prstGeom>
          <a:noFill/>
          <a:ln w="9525" cap="flat" cmpd="sng" algn="ctr">
            <a:solidFill>
              <a:srgbClr val="4F81BD">
                <a:shade val="95000"/>
                <a:satMod val="105000"/>
              </a:srgbClr>
            </a:solidFill>
            <a:prstDash val="solid"/>
          </a:ln>
          <a:effectLst/>
        </p:spPr>
      </p:cxnSp>
      <p:cxnSp>
        <p:nvCxnSpPr>
          <p:cNvPr id="138" name="Straight Connector 137"/>
          <p:cNvCxnSpPr>
            <a:stCxn id="97" idx="2"/>
            <a:endCxn id="127" idx="0"/>
          </p:cNvCxnSpPr>
          <p:nvPr/>
        </p:nvCxnSpPr>
        <p:spPr>
          <a:xfrm flipH="1">
            <a:off x="2729059" y="2556442"/>
            <a:ext cx="4834976" cy="1188838"/>
          </a:xfrm>
          <a:prstGeom prst="line">
            <a:avLst/>
          </a:prstGeom>
          <a:noFill/>
          <a:ln w="9525" cap="flat" cmpd="sng" algn="ctr">
            <a:solidFill>
              <a:srgbClr val="4F81BD">
                <a:shade val="95000"/>
                <a:satMod val="105000"/>
              </a:srgbClr>
            </a:solidFill>
            <a:prstDash val="solid"/>
          </a:ln>
          <a:effectLst/>
        </p:spPr>
      </p:cxnSp>
      <p:cxnSp>
        <p:nvCxnSpPr>
          <p:cNvPr id="139" name="Straight Connector 138"/>
          <p:cNvCxnSpPr>
            <a:stCxn id="100" idx="2"/>
            <a:endCxn id="117" idx="0"/>
          </p:cNvCxnSpPr>
          <p:nvPr/>
        </p:nvCxnSpPr>
        <p:spPr>
          <a:xfrm flipH="1">
            <a:off x="7416712" y="2556442"/>
            <a:ext cx="1159475" cy="1188838"/>
          </a:xfrm>
          <a:prstGeom prst="line">
            <a:avLst/>
          </a:prstGeom>
          <a:noFill/>
          <a:ln w="9525" cap="flat" cmpd="sng" algn="ctr">
            <a:solidFill>
              <a:srgbClr val="4F81BD">
                <a:shade val="95000"/>
                <a:satMod val="105000"/>
              </a:srgbClr>
            </a:solidFill>
            <a:prstDash val="solid"/>
          </a:ln>
          <a:effectLst/>
        </p:spPr>
      </p:cxnSp>
      <p:cxnSp>
        <p:nvCxnSpPr>
          <p:cNvPr id="140" name="Straight Connector 139"/>
          <p:cNvCxnSpPr>
            <a:stCxn id="96" idx="2"/>
            <a:endCxn id="121" idx="0"/>
          </p:cNvCxnSpPr>
          <p:nvPr/>
        </p:nvCxnSpPr>
        <p:spPr>
          <a:xfrm flipH="1">
            <a:off x="5170166" y="2602280"/>
            <a:ext cx="2906971" cy="1143000"/>
          </a:xfrm>
          <a:prstGeom prst="line">
            <a:avLst/>
          </a:prstGeom>
          <a:noFill/>
          <a:ln w="9525" cap="flat" cmpd="sng" algn="ctr">
            <a:solidFill>
              <a:srgbClr val="4F81BD">
                <a:shade val="95000"/>
                <a:satMod val="105000"/>
              </a:srgbClr>
            </a:solidFill>
            <a:prstDash val="solid"/>
          </a:ln>
          <a:effectLst/>
        </p:spPr>
      </p:cxnSp>
      <p:cxnSp>
        <p:nvCxnSpPr>
          <p:cNvPr id="141" name="Straight Arrow Connector 140"/>
          <p:cNvCxnSpPr/>
          <p:nvPr/>
        </p:nvCxnSpPr>
        <p:spPr>
          <a:xfrm flipV="1">
            <a:off x="4799084" y="6107480"/>
            <a:ext cx="0" cy="228600"/>
          </a:xfrm>
          <a:prstGeom prst="straightConnector1">
            <a:avLst/>
          </a:prstGeom>
          <a:noFill/>
          <a:ln w="9525" cap="flat" cmpd="sng" algn="ctr">
            <a:solidFill>
              <a:srgbClr val="4F81BD">
                <a:shade val="95000"/>
                <a:satMod val="105000"/>
              </a:srgbClr>
            </a:solidFill>
            <a:prstDash val="solid"/>
            <a:tailEnd type="triangle"/>
          </a:ln>
          <a:effectLst/>
        </p:spPr>
      </p:cxnSp>
      <p:cxnSp>
        <p:nvCxnSpPr>
          <p:cNvPr id="142" name="Straight Arrow Connector 141"/>
          <p:cNvCxnSpPr/>
          <p:nvPr/>
        </p:nvCxnSpPr>
        <p:spPr>
          <a:xfrm>
            <a:off x="5858436" y="6107480"/>
            <a:ext cx="0" cy="251403"/>
          </a:xfrm>
          <a:prstGeom prst="straightConnector1">
            <a:avLst/>
          </a:prstGeom>
          <a:noFill/>
          <a:ln w="9525" cap="flat" cmpd="sng" algn="ctr">
            <a:solidFill>
              <a:srgbClr val="4F81BD">
                <a:shade val="95000"/>
                <a:satMod val="105000"/>
              </a:srgbClr>
            </a:solidFill>
            <a:prstDash val="solid"/>
            <a:tailEnd type="triangle"/>
          </a:ln>
          <a:effectLst/>
        </p:spPr>
      </p:cxnSp>
      <p:sp>
        <p:nvSpPr>
          <p:cNvPr id="143" name="TextBox 142"/>
          <p:cNvSpPr txBox="1"/>
          <p:nvPr/>
        </p:nvSpPr>
        <p:spPr>
          <a:xfrm>
            <a:off x="3801036" y="6084677"/>
            <a:ext cx="944297" cy="369332"/>
          </a:xfrm>
          <a:prstGeom prst="rect">
            <a:avLst/>
          </a:prstGeom>
          <a:noFill/>
        </p:spPr>
        <p:txBody>
          <a:bodyPr wrap="none" rtlCol="0">
            <a:spAutoFit/>
          </a:bodyPr>
          <a:lstStyle/>
          <a:p>
            <a:r>
              <a:rPr lang="en-US" dirty="0">
                <a:solidFill>
                  <a:prstClr val="black"/>
                </a:solidFill>
                <a:latin typeface="+mj-lt"/>
              </a:rPr>
              <a:t>Request</a:t>
            </a:r>
          </a:p>
        </p:txBody>
      </p:sp>
      <p:sp>
        <p:nvSpPr>
          <p:cNvPr id="144" name="TextBox 143"/>
          <p:cNvSpPr txBox="1"/>
          <p:nvPr/>
        </p:nvSpPr>
        <p:spPr>
          <a:xfrm>
            <a:off x="5996121" y="6084677"/>
            <a:ext cx="1081515" cy="369332"/>
          </a:xfrm>
          <a:prstGeom prst="rect">
            <a:avLst/>
          </a:prstGeom>
          <a:noFill/>
        </p:spPr>
        <p:txBody>
          <a:bodyPr wrap="none" rtlCol="0">
            <a:spAutoFit/>
          </a:bodyPr>
          <a:lstStyle/>
          <a:p>
            <a:r>
              <a:rPr lang="en-US" dirty="0">
                <a:solidFill>
                  <a:prstClr val="black"/>
                </a:solidFill>
                <a:latin typeface="+mj-lt"/>
              </a:rPr>
              <a:t>Response</a:t>
            </a:r>
          </a:p>
        </p:txBody>
      </p:sp>
      <p:sp>
        <p:nvSpPr>
          <p:cNvPr id="145" name="TextBox 144"/>
          <p:cNvSpPr txBox="1"/>
          <p:nvPr/>
        </p:nvSpPr>
        <p:spPr>
          <a:xfrm>
            <a:off x="8162692" y="2902419"/>
            <a:ext cx="1617751" cy="646331"/>
          </a:xfrm>
          <a:prstGeom prst="rect">
            <a:avLst/>
          </a:prstGeom>
          <a:noFill/>
        </p:spPr>
        <p:txBody>
          <a:bodyPr wrap="none" rtlCol="0">
            <a:spAutoFit/>
          </a:bodyPr>
          <a:lstStyle/>
          <a:p>
            <a:pPr algn="ctr"/>
            <a:r>
              <a:rPr lang="en-US" dirty="0">
                <a:solidFill>
                  <a:prstClr val="black"/>
                </a:solidFill>
                <a:latin typeface="+mj-lt"/>
              </a:rPr>
              <a:t>Link between </a:t>
            </a:r>
          </a:p>
          <a:p>
            <a:pPr algn="ctr"/>
            <a:r>
              <a:rPr lang="en-US" dirty="0">
                <a:solidFill>
                  <a:prstClr val="black"/>
                </a:solidFill>
                <a:latin typeface="+mj-lt"/>
              </a:rPr>
              <a:t>function &amp; hook</a:t>
            </a:r>
          </a:p>
        </p:txBody>
      </p:sp>
    </p:spTree>
    <p:extLst>
      <p:ext uri="{BB962C8B-B14F-4D97-AF65-F5344CB8AC3E}">
        <p14:creationId xmlns:p14="http://schemas.microsoft.com/office/powerpoint/2010/main" val="275151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02"/>
                                        </p:tgtEl>
                                        <p:attrNameLst>
                                          <p:attrName>style.visibility</p:attrName>
                                        </p:attrNameLst>
                                      </p:cBhvr>
                                      <p:to>
                                        <p:strVal val="visible"/>
                                      </p:to>
                                    </p:set>
                                    <p:animEffect transition="in" filter="wipe(down)">
                                      <p:cBhvr>
                                        <p:cTn id="11" dur="500"/>
                                        <p:tgtEl>
                                          <p:spTgt spid="102"/>
                                        </p:tgtEl>
                                      </p:cBhvr>
                                    </p:animEffect>
                                  </p:childTnLst>
                                </p:cTn>
                              </p:par>
                              <p:par>
                                <p:cTn id="12" presetID="22" presetClass="entr" presetSubtype="4" fill="hold" nodeType="withEffect">
                                  <p:stCondLst>
                                    <p:cond delay="0"/>
                                  </p:stCondLst>
                                  <p:childTnLst>
                                    <p:set>
                                      <p:cBhvr>
                                        <p:cTn id="13" dur="1" fill="hold">
                                          <p:stCondLst>
                                            <p:cond delay="0"/>
                                          </p:stCondLst>
                                        </p:cTn>
                                        <p:tgtEl>
                                          <p:spTgt spid="141"/>
                                        </p:tgtEl>
                                        <p:attrNameLst>
                                          <p:attrName>style.visibility</p:attrName>
                                        </p:attrNameLst>
                                      </p:cBhvr>
                                      <p:to>
                                        <p:strVal val="visible"/>
                                      </p:to>
                                    </p:set>
                                    <p:animEffect transition="in" filter="wipe(down)">
                                      <p:cBhvr>
                                        <p:cTn id="14" dur="500"/>
                                        <p:tgtEl>
                                          <p:spTgt spid="141"/>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143"/>
                                        </p:tgtEl>
                                        <p:attrNameLst>
                                          <p:attrName>style.visibility</p:attrName>
                                        </p:attrNameLst>
                                      </p:cBhvr>
                                      <p:to>
                                        <p:strVal val="visible"/>
                                      </p:to>
                                    </p:set>
                                    <p:animEffect transition="in" filter="wipe(down)">
                                      <p:cBhvr>
                                        <p:cTn id="17" dur="500"/>
                                        <p:tgtEl>
                                          <p:spTgt spid="143"/>
                                        </p:tgtEl>
                                      </p:cBhvr>
                                    </p:animEffect>
                                  </p:childTnLst>
                                </p:cTn>
                              </p:par>
                              <p:par>
                                <p:cTn id="18" presetID="22" presetClass="entr" presetSubtype="4" fill="hold" nodeType="withEffect">
                                  <p:stCondLst>
                                    <p:cond delay="0"/>
                                  </p:stCondLst>
                                  <p:childTnLst>
                                    <p:set>
                                      <p:cBhvr>
                                        <p:cTn id="19" dur="1" fill="hold">
                                          <p:stCondLst>
                                            <p:cond delay="0"/>
                                          </p:stCondLst>
                                        </p:cTn>
                                        <p:tgtEl>
                                          <p:spTgt spid="142"/>
                                        </p:tgtEl>
                                        <p:attrNameLst>
                                          <p:attrName>style.visibility</p:attrName>
                                        </p:attrNameLst>
                                      </p:cBhvr>
                                      <p:to>
                                        <p:strVal val="visible"/>
                                      </p:to>
                                    </p:set>
                                    <p:animEffect transition="in" filter="wipe(down)">
                                      <p:cBhvr>
                                        <p:cTn id="20" dur="500"/>
                                        <p:tgtEl>
                                          <p:spTgt spid="142"/>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44"/>
                                        </p:tgtEl>
                                        <p:attrNameLst>
                                          <p:attrName>style.visibility</p:attrName>
                                        </p:attrNameLst>
                                      </p:cBhvr>
                                      <p:to>
                                        <p:strVal val="visible"/>
                                      </p:to>
                                    </p:set>
                                    <p:animEffect transition="in" filter="wipe(down)">
                                      <p:cBhvr>
                                        <p:cTn id="23" dur="500"/>
                                        <p:tgtEl>
                                          <p:spTgt spid="14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75"/>
                                        </p:tgtEl>
                                        <p:attrNameLst>
                                          <p:attrName>style.visibility</p:attrName>
                                        </p:attrNameLst>
                                      </p:cBhvr>
                                      <p:to>
                                        <p:strVal val="visible"/>
                                      </p:to>
                                    </p:set>
                                    <p:animEffect transition="in" filter="wipe(down)">
                                      <p:cBhvr>
                                        <p:cTn id="28" dur="500"/>
                                        <p:tgtEl>
                                          <p:spTgt spid="75"/>
                                        </p:tgtEl>
                                      </p:cBhvr>
                                    </p:animEffect>
                                  </p:childTnLst>
                                </p:cTn>
                              </p:par>
                              <p:par>
                                <p:cTn id="29" presetID="22" presetClass="entr" presetSubtype="4" fill="hold" nodeType="withEffect">
                                  <p:stCondLst>
                                    <p:cond delay="0"/>
                                  </p:stCondLst>
                                  <p:childTnLst>
                                    <p:set>
                                      <p:cBhvr>
                                        <p:cTn id="30" dur="1" fill="hold">
                                          <p:stCondLst>
                                            <p:cond delay="0"/>
                                          </p:stCondLst>
                                        </p:cTn>
                                        <p:tgtEl>
                                          <p:spTgt spid="84"/>
                                        </p:tgtEl>
                                        <p:attrNameLst>
                                          <p:attrName>style.visibility</p:attrName>
                                        </p:attrNameLst>
                                      </p:cBhvr>
                                      <p:to>
                                        <p:strVal val="visible"/>
                                      </p:to>
                                    </p:set>
                                    <p:animEffect transition="in" filter="wipe(down)">
                                      <p:cBhvr>
                                        <p:cTn id="31" dur="500"/>
                                        <p:tgtEl>
                                          <p:spTgt spid="84"/>
                                        </p:tgtEl>
                                      </p:cBhvr>
                                    </p:animEffect>
                                  </p:childTnLst>
                                </p:cTn>
                              </p:par>
                              <p:par>
                                <p:cTn id="32" presetID="22" presetClass="entr" presetSubtype="4" fill="hold" nodeType="withEffect">
                                  <p:stCondLst>
                                    <p:cond delay="0"/>
                                  </p:stCondLst>
                                  <p:childTnLst>
                                    <p:set>
                                      <p:cBhvr>
                                        <p:cTn id="33" dur="1" fill="hold">
                                          <p:stCondLst>
                                            <p:cond delay="0"/>
                                          </p:stCondLst>
                                        </p:cTn>
                                        <p:tgtEl>
                                          <p:spTgt spid="93"/>
                                        </p:tgtEl>
                                        <p:attrNameLst>
                                          <p:attrName>style.visibility</p:attrName>
                                        </p:attrNameLst>
                                      </p:cBhvr>
                                      <p:to>
                                        <p:strVal val="visible"/>
                                      </p:to>
                                    </p:set>
                                    <p:animEffect transition="in" filter="wipe(down)">
                                      <p:cBhvr>
                                        <p:cTn id="34" dur="500"/>
                                        <p:tgtEl>
                                          <p:spTgt spid="9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31"/>
                                        </p:tgtEl>
                                        <p:attrNameLst>
                                          <p:attrName>style.visibility</p:attrName>
                                        </p:attrNameLst>
                                      </p:cBhvr>
                                      <p:to>
                                        <p:strVal val="visible"/>
                                      </p:to>
                                    </p:set>
                                    <p:animEffect transition="in" filter="wipe(down)">
                                      <p:cBhvr>
                                        <p:cTn id="39" dur="500"/>
                                        <p:tgtEl>
                                          <p:spTgt spid="131"/>
                                        </p:tgtEl>
                                      </p:cBhvr>
                                    </p:animEffect>
                                  </p:childTnLst>
                                </p:cTn>
                              </p:par>
                              <p:par>
                                <p:cTn id="40" presetID="22" presetClass="entr" presetSubtype="4" fill="hold" nodeType="withEffect">
                                  <p:stCondLst>
                                    <p:cond delay="0"/>
                                  </p:stCondLst>
                                  <p:childTnLst>
                                    <p:set>
                                      <p:cBhvr>
                                        <p:cTn id="41" dur="1" fill="hold">
                                          <p:stCondLst>
                                            <p:cond delay="0"/>
                                          </p:stCondLst>
                                        </p:cTn>
                                        <p:tgtEl>
                                          <p:spTgt spid="132"/>
                                        </p:tgtEl>
                                        <p:attrNameLst>
                                          <p:attrName>style.visibility</p:attrName>
                                        </p:attrNameLst>
                                      </p:cBhvr>
                                      <p:to>
                                        <p:strVal val="visible"/>
                                      </p:to>
                                    </p:set>
                                    <p:animEffect transition="in" filter="wipe(down)">
                                      <p:cBhvr>
                                        <p:cTn id="42" dur="500"/>
                                        <p:tgtEl>
                                          <p:spTgt spid="132"/>
                                        </p:tgtEl>
                                      </p:cBhvr>
                                    </p:animEffect>
                                  </p:childTnLst>
                                </p:cTn>
                              </p:par>
                              <p:par>
                                <p:cTn id="43" presetID="22" presetClass="entr" presetSubtype="4" fill="hold" nodeType="withEffect">
                                  <p:stCondLst>
                                    <p:cond delay="0"/>
                                  </p:stCondLst>
                                  <p:childTnLst>
                                    <p:set>
                                      <p:cBhvr>
                                        <p:cTn id="44" dur="1" fill="hold">
                                          <p:stCondLst>
                                            <p:cond delay="0"/>
                                          </p:stCondLst>
                                        </p:cTn>
                                        <p:tgtEl>
                                          <p:spTgt spid="133"/>
                                        </p:tgtEl>
                                        <p:attrNameLst>
                                          <p:attrName>style.visibility</p:attrName>
                                        </p:attrNameLst>
                                      </p:cBhvr>
                                      <p:to>
                                        <p:strVal val="visible"/>
                                      </p:to>
                                    </p:set>
                                    <p:animEffect transition="in" filter="wipe(down)">
                                      <p:cBhvr>
                                        <p:cTn id="45" dur="500"/>
                                        <p:tgtEl>
                                          <p:spTgt spid="13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134"/>
                                        </p:tgtEl>
                                        <p:attrNameLst>
                                          <p:attrName>style.visibility</p:attrName>
                                        </p:attrNameLst>
                                      </p:cBhvr>
                                      <p:to>
                                        <p:strVal val="visible"/>
                                      </p:to>
                                    </p:set>
                                    <p:animEffect transition="in" filter="wipe(down)">
                                      <p:cBhvr>
                                        <p:cTn id="50" dur="500"/>
                                        <p:tgtEl>
                                          <p:spTgt spid="134"/>
                                        </p:tgtEl>
                                      </p:cBhvr>
                                    </p:animEffect>
                                  </p:childTnLst>
                                </p:cTn>
                              </p:par>
                              <p:par>
                                <p:cTn id="51" presetID="22" presetClass="entr" presetSubtype="4" fill="hold" nodeType="withEffect">
                                  <p:stCondLst>
                                    <p:cond delay="0"/>
                                  </p:stCondLst>
                                  <p:childTnLst>
                                    <p:set>
                                      <p:cBhvr>
                                        <p:cTn id="52" dur="1" fill="hold">
                                          <p:stCondLst>
                                            <p:cond delay="0"/>
                                          </p:stCondLst>
                                        </p:cTn>
                                        <p:tgtEl>
                                          <p:spTgt spid="135"/>
                                        </p:tgtEl>
                                        <p:attrNameLst>
                                          <p:attrName>style.visibility</p:attrName>
                                        </p:attrNameLst>
                                      </p:cBhvr>
                                      <p:to>
                                        <p:strVal val="visible"/>
                                      </p:to>
                                    </p:set>
                                    <p:animEffect transition="in" filter="wipe(down)">
                                      <p:cBhvr>
                                        <p:cTn id="53" dur="500"/>
                                        <p:tgtEl>
                                          <p:spTgt spid="135"/>
                                        </p:tgtEl>
                                      </p:cBhvr>
                                    </p:animEffect>
                                  </p:childTnLst>
                                </p:cTn>
                              </p:par>
                              <p:par>
                                <p:cTn id="54" presetID="22" presetClass="entr" presetSubtype="4" fill="hold" nodeType="withEffect">
                                  <p:stCondLst>
                                    <p:cond delay="0"/>
                                  </p:stCondLst>
                                  <p:childTnLst>
                                    <p:set>
                                      <p:cBhvr>
                                        <p:cTn id="55" dur="1" fill="hold">
                                          <p:stCondLst>
                                            <p:cond delay="0"/>
                                          </p:stCondLst>
                                        </p:cTn>
                                        <p:tgtEl>
                                          <p:spTgt spid="136"/>
                                        </p:tgtEl>
                                        <p:attrNameLst>
                                          <p:attrName>style.visibility</p:attrName>
                                        </p:attrNameLst>
                                      </p:cBhvr>
                                      <p:to>
                                        <p:strVal val="visible"/>
                                      </p:to>
                                    </p:set>
                                    <p:animEffect transition="in" filter="wipe(down)">
                                      <p:cBhvr>
                                        <p:cTn id="56" dur="500"/>
                                        <p:tgtEl>
                                          <p:spTgt spid="136"/>
                                        </p:tgtEl>
                                      </p:cBhvr>
                                    </p:animEffect>
                                  </p:childTnLst>
                                </p:cTn>
                              </p:par>
                              <p:par>
                                <p:cTn id="57" presetID="22" presetClass="entr" presetSubtype="4" fill="hold" nodeType="withEffect">
                                  <p:stCondLst>
                                    <p:cond delay="0"/>
                                  </p:stCondLst>
                                  <p:childTnLst>
                                    <p:set>
                                      <p:cBhvr>
                                        <p:cTn id="58" dur="1" fill="hold">
                                          <p:stCondLst>
                                            <p:cond delay="0"/>
                                          </p:stCondLst>
                                        </p:cTn>
                                        <p:tgtEl>
                                          <p:spTgt spid="137"/>
                                        </p:tgtEl>
                                        <p:attrNameLst>
                                          <p:attrName>style.visibility</p:attrName>
                                        </p:attrNameLst>
                                      </p:cBhvr>
                                      <p:to>
                                        <p:strVal val="visible"/>
                                      </p:to>
                                    </p:set>
                                    <p:animEffect transition="in" filter="wipe(down)">
                                      <p:cBhvr>
                                        <p:cTn id="59" dur="500"/>
                                        <p:tgtEl>
                                          <p:spTgt spid="13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138"/>
                                        </p:tgtEl>
                                        <p:attrNameLst>
                                          <p:attrName>style.visibility</p:attrName>
                                        </p:attrNameLst>
                                      </p:cBhvr>
                                      <p:to>
                                        <p:strVal val="visible"/>
                                      </p:to>
                                    </p:set>
                                    <p:animEffect transition="in" filter="wipe(down)">
                                      <p:cBhvr>
                                        <p:cTn id="64" dur="500"/>
                                        <p:tgtEl>
                                          <p:spTgt spid="138"/>
                                        </p:tgtEl>
                                      </p:cBhvr>
                                    </p:animEffect>
                                  </p:childTnLst>
                                </p:cTn>
                              </p:par>
                              <p:par>
                                <p:cTn id="65" presetID="22" presetClass="entr" presetSubtype="4" fill="hold" nodeType="withEffect">
                                  <p:stCondLst>
                                    <p:cond delay="0"/>
                                  </p:stCondLst>
                                  <p:childTnLst>
                                    <p:set>
                                      <p:cBhvr>
                                        <p:cTn id="66" dur="1" fill="hold">
                                          <p:stCondLst>
                                            <p:cond delay="0"/>
                                          </p:stCondLst>
                                        </p:cTn>
                                        <p:tgtEl>
                                          <p:spTgt spid="140"/>
                                        </p:tgtEl>
                                        <p:attrNameLst>
                                          <p:attrName>style.visibility</p:attrName>
                                        </p:attrNameLst>
                                      </p:cBhvr>
                                      <p:to>
                                        <p:strVal val="visible"/>
                                      </p:to>
                                    </p:set>
                                    <p:animEffect transition="in" filter="wipe(down)">
                                      <p:cBhvr>
                                        <p:cTn id="67" dur="500"/>
                                        <p:tgtEl>
                                          <p:spTgt spid="140"/>
                                        </p:tgtEl>
                                      </p:cBhvr>
                                    </p:animEffect>
                                  </p:childTnLst>
                                </p:cTn>
                              </p:par>
                              <p:par>
                                <p:cTn id="68" presetID="22" presetClass="entr" presetSubtype="4" fill="hold" nodeType="withEffect">
                                  <p:stCondLst>
                                    <p:cond delay="0"/>
                                  </p:stCondLst>
                                  <p:childTnLst>
                                    <p:set>
                                      <p:cBhvr>
                                        <p:cTn id="69" dur="1" fill="hold">
                                          <p:stCondLst>
                                            <p:cond delay="0"/>
                                          </p:stCondLst>
                                        </p:cTn>
                                        <p:tgtEl>
                                          <p:spTgt spid="139"/>
                                        </p:tgtEl>
                                        <p:attrNameLst>
                                          <p:attrName>style.visibility</p:attrName>
                                        </p:attrNameLst>
                                      </p:cBhvr>
                                      <p:to>
                                        <p:strVal val="visible"/>
                                      </p:to>
                                    </p:set>
                                    <p:animEffect transition="in" filter="wipe(down)">
                                      <p:cBhvr>
                                        <p:cTn id="70" dur="500"/>
                                        <p:tgtEl>
                                          <p:spTgt spid="139"/>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145"/>
                                        </p:tgtEl>
                                        <p:attrNameLst>
                                          <p:attrName>style.visibility</p:attrName>
                                        </p:attrNameLst>
                                      </p:cBhvr>
                                      <p:to>
                                        <p:strVal val="visible"/>
                                      </p:to>
                                    </p:set>
                                    <p:animEffect transition="in" filter="wipe(down)">
                                      <p:cBhvr>
                                        <p:cTn id="73"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 grpId="0"/>
      <p:bldP spid="144" grpId="0"/>
      <p:bldP spid="14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Web Server Clusters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An important problem related to the client-server nature of the Web is that a Web server can easily become overloaded. </a:t>
            </a:r>
          </a:p>
          <a:p>
            <a:pPr>
              <a:lnSpc>
                <a:spcPct val="100000"/>
              </a:lnSpc>
            </a:pPr>
            <a:r>
              <a:rPr lang="en-US" dirty="0"/>
              <a:t>A practical solution employed in many designs is to simply replicate a server on a cluster of servers.</a:t>
            </a:r>
          </a:p>
          <a:p>
            <a:pPr>
              <a:lnSpc>
                <a:spcPct val="100000"/>
              </a:lnSpc>
            </a:pPr>
            <a:r>
              <a:rPr lang="en-US" dirty="0"/>
              <a:t>This principle is an example of horizontal distribution.</a:t>
            </a:r>
          </a:p>
          <a:p>
            <a:pPr>
              <a:lnSpc>
                <a:spcPct val="100000"/>
              </a:lnSpc>
            </a:pPr>
            <a:r>
              <a:rPr lang="en-US" dirty="0"/>
              <a:t>The design of the front end becomes a serious performance bottleneck.</a:t>
            </a:r>
          </a:p>
          <a:p>
            <a:pPr>
              <a:lnSpc>
                <a:spcPct val="100000"/>
              </a:lnSpc>
            </a:pPr>
            <a:r>
              <a:rPr lang="en-US" dirty="0"/>
              <a:t>Whenever a client issues an HTTP request, it sets up a TCP connection to the server</a:t>
            </a:r>
            <a:r>
              <a:rPr lang="en-US" dirty="0" smtClean="0"/>
              <a:t>.</a:t>
            </a:r>
            <a:endParaRPr lang="en-US" sz="2400" dirty="0"/>
          </a:p>
        </p:txBody>
      </p:sp>
    </p:spTree>
    <p:extLst>
      <p:ext uri="{BB962C8B-B14F-4D97-AF65-F5344CB8AC3E}">
        <p14:creationId xmlns:p14="http://schemas.microsoft.com/office/powerpoint/2010/main" val="1989173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Web Server Clusters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smtClean="0"/>
              <a:t>A </a:t>
            </a:r>
            <a:r>
              <a:rPr lang="en-US" dirty="0"/>
              <a:t>better approach is to deploy content-aware request distribution by which,</a:t>
            </a:r>
          </a:p>
          <a:p>
            <a:pPr lvl="2"/>
            <a:r>
              <a:rPr lang="en-US" sz="2400" dirty="0"/>
              <a:t>The front end first inspects an incoming HTTP request</a:t>
            </a:r>
          </a:p>
          <a:p>
            <a:pPr lvl="2"/>
            <a:r>
              <a:rPr lang="en-US" sz="2400" dirty="0"/>
              <a:t>Then decides which server it should forward that request</a:t>
            </a:r>
          </a:p>
          <a:p>
            <a:pPr>
              <a:lnSpc>
                <a:spcPct val="100000"/>
              </a:lnSpc>
            </a:pPr>
            <a:r>
              <a:rPr lang="en-US" dirty="0"/>
              <a:t>In combination with TCP handoff, the front end has two tasks.</a:t>
            </a:r>
          </a:p>
          <a:p>
            <a:pPr marL="1371600" lvl="2" indent="-457200">
              <a:buFont typeface="+mj-lt"/>
              <a:buAutoNum type="arabicPeriod"/>
            </a:pPr>
            <a:r>
              <a:rPr lang="en-US" sz="2400" dirty="0"/>
              <a:t>When a request initially comes in, it must decide which server will handle the rest of the communication with the client.</a:t>
            </a:r>
          </a:p>
          <a:p>
            <a:pPr marL="1371600" lvl="2" indent="-457200">
              <a:buFont typeface="+mj-lt"/>
              <a:buAutoNum type="arabicPeriod"/>
            </a:pPr>
            <a:r>
              <a:rPr lang="en-US" sz="2400" dirty="0"/>
              <a:t>The front end should forward the client's TCP messages associated with the handed off TCP connection</a:t>
            </a:r>
            <a:r>
              <a:rPr lang="en-US" sz="2400" dirty="0" smtClean="0"/>
              <a:t>.</a:t>
            </a:r>
          </a:p>
          <a:p>
            <a:pPr marL="265113" lvl="2" indent="-265113">
              <a:lnSpc>
                <a:spcPct val="100000"/>
              </a:lnSpc>
              <a:spcBef>
                <a:spcPts val="1000"/>
              </a:spcBef>
              <a:buFont typeface="Webdings" panose="05030102010509060703" pitchFamily="18" charset="2"/>
              <a:buChar char=""/>
            </a:pPr>
            <a:r>
              <a:rPr lang="en-US" sz="2400" dirty="0"/>
              <a:t>The dispatcher is responsible for deciding to which server a TCP connection should be handed off.</a:t>
            </a:r>
          </a:p>
          <a:p>
            <a:pPr marL="265113" lvl="2" indent="-265113">
              <a:lnSpc>
                <a:spcPct val="100000"/>
              </a:lnSpc>
              <a:spcBef>
                <a:spcPts val="1000"/>
              </a:spcBef>
              <a:buFont typeface="Webdings" panose="05030102010509060703" pitchFamily="18" charset="2"/>
              <a:buChar char=""/>
            </a:pPr>
            <a:r>
              <a:rPr lang="en-US" sz="2400" dirty="0"/>
              <a:t>The switch is used to forward TCP messages to a distributor.</a:t>
            </a:r>
          </a:p>
        </p:txBody>
      </p:sp>
    </p:spTree>
    <p:extLst>
      <p:ext uri="{BB962C8B-B14F-4D97-AF65-F5344CB8AC3E}">
        <p14:creationId xmlns:p14="http://schemas.microsoft.com/office/powerpoint/2010/main" val="952993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Web Server Clusters</a:t>
            </a:r>
          </a:p>
        </p:txBody>
      </p:sp>
      <p:sp>
        <p:nvSpPr>
          <p:cNvPr id="5" name="Rectangle 4"/>
          <p:cNvSpPr/>
          <p:nvPr/>
        </p:nvSpPr>
        <p:spPr>
          <a:xfrm>
            <a:off x="1802228" y="5465889"/>
            <a:ext cx="6938054" cy="830997"/>
          </a:xfrm>
          <a:prstGeom prst="rect">
            <a:avLst/>
          </a:prstGeom>
          <a:solidFill>
            <a:srgbClr val="1D3064"/>
          </a:solidFill>
          <a:ln>
            <a:noFill/>
          </a:ln>
        </p:spPr>
        <p:txBody>
          <a:bodyPr wrap="square">
            <a:spAutoFit/>
          </a:bodyPr>
          <a:lstStyle/>
          <a:p>
            <a:pPr algn="ctr"/>
            <a:r>
              <a:rPr lang="en-US" altLang="en-US" sz="2400" dirty="0">
                <a:solidFill>
                  <a:schemeClr val="bg1"/>
                </a:solidFill>
              </a:rPr>
              <a:t>The principle of using a server cluster in combination with a front end to implement a Web service.</a:t>
            </a:r>
          </a:p>
        </p:txBody>
      </p:sp>
      <p:grpSp>
        <p:nvGrpSpPr>
          <p:cNvPr id="6" name="Group 5"/>
          <p:cNvGrpSpPr/>
          <p:nvPr/>
        </p:nvGrpSpPr>
        <p:grpSpPr>
          <a:xfrm>
            <a:off x="1497246" y="1192306"/>
            <a:ext cx="7153276" cy="1528650"/>
            <a:chOff x="878681" y="1447800"/>
            <a:chExt cx="7153276" cy="1528650"/>
          </a:xfrm>
        </p:grpSpPr>
        <p:sp>
          <p:nvSpPr>
            <p:cNvPr id="7" name="Rectangle 6"/>
            <p:cNvSpPr/>
            <p:nvPr/>
          </p:nvSpPr>
          <p:spPr>
            <a:xfrm>
              <a:off x="878681" y="1447800"/>
              <a:ext cx="1331119" cy="9906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Web</a:t>
              </a:r>
            </a:p>
            <a:p>
              <a:pPr algn="ctr"/>
              <a:r>
                <a:rPr lang="en-US" sz="2400" dirty="0"/>
                <a:t>Server</a:t>
              </a:r>
            </a:p>
          </p:txBody>
        </p:sp>
        <p:sp>
          <p:nvSpPr>
            <p:cNvPr id="8" name="Rectangle 7"/>
            <p:cNvSpPr/>
            <p:nvPr/>
          </p:nvSpPr>
          <p:spPr>
            <a:xfrm>
              <a:off x="2819400" y="1447800"/>
              <a:ext cx="1331119" cy="9906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Web</a:t>
              </a:r>
            </a:p>
            <a:p>
              <a:pPr algn="ctr"/>
              <a:r>
                <a:rPr lang="en-US" sz="2400" dirty="0"/>
                <a:t>Server</a:t>
              </a:r>
            </a:p>
          </p:txBody>
        </p:sp>
        <p:sp>
          <p:nvSpPr>
            <p:cNvPr id="9" name="Rectangle 8"/>
            <p:cNvSpPr/>
            <p:nvPr/>
          </p:nvSpPr>
          <p:spPr>
            <a:xfrm>
              <a:off x="4760119" y="1447800"/>
              <a:ext cx="1331119" cy="9906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a:t>Web</a:t>
              </a:r>
            </a:p>
            <a:p>
              <a:pPr algn="ctr"/>
              <a:r>
                <a:rPr lang="en-US" sz="2400"/>
                <a:t>Server</a:t>
              </a:r>
              <a:endParaRPr lang="en-US" sz="2400" dirty="0"/>
            </a:p>
          </p:txBody>
        </p:sp>
        <p:sp>
          <p:nvSpPr>
            <p:cNvPr id="10" name="Rectangle 9"/>
            <p:cNvSpPr/>
            <p:nvPr/>
          </p:nvSpPr>
          <p:spPr>
            <a:xfrm>
              <a:off x="6700838" y="1447800"/>
              <a:ext cx="1331119" cy="9906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a:t>Web</a:t>
              </a:r>
            </a:p>
            <a:p>
              <a:pPr algn="ctr"/>
              <a:r>
                <a:rPr lang="en-US" sz="2400"/>
                <a:t>Server</a:t>
              </a:r>
              <a:endParaRPr lang="en-US" sz="2400" dirty="0"/>
            </a:p>
          </p:txBody>
        </p:sp>
        <p:cxnSp>
          <p:nvCxnSpPr>
            <p:cNvPr id="11" name="Straight Connector 10"/>
            <p:cNvCxnSpPr/>
            <p:nvPr/>
          </p:nvCxnSpPr>
          <p:spPr>
            <a:xfrm>
              <a:off x="878681" y="2971800"/>
              <a:ext cx="715327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7" idx="2"/>
            </p:cNvCxnSpPr>
            <p:nvPr/>
          </p:nvCxnSpPr>
          <p:spPr>
            <a:xfrm flipH="1">
              <a:off x="1544240" y="2438400"/>
              <a:ext cx="1"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506730" y="2438400"/>
              <a:ext cx="1"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5469220" y="2443050"/>
              <a:ext cx="1"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7359535" y="2425247"/>
              <a:ext cx="1" cy="53340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6" name="Rectangle 15"/>
          <p:cNvSpPr/>
          <p:nvPr/>
        </p:nvSpPr>
        <p:spPr>
          <a:xfrm>
            <a:off x="4525004" y="3839123"/>
            <a:ext cx="1331119" cy="9906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Front end</a:t>
            </a:r>
          </a:p>
        </p:txBody>
      </p:sp>
      <p:cxnSp>
        <p:nvCxnSpPr>
          <p:cNvPr id="17" name="Straight Arrow Connector 16"/>
          <p:cNvCxnSpPr/>
          <p:nvPr/>
        </p:nvCxnSpPr>
        <p:spPr>
          <a:xfrm flipV="1">
            <a:off x="4885765" y="4852526"/>
            <a:ext cx="0" cy="3465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495365" y="4852526"/>
            <a:ext cx="0" cy="3465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653146" y="4829723"/>
            <a:ext cx="1030090" cy="400110"/>
          </a:xfrm>
          <a:prstGeom prst="rect">
            <a:avLst/>
          </a:prstGeom>
          <a:noFill/>
        </p:spPr>
        <p:txBody>
          <a:bodyPr wrap="none" rtlCol="0">
            <a:spAutoFit/>
          </a:bodyPr>
          <a:lstStyle/>
          <a:p>
            <a:r>
              <a:rPr lang="en-US" sz="2000" dirty="0"/>
              <a:t>Request</a:t>
            </a:r>
          </a:p>
        </p:txBody>
      </p:sp>
      <p:sp>
        <p:nvSpPr>
          <p:cNvPr id="20" name="TextBox 19"/>
          <p:cNvSpPr txBox="1"/>
          <p:nvPr/>
        </p:nvSpPr>
        <p:spPr>
          <a:xfrm>
            <a:off x="5848231" y="4829723"/>
            <a:ext cx="1182055" cy="400110"/>
          </a:xfrm>
          <a:prstGeom prst="rect">
            <a:avLst/>
          </a:prstGeom>
          <a:noFill/>
        </p:spPr>
        <p:txBody>
          <a:bodyPr wrap="none" rtlCol="0">
            <a:spAutoFit/>
          </a:bodyPr>
          <a:lstStyle/>
          <a:p>
            <a:r>
              <a:rPr lang="en-US" sz="2000" dirty="0"/>
              <a:t>Response</a:t>
            </a:r>
          </a:p>
        </p:txBody>
      </p:sp>
      <p:cxnSp>
        <p:nvCxnSpPr>
          <p:cNvPr id="21" name="Curved Connector 20"/>
          <p:cNvCxnSpPr>
            <a:endCxn id="16" idx="0"/>
          </p:cNvCxnSpPr>
          <p:nvPr/>
        </p:nvCxnSpPr>
        <p:spPr>
          <a:xfrm rot="16200000" flipH="1">
            <a:off x="4029675" y="2678234"/>
            <a:ext cx="1656218" cy="665559"/>
          </a:xfrm>
          <a:prstGeom prst="curvedConnector3">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Curved Connector 21"/>
          <p:cNvCxnSpPr>
            <a:endCxn id="16" idx="0"/>
          </p:cNvCxnSpPr>
          <p:nvPr/>
        </p:nvCxnSpPr>
        <p:spPr>
          <a:xfrm rot="5400000">
            <a:off x="4634798" y="2738673"/>
            <a:ext cx="1656217" cy="544683"/>
          </a:xfrm>
          <a:prstGeom prst="curvedConnector3">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Curved Connector 22"/>
          <p:cNvCxnSpPr>
            <a:stCxn id="7" idx="2"/>
            <a:endCxn id="16" idx="0"/>
          </p:cNvCxnSpPr>
          <p:nvPr/>
        </p:nvCxnSpPr>
        <p:spPr>
          <a:xfrm rot="16200000" flipH="1">
            <a:off x="2848577" y="1497135"/>
            <a:ext cx="1656217" cy="3027758"/>
          </a:xfrm>
          <a:prstGeom prst="curvedConnector3">
            <a:avLst>
              <a:gd name="adj1" fmla="val 50000"/>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Curved Connector 23"/>
          <p:cNvCxnSpPr>
            <a:stCxn id="10" idx="2"/>
            <a:endCxn id="16" idx="0"/>
          </p:cNvCxnSpPr>
          <p:nvPr/>
        </p:nvCxnSpPr>
        <p:spPr>
          <a:xfrm rot="5400000">
            <a:off x="5759656" y="1613815"/>
            <a:ext cx="1656217" cy="2794399"/>
          </a:xfrm>
          <a:prstGeom prst="curvedConnector3">
            <a:avLst>
              <a:gd name="adj1" fmla="val 50000"/>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370707" y="3460784"/>
            <a:ext cx="3158493" cy="1200329"/>
          </a:xfrm>
          <a:prstGeom prst="rect">
            <a:avLst/>
          </a:prstGeom>
          <a:noFill/>
        </p:spPr>
        <p:txBody>
          <a:bodyPr wrap="none" rtlCol="0">
            <a:spAutoFit/>
          </a:bodyPr>
          <a:lstStyle/>
          <a:p>
            <a:r>
              <a:rPr lang="en-US" sz="2400" dirty="0"/>
              <a:t>Front end handles</a:t>
            </a:r>
          </a:p>
          <a:p>
            <a:r>
              <a:rPr lang="en-US" sz="2400" dirty="0"/>
              <a:t>all incoming requests</a:t>
            </a:r>
          </a:p>
          <a:p>
            <a:r>
              <a:rPr lang="en-US" sz="2400" dirty="0"/>
              <a:t>and outgoing responses</a:t>
            </a:r>
          </a:p>
        </p:txBody>
      </p:sp>
      <p:sp>
        <p:nvSpPr>
          <p:cNvPr id="26" name="TextBox 25"/>
          <p:cNvSpPr txBox="1"/>
          <p:nvPr/>
        </p:nvSpPr>
        <p:spPr>
          <a:xfrm>
            <a:off x="8134026" y="2688436"/>
            <a:ext cx="606256" cy="400110"/>
          </a:xfrm>
          <a:prstGeom prst="rect">
            <a:avLst/>
          </a:prstGeom>
          <a:noFill/>
        </p:spPr>
        <p:txBody>
          <a:bodyPr wrap="none" rtlCol="0">
            <a:spAutoFit/>
          </a:bodyPr>
          <a:lstStyle/>
          <a:p>
            <a:r>
              <a:rPr lang="en-US" sz="2000" dirty="0"/>
              <a:t>LAN</a:t>
            </a:r>
          </a:p>
        </p:txBody>
      </p:sp>
    </p:spTree>
    <p:extLst>
      <p:ext uri="{BB962C8B-B14F-4D97-AF65-F5344CB8AC3E}">
        <p14:creationId xmlns:p14="http://schemas.microsoft.com/office/powerpoint/2010/main" val="1547037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down)">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wipe(down)">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down)">
                                      <p:cBhvr>
                                        <p:cTn id="23" dur="500"/>
                                        <p:tgtEl>
                                          <p:spTgt spid="17"/>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down)">
                                      <p:cBhvr>
                                        <p:cTn id="26" dur="500"/>
                                        <p:tgtEl>
                                          <p:spTgt spid="19"/>
                                        </p:tgtEl>
                                      </p:cBhvr>
                                    </p:animEffect>
                                  </p:childTnLst>
                                </p:cTn>
                              </p:par>
                              <p:par>
                                <p:cTn id="27" presetID="22" presetClass="entr" presetSubtype="4"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down)">
                                      <p:cBhvr>
                                        <p:cTn id="29" dur="500"/>
                                        <p:tgtEl>
                                          <p:spTgt spid="18"/>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down)">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down)">
                                      <p:cBhvr>
                                        <p:cTn id="37" dur="500"/>
                                        <p:tgtEl>
                                          <p:spTgt spid="23"/>
                                        </p:tgtEl>
                                      </p:cBhvr>
                                    </p:animEffect>
                                  </p:childTnLst>
                                </p:cTn>
                              </p:par>
                              <p:par>
                                <p:cTn id="38" presetID="22" presetClass="entr" presetSubtype="4"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down)">
                                      <p:cBhvr>
                                        <p:cTn id="40" dur="500"/>
                                        <p:tgtEl>
                                          <p:spTgt spid="21"/>
                                        </p:tgtEl>
                                      </p:cBhvr>
                                    </p:animEffect>
                                  </p:childTnLst>
                                </p:cTn>
                              </p:par>
                              <p:par>
                                <p:cTn id="41" presetID="22" presetClass="entr" presetSubtype="4"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down)">
                                      <p:cBhvr>
                                        <p:cTn id="43" dur="500"/>
                                        <p:tgtEl>
                                          <p:spTgt spid="22"/>
                                        </p:tgtEl>
                                      </p:cBhvr>
                                    </p:animEffect>
                                  </p:childTnLst>
                                </p:cTn>
                              </p:par>
                              <p:par>
                                <p:cTn id="44" presetID="22" presetClass="entr" presetSubtype="4" fill="hold"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down)">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down)">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19" grpId="0"/>
      <p:bldP spid="20" grpId="0"/>
      <p:bldP spid="25" grpId="0"/>
      <p:bldP spid="26"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Web Server Clusters</a:t>
            </a:r>
          </a:p>
        </p:txBody>
      </p:sp>
      <p:sp>
        <p:nvSpPr>
          <p:cNvPr id="27" name="Rectangle 26"/>
          <p:cNvSpPr/>
          <p:nvPr/>
        </p:nvSpPr>
        <p:spPr>
          <a:xfrm>
            <a:off x="3193461" y="5514788"/>
            <a:ext cx="5940891" cy="461665"/>
          </a:xfrm>
          <a:prstGeom prst="rect">
            <a:avLst/>
          </a:prstGeom>
          <a:solidFill>
            <a:srgbClr val="1D3064"/>
          </a:solidFill>
          <a:ln>
            <a:noFill/>
          </a:ln>
        </p:spPr>
        <p:txBody>
          <a:bodyPr wrap="square">
            <a:spAutoFit/>
          </a:bodyPr>
          <a:lstStyle/>
          <a:p>
            <a:pPr algn="ctr"/>
            <a:r>
              <a:rPr lang="en-US" altLang="en-US" sz="2400" dirty="0">
                <a:solidFill>
                  <a:schemeClr val="bg1"/>
                </a:solidFill>
              </a:rPr>
              <a:t>A scalable content-aware cluster of web servers</a:t>
            </a:r>
            <a:endParaRPr lang="en-US" sz="2400" dirty="0">
              <a:solidFill>
                <a:schemeClr val="bg1"/>
              </a:solidFill>
            </a:endParaRPr>
          </a:p>
        </p:txBody>
      </p:sp>
      <p:sp>
        <p:nvSpPr>
          <p:cNvPr id="28" name="Rectangle 27"/>
          <p:cNvSpPr/>
          <p:nvPr/>
        </p:nvSpPr>
        <p:spPr>
          <a:xfrm>
            <a:off x="1116105" y="2693894"/>
            <a:ext cx="990600" cy="10668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Client</a:t>
            </a:r>
          </a:p>
        </p:txBody>
      </p:sp>
      <p:sp>
        <p:nvSpPr>
          <p:cNvPr id="29" name="Rectangle 28"/>
          <p:cNvSpPr/>
          <p:nvPr/>
        </p:nvSpPr>
        <p:spPr>
          <a:xfrm>
            <a:off x="5840505" y="1246094"/>
            <a:ext cx="1201057" cy="1469614"/>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Web</a:t>
            </a:r>
          </a:p>
          <a:p>
            <a:pPr algn="ctr"/>
            <a:r>
              <a:rPr lang="en-US" sz="2000" dirty="0"/>
              <a:t>server</a:t>
            </a:r>
          </a:p>
        </p:txBody>
      </p:sp>
      <p:sp>
        <p:nvSpPr>
          <p:cNvPr id="30" name="Rectangle 29"/>
          <p:cNvSpPr/>
          <p:nvPr/>
        </p:nvSpPr>
        <p:spPr>
          <a:xfrm>
            <a:off x="3549062" y="2693894"/>
            <a:ext cx="990600" cy="10668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Switch</a:t>
            </a:r>
          </a:p>
        </p:txBody>
      </p:sp>
      <p:sp>
        <p:nvSpPr>
          <p:cNvPr id="31" name="Rectangle 30"/>
          <p:cNvSpPr/>
          <p:nvPr/>
        </p:nvSpPr>
        <p:spPr>
          <a:xfrm>
            <a:off x="8355105" y="2693894"/>
            <a:ext cx="990600" cy="10668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Dis-</a:t>
            </a:r>
            <a:r>
              <a:rPr lang="en-US" dirty="0" err="1"/>
              <a:t>patcher</a:t>
            </a:r>
            <a:endParaRPr lang="en-US" dirty="0"/>
          </a:p>
        </p:txBody>
      </p:sp>
      <p:sp>
        <p:nvSpPr>
          <p:cNvPr id="32" name="Rectangle 31"/>
          <p:cNvSpPr/>
          <p:nvPr/>
        </p:nvSpPr>
        <p:spPr>
          <a:xfrm>
            <a:off x="5840505" y="3643446"/>
            <a:ext cx="1201057" cy="1469614"/>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Web</a:t>
            </a:r>
          </a:p>
          <a:p>
            <a:pPr algn="ctr"/>
            <a:r>
              <a:rPr lang="en-US" sz="2000" dirty="0"/>
              <a:t>server</a:t>
            </a:r>
          </a:p>
        </p:txBody>
      </p:sp>
      <p:sp>
        <p:nvSpPr>
          <p:cNvPr id="33" name="TextBox 32"/>
          <p:cNvSpPr txBox="1"/>
          <p:nvPr/>
        </p:nvSpPr>
        <p:spPr>
          <a:xfrm>
            <a:off x="5822362" y="3630232"/>
            <a:ext cx="1219200" cy="369332"/>
          </a:xfrm>
          <a:prstGeom prst="rect">
            <a:avLst/>
          </a:prstGeom>
          <a:noFill/>
          <a:ln>
            <a:solidFill>
              <a:schemeClr val="tx2">
                <a:lumMod val="40000"/>
                <a:lumOff val="60000"/>
              </a:schemeClr>
            </a:solidFill>
          </a:ln>
        </p:spPr>
        <p:txBody>
          <a:bodyPr wrap="square" rtlCol="0">
            <a:spAutoFit/>
          </a:bodyPr>
          <a:lstStyle/>
          <a:p>
            <a:pPr algn="ctr"/>
            <a:r>
              <a:rPr lang="en-US" dirty="0"/>
              <a:t>Distributor</a:t>
            </a:r>
          </a:p>
        </p:txBody>
      </p:sp>
      <p:sp>
        <p:nvSpPr>
          <p:cNvPr id="34" name="TextBox 33"/>
          <p:cNvSpPr txBox="1"/>
          <p:nvPr/>
        </p:nvSpPr>
        <p:spPr>
          <a:xfrm>
            <a:off x="5829619" y="2325335"/>
            <a:ext cx="1219200" cy="369332"/>
          </a:xfrm>
          <a:prstGeom prst="rect">
            <a:avLst/>
          </a:prstGeom>
          <a:noFill/>
          <a:ln>
            <a:solidFill>
              <a:schemeClr val="tx2">
                <a:lumMod val="40000"/>
                <a:lumOff val="60000"/>
              </a:schemeClr>
            </a:solidFill>
          </a:ln>
        </p:spPr>
        <p:txBody>
          <a:bodyPr wrap="square" rtlCol="0">
            <a:spAutoFit/>
          </a:bodyPr>
          <a:lstStyle/>
          <a:p>
            <a:pPr algn="ctr"/>
            <a:r>
              <a:rPr lang="en-US" dirty="0"/>
              <a:t>Distributor</a:t>
            </a:r>
          </a:p>
        </p:txBody>
      </p:sp>
      <p:cxnSp>
        <p:nvCxnSpPr>
          <p:cNvPr id="35" name="Straight Arrow Connector 34"/>
          <p:cNvCxnSpPr/>
          <p:nvPr/>
        </p:nvCxnSpPr>
        <p:spPr>
          <a:xfrm flipV="1">
            <a:off x="2106705" y="2942160"/>
            <a:ext cx="1442357" cy="27154"/>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29" idx="1"/>
          </p:cNvCxnSpPr>
          <p:nvPr/>
        </p:nvCxnSpPr>
        <p:spPr>
          <a:xfrm flipV="1">
            <a:off x="4539662" y="1980901"/>
            <a:ext cx="1300843" cy="941594"/>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4557805" y="3683218"/>
            <a:ext cx="1295400" cy="278884"/>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flipV="1">
            <a:off x="4502924" y="3423445"/>
            <a:ext cx="1350281" cy="29062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2106705" y="3549475"/>
            <a:ext cx="1442357" cy="19281"/>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32" idx="3"/>
            <a:endCxn id="31" idx="1"/>
          </p:cNvCxnSpPr>
          <p:nvPr/>
        </p:nvCxnSpPr>
        <p:spPr>
          <a:xfrm flipV="1">
            <a:off x="7041562" y="3227294"/>
            <a:ext cx="1313543" cy="115095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40"/>
          <p:cNvCxnSpPr>
            <a:stCxn id="33" idx="0"/>
            <a:endCxn id="29" idx="3"/>
          </p:cNvCxnSpPr>
          <p:nvPr/>
        </p:nvCxnSpPr>
        <p:spPr>
          <a:xfrm rot="5400000" flipH="1" flipV="1">
            <a:off x="5912097" y="2500767"/>
            <a:ext cx="1649331" cy="609600"/>
          </a:xfrm>
          <a:prstGeom prst="curvedConnector4">
            <a:avLst>
              <a:gd name="adj1" fmla="val 27724"/>
              <a:gd name="adj2" fmla="val 222177"/>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41"/>
          <p:cNvCxnSpPr>
            <a:endCxn id="28" idx="0"/>
          </p:cNvCxnSpPr>
          <p:nvPr/>
        </p:nvCxnSpPr>
        <p:spPr>
          <a:xfrm rot="10800000" flipV="1">
            <a:off x="1611406" y="1373442"/>
            <a:ext cx="4210957" cy="1320451"/>
          </a:xfrm>
          <a:prstGeom prst="curved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2080916" y="3600735"/>
            <a:ext cx="1493935" cy="369332"/>
          </a:xfrm>
          <a:prstGeom prst="rect">
            <a:avLst/>
          </a:prstGeom>
          <a:noFill/>
        </p:spPr>
        <p:txBody>
          <a:bodyPr wrap="none" rtlCol="0">
            <a:spAutoFit/>
          </a:bodyPr>
          <a:lstStyle/>
          <a:p>
            <a:r>
              <a:rPr lang="en-US" dirty="0"/>
              <a:t>Setup request</a:t>
            </a:r>
          </a:p>
        </p:txBody>
      </p:sp>
      <p:sp>
        <p:nvSpPr>
          <p:cNvPr id="44" name="TextBox 43"/>
          <p:cNvSpPr txBox="1"/>
          <p:nvPr/>
        </p:nvSpPr>
        <p:spPr>
          <a:xfrm>
            <a:off x="2279256" y="2325335"/>
            <a:ext cx="1086836" cy="646331"/>
          </a:xfrm>
          <a:prstGeom prst="rect">
            <a:avLst/>
          </a:prstGeom>
          <a:noFill/>
        </p:spPr>
        <p:txBody>
          <a:bodyPr wrap="none" rtlCol="0">
            <a:spAutoFit/>
          </a:bodyPr>
          <a:lstStyle/>
          <a:p>
            <a:pPr algn="ctr"/>
            <a:r>
              <a:rPr lang="en-US" dirty="0"/>
              <a:t>Other </a:t>
            </a:r>
          </a:p>
          <a:p>
            <a:pPr algn="ctr"/>
            <a:r>
              <a:rPr lang="en-US" dirty="0"/>
              <a:t>messages</a:t>
            </a:r>
          </a:p>
        </p:txBody>
      </p:sp>
      <p:sp>
        <p:nvSpPr>
          <p:cNvPr id="45" name="TextBox 44"/>
          <p:cNvSpPr txBox="1"/>
          <p:nvPr/>
        </p:nvSpPr>
        <p:spPr>
          <a:xfrm>
            <a:off x="2792505" y="1079316"/>
            <a:ext cx="2008948" cy="369332"/>
          </a:xfrm>
          <a:prstGeom prst="rect">
            <a:avLst/>
          </a:prstGeom>
          <a:noFill/>
        </p:spPr>
        <p:txBody>
          <a:bodyPr wrap="none" rtlCol="0">
            <a:spAutoFit/>
          </a:bodyPr>
          <a:lstStyle/>
          <a:p>
            <a:pPr algn="ctr"/>
            <a:r>
              <a:rPr lang="en-US" dirty="0"/>
              <a:t>6. Server responses</a:t>
            </a:r>
          </a:p>
        </p:txBody>
      </p:sp>
      <p:sp>
        <p:nvSpPr>
          <p:cNvPr id="46" name="TextBox 45"/>
          <p:cNvSpPr txBox="1"/>
          <p:nvPr/>
        </p:nvSpPr>
        <p:spPr>
          <a:xfrm>
            <a:off x="3750985" y="1781436"/>
            <a:ext cx="1686359" cy="646331"/>
          </a:xfrm>
          <a:prstGeom prst="rect">
            <a:avLst/>
          </a:prstGeom>
          <a:noFill/>
        </p:spPr>
        <p:txBody>
          <a:bodyPr wrap="none" rtlCol="0">
            <a:spAutoFit/>
          </a:bodyPr>
          <a:lstStyle/>
          <a:p>
            <a:r>
              <a:rPr lang="en-US" dirty="0"/>
              <a:t>5. Forward</a:t>
            </a:r>
          </a:p>
          <a:p>
            <a:r>
              <a:rPr lang="en-US" dirty="0"/>
              <a:t>Other messages</a:t>
            </a:r>
          </a:p>
        </p:txBody>
      </p:sp>
      <p:sp>
        <p:nvSpPr>
          <p:cNvPr id="47" name="TextBox 46"/>
          <p:cNvSpPr txBox="1"/>
          <p:nvPr/>
        </p:nvSpPr>
        <p:spPr>
          <a:xfrm>
            <a:off x="7499225" y="1548222"/>
            <a:ext cx="1635128" cy="646331"/>
          </a:xfrm>
          <a:prstGeom prst="rect">
            <a:avLst/>
          </a:prstGeom>
          <a:noFill/>
        </p:spPr>
        <p:txBody>
          <a:bodyPr wrap="none" rtlCol="0">
            <a:spAutoFit/>
          </a:bodyPr>
          <a:lstStyle/>
          <a:p>
            <a:r>
              <a:rPr lang="en-US" dirty="0"/>
              <a:t>3. Hand off </a:t>
            </a:r>
          </a:p>
          <a:p>
            <a:r>
              <a:rPr lang="en-US" dirty="0"/>
              <a:t>TCP connection</a:t>
            </a:r>
          </a:p>
        </p:txBody>
      </p:sp>
      <p:sp>
        <p:nvSpPr>
          <p:cNvPr id="48" name="TextBox 47"/>
          <p:cNvSpPr txBox="1"/>
          <p:nvPr/>
        </p:nvSpPr>
        <p:spPr>
          <a:xfrm>
            <a:off x="7506698" y="3928904"/>
            <a:ext cx="2108141" cy="646331"/>
          </a:xfrm>
          <a:prstGeom prst="rect">
            <a:avLst/>
          </a:prstGeom>
          <a:noFill/>
        </p:spPr>
        <p:txBody>
          <a:bodyPr wrap="none" rtlCol="0">
            <a:spAutoFit/>
          </a:bodyPr>
          <a:lstStyle/>
          <a:p>
            <a:r>
              <a:rPr lang="en-US" dirty="0"/>
              <a:t>2. Dispatcher selects</a:t>
            </a:r>
          </a:p>
          <a:p>
            <a:r>
              <a:rPr lang="en-US" dirty="0"/>
              <a:t>server</a:t>
            </a:r>
          </a:p>
        </p:txBody>
      </p:sp>
      <p:sp>
        <p:nvSpPr>
          <p:cNvPr id="49" name="TextBox 48"/>
          <p:cNvSpPr txBox="1"/>
          <p:nvPr/>
        </p:nvSpPr>
        <p:spPr>
          <a:xfrm>
            <a:off x="4907887" y="2993640"/>
            <a:ext cx="1042465" cy="646331"/>
          </a:xfrm>
          <a:prstGeom prst="rect">
            <a:avLst/>
          </a:prstGeom>
          <a:noFill/>
        </p:spPr>
        <p:txBody>
          <a:bodyPr wrap="none" rtlCol="0">
            <a:spAutoFit/>
          </a:bodyPr>
          <a:lstStyle/>
          <a:p>
            <a:r>
              <a:rPr lang="en-US" dirty="0"/>
              <a:t>4. Inform</a:t>
            </a:r>
          </a:p>
          <a:p>
            <a:r>
              <a:rPr lang="en-US" dirty="0"/>
              <a:t>     switch</a:t>
            </a:r>
          </a:p>
        </p:txBody>
      </p:sp>
      <p:sp>
        <p:nvSpPr>
          <p:cNvPr id="50" name="TextBox 49"/>
          <p:cNvSpPr txBox="1"/>
          <p:nvPr/>
        </p:nvSpPr>
        <p:spPr>
          <a:xfrm>
            <a:off x="3440330" y="3908164"/>
            <a:ext cx="2280881" cy="646331"/>
          </a:xfrm>
          <a:prstGeom prst="rect">
            <a:avLst/>
          </a:prstGeom>
          <a:noFill/>
        </p:spPr>
        <p:txBody>
          <a:bodyPr wrap="none" rtlCol="0">
            <a:spAutoFit/>
          </a:bodyPr>
          <a:lstStyle/>
          <a:p>
            <a:pPr marL="342900" indent="-342900">
              <a:buAutoNum type="arabicPeriod"/>
            </a:pPr>
            <a:r>
              <a:rPr lang="en-US" dirty="0"/>
              <a:t>Pass setup request</a:t>
            </a:r>
          </a:p>
          <a:p>
            <a:r>
              <a:rPr lang="en-US" dirty="0"/>
              <a:t>       to a distributor</a:t>
            </a:r>
          </a:p>
        </p:txBody>
      </p:sp>
    </p:spTree>
    <p:extLst>
      <p:ext uri="{BB962C8B-B14F-4D97-AF65-F5344CB8AC3E}">
        <p14:creationId xmlns:p14="http://schemas.microsoft.com/office/powerpoint/2010/main" val="2435186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down)">
                                      <p:cBhvr>
                                        <p:cTn id="12" dur="500"/>
                                        <p:tgtEl>
                                          <p:spTgt spid="28"/>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down)">
                                      <p:cBhvr>
                                        <p:cTn id="15" dur="500"/>
                                        <p:tgtEl>
                                          <p:spTgt spid="30"/>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down)">
                                      <p:cBhvr>
                                        <p:cTn id="18" dur="500"/>
                                        <p:tgtEl>
                                          <p:spTgt spid="29"/>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ipe(down)">
                                      <p:cBhvr>
                                        <p:cTn id="21" dur="500"/>
                                        <p:tgtEl>
                                          <p:spTgt spid="32"/>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down)">
                                      <p:cBhvr>
                                        <p:cTn id="24" dur="500"/>
                                        <p:tgtEl>
                                          <p:spTgt spid="33"/>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down)">
                                      <p:cBhvr>
                                        <p:cTn id="27" dur="500"/>
                                        <p:tgtEl>
                                          <p:spTgt spid="34"/>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wipe(down)">
                                      <p:cBhvr>
                                        <p:cTn id="30" dur="500"/>
                                        <p:tgtEl>
                                          <p:spTgt spid="3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par>
                                <p:cTn id="36" presetID="22" presetClass="entr" presetSubtype="8" fill="hold"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wipe(left)">
                                      <p:cBhvr>
                                        <p:cTn id="38" dur="500"/>
                                        <p:tgtEl>
                                          <p:spTgt spid="35"/>
                                        </p:tgtEl>
                                      </p:cBhvr>
                                    </p:animEffect>
                                  </p:childTnLst>
                                </p:cTn>
                              </p:par>
                              <p:par>
                                <p:cTn id="39" presetID="22" presetClass="entr" presetSubtype="8" fill="hold" nodeType="with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wipe(left)">
                                      <p:cBhvr>
                                        <p:cTn id="41" dur="500"/>
                                        <p:tgtEl>
                                          <p:spTgt spid="39"/>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wipe(left)">
                                      <p:cBhvr>
                                        <p:cTn id="44" dur="500"/>
                                        <p:tgtEl>
                                          <p:spTgt spid="4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wipe(up)">
                                      <p:cBhvr>
                                        <p:cTn id="49" dur="500"/>
                                        <p:tgtEl>
                                          <p:spTgt spid="37"/>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wipe(up)">
                                      <p:cBhvr>
                                        <p:cTn id="52" dur="500"/>
                                        <p:tgtEl>
                                          <p:spTgt spid="5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48"/>
                                        </p:tgtEl>
                                        <p:attrNameLst>
                                          <p:attrName>style.visibility</p:attrName>
                                        </p:attrNameLst>
                                      </p:cBhvr>
                                      <p:to>
                                        <p:strVal val="visible"/>
                                      </p:to>
                                    </p:set>
                                    <p:animEffect transition="in" filter="wipe(down)">
                                      <p:cBhvr>
                                        <p:cTn id="57" dur="500"/>
                                        <p:tgtEl>
                                          <p:spTgt spid="48"/>
                                        </p:tgtEl>
                                      </p:cBhvr>
                                    </p:animEffect>
                                  </p:childTnLst>
                                </p:cTn>
                              </p:par>
                              <p:par>
                                <p:cTn id="58" presetID="22" presetClass="entr" presetSubtype="4" fill="hold"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wipe(down)">
                                      <p:cBhvr>
                                        <p:cTn id="60" dur="500"/>
                                        <p:tgtEl>
                                          <p:spTgt spid="4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wipe(down)">
                                      <p:cBhvr>
                                        <p:cTn id="65" dur="500"/>
                                        <p:tgtEl>
                                          <p:spTgt spid="41"/>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wipe(down)">
                                      <p:cBhvr>
                                        <p:cTn id="68" dur="500"/>
                                        <p:tgtEl>
                                          <p:spTgt spid="47"/>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49"/>
                                        </p:tgtEl>
                                        <p:attrNameLst>
                                          <p:attrName>style.visibility</p:attrName>
                                        </p:attrNameLst>
                                      </p:cBhvr>
                                      <p:to>
                                        <p:strVal val="visible"/>
                                      </p:to>
                                    </p:set>
                                    <p:animEffect transition="in" filter="wipe(down)">
                                      <p:cBhvr>
                                        <p:cTn id="73" dur="500"/>
                                        <p:tgtEl>
                                          <p:spTgt spid="49"/>
                                        </p:tgtEl>
                                      </p:cBhvr>
                                    </p:animEffect>
                                  </p:childTnLst>
                                </p:cTn>
                              </p:par>
                              <p:par>
                                <p:cTn id="74" presetID="22" presetClass="entr" presetSubtype="4" fill="hold" nodeType="withEffect">
                                  <p:stCondLst>
                                    <p:cond delay="0"/>
                                  </p:stCondLst>
                                  <p:childTnLst>
                                    <p:set>
                                      <p:cBhvr>
                                        <p:cTn id="75" dur="1" fill="hold">
                                          <p:stCondLst>
                                            <p:cond delay="0"/>
                                          </p:stCondLst>
                                        </p:cTn>
                                        <p:tgtEl>
                                          <p:spTgt spid="38"/>
                                        </p:tgtEl>
                                        <p:attrNameLst>
                                          <p:attrName>style.visibility</p:attrName>
                                        </p:attrNameLst>
                                      </p:cBhvr>
                                      <p:to>
                                        <p:strVal val="visible"/>
                                      </p:to>
                                    </p:set>
                                    <p:animEffect transition="in" filter="wipe(down)">
                                      <p:cBhvr>
                                        <p:cTn id="76" dur="500"/>
                                        <p:tgtEl>
                                          <p:spTgt spid="38"/>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nodeType="click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wipe(down)">
                                      <p:cBhvr>
                                        <p:cTn id="81" dur="500"/>
                                        <p:tgtEl>
                                          <p:spTgt spid="36"/>
                                        </p:tgtEl>
                                      </p:cBhvr>
                                    </p:animEffect>
                                  </p:childTnLst>
                                </p:cTn>
                              </p:par>
                              <p:par>
                                <p:cTn id="82" presetID="22" presetClass="entr" presetSubtype="4"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wipe(down)">
                                      <p:cBhvr>
                                        <p:cTn id="84" dur="500"/>
                                        <p:tgtEl>
                                          <p:spTgt spid="46"/>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2" fill="hold" nodeType="clickEffect">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wipe(right)">
                                      <p:cBhvr>
                                        <p:cTn id="89" dur="500"/>
                                        <p:tgtEl>
                                          <p:spTgt spid="42"/>
                                        </p:tgtEl>
                                      </p:cBhvr>
                                    </p:animEffect>
                                  </p:childTnLst>
                                </p:cTn>
                              </p:par>
                              <p:par>
                                <p:cTn id="90" presetID="22" presetClass="entr" presetSubtype="2" fill="hold" grpId="0" nodeType="withEffect">
                                  <p:stCondLst>
                                    <p:cond delay="0"/>
                                  </p:stCondLst>
                                  <p:childTnLst>
                                    <p:set>
                                      <p:cBhvr>
                                        <p:cTn id="91" dur="1" fill="hold">
                                          <p:stCondLst>
                                            <p:cond delay="0"/>
                                          </p:stCondLst>
                                        </p:cTn>
                                        <p:tgtEl>
                                          <p:spTgt spid="45"/>
                                        </p:tgtEl>
                                        <p:attrNameLst>
                                          <p:attrName>style.visibility</p:attrName>
                                        </p:attrNameLst>
                                      </p:cBhvr>
                                      <p:to>
                                        <p:strVal val="visible"/>
                                      </p:to>
                                    </p:set>
                                    <p:animEffect transition="in" filter="wipe(right)">
                                      <p:cBhvr>
                                        <p:cTn id="9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43" grpId="0"/>
      <p:bldP spid="44" grpId="0"/>
      <p:bldP spid="45" grpId="0"/>
      <p:bldP spid="46" grpId="0"/>
      <p:bldP spid="47" grpId="0"/>
      <p:bldP spid="48" grpId="0"/>
      <p:bldP spid="49" grpId="0"/>
      <p:bldP spid="50"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Connections</a:t>
            </a:r>
          </a:p>
        </p:txBody>
      </p:sp>
      <p:graphicFrame>
        <p:nvGraphicFramePr>
          <p:cNvPr id="51" name="Diagram 50"/>
          <p:cNvGraphicFramePr/>
          <p:nvPr>
            <p:extLst>
              <p:ext uri="{D42A27DB-BD31-4B8C-83A1-F6EECF244321}">
                <p14:modId xmlns:p14="http://schemas.microsoft.com/office/powerpoint/2010/main" val="1264018223"/>
              </p:ext>
            </p:extLst>
          </p:nvPr>
        </p:nvGraphicFramePr>
        <p:xfrm>
          <a:off x="1295400" y="1783977"/>
          <a:ext cx="8382000" cy="3276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492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
                                            <p:graphicEl>
                                              <a:dgm id="{B8F11015-8E9A-4244-8B17-5574E1E17B47}"/>
                                            </p:graphicEl>
                                          </p:spTgt>
                                        </p:tgtEl>
                                        <p:attrNameLst>
                                          <p:attrName>style.visibility</p:attrName>
                                        </p:attrNameLst>
                                      </p:cBhvr>
                                      <p:to>
                                        <p:strVal val="visible"/>
                                      </p:to>
                                    </p:set>
                                    <p:animEffect transition="in" filter="wipe(left)">
                                      <p:cBhvr>
                                        <p:cTn id="7" dur="500"/>
                                        <p:tgtEl>
                                          <p:spTgt spid="51">
                                            <p:graphicEl>
                                              <a:dgm id="{B8F11015-8E9A-4244-8B17-5574E1E17B47}"/>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
                                            <p:graphicEl>
                                              <a:dgm id="{86F91543-CDBD-4C1E-9647-EE63256E337F}"/>
                                            </p:graphicEl>
                                          </p:spTgt>
                                        </p:tgtEl>
                                        <p:attrNameLst>
                                          <p:attrName>style.visibility</p:attrName>
                                        </p:attrNameLst>
                                      </p:cBhvr>
                                      <p:to>
                                        <p:strVal val="visible"/>
                                      </p:to>
                                    </p:set>
                                    <p:animEffect transition="in" filter="wipe(left)">
                                      <p:cBhvr>
                                        <p:cTn id="12" dur="500"/>
                                        <p:tgtEl>
                                          <p:spTgt spid="51">
                                            <p:graphicEl>
                                              <a:dgm id="{86F91543-CDBD-4C1E-9647-EE63256E337F}"/>
                                            </p:graphic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1">
                                            <p:graphicEl>
                                              <a:dgm id="{A97312DD-0F8B-4CFA-A638-23DCD37F468E}"/>
                                            </p:graphicEl>
                                          </p:spTgt>
                                        </p:tgtEl>
                                        <p:attrNameLst>
                                          <p:attrName>style.visibility</p:attrName>
                                        </p:attrNameLst>
                                      </p:cBhvr>
                                      <p:to>
                                        <p:strVal val="visible"/>
                                      </p:to>
                                    </p:set>
                                    <p:animEffect transition="in" filter="wipe(left)">
                                      <p:cBhvr>
                                        <p:cTn id="15" dur="500"/>
                                        <p:tgtEl>
                                          <p:spTgt spid="51">
                                            <p:graphicEl>
                                              <a:dgm id="{A97312DD-0F8B-4CFA-A638-23DCD37F468E}"/>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1">
                                            <p:graphicEl>
                                              <a:dgm id="{9917C270-710C-4621-8646-00EB37130D5E}"/>
                                            </p:graphicEl>
                                          </p:spTgt>
                                        </p:tgtEl>
                                        <p:attrNameLst>
                                          <p:attrName>style.visibility</p:attrName>
                                        </p:attrNameLst>
                                      </p:cBhvr>
                                      <p:to>
                                        <p:strVal val="visible"/>
                                      </p:to>
                                    </p:set>
                                    <p:animEffect transition="in" filter="wipe(left)">
                                      <p:cBhvr>
                                        <p:cTn id="20" dur="500"/>
                                        <p:tgtEl>
                                          <p:spTgt spid="51">
                                            <p:graphicEl>
                                              <a:dgm id="{9917C270-710C-4621-8646-00EB37130D5E}"/>
                                            </p:graphic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51">
                                            <p:graphicEl>
                                              <a:dgm id="{87BC8AE3-1B31-4C9A-81F4-FB38A4BA4441}"/>
                                            </p:graphicEl>
                                          </p:spTgt>
                                        </p:tgtEl>
                                        <p:attrNameLst>
                                          <p:attrName>style.visibility</p:attrName>
                                        </p:attrNameLst>
                                      </p:cBhvr>
                                      <p:to>
                                        <p:strVal val="visible"/>
                                      </p:to>
                                    </p:set>
                                    <p:animEffect transition="in" filter="wipe(left)">
                                      <p:cBhvr>
                                        <p:cTn id="23" dur="500"/>
                                        <p:tgtEl>
                                          <p:spTgt spid="51">
                                            <p:graphicEl>
                                              <a:dgm id="{87BC8AE3-1B31-4C9A-81F4-FB38A4BA444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1" grpId="0">
        <p:bldSub>
          <a:bldDgm bld="one"/>
        </p:bldSub>
      </p:bldGraphic>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Hypertext Transfer Protocol (HTTP)</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HTTP is based on TCP.</a:t>
            </a:r>
          </a:p>
          <a:p>
            <a:pPr>
              <a:lnSpc>
                <a:spcPct val="100000"/>
              </a:lnSpc>
            </a:pPr>
            <a:r>
              <a:rPr lang="en-US" dirty="0"/>
              <a:t>Whenever a client issues a request to a server, </a:t>
            </a:r>
          </a:p>
          <a:p>
            <a:pPr lvl="2"/>
            <a:r>
              <a:rPr lang="en-US" sz="2400" dirty="0"/>
              <a:t>It first sets up a TCP connection to the server </a:t>
            </a:r>
          </a:p>
          <a:p>
            <a:pPr lvl="2"/>
            <a:r>
              <a:rPr lang="en-US" sz="2400" dirty="0"/>
              <a:t>Then sends its request message on that connection.</a:t>
            </a:r>
          </a:p>
          <a:p>
            <a:pPr>
              <a:lnSpc>
                <a:spcPct val="100000"/>
              </a:lnSpc>
            </a:pPr>
            <a:r>
              <a:rPr lang="en-US" dirty="0"/>
              <a:t>The same connection is used for receiving the response.</a:t>
            </a:r>
          </a:p>
          <a:p>
            <a:pPr>
              <a:lnSpc>
                <a:spcPct val="100000"/>
              </a:lnSpc>
            </a:pPr>
            <a:r>
              <a:rPr lang="en-US" dirty="0"/>
              <a:t>By using TCP as its underlying protocol, HTTP need not be concerned about lost request and responses.</a:t>
            </a:r>
          </a:p>
        </p:txBody>
      </p:sp>
    </p:spTree>
    <p:extLst>
      <p:ext uri="{BB962C8B-B14F-4D97-AF65-F5344CB8AC3E}">
        <p14:creationId xmlns:p14="http://schemas.microsoft.com/office/powerpoint/2010/main" val="477022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HTTP Methods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A client can request each of these operations to be carried out at the server by sending a request message containing the operation desired to the server.</a:t>
            </a:r>
          </a:p>
          <a:p>
            <a:pPr>
              <a:lnSpc>
                <a:spcPct val="100000"/>
              </a:lnSpc>
            </a:pPr>
            <a:r>
              <a:rPr lang="en-US" dirty="0"/>
              <a:t>Most commonly used request methods are as follows:</a:t>
            </a:r>
          </a:p>
        </p:txBody>
      </p:sp>
      <p:graphicFrame>
        <p:nvGraphicFramePr>
          <p:cNvPr id="4" name="Table 3"/>
          <p:cNvGraphicFramePr>
            <a:graphicFrameLocks noGrp="1"/>
          </p:cNvGraphicFramePr>
          <p:nvPr>
            <p:extLst>
              <p:ext uri="{D42A27DB-BD31-4B8C-83A1-F6EECF244321}">
                <p14:modId xmlns:p14="http://schemas.microsoft.com/office/powerpoint/2010/main" val="302814559"/>
              </p:ext>
            </p:extLst>
          </p:nvPr>
        </p:nvGraphicFramePr>
        <p:xfrm>
          <a:off x="860612" y="2459550"/>
          <a:ext cx="8765241" cy="601897"/>
        </p:xfrm>
        <a:graphic>
          <a:graphicData uri="http://schemas.openxmlformats.org/drawingml/2006/table">
            <a:tbl>
              <a:tblPr firstRow="1" bandRow="1">
                <a:tableStyleId>{5C22544A-7EE6-4342-B048-85BDC9FD1C3A}</a:tableStyleId>
              </a:tblPr>
              <a:tblGrid>
                <a:gridCol w="1667435">
                  <a:extLst>
                    <a:ext uri="{9D8B030D-6E8A-4147-A177-3AD203B41FA5}">
                      <a16:colId xmlns="" xmlns:a16="http://schemas.microsoft.com/office/drawing/2014/main" val="2702582030"/>
                    </a:ext>
                  </a:extLst>
                </a:gridCol>
                <a:gridCol w="7097806">
                  <a:extLst>
                    <a:ext uri="{9D8B030D-6E8A-4147-A177-3AD203B41FA5}">
                      <a16:colId xmlns="" xmlns:a16="http://schemas.microsoft.com/office/drawing/2014/main" val="1554071963"/>
                    </a:ext>
                  </a:extLst>
                </a:gridCol>
              </a:tblGrid>
              <a:tr h="601897">
                <a:tc>
                  <a:txBody>
                    <a:bodyPr/>
                    <a:lstStyle/>
                    <a:p>
                      <a:r>
                        <a:rPr lang="en-US" sz="2400" dirty="0"/>
                        <a:t>OPERATION</a:t>
                      </a:r>
                    </a:p>
                  </a:txBody>
                  <a:tcPr>
                    <a:solidFill>
                      <a:srgbClr val="1D3064"/>
                    </a:solidFill>
                  </a:tcPr>
                </a:tc>
                <a:tc>
                  <a:txBody>
                    <a:bodyPr/>
                    <a:lstStyle/>
                    <a:p>
                      <a:r>
                        <a:rPr lang="en-US" sz="2400" dirty="0"/>
                        <a:t>DESCRIPTION</a:t>
                      </a:r>
                    </a:p>
                  </a:txBody>
                  <a:tcPr>
                    <a:solidFill>
                      <a:srgbClr val="1D3064"/>
                    </a:solidFill>
                  </a:tcPr>
                </a:tc>
                <a:extLst>
                  <a:ext uri="{0D108BD9-81ED-4DB2-BD59-A6C34878D82A}">
                    <a16:rowId xmlns="" xmlns:a16="http://schemas.microsoft.com/office/drawing/2014/main" val="135974447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609279073"/>
              </p:ext>
            </p:extLst>
          </p:nvPr>
        </p:nvGraphicFramePr>
        <p:xfrm>
          <a:off x="860612" y="3061447"/>
          <a:ext cx="8765241" cy="2286000"/>
        </p:xfrm>
        <a:graphic>
          <a:graphicData uri="http://schemas.openxmlformats.org/drawingml/2006/table">
            <a:tbl>
              <a:tblPr firstRow="1" bandRow="1">
                <a:tableStyleId>{5C22544A-7EE6-4342-B048-85BDC9FD1C3A}</a:tableStyleId>
              </a:tblPr>
              <a:tblGrid>
                <a:gridCol w="1653988">
                  <a:extLst>
                    <a:ext uri="{9D8B030D-6E8A-4147-A177-3AD203B41FA5}">
                      <a16:colId xmlns="" xmlns:a16="http://schemas.microsoft.com/office/drawing/2014/main" val="2702582030"/>
                    </a:ext>
                  </a:extLst>
                </a:gridCol>
                <a:gridCol w="7111253">
                  <a:extLst>
                    <a:ext uri="{9D8B030D-6E8A-4147-A177-3AD203B41FA5}">
                      <a16:colId xmlns="" xmlns:a16="http://schemas.microsoft.com/office/drawing/2014/main" val="1554071963"/>
                    </a:ext>
                  </a:extLst>
                </a:gridCol>
              </a:tblGrid>
              <a:tr h="370840">
                <a:tc>
                  <a:txBody>
                    <a:bodyPr/>
                    <a:lstStyle/>
                    <a:p>
                      <a:pPr algn="just"/>
                      <a:r>
                        <a:rPr lang="en-US" sz="2400" b="0" kern="1200" dirty="0">
                          <a:solidFill>
                            <a:schemeClr val="tx1"/>
                          </a:solidFill>
                          <a:latin typeface="+mj-lt"/>
                          <a:ea typeface="Times New Roman" panose="02020603050405020304" pitchFamily="18" charset="0"/>
                          <a:cs typeface="Times New Roman" panose="02020603050405020304" pitchFamily="18" charset="0"/>
                        </a:rPr>
                        <a:t>Head</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400" b="0" kern="1200" dirty="0">
                          <a:solidFill>
                            <a:schemeClr val="tx1"/>
                          </a:solidFill>
                          <a:latin typeface="+mj-lt"/>
                          <a:ea typeface="Times New Roman" panose="02020603050405020304" pitchFamily="18" charset="0"/>
                          <a:cs typeface="Times New Roman" panose="02020603050405020304" pitchFamily="18" charset="0"/>
                        </a:rPr>
                        <a:t>Request to return the header of a document</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1359744470"/>
                  </a:ext>
                </a:extLst>
              </a:tr>
              <a:tr h="370840">
                <a:tc>
                  <a:txBody>
                    <a:bodyPr/>
                    <a:lstStyle/>
                    <a:p>
                      <a:pPr algn="just"/>
                      <a:r>
                        <a:rPr lang="en-US" sz="2400" b="0" kern="1200" dirty="0">
                          <a:solidFill>
                            <a:schemeClr val="tx1"/>
                          </a:solidFill>
                          <a:latin typeface="+mj-lt"/>
                          <a:ea typeface="Times New Roman" panose="02020603050405020304" pitchFamily="18" charset="0"/>
                          <a:cs typeface="Times New Roman" panose="02020603050405020304" pitchFamily="18" charset="0"/>
                        </a:rPr>
                        <a:t>Get</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400" b="0" kern="1200" dirty="0">
                          <a:solidFill>
                            <a:schemeClr val="tx1"/>
                          </a:solidFill>
                          <a:latin typeface="+mj-lt"/>
                          <a:ea typeface="Times New Roman" panose="02020603050405020304" pitchFamily="18" charset="0"/>
                          <a:cs typeface="Times New Roman" panose="02020603050405020304" pitchFamily="18" charset="0"/>
                        </a:rPr>
                        <a:t>Request to return a document to the client</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3579646676"/>
                  </a:ext>
                </a:extLst>
              </a:tr>
              <a:tr h="370840">
                <a:tc>
                  <a:txBody>
                    <a:bodyPr/>
                    <a:lstStyle/>
                    <a:p>
                      <a:pPr algn="just"/>
                      <a:r>
                        <a:rPr lang="en-US" sz="2400" b="0" kern="1200" dirty="0">
                          <a:solidFill>
                            <a:schemeClr val="tx1"/>
                          </a:solidFill>
                          <a:latin typeface="+mj-lt"/>
                          <a:ea typeface="Times New Roman" panose="02020603050405020304" pitchFamily="18" charset="0"/>
                          <a:cs typeface="Times New Roman" panose="02020603050405020304" pitchFamily="18" charset="0"/>
                        </a:rPr>
                        <a:t>Put</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400" b="0" kern="1200" dirty="0">
                          <a:solidFill>
                            <a:schemeClr val="tx1"/>
                          </a:solidFill>
                          <a:latin typeface="+mj-lt"/>
                          <a:ea typeface="Times New Roman" panose="02020603050405020304" pitchFamily="18" charset="0"/>
                          <a:cs typeface="Times New Roman" panose="02020603050405020304" pitchFamily="18" charset="0"/>
                        </a:rPr>
                        <a:t>Request to store a document</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2833013895"/>
                  </a:ext>
                </a:extLst>
              </a:tr>
              <a:tr h="370840">
                <a:tc>
                  <a:txBody>
                    <a:bodyPr/>
                    <a:lstStyle/>
                    <a:p>
                      <a:pPr algn="just"/>
                      <a:r>
                        <a:rPr lang="en-US" sz="2400" b="0" kern="1200" dirty="0">
                          <a:solidFill>
                            <a:schemeClr val="tx1"/>
                          </a:solidFill>
                          <a:latin typeface="+mj-lt"/>
                          <a:ea typeface="Times New Roman" panose="02020603050405020304" pitchFamily="18" charset="0"/>
                          <a:cs typeface="Times New Roman" panose="02020603050405020304" pitchFamily="18" charset="0"/>
                        </a:rPr>
                        <a:t>Post</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400" b="0" kern="1200" dirty="0">
                          <a:solidFill>
                            <a:schemeClr val="tx1"/>
                          </a:solidFill>
                          <a:latin typeface="+mj-lt"/>
                          <a:ea typeface="Times New Roman" panose="02020603050405020304" pitchFamily="18" charset="0"/>
                          <a:cs typeface="Times New Roman" panose="02020603050405020304" pitchFamily="18" charset="0"/>
                        </a:rPr>
                        <a:t>Provide data that</a:t>
                      </a:r>
                      <a:r>
                        <a:rPr lang="en-US" sz="2400" b="0" kern="1200" baseline="0" dirty="0">
                          <a:solidFill>
                            <a:schemeClr val="tx1"/>
                          </a:solidFill>
                          <a:latin typeface="+mj-lt"/>
                          <a:ea typeface="Times New Roman" panose="02020603050405020304" pitchFamily="18" charset="0"/>
                          <a:cs typeface="Times New Roman" panose="02020603050405020304" pitchFamily="18" charset="0"/>
                        </a:rPr>
                        <a:t> are to be added to a document</a:t>
                      </a:r>
                      <a:endParaRPr lang="en-US" sz="2400" b="0" kern="1200" dirty="0">
                        <a:solidFill>
                          <a:schemeClr val="tx1"/>
                        </a:solidFill>
                        <a:latin typeface="+mj-lt"/>
                        <a:ea typeface="Times New Roman" panose="02020603050405020304" pitchFamily="18" charset="0"/>
                        <a:cs typeface="Times New Roman" panose="02020603050405020304" pitchFamily="18" charset="0"/>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3836887070"/>
                  </a:ext>
                </a:extLst>
              </a:tr>
              <a:tr h="370840">
                <a:tc>
                  <a:txBody>
                    <a:bodyPr/>
                    <a:lstStyle/>
                    <a:p>
                      <a:pPr algn="just"/>
                      <a:r>
                        <a:rPr lang="en-US" sz="2400" b="0" kern="1200" dirty="0">
                          <a:solidFill>
                            <a:schemeClr val="tx1"/>
                          </a:solidFill>
                          <a:latin typeface="+mj-lt"/>
                          <a:ea typeface="Times New Roman" panose="02020603050405020304" pitchFamily="18" charset="0"/>
                          <a:cs typeface="Times New Roman" panose="02020603050405020304" pitchFamily="18" charset="0"/>
                        </a:rPr>
                        <a:t>Delete</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400" b="0" kern="1200" dirty="0">
                          <a:solidFill>
                            <a:schemeClr val="tx1"/>
                          </a:solidFill>
                          <a:latin typeface="+mj-lt"/>
                          <a:ea typeface="Times New Roman" panose="02020603050405020304" pitchFamily="18" charset="0"/>
                          <a:cs typeface="Times New Roman" panose="02020603050405020304" pitchFamily="18" charset="0"/>
                        </a:rPr>
                        <a:t>Request to delete document</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2194511319"/>
                  </a:ext>
                </a:extLst>
              </a:tr>
            </a:tbl>
          </a:graphicData>
        </a:graphic>
      </p:graphicFrame>
    </p:spTree>
    <p:extLst>
      <p:ext uri="{BB962C8B-B14F-4D97-AF65-F5344CB8AC3E}">
        <p14:creationId xmlns:p14="http://schemas.microsoft.com/office/powerpoint/2010/main" val="1069636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HTTP Messages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All communication between a client and server takes place through messages.</a:t>
            </a:r>
          </a:p>
          <a:p>
            <a:pPr>
              <a:lnSpc>
                <a:spcPct val="100000"/>
              </a:lnSpc>
            </a:pPr>
            <a:r>
              <a:rPr lang="en-US" dirty="0"/>
              <a:t>HTTP recognizes only request and response messages.</a:t>
            </a:r>
          </a:p>
        </p:txBody>
      </p:sp>
      <p:sp>
        <p:nvSpPr>
          <p:cNvPr id="6" name="Rectangle 5"/>
          <p:cNvSpPr/>
          <p:nvPr/>
        </p:nvSpPr>
        <p:spPr>
          <a:xfrm>
            <a:off x="5104909" y="2895601"/>
            <a:ext cx="228600" cy="381000"/>
          </a:xfrm>
          <a:prstGeom prst="rect">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sp>
        <p:nvSpPr>
          <p:cNvPr id="7" name="TextBox 6"/>
          <p:cNvSpPr txBox="1"/>
          <p:nvPr/>
        </p:nvSpPr>
        <p:spPr>
          <a:xfrm>
            <a:off x="7581860" y="2852426"/>
            <a:ext cx="1469313" cy="400110"/>
          </a:xfrm>
          <a:prstGeom prst="rect">
            <a:avLst/>
          </a:prstGeom>
          <a:noFill/>
        </p:spPr>
        <p:txBody>
          <a:bodyPr wrap="none" rtlCol="0">
            <a:spAutoFit/>
          </a:bodyPr>
          <a:lstStyle/>
          <a:p>
            <a:r>
              <a:rPr lang="en-US" sz="2000" dirty="0"/>
              <a:t>Request line</a:t>
            </a:r>
          </a:p>
        </p:txBody>
      </p:sp>
      <p:sp>
        <p:nvSpPr>
          <p:cNvPr id="8" name="TextBox 7"/>
          <p:cNvSpPr txBox="1"/>
          <p:nvPr/>
        </p:nvSpPr>
        <p:spPr>
          <a:xfrm>
            <a:off x="7444002" y="5386135"/>
            <a:ext cx="1607171" cy="400110"/>
          </a:xfrm>
          <a:prstGeom prst="rect">
            <a:avLst/>
          </a:prstGeom>
          <a:noFill/>
        </p:spPr>
        <p:txBody>
          <a:bodyPr wrap="none" rtlCol="0">
            <a:spAutoFit/>
          </a:bodyPr>
          <a:lstStyle/>
          <a:p>
            <a:r>
              <a:rPr lang="en-US" sz="2000" dirty="0"/>
              <a:t>Request body</a:t>
            </a:r>
          </a:p>
        </p:txBody>
      </p:sp>
      <p:sp>
        <p:nvSpPr>
          <p:cNvPr id="9" name="TextBox 8"/>
          <p:cNvSpPr txBox="1"/>
          <p:nvPr/>
        </p:nvSpPr>
        <p:spPr>
          <a:xfrm>
            <a:off x="7106949" y="3865278"/>
            <a:ext cx="2050690" cy="707886"/>
          </a:xfrm>
          <a:prstGeom prst="rect">
            <a:avLst/>
          </a:prstGeom>
          <a:noFill/>
        </p:spPr>
        <p:txBody>
          <a:bodyPr wrap="none" rtlCol="0">
            <a:spAutoFit/>
          </a:bodyPr>
          <a:lstStyle/>
          <a:p>
            <a:pPr algn="ctr"/>
            <a:r>
              <a:rPr lang="en-US" sz="2000" dirty="0"/>
              <a:t>Request message </a:t>
            </a:r>
          </a:p>
          <a:p>
            <a:pPr algn="ctr"/>
            <a:r>
              <a:rPr lang="en-US" sz="2000" dirty="0"/>
              <a:t>header</a:t>
            </a:r>
          </a:p>
        </p:txBody>
      </p:sp>
      <p:sp>
        <p:nvSpPr>
          <p:cNvPr id="10" name="TextBox 9"/>
          <p:cNvSpPr txBox="1"/>
          <p:nvPr/>
        </p:nvSpPr>
        <p:spPr>
          <a:xfrm>
            <a:off x="3569784" y="2247149"/>
            <a:ext cx="1154932" cy="400110"/>
          </a:xfrm>
          <a:prstGeom prst="rect">
            <a:avLst/>
          </a:prstGeom>
          <a:noFill/>
        </p:spPr>
        <p:txBody>
          <a:bodyPr wrap="none" rtlCol="0">
            <a:spAutoFit/>
          </a:bodyPr>
          <a:lstStyle/>
          <a:p>
            <a:r>
              <a:rPr lang="en-US" sz="2000" dirty="0"/>
              <a:t>Delimiter</a:t>
            </a:r>
          </a:p>
        </p:txBody>
      </p:sp>
      <p:sp>
        <p:nvSpPr>
          <p:cNvPr id="11" name="Rectangle 10"/>
          <p:cNvSpPr/>
          <p:nvPr/>
        </p:nvSpPr>
        <p:spPr>
          <a:xfrm>
            <a:off x="1322294" y="5000181"/>
            <a:ext cx="4191000" cy="1172019"/>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sp>
        <p:nvSpPr>
          <p:cNvPr id="12" name="Right Brace 11"/>
          <p:cNvSpPr/>
          <p:nvPr/>
        </p:nvSpPr>
        <p:spPr>
          <a:xfrm>
            <a:off x="6199094" y="3352801"/>
            <a:ext cx="510566" cy="161734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 name="Straight Arrow Connector 12"/>
          <p:cNvCxnSpPr>
            <a:endCxn id="17" idx="0"/>
          </p:cNvCxnSpPr>
          <p:nvPr/>
        </p:nvCxnSpPr>
        <p:spPr>
          <a:xfrm flipH="1">
            <a:off x="3205465" y="2647259"/>
            <a:ext cx="631429" cy="2483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322294" y="2895601"/>
            <a:ext cx="17526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Operation</a:t>
            </a:r>
          </a:p>
        </p:txBody>
      </p:sp>
      <p:sp>
        <p:nvSpPr>
          <p:cNvPr id="15" name="Rectangle 14"/>
          <p:cNvSpPr/>
          <p:nvPr/>
        </p:nvSpPr>
        <p:spPr>
          <a:xfrm>
            <a:off x="3336037" y="2895601"/>
            <a:ext cx="17526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Reference</a:t>
            </a:r>
          </a:p>
        </p:txBody>
      </p:sp>
      <p:sp>
        <p:nvSpPr>
          <p:cNvPr id="16" name="Rectangle 15"/>
          <p:cNvSpPr/>
          <p:nvPr/>
        </p:nvSpPr>
        <p:spPr>
          <a:xfrm>
            <a:off x="5343929" y="2895601"/>
            <a:ext cx="17526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Version</a:t>
            </a:r>
          </a:p>
        </p:txBody>
      </p:sp>
      <p:sp>
        <p:nvSpPr>
          <p:cNvPr id="17" name="Rectangle 16"/>
          <p:cNvSpPr/>
          <p:nvPr/>
        </p:nvSpPr>
        <p:spPr>
          <a:xfrm>
            <a:off x="3091165" y="2895601"/>
            <a:ext cx="228600" cy="381000"/>
          </a:xfrm>
          <a:prstGeom prst="rect">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sp>
        <p:nvSpPr>
          <p:cNvPr id="18" name="Rectangle 17"/>
          <p:cNvSpPr/>
          <p:nvPr/>
        </p:nvSpPr>
        <p:spPr>
          <a:xfrm>
            <a:off x="7106949" y="2895601"/>
            <a:ext cx="228600" cy="381000"/>
          </a:xfrm>
          <a:prstGeom prst="rect">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cxnSp>
        <p:nvCxnSpPr>
          <p:cNvPr id="19" name="Straight Arrow Connector 18"/>
          <p:cNvCxnSpPr>
            <a:endCxn id="6" idx="0"/>
          </p:cNvCxnSpPr>
          <p:nvPr/>
        </p:nvCxnSpPr>
        <p:spPr>
          <a:xfrm>
            <a:off x="4384003" y="2637980"/>
            <a:ext cx="835206" cy="25762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1322294" y="3276601"/>
            <a:ext cx="4713980" cy="1723581"/>
            <a:chOff x="1066800" y="3276601"/>
            <a:chExt cx="4713980" cy="1723581"/>
          </a:xfrm>
        </p:grpSpPr>
        <p:sp>
          <p:nvSpPr>
            <p:cNvPr id="21" name="Rectangle 20"/>
            <p:cNvSpPr/>
            <p:nvPr/>
          </p:nvSpPr>
          <p:spPr>
            <a:xfrm>
              <a:off x="1066800" y="3276601"/>
              <a:ext cx="2694385"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Message header name</a:t>
              </a:r>
            </a:p>
          </p:txBody>
        </p:sp>
        <p:sp>
          <p:nvSpPr>
            <p:cNvPr id="22" name="Rectangle 21"/>
            <p:cNvSpPr/>
            <p:nvPr/>
          </p:nvSpPr>
          <p:spPr>
            <a:xfrm>
              <a:off x="4022328" y="3276601"/>
              <a:ext cx="151358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Value</a:t>
              </a:r>
            </a:p>
          </p:txBody>
        </p:sp>
        <p:sp>
          <p:nvSpPr>
            <p:cNvPr id="23" name="Rectangle 22"/>
            <p:cNvSpPr/>
            <p:nvPr/>
          </p:nvSpPr>
          <p:spPr>
            <a:xfrm>
              <a:off x="3777456" y="3276601"/>
              <a:ext cx="228600" cy="381000"/>
            </a:xfrm>
            <a:prstGeom prst="rect">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sp>
          <p:nvSpPr>
            <p:cNvPr id="24" name="Rectangle 23"/>
            <p:cNvSpPr/>
            <p:nvPr/>
          </p:nvSpPr>
          <p:spPr>
            <a:xfrm>
              <a:off x="5552180" y="3276601"/>
              <a:ext cx="228600" cy="381000"/>
            </a:xfrm>
            <a:prstGeom prst="rect">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sp>
          <p:nvSpPr>
            <p:cNvPr id="25" name="Rectangle 24"/>
            <p:cNvSpPr/>
            <p:nvPr/>
          </p:nvSpPr>
          <p:spPr>
            <a:xfrm>
              <a:off x="1066800" y="3657601"/>
              <a:ext cx="2694385"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Message header name</a:t>
              </a:r>
            </a:p>
          </p:txBody>
        </p:sp>
        <p:sp>
          <p:nvSpPr>
            <p:cNvPr id="26" name="Rectangle 25"/>
            <p:cNvSpPr/>
            <p:nvPr/>
          </p:nvSpPr>
          <p:spPr>
            <a:xfrm>
              <a:off x="4022328" y="3657601"/>
              <a:ext cx="151358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Value</a:t>
              </a:r>
            </a:p>
          </p:txBody>
        </p:sp>
        <p:sp>
          <p:nvSpPr>
            <p:cNvPr id="27" name="Rectangle 26"/>
            <p:cNvSpPr/>
            <p:nvPr/>
          </p:nvSpPr>
          <p:spPr>
            <a:xfrm>
              <a:off x="3777456" y="3657601"/>
              <a:ext cx="228600" cy="381000"/>
            </a:xfrm>
            <a:prstGeom prst="rect">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sp>
          <p:nvSpPr>
            <p:cNvPr id="28" name="Rectangle 27"/>
            <p:cNvSpPr/>
            <p:nvPr/>
          </p:nvSpPr>
          <p:spPr>
            <a:xfrm>
              <a:off x="5552180" y="3657601"/>
              <a:ext cx="228600" cy="381000"/>
            </a:xfrm>
            <a:prstGeom prst="rect">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sp>
          <p:nvSpPr>
            <p:cNvPr id="29" name="Rectangle 28"/>
            <p:cNvSpPr/>
            <p:nvPr/>
          </p:nvSpPr>
          <p:spPr>
            <a:xfrm>
              <a:off x="1066800" y="4619182"/>
              <a:ext cx="2694385"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Message header name</a:t>
              </a:r>
            </a:p>
          </p:txBody>
        </p:sp>
        <p:sp>
          <p:nvSpPr>
            <p:cNvPr id="30" name="Rectangle 29"/>
            <p:cNvSpPr/>
            <p:nvPr/>
          </p:nvSpPr>
          <p:spPr>
            <a:xfrm>
              <a:off x="4022328" y="4619182"/>
              <a:ext cx="151358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Value</a:t>
              </a:r>
            </a:p>
          </p:txBody>
        </p:sp>
        <p:sp>
          <p:nvSpPr>
            <p:cNvPr id="31" name="Rectangle 30"/>
            <p:cNvSpPr/>
            <p:nvPr/>
          </p:nvSpPr>
          <p:spPr>
            <a:xfrm>
              <a:off x="3777456" y="4619182"/>
              <a:ext cx="228600" cy="381000"/>
            </a:xfrm>
            <a:prstGeom prst="rect">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sp>
          <p:nvSpPr>
            <p:cNvPr id="32" name="Rectangle 31"/>
            <p:cNvSpPr/>
            <p:nvPr/>
          </p:nvSpPr>
          <p:spPr>
            <a:xfrm>
              <a:off x="5552180" y="4619182"/>
              <a:ext cx="228600" cy="381000"/>
            </a:xfrm>
            <a:prstGeom prst="rect">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cxnSp>
          <p:nvCxnSpPr>
            <p:cNvPr id="33" name="Straight Connector 32"/>
            <p:cNvCxnSpPr/>
            <p:nvPr/>
          </p:nvCxnSpPr>
          <p:spPr>
            <a:xfrm>
              <a:off x="3314290" y="4114800"/>
              <a:ext cx="0" cy="41169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8967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500"/>
                                        <p:tgtEl>
                                          <p:spTgt spid="1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500"/>
                                        <p:tgtEl>
                                          <p:spTgt spid="1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down)">
                                      <p:cBhvr>
                                        <p:cTn id="24" dur="500"/>
                                        <p:tgtEl>
                                          <p:spTgt spid="15"/>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down)">
                                      <p:cBhvr>
                                        <p:cTn id="30" dur="500"/>
                                        <p:tgtEl>
                                          <p:spTgt spid="16"/>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down)">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down)">
                                      <p:cBhvr>
                                        <p:cTn id="38" dur="500"/>
                                        <p:tgtEl>
                                          <p:spTgt spid="20"/>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down)">
                                      <p:cBhvr>
                                        <p:cTn id="41" dur="500"/>
                                        <p:tgtEl>
                                          <p:spTgt spid="12"/>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down)">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down)">
                                      <p:cBhvr>
                                        <p:cTn id="49" dur="500"/>
                                        <p:tgtEl>
                                          <p:spTgt spid="11"/>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down)">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down)">
                                      <p:cBhvr>
                                        <p:cTn id="57" dur="500"/>
                                        <p:tgtEl>
                                          <p:spTgt spid="19"/>
                                        </p:tgtEl>
                                      </p:cBhvr>
                                    </p:animEffect>
                                  </p:childTnLst>
                                </p:cTn>
                              </p:par>
                              <p:par>
                                <p:cTn id="58" presetID="22" presetClass="entr" presetSubtype="4" fill="hold"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wipe(down)">
                                      <p:cBhvr>
                                        <p:cTn id="60" dur="500"/>
                                        <p:tgtEl>
                                          <p:spTgt spid="13"/>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wipe(down)">
                                      <p:cBhvr>
                                        <p:cTn id="6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p:bldP spid="10" grpId="0"/>
      <p:bldP spid="11" grpId="0" animBg="1"/>
      <p:bldP spid="12" grpId="0" animBg="1"/>
      <p:bldP spid="14" grpId="0" animBg="1"/>
      <p:bldP spid="15" grpId="0" animBg="1"/>
      <p:bldP spid="16" grpId="0" animBg="1"/>
      <p:bldP spid="17" grpId="0" animBg="1"/>
      <p:bldP spid="1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Simple Object Access Protocol (SOAP)</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The Simple object access protocol (SOAP) forms the standard for communication with Web services.</a:t>
            </a:r>
          </a:p>
          <a:p>
            <a:pPr>
              <a:lnSpc>
                <a:spcPct val="100000"/>
              </a:lnSpc>
            </a:pPr>
            <a:r>
              <a:rPr lang="en-US" dirty="0"/>
              <a:t>A SOAP message generally consists of two parts, which are jointly put inside what is called a SOAP envelope.</a:t>
            </a:r>
          </a:p>
          <a:p>
            <a:pPr>
              <a:lnSpc>
                <a:spcPct val="100000"/>
              </a:lnSpc>
            </a:pPr>
            <a:r>
              <a:rPr lang="en-US" dirty="0"/>
              <a:t>The body contains the actual message.</a:t>
            </a:r>
          </a:p>
          <a:p>
            <a:pPr>
              <a:lnSpc>
                <a:spcPct val="100000"/>
              </a:lnSpc>
            </a:pPr>
            <a:r>
              <a:rPr lang="en-US" dirty="0"/>
              <a:t>Header is optional, containing information relevant for nodes along the path from sender to receiver.</a:t>
            </a:r>
          </a:p>
          <a:p>
            <a:pPr>
              <a:lnSpc>
                <a:spcPct val="100000"/>
              </a:lnSpc>
            </a:pPr>
            <a:r>
              <a:rPr lang="en-US" dirty="0"/>
              <a:t>Everything in the envelope is expressed in XML.</a:t>
            </a:r>
          </a:p>
        </p:txBody>
      </p:sp>
    </p:spTree>
    <p:extLst>
      <p:ext uri="{BB962C8B-B14F-4D97-AF65-F5344CB8AC3E}">
        <p14:creationId xmlns:p14="http://schemas.microsoft.com/office/powerpoint/2010/main" val="37674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Naming</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Web uses a single naming system to refer a documents.</a:t>
            </a:r>
          </a:p>
          <a:p>
            <a:pPr>
              <a:lnSpc>
                <a:spcPct val="100000"/>
              </a:lnSpc>
            </a:pPr>
            <a:r>
              <a:rPr lang="en-US" dirty="0"/>
              <a:t>The names used are called Uniform resource identifiers (URIs).</a:t>
            </a:r>
          </a:p>
          <a:p>
            <a:pPr>
              <a:lnSpc>
                <a:spcPct val="100000"/>
              </a:lnSpc>
            </a:pPr>
            <a:r>
              <a:rPr lang="en-US" dirty="0"/>
              <a:t>Uniform resource locator (URL) is a URI that identifies a document by including information on how and where to access the document.</a:t>
            </a:r>
          </a:p>
          <a:p>
            <a:pPr>
              <a:lnSpc>
                <a:spcPct val="100000"/>
              </a:lnSpc>
            </a:pPr>
            <a:r>
              <a:rPr lang="en-US" dirty="0"/>
              <a:t>A URL is used as a globally unique, location-independent and persistent reference to a document.</a:t>
            </a:r>
          </a:p>
          <a:p>
            <a:pPr>
              <a:lnSpc>
                <a:spcPct val="100000"/>
              </a:lnSpc>
            </a:pPr>
            <a:r>
              <a:rPr lang="en-US" dirty="0"/>
              <a:t>How to access a document is generally reflected by the name of the scheme that is part of the URL such as http, ftp or telnet.</a:t>
            </a:r>
          </a:p>
        </p:txBody>
      </p:sp>
    </p:spTree>
    <p:extLst>
      <p:ext uri="{BB962C8B-B14F-4D97-AF65-F5344CB8AC3E}">
        <p14:creationId xmlns:p14="http://schemas.microsoft.com/office/powerpoint/2010/main" val="780191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Naming</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URL also contains the name of the document to be looked up by that server.</a:t>
            </a:r>
          </a:p>
          <a:p>
            <a:pPr>
              <a:lnSpc>
                <a:spcPct val="100000"/>
              </a:lnSpc>
            </a:pPr>
            <a:r>
              <a:rPr lang="en-US" dirty="0"/>
              <a:t>General structure of URLs are as follows.</a:t>
            </a:r>
          </a:p>
        </p:txBody>
      </p:sp>
      <p:grpSp>
        <p:nvGrpSpPr>
          <p:cNvPr id="4" name="Group 3"/>
          <p:cNvGrpSpPr/>
          <p:nvPr/>
        </p:nvGrpSpPr>
        <p:grpSpPr>
          <a:xfrm>
            <a:off x="2254624" y="2259106"/>
            <a:ext cx="6934200" cy="381000"/>
            <a:chOff x="1219200" y="2514600"/>
            <a:chExt cx="6934200" cy="381000"/>
          </a:xfrm>
        </p:grpSpPr>
        <p:sp>
          <p:nvSpPr>
            <p:cNvPr id="5" name="Rectangle 4"/>
            <p:cNvSpPr/>
            <p:nvPr/>
          </p:nvSpPr>
          <p:spPr>
            <a:xfrm>
              <a:off x="1219200" y="2514600"/>
              <a:ext cx="16002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Scheme</a:t>
              </a:r>
            </a:p>
          </p:txBody>
        </p:sp>
        <p:sp>
          <p:nvSpPr>
            <p:cNvPr id="6" name="Rectangle 5"/>
            <p:cNvSpPr/>
            <p:nvPr/>
          </p:nvSpPr>
          <p:spPr>
            <a:xfrm>
              <a:off x="2819400" y="2514600"/>
              <a:ext cx="24384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Host name</a:t>
              </a:r>
            </a:p>
          </p:txBody>
        </p:sp>
        <p:sp>
          <p:nvSpPr>
            <p:cNvPr id="7" name="Rectangle 6"/>
            <p:cNvSpPr/>
            <p:nvPr/>
          </p:nvSpPr>
          <p:spPr>
            <a:xfrm>
              <a:off x="5257800" y="2514600"/>
              <a:ext cx="28956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Pathname</a:t>
              </a:r>
            </a:p>
          </p:txBody>
        </p:sp>
      </p:grpSp>
      <p:sp>
        <p:nvSpPr>
          <p:cNvPr id="8" name="TextBox 7"/>
          <p:cNvSpPr txBox="1"/>
          <p:nvPr/>
        </p:nvSpPr>
        <p:spPr>
          <a:xfrm>
            <a:off x="2330823" y="2654183"/>
            <a:ext cx="1602237" cy="400110"/>
          </a:xfrm>
          <a:prstGeom prst="rect">
            <a:avLst/>
          </a:prstGeom>
          <a:noFill/>
        </p:spPr>
        <p:txBody>
          <a:bodyPr wrap="square" rtlCol="0">
            <a:spAutoFit/>
          </a:bodyPr>
          <a:lstStyle/>
          <a:p>
            <a:r>
              <a:rPr lang="en-US" sz="2000" dirty="0"/>
              <a:t>     http	  ://</a:t>
            </a:r>
          </a:p>
        </p:txBody>
      </p:sp>
      <p:sp>
        <p:nvSpPr>
          <p:cNvPr id="9" name="TextBox 8"/>
          <p:cNvSpPr txBox="1"/>
          <p:nvPr/>
        </p:nvSpPr>
        <p:spPr>
          <a:xfrm>
            <a:off x="4007224" y="2640106"/>
            <a:ext cx="2174506" cy="400110"/>
          </a:xfrm>
          <a:prstGeom prst="rect">
            <a:avLst/>
          </a:prstGeom>
          <a:noFill/>
        </p:spPr>
        <p:txBody>
          <a:bodyPr wrap="none" rtlCol="0">
            <a:spAutoFit/>
          </a:bodyPr>
          <a:lstStyle/>
          <a:p>
            <a:r>
              <a:rPr lang="en-US" sz="2000" dirty="0"/>
              <a:t>www.darshan.ac.in</a:t>
            </a:r>
          </a:p>
        </p:txBody>
      </p:sp>
      <p:sp>
        <p:nvSpPr>
          <p:cNvPr id="10" name="TextBox 9"/>
          <p:cNvSpPr txBox="1"/>
          <p:nvPr/>
        </p:nvSpPr>
        <p:spPr>
          <a:xfrm>
            <a:off x="6750424" y="2640106"/>
            <a:ext cx="2364237" cy="400110"/>
          </a:xfrm>
          <a:prstGeom prst="rect">
            <a:avLst/>
          </a:prstGeom>
          <a:noFill/>
        </p:spPr>
        <p:txBody>
          <a:bodyPr wrap="none" rtlCol="0">
            <a:spAutoFit/>
          </a:bodyPr>
          <a:lstStyle/>
          <a:p>
            <a:r>
              <a:rPr lang="en-US" sz="2000" dirty="0"/>
              <a:t>/home/comp/faculty</a:t>
            </a:r>
          </a:p>
        </p:txBody>
      </p:sp>
      <p:sp>
        <p:nvSpPr>
          <p:cNvPr id="11" name="TextBox 10"/>
          <p:cNvSpPr txBox="1"/>
          <p:nvPr/>
        </p:nvSpPr>
        <p:spPr>
          <a:xfrm>
            <a:off x="2635624" y="3916396"/>
            <a:ext cx="1297858" cy="400110"/>
          </a:xfrm>
          <a:prstGeom prst="rect">
            <a:avLst/>
          </a:prstGeom>
          <a:noFill/>
        </p:spPr>
        <p:txBody>
          <a:bodyPr wrap="square" rtlCol="0">
            <a:spAutoFit/>
          </a:bodyPr>
          <a:lstStyle/>
          <a:p>
            <a:r>
              <a:rPr lang="en-US" sz="2000" dirty="0"/>
              <a:t>http      ://</a:t>
            </a:r>
          </a:p>
        </p:txBody>
      </p:sp>
      <p:sp>
        <p:nvSpPr>
          <p:cNvPr id="12" name="TextBox 11"/>
          <p:cNvSpPr txBox="1"/>
          <p:nvPr/>
        </p:nvSpPr>
        <p:spPr>
          <a:xfrm>
            <a:off x="3778624" y="3902319"/>
            <a:ext cx="2791662" cy="400110"/>
          </a:xfrm>
          <a:prstGeom prst="rect">
            <a:avLst/>
          </a:prstGeom>
          <a:noFill/>
        </p:spPr>
        <p:txBody>
          <a:bodyPr wrap="none" rtlCol="0">
            <a:spAutoFit/>
          </a:bodyPr>
          <a:lstStyle/>
          <a:p>
            <a:r>
              <a:rPr lang="en-US" sz="2000" dirty="0"/>
              <a:t>www.darshan.ac.in :    80</a:t>
            </a:r>
          </a:p>
        </p:txBody>
      </p:sp>
      <p:sp>
        <p:nvSpPr>
          <p:cNvPr id="13" name="TextBox 12"/>
          <p:cNvSpPr txBox="1"/>
          <p:nvPr/>
        </p:nvSpPr>
        <p:spPr>
          <a:xfrm>
            <a:off x="6750424" y="3902319"/>
            <a:ext cx="2592837" cy="400110"/>
          </a:xfrm>
          <a:prstGeom prst="rect">
            <a:avLst/>
          </a:prstGeom>
          <a:noFill/>
        </p:spPr>
        <p:txBody>
          <a:bodyPr wrap="square" rtlCol="0">
            <a:spAutoFit/>
          </a:bodyPr>
          <a:lstStyle/>
          <a:p>
            <a:r>
              <a:rPr lang="en-US" sz="2000" dirty="0"/>
              <a:t>/home/comp/faculty</a:t>
            </a:r>
          </a:p>
        </p:txBody>
      </p:sp>
      <p:grpSp>
        <p:nvGrpSpPr>
          <p:cNvPr id="14" name="Group 13"/>
          <p:cNvGrpSpPr/>
          <p:nvPr/>
        </p:nvGrpSpPr>
        <p:grpSpPr>
          <a:xfrm>
            <a:off x="2254624" y="3513390"/>
            <a:ext cx="6934200" cy="388929"/>
            <a:chOff x="1219200" y="3768884"/>
            <a:chExt cx="6934200" cy="388929"/>
          </a:xfrm>
        </p:grpSpPr>
        <p:sp>
          <p:nvSpPr>
            <p:cNvPr id="15" name="Rectangle 14"/>
            <p:cNvSpPr/>
            <p:nvPr/>
          </p:nvSpPr>
          <p:spPr>
            <a:xfrm>
              <a:off x="1219200" y="3776813"/>
              <a:ext cx="16002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Scheme</a:t>
              </a:r>
            </a:p>
          </p:txBody>
        </p:sp>
        <p:sp>
          <p:nvSpPr>
            <p:cNvPr id="16" name="Rectangle 15"/>
            <p:cNvSpPr/>
            <p:nvPr/>
          </p:nvSpPr>
          <p:spPr>
            <a:xfrm>
              <a:off x="2819400" y="3776813"/>
              <a:ext cx="20574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Host name</a:t>
              </a:r>
            </a:p>
          </p:txBody>
        </p:sp>
        <p:sp>
          <p:nvSpPr>
            <p:cNvPr id="17" name="Rectangle 16"/>
            <p:cNvSpPr/>
            <p:nvPr/>
          </p:nvSpPr>
          <p:spPr>
            <a:xfrm>
              <a:off x="5715000" y="3776813"/>
              <a:ext cx="24384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Pathname</a:t>
              </a:r>
            </a:p>
          </p:txBody>
        </p:sp>
        <p:sp>
          <p:nvSpPr>
            <p:cNvPr id="18" name="Rectangle 17"/>
            <p:cNvSpPr/>
            <p:nvPr/>
          </p:nvSpPr>
          <p:spPr>
            <a:xfrm>
              <a:off x="4876800" y="3768884"/>
              <a:ext cx="838200" cy="388928"/>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Port</a:t>
              </a:r>
            </a:p>
          </p:txBody>
        </p:sp>
      </p:grpSp>
      <p:sp>
        <p:nvSpPr>
          <p:cNvPr id="19" name="TextBox 18"/>
          <p:cNvSpPr txBox="1"/>
          <p:nvPr/>
        </p:nvSpPr>
        <p:spPr>
          <a:xfrm>
            <a:off x="2714282" y="5287996"/>
            <a:ext cx="1292942" cy="400110"/>
          </a:xfrm>
          <a:prstGeom prst="rect">
            <a:avLst/>
          </a:prstGeom>
          <a:noFill/>
        </p:spPr>
        <p:txBody>
          <a:bodyPr wrap="square" rtlCol="0">
            <a:spAutoFit/>
          </a:bodyPr>
          <a:lstStyle/>
          <a:p>
            <a:r>
              <a:rPr lang="en-US" sz="2000" dirty="0"/>
              <a:t>http       ://</a:t>
            </a:r>
          </a:p>
        </p:txBody>
      </p:sp>
      <p:sp>
        <p:nvSpPr>
          <p:cNvPr id="20" name="TextBox 19"/>
          <p:cNvSpPr txBox="1"/>
          <p:nvPr/>
        </p:nvSpPr>
        <p:spPr>
          <a:xfrm>
            <a:off x="3857282" y="5273919"/>
            <a:ext cx="2797561" cy="400110"/>
          </a:xfrm>
          <a:prstGeom prst="rect">
            <a:avLst/>
          </a:prstGeom>
          <a:noFill/>
        </p:spPr>
        <p:txBody>
          <a:bodyPr wrap="none" rtlCol="0">
            <a:spAutoFit/>
          </a:bodyPr>
          <a:lstStyle/>
          <a:p>
            <a:r>
              <a:rPr lang="en-US" sz="2000" dirty="0"/>
              <a:t>     130.37.24.11      :     80</a:t>
            </a:r>
          </a:p>
        </p:txBody>
      </p:sp>
      <p:sp>
        <p:nvSpPr>
          <p:cNvPr id="21" name="TextBox 20"/>
          <p:cNvSpPr txBox="1"/>
          <p:nvPr/>
        </p:nvSpPr>
        <p:spPr>
          <a:xfrm>
            <a:off x="6829082" y="5273919"/>
            <a:ext cx="2592837" cy="400110"/>
          </a:xfrm>
          <a:prstGeom prst="rect">
            <a:avLst/>
          </a:prstGeom>
          <a:noFill/>
        </p:spPr>
        <p:txBody>
          <a:bodyPr wrap="square" rtlCol="0">
            <a:spAutoFit/>
          </a:bodyPr>
          <a:lstStyle/>
          <a:p>
            <a:r>
              <a:rPr lang="en-US" sz="2000" dirty="0"/>
              <a:t>/home/comp/faculty</a:t>
            </a:r>
          </a:p>
        </p:txBody>
      </p:sp>
      <p:grpSp>
        <p:nvGrpSpPr>
          <p:cNvPr id="22" name="Group 21"/>
          <p:cNvGrpSpPr/>
          <p:nvPr/>
        </p:nvGrpSpPr>
        <p:grpSpPr>
          <a:xfrm>
            <a:off x="2333282" y="4892918"/>
            <a:ext cx="6934200" cy="381001"/>
            <a:chOff x="1297858" y="5148412"/>
            <a:chExt cx="6934200" cy="381001"/>
          </a:xfrm>
        </p:grpSpPr>
        <p:sp>
          <p:nvSpPr>
            <p:cNvPr id="23" name="Rectangle 22"/>
            <p:cNvSpPr/>
            <p:nvPr/>
          </p:nvSpPr>
          <p:spPr>
            <a:xfrm>
              <a:off x="1297858" y="5148413"/>
              <a:ext cx="16002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Scheme</a:t>
              </a:r>
            </a:p>
          </p:txBody>
        </p:sp>
        <p:sp>
          <p:nvSpPr>
            <p:cNvPr id="24" name="Rectangle 23"/>
            <p:cNvSpPr/>
            <p:nvPr/>
          </p:nvSpPr>
          <p:spPr>
            <a:xfrm>
              <a:off x="2898058" y="5148413"/>
              <a:ext cx="20574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Host name</a:t>
              </a:r>
            </a:p>
          </p:txBody>
        </p:sp>
        <p:sp>
          <p:nvSpPr>
            <p:cNvPr id="25" name="Rectangle 24"/>
            <p:cNvSpPr/>
            <p:nvPr/>
          </p:nvSpPr>
          <p:spPr>
            <a:xfrm>
              <a:off x="5793658" y="5148413"/>
              <a:ext cx="24384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Pathname</a:t>
              </a:r>
            </a:p>
          </p:txBody>
        </p:sp>
        <p:sp>
          <p:nvSpPr>
            <p:cNvPr id="26" name="Rectangle 25"/>
            <p:cNvSpPr/>
            <p:nvPr/>
          </p:nvSpPr>
          <p:spPr>
            <a:xfrm>
              <a:off x="4955458" y="5148412"/>
              <a:ext cx="838200" cy="381001"/>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Port</a:t>
              </a:r>
            </a:p>
          </p:txBody>
        </p:sp>
      </p:grpSp>
      <p:sp>
        <p:nvSpPr>
          <p:cNvPr id="27" name="TextBox 26"/>
          <p:cNvSpPr txBox="1"/>
          <p:nvPr/>
        </p:nvSpPr>
        <p:spPr>
          <a:xfrm>
            <a:off x="4388224" y="2944906"/>
            <a:ext cx="2720617" cy="400110"/>
          </a:xfrm>
          <a:prstGeom prst="rect">
            <a:avLst/>
          </a:prstGeom>
          <a:noFill/>
        </p:spPr>
        <p:txBody>
          <a:bodyPr wrap="none" rtlCol="0">
            <a:spAutoFit/>
          </a:bodyPr>
          <a:lstStyle/>
          <a:p>
            <a:r>
              <a:rPr lang="en-US" sz="2000" b="1" dirty="0"/>
              <a:t>1. Using only DNS name</a:t>
            </a:r>
          </a:p>
        </p:txBody>
      </p:sp>
      <p:sp>
        <p:nvSpPr>
          <p:cNvPr id="28" name="TextBox 27"/>
          <p:cNvSpPr txBox="1"/>
          <p:nvPr/>
        </p:nvSpPr>
        <p:spPr>
          <a:xfrm>
            <a:off x="3473824" y="4221196"/>
            <a:ext cx="4735592" cy="400110"/>
          </a:xfrm>
          <a:prstGeom prst="rect">
            <a:avLst/>
          </a:prstGeom>
          <a:noFill/>
        </p:spPr>
        <p:txBody>
          <a:bodyPr wrap="none" rtlCol="0">
            <a:spAutoFit/>
          </a:bodyPr>
          <a:lstStyle/>
          <a:p>
            <a:r>
              <a:rPr lang="en-US" sz="2000" b="1" dirty="0"/>
              <a:t>2. Combining DNS name with port number</a:t>
            </a:r>
          </a:p>
        </p:txBody>
      </p:sp>
      <p:sp>
        <p:nvSpPr>
          <p:cNvPr id="29" name="TextBox 28"/>
          <p:cNvSpPr txBox="1"/>
          <p:nvPr/>
        </p:nvSpPr>
        <p:spPr>
          <a:xfrm>
            <a:off x="3544428" y="5592796"/>
            <a:ext cx="5003614" cy="400110"/>
          </a:xfrm>
          <a:prstGeom prst="rect">
            <a:avLst/>
          </a:prstGeom>
          <a:noFill/>
        </p:spPr>
        <p:txBody>
          <a:bodyPr wrap="none" rtlCol="0">
            <a:spAutoFit/>
          </a:bodyPr>
          <a:lstStyle/>
          <a:p>
            <a:r>
              <a:rPr lang="en-US" sz="2000" b="1" dirty="0"/>
              <a:t>3. Combining an IP address with port number</a:t>
            </a:r>
          </a:p>
        </p:txBody>
      </p:sp>
      <p:sp>
        <p:nvSpPr>
          <p:cNvPr id="30" name="Rectangle 29"/>
          <p:cNvSpPr/>
          <p:nvPr/>
        </p:nvSpPr>
        <p:spPr>
          <a:xfrm>
            <a:off x="2102224" y="2030506"/>
            <a:ext cx="7319695" cy="1314510"/>
          </a:xfrm>
          <a:prstGeom prst="rect">
            <a:avLst/>
          </a:prstGeom>
          <a:noFill/>
          <a:ln w="28575">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1" name="Rectangle 30"/>
          <p:cNvSpPr/>
          <p:nvPr/>
        </p:nvSpPr>
        <p:spPr>
          <a:xfrm>
            <a:off x="2102224" y="3407700"/>
            <a:ext cx="7319695" cy="1314510"/>
          </a:xfrm>
          <a:prstGeom prst="rect">
            <a:avLst/>
          </a:prstGeom>
          <a:noFill/>
          <a:ln w="28575">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2" name="Rectangle 31"/>
          <p:cNvSpPr/>
          <p:nvPr/>
        </p:nvSpPr>
        <p:spPr>
          <a:xfrm>
            <a:off x="2102224" y="4799445"/>
            <a:ext cx="7319695" cy="1314510"/>
          </a:xfrm>
          <a:prstGeom prst="rect">
            <a:avLst/>
          </a:prstGeom>
          <a:noFill/>
          <a:ln w="28575">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18254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wipe(down)">
                                      <p:cBhvr>
                                        <p:cTn id="18" dur="500"/>
                                        <p:tgtEl>
                                          <p:spTgt spid="30"/>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down)">
                                      <p:cBhvr>
                                        <p:cTn id="21" dur="5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00"/>
                                        <p:tgtEl>
                                          <p:spTgt spid="8"/>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down)">
                                      <p:cBhvr>
                                        <p:cTn id="29" dur="500"/>
                                        <p:tgtEl>
                                          <p:spTgt spid="9"/>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down)">
                                      <p:cBhvr>
                                        <p:cTn id="37" dur="500"/>
                                        <p:tgtEl>
                                          <p:spTgt spid="14"/>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down)">
                                      <p:cBhvr>
                                        <p:cTn id="40" dur="500"/>
                                        <p:tgtEl>
                                          <p:spTgt spid="31"/>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down)">
                                      <p:cBhvr>
                                        <p:cTn id="43" dur="5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down)">
                                      <p:cBhvr>
                                        <p:cTn id="48" dur="500"/>
                                        <p:tgtEl>
                                          <p:spTgt spid="11"/>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down)">
                                      <p:cBhvr>
                                        <p:cTn id="51" dur="500"/>
                                        <p:tgtEl>
                                          <p:spTgt spid="12"/>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down)">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wipe(down)">
                                      <p:cBhvr>
                                        <p:cTn id="59" dur="500"/>
                                        <p:tgtEl>
                                          <p:spTgt spid="22"/>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down)">
                                      <p:cBhvr>
                                        <p:cTn id="62" dur="500"/>
                                        <p:tgtEl>
                                          <p:spTgt spid="32"/>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wipe(down)">
                                      <p:cBhvr>
                                        <p:cTn id="65" dur="500"/>
                                        <p:tgtEl>
                                          <p:spTgt spid="2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wipe(down)">
                                      <p:cBhvr>
                                        <p:cTn id="70" dur="500"/>
                                        <p:tgtEl>
                                          <p:spTgt spid="19"/>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wipe(down)">
                                      <p:cBhvr>
                                        <p:cTn id="73" dur="500"/>
                                        <p:tgtEl>
                                          <p:spTgt spid="20"/>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wipe(down)">
                                      <p:cBhvr>
                                        <p:cTn id="7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9" grpId="0"/>
      <p:bldP spid="20" grpId="0"/>
      <p:bldP spid="21" grpId="0"/>
      <p:bldP spid="27" grpId="0"/>
      <p:bldP spid="28" grpId="0"/>
      <p:bldP spid="29" grpId="0"/>
      <p:bldP spid="30" grpId="0" animBg="1"/>
      <p:bldP spid="31" grpId="0" animBg="1"/>
      <p:bldP spid="32"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Synchronization</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Synchronization has not been much of an issue for most traditional Web- based systems for two reasons.</a:t>
            </a:r>
          </a:p>
          <a:p>
            <a:pPr marL="1371600" lvl="2" indent="-457200">
              <a:buFont typeface="+mj-lt"/>
              <a:buAutoNum type="arabicPeriod"/>
            </a:pPr>
            <a:r>
              <a:rPr lang="en-US" sz="2400" dirty="0"/>
              <a:t>The servers never exchange information with other servers means that there is nothing much to synchronize.</a:t>
            </a:r>
          </a:p>
          <a:p>
            <a:pPr marL="1371600" lvl="2" indent="-457200">
              <a:buFont typeface="+mj-lt"/>
              <a:buAutoNum type="arabicPeriod"/>
            </a:pPr>
            <a:r>
              <a:rPr lang="en-US" sz="2400" dirty="0"/>
              <a:t>The web can be considered as being a read-mostly system.</a:t>
            </a:r>
          </a:p>
          <a:p>
            <a:pPr>
              <a:lnSpc>
                <a:spcPct val="100000"/>
              </a:lnSpc>
            </a:pPr>
            <a:r>
              <a:rPr lang="en-US" dirty="0"/>
              <a:t>Distributed authoring of Web documents is handled through a separate protocol called WebDAV (Web Distributed Authoring and Versioning)</a:t>
            </a:r>
          </a:p>
          <a:p>
            <a:pPr>
              <a:lnSpc>
                <a:spcPct val="100000"/>
              </a:lnSpc>
            </a:pPr>
            <a:r>
              <a:rPr lang="en-US" dirty="0"/>
              <a:t>To synchronize concurrent access to a shared document, WebDAV supports a simple locking mechanism</a:t>
            </a:r>
            <a:r>
              <a:rPr lang="en-US" dirty="0" smtClean="0"/>
              <a:t>.</a:t>
            </a:r>
          </a:p>
        </p:txBody>
      </p:sp>
    </p:spTree>
    <p:extLst>
      <p:ext uri="{BB962C8B-B14F-4D97-AF65-F5344CB8AC3E}">
        <p14:creationId xmlns:p14="http://schemas.microsoft.com/office/powerpoint/2010/main" val="407082940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Synchronization</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There are two types of write locks.</a:t>
            </a:r>
          </a:p>
          <a:p>
            <a:pPr marL="1371600" lvl="2" indent="-457200">
              <a:buFont typeface="+mj-lt"/>
              <a:buAutoNum type="arabicPeriod"/>
            </a:pPr>
            <a:r>
              <a:rPr lang="en-US" sz="2400" dirty="0" smtClean="0"/>
              <a:t>An </a:t>
            </a:r>
            <a:r>
              <a:rPr lang="en-US" sz="2400" dirty="0"/>
              <a:t>exclusive write lock can be assigned to a single client, and will prevent any other client from modifying the shared document while it is locked.</a:t>
            </a:r>
          </a:p>
          <a:p>
            <a:pPr marL="1371600" lvl="2" indent="-457200">
              <a:buFont typeface="+mj-lt"/>
              <a:buAutoNum type="arabicPeriod"/>
            </a:pPr>
            <a:r>
              <a:rPr lang="en-US" sz="2400" dirty="0"/>
              <a:t>A shared write lock, which allows multiple clients to simultaneously update the document.</a:t>
            </a:r>
          </a:p>
          <a:p>
            <a:pPr>
              <a:lnSpc>
                <a:spcPct val="100000"/>
              </a:lnSpc>
            </a:pPr>
            <a:r>
              <a:rPr lang="en-US" dirty="0" smtClean="0"/>
              <a:t>Assigning </a:t>
            </a:r>
            <a:r>
              <a:rPr lang="en-US" dirty="0"/>
              <a:t>a lock is done by passing a lock token to the requesting client.</a:t>
            </a:r>
          </a:p>
          <a:p>
            <a:pPr>
              <a:lnSpc>
                <a:spcPct val="100000"/>
              </a:lnSpc>
            </a:pPr>
            <a:r>
              <a:rPr lang="en-US" dirty="0"/>
              <a:t>The server registers which client currently has the lock token.</a:t>
            </a:r>
          </a:p>
          <a:p>
            <a:pPr>
              <a:lnSpc>
                <a:spcPct val="100000"/>
              </a:lnSpc>
            </a:pPr>
            <a:r>
              <a:rPr lang="en-US" dirty="0"/>
              <a:t>Whenever the client wants to modify the document, it sends an HTTP post request to the server along with the lock token.</a:t>
            </a:r>
          </a:p>
        </p:txBody>
      </p:sp>
    </p:spTree>
    <p:extLst>
      <p:ext uri="{BB962C8B-B14F-4D97-AF65-F5344CB8AC3E}">
        <p14:creationId xmlns:p14="http://schemas.microsoft.com/office/powerpoint/2010/main" val="1653720315"/>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Web Proxy Caching</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Web proxy accepts requests from local clients and passes these to Web servers.</a:t>
            </a:r>
          </a:p>
          <a:p>
            <a:pPr>
              <a:lnSpc>
                <a:spcPct val="100000"/>
              </a:lnSpc>
            </a:pPr>
            <a:r>
              <a:rPr lang="en-US" dirty="0"/>
              <a:t>When a response comes in, the result is passed to the client.</a:t>
            </a:r>
          </a:p>
          <a:p>
            <a:pPr>
              <a:lnSpc>
                <a:spcPct val="100000"/>
              </a:lnSpc>
            </a:pPr>
            <a:r>
              <a:rPr lang="en-US" dirty="0"/>
              <a:t>The advantage of this approach is that the proxy can cache the result and return that result to another client, if necessary.</a:t>
            </a:r>
          </a:p>
          <a:p>
            <a:pPr>
              <a:lnSpc>
                <a:spcPct val="100000"/>
              </a:lnSpc>
            </a:pPr>
            <a:r>
              <a:rPr lang="en-US" dirty="0"/>
              <a:t>Web proxy can implement a shared cache.</a:t>
            </a:r>
          </a:p>
          <a:p>
            <a:pPr>
              <a:lnSpc>
                <a:spcPct val="100000"/>
              </a:lnSpc>
            </a:pPr>
            <a:r>
              <a:rPr lang="en-US" dirty="0"/>
              <a:t>In addition to caching at browsers and proxies, it is also possible to place caches that cover a region, or even a country, thus leading to hierarchical caches.</a:t>
            </a:r>
          </a:p>
          <a:p>
            <a:pPr>
              <a:lnSpc>
                <a:spcPct val="100000"/>
              </a:lnSpc>
            </a:pPr>
            <a:r>
              <a:rPr lang="en-US" dirty="0"/>
              <a:t>Such schemes are mainly used to reduce network traffic.</a:t>
            </a:r>
          </a:p>
        </p:txBody>
      </p:sp>
    </p:spTree>
    <p:extLst>
      <p:ext uri="{BB962C8B-B14F-4D97-AF65-F5344CB8AC3E}">
        <p14:creationId xmlns:p14="http://schemas.microsoft.com/office/powerpoint/2010/main" val="2723174569"/>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Web Proxy Caching</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As an alternative to building hierarchical caches, one can also organize caches for cooperative deployment.</a:t>
            </a:r>
          </a:p>
        </p:txBody>
      </p:sp>
      <p:grpSp>
        <p:nvGrpSpPr>
          <p:cNvPr id="4" name="Group 3"/>
          <p:cNvGrpSpPr/>
          <p:nvPr/>
        </p:nvGrpSpPr>
        <p:grpSpPr>
          <a:xfrm>
            <a:off x="1147483" y="2791064"/>
            <a:ext cx="3224790" cy="1524000"/>
            <a:chOff x="152400" y="2844852"/>
            <a:chExt cx="3224790" cy="1524000"/>
          </a:xfrm>
        </p:grpSpPr>
        <p:sp>
          <p:nvSpPr>
            <p:cNvPr id="5" name="Rectangle 4"/>
            <p:cNvSpPr/>
            <p:nvPr/>
          </p:nvSpPr>
          <p:spPr>
            <a:xfrm>
              <a:off x="1752600" y="2844852"/>
              <a:ext cx="838200" cy="8382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Web</a:t>
              </a:r>
            </a:p>
            <a:p>
              <a:pPr algn="ctr"/>
              <a:r>
                <a:rPr lang="en-US" dirty="0"/>
                <a:t>proxy</a:t>
              </a:r>
            </a:p>
          </p:txBody>
        </p:sp>
        <p:sp>
          <p:nvSpPr>
            <p:cNvPr id="6" name="Rectangle 5"/>
            <p:cNvSpPr/>
            <p:nvPr/>
          </p:nvSpPr>
          <p:spPr>
            <a:xfrm>
              <a:off x="952500" y="3987852"/>
              <a:ext cx="7239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Client</a:t>
              </a:r>
            </a:p>
          </p:txBody>
        </p:sp>
        <p:sp>
          <p:nvSpPr>
            <p:cNvPr id="7" name="Rectangle 6"/>
            <p:cNvSpPr/>
            <p:nvPr/>
          </p:nvSpPr>
          <p:spPr>
            <a:xfrm>
              <a:off x="1808235" y="3987852"/>
              <a:ext cx="7239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Client</a:t>
              </a:r>
            </a:p>
          </p:txBody>
        </p:sp>
        <p:sp>
          <p:nvSpPr>
            <p:cNvPr id="8" name="Rectangle 7"/>
            <p:cNvSpPr/>
            <p:nvPr/>
          </p:nvSpPr>
          <p:spPr>
            <a:xfrm>
              <a:off x="2653290" y="3987852"/>
              <a:ext cx="7239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Client</a:t>
              </a:r>
            </a:p>
          </p:txBody>
        </p:sp>
        <p:sp>
          <p:nvSpPr>
            <p:cNvPr id="9" name="Can 8"/>
            <p:cNvSpPr/>
            <p:nvPr/>
          </p:nvSpPr>
          <p:spPr>
            <a:xfrm>
              <a:off x="152400" y="3054402"/>
              <a:ext cx="838200" cy="419100"/>
            </a:xfrm>
            <a:prstGeom prst="can">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Cache</a:t>
              </a:r>
            </a:p>
          </p:txBody>
        </p:sp>
        <p:cxnSp>
          <p:nvCxnSpPr>
            <p:cNvPr id="10" name="Straight Connector 9"/>
            <p:cNvCxnSpPr>
              <a:stCxn id="9" idx="4"/>
              <a:endCxn id="5" idx="1"/>
            </p:cNvCxnSpPr>
            <p:nvPr/>
          </p:nvCxnSpPr>
          <p:spPr>
            <a:xfrm>
              <a:off x="990600" y="3263952"/>
              <a:ext cx="76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0"/>
            </p:cNvCxnSpPr>
            <p:nvPr/>
          </p:nvCxnSpPr>
          <p:spPr>
            <a:xfrm flipV="1">
              <a:off x="1314450" y="3416351"/>
              <a:ext cx="436635" cy="57150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5" idx="2"/>
              <a:endCxn id="7" idx="0"/>
            </p:cNvCxnSpPr>
            <p:nvPr/>
          </p:nvCxnSpPr>
          <p:spPr>
            <a:xfrm flipH="1">
              <a:off x="2170185" y="3683052"/>
              <a:ext cx="1515" cy="3048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p:cNvCxnSpPr>
              <a:endCxn id="8" idx="0"/>
            </p:cNvCxnSpPr>
            <p:nvPr/>
          </p:nvCxnSpPr>
          <p:spPr>
            <a:xfrm>
              <a:off x="2589285" y="3473502"/>
              <a:ext cx="425955" cy="51435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4347883" y="4235498"/>
            <a:ext cx="2843790" cy="1524000"/>
            <a:chOff x="3352800" y="4289286"/>
            <a:chExt cx="2843790" cy="1524000"/>
          </a:xfrm>
        </p:grpSpPr>
        <p:sp>
          <p:nvSpPr>
            <p:cNvPr id="15" name="Rectangle 14"/>
            <p:cNvSpPr/>
            <p:nvPr/>
          </p:nvSpPr>
          <p:spPr>
            <a:xfrm>
              <a:off x="4152900" y="4289286"/>
              <a:ext cx="838200" cy="8382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Web</a:t>
              </a:r>
            </a:p>
            <a:p>
              <a:pPr algn="ctr"/>
              <a:r>
                <a:rPr lang="en-US" dirty="0"/>
                <a:t>proxy</a:t>
              </a:r>
            </a:p>
          </p:txBody>
        </p:sp>
        <p:sp>
          <p:nvSpPr>
            <p:cNvPr id="16" name="Rectangle 15"/>
            <p:cNvSpPr/>
            <p:nvPr/>
          </p:nvSpPr>
          <p:spPr>
            <a:xfrm>
              <a:off x="3352800" y="5432286"/>
              <a:ext cx="7239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Client</a:t>
              </a:r>
            </a:p>
          </p:txBody>
        </p:sp>
        <p:sp>
          <p:nvSpPr>
            <p:cNvPr id="17" name="Rectangle 16"/>
            <p:cNvSpPr/>
            <p:nvPr/>
          </p:nvSpPr>
          <p:spPr>
            <a:xfrm>
              <a:off x="4208535" y="5432286"/>
              <a:ext cx="7239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Client</a:t>
              </a:r>
            </a:p>
          </p:txBody>
        </p:sp>
        <p:sp>
          <p:nvSpPr>
            <p:cNvPr id="18" name="Rectangle 17"/>
            <p:cNvSpPr/>
            <p:nvPr/>
          </p:nvSpPr>
          <p:spPr>
            <a:xfrm>
              <a:off x="5053590" y="5432286"/>
              <a:ext cx="7239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Client</a:t>
              </a:r>
            </a:p>
          </p:txBody>
        </p:sp>
        <p:sp>
          <p:nvSpPr>
            <p:cNvPr id="19" name="Can 18"/>
            <p:cNvSpPr/>
            <p:nvPr/>
          </p:nvSpPr>
          <p:spPr>
            <a:xfrm>
              <a:off x="5358390" y="4494534"/>
              <a:ext cx="838200" cy="419100"/>
            </a:xfrm>
            <a:prstGeom prst="can">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Cache</a:t>
              </a:r>
            </a:p>
          </p:txBody>
        </p:sp>
        <p:cxnSp>
          <p:nvCxnSpPr>
            <p:cNvPr id="20" name="Straight Connector 19"/>
            <p:cNvCxnSpPr>
              <a:stCxn id="15" idx="3"/>
              <a:endCxn id="19" idx="2"/>
            </p:cNvCxnSpPr>
            <p:nvPr/>
          </p:nvCxnSpPr>
          <p:spPr>
            <a:xfrm flipV="1">
              <a:off x="4991100" y="4704084"/>
              <a:ext cx="367290" cy="430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5" idx="2"/>
              <a:endCxn id="17" idx="0"/>
            </p:cNvCxnSpPr>
            <p:nvPr/>
          </p:nvCxnSpPr>
          <p:spPr>
            <a:xfrm flipH="1">
              <a:off x="4570485" y="5127486"/>
              <a:ext cx="1515" cy="3048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18" idx="0"/>
            </p:cNvCxnSpPr>
            <p:nvPr/>
          </p:nvCxnSpPr>
          <p:spPr>
            <a:xfrm>
              <a:off x="4989585" y="4860785"/>
              <a:ext cx="425955" cy="57150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16" idx="0"/>
            </p:cNvCxnSpPr>
            <p:nvPr/>
          </p:nvCxnSpPr>
          <p:spPr>
            <a:xfrm flipH="1">
              <a:off x="3714750" y="4860785"/>
              <a:ext cx="458535" cy="571501"/>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6976783" y="2791064"/>
            <a:ext cx="2843790" cy="1510482"/>
            <a:chOff x="5981700" y="2844852"/>
            <a:chExt cx="2843790" cy="1510482"/>
          </a:xfrm>
        </p:grpSpPr>
        <p:sp>
          <p:nvSpPr>
            <p:cNvPr id="25" name="Rectangle 24"/>
            <p:cNvSpPr/>
            <p:nvPr/>
          </p:nvSpPr>
          <p:spPr>
            <a:xfrm>
              <a:off x="6781800" y="2844852"/>
              <a:ext cx="838200" cy="8382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Web</a:t>
              </a:r>
            </a:p>
            <a:p>
              <a:pPr algn="ctr"/>
              <a:r>
                <a:rPr lang="en-US" dirty="0"/>
                <a:t>proxy</a:t>
              </a:r>
            </a:p>
          </p:txBody>
        </p:sp>
        <p:sp>
          <p:nvSpPr>
            <p:cNvPr id="26" name="Rectangle 25"/>
            <p:cNvSpPr/>
            <p:nvPr/>
          </p:nvSpPr>
          <p:spPr>
            <a:xfrm>
              <a:off x="5981700" y="3974334"/>
              <a:ext cx="7239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Client</a:t>
              </a:r>
            </a:p>
          </p:txBody>
        </p:sp>
        <p:sp>
          <p:nvSpPr>
            <p:cNvPr id="27" name="Rectangle 26"/>
            <p:cNvSpPr/>
            <p:nvPr/>
          </p:nvSpPr>
          <p:spPr>
            <a:xfrm>
              <a:off x="6837435" y="3974334"/>
              <a:ext cx="7239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Client</a:t>
              </a:r>
            </a:p>
          </p:txBody>
        </p:sp>
        <p:sp>
          <p:nvSpPr>
            <p:cNvPr id="28" name="Rectangle 27"/>
            <p:cNvSpPr/>
            <p:nvPr/>
          </p:nvSpPr>
          <p:spPr>
            <a:xfrm>
              <a:off x="7682490" y="3974334"/>
              <a:ext cx="723900" cy="3810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Client</a:t>
              </a:r>
            </a:p>
          </p:txBody>
        </p:sp>
        <p:sp>
          <p:nvSpPr>
            <p:cNvPr id="29" name="Can 28"/>
            <p:cNvSpPr/>
            <p:nvPr/>
          </p:nvSpPr>
          <p:spPr>
            <a:xfrm>
              <a:off x="7987290" y="3050100"/>
              <a:ext cx="838200" cy="419100"/>
            </a:xfrm>
            <a:prstGeom prst="can">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Cache</a:t>
              </a:r>
            </a:p>
          </p:txBody>
        </p:sp>
        <p:cxnSp>
          <p:nvCxnSpPr>
            <p:cNvPr id="30" name="Straight Connector 29"/>
            <p:cNvCxnSpPr>
              <a:stCxn id="25" idx="3"/>
              <a:endCxn id="29" idx="2"/>
            </p:cNvCxnSpPr>
            <p:nvPr/>
          </p:nvCxnSpPr>
          <p:spPr>
            <a:xfrm flipV="1">
              <a:off x="7620000" y="3259650"/>
              <a:ext cx="367290" cy="430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5" idx="2"/>
              <a:endCxn id="27" idx="0"/>
            </p:cNvCxnSpPr>
            <p:nvPr/>
          </p:nvCxnSpPr>
          <p:spPr>
            <a:xfrm flipH="1">
              <a:off x="7199385" y="3683052"/>
              <a:ext cx="1515" cy="29128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Straight Connector 31"/>
            <p:cNvCxnSpPr>
              <a:endCxn id="28" idx="0"/>
            </p:cNvCxnSpPr>
            <p:nvPr/>
          </p:nvCxnSpPr>
          <p:spPr>
            <a:xfrm>
              <a:off x="7618485" y="3402833"/>
              <a:ext cx="425955" cy="57150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Straight Connector 32"/>
            <p:cNvCxnSpPr>
              <a:endCxn id="26" idx="0"/>
            </p:cNvCxnSpPr>
            <p:nvPr/>
          </p:nvCxnSpPr>
          <p:spPr>
            <a:xfrm flipH="1">
              <a:off x="6343650" y="3413601"/>
              <a:ext cx="445493" cy="560733"/>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34" name="Rectangle 33"/>
          <p:cNvSpPr/>
          <p:nvPr/>
        </p:nvSpPr>
        <p:spPr>
          <a:xfrm>
            <a:off x="5733860" y="1873298"/>
            <a:ext cx="838200" cy="838200"/>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Web</a:t>
            </a:r>
          </a:p>
          <a:p>
            <a:pPr algn="ctr"/>
            <a:r>
              <a:rPr lang="en-US" dirty="0"/>
              <a:t>server</a:t>
            </a:r>
          </a:p>
        </p:txBody>
      </p:sp>
      <p:cxnSp>
        <p:nvCxnSpPr>
          <p:cNvPr id="35" name="Straight Arrow Connector 34"/>
          <p:cNvCxnSpPr>
            <a:stCxn id="5" idx="3"/>
            <a:endCxn id="25" idx="1"/>
          </p:cNvCxnSpPr>
          <p:nvPr/>
        </p:nvCxnSpPr>
        <p:spPr>
          <a:xfrm>
            <a:off x="3585883" y="3210164"/>
            <a:ext cx="4191000"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5" idx="0"/>
            <a:endCxn id="34" idx="1"/>
          </p:cNvCxnSpPr>
          <p:nvPr/>
        </p:nvCxnSpPr>
        <p:spPr>
          <a:xfrm flipV="1">
            <a:off x="3166783" y="2292398"/>
            <a:ext cx="2567077" cy="49866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Curved Connector 36"/>
          <p:cNvCxnSpPr>
            <a:stCxn id="5" idx="3"/>
            <a:endCxn id="15" idx="0"/>
          </p:cNvCxnSpPr>
          <p:nvPr/>
        </p:nvCxnSpPr>
        <p:spPr>
          <a:xfrm>
            <a:off x="3585883" y="3210164"/>
            <a:ext cx="1981200" cy="1025334"/>
          </a:xfrm>
          <a:prstGeom prst="curvedConnector2">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Rectangular Callout 37"/>
          <p:cNvSpPr/>
          <p:nvPr/>
        </p:nvSpPr>
        <p:spPr>
          <a:xfrm>
            <a:off x="1562896" y="2178098"/>
            <a:ext cx="1375810" cy="586247"/>
          </a:xfrm>
          <a:prstGeom prst="wedgeRectCallout">
            <a:avLst>
              <a:gd name="adj1" fmla="val 26404"/>
              <a:gd name="adj2" fmla="val 52437"/>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1. Lock in     local cache</a:t>
            </a:r>
          </a:p>
        </p:txBody>
      </p:sp>
      <p:sp>
        <p:nvSpPr>
          <p:cNvPr id="39" name="TextBox 38"/>
          <p:cNvSpPr txBox="1"/>
          <p:nvPr/>
        </p:nvSpPr>
        <p:spPr>
          <a:xfrm>
            <a:off x="3966883" y="2819302"/>
            <a:ext cx="3506088" cy="400110"/>
          </a:xfrm>
          <a:prstGeom prst="rect">
            <a:avLst/>
          </a:prstGeom>
          <a:noFill/>
        </p:spPr>
        <p:txBody>
          <a:bodyPr wrap="none" rtlCol="0">
            <a:spAutoFit/>
          </a:bodyPr>
          <a:lstStyle/>
          <a:p>
            <a:r>
              <a:rPr lang="en-US" sz="2000" dirty="0"/>
              <a:t>2. Ask neighboring proxy caches</a:t>
            </a:r>
          </a:p>
        </p:txBody>
      </p:sp>
      <p:sp>
        <p:nvSpPr>
          <p:cNvPr id="40" name="TextBox 39"/>
          <p:cNvSpPr txBox="1"/>
          <p:nvPr/>
        </p:nvSpPr>
        <p:spPr>
          <a:xfrm>
            <a:off x="3347729" y="1775012"/>
            <a:ext cx="2158053" cy="707886"/>
          </a:xfrm>
          <a:prstGeom prst="rect">
            <a:avLst/>
          </a:prstGeom>
          <a:noFill/>
        </p:spPr>
        <p:txBody>
          <a:bodyPr wrap="square" rtlCol="0">
            <a:spAutoFit/>
          </a:bodyPr>
          <a:lstStyle/>
          <a:p>
            <a:pPr algn="ctr"/>
            <a:r>
              <a:rPr lang="en-US" sz="2000" dirty="0"/>
              <a:t>3. Forward request to web server</a:t>
            </a:r>
          </a:p>
        </p:txBody>
      </p:sp>
      <p:sp>
        <p:nvSpPr>
          <p:cNvPr id="41" name="TextBox 40"/>
          <p:cNvSpPr txBox="1"/>
          <p:nvPr/>
        </p:nvSpPr>
        <p:spPr>
          <a:xfrm>
            <a:off x="3381293" y="5975302"/>
            <a:ext cx="4705134" cy="461665"/>
          </a:xfrm>
          <a:prstGeom prst="rect">
            <a:avLst/>
          </a:prstGeom>
          <a:solidFill>
            <a:srgbClr val="1D3064"/>
          </a:solidFill>
          <a:ln>
            <a:noFill/>
          </a:ln>
        </p:spPr>
        <p:txBody>
          <a:bodyPr wrap="none" rtlCol="0">
            <a:spAutoFit/>
          </a:bodyPr>
          <a:lstStyle/>
          <a:p>
            <a:r>
              <a:rPr lang="en-US" sz="2400" b="1" dirty="0">
                <a:solidFill>
                  <a:schemeClr val="bg1"/>
                </a:solidFill>
              </a:rPr>
              <a:t>The Principle of cooperative caching</a:t>
            </a:r>
          </a:p>
        </p:txBody>
      </p:sp>
    </p:spTree>
    <p:extLst>
      <p:ext uri="{BB962C8B-B14F-4D97-AF65-F5344CB8AC3E}">
        <p14:creationId xmlns:p14="http://schemas.microsoft.com/office/powerpoint/2010/main" val="2231054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500"/>
                                        <p:tgtEl>
                                          <p:spTgt spid="14"/>
                                        </p:tgtEl>
                                      </p:cBhvr>
                                    </p:animEffect>
                                  </p:childTnLst>
                                </p:cTn>
                              </p:par>
                              <p:par>
                                <p:cTn id="11" presetID="22" presetClass="entr" presetSubtype="4"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down)">
                                      <p:cBhvr>
                                        <p:cTn id="13" dur="500"/>
                                        <p:tgtEl>
                                          <p:spTgt spid="2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down)">
                                      <p:cBhvr>
                                        <p:cTn id="16" dur="500"/>
                                        <p:tgtEl>
                                          <p:spTgt spid="41"/>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down)">
                                      <p:cBhvr>
                                        <p:cTn id="19" dur="500"/>
                                        <p:tgtEl>
                                          <p:spTgt spid="3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wipe(down)">
                                      <p:cBhvr>
                                        <p:cTn id="24" dur="500"/>
                                        <p:tgtEl>
                                          <p:spTgt spid="3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wipe(left)">
                                      <p:cBhvr>
                                        <p:cTn id="29" dur="500"/>
                                        <p:tgtEl>
                                          <p:spTgt spid="39"/>
                                        </p:tgtEl>
                                      </p:cBhvr>
                                    </p:animEffect>
                                  </p:childTnLst>
                                </p:cTn>
                              </p:par>
                              <p:par>
                                <p:cTn id="30" presetID="22" presetClass="entr" presetSubtype="8" fill="hold"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wipe(left)">
                                      <p:cBhvr>
                                        <p:cTn id="32" dur="500"/>
                                        <p:tgtEl>
                                          <p:spTgt spid="37"/>
                                        </p:tgtEl>
                                      </p:cBhvr>
                                    </p:animEffect>
                                  </p:childTnLst>
                                </p:cTn>
                              </p:par>
                              <p:par>
                                <p:cTn id="33" presetID="22" presetClass="entr" presetSubtype="8"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wipe(left)">
                                      <p:cBhvr>
                                        <p:cTn id="35" dur="500"/>
                                        <p:tgtEl>
                                          <p:spTgt spid="3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wipe(down)">
                                      <p:cBhvr>
                                        <p:cTn id="40" dur="500"/>
                                        <p:tgtEl>
                                          <p:spTgt spid="40"/>
                                        </p:tgtEl>
                                      </p:cBhvr>
                                    </p:animEffect>
                                  </p:childTnLst>
                                </p:cTn>
                              </p:par>
                              <p:par>
                                <p:cTn id="41" presetID="22" presetClass="entr" presetSubtype="4"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wipe(down)">
                                      <p:cBhvr>
                                        <p:cTn id="4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8" grpId="0" animBg="1"/>
      <p:bldP spid="39" grpId="0"/>
      <p:bldP spid="40" grpId="0"/>
      <p:bldP spid="41"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Replication for Web Hosting Systems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There are essentially three different kinds of aspects related to replication in web hosting systems.</a:t>
            </a:r>
          </a:p>
        </p:txBody>
      </p:sp>
      <p:graphicFrame>
        <p:nvGraphicFramePr>
          <p:cNvPr id="42" name="Diagram 41"/>
          <p:cNvGraphicFramePr/>
          <p:nvPr>
            <p:extLst>
              <p:ext uri="{D42A27DB-BD31-4B8C-83A1-F6EECF244321}">
                <p14:modId xmlns:p14="http://schemas.microsoft.com/office/powerpoint/2010/main" val="2429776262"/>
              </p:ext>
            </p:extLst>
          </p:nvPr>
        </p:nvGraphicFramePr>
        <p:xfrm>
          <a:off x="730623" y="2330823"/>
          <a:ext cx="8382000" cy="3276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3780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
                                            <p:graphicEl>
                                              <a:dgm id="{B8F11015-8E9A-4244-8B17-5574E1E17B47}"/>
                                            </p:graphicEl>
                                          </p:spTgt>
                                        </p:tgtEl>
                                        <p:attrNameLst>
                                          <p:attrName>style.visibility</p:attrName>
                                        </p:attrNameLst>
                                      </p:cBhvr>
                                      <p:to>
                                        <p:strVal val="visible"/>
                                      </p:to>
                                    </p:set>
                                    <p:animEffect transition="in" filter="wipe(left)">
                                      <p:cBhvr>
                                        <p:cTn id="7" dur="500"/>
                                        <p:tgtEl>
                                          <p:spTgt spid="42">
                                            <p:graphicEl>
                                              <a:dgm id="{B8F11015-8E9A-4244-8B17-5574E1E17B47}"/>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2">
                                            <p:graphicEl>
                                              <a:dgm id="{86F91543-CDBD-4C1E-9647-EE63256E337F}"/>
                                            </p:graphicEl>
                                          </p:spTgt>
                                        </p:tgtEl>
                                        <p:attrNameLst>
                                          <p:attrName>style.visibility</p:attrName>
                                        </p:attrNameLst>
                                      </p:cBhvr>
                                      <p:to>
                                        <p:strVal val="visible"/>
                                      </p:to>
                                    </p:set>
                                    <p:animEffect transition="in" filter="wipe(left)">
                                      <p:cBhvr>
                                        <p:cTn id="12" dur="500"/>
                                        <p:tgtEl>
                                          <p:spTgt spid="42">
                                            <p:graphicEl>
                                              <a:dgm id="{86F91543-CDBD-4C1E-9647-EE63256E337F}"/>
                                            </p:graphic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2">
                                            <p:graphicEl>
                                              <a:dgm id="{A97312DD-0F8B-4CFA-A638-23DCD37F468E}"/>
                                            </p:graphicEl>
                                          </p:spTgt>
                                        </p:tgtEl>
                                        <p:attrNameLst>
                                          <p:attrName>style.visibility</p:attrName>
                                        </p:attrNameLst>
                                      </p:cBhvr>
                                      <p:to>
                                        <p:strVal val="visible"/>
                                      </p:to>
                                    </p:set>
                                    <p:animEffect transition="in" filter="wipe(left)">
                                      <p:cBhvr>
                                        <p:cTn id="15" dur="500"/>
                                        <p:tgtEl>
                                          <p:spTgt spid="42">
                                            <p:graphicEl>
                                              <a:dgm id="{A97312DD-0F8B-4CFA-A638-23DCD37F468E}"/>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2">
                                            <p:graphicEl>
                                              <a:dgm id="{9917C270-710C-4621-8646-00EB37130D5E}"/>
                                            </p:graphicEl>
                                          </p:spTgt>
                                        </p:tgtEl>
                                        <p:attrNameLst>
                                          <p:attrName>style.visibility</p:attrName>
                                        </p:attrNameLst>
                                      </p:cBhvr>
                                      <p:to>
                                        <p:strVal val="visible"/>
                                      </p:to>
                                    </p:set>
                                    <p:animEffect transition="in" filter="wipe(left)">
                                      <p:cBhvr>
                                        <p:cTn id="20" dur="500"/>
                                        <p:tgtEl>
                                          <p:spTgt spid="42">
                                            <p:graphicEl>
                                              <a:dgm id="{9917C270-710C-4621-8646-00EB37130D5E}"/>
                                            </p:graphic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2">
                                            <p:graphicEl>
                                              <a:dgm id="{87BC8AE3-1B31-4C9A-81F4-FB38A4BA4441}"/>
                                            </p:graphicEl>
                                          </p:spTgt>
                                        </p:tgtEl>
                                        <p:attrNameLst>
                                          <p:attrName>style.visibility</p:attrName>
                                        </p:attrNameLst>
                                      </p:cBhvr>
                                      <p:to>
                                        <p:strVal val="visible"/>
                                      </p:to>
                                    </p:set>
                                    <p:animEffect transition="in" filter="wipe(left)">
                                      <p:cBhvr>
                                        <p:cTn id="23" dur="500"/>
                                        <p:tgtEl>
                                          <p:spTgt spid="42">
                                            <p:graphicEl>
                                              <a:dgm id="{87BC8AE3-1B31-4C9A-81F4-FB38A4BA4441}"/>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2">
                                            <p:graphicEl>
                                              <a:dgm id="{2BEA0950-FD34-4CA1-9CBD-0C330136BED6}"/>
                                            </p:graphicEl>
                                          </p:spTgt>
                                        </p:tgtEl>
                                        <p:attrNameLst>
                                          <p:attrName>style.visibility</p:attrName>
                                        </p:attrNameLst>
                                      </p:cBhvr>
                                      <p:to>
                                        <p:strVal val="visible"/>
                                      </p:to>
                                    </p:set>
                                    <p:animEffect transition="in" filter="wipe(left)">
                                      <p:cBhvr>
                                        <p:cTn id="28" dur="500"/>
                                        <p:tgtEl>
                                          <p:spTgt spid="42">
                                            <p:graphicEl>
                                              <a:dgm id="{2BEA0950-FD34-4CA1-9CBD-0C330136BED6}"/>
                                            </p:graphic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2">
                                            <p:graphicEl>
                                              <a:dgm id="{F71F2B64-BB0A-4380-9663-D9ECFD891465}"/>
                                            </p:graphicEl>
                                          </p:spTgt>
                                        </p:tgtEl>
                                        <p:attrNameLst>
                                          <p:attrName>style.visibility</p:attrName>
                                        </p:attrNameLst>
                                      </p:cBhvr>
                                      <p:to>
                                        <p:strVal val="visible"/>
                                      </p:to>
                                    </p:set>
                                    <p:animEffect transition="in" filter="wipe(left)">
                                      <p:cBhvr>
                                        <p:cTn id="31" dur="500"/>
                                        <p:tgtEl>
                                          <p:spTgt spid="42">
                                            <p:graphicEl>
                                              <a:dgm id="{F71F2B64-BB0A-4380-9663-D9ECFD89146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2" grpId="0">
        <p:bldSub>
          <a:bldDgm bld="one"/>
        </p:bldSub>
      </p:bldGraphic>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Metric Estimation</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b="1" dirty="0">
                <a:solidFill>
                  <a:srgbClr val="1D3064"/>
                </a:solidFill>
              </a:rPr>
              <a:t>Latency metrics</a:t>
            </a:r>
            <a:r>
              <a:rPr lang="en-US" dirty="0"/>
              <a:t>: By which the time is measured for an action to take place for example: Fetching a document.</a:t>
            </a:r>
          </a:p>
          <a:p>
            <a:pPr>
              <a:lnSpc>
                <a:spcPct val="100000"/>
              </a:lnSpc>
            </a:pPr>
            <a:r>
              <a:rPr lang="en-US" b="1" dirty="0">
                <a:solidFill>
                  <a:srgbClr val="1D3064"/>
                </a:solidFill>
              </a:rPr>
              <a:t>Spatial metrics</a:t>
            </a:r>
            <a:r>
              <a:rPr lang="en-US" dirty="0"/>
              <a:t>: It mainly consists of measuring the distance between nodes in terms of the number of network-level routing hops or hops between autonomous systems.</a:t>
            </a:r>
          </a:p>
          <a:p>
            <a:pPr>
              <a:lnSpc>
                <a:spcPct val="100000"/>
              </a:lnSpc>
            </a:pPr>
            <a:r>
              <a:rPr lang="en-US" b="1" dirty="0">
                <a:solidFill>
                  <a:srgbClr val="1D3064"/>
                </a:solidFill>
              </a:rPr>
              <a:t>Network usage metrics</a:t>
            </a:r>
            <a:r>
              <a:rPr lang="en-US" dirty="0"/>
              <a:t>: It computes consumed bandwidth in terms of the number of bytes to transfer.</a:t>
            </a:r>
          </a:p>
          <a:p>
            <a:pPr>
              <a:lnSpc>
                <a:spcPct val="100000"/>
              </a:lnSpc>
            </a:pPr>
            <a:r>
              <a:rPr lang="en-US" b="1" dirty="0">
                <a:solidFill>
                  <a:srgbClr val="1D3064"/>
                </a:solidFill>
              </a:rPr>
              <a:t>Consistency metrics</a:t>
            </a:r>
            <a:r>
              <a:rPr lang="en-US" dirty="0"/>
              <a:t>: It tell us to what extent a replica is deviating from its master copy.</a:t>
            </a:r>
          </a:p>
          <a:p>
            <a:pPr>
              <a:lnSpc>
                <a:spcPct val="100000"/>
              </a:lnSpc>
            </a:pPr>
            <a:r>
              <a:rPr lang="en-US" b="1" dirty="0">
                <a:solidFill>
                  <a:srgbClr val="1D3064"/>
                </a:solidFill>
              </a:rPr>
              <a:t>Financial metrics</a:t>
            </a:r>
            <a:r>
              <a:rPr lang="en-US" dirty="0"/>
              <a:t>: It is closely related to the actual infrastructure of the Internet.</a:t>
            </a:r>
          </a:p>
        </p:txBody>
      </p:sp>
    </p:spTree>
    <p:extLst>
      <p:ext uri="{BB962C8B-B14F-4D97-AF65-F5344CB8AC3E}">
        <p14:creationId xmlns:p14="http://schemas.microsoft.com/office/powerpoint/2010/main" val="2712381237"/>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Adaptation Triggering</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Important question that needs to be addressed is when and how adaptations are to be triggered.</a:t>
            </a:r>
          </a:p>
          <a:p>
            <a:pPr>
              <a:lnSpc>
                <a:spcPct val="100000"/>
              </a:lnSpc>
            </a:pPr>
            <a:r>
              <a:rPr lang="en-US" dirty="0"/>
              <a:t>A simple model is to periodically estimate metrics and subsequently take measures as needed.</a:t>
            </a:r>
          </a:p>
          <a:p>
            <a:pPr>
              <a:lnSpc>
                <a:spcPct val="100000"/>
              </a:lnSpc>
            </a:pPr>
            <a:r>
              <a:rPr lang="en-US" dirty="0"/>
              <a:t>Special processes located at the servers collect information and periodically check for changes.</a:t>
            </a:r>
          </a:p>
        </p:txBody>
      </p:sp>
    </p:spTree>
    <p:extLst>
      <p:ext uri="{BB962C8B-B14F-4D97-AF65-F5344CB8AC3E}">
        <p14:creationId xmlns:p14="http://schemas.microsoft.com/office/powerpoint/2010/main" val="2968564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Adjustment Measures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There are essentially only three measures that can be taken to change the behavior of a Web hosting service:</a:t>
            </a:r>
          </a:p>
          <a:p>
            <a:pPr marL="1371600" lvl="2" indent="-457200">
              <a:buFont typeface="+mj-lt"/>
              <a:buAutoNum type="arabicPeriod"/>
            </a:pPr>
            <a:r>
              <a:rPr lang="en-US" sz="2400" dirty="0"/>
              <a:t>Changing the placement of replicas</a:t>
            </a:r>
          </a:p>
          <a:p>
            <a:pPr marL="1371600" lvl="2" indent="-457200">
              <a:buFont typeface="+mj-lt"/>
              <a:buAutoNum type="arabicPeriod"/>
            </a:pPr>
            <a:r>
              <a:rPr lang="en-US" sz="2400" dirty="0"/>
              <a:t>Changing consistency enforcement</a:t>
            </a:r>
          </a:p>
          <a:p>
            <a:pPr marL="1371600" lvl="2" indent="-457200">
              <a:buFont typeface="+mj-lt"/>
              <a:buAutoNum type="arabicPeriod"/>
            </a:pPr>
            <a:r>
              <a:rPr lang="en-US" sz="2400" dirty="0"/>
              <a:t>Deciding on how and when to redirect client requests</a:t>
            </a:r>
          </a:p>
        </p:txBody>
      </p:sp>
    </p:spTree>
    <p:extLst>
      <p:ext uri="{BB962C8B-B14F-4D97-AF65-F5344CB8AC3E}">
        <p14:creationId xmlns:p14="http://schemas.microsoft.com/office/powerpoint/2010/main" val="4001953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Replication of Web Applications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It is complicated to improve performance of Web applications through caching and replication.</a:t>
            </a:r>
          </a:p>
          <a:p>
            <a:pPr>
              <a:lnSpc>
                <a:spcPct val="100000"/>
              </a:lnSpc>
            </a:pPr>
            <a:r>
              <a:rPr lang="en-US" dirty="0"/>
              <a:t>To improve performance, we can apply full replication of the data stored at the origin server.</a:t>
            </a:r>
          </a:p>
          <a:p>
            <a:pPr>
              <a:lnSpc>
                <a:spcPct val="100000"/>
              </a:lnSpc>
            </a:pPr>
            <a:r>
              <a:rPr lang="en-US" dirty="0"/>
              <a:t>This scheme works well whenever the update ratio is low and when queries require an extensive database search.</a:t>
            </a:r>
          </a:p>
          <a:p>
            <a:pPr>
              <a:lnSpc>
                <a:spcPct val="100000"/>
              </a:lnSpc>
            </a:pPr>
            <a:r>
              <a:rPr lang="en-US" dirty="0"/>
              <a:t>Replicating for performance will fail when update ratio is high.</a:t>
            </a:r>
          </a:p>
          <a:p>
            <a:pPr>
              <a:lnSpc>
                <a:spcPct val="100000"/>
              </a:lnSpc>
            </a:pPr>
            <a:r>
              <a:rPr lang="en-US" dirty="0"/>
              <a:t>Alternative is partial replication in which only a subset of the data is stored at the edge server.</a:t>
            </a:r>
          </a:p>
          <a:p>
            <a:pPr>
              <a:lnSpc>
                <a:spcPct val="100000"/>
              </a:lnSpc>
            </a:pPr>
            <a:r>
              <a:rPr lang="en-US" dirty="0"/>
              <a:t>The problem with partial replication is that it may be very difficult to manually decide which data is needed at the edge server.</a:t>
            </a:r>
          </a:p>
        </p:txBody>
      </p:sp>
    </p:spTree>
    <p:extLst>
      <p:ext uri="{BB962C8B-B14F-4D97-AF65-F5344CB8AC3E}">
        <p14:creationId xmlns:p14="http://schemas.microsoft.com/office/powerpoint/2010/main" val="420633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Replication of Web Applications</a:t>
            </a:r>
          </a:p>
        </p:txBody>
      </p:sp>
      <p:sp>
        <p:nvSpPr>
          <p:cNvPr id="5" name="Rectangle 4"/>
          <p:cNvSpPr/>
          <p:nvPr/>
        </p:nvSpPr>
        <p:spPr>
          <a:xfrm>
            <a:off x="1288678" y="5960376"/>
            <a:ext cx="7978380" cy="461665"/>
          </a:xfrm>
          <a:prstGeom prst="rect">
            <a:avLst/>
          </a:prstGeom>
          <a:solidFill>
            <a:srgbClr val="1D3064"/>
          </a:solidFill>
          <a:ln>
            <a:noFill/>
          </a:ln>
        </p:spPr>
        <p:txBody>
          <a:bodyPr wrap="square">
            <a:spAutoFit/>
          </a:bodyPr>
          <a:lstStyle/>
          <a:p>
            <a:pPr algn="ctr"/>
            <a:r>
              <a:rPr lang="en-US" altLang="en-US" sz="2400" b="1" dirty="0">
                <a:solidFill>
                  <a:schemeClr val="bg1"/>
                </a:solidFill>
              </a:rPr>
              <a:t>Alternatives for caching and replication with Web applications.</a:t>
            </a:r>
          </a:p>
        </p:txBody>
      </p:sp>
      <p:sp>
        <p:nvSpPr>
          <p:cNvPr id="6" name="Rectangle 5"/>
          <p:cNvSpPr/>
          <p:nvPr/>
        </p:nvSpPr>
        <p:spPr>
          <a:xfrm>
            <a:off x="2684930" y="1949823"/>
            <a:ext cx="914400" cy="685800"/>
          </a:xfrm>
          <a:prstGeom prst="rect">
            <a:avLst/>
          </a:prstGeom>
          <a:ln w="28575">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Server</a:t>
            </a:r>
          </a:p>
        </p:txBody>
      </p:sp>
      <p:sp>
        <p:nvSpPr>
          <p:cNvPr id="7" name="Rectangle 6"/>
          <p:cNvSpPr/>
          <p:nvPr/>
        </p:nvSpPr>
        <p:spPr>
          <a:xfrm>
            <a:off x="1237130" y="1797423"/>
            <a:ext cx="952500" cy="685800"/>
          </a:xfrm>
          <a:prstGeom prst="rect">
            <a:avLst/>
          </a:prstGeom>
          <a:ln w="28575">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Client</a:t>
            </a:r>
          </a:p>
        </p:txBody>
      </p:sp>
      <p:sp>
        <p:nvSpPr>
          <p:cNvPr id="8" name="Rectangle 7"/>
          <p:cNvSpPr/>
          <p:nvPr/>
        </p:nvSpPr>
        <p:spPr>
          <a:xfrm>
            <a:off x="8628530" y="1949823"/>
            <a:ext cx="914400" cy="685800"/>
          </a:xfrm>
          <a:prstGeom prst="rect">
            <a:avLst/>
          </a:prstGeom>
          <a:ln w="28575">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Server</a:t>
            </a:r>
          </a:p>
        </p:txBody>
      </p:sp>
      <p:sp>
        <p:nvSpPr>
          <p:cNvPr id="9" name="Can 8"/>
          <p:cNvSpPr/>
          <p:nvPr/>
        </p:nvSpPr>
        <p:spPr>
          <a:xfrm>
            <a:off x="2799230" y="3524516"/>
            <a:ext cx="685800" cy="570573"/>
          </a:xfrm>
          <a:prstGeom prst="can">
            <a:avLst/>
          </a:prstGeom>
          <a:solidFill>
            <a:schemeClr val="bg1"/>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an 9"/>
          <p:cNvSpPr/>
          <p:nvPr/>
        </p:nvSpPr>
        <p:spPr>
          <a:xfrm>
            <a:off x="3751730" y="3511301"/>
            <a:ext cx="685800" cy="583788"/>
          </a:xfrm>
          <a:prstGeom prst="can">
            <a:avLst/>
          </a:prstGeom>
          <a:solidFill>
            <a:schemeClr val="bg1"/>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n 10"/>
          <p:cNvSpPr/>
          <p:nvPr/>
        </p:nvSpPr>
        <p:spPr>
          <a:xfrm>
            <a:off x="1846730" y="3511301"/>
            <a:ext cx="685800" cy="563815"/>
          </a:xfrm>
          <a:prstGeom prst="can">
            <a:avLst/>
          </a:prstGeom>
          <a:solidFill>
            <a:schemeClr val="bg1"/>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a:stCxn id="6" idx="2"/>
            <a:endCxn id="11" idx="0"/>
          </p:cNvCxnSpPr>
          <p:nvPr/>
        </p:nvCxnSpPr>
        <p:spPr>
          <a:xfrm flipH="1">
            <a:off x="2189630" y="2635623"/>
            <a:ext cx="952500" cy="101663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2"/>
            <a:endCxn id="9" idx="0"/>
          </p:cNvCxnSpPr>
          <p:nvPr/>
        </p:nvCxnSpPr>
        <p:spPr>
          <a:xfrm>
            <a:off x="3142130" y="2635623"/>
            <a:ext cx="0" cy="103153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10" idx="0"/>
          </p:cNvCxnSpPr>
          <p:nvPr/>
        </p:nvCxnSpPr>
        <p:spPr>
          <a:xfrm>
            <a:off x="3142130" y="2635623"/>
            <a:ext cx="952500" cy="1021625"/>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7" idx="3"/>
          </p:cNvCxnSpPr>
          <p:nvPr/>
        </p:nvCxnSpPr>
        <p:spPr>
          <a:xfrm flipH="1" flipV="1">
            <a:off x="2189630" y="2140323"/>
            <a:ext cx="495300" cy="7131"/>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Can 15"/>
          <p:cNvSpPr/>
          <p:nvPr/>
        </p:nvSpPr>
        <p:spPr>
          <a:xfrm>
            <a:off x="8742830" y="3524515"/>
            <a:ext cx="685800" cy="570573"/>
          </a:xfrm>
          <a:prstGeom prst="can">
            <a:avLst/>
          </a:prstGeom>
          <a:solidFill>
            <a:schemeClr val="bg1"/>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a:stCxn id="8" idx="2"/>
            <a:endCxn id="16" idx="0"/>
          </p:cNvCxnSpPr>
          <p:nvPr/>
        </p:nvCxnSpPr>
        <p:spPr>
          <a:xfrm>
            <a:off x="9085730" y="2635623"/>
            <a:ext cx="0" cy="1031535"/>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p:cNvSpPr/>
          <p:nvPr/>
        </p:nvSpPr>
        <p:spPr>
          <a:xfrm>
            <a:off x="3065930" y="4997823"/>
            <a:ext cx="1143000" cy="685800"/>
          </a:xfrm>
          <a:prstGeom prst="flowChartMultidocumen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Schema</a:t>
            </a:r>
          </a:p>
        </p:txBody>
      </p:sp>
      <p:sp>
        <p:nvSpPr>
          <p:cNvPr id="19" name="Flowchart: Multidocument 18"/>
          <p:cNvSpPr/>
          <p:nvPr/>
        </p:nvSpPr>
        <p:spPr>
          <a:xfrm>
            <a:off x="7602288" y="5001272"/>
            <a:ext cx="1143000" cy="685800"/>
          </a:xfrm>
          <a:prstGeom prst="flowChartMultidocumen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Schema</a:t>
            </a:r>
          </a:p>
        </p:txBody>
      </p:sp>
      <p:cxnSp>
        <p:nvCxnSpPr>
          <p:cNvPr id="20" name="Straight Connector 19"/>
          <p:cNvCxnSpPr>
            <a:stCxn id="9" idx="3"/>
            <a:endCxn id="18" idx="0"/>
          </p:cNvCxnSpPr>
          <p:nvPr/>
        </p:nvCxnSpPr>
        <p:spPr>
          <a:xfrm>
            <a:off x="3142130" y="4095089"/>
            <a:ext cx="573934" cy="902734"/>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0" idx="3"/>
            <a:endCxn id="18" idx="0"/>
          </p:cNvCxnSpPr>
          <p:nvPr/>
        </p:nvCxnSpPr>
        <p:spPr>
          <a:xfrm flipH="1">
            <a:off x="3716064" y="4095089"/>
            <a:ext cx="378566" cy="902734"/>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8439247" y="4075116"/>
            <a:ext cx="378566" cy="902734"/>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666130" y="1269856"/>
            <a:ext cx="36884" cy="4337567"/>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7448646" y="1269856"/>
            <a:ext cx="36884" cy="4337567"/>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599330" y="2140323"/>
            <a:ext cx="50292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3599330" y="2452736"/>
            <a:ext cx="5029200" cy="40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6" idx="2"/>
            <a:endCxn id="10" idx="4"/>
          </p:cNvCxnSpPr>
          <p:nvPr/>
        </p:nvCxnSpPr>
        <p:spPr>
          <a:xfrm flipH="1" flipV="1">
            <a:off x="4437530" y="3803195"/>
            <a:ext cx="4305300" cy="66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9" idx="1"/>
            <a:endCxn id="18" idx="3"/>
          </p:cNvCxnSpPr>
          <p:nvPr/>
        </p:nvCxnSpPr>
        <p:spPr>
          <a:xfrm flipH="1" flipV="1">
            <a:off x="4208930" y="5340723"/>
            <a:ext cx="3393358" cy="34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7790330" y="1187823"/>
            <a:ext cx="2191497" cy="400110"/>
          </a:xfrm>
          <a:prstGeom prst="rect">
            <a:avLst/>
          </a:prstGeom>
          <a:noFill/>
        </p:spPr>
        <p:txBody>
          <a:bodyPr wrap="none" rtlCol="0">
            <a:spAutoFit/>
          </a:bodyPr>
          <a:lstStyle/>
          <a:p>
            <a:r>
              <a:rPr lang="en-US" sz="2000" dirty="0"/>
              <a:t>Original server side</a:t>
            </a:r>
          </a:p>
        </p:txBody>
      </p:sp>
      <p:sp>
        <p:nvSpPr>
          <p:cNvPr id="30" name="TextBox 29"/>
          <p:cNvSpPr txBox="1"/>
          <p:nvPr/>
        </p:nvSpPr>
        <p:spPr>
          <a:xfrm>
            <a:off x="2218428" y="1192676"/>
            <a:ext cx="1937133" cy="400110"/>
          </a:xfrm>
          <a:prstGeom prst="rect">
            <a:avLst/>
          </a:prstGeom>
          <a:noFill/>
        </p:spPr>
        <p:txBody>
          <a:bodyPr wrap="none" rtlCol="0">
            <a:spAutoFit/>
          </a:bodyPr>
          <a:lstStyle/>
          <a:p>
            <a:r>
              <a:rPr lang="en-US" sz="2000" dirty="0"/>
              <a:t>Edge server side</a:t>
            </a:r>
          </a:p>
        </p:txBody>
      </p:sp>
      <p:sp>
        <p:nvSpPr>
          <p:cNvPr id="31" name="TextBox 30"/>
          <p:cNvSpPr txBox="1"/>
          <p:nvPr/>
        </p:nvSpPr>
        <p:spPr>
          <a:xfrm>
            <a:off x="5630053" y="1732437"/>
            <a:ext cx="788677" cy="400110"/>
          </a:xfrm>
          <a:prstGeom prst="rect">
            <a:avLst/>
          </a:prstGeom>
          <a:noFill/>
        </p:spPr>
        <p:txBody>
          <a:bodyPr wrap="none" rtlCol="0">
            <a:spAutoFit/>
          </a:bodyPr>
          <a:lstStyle/>
          <a:p>
            <a:r>
              <a:rPr lang="en-US" sz="2000" dirty="0"/>
              <a:t>query</a:t>
            </a:r>
          </a:p>
        </p:txBody>
      </p:sp>
      <p:sp>
        <p:nvSpPr>
          <p:cNvPr id="32" name="TextBox 31"/>
          <p:cNvSpPr txBox="1"/>
          <p:nvPr/>
        </p:nvSpPr>
        <p:spPr>
          <a:xfrm>
            <a:off x="5389075" y="2459746"/>
            <a:ext cx="1182055" cy="400110"/>
          </a:xfrm>
          <a:prstGeom prst="rect">
            <a:avLst/>
          </a:prstGeom>
          <a:noFill/>
        </p:spPr>
        <p:txBody>
          <a:bodyPr wrap="none" rtlCol="0">
            <a:spAutoFit/>
          </a:bodyPr>
          <a:lstStyle/>
          <a:p>
            <a:r>
              <a:rPr lang="en-US" sz="2000" dirty="0"/>
              <a:t>Response</a:t>
            </a:r>
          </a:p>
        </p:txBody>
      </p:sp>
      <p:sp>
        <p:nvSpPr>
          <p:cNvPr id="33" name="TextBox 32"/>
          <p:cNvSpPr txBox="1"/>
          <p:nvPr/>
        </p:nvSpPr>
        <p:spPr>
          <a:xfrm>
            <a:off x="8628530" y="4159623"/>
            <a:ext cx="1564852" cy="707886"/>
          </a:xfrm>
          <a:prstGeom prst="rect">
            <a:avLst/>
          </a:prstGeom>
          <a:noFill/>
        </p:spPr>
        <p:txBody>
          <a:bodyPr wrap="none" rtlCol="0">
            <a:spAutoFit/>
          </a:bodyPr>
          <a:lstStyle/>
          <a:p>
            <a:pPr algn="ctr"/>
            <a:r>
              <a:rPr lang="en-US" sz="2000" dirty="0"/>
              <a:t>Authoritative</a:t>
            </a:r>
          </a:p>
          <a:p>
            <a:pPr algn="ctr"/>
            <a:r>
              <a:rPr lang="en-US" sz="2000" dirty="0"/>
              <a:t>Database</a:t>
            </a:r>
          </a:p>
        </p:txBody>
      </p:sp>
      <p:sp>
        <p:nvSpPr>
          <p:cNvPr id="34" name="TextBox 33"/>
          <p:cNvSpPr txBox="1"/>
          <p:nvPr/>
        </p:nvSpPr>
        <p:spPr>
          <a:xfrm>
            <a:off x="4742330" y="3409291"/>
            <a:ext cx="2724528" cy="369332"/>
          </a:xfrm>
          <a:prstGeom prst="rect">
            <a:avLst/>
          </a:prstGeom>
          <a:noFill/>
        </p:spPr>
        <p:txBody>
          <a:bodyPr wrap="none" rtlCol="0">
            <a:spAutoFit/>
          </a:bodyPr>
          <a:lstStyle/>
          <a:p>
            <a:r>
              <a:rPr lang="en-US" dirty="0"/>
              <a:t>Full/Partial data replication</a:t>
            </a:r>
          </a:p>
        </p:txBody>
      </p:sp>
      <p:sp>
        <p:nvSpPr>
          <p:cNvPr id="35" name="TextBox 34"/>
          <p:cNvSpPr txBox="1"/>
          <p:nvPr/>
        </p:nvSpPr>
        <p:spPr>
          <a:xfrm>
            <a:off x="4901695" y="4693023"/>
            <a:ext cx="2431435" cy="646331"/>
          </a:xfrm>
          <a:prstGeom prst="rect">
            <a:avLst/>
          </a:prstGeom>
          <a:noFill/>
        </p:spPr>
        <p:txBody>
          <a:bodyPr wrap="none" rtlCol="0">
            <a:spAutoFit/>
          </a:bodyPr>
          <a:lstStyle/>
          <a:p>
            <a:pPr algn="ctr"/>
            <a:r>
              <a:rPr lang="en-US" dirty="0"/>
              <a:t>Full schema replication/</a:t>
            </a:r>
          </a:p>
          <a:p>
            <a:pPr algn="ctr"/>
            <a:r>
              <a:rPr lang="en-US" dirty="0"/>
              <a:t>query templates</a:t>
            </a:r>
          </a:p>
        </p:txBody>
      </p:sp>
      <p:sp>
        <p:nvSpPr>
          <p:cNvPr id="36" name="TextBox 35"/>
          <p:cNvSpPr txBox="1"/>
          <p:nvPr/>
        </p:nvSpPr>
        <p:spPr>
          <a:xfrm>
            <a:off x="3599330" y="2788023"/>
            <a:ext cx="1156983" cy="707886"/>
          </a:xfrm>
          <a:prstGeom prst="rect">
            <a:avLst/>
          </a:prstGeom>
          <a:noFill/>
        </p:spPr>
        <p:txBody>
          <a:bodyPr wrap="none" rtlCol="0">
            <a:spAutoFit/>
          </a:bodyPr>
          <a:lstStyle/>
          <a:p>
            <a:pPr algn="ctr"/>
            <a:r>
              <a:rPr lang="en-US" sz="2000" dirty="0"/>
              <a:t>Database</a:t>
            </a:r>
          </a:p>
          <a:p>
            <a:pPr algn="ctr"/>
            <a:r>
              <a:rPr lang="en-US" sz="2000" dirty="0"/>
              <a:t>copy</a:t>
            </a:r>
          </a:p>
        </p:txBody>
      </p:sp>
      <p:sp>
        <p:nvSpPr>
          <p:cNvPr id="37" name="TextBox 36"/>
          <p:cNvSpPr txBox="1"/>
          <p:nvPr/>
        </p:nvSpPr>
        <p:spPr>
          <a:xfrm>
            <a:off x="1031150" y="2797447"/>
            <a:ext cx="1619866" cy="707886"/>
          </a:xfrm>
          <a:prstGeom prst="rect">
            <a:avLst/>
          </a:prstGeom>
          <a:noFill/>
        </p:spPr>
        <p:txBody>
          <a:bodyPr wrap="none" rtlCol="0">
            <a:spAutoFit/>
          </a:bodyPr>
          <a:lstStyle/>
          <a:p>
            <a:pPr algn="ctr"/>
            <a:r>
              <a:rPr lang="en-US" sz="2000" dirty="0"/>
              <a:t>Content-blind</a:t>
            </a:r>
          </a:p>
          <a:p>
            <a:pPr algn="ctr"/>
            <a:r>
              <a:rPr lang="en-US" sz="2000" dirty="0"/>
              <a:t>cache</a:t>
            </a:r>
          </a:p>
        </p:txBody>
      </p:sp>
      <p:sp>
        <p:nvSpPr>
          <p:cNvPr id="38" name="TextBox 37"/>
          <p:cNvSpPr txBox="1"/>
          <p:nvPr/>
        </p:nvSpPr>
        <p:spPr>
          <a:xfrm>
            <a:off x="1478477" y="4277887"/>
            <a:ext cx="1736886" cy="707886"/>
          </a:xfrm>
          <a:prstGeom prst="rect">
            <a:avLst/>
          </a:prstGeom>
          <a:noFill/>
        </p:spPr>
        <p:txBody>
          <a:bodyPr wrap="none" rtlCol="0">
            <a:spAutoFit/>
          </a:bodyPr>
          <a:lstStyle/>
          <a:p>
            <a:pPr algn="ctr"/>
            <a:r>
              <a:rPr lang="en-US" sz="2000" dirty="0"/>
              <a:t>Content-aware</a:t>
            </a:r>
          </a:p>
          <a:p>
            <a:pPr algn="ctr"/>
            <a:r>
              <a:rPr lang="en-US" sz="2000" dirty="0"/>
              <a:t>cache</a:t>
            </a:r>
          </a:p>
        </p:txBody>
      </p:sp>
      <p:cxnSp>
        <p:nvCxnSpPr>
          <p:cNvPr id="39" name="Straight Connector 38"/>
          <p:cNvCxnSpPr/>
          <p:nvPr/>
        </p:nvCxnSpPr>
        <p:spPr>
          <a:xfrm flipH="1">
            <a:off x="2608730" y="4075116"/>
            <a:ext cx="190500" cy="316468"/>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8318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par>
                                <p:cTn id="8" presetID="22" presetClass="entr" presetSubtype="1"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up)">
                                      <p:cBhvr>
                                        <p:cTn id="10" dur="500"/>
                                        <p:tgtEl>
                                          <p:spTgt spid="23"/>
                                        </p:tgtEl>
                                      </p:cBhvr>
                                    </p:animEffect>
                                  </p:childTnLst>
                                </p:cTn>
                              </p:par>
                              <p:par>
                                <p:cTn id="11" presetID="22" presetClass="entr" presetSubtype="1"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up)">
                                      <p:cBhvr>
                                        <p:cTn id="13" dur="500"/>
                                        <p:tgtEl>
                                          <p:spTgt spid="24"/>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up)">
                                      <p:cBhvr>
                                        <p:cTn id="16" dur="500"/>
                                        <p:tgtEl>
                                          <p:spTgt spid="2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down)">
                                      <p:cBhvr>
                                        <p:cTn id="33" dur="500"/>
                                        <p:tgtEl>
                                          <p:spTgt spid="10"/>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down)">
                                      <p:cBhvr>
                                        <p:cTn id="36" dur="500"/>
                                        <p:tgtEl>
                                          <p:spTgt spid="7"/>
                                        </p:tgtEl>
                                      </p:cBhvr>
                                    </p:animEffect>
                                  </p:childTnLst>
                                </p:cTn>
                              </p:par>
                              <p:par>
                                <p:cTn id="37" presetID="22" presetClass="entr" presetSubtype="4"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down)">
                                      <p:cBhvr>
                                        <p:cTn id="39" dur="500"/>
                                        <p:tgtEl>
                                          <p:spTgt spid="15"/>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down)">
                                      <p:cBhvr>
                                        <p:cTn id="42" dur="500"/>
                                        <p:tgtEl>
                                          <p:spTgt spid="8"/>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ipe(down)">
                                      <p:cBhvr>
                                        <p:cTn id="45" dur="500"/>
                                        <p:tgtEl>
                                          <p:spTgt spid="16"/>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wipe(down)">
                                      <p:cBhvr>
                                        <p:cTn id="48" dur="500"/>
                                        <p:tgtEl>
                                          <p:spTgt spid="3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wipe(down)">
                                      <p:cBhvr>
                                        <p:cTn id="53" dur="500"/>
                                        <p:tgtEl>
                                          <p:spTgt spid="37"/>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wipe(down)">
                                      <p:cBhvr>
                                        <p:cTn id="56" dur="500"/>
                                        <p:tgtEl>
                                          <p:spTgt spid="38"/>
                                        </p:tgtEl>
                                      </p:cBhvr>
                                    </p:animEffect>
                                  </p:childTnLst>
                                </p:cTn>
                              </p:par>
                              <p:par>
                                <p:cTn id="57" presetID="22" presetClass="entr" presetSubtype="4" fill="hold" nodeType="with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wipe(down)">
                                      <p:cBhvr>
                                        <p:cTn id="59" dur="500"/>
                                        <p:tgtEl>
                                          <p:spTgt spid="39"/>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wipe(down)">
                                      <p:cBhvr>
                                        <p:cTn id="62" dur="500"/>
                                        <p:tgtEl>
                                          <p:spTgt spid="36"/>
                                        </p:tgtEl>
                                      </p:cBhvr>
                                    </p:animEffect>
                                  </p:childTnLst>
                                </p:cTn>
                              </p:par>
                              <p:par>
                                <p:cTn id="63" presetID="22" presetClass="entr" presetSubtype="4" fill="hold" nodeType="with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wipe(down)">
                                      <p:cBhvr>
                                        <p:cTn id="65" dur="500"/>
                                        <p:tgtEl>
                                          <p:spTgt spid="12"/>
                                        </p:tgtEl>
                                      </p:cBhvr>
                                    </p:animEffect>
                                  </p:childTnLst>
                                </p:cTn>
                              </p:par>
                              <p:par>
                                <p:cTn id="66" presetID="22" presetClass="entr" presetSubtype="4" fill="hold"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wipe(down)">
                                      <p:cBhvr>
                                        <p:cTn id="68" dur="500"/>
                                        <p:tgtEl>
                                          <p:spTgt spid="13"/>
                                        </p:tgtEl>
                                      </p:cBhvr>
                                    </p:animEffect>
                                  </p:childTnLst>
                                </p:cTn>
                              </p:par>
                              <p:par>
                                <p:cTn id="69" presetID="22" presetClass="entr" presetSubtype="4" fill="hold"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down)">
                                      <p:cBhvr>
                                        <p:cTn id="71" dur="500"/>
                                        <p:tgtEl>
                                          <p:spTgt spid="14"/>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wipe(down)">
                                      <p:cBhvr>
                                        <p:cTn id="74" dur="500"/>
                                        <p:tgtEl>
                                          <p:spTgt spid="18"/>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ipe(down)">
                                      <p:cBhvr>
                                        <p:cTn id="77" dur="500"/>
                                        <p:tgtEl>
                                          <p:spTgt spid="19"/>
                                        </p:tgtEl>
                                      </p:cBhvr>
                                    </p:animEffect>
                                  </p:childTnLst>
                                </p:cTn>
                              </p:par>
                              <p:par>
                                <p:cTn id="78" presetID="22" presetClass="entr" presetSubtype="4" fill="hold" nodeType="with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wipe(down)">
                                      <p:cBhvr>
                                        <p:cTn id="80" dur="500"/>
                                        <p:tgtEl>
                                          <p:spTgt spid="1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nodeType="click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wipe(up)">
                                      <p:cBhvr>
                                        <p:cTn id="85" dur="500"/>
                                        <p:tgtEl>
                                          <p:spTgt spid="21"/>
                                        </p:tgtEl>
                                      </p:cBhvr>
                                    </p:animEffect>
                                  </p:childTnLst>
                                </p:cTn>
                              </p:par>
                              <p:par>
                                <p:cTn id="86" presetID="22" presetClass="entr" presetSubtype="1" fill="hold"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wipe(up)">
                                      <p:cBhvr>
                                        <p:cTn id="88" dur="500"/>
                                        <p:tgtEl>
                                          <p:spTgt spid="20"/>
                                        </p:tgtEl>
                                      </p:cBhvr>
                                    </p:animEffect>
                                  </p:childTnLst>
                                </p:cTn>
                              </p:par>
                              <p:par>
                                <p:cTn id="89" presetID="22" presetClass="entr" presetSubtype="1" fill="hold" nodeType="with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wipe(up)">
                                      <p:cBhvr>
                                        <p:cTn id="91" dur="500"/>
                                        <p:tgtEl>
                                          <p:spTgt spid="22"/>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wipe(left)">
                                      <p:cBhvr>
                                        <p:cTn id="96" dur="500"/>
                                        <p:tgtEl>
                                          <p:spTgt spid="31"/>
                                        </p:tgtEl>
                                      </p:cBhvr>
                                    </p:animEffect>
                                  </p:childTnLst>
                                </p:cTn>
                              </p:par>
                              <p:par>
                                <p:cTn id="97" presetID="22" presetClass="entr" presetSubtype="8" fill="hold" nodeType="withEffect">
                                  <p:stCondLst>
                                    <p:cond delay="0"/>
                                  </p:stCondLst>
                                  <p:childTnLst>
                                    <p:set>
                                      <p:cBhvr>
                                        <p:cTn id="98" dur="1" fill="hold">
                                          <p:stCondLst>
                                            <p:cond delay="0"/>
                                          </p:stCondLst>
                                        </p:cTn>
                                        <p:tgtEl>
                                          <p:spTgt spid="25"/>
                                        </p:tgtEl>
                                        <p:attrNameLst>
                                          <p:attrName>style.visibility</p:attrName>
                                        </p:attrNameLst>
                                      </p:cBhvr>
                                      <p:to>
                                        <p:strVal val="visible"/>
                                      </p:to>
                                    </p:set>
                                    <p:animEffect transition="in" filter="wipe(left)">
                                      <p:cBhvr>
                                        <p:cTn id="99" dur="500"/>
                                        <p:tgtEl>
                                          <p:spTgt spid="25"/>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2" fill="hold" grpId="0" nodeType="click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wipe(right)">
                                      <p:cBhvr>
                                        <p:cTn id="104" dur="500"/>
                                        <p:tgtEl>
                                          <p:spTgt spid="32"/>
                                        </p:tgtEl>
                                      </p:cBhvr>
                                    </p:animEffect>
                                  </p:childTnLst>
                                </p:cTn>
                              </p:par>
                              <p:par>
                                <p:cTn id="105" presetID="22" presetClass="entr" presetSubtype="2" fill="hold" nodeType="withEffect">
                                  <p:stCondLst>
                                    <p:cond delay="0"/>
                                  </p:stCondLst>
                                  <p:childTnLst>
                                    <p:set>
                                      <p:cBhvr>
                                        <p:cTn id="106" dur="1" fill="hold">
                                          <p:stCondLst>
                                            <p:cond delay="0"/>
                                          </p:stCondLst>
                                        </p:cTn>
                                        <p:tgtEl>
                                          <p:spTgt spid="26"/>
                                        </p:tgtEl>
                                        <p:attrNameLst>
                                          <p:attrName>style.visibility</p:attrName>
                                        </p:attrNameLst>
                                      </p:cBhvr>
                                      <p:to>
                                        <p:strVal val="visible"/>
                                      </p:to>
                                    </p:set>
                                    <p:animEffect transition="in" filter="wipe(right)">
                                      <p:cBhvr>
                                        <p:cTn id="107" dur="500"/>
                                        <p:tgtEl>
                                          <p:spTgt spid="26"/>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2" fill="hold" grpId="0" nodeType="click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wipe(right)">
                                      <p:cBhvr>
                                        <p:cTn id="112" dur="500"/>
                                        <p:tgtEl>
                                          <p:spTgt spid="34"/>
                                        </p:tgtEl>
                                      </p:cBhvr>
                                    </p:animEffect>
                                  </p:childTnLst>
                                </p:cTn>
                              </p:par>
                              <p:par>
                                <p:cTn id="113" presetID="22" presetClass="entr" presetSubtype="2" fill="hold" nodeType="with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wipe(right)">
                                      <p:cBhvr>
                                        <p:cTn id="115" dur="500"/>
                                        <p:tgtEl>
                                          <p:spTgt spid="27"/>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2" fill="hold" grpId="0" nodeType="clickEffect">
                                  <p:stCondLst>
                                    <p:cond delay="0"/>
                                  </p:stCondLst>
                                  <p:childTnLst>
                                    <p:set>
                                      <p:cBhvr>
                                        <p:cTn id="119" dur="1" fill="hold">
                                          <p:stCondLst>
                                            <p:cond delay="0"/>
                                          </p:stCondLst>
                                        </p:cTn>
                                        <p:tgtEl>
                                          <p:spTgt spid="35"/>
                                        </p:tgtEl>
                                        <p:attrNameLst>
                                          <p:attrName>style.visibility</p:attrName>
                                        </p:attrNameLst>
                                      </p:cBhvr>
                                      <p:to>
                                        <p:strVal val="visible"/>
                                      </p:to>
                                    </p:set>
                                    <p:animEffect transition="in" filter="wipe(right)">
                                      <p:cBhvr>
                                        <p:cTn id="120" dur="500"/>
                                        <p:tgtEl>
                                          <p:spTgt spid="35"/>
                                        </p:tgtEl>
                                      </p:cBhvr>
                                    </p:animEffect>
                                  </p:childTnLst>
                                </p:cTn>
                              </p:par>
                              <p:par>
                                <p:cTn id="121" presetID="22" presetClass="entr" presetSubtype="2" fill="hold" nodeType="withEffect">
                                  <p:stCondLst>
                                    <p:cond delay="0"/>
                                  </p:stCondLst>
                                  <p:childTnLst>
                                    <p:set>
                                      <p:cBhvr>
                                        <p:cTn id="122" dur="1" fill="hold">
                                          <p:stCondLst>
                                            <p:cond delay="0"/>
                                          </p:stCondLst>
                                        </p:cTn>
                                        <p:tgtEl>
                                          <p:spTgt spid="28"/>
                                        </p:tgtEl>
                                        <p:attrNameLst>
                                          <p:attrName>style.visibility</p:attrName>
                                        </p:attrNameLst>
                                      </p:cBhvr>
                                      <p:to>
                                        <p:strVal val="visible"/>
                                      </p:to>
                                    </p:set>
                                    <p:animEffect transition="in" filter="wipe(right)">
                                      <p:cBhvr>
                                        <p:cTn id="12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6" grpId="0" animBg="1"/>
      <p:bldP spid="18" grpId="0" animBg="1"/>
      <p:bldP spid="19" grpId="0" animBg="1"/>
      <p:bldP spid="29" grpId="0"/>
      <p:bldP spid="30" grpId="0"/>
      <p:bldP spid="31" grpId="0"/>
      <p:bldP spid="32" grpId="0"/>
      <p:bldP spid="33" grpId="0"/>
      <p:bldP spid="34" grpId="0"/>
      <p:bldP spid="35" grpId="0"/>
      <p:bldP spid="36" grpId="0"/>
      <p:bldP spid="37" grpId="0"/>
      <p:bldP spid="38"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Categories of Distributed System</a:t>
            </a:r>
          </a:p>
        </p:txBody>
      </p:sp>
      <p:sp>
        <p:nvSpPr>
          <p:cNvPr id="4" name="TextBox 3"/>
          <p:cNvSpPr txBox="1"/>
          <p:nvPr/>
        </p:nvSpPr>
        <p:spPr>
          <a:xfrm>
            <a:off x="645459" y="3966882"/>
            <a:ext cx="10340788" cy="830997"/>
          </a:xfrm>
          <a:prstGeom prst="rect">
            <a:avLst/>
          </a:prstGeom>
          <a:noFill/>
        </p:spPr>
        <p:txBody>
          <a:bodyPr wrap="square" rtlCol="0">
            <a:spAutoFit/>
          </a:bodyPr>
          <a:lstStyle/>
          <a:p>
            <a:r>
              <a:rPr lang="en-IN" sz="4800" b="1" dirty="0">
                <a:solidFill>
                  <a:srgbClr val="1D3064"/>
                </a:solidFill>
              </a:rPr>
              <a:t>Distributed Coordination-Based Systems</a:t>
            </a:r>
          </a:p>
        </p:txBody>
      </p:sp>
    </p:spTree>
    <p:extLst>
      <p:ext uri="{BB962C8B-B14F-4D97-AF65-F5344CB8AC3E}">
        <p14:creationId xmlns:p14="http://schemas.microsoft.com/office/powerpoint/2010/main" val="3798493402"/>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Distributed Coordination-Based Systems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smtClean="0"/>
              <a:t>Instead </a:t>
            </a:r>
            <a:r>
              <a:rPr lang="en-US" dirty="0"/>
              <a:t>of concentrating on the transparent distribution </a:t>
            </a:r>
            <a:r>
              <a:rPr lang="en-US" dirty="0" smtClean="0"/>
              <a:t>of components</a:t>
            </a:r>
            <a:r>
              <a:rPr lang="en-US" dirty="0"/>
              <a:t>, emphasis lies on the coordination of activities between </a:t>
            </a:r>
            <a:r>
              <a:rPr lang="en-US" dirty="0" smtClean="0"/>
              <a:t>those components.</a:t>
            </a:r>
          </a:p>
          <a:p>
            <a:pPr>
              <a:lnSpc>
                <a:spcPct val="100000"/>
              </a:lnSpc>
            </a:pPr>
            <a:r>
              <a:rPr lang="en-US" dirty="0"/>
              <a:t>Key to the approach </a:t>
            </a:r>
            <a:r>
              <a:rPr lang="en-US" dirty="0" smtClean="0"/>
              <a:t>followed in </a:t>
            </a:r>
            <a:r>
              <a:rPr lang="en-US" dirty="0"/>
              <a:t>coordination-based systems is the clean separation between computation </a:t>
            </a:r>
            <a:r>
              <a:rPr lang="en-US" dirty="0" smtClean="0"/>
              <a:t>and coordination.</a:t>
            </a:r>
          </a:p>
          <a:p>
            <a:pPr>
              <a:lnSpc>
                <a:spcPct val="100000"/>
              </a:lnSpc>
            </a:pPr>
            <a:r>
              <a:rPr lang="en-US" dirty="0"/>
              <a:t>Essence: We are trying to separate computation from coordination; coordination deals with all aspects of  communication between processes, as well as their cooperation.</a:t>
            </a:r>
          </a:p>
          <a:p>
            <a:pPr>
              <a:lnSpc>
                <a:spcPct val="100000"/>
              </a:lnSpc>
            </a:pPr>
            <a:r>
              <a:rPr lang="en-US" dirty="0"/>
              <a:t>Make a distinction between:</a:t>
            </a:r>
          </a:p>
          <a:p>
            <a:pPr marL="1371600" lvl="2" indent="-457200">
              <a:buFont typeface="+mj-lt"/>
              <a:buAutoNum type="arabicPeriod"/>
            </a:pPr>
            <a:r>
              <a:rPr lang="en-US" sz="2400" dirty="0">
                <a:solidFill>
                  <a:schemeClr val="accent6"/>
                </a:solidFill>
              </a:rPr>
              <a:t>Temporal coupling</a:t>
            </a:r>
            <a:r>
              <a:rPr lang="en-US" sz="2400" dirty="0"/>
              <a:t>: Are cooperating/communicating processes alive at the same time?</a:t>
            </a:r>
          </a:p>
          <a:p>
            <a:pPr marL="1371600" lvl="2" indent="-457200">
              <a:buFont typeface="+mj-lt"/>
              <a:buAutoNum type="arabicPeriod"/>
            </a:pPr>
            <a:r>
              <a:rPr lang="en-US" sz="2400" dirty="0">
                <a:solidFill>
                  <a:schemeClr val="accent6"/>
                </a:solidFill>
              </a:rPr>
              <a:t>Referential coupling</a:t>
            </a:r>
            <a:r>
              <a:rPr lang="en-US" sz="2400" dirty="0"/>
              <a:t>: Do cooperating/communicating processes know each other explicitly?</a:t>
            </a:r>
          </a:p>
        </p:txBody>
      </p:sp>
    </p:spTree>
    <p:extLst>
      <p:ext uri="{BB962C8B-B14F-4D97-AF65-F5344CB8AC3E}">
        <p14:creationId xmlns:p14="http://schemas.microsoft.com/office/powerpoint/2010/main" val="303354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Distributed Coordination-Based Systems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Coordination models</a:t>
            </a:r>
            <a:endParaRPr lang="en-US" sz="2400" dirty="0"/>
          </a:p>
        </p:txBody>
      </p:sp>
      <p:grpSp>
        <p:nvGrpSpPr>
          <p:cNvPr id="26" name="Group 25"/>
          <p:cNvGrpSpPr/>
          <p:nvPr/>
        </p:nvGrpSpPr>
        <p:grpSpPr>
          <a:xfrm>
            <a:off x="1197217" y="2074701"/>
            <a:ext cx="8578260" cy="3135284"/>
            <a:chOff x="446590" y="1542438"/>
            <a:chExt cx="8578260" cy="3135284"/>
          </a:xfrm>
        </p:grpSpPr>
        <p:sp>
          <p:nvSpPr>
            <p:cNvPr id="27" name="Rectangle 26"/>
            <p:cNvSpPr/>
            <p:nvPr/>
          </p:nvSpPr>
          <p:spPr>
            <a:xfrm>
              <a:off x="4084360" y="2890636"/>
              <a:ext cx="2470245" cy="88710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tx1"/>
                  </a:solidFill>
                </a:rPr>
                <a:t>Direct</a:t>
              </a:r>
              <a:endParaRPr lang="en-IN" sz="2400" dirty="0">
                <a:solidFill>
                  <a:schemeClr val="tx1"/>
                </a:solidFill>
              </a:endParaRPr>
            </a:p>
          </p:txBody>
        </p:sp>
        <p:sp>
          <p:nvSpPr>
            <p:cNvPr id="28" name="Rectangle 27"/>
            <p:cNvSpPr/>
            <p:nvPr/>
          </p:nvSpPr>
          <p:spPr>
            <a:xfrm>
              <a:off x="6554605" y="2890636"/>
              <a:ext cx="2470245" cy="88710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tx1"/>
                  </a:solidFill>
                </a:rPr>
                <a:t>Mailbox</a:t>
              </a:r>
              <a:endParaRPr lang="en-IN" sz="2400" dirty="0">
                <a:solidFill>
                  <a:schemeClr val="tx1"/>
                </a:solidFill>
              </a:endParaRPr>
            </a:p>
          </p:txBody>
        </p:sp>
        <p:sp>
          <p:nvSpPr>
            <p:cNvPr id="29" name="Rectangle 28"/>
            <p:cNvSpPr/>
            <p:nvPr/>
          </p:nvSpPr>
          <p:spPr>
            <a:xfrm>
              <a:off x="4084359" y="3790617"/>
              <a:ext cx="2470245" cy="88710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tx1"/>
                  </a:solidFill>
                </a:rPr>
                <a:t>Meeting oriented</a:t>
              </a:r>
              <a:endParaRPr lang="en-IN" sz="2400" dirty="0">
                <a:solidFill>
                  <a:schemeClr val="tx1"/>
                </a:solidFill>
              </a:endParaRPr>
            </a:p>
          </p:txBody>
        </p:sp>
        <p:sp>
          <p:nvSpPr>
            <p:cNvPr id="30" name="Rectangle 29"/>
            <p:cNvSpPr/>
            <p:nvPr/>
          </p:nvSpPr>
          <p:spPr>
            <a:xfrm>
              <a:off x="6550054" y="3790617"/>
              <a:ext cx="2470245" cy="88710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tx1"/>
                  </a:solidFill>
                </a:rPr>
                <a:t>Generative communication</a:t>
              </a:r>
              <a:endParaRPr lang="en-IN" sz="2400" dirty="0">
                <a:solidFill>
                  <a:schemeClr val="tx1"/>
                </a:solidFill>
              </a:endParaRPr>
            </a:p>
          </p:txBody>
        </p:sp>
        <p:sp>
          <p:nvSpPr>
            <p:cNvPr id="31" name="TextBox 30"/>
            <p:cNvSpPr txBox="1"/>
            <p:nvPr/>
          </p:nvSpPr>
          <p:spPr>
            <a:xfrm>
              <a:off x="2379043" y="3103355"/>
              <a:ext cx="1241946" cy="461665"/>
            </a:xfrm>
            <a:prstGeom prst="rect">
              <a:avLst/>
            </a:prstGeom>
            <a:noFill/>
          </p:spPr>
          <p:txBody>
            <a:bodyPr wrap="square" rtlCol="0">
              <a:spAutoFit/>
            </a:bodyPr>
            <a:lstStyle/>
            <a:p>
              <a:r>
                <a:rPr lang="en-IN" sz="2400" dirty="0" smtClean="0">
                  <a:solidFill>
                    <a:srgbClr val="1D3064"/>
                  </a:solidFill>
                </a:rPr>
                <a:t>Coupled</a:t>
              </a:r>
              <a:endParaRPr lang="en-IN" sz="2400" dirty="0">
                <a:solidFill>
                  <a:srgbClr val="1D3064"/>
                </a:solidFill>
              </a:endParaRPr>
            </a:p>
          </p:txBody>
        </p:sp>
        <p:sp>
          <p:nvSpPr>
            <p:cNvPr id="32" name="TextBox 31"/>
            <p:cNvSpPr txBox="1"/>
            <p:nvPr/>
          </p:nvSpPr>
          <p:spPr>
            <a:xfrm>
              <a:off x="2379043" y="4031727"/>
              <a:ext cx="1581300" cy="461665"/>
            </a:xfrm>
            <a:prstGeom prst="rect">
              <a:avLst/>
            </a:prstGeom>
            <a:noFill/>
          </p:spPr>
          <p:txBody>
            <a:bodyPr wrap="square" rtlCol="0">
              <a:spAutoFit/>
            </a:bodyPr>
            <a:lstStyle/>
            <a:p>
              <a:r>
                <a:rPr lang="en-IN" sz="2400" dirty="0" smtClean="0">
                  <a:solidFill>
                    <a:srgbClr val="1D3064"/>
                  </a:solidFill>
                </a:rPr>
                <a:t>Decoupled</a:t>
              </a:r>
              <a:endParaRPr lang="en-IN" sz="2400" dirty="0">
                <a:solidFill>
                  <a:srgbClr val="1D3064"/>
                </a:solidFill>
              </a:endParaRPr>
            </a:p>
          </p:txBody>
        </p:sp>
        <p:sp>
          <p:nvSpPr>
            <p:cNvPr id="33" name="TextBox 32"/>
            <p:cNvSpPr txBox="1"/>
            <p:nvPr/>
          </p:nvSpPr>
          <p:spPr>
            <a:xfrm>
              <a:off x="4807690" y="2244044"/>
              <a:ext cx="1241946" cy="461665"/>
            </a:xfrm>
            <a:prstGeom prst="rect">
              <a:avLst/>
            </a:prstGeom>
            <a:noFill/>
          </p:spPr>
          <p:txBody>
            <a:bodyPr wrap="square" rtlCol="0">
              <a:spAutoFit/>
            </a:bodyPr>
            <a:lstStyle/>
            <a:p>
              <a:r>
                <a:rPr lang="en-IN" sz="2400" dirty="0" smtClean="0">
                  <a:solidFill>
                    <a:srgbClr val="1D3064"/>
                  </a:solidFill>
                </a:rPr>
                <a:t>Coupled</a:t>
              </a:r>
              <a:endParaRPr lang="en-IN" sz="2400" dirty="0">
                <a:solidFill>
                  <a:srgbClr val="1D3064"/>
                </a:solidFill>
              </a:endParaRPr>
            </a:p>
          </p:txBody>
        </p:sp>
        <p:sp>
          <p:nvSpPr>
            <p:cNvPr id="34" name="TextBox 33"/>
            <p:cNvSpPr txBox="1"/>
            <p:nvPr/>
          </p:nvSpPr>
          <p:spPr>
            <a:xfrm>
              <a:off x="6994526" y="2216537"/>
              <a:ext cx="1581300" cy="461665"/>
            </a:xfrm>
            <a:prstGeom prst="rect">
              <a:avLst/>
            </a:prstGeom>
            <a:noFill/>
          </p:spPr>
          <p:txBody>
            <a:bodyPr wrap="square" rtlCol="0">
              <a:spAutoFit/>
            </a:bodyPr>
            <a:lstStyle/>
            <a:p>
              <a:r>
                <a:rPr lang="en-IN" sz="2400" dirty="0" smtClean="0">
                  <a:solidFill>
                    <a:srgbClr val="1D3064"/>
                  </a:solidFill>
                </a:rPr>
                <a:t>Decoupled</a:t>
              </a:r>
              <a:endParaRPr lang="en-IN" sz="2400" dirty="0">
                <a:solidFill>
                  <a:srgbClr val="1D3064"/>
                </a:solidFill>
              </a:endParaRPr>
            </a:p>
          </p:txBody>
        </p:sp>
        <p:sp>
          <p:nvSpPr>
            <p:cNvPr id="35" name="TextBox 34"/>
            <p:cNvSpPr txBox="1"/>
            <p:nvPr/>
          </p:nvSpPr>
          <p:spPr>
            <a:xfrm>
              <a:off x="446590" y="3546337"/>
              <a:ext cx="1700767" cy="461665"/>
            </a:xfrm>
            <a:prstGeom prst="rect">
              <a:avLst/>
            </a:prstGeom>
            <a:noFill/>
          </p:spPr>
          <p:txBody>
            <a:bodyPr wrap="square" rtlCol="0">
              <a:spAutoFit/>
            </a:bodyPr>
            <a:lstStyle/>
            <a:p>
              <a:r>
                <a:rPr lang="en-IN" sz="2400" b="1" dirty="0" smtClean="0">
                  <a:solidFill>
                    <a:schemeClr val="accent6"/>
                  </a:solidFill>
                </a:rPr>
                <a:t>Referential</a:t>
              </a:r>
              <a:endParaRPr lang="en-IN" sz="2400" b="1" dirty="0">
                <a:solidFill>
                  <a:schemeClr val="accent6"/>
                </a:solidFill>
              </a:endParaRPr>
            </a:p>
          </p:txBody>
        </p:sp>
        <p:sp>
          <p:nvSpPr>
            <p:cNvPr id="36" name="TextBox 35"/>
            <p:cNvSpPr txBox="1"/>
            <p:nvPr/>
          </p:nvSpPr>
          <p:spPr>
            <a:xfrm>
              <a:off x="5812265" y="1542438"/>
              <a:ext cx="1475577" cy="461665"/>
            </a:xfrm>
            <a:prstGeom prst="rect">
              <a:avLst/>
            </a:prstGeom>
            <a:noFill/>
          </p:spPr>
          <p:txBody>
            <a:bodyPr wrap="square" rtlCol="0">
              <a:spAutoFit/>
            </a:bodyPr>
            <a:lstStyle/>
            <a:p>
              <a:r>
                <a:rPr lang="en-IN" sz="2400" b="1" dirty="0" smtClean="0">
                  <a:solidFill>
                    <a:schemeClr val="accent6"/>
                  </a:solidFill>
                </a:rPr>
                <a:t>Temporal</a:t>
              </a:r>
              <a:endParaRPr lang="en-IN" sz="2400" b="1" dirty="0">
                <a:solidFill>
                  <a:schemeClr val="accent6"/>
                </a:solidFill>
              </a:endParaRPr>
            </a:p>
          </p:txBody>
        </p:sp>
      </p:grpSp>
    </p:spTree>
    <p:extLst>
      <p:ext uri="{BB962C8B-B14F-4D97-AF65-F5344CB8AC3E}">
        <p14:creationId xmlns:p14="http://schemas.microsoft.com/office/powerpoint/2010/main" val="1238887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Architectures: Overview</a:t>
            </a:r>
          </a:p>
        </p:txBody>
      </p:sp>
      <p:sp>
        <p:nvSpPr>
          <p:cNvPr id="4" name="Content Placeholder 3"/>
          <p:cNvSpPr>
            <a:spLocks noGrp="1"/>
          </p:cNvSpPr>
          <p:nvPr>
            <p:ph idx="1"/>
          </p:nvPr>
        </p:nvSpPr>
        <p:spPr/>
        <p:txBody>
          <a:bodyPr/>
          <a:lstStyle/>
          <a:p>
            <a:r>
              <a:rPr lang="en-US" dirty="0"/>
              <a:t>A data item is described by means of attributes.</a:t>
            </a:r>
          </a:p>
          <a:p>
            <a:r>
              <a:rPr lang="en-US" dirty="0" smtClean="0"/>
              <a:t>When </a:t>
            </a:r>
            <a:r>
              <a:rPr lang="en-US" dirty="0"/>
              <a:t>made available, it is said to be published.</a:t>
            </a:r>
          </a:p>
          <a:p>
            <a:r>
              <a:rPr lang="en-US" dirty="0" smtClean="0"/>
              <a:t>A </a:t>
            </a:r>
            <a:r>
              <a:rPr lang="en-US" dirty="0"/>
              <a:t>process interested in reading an item, must provide a subscription: a description of </a:t>
            </a:r>
            <a:r>
              <a:rPr lang="en-US" dirty="0" smtClean="0"/>
              <a:t>the items </a:t>
            </a:r>
            <a:r>
              <a:rPr lang="en-US" dirty="0"/>
              <a:t>it wants.</a:t>
            </a:r>
          </a:p>
          <a:p>
            <a:r>
              <a:rPr lang="en-US" dirty="0" smtClean="0"/>
              <a:t>Middleware </a:t>
            </a:r>
            <a:r>
              <a:rPr lang="en-US" dirty="0"/>
              <a:t>must match published items and subscriptions.</a:t>
            </a:r>
            <a:endParaRPr lang="en-IN" dirty="0"/>
          </a:p>
        </p:txBody>
      </p:sp>
      <p:pic>
        <p:nvPicPr>
          <p:cNvPr id="5" name="Picture 4"/>
          <p:cNvPicPr>
            <a:picLocks noChangeAspect="1"/>
          </p:cNvPicPr>
          <p:nvPr/>
        </p:nvPicPr>
        <p:blipFill>
          <a:blip r:embed="rId2"/>
          <a:stretch>
            <a:fillRect/>
          </a:stretch>
        </p:blipFill>
        <p:spPr>
          <a:xfrm>
            <a:off x="1271027" y="3130923"/>
            <a:ext cx="8203056" cy="3094486"/>
          </a:xfrm>
          <a:prstGeom prst="rect">
            <a:avLst/>
          </a:prstGeom>
        </p:spPr>
      </p:pic>
    </p:spTree>
    <p:extLst>
      <p:ext uri="{BB962C8B-B14F-4D97-AF65-F5344CB8AC3E}">
        <p14:creationId xmlns:p14="http://schemas.microsoft.com/office/powerpoint/2010/main" val="274099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TIB/Rendezvous: Overview</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Coordination model: makes use of subject-based addressing, leading to what is known as a publish-subscribe architecture</a:t>
            </a:r>
          </a:p>
          <a:p>
            <a:pPr>
              <a:lnSpc>
                <a:spcPct val="100000"/>
              </a:lnSpc>
            </a:pPr>
            <a:r>
              <a:rPr lang="en-US" dirty="0"/>
              <a:t>Receiving a message on subject X is possible only if the receiver had subscribed to X</a:t>
            </a:r>
          </a:p>
          <a:p>
            <a:pPr>
              <a:lnSpc>
                <a:spcPct val="100000"/>
              </a:lnSpc>
            </a:pPr>
            <a:r>
              <a:rPr lang="en-US" dirty="0"/>
              <a:t>Publishing a message on subject X, means that the message is sent to all (currently running) subscribers to X.</a:t>
            </a:r>
          </a:p>
        </p:txBody>
      </p:sp>
      <p:grpSp>
        <p:nvGrpSpPr>
          <p:cNvPr id="18" name="Group 17"/>
          <p:cNvGrpSpPr/>
          <p:nvPr/>
        </p:nvGrpSpPr>
        <p:grpSpPr>
          <a:xfrm>
            <a:off x="1031073" y="3302912"/>
            <a:ext cx="8177683" cy="3151097"/>
            <a:chOff x="1754404" y="3350005"/>
            <a:chExt cx="8177683" cy="3151097"/>
          </a:xfrm>
        </p:grpSpPr>
        <p:sp>
          <p:nvSpPr>
            <p:cNvPr id="6" name="TextBox 5"/>
            <p:cNvSpPr txBox="1"/>
            <p:nvPr/>
          </p:nvSpPr>
          <p:spPr>
            <a:xfrm>
              <a:off x="1754404" y="5973941"/>
              <a:ext cx="1937133" cy="400110"/>
            </a:xfrm>
            <a:prstGeom prst="rect">
              <a:avLst/>
            </a:prstGeom>
            <a:noFill/>
          </p:spPr>
          <p:txBody>
            <a:bodyPr wrap="none" rtlCol="0">
              <a:spAutoFit/>
            </a:bodyPr>
            <a:lstStyle/>
            <a:p>
              <a:r>
                <a:rPr lang="en-US" sz="2000" dirty="0"/>
                <a:t>Edge server side</a:t>
              </a:r>
            </a:p>
          </p:txBody>
        </p:sp>
        <p:sp>
          <p:nvSpPr>
            <p:cNvPr id="7" name="TextBox 6"/>
            <p:cNvSpPr txBox="1"/>
            <p:nvPr/>
          </p:nvSpPr>
          <p:spPr>
            <a:xfrm>
              <a:off x="4696221" y="6100992"/>
              <a:ext cx="1937133" cy="400110"/>
            </a:xfrm>
            <a:prstGeom prst="rect">
              <a:avLst/>
            </a:prstGeom>
            <a:noFill/>
          </p:spPr>
          <p:txBody>
            <a:bodyPr wrap="none" rtlCol="0">
              <a:spAutoFit/>
            </a:bodyPr>
            <a:lstStyle/>
            <a:p>
              <a:r>
                <a:rPr lang="en-US" sz="2000" dirty="0"/>
                <a:t>Edge server side</a:t>
              </a:r>
            </a:p>
          </p:txBody>
        </p:sp>
        <p:pic>
          <p:nvPicPr>
            <p:cNvPr id="8" name="Picture 7"/>
            <p:cNvPicPr>
              <a:picLocks noChangeAspect="1"/>
            </p:cNvPicPr>
            <p:nvPr/>
          </p:nvPicPr>
          <p:blipFill>
            <a:blip r:embed="rId2"/>
            <a:stretch>
              <a:fillRect/>
            </a:stretch>
          </p:blipFill>
          <p:spPr>
            <a:xfrm>
              <a:off x="1959662" y="3350005"/>
              <a:ext cx="7972425" cy="2543175"/>
            </a:xfrm>
            <a:prstGeom prst="rect">
              <a:avLst/>
            </a:prstGeom>
          </p:spPr>
        </p:pic>
        <p:sp>
          <p:nvSpPr>
            <p:cNvPr id="9" name="TextBox 8"/>
            <p:cNvSpPr txBox="1"/>
            <p:nvPr/>
          </p:nvSpPr>
          <p:spPr>
            <a:xfrm>
              <a:off x="8833165" y="5751798"/>
              <a:ext cx="1042273" cy="400110"/>
            </a:xfrm>
            <a:prstGeom prst="rect">
              <a:avLst/>
            </a:prstGeom>
            <a:noFill/>
          </p:spPr>
          <p:txBody>
            <a:bodyPr wrap="none" rtlCol="0">
              <a:spAutoFit/>
            </a:bodyPr>
            <a:lstStyle/>
            <a:p>
              <a:r>
                <a:rPr lang="en-US" sz="2000" b="1" dirty="0" smtClean="0">
                  <a:solidFill>
                    <a:srgbClr val="1D3064"/>
                  </a:solidFill>
                </a:rPr>
                <a:t>Network</a:t>
              </a:r>
              <a:endParaRPr lang="en-US" sz="2000" b="1" dirty="0">
                <a:solidFill>
                  <a:srgbClr val="1D3064"/>
                </a:solidFill>
              </a:endParaRPr>
            </a:p>
          </p:txBody>
        </p:sp>
        <p:sp>
          <p:nvSpPr>
            <p:cNvPr id="10" name="TextBox 9"/>
            <p:cNvSpPr txBox="1"/>
            <p:nvPr/>
          </p:nvSpPr>
          <p:spPr>
            <a:xfrm>
              <a:off x="2204260" y="3618740"/>
              <a:ext cx="1064715" cy="353943"/>
            </a:xfrm>
            <a:prstGeom prst="rect">
              <a:avLst/>
            </a:prstGeom>
            <a:noFill/>
          </p:spPr>
          <p:txBody>
            <a:bodyPr wrap="none" rtlCol="0">
              <a:spAutoFit/>
            </a:bodyPr>
            <a:lstStyle/>
            <a:p>
              <a:r>
                <a:rPr lang="en-US" sz="1700" dirty="0" smtClean="0">
                  <a:solidFill>
                    <a:schemeClr val="accent6"/>
                  </a:solidFill>
                </a:rPr>
                <a:t>Publ. on A</a:t>
              </a:r>
              <a:endParaRPr lang="en-US" sz="1700" dirty="0">
                <a:solidFill>
                  <a:schemeClr val="accent6"/>
                </a:solidFill>
              </a:endParaRPr>
            </a:p>
          </p:txBody>
        </p:sp>
        <p:sp>
          <p:nvSpPr>
            <p:cNvPr id="11" name="TextBox 10"/>
            <p:cNvSpPr txBox="1"/>
            <p:nvPr/>
          </p:nvSpPr>
          <p:spPr>
            <a:xfrm>
              <a:off x="3776030" y="3618739"/>
              <a:ext cx="1064715" cy="353943"/>
            </a:xfrm>
            <a:prstGeom prst="rect">
              <a:avLst/>
            </a:prstGeom>
            <a:noFill/>
          </p:spPr>
          <p:txBody>
            <a:bodyPr wrap="none" rtlCol="0">
              <a:spAutoFit/>
            </a:bodyPr>
            <a:lstStyle/>
            <a:p>
              <a:r>
                <a:rPr lang="en-US" sz="1700" dirty="0" smtClean="0">
                  <a:solidFill>
                    <a:schemeClr val="accent6"/>
                  </a:solidFill>
                </a:rPr>
                <a:t>Subs. </a:t>
              </a:r>
              <a:r>
                <a:rPr lang="en-US" sz="1700" dirty="0">
                  <a:solidFill>
                    <a:schemeClr val="accent6"/>
                  </a:solidFill>
                </a:rPr>
                <a:t>t</a:t>
              </a:r>
              <a:r>
                <a:rPr lang="en-US" sz="1700" dirty="0" smtClean="0">
                  <a:solidFill>
                    <a:schemeClr val="accent6"/>
                  </a:solidFill>
                </a:rPr>
                <a:t>o A</a:t>
              </a:r>
              <a:endParaRPr lang="en-US" sz="1700" dirty="0">
                <a:solidFill>
                  <a:schemeClr val="accent6"/>
                </a:solidFill>
              </a:endParaRPr>
            </a:p>
          </p:txBody>
        </p:sp>
        <p:sp>
          <p:nvSpPr>
            <p:cNvPr id="12" name="TextBox 11"/>
            <p:cNvSpPr txBox="1"/>
            <p:nvPr/>
          </p:nvSpPr>
          <p:spPr>
            <a:xfrm>
              <a:off x="5372754" y="3487933"/>
              <a:ext cx="1013419" cy="584775"/>
            </a:xfrm>
            <a:prstGeom prst="rect">
              <a:avLst/>
            </a:prstGeom>
            <a:noFill/>
          </p:spPr>
          <p:txBody>
            <a:bodyPr wrap="none" rtlCol="0">
              <a:spAutoFit/>
            </a:bodyPr>
            <a:lstStyle/>
            <a:p>
              <a:r>
                <a:rPr lang="en-US" sz="1600" dirty="0" smtClean="0">
                  <a:solidFill>
                    <a:schemeClr val="accent6"/>
                  </a:solidFill>
                </a:rPr>
                <a:t>Subs. </a:t>
              </a:r>
              <a:r>
                <a:rPr lang="en-US" sz="1600" dirty="0">
                  <a:solidFill>
                    <a:schemeClr val="accent6"/>
                  </a:solidFill>
                </a:rPr>
                <a:t>t</a:t>
              </a:r>
              <a:r>
                <a:rPr lang="en-US" sz="1600" dirty="0" smtClean="0">
                  <a:solidFill>
                    <a:schemeClr val="accent6"/>
                  </a:solidFill>
                </a:rPr>
                <a:t>o A</a:t>
              </a:r>
            </a:p>
            <a:p>
              <a:r>
                <a:rPr lang="en-US" sz="1600" dirty="0" smtClean="0">
                  <a:solidFill>
                    <a:schemeClr val="accent6"/>
                  </a:solidFill>
                </a:rPr>
                <a:t>Publ. on B</a:t>
              </a:r>
              <a:endParaRPr lang="en-US" sz="1600" dirty="0">
                <a:solidFill>
                  <a:schemeClr val="accent6"/>
                </a:solidFill>
              </a:endParaRPr>
            </a:p>
          </p:txBody>
        </p:sp>
        <p:sp>
          <p:nvSpPr>
            <p:cNvPr id="13" name="TextBox 12"/>
            <p:cNvSpPr txBox="1"/>
            <p:nvPr/>
          </p:nvSpPr>
          <p:spPr>
            <a:xfrm>
              <a:off x="6944524" y="3577795"/>
              <a:ext cx="1064715" cy="615553"/>
            </a:xfrm>
            <a:prstGeom prst="rect">
              <a:avLst/>
            </a:prstGeom>
            <a:noFill/>
          </p:spPr>
          <p:txBody>
            <a:bodyPr wrap="none" rtlCol="0">
              <a:spAutoFit/>
            </a:bodyPr>
            <a:lstStyle/>
            <a:p>
              <a:r>
                <a:rPr lang="en-US" sz="1700" dirty="0" smtClean="0">
                  <a:solidFill>
                    <a:schemeClr val="accent6"/>
                  </a:solidFill>
                </a:rPr>
                <a:t>Subs. </a:t>
              </a:r>
              <a:r>
                <a:rPr lang="en-US" sz="1700" dirty="0">
                  <a:solidFill>
                    <a:schemeClr val="accent6"/>
                  </a:solidFill>
                </a:rPr>
                <a:t>t</a:t>
              </a:r>
              <a:r>
                <a:rPr lang="en-US" sz="1700" dirty="0" smtClean="0">
                  <a:solidFill>
                    <a:schemeClr val="accent6"/>
                  </a:solidFill>
                </a:rPr>
                <a:t>o A</a:t>
              </a:r>
            </a:p>
            <a:p>
              <a:r>
                <a:rPr lang="en-US" sz="1700" dirty="0" smtClean="0">
                  <a:solidFill>
                    <a:schemeClr val="accent6"/>
                  </a:solidFill>
                </a:rPr>
                <a:t>Subs. </a:t>
              </a:r>
              <a:r>
                <a:rPr lang="en-US" sz="1700" dirty="0">
                  <a:solidFill>
                    <a:schemeClr val="accent6"/>
                  </a:solidFill>
                </a:rPr>
                <a:t>t</a:t>
              </a:r>
              <a:r>
                <a:rPr lang="en-US" sz="1700" dirty="0" smtClean="0">
                  <a:solidFill>
                    <a:schemeClr val="accent6"/>
                  </a:solidFill>
                </a:rPr>
                <a:t>o B</a:t>
              </a:r>
              <a:endParaRPr lang="en-US" sz="1700" dirty="0">
                <a:solidFill>
                  <a:schemeClr val="accent6"/>
                </a:solidFill>
              </a:endParaRPr>
            </a:p>
          </p:txBody>
        </p:sp>
        <p:sp>
          <p:nvSpPr>
            <p:cNvPr id="14" name="TextBox 13"/>
            <p:cNvSpPr txBox="1"/>
            <p:nvPr/>
          </p:nvSpPr>
          <p:spPr>
            <a:xfrm>
              <a:off x="8544454" y="3577795"/>
              <a:ext cx="1058303" cy="353943"/>
            </a:xfrm>
            <a:prstGeom prst="rect">
              <a:avLst/>
            </a:prstGeom>
            <a:noFill/>
          </p:spPr>
          <p:txBody>
            <a:bodyPr wrap="none" rtlCol="0">
              <a:spAutoFit/>
            </a:bodyPr>
            <a:lstStyle/>
            <a:p>
              <a:r>
                <a:rPr lang="en-US" sz="1700" dirty="0" smtClean="0">
                  <a:solidFill>
                    <a:schemeClr val="accent6"/>
                  </a:solidFill>
                </a:rPr>
                <a:t>Subs. </a:t>
              </a:r>
              <a:r>
                <a:rPr lang="en-US" sz="1700" dirty="0">
                  <a:solidFill>
                    <a:schemeClr val="accent6"/>
                  </a:solidFill>
                </a:rPr>
                <a:t>t</a:t>
              </a:r>
              <a:r>
                <a:rPr lang="en-US" sz="1700" dirty="0" smtClean="0">
                  <a:solidFill>
                    <a:schemeClr val="accent6"/>
                  </a:solidFill>
                </a:rPr>
                <a:t>o B</a:t>
              </a:r>
              <a:endParaRPr lang="en-US" sz="1700" dirty="0">
                <a:solidFill>
                  <a:schemeClr val="accent6"/>
                </a:solidFill>
              </a:endParaRPr>
            </a:p>
          </p:txBody>
        </p:sp>
        <p:cxnSp>
          <p:nvCxnSpPr>
            <p:cNvPr id="16" name="Straight Connector 15"/>
            <p:cNvCxnSpPr>
              <a:endCxn id="6" idx="0"/>
            </p:cNvCxnSpPr>
            <p:nvPr/>
          </p:nvCxnSpPr>
          <p:spPr>
            <a:xfrm flipH="1">
              <a:off x="2722971" y="5527343"/>
              <a:ext cx="429662" cy="4465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5853666" y="5750642"/>
              <a:ext cx="429662" cy="446598"/>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0477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Communication</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Content-based </a:t>
            </a:r>
            <a:r>
              <a:rPr lang="en-US" dirty="0" smtClean="0"/>
              <a:t>routing</a:t>
            </a:r>
            <a:endParaRPr lang="en-US" dirty="0"/>
          </a:p>
          <a:p>
            <a:pPr>
              <a:lnSpc>
                <a:spcPct val="100000"/>
              </a:lnSpc>
            </a:pPr>
            <a:r>
              <a:rPr lang="en-US" dirty="0" smtClean="0">
                <a:solidFill>
                  <a:schemeClr val="accent6"/>
                </a:solidFill>
              </a:rPr>
              <a:t>Observation</a:t>
            </a:r>
            <a:r>
              <a:rPr lang="en-US" dirty="0" smtClean="0"/>
              <a:t>: When </a:t>
            </a:r>
            <a:r>
              <a:rPr lang="en-US" dirty="0"/>
              <a:t>a coordination-based system is built across a wide-area network, we need </a:t>
            </a:r>
            <a:r>
              <a:rPr lang="en-US" dirty="0" smtClean="0"/>
              <a:t>an efficient </a:t>
            </a:r>
            <a:r>
              <a:rPr lang="en-US" dirty="0"/>
              <a:t>routing mechanism (centralized solutions won’t do</a:t>
            </a:r>
            <a:r>
              <a:rPr lang="en-US" dirty="0" smtClean="0"/>
              <a:t>).</a:t>
            </a:r>
          </a:p>
          <a:p>
            <a:pPr>
              <a:lnSpc>
                <a:spcPct val="100000"/>
              </a:lnSpc>
            </a:pPr>
            <a:r>
              <a:rPr lang="en-US" dirty="0" smtClean="0"/>
              <a:t>Solution</a:t>
            </a:r>
          </a:p>
          <a:p>
            <a:pPr lvl="2"/>
            <a:r>
              <a:rPr lang="en-US" sz="2400" dirty="0">
                <a:solidFill>
                  <a:schemeClr val="accent6"/>
                </a:solidFill>
              </a:rPr>
              <a:t>Naive</a:t>
            </a:r>
            <a:r>
              <a:rPr lang="en-US" sz="2400" dirty="0"/>
              <a:t>: Broadcast subscriptions to all nodes in the system and let servers prepend destination address when data item is published</a:t>
            </a:r>
          </a:p>
          <a:p>
            <a:pPr lvl="2"/>
            <a:r>
              <a:rPr lang="en-US" sz="2400" dirty="0">
                <a:solidFill>
                  <a:schemeClr val="accent6"/>
                </a:solidFill>
              </a:rPr>
              <a:t>Refinement</a:t>
            </a:r>
            <a:r>
              <a:rPr lang="en-US" sz="2400" dirty="0"/>
              <a:t>: Forward subscriptions to all routers and let them compute and install filters.</a:t>
            </a:r>
          </a:p>
        </p:txBody>
      </p:sp>
    </p:spTree>
    <p:extLst>
      <p:ext uri="{BB962C8B-B14F-4D97-AF65-F5344CB8AC3E}">
        <p14:creationId xmlns:p14="http://schemas.microsoft.com/office/powerpoint/2010/main" val="223589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Content-based routing: naive solution</a:t>
            </a:r>
          </a:p>
        </p:txBody>
      </p:sp>
      <p:sp>
        <p:nvSpPr>
          <p:cNvPr id="6" name="Content Placeholder 5"/>
          <p:cNvSpPr>
            <a:spLocks noGrp="1"/>
          </p:cNvSpPr>
          <p:nvPr>
            <p:ph idx="1"/>
          </p:nvPr>
        </p:nvSpPr>
        <p:spPr/>
        <p:txBody>
          <a:bodyPr/>
          <a:lstStyle/>
          <a:p>
            <a:r>
              <a:rPr lang="en-US" dirty="0"/>
              <a:t>The other extreme solution is to </a:t>
            </a:r>
            <a:r>
              <a:rPr lang="en-US" dirty="0" smtClean="0"/>
              <a:t>let every </a:t>
            </a:r>
            <a:r>
              <a:rPr lang="en-US" dirty="0"/>
              <a:t>server broadcast </a:t>
            </a:r>
            <a:r>
              <a:rPr lang="en-US" dirty="0" smtClean="0"/>
              <a:t>its subscriptions </a:t>
            </a:r>
            <a:r>
              <a:rPr lang="en-US" dirty="0"/>
              <a:t>to all other servers. As </a:t>
            </a:r>
            <a:r>
              <a:rPr lang="en-US" dirty="0" smtClean="0"/>
              <a:t>a result</a:t>
            </a:r>
            <a:r>
              <a:rPr lang="en-US" dirty="0"/>
              <a:t>, every server will be able </a:t>
            </a:r>
            <a:r>
              <a:rPr lang="en-US" dirty="0" smtClean="0"/>
              <a:t>to compile </a:t>
            </a:r>
            <a:r>
              <a:rPr lang="en-US" dirty="0"/>
              <a:t>a list of (subject</a:t>
            </a:r>
            <a:r>
              <a:rPr lang="en-US" dirty="0" smtClean="0"/>
              <a:t>, destination) pairs.</a:t>
            </a:r>
          </a:p>
          <a:p>
            <a:r>
              <a:rPr lang="en-US" dirty="0" smtClean="0"/>
              <a:t>Then</a:t>
            </a:r>
            <a:r>
              <a:rPr lang="en-US" dirty="0"/>
              <a:t>, whenever an </a:t>
            </a:r>
            <a:r>
              <a:rPr lang="en-US" dirty="0" smtClean="0"/>
              <a:t>application submits </a:t>
            </a:r>
            <a:r>
              <a:rPr lang="en-US" dirty="0"/>
              <a:t>a message on </a:t>
            </a:r>
            <a:r>
              <a:rPr lang="en-US" dirty="0" smtClean="0"/>
              <a:t>subjects</a:t>
            </a:r>
            <a:r>
              <a:rPr lang="en-US" dirty="0"/>
              <a:t>, </a:t>
            </a:r>
            <a:r>
              <a:rPr lang="en-US" dirty="0" smtClean="0"/>
              <a:t>its associated </a:t>
            </a:r>
            <a:r>
              <a:rPr lang="en-US" dirty="0"/>
              <a:t>server prepends </a:t>
            </a:r>
            <a:r>
              <a:rPr lang="en-US" dirty="0" smtClean="0"/>
              <a:t>the destination </a:t>
            </a:r>
            <a:r>
              <a:rPr lang="en-US" dirty="0"/>
              <a:t>servers to that message.</a:t>
            </a:r>
          </a:p>
          <a:p>
            <a:r>
              <a:rPr lang="en-US" dirty="0"/>
              <a:t>When the message reaches a router</a:t>
            </a:r>
            <a:r>
              <a:rPr lang="en-US" dirty="0" smtClean="0"/>
              <a:t>, the </a:t>
            </a:r>
            <a:r>
              <a:rPr lang="en-US" dirty="0"/>
              <a:t>latter can use the list to decide </a:t>
            </a:r>
            <a:r>
              <a:rPr lang="en-US" dirty="0" smtClean="0"/>
              <a:t>on the </a:t>
            </a:r>
            <a:r>
              <a:rPr lang="en-US" dirty="0"/>
              <a:t>paths that the message </a:t>
            </a:r>
            <a:r>
              <a:rPr lang="en-US" dirty="0" smtClean="0"/>
              <a:t>should follow</a:t>
            </a:r>
            <a:r>
              <a:rPr lang="en-US" dirty="0"/>
              <a:t>, as shown in Fig</a:t>
            </a:r>
            <a:r>
              <a:rPr lang="en-US" dirty="0" smtClean="0"/>
              <a:t>.</a:t>
            </a:r>
            <a:endParaRPr lang="en-IN" dirty="0"/>
          </a:p>
        </p:txBody>
      </p:sp>
      <p:grpSp>
        <p:nvGrpSpPr>
          <p:cNvPr id="18" name="Group 17"/>
          <p:cNvGrpSpPr/>
          <p:nvPr/>
        </p:nvGrpSpPr>
        <p:grpSpPr>
          <a:xfrm>
            <a:off x="520889" y="3234559"/>
            <a:ext cx="5238750" cy="3219450"/>
            <a:chOff x="2954600" y="3386802"/>
            <a:chExt cx="5238750" cy="3219450"/>
          </a:xfrm>
        </p:grpSpPr>
        <p:pic>
          <p:nvPicPr>
            <p:cNvPr id="3" name="Picture 2"/>
            <p:cNvPicPr>
              <a:picLocks noChangeAspect="1"/>
            </p:cNvPicPr>
            <p:nvPr/>
          </p:nvPicPr>
          <p:blipFill>
            <a:blip r:embed="rId2"/>
            <a:stretch>
              <a:fillRect/>
            </a:stretch>
          </p:blipFill>
          <p:spPr>
            <a:xfrm>
              <a:off x="2954600" y="3386802"/>
              <a:ext cx="5238750" cy="3219450"/>
            </a:xfrm>
            <a:prstGeom prst="rect">
              <a:avLst/>
            </a:prstGeom>
          </p:spPr>
        </p:pic>
        <p:sp>
          <p:nvSpPr>
            <p:cNvPr id="4" name="TextBox 3"/>
            <p:cNvSpPr txBox="1"/>
            <p:nvPr/>
          </p:nvSpPr>
          <p:spPr>
            <a:xfrm>
              <a:off x="3070747" y="4627195"/>
              <a:ext cx="286603" cy="369332"/>
            </a:xfrm>
            <a:prstGeom prst="rect">
              <a:avLst/>
            </a:prstGeom>
            <a:noFill/>
          </p:spPr>
          <p:txBody>
            <a:bodyPr wrap="square" rtlCol="0">
              <a:spAutoFit/>
            </a:bodyPr>
            <a:lstStyle/>
            <a:p>
              <a:r>
                <a:rPr lang="en-IN" b="1" dirty="0" smtClean="0">
                  <a:solidFill>
                    <a:schemeClr val="accent6"/>
                  </a:solidFill>
                </a:rPr>
                <a:t>5</a:t>
              </a:r>
              <a:endParaRPr lang="en-IN" b="1" dirty="0">
                <a:solidFill>
                  <a:schemeClr val="accent6"/>
                </a:solidFill>
              </a:endParaRPr>
            </a:p>
          </p:txBody>
        </p:sp>
        <p:sp>
          <p:nvSpPr>
            <p:cNvPr id="7" name="TextBox 6"/>
            <p:cNvSpPr txBox="1"/>
            <p:nvPr/>
          </p:nvSpPr>
          <p:spPr>
            <a:xfrm>
              <a:off x="6007290" y="3414098"/>
              <a:ext cx="286603" cy="369332"/>
            </a:xfrm>
            <a:prstGeom prst="rect">
              <a:avLst/>
            </a:prstGeom>
            <a:noFill/>
          </p:spPr>
          <p:txBody>
            <a:bodyPr wrap="square" rtlCol="0">
              <a:spAutoFit/>
            </a:bodyPr>
            <a:lstStyle/>
            <a:p>
              <a:r>
                <a:rPr lang="en-IN" b="1" dirty="0" smtClean="0">
                  <a:solidFill>
                    <a:schemeClr val="accent6"/>
                  </a:solidFill>
                </a:rPr>
                <a:t>1</a:t>
              </a:r>
              <a:endParaRPr lang="en-IN" b="1" dirty="0">
                <a:solidFill>
                  <a:schemeClr val="accent6"/>
                </a:solidFill>
              </a:endParaRPr>
            </a:p>
          </p:txBody>
        </p:sp>
        <p:sp>
          <p:nvSpPr>
            <p:cNvPr id="8" name="TextBox 7"/>
            <p:cNvSpPr txBox="1"/>
            <p:nvPr/>
          </p:nvSpPr>
          <p:spPr>
            <a:xfrm>
              <a:off x="7549488" y="4059044"/>
              <a:ext cx="286603" cy="369332"/>
            </a:xfrm>
            <a:prstGeom prst="rect">
              <a:avLst/>
            </a:prstGeom>
            <a:noFill/>
          </p:spPr>
          <p:txBody>
            <a:bodyPr wrap="square" rtlCol="0">
              <a:spAutoFit/>
            </a:bodyPr>
            <a:lstStyle/>
            <a:p>
              <a:r>
                <a:rPr lang="en-IN" b="1" dirty="0" smtClean="0">
                  <a:solidFill>
                    <a:schemeClr val="accent6"/>
                  </a:solidFill>
                </a:rPr>
                <a:t>2</a:t>
              </a:r>
              <a:endParaRPr lang="en-IN" b="1" dirty="0">
                <a:solidFill>
                  <a:schemeClr val="accent6"/>
                </a:solidFill>
              </a:endParaRPr>
            </a:p>
          </p:txBody>
        </p:sp>
        <p:sp>
          <p:nvSpPr>
            <p:cNvPr id="9" name="TextBox 8"/>
            <p:cNvSpPr txBox="1"/>
            <p:nvPr/>
          </p:nvSpPr>
          <p:spPr>
            <a:xfrm>
              <a:off x="6150591" y="6184423"/>
              <a:ext cx="286603" cy="369332"/>
            </a:xfrm>
            <a:prstGeom prst="rect">
              <a:avLst/>
            </a:prstGeom>
            <a:noFill/>
          </p:spPr>
          <p:txBody>
            <a:bodyPr wrap="square" rtlCol="0">
              <a:spAutoFit/>
            </a:bodyPr>
            <a:lstStyle/>
            <a:p>
              <a:r>
                <a:rPr lang="en-IN" b="1" dirty="0" smtClean="0">
                  <a:solidFill>
                    <a:schemeClr val="accent6"/>
                  </a:solidFill>
                </a:rPr>
                <a:t>4</a:t>
              </a:r>
              <a:endParaRPr lang="en-IN" b="1" dirty="0">
                <a:solidFill>
                  <a:schemeClr val="accent6"/>
                </a:solidFill>
              </a:endParaRPr>
            </a:p>
          </p:txBody>
        </p:sp>
        <p:sp>
          <p:nvSpPr>
            <p:cNvPr id="10" name="TextBox 9"/>
            <p:cNvSpPr txBox="1"/>
            <p:nvPr/>
          </p:nvSpPr>
          <p:spPr>
            <a:xfrm>
              <a:off x="7651845" y="5805008"/>
              <a:ext cx="286603" cy="369332"/>
            </a:xfrm>
            <a:prstGeom prst="rect">
              <a:avLst/>
            </a:prstGeom>
            <a:noFill/>
          </p:spPr>
          <p:txBody>
            <a:bodyPr wrap="square" rtlCol="0">
              <a:spAutoFit/>
            </a:bodyPr>
            <a:lstStyle/>
            <a:p>
              <a:r>
                <a:rPr lang="en-IN" b="1" dirty="0" smtClean="0">
                  <a:solidFill>
                    <a:schemeClr val="accent6"/>
                  </a:solidFill>
                </a:rPr>
                <a:t>3</a:t>
              </a:r>
              <a:endParaRPr lang="en-IN" b="1" dirty="0">
                <a:solidFill>
                  <a:schemeClr val="accent6"/>
                </a:solidFill>
              </a:endParaRPr>
            </a:p>
          </p:txBody>
        </p:sp>
        <p:sp>
          <p:nvSpPr>
            <p:cNvPr id="11" name="TextBox 10"/>
            <p:cNvSpPr txBox="1"/>
            <p:nvPr/>
          </p:nvSpPr>
          <p:spPr>
            <a:xfrm>
              <a:off x="4080042" y="4393198"/>
              <a:ext cx="286603" cy="369332"/>
            </a:xfrm>
            <a:prstGeom prst="rect">
              <a:avLst/>
            </a:prstGeom>
            <a:noFill/>
          </p:spPr>
          <p:txBody>
            <a:bodyPr wrap="square" rtlCol="0">
              <a:spAutoFit/>
            </a:bodyPr>
            <a:lstStyle/>
            <a:p>
              <a:r>
                <a:rPr lang="en-IN" b="1" dirty="0" smtClean="0">
                  <a:solidFill>
                    <a:srgbClr val="0E3755"/>
                  </a:solidFill>
                </a:rPr>
                <a:t>1</a:t>
              </a:r>
              <a:endParaRPr lang="en-IN" b="1" dirty="0">
                <a:solidFill>
                  <a:srgbClr val="0E3755"/>
                </a:solidFill>
              </a:endParaRPr>
            </a:p>
          </p:txBody>
        </p:sp>
        <p:sp>
          <p:nvSpPr>
            <p:cNvPr id="12" name="TextBox 11"/>
            <p:cNvSpPr txBox="1"/>
            <p:nvPr/>
          </p:nvSpPr>
          <p:spPr>
            <a:xfrm>
              <a:off x="3882148" y="4385414"/>
              <a:ext cx="286603" cy="369332"/>
            </a:xfrm>
            <a:prstGeom prst="rect">
              <a:avLst/>
            </a:prstGeom>
            <a:noFill/>
          </p:spPr>
          <p:txBody>
            <a:bodyPr wrap="square" rtlCol="0">
              <a:spAutoFit/>
            </a:bodyPr>
            <a:lstStyle/>
            <a:p>
              <a:r>
                <a:rPr lang="en-IN" b="1" dirty="0" smtClean="0">
                  <a:solidFill>
                    <a:srgbClr val="0E3755"/>
                  </a:solidFill>
                </a:rPr>
                <a:t>3</a:t>
              </a:r>
              <a:endParaRPr lang="en-IN" b="1" dirty="0">
                <a:solidFill>
                  <a:srgbClr val="0E3755"/>
                </a:solidFill>
              </a:endParaRPr>
            </a:p>
          </p:txBody>
        </p:sp>
        <p:sp>
          <p:nvSpPr>
            <p:cNvPr id="13" name="TextBox 12"/>
            <p:cNvSpPr txBox="1"/>
            <p:nvPr/>
          </p:nvSpPr>
          <p:spPr>
            <a:xfrm>
              <a:off x="5586164" y="3928330"/>
              <a:ext cx="286603" cy="369332"/>
            </a:xfrm>
            <a:prstGeom prst="rect">
              <a:avLst/>
            </a:prstGeom>
            <a:noFill/>
          </p:spPr>
          <p:txBody>
            <a:bodyPr wrap="square" rtlCol="0">
              <a:spAutoFit/>
            </a:bodyPr>
            <a:lstStyle/>
            <a:p>
              <a:r>
                <a:rPr lang="en-IN" b="1" dirty="0" smtClean="0">
                  <a:solidFill>
                    <a:srgbClr val="0E3755"/>
                  </a:solidFill>
                </a:rPr>
                <a:t>1</a:t>
              </a:r>
              <a:endParaRPr lang="en-IN" b="1" dirty="0">
                <a:solidFill>
                  <a:srgbClr val="0E3755"/>
                </a:solidFill>
              </a:endParaRPr>
            </a:p>
          </p:txBody>
        </p:sp>
        <p:sp>
          <p:nvSpPr>
            <p:cNvPr id="14" name="TextBox 13"/>
            <p:cNvSpPr txBox="1"/>
            <p:nvPr/>
          </p:nvSpPr>
          <p:spPr>
            <a:xfrm>
              <a:off x="5743113" y="5092063"/>
              <a:ext cx="286603" cy="369332"/>
            </a:xfrm>
            <a:prstGeom prst="rect">
              <a:avLst/>
            </a:prstGeom>
            <a:noFill/>
          </p:spPr>
          <p:txBody>
            <a:bodyPr wrap="square" rtlCol="0">
              <a:spAutoFit/>
            </a:bodyPr>
            <a:lstStyle/>
            <a:p>
              <a:r>
                <a:rPr lang="en-IN" b="1" dirty="0" smtClean="0">
                  <a:solidFill>
                    <a:srgbClr val="0E3755"/>
                  </a:solidFill>
                </a:rPr>
                <a:t>3</a:t>
              </a:r>
              <a:endParaRPr lang="en-IN" b="1" dirty="0">
                <a:solidFill>
                  <a:srgbClr val="0E3755"/>
                </a:solidFill>
              </a:endParaRPr>
            </a:p>
          </p:txBody>
        </p:sp>
        <p:sp>
          <p:nvSpPr>
            <p:cNvPr id="15" name="TextBox 14"/>
            <p:cNvSpPr txBox="1"/>
            <p:nvPr/>
          </p:nvSpPr>
          <p:spPr>
            <a:xfrm>
              <a:off x="7433482" y="5311118"/>
              <a:ext cx="286603" cy="369332"/>
            </a:xfrm>
            <a:prstGeom prst="rect">
              <a:avLst/>
            </a:prstGeom>
            <a:noFill/>
          </p:spPr>
          <p:txBody>
            <a:bodyPr wrap="square" rtlCol="0">
              <a:spAutoFit/>
            </a:bodyPr>
            <a:lstStyle/>
            <a:p>
              <a:r>
                <a:rPr lang="en-IN" b="1" dirty="0" smtClean="0">
                  <a:solidFill>
                    <a:srgbClr val="0E3755"/>
                  </a:solidFill>
                </a:rPr>
                <a:t>3</a:t>
              </a:r>
              <a:endParaRPr lang="en-IN" b="1" dirty="0">
                <a:solidFill>
                  <a:srgbClr val="0E3755"/>
                </a:solidFill>
              </a:endParaRPr>
            </a:p>
          </p:txBody>
        </p:sp>
        <p:sp>
          <p:nvSpPr>
            <p:cNvPr id="16" name="TextBox 15"/>
            <p:cNvSpPr txBox="1"/>
            <p:nvPr/>
          </p:nvSpPr>
          <p:spPr>
            <a:xfrm>
              <a:off x="5319215" y="4324958"/>
              <a:ext cx="564195" cy="461665"/>
            </a:xfrm>
            <a:prstGeom prst="rect">
              <a:avLst/>
            </a:prstGeom>
            <a:noFill/>
          </p:spPr>
          <p:txBody>
            <a:bodyPr wrap="square" rtlCol="0">
              <a:spAutoFit/>
            </a:bodyPr>
            <a:lstStyle/>
            <a:p>
              <a:r>
                <a:rPr lang="en-IN" sz="2400" b="1" dirty="0" smtClean="0"/>
                <a:t>R1</a:t>
              </a:r>
              <a:endParaRPr lang="en-IN" sz="2400" b="1" dirty="0"/>
            </a:p>
          </p:txBody>
        </p:sp>
        <p:sp>
          <p:nvSpPr>
            <p:cNvPr id="17" name="TextBox 16"/>
            <p:cNvSpPr txBox="1"/>
            <p:nvPr/>
          </p:nvSpPr>
          <p:spPr>
            <a:xfrm>
              <a:off x="6657607" y="5034119"/>
              <a:ext cx="564195" cy="461665"/>
            </a:xfrm>
            <a:prstGeom prst="rect">
              <a:avLst/>
            </a:prstGeom>
            <a:noFill/>
          </p:spPr>
          <p:txBody>
            <a:bodyPr wrap="square" rtlCol="0">
              <a:spAutoFit/>
            </a:bodyPr>
            <a:lstStyle/>
            <a:p>
              <a:r>
                <a:rPr lang="en-IN" sz="2400" b="1" dirty="0" smtClean="0"/>
                <a:t>R2</a:t>
              </a:r>
              <a:endParaRPr lang="en-IN" sz="2400" b="1" dirty="0"/>
            </a:p>
          </p:txBody>
        </p:sp>
      </p:grpSp>
      <p:graphicFrame>
        <p:nvGraphicFramePr>
          <p:cNvPr id="19" name="Table 18"/>
          <p:cNvGraphicFramePr>
            <a:graphicFrameLocks noGrp="1"/>
          </p:cNvGraphicFramePr>
          <p:nvPr>
            <p:extLst>
              <p:ext uri="{D42A27DB-BD31-4B8C-83A1-F6EECF244321}">
                <p14:modId xmlns:p14="http://schemas.microsoft.com/office/powerpoint/2010/main" val="872281567"/>
              </p:ext>
            </p:extLst>
          </p:nvPr>
        </p:nvGraphicFramePr>
        <p:xfrm>
          <a:off x="6491746" y="3174190"/>
          <a:ext cx="4748340" cy="601897"/>
        </p:xfrm>
        <a:graphic>
          <a:graphicData uri="http://schemas.openxmlformats.org/drawingml/2006/table">
            <a:tbl>
              <a:tblPr firstRow="1" bandRow="1">
                <a:tableStyleId>{5C22544A-7EE6-4342-B048-85BDC9FD1C3A}</a:tableStyleId>
              </a:tblPr>
              <a:tblGrid>
                <a:gridCol w="2539712">
                  <a:extLst>
                    <a:ext uri="{9D8B030D-6E8A-4147-A177-3AD203B41FA5}">
                      <a16:colId xmlns="" xmlns:a16="http://schemas.microsoft.com/office/drawing/2014/main" val="2702582030"/>
                    </a:ext>
                  </a:extLst>
                </a:gridCol>
                <a:gridCol w="2208628">
                  <a:extLst>
                    <a:ext uri="{9D8B030D-6E8A-4147-A177-3AD203B41FA5}">
                      <a16:colId xmlns="" xmlns:a16="http://schemas.microsoft.com/office/drawing/2014/main" val="1554071963"/>
                    </a:ext>
                  </a:extLst>
                </a:gridCol>
              </a:tblGrid>
              <a:tr h="601897">
                <a:tc>
                  <a:txBody>
                    <a:bodyPr/>
                    <a:lstStyle/>
                    <a:p>
                      <a:r>
                        <a:rPr lang="en-US" sz="2400" dirty="0" smtClean="0"/>
                        <a:t>Interface</a:t>
                      </a:r>
                      <a:endParaRPr lang="en-US" sz="2400" dirty="0"/>
                    </a:p>
                  </a:txBody>
                  <a:tcPr>
                    <a:solidFill>
                      <a:srgbClr val="1D3064"/>
                    </a:solidFill>
                  </a:tcPr>
                </a:tc>
                <a:tc>
                  <a:txBody>
                    <a:bodyPr/>
                    <a:lstStyle/>
                    <a:p>
                      <a:r>
                        <a:rPr lang="en-US" sz="2400" dirty="0" smtClean="0"/>
                        <a:t>Filter</a:t>
                      </a:r>
                      <a:endParaRPr lang="en-US" sz="2400" dirty="0"/>
                    </a:p>
                  </a:txBody>
                  <a:tcPr>
                    <a:solidFill>
                      <a:srgbClr val="1D3064"/>
                    </a:solidFill>
                  </a:tcPr>
                </a:tc>
                <a:extLst>
                  <a:ext uri="{0D108BD9-81ED-4DB2-BD59-A6C34878D82A}">
                    <a16:rowId xmlns="" xmlns:a16="http://schemas.microsoft.com/office/drawing/2014/main" val="1359744470"/>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1613260844"/>
              </p:ext>
            </p:extLst>
          </p:nvPr>
        </p:nvGraphicFramePr>
        <p:xfrm>
          <a:off x="6513754" y="3762408"/>
          <a:ext cx="4712264" cy="457200"/>
        </p:xfrm>
        <a:graphic>
          <a:graphicData uri="http://schemas.openxmlformats.org/drawingml/2006/table">
            <a:tbl>
              <a:tblPr firstRow="1" bandRow="1">
                <a:tableStyleId>{5C22544A-7EE6-4342-B048-85BDC9FD1C3A}</a:tableStyleId>
              </a:tblPr>
              <a:tblGrid>
                <a:gridCol w="2517704">
                  <a:extLst>
                    <a:ext uri="{9D8B030D-6E8A-4147-A177-3AD203B41FA5}">
                      <a16:colId xmlns="" xmlns:a16="http://schemas.microsoft.com/office/drawing/2014/main" val="2702582030"/>
                    </a:ext>
                  </a:extLst>
                </a:gridCol>
                <a:gridCol w="2194560">
                  <a:extLst>
                    <a:ext uri="{9D8B030D-6E8A-4147-A177-3AD203B41FA5}">
                      <a16:colId xmlns="" xmlns:a16="http://schemas.microsoft.com/office/drawing/2014/main" val="1554071963"/>
                    </a:ext>
                  </a:extLst>
                </a:gridCol>
              </a:tblGrid>
              <a:tr h="429317">
                <a:tc>
                  <a:txBody>
                    <a:bodyPr/>
                    <a:lstStyle/>
                    <a:p>
                      <a:pPr algn="just"/>
                      <a:r>
                        <a:rPr lang="en-US" sz="2400" b="0" kern="1200" dirty="0" smtClean="0">
                          <a:solidFill>
                            <a:schemeClr val="tx1"/>
                          </a:solidFill>
                          <a:latin typeface="+mj-lt"/>
                          <a:ea typeface="Times New Roman" panose="02020603050405020304" pitchFamily="18" charset="0"/>
                          <a:cs typeface="Times New Roman" panose="02020603050405020304" pitchFamily="18" charset="0"/>
                        </a:rPr>
                        <a:t>To node 3</a:t>
                      </a:r>
                      <a:endParaRPr lang="en-US" sz="2400" b="0" kern="1200" dirty="0">
                        <a:solidFill>
                          <a:schemeClr val="tx1"/>
                        </a:solidFill>
                        <a:latin typeface="+mj-lt"/>
                        <a:ea typeface="Times New Roman" panose="02020603050405020304" pitchFamily="18" charset="0"/>
                        <a:cs typeface="Times New Roman" panose="02020603050405020304" pitchFamily="18" charset="0"/>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400" b="0" kern="1200" dirty="0" smtClean="0">
                          <a:solidFill>
                            <a:schemeClr val="tx1"/>
                          </a:solidFill>
                          <a:latin typeface="+mj-lt"/>
                          <a:ea typeface="Times New Roman" panose="02020603050405020304" pitchFamily="18" charset="0"/>
                          <a:cs typeface="Times New Roman" panose="02020603050405020304" pitchFamily="18" charset="0"/>
                        </a:rPr>
                        <a:t>a </a:t>
                      </a:r>
                      <a:r>
                        <a:rPr lang="el-GR" sz="2400" b="0" kern="1200" dirty="0" smtClean="0">
                          <a:solidFill>
                            <a:schemeClr val="tx1"/>
                          </a:solidFill>
                          <a:latin typeface="+mj-lt"/>
                          <a:ea typeface="Times New Roman" panose="02020603050405020304" pitchFamily="18" charset="0"/>
                          <a:cs typeface="Times New Roman" panose="02020603050405020304" pitchFamily="18" charset="0"/>
                        </a:rPr>
                        <a:t>ε [0,3]</a:t>
                      </a:r>
                      <a:endParaRPr lang="en-US" sz="2400" b="0" kern="1200" dirty="0">
                        <a:solidFill>
                          <a:schemeClr val="tx1"/>
                        </a:solidFill>
                        <a:latin typeface="+mj-lt"/>
                        <a:ea typeface="Times New Roman" panose="02020603050405020304" pitchFamily="18" charset="0"/>
                        <a:cs typeface="Times New Roman" panose="02020603050405020304" pitchFamily="18" charset="0"/>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1359744470"/>
                  </a:ext>
                </a:extLst>
              </a:tr>
            </a:tbl>
          </a:graphicData>
        </a:graphic>
      </p:graphicFrame>
      <p:graphicFrame>
        <p:nvGraphicFramePr>
          <p:cNvPr id="23" name="Table 22"/>
          <p:cNvGraphicFramePr>
            <a:graphicFrameLocks noGrp="1"/>
          </p:cNvGraphicFramePr>
          <p:nvPr>
            <p:extLst>
              <p:ext uri="{D42A27DB-BD31-4B8C-83A1-F6EECF244321}">
                <p14:modId xmlns:p14="http://schemas.microsoft.com/office/powerpoint/2010/main" val="172150477"/>
              </p:ext>
            </p:extLst>
          </p:nvPr>
        </p:nvGraphicFramePr>
        <p:xfrm>
          <a:off x="6510467" y="4230600"/>
          <a:ext cx="4712264" cy="457200"/>
        </p:xfrm>
        <a:graphic>
          <a:graphicData uri="http://schemas.openxmlformats.org/drawingml/2006/table">
            <a:tbl>
              <a:tblPr firstRow="1" bandRow="1">
                <a:tableStyleId>{5C22544A-7EE6-4342-B048-85BDC9FD1C3A}</a:tableStyleId>
              </a:tblPr>
              <a:tblGrid>
                <a:gridCol w="2517704">
                  <a:extLst>
                    <a:ext uri="{9D8B030D-6E8A-4147-A177-3AD203B41FA5}">
                      <a16:colId xmlns="" xmlns:a16="http://schemas.microsoft.com/office/drawing/2014/main" val="2702582030"/>
                    </a:ext>
                  </a:extLst>
                </a:gridCol>
                <a:gridCol w="2194560">
                  <a:extLst>
                    <a:ext uri="{9D8B030D-6E8A-4147-A177-3AD203B41FA5}">
                      <a16:colId xmlns="" xmlns:a16="http://schemas.microsoft.com/office/drawing/2014/main" val="1554071963"/>
                    </a:ext>
                  </a:extLst>
                </a:gridCol>
              </a:tblGrid>
              <a:tr h="429317">
                <a:tc>
                  <a:txBody>
                    <a:bodyPr/>
                    <a:lstStyle/>
                    <a:p>
                      <a:pPr algn="just"/>
                      <a:r>
                        <a:rPr lang="en-US" sz="2400" b="0" kern="1200" dirty="0" smtClean="0">
                          <a:solidFill>
                            <a:schemeClr val="tx1"/>
                          </a:solidFill>
                          <a:latin typeface="+mj-lt"/>
                          <a:ea typeface="Times New Roman" panose="02020603050405020304" pitchFamily="18" charset="0"/>
                          <a:cs typeface="Times New Roman" panose="02020603050405020304" pitchFamily="18" charset="0"/>
                        </a:rPr>
                        <a:t>To node 4</a:t>
                      </a:r>
                      <a:endParaRPr lang="en-US" sz="2400" b="0" kern="1200" dirty="0">
                        <a:solidFill>
                          <a:schemeClr val="tx1"/>
                        </a:solidFill>
                        <a:latin typeface="+mj-lt"/>
                        <a:ea typeface="Times New Roman" panose="02020603050405020304" pitchFamily="18" charset="0"/>
                        <a:cs typeface="Times New Roman" panose="02020603050405020304" pitchFamily="18" charset="0"/>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400" b="0" kern="1200" dirty="0" smtClean="0">
                          <a:solidFill>
                            <a:schemeClr val="tx1"/>
                          </a:solidFill>
                          <a:latin typeface="+mj-lt"/>
                          <a:ea typeface="Times New Roman" panose="02020603050405020304" pitchFamily="18" charset="0"/>
                          <a:cs typeface="Times New Roman" panose="02020603050405020304" pitchFamily="18" charset="0"/>
                        </a:rPr>
                        <a:t>a </a:t>
                      </a:r>
                      <a:r>
                        <a:rPr lang="el-GR" sz="2400" b="0" kern="1200" dirty="0" smtClean="0">
                          <a:solidFill>
                            <a:schemeClr val="tx1"/>
                          </a:solidFill>
                          <a:latin typeface="+mj-lt"/>
                          <a:ea typeface="Times New Roman" panose="02020603050405020304" pitchFamily="18" charset="0"/>
                          <a:cs typeface="Times New Roman" panose="02020603050405020304" pitchFamily="18" charset="0"/>
                        </a:rPr>
                        <a:t>ε [</a:t>
                      </a:r>
                      <a:r>
                        <a:rPr lang="en-IN" sz="2400" b="0" kern="1200" dirty="0" smtClean="0">
                          <a:solidFill>
                            <a:schemeClr val="tx1"/>
                          </a:solidFill>
                          <a:latin typeface="+mj-lt"/>
                          <a:ea typeface="Times New Roman" panose="02020603050405020304" pitchFamily="18" charset="0"/>
                          <a:cs typeface="Times New Roman" panose="02020603050405020304" pitchFamily="18" charset="0"/>
                        </a:rPr>
                        <a:t>2</a:t>
                      </a:r>
                      <a:r>
                        <a:rPr lang="el-GR" sz="2400" b="0" kern="1200" dirty="0" smtClean="0">
                          <a:solidFill>
                            <a:schemeClr val="tx1"/>
                          </a:solidFill>
                          <a:latin typeface="+mj-lt"/>
                          <a:ea typeface="Times New Roman" panose="02020603050405020304" pitchFamily="18" charset="0"/>
                          <a:cs typeface="Times New Roman" panose="02020603050405020304" pitchFamily="18" charset="0"/>
                        </a:rPr>
                        <a:t>,</a:t>
                      </a:r>
                      <a:r>
                        <a:rPr lang="en-IN" sz="2400" b="0" kern="1200" dirty="0" smtClean="0">
                          <a:solidFill>
                            <a:schemeClr val="tx1"/>
                          </a:solidFill>
                          <a:latin typeface="+mj-lt"/>
                          <a:ea typeface="Times New Roman" panose="02020603050405020304" pitchFamily="18" charset="0"/>
                          <a:cs typeface="Times New Roman" panose="02020603050405020304" pitchFamily="18" charset="0"/>
                        </a:rPr>
                        <a:t>5</a:t>
                      </a:r>
                      <a:r>
                        <a:rPr lang="el-GR" sz="2400" b="0" kern="1200" dirty="0" smtClean="0">
                          <a:solidFill>
                            <a:schemeClr val="tx1"/>
                          </a:solidFill>
                          <a:latin typeface="+mj-lt"/>
                          <a:ea typeface="Times New Roman" panose="02020603050405020304" pitchFamily="18" charset="0"/>
                          <a:cs typeface="Times New Roman" panose="02020603050405020304" pitchFamily="18" charset="0"/>
                        </a:rPr>
                        <a:t>]</a:t>
                      </a:r>
                      <a:endParaRPr lang="en-US" sz="2400" b="0" kern="1200" dirty="0">
                        <a:solidFill>
                          <a:schemeClr val="tx1"/>
                        </a:solidFill>
                        <a:latin typeface="+mj-lt"/>
                        <a:ea typeface="Times New Roman" panose="02020603050405020304" pitchFamily="18" charset="0"/>
                        <a:cs typeface="Times New Roman" panose="02020603050405020304" pitchFamily="18" charset="0"/>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1359744470"/>
                  </a:ext>
                </a:extLst>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697116231"/>
              </p:ext>
            </p:extLst>
          </p:nvPr>
        </p:nvGraphicFramePr>
        <p:xfrm>
          <a:off x="6499686" y="4687800"/>
          <a:ext cx="4712264" cy="457200"/>
        </p:xfrm>
        <a:graphic>
          <a:graphicData uri="http://schemas.openxmlformats.org/drawingml/2006/table">
            <a:tbl>
              <a:tblPr firstRow="1" bandRow="1">
                <a:tableStyleId>{5C22544A-7EE6-4342-B048-85BDC9FD1C3A}</a:tableStyleId>
              </a:tblPr>
              <a:tblGrid>
                <a:gridCol w="2517704">
                  <a:extLst>
                    <a:ext uri="{9D8B030D-6E8A-4147-A177-3AD203B41FA5}">
                      <a16:colId xmlns="" xmlns:a16="http://schemas.microsoft.com/office/drawing/2014/main" val="2702582030"/>
                    </a:ext>
                  </a:extLst>
                </a:gridCol>
                <a:gridCol w="2194560">
                  <a:extLst>
                    <a:ext uri="{9D8B030D-6E8A-4147-A177-3AD203B41FA5}">
                      <a16:colId xmlns="" xmlns:a16="http://schemas.microsoft.com/office/drawing/2014/main" val="1554071963"/>
                    </a:ext>
                  </a:extLst>
                </a:gridCol>
              </a:tblGrid>
              <a:tr h="429317">
                <a:tc>
                  <a:txBody>
                    <a:bodyPr/>
                    <a:lstStyle/>
                    <a:p>
                      <a:pPr algn="just"/>
                      <a:r>
                        <a:rPr lang="en-US" sz="2400" b="0" kern="1200" dirty="0" smtClean="0">
                          <a:solidFill>
                            <a:schemeClr val="tx1"/>
                          </a:solidFill>
                          <a:latin typeface="+mj-lt"/>
                          <a:ea typeface="Times New Roman" panose="02020603050405020304" pitchFamily="18" charset="0"/>
                          <a:cs typeface="Times New Roman" panose="02020603050405020304" pitchFamily="18" charset="0"/>
                        </a:rPr>
                        <a:t>Toward router R1</a:t>
                      </a:r>
                      <a:endParaRPr lang="en-US" sz="2400" b="0" kern="1200" dirty="0">
                        <a:solidFill>
                          <a:schemeClr val="tx1"/>
                        </a:solidFill>
                        <a:latin typeface="+mj-lt"/>
                        <a:ea typeface="Times New Roman" panose="02020603050405020304" pitchFamily="18" charset="0"/>
                        <a:cs typeface="Times New Roman" panose="02020603050405020304" pitchFamily="18" charset="0"/>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400" b="0" kern="1200" dirty="0" smtClean="0">
                          <a:solidFill>
                            <a:schemeClr val="tx1"/>
                          </a:solidFill>
                          <a:latin typeface="+mj-lt"/>
                          <a:ea typeface="Times New Roman" panose="02020603050405020304" pitchFamily="18" charset="0"/>
                          <a:cs typeface="Times New Roman" panose="02020603050405020304" pitchFamily="18" charset="0"/>
                        </a:rPr>
                        <a:t>(unspecified)</a:t>
                      </a:r>
                      <a:endParaRPr lang="en-US" sz="2400" b="0" kern="1200" dirty="0">
                        <a:solidFill>
                          <a:schemeClr val="tx1"/>
                        </a:solidFill>
                        <a:latin typeface="+mj-lt"/>
                        <a:ea typeface="Times New Roman" panose="02020603050405020304" pitchFamily="18" charset="0"/>
                        <a:cs typeface="Times New Roman" panose="02020603050405020304" pitchFamily="18" charset="0"/>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1359744470"/>
                  </a:ext>
                </a:extLst>
              </a:tr>
            </a:tbl>
          </a:graphicData>
        </a:graphic>
      </p:graphicFrame>
    </p:spTree>
    <p:extLst>
      <p:ext uri="{BB962C8B-B14F-4D97-AF65-F5344CB8AC3E}">
        <p14:creationId xmlns:p14="http://schemas.microsoft.com/office/powerpoint/2010/main" val="4284759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Fault Tolerance </a:t>
            </a:r>
            <a:r>
              <a:rPr lang="en-US" dirty="0" smtClean="0"/>
              <a:t>in TIB/Rendezvous</a:t>
            </a:r>
            <a:endParaRPr lang="en-US" dirty="0"/>
          </a:p>
        </p:txBody>
      </p:sp>
      <p:sp>
        <p:nvSpPr>
          <p:cNvPr id="6" name="Content Placeholder 5"/>
          <p:cNvSpPr>
            <a:spLocks noGrp="1"/>
          </p:cNvSpPr>
          <p:nvPr>
            <p:ph idx="1"/>
          </p:nvPr>
        </p:nvSpPr>
        <p:spPr/>
        <p:txBody>
          <a:bodyPr/>
          <a:lstStyle/>
          <a:p>
            <a:r>
              <a:rPr lang="en-US" dirty="0"/>
              <a:t>Problem: TIB/RV relies on multicasting for publishing messages to all subscribers. This mechanism needs to be extended to wide-area networks and requires reliable multicasting.</a:t>
            </a:r>
          </a:p>
          <a:p>
            <a:r>
              <a:rPr lang="en-US" dirty="0"/>
              <a:t>Solution: Pragmatic General Multicast (PGM): a NACK-based scheme in which receivers tell the sender that  they are missing </a:t>
            </a:r>
            <a:r>
              <a:rPr lang="en-US" dirty="0" smtClean="0"/>
              <a:t>something(no </a:t>
            </a:r>
            <a:r>
              <a:rPr lang="en-US" dirty="0"/>
              <a:t>hard guarantees).</a:t>
            </a:r>
          </a:p>
          <a:p>
            <a:endParaRPr lang="en-IN" dirty="0"/>
          </a:p>
        </p:txBody>
      </p:sp>
      <p:pic>
        <p:nvPicPr>
          <p:cNvPr id="3" name="Picture 2"/>
          <p:cNvPicPr>
            <a:picLocks noChangeAspect="1"/>
          </p:cNvPicPr>
          <p:nvPr/>
        </p:nvPicPr>
        <p:blipFill rotWithShape="1">
          <a:blip r:embed="rId2"/>
          <a:srcRect l="11200" r="5158"/>
          <a:stretch/>
        </p:blipFill>
        <p:spPr>
          <a:xfrm>
            <a:off x="21608" y="3177318"/>
            <a:ext cx="2635624" cy="3312238"/>
          </a:xfrm>
          <a:prstGeom prst="rect">
            <a:avLst/>
          </a:prstGeom>
        </p:spPr>
      </p:pic>
      <p:pic>
        <p:nvPicPr>
          <p:cNvPr id="4" name="Picture 3"/>
          <p:cNvPicPr>
            <a:picLocks noChangeAspect="1"/>
          </p:cNvPicPr>
          <p:nvPr/>
        </p:nvPicPr>
        <p:blipFill rotWithShape="1">
          <a:blip r:embed="rId3"/>
          <a:srcRect l="4792" r="3560"/>
          <a:stretch/>
        </p:blipFill>
        <p:spPr>
          <a:xfrm>
            <a:off x="2967275" y="3387489"/>
            <a:ext cx="3160059" cy="3086100"/>
          </a:xfrm>
          <a:prstGeom prst="rect">
            <a:avLst/>
          </a:prstGeom>
        </p:spPr>
      </p:pic>
      <p:pic>
        <p:nvPicPr>
          <p:cNvPr id="7" name="Picture 6"/>
          <p:cNvPicPr>
            <a:picLocks noChangeAspect="1"/>
          </p:cNvPicPr>
          <p:nvPr/>
        </p:nvPicPr>
        <p:blipFill rotWithShape="1">
          <a:blip r:embed="rId4"/>
          <a:srcRect l="5974" t="2258" r="4762"/>
          <a:stretch/>
        </p:blipFill>
        <p:spPr>
          <a:xfrm>
            <a:off x="6427694" y="3190017"/>
            <a:ext cx="2850777" cy="3264875"/>
          </a:xfrm>
          <a:prstGeom prst="rect">
            <a:avLst/>
          </a:prstGeom>
        </p:spPr>
      </p:pic>
      <p:sp>
        <p:nvSpPr>
          <p:cNvPr id="8" name="TextBox 7"/>
          <p:cNvSpPr txBox="1"/>
          <p:nvPr/>
        </p:nvSpPr>
        <p:spPr>
          <a:xfrm>
            <a:off x="6410399" y="2508139"/>
            <a:ext cx="3715236" cy="707886"/>
          </a:xfrm>
          <a:prstGeom prst="rect">
            <a:avLst/>
          </a:prstGeom>
          <a:solidFill>
            <a:srgbClr val="1D3064"/>
          </a:solidFill>
        </p:spPr>
        <p:txBody>
          <a:bodyPr wrap="square" rtlCol="0">
            <a:spAutoFit/>
          </a:bodyPr>
          <a:lstStyle/>
          <a:p>
            <a:pPr algn="just"/>
            <a:r>
              <a:rPr lang="en-US" sz="2000" dirty="0">
                <a:solidFill>
                  <a:schemeClr val="bg1"/>
                </a:solidFill>
              </a:rPr>
              <a:t>A </a:t>
            </a:r>
            <a:r>
              <a:rPr lang="en-US" sz="2000" dirty="0" smtClean="0">
                <a:solidFill>
                  <a:schemeClr val="bg1"/>
                </a:solidFill>
              </a:rPr>
              <a:t>message is </a:t>
            </a:r>
            <a:r>
              <a:rPr lang="en-US" sz="2000" dirty="0">
                <a:solidFill>
                  <a:schemeClr val="bg1"/>
                </a:solidFill>
              </a:rPr>
              <a:t>retransmitted only to receivers that have asked for it</a:t>
            </a:r>
            <a:endParaRPr lang="en-IN" sz="2000" dirty="0">
              <a:solidFill>
                <a:schemeClr val="bg1"/>
              </a:solidFill>
            </a:endParaRPr>
          </a:p>
        </p:txBody>
      </p:sp>
      <p:sp>
        <p:nvSpPr>
          <p:cNvPr id="9" name="TextBox 8"/>
          <p:cNvSpPr txBox="1"/>
          <p:nvPr/>
        </p:nvSpPr>
        <p:spPr>
          <a:xfrm>
            <a:off x="2967274" y="2508138"/>
            <a:ext cx="3269631" cy="707886"/>
          </a:xfrm>
          <a:prstGeom prst="rect">
            <a:avLst/>
          </a:prstGeom>
          <a:solidFill>
            <a:srgbClr val="1D3064"/>
          </a:solidFill>
        </p:spPr>
        <p:txBody>
          <a:bodyPr wrap="square" rtlCol="0">
            <a:spAutoFit/>
          </a:bodyPr>
          <a:lstStyle/>
          <a:p>
            <a:pPr algn="just"/>
            <a:r>
              <a:rPr lang="en-US" sz="2000" dirty="0">
                <a:solidFill>
                  <a:schemeClr val="bg1"/>
                </a:solidFill>
              </a:rPr>
              <a:t>A </a:t>
            </a:r>
            <a:r>
              <a:rPr lang="en-US" sz="2000" dirty="0" smtClean="0">
                <a:solidFill>
                  <a:schemeClr val="bg1"/>
                </a:solidFill>
              </a:rPr>
              <a:t>router will </a:t>
            </a:r>
            <a:r>
              <a:rPr lang="en-US" sz="2000" dirty="0">
                <a:solidFill>
                  <a:schemeClr val="bg1"/>
                </a:solidFill>
              </a:rPr>
              <a:t>pass only a single NAK for each message.</a:t>
            </a:r>
            <a:endParaRPr lang="en-IN" sz="2000" dirty="0">
              <a:solidFill>
                <a:schemeClr val="bg1"/>
              </a:solidFill>
            </a:endParaRPr>
          </a:p>
        </p:txBody>
      </p:sp>
      <p:sp>
        <p:nvSpPr>
          <p:cNvPr id="10" name="TextBox 9"/>
          <p:cNvSpPr txBox="1"/>
          <p:nvPr/>
        </p:nvSpPr>
        <p:spPr>
          <a:xfrm>
            <a:off x="131180" y="2507625"/>
            <a:ext cx="2526052" cy="707886"/>
          </a:xfrm>
          <a:prstGeom prst="rect">
            <a:avLst/>
          </a:prstGeom>
          <a:solidFill>
            <a:srgbClr val="1D3064"/>
          </a:solidFill>
        </p:spPr>
        <p:txBody>
          <a:bodyPr wrap="square" rtlCol="0">
            <a:spAutoFit/>
          </a:bodyPr>
          <a:lstStyle/>
          <a:p>
            <a:pPr algn="just"/>
            <a:r>
              <a:rPr lang="en-US" sz="2000" dirty="0">
                <a:solidFill>
                  <a:schemeClr val="bg1"/>
                </a:solidFill>
              </a:rPr>
              <a:t>A message is sent along </a:t>
            </a:r>
            <a:r>
              <a:rPr lang="en-US" sz="2000" dirty="0" smtClean="0">
                <a:solidFill>
                  <a:schemeClr val="bg1"/>
                </a:solidFill>
              </a:rPr>
              <a:t>a multicast </a:t>
            </a:r>
            <a:r>
              <a:rPr lang="en-US" sz="2000" dirty="0">
                <a:solidFill>
                  <a:schemeClr val="bg1"/>
                </a:solidFill>
              </a:rPr>
              <a:t>tree</a:t>
            </a:r>
            <a:endParaRPr lang="en-IN" sz="2000" dirty="0">
              <a:solidFill>
                <a:schemeClr val="bg1"/>
              </a:solidFill>
            </a:endParaRPr>
          </a:p>
        </p:txBody>
      </p:sp>
    </p:spTree>
    <p:extLst>
      <p:ext uri="{BB962C8B-B14F-4D97-AF65-F5344CB8AC3E}">
        <p14:creationId xmlns:p14="http://schemas.microsoft.com/office/powerpoint/2010/main" val="1066755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Jini: Overview</a:t>
            </a:r>
          </a:p>
        </p:txBody>
      </p:sp>
      <p:sp>
        <p:nvSpPr>
          <p:cNvPr id="6" name="Content Placeholder 5"/>
          <p:cNvSpPr>
            <a:spLocks noGrp="1"/>
          </p:cNvSpPr>
          <p:nvPr>
            <p:ph idx="1"/>
          </p:nvPr>
        </p:nvSpPr>
        <p:spPr/>
        <p:txBody>
          <a:bodyPr/>
          <a:lstStyle/>
          <a:p>
            <a:r>
              <a:rPr lang="en-US" dirty="0"/>
              <a:t>Coordination-based system from Sun Microsystems</a:t>
            </a:r>
          </a:p>
          <a:p>
            <a:r>
              <a:rPr lang="en-US" dirty="0" smtClean="0"/>
              <a:t>Written </a:t>
            </a:r>
            <a:r>
              <a:rPr lang="en-US" dirty="0"/>
              <a:t>in Java: one language everywhere</a:t>
            </a:r>
          </a:p>
          <a:p>
            <a:r>
              <a:rPr lang="en-US" dirty="0" smtClean="0"/>
              <a:t>Uses </a:t>
            </a:r>
            <a:r>
              <a:rPr lang="en-US" dirty="0"/>
              <a:t>RMI and Java Object Serialization to enable Java objects to move </a:t>
            </a:r>
            <a:r>
              <a:rPr lang="en-US" dirty="0" smtClean="0"/>
              <a:t>around the </a:t>
            </a:r>
            <a:r>
              <a:rPr lang="en-US" dirty="0"/>
              <a:t>network</a:t>
            </a:r>
          </a:p>
          <a:p>
            <a:r>
              <a:rPr lang="en-US" dirty="0" smtClean="0"/>
              <a:t>Offers </a:t>
            </a:r>
            <a:r>
              <a:rPr lang="en-US" dirty="0"/>
              <a:t>network plug and play of services (Java objects)</a:t>
            </a:r>
          </a:p>
          <a:p>
            <a:r>
              <a:rPr lang="en-US" dirty="0" smtClean="0"/>
              <a:t>Services </a:t>
            </a:r>
            <a:r>
              <a:rPr lang="en-US" dirty="0"/>
              <a:t>may come and go without administration and reconfiguration</a:t>
            </a:r>
          </a:p>
          <a:p>
            <a:r>
              <a:rPr lang="en-US" dirty="0" smtClean="0"/>
              <a:t>Federation</a:t>
            </a:r>
            <a:r>
              <a:rPr lang="en-US" dirty="0"/>
              <a:t>, not central control</a:t>
            </a:r>
          </a:p>
          <a:p>
            <a:r>
              <a:rPr lang="en-US" dirty="0" smtClean="0"/>
              <a:t>Programming </a:t>
            </a:r>
            <a:r>
              <a:rPr lang="en-US" dirty="0"/>
              <a:t>interfaces designed for robustness</a:t>
            </a:r>
            <a:endParaRPr lang="en-IN" dirty="0"/>
          </a:p>
        </p:txBody>
      </p:sp>
    </p:spTree>
    <p:extLst>
      <p:ext uri="{BB962C8B-B14F-4D97-AF65-F5344CB8AC3E}">
        <p14:creationId xmlns:p14="http://schemas.microsoft.com/office/powerpoint/2010/main" val="4285494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Jini: Main Components</a:t>
            </a:r>
          </a:p>
        </p:txBody>
      </p:sp>
      <p:sp>
        <p:nvSpPr>
          <p:cNvPr id="6" name="Content Placeholder 5"/>
          <p:cNvSpPr>
            <a:spLocks noGrp="1"/>
          </p:cNvSpPr>
          <p:nvPr>
            <p:ph idx="1"/>
          </p:nvPr>
        </p:nvSpPr>
        <p:spPr/>
        <p:txBody>
          <a:bodyPr/>
          <a:lstStyle/>
          <a:p>
            <a:r>
              <a:rPr lang="en-US" dirty="0">
                <a:solidFill>
                  <a:schemeClr val="accent6"/>
                </a:solidFill>
              </a:rPr>
              <a:t>Service</a:t>
            </a:r>
            <a:r>
              <a:rPr lang="en-US" dirty="0"/>
              <a:t>: an entity that another program, service or user can use. It can be a </a:t>
            </a:r>
            <a:r>
              <a:rPr lang="en-US" dirty="0" smtClean="0"/>
              <a:t>piece of </a:t>
            </a:r>
            <a:r>
              <a:rPr lang="en-US" dirty="0"/>
              <a:t>computation, a hardware device or software.</a:t>
            </a:r>
          </a:p>
          <a:p>
            <a:r>
              <a:rPr lang="en-US" dirty="0" smtClean="0">
                <a:solidFill>
                  <a:schemeClr val="accent6"/>
                </a:solidFill>
              </a:rPr>
              <a:t>Client</a:t>
            </a:r>
            <a:r>
              <a:rPr lang="en-US" dirty="0"/>
              <a:t>: a Jini device or component that becomes a member of the federation </a:t>
            </a:r>
            <a:r>
              <a:rPr lang="en-US" dirty="0" smtClean="0"/>
              <a:t>in order </a:t>
            </a:r>
            <a:r>
              <a:rPr lang="en-US" dirty="0"/>
              <a:t>to use a Jini service.</a:t>
            </a:r>
          </a:p>
          <a:p>
            <a:r>
              <a:rPr lang="en-US" dirty="0" smtClean="0">
                <a:solidFill>
                  <a:schemeClr val="accent6"/>
                </a:solidFill>
              </a:rPr>
              <a:t>Lookup </a:t>
            </a:r>
            <a:r>
              <a:rPr lang="en-US" dirty="0">
                <a:solidFill>
                  <a:schemeClr val="accent6"/>
                </a:solidFill>
              </a:rPr>
              <a:t>Service</a:t>
            </a:r>
            <a:r>
              <a:rPr lang="en-US" dirty="0"/>
              <a:t>: keeps track of the services offered in the federation.</a:t>
            </a:r>
          </a:p>
          <a:p>
            <a:pPr lvl="2"/>
            <a:r>
              <a:rPr lang="en-US" sz="2400" dirty="0"/>
              <a:t>Repository of available services.</a:t>
            </a:r>
          </a:p>
          <a:p>
            <a:pPr lvl="2"/>
            <a:r>
              <a:rPr lang="en-US" sz="2400" dirty="0"/>
              <a:t>Stores each service as Java objects.</a:t>
            </a:r>
          </a:p>
          <a:p>
            <a:pPr lvl="2"/>
            <a:r>
              <a:rPr lang="en-US" sz="2400" dirty="0"/>
              <a:t>Clients download services on demand.</a:t>
            </a:r>
            <a:endParaRPr lang="en-IN" sz="2400" dirty="0"/>
          </a:p>
        </p:txBody>
      </p:sp>
    </p:spTree>
    <p:extLst>
      <p:ext uri="{BB962C8B-B14F-4D97-AF65-F5344CB8AC3E}">
        <p14:creationId xmlns:p14="http://schemas.microsoft.com/office/powerpoint/2010/main" val="82262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Jini: </a:t>
            </a:r>
            <a:r>
              <a:rPr lang="en-US" dirty="0" err="1"/>
              <a:t>Javaspaces</a:t>
            </a:r>
            <a:endParaRPr lang="en-US" dirty="0"/>
          </a:p>
        </p:txBody>
      </p:sp>
      <p:sp>
        <p:nvSpPr>
          <p:cNvPr id="6" name="Content Placeholder 5"/>
          <p:cNvSpPr>
            <a:spLocks noGrp="1"/>
          </p:cNvSpPr>
          <p:nvPr>
            <p:ph idx="1"/>
          </p:nvPr>
        </p:nvSpPr>
        <p:spPr/>
        <p:txBody>
          <a:bodyPr/>
          <a:lstStyle/>
          <a:p>
            <a:endParaRPr lang="en-US" dirty="0" smtClean="0">
              <a:solidFill>
                <a:schemeClr val="accent6"/>
              </a:solidFill>
            </a:endParaRPr>
          </a:p>
          <a:p>
            <a:endParaRPr lang="en-US" dirty="0">
              <a:solidFill>
                <a:schemeClr val="accent6"/>
              </a:solidFill>
            </a:endParaRPr>
          </a:p>
          <a:p>
            <a:endParaRPr lang="en-US" dirty="0" smtClean="0">
              <a:solidFill>
                <a:schemeClr val="accent6"/>
              </a:solidFill>
            </a:endParaRPr>
          </a:p>
          <a:p>
            <a:endParaRPr lang="en-US" dirty="0" smtClean="0">
              <a:solidFill>
                <a:schemeClr val="accent6"/>
              </a:solidFill>
            </a:endParaRPr>
          </a:p>
          <a:p>
            <a:endParaRPr lang="en-US" dirty="0">
              <a:solidFill>
                <a:schemeClr val="accent6"/>
              </a:solidFill>
            </a:endParaRPr>
          </a:p>
          <a:p>
            <a:endParaRPr lang="en-US" dirty="0" smtClean="0">
              <a:solidFill>
                <a:schemeClr val="accent6"/>
              </a:solidFill>
            </a:endParaRPr>
          </a:p>
          <a:p>
            <a:endParaRPr lang="en-US" dirty="0">
              <a:solidFill>
                <a:schemeClr val="accent6"/>
              </a:solidFill>
            </a:endParaRPr>
          </a:p>
          <a:p>
            <a:endParaRPr lang="en-US" dirty="0" smtClean="0">
              <a:solidFill>
                <a:schemeClr val="accent6"/>
              </a:solidFill>
            </a:endParaRPr>
          </a:p>
          <a:p>
            <a:r>
              <a:rPr lang="en-US" dirty="0">
                <a:solidFill>
                  <a:schemeClr val="accent6"/>
                </a:solidFill>
              </a:rPr>
              <a:t>Write</a:t>
            </a:r>
            <a:r>
              <a:rPr lang="en-US" dirty="0"/>
              <a:t>: A copy of a tuple (tuple instance) is stored in a </a:t>
            </a:r>
            <a:r>
              <a:rPr lang="en-US" dirty="0" err="1"/>
              <a:t>JavaSpace</a:t>
            </a:r>
            <a:endParaRPr lang="en-US" dirty="0"/>
          </a:p>
          <a:p>
            <a:r>
              <a:rPr lang="en-US" dirty="0">
                <a:solidFill>
                  <a:schemeClr val="accent6"/>
                </a:solidFill>
              </a:rPr>
              <a:t>Read</a:t>
            </a:r>
            <a:r>
              <a:rPr lang="en-US" dirty="0"/>
              <a:t>: A template is compared to tuple instances; the first match returns a tuple </a:t>
            </a:r>
            <a:r>
              <a:rPr lang="en-US" dirty="0" smtClean="0"/>
              <a:t>instance</a:t>
            </a:r>
          </a:p>
          <a:p>
            <a:r>
              <a:rPr lang="en-US" dirty="0">
                <a:solidFill>
                  <a:schemeClr val="accent6"/>
                </a:solidFill>
              </a:rPr>
              <a:t>Take</a:t>
            </a:r>
            <a:r>
              <a:rPr lang="en-US" dirty="0"/>
              <a:t>: A template is compared to tuple instances; the first match returns a tuple instance </a:t>
            </a:r>
            <a:r>
              <a:rPr lang="en-US" dirty="0" smtClean="0"/>
              <a:t>and removes </a:t>
            </a:r>
            <a:r>
              <a:rPr lang="en-US" dirty="0"/>
              <a:t>the matching instance from the </a:t>
            </a:r>
            <a:r>
              <a:rPr lang="en-US" dirty="0" err="1"/>
              <a:t>JavaSpace</a:t>
            </a:r>
            <a:endParaRPr lang="en-US" dirty="0"/>
          </a:p>
        </p:txBody>
      </p:sp>
      <p:pic>
        <p:nvPicPr>
          <p:cNvPr id="3" name="Picture 2"/>
          <p:cNvPicPr>
            <a:picLocks noChangeAspect="1"/>
          </p:cNvPicPr>
          <p:nvPr/>
        </p:nvPicPr>
        <p:blipFill>
          <a:blip r:embed="rId2"/>
          <a:stretch>
            <a:fillRect/>
          </a:stretch>
        </p:blipFill>
        <p:spPr>
          <a:xfrm>
            <a:off x="2194560" y="863444"/>
            <a:ext cx="6543571" cy="3694488"/>
          </a:xfrm>
          <a:prstGeom prst="rect">
            <a:avLst/>
          </a:prstGeom>
        </p:spPr>
      </p:pic>
    </p:spTree>
    <p:extLst>
      <p:ext uri="{BB962C8B-B14F-4D97-AF65-F5344CB8AC3E}">
        <p14:creationId xmlns:p14="http://schemas.microsoft.com/office/powerpoint/2010/main" val="41302488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themeOverride>
</file>

<file path=docProps/app.xml><?xml version="1.0" encoding="utf-8"?>
<Properties xmlns="http://schemas.openxmlformats.org/officeDocument/2006/extended-properties" xmlns:vt="http://schemas.openxmlformats.org/officeDocument/2006/docPropsVTypes">
  <Template/>
  <TotalTime>17745</TotalTime>
  <Words>8540</Words>
  <Application>Microsoft Office PowerPoint</Application>
  <PresentationFormat>Widescreen</PresentationFormat>
  <Paragraphs>1618</Paragraphs>
  <Slides>130</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130</vt:i4>
      </vt:variant>
    </vt:vector>
  </HeadingPairs>
  <TitlesOfParts>
    <vt:vector size="141" baseType="lpstr">
      <vt:lpstr>Arial</vt:lpstr>
      <vt:lpstr>Calibri</vt:lpstr>
      <vt:lpstr>Roboto Condensed</vt:lpstr>
      <vt:lpstr>Roboto Condensed Light</vt:lpstr>
      <vt:lpstr>Segoe UI Black</vt:lpstr>
      <vt:lpstr>Times New Roman</vt:lpstr>
      <vt:lpstr>Webdings</vt:lpstr>
      <vt:lpstr>Wingdings</vt:lpstr>
      <vt:lpstr>Wingdings 2</vt:lpstr>
      <vt:lpstr>Wingdings 3</vt:lpstr>
      <vt:lpstr>Office Theme</vt:lpstr>
      <vt:lpstr>Unit-7  Categories of Distributed System  </vt:lpstr>
      <vt:lpstr>PowerPoint Presentation</vt:lpstr>
      <vt:lpstr>Categories of Distributed System</vt:lpstr>
      <vt:lpstr>Distributed Object-based System</vt:lpstr>
      <vt:lpstr>Distributed Objects</vt:lpstr>
      <vt:lpstr>Distributed Objects</vt:lpstr>
      <vt:lpstr>Example: Enterprise Java Beans</vt:lpstr>
      <vt:lpstr>Types of EJBs(Enterprise Java Beans)</vt:lpstr>
      <vt:lpstr>Types of EJBs(Enterprise Java Beans)</vt:lpstr>
      <vt:lpstr>Globe Distributed Shared Objects</vt:lpstr>
      <vt:lpstr>Globe Distributed Shared Objects</vt:lpstr>
      <vt:lpstr>Processes: Object servers</vt:lpstr>
      <vt:lpstr>Object Adapter</vt:lpstr>
      <vt:lpstr>Communication: Client-to-object binding</vt:lpstr>
      <vt:lpstr>Java Remote Method Invocation (RMI)</vt:lpstr>
      <vt:lpstr>Remote Method Invocation (RMI)</vt:lpstr>
      <vt:lpstr>Remote Method Invocation (RMI)</vt:lpstr>
      <vt:lpstr>RMI: Parameter passing</vt:lpstr>
      <vt:lpstr>RMI: Parameter passing</vt:lpstr>
      <vt:lpstr>CORBA: Overview</vt:lpstr>
      <vt:lpstr>CORBA: Overview</vt:lpstr>
      <vt:lpstr>CORBA: Overview</vt:lpstr>
      <vt:lpstr>CORBA: Components (Main CORBA Components)</vt:lpstr>
      <vt:lpstr>CORBA: Organisation</vt:lpstr>
      <vt:lpstr>CORBA: Communication</vt:lpstr>
      <vt:lpstr>CORBA: Event and Notification Services</vt:lpstr>
      <vt:lpstr>CORBA: Persistent Communication</vt:lpstr>
      <vt:lpstr>CORBA: Messaging</vt:lpstr>
      <vt:lpstr>CORBA: Object references</vt:lpstr>
      <vt:lpstr>CORBA: Object references</vt:lpstr>
      <vt:lpstr>CORBA: Interoperability</vt:lpstr>
      <vt:lpstr>CORBA: Clients and Servers</vt:lpstr>
      <vt:lpstr>CORBA: Clients and Servers</vt:lpstr>
      <vt:lpstr>Synchronization and Locking</vt:lpstr>
      <vt:lpstr>Consistency and Replication</vt:lpstr>
      <vt:lpstr>Entry Consistency</vt:lpstr>
      <vt:lpstr>Replication Frameworks</vt:lpstr>
      <vt:lpstr>Replication Frameworks</vt:lpstr>
      <vt:lpstr>Fault-Tolerant CORBA</vt:lpstr>
      <vt:lpstr>CORBA- An Example Architecture</vt:lpstr>
      <vt:lpstr>CORBA- An Example Architecture</vt:lpstr>
      <vt:lpstr>Example: Fault-Tolerant Java</vt:lpstr>
      <vt:lpstr>Overview of Globe Security</vt:lpstr>
      <vt:lpstr>Secure Method Invocation</vt:lpstr>
      <vt:lpstr>Categories of Distributed System</vt:lpstr>
      <vt:lpstr>What is Distributed File System?</vt:lpstr>
      <vt:lpstr>Distributed File System</vt:lpstr>
      <vt:lpstr>Distributed File System- Example</vt:lpstr>
      <vt:lpstr>Benefits of DFSs</vt:lpstr>
      <vt:lpstr>DFS Component Placement </vt:lpstr>
      <vt:lpstr>DFS Aspects</vt:lpstr>
      <vt:lpstr>Network File System</vt:lpstr>
      <vt:lpstr>Architectures</vt:lpstr>
      <vt:lpstr>Remote Access Model</vt:lpstr>
      <vt:lpstr>Upload/Download Model</vt:lpstr>
      <vt:lpstr>The Basic NFS Architecture</vt:lpstr>
      <vt:lpstr>NFS File Operations</vt:lpstr>
      <vt:lpstr>NFS File Operations</vt:lpstr>
      <vt:lpstr>Architectures</vt:lpstr>
      <vt:lpstr>Parallel Applications</vt:lpstr>
      <vt:lpstr>File Striping Techniques</vt:lpstr>
      <vt:lpstr>General Purpose Applications</vt:lpstr>
      <vt:lpstr>Google File System</vt:lpstr>
      <vt:lpstr>Google File System</vt:lpstr>
      <vt:lpstr>GFS Mechanics</vt:lpstr>
      <vt:lpstr>Architectures</vt:lpstr>
      <vt:lpstr>Ivy</vt:lpstr>
      <vt:lpstr>Ivy Architecture</vt:lpstr>
      <vt:lpstr>Communication</vt:lpstr>
      <vt:lpstr>RPCs in NFS</vt:lpstr>
      <vt:lpstr>RPC in Coda (Content Delivery Architecture)</vt:lpstr>
      <vt:lpstr>RPC in Coda</vt:lpstr>
      <vt:lpstr>Naming In NFS</vt:lpstr>
      <vt:lpstr>Mounting in NFS</vt:lpstr>
      <vt:lpstr>Sharing Files In NFS</vt:lpstr>
      <vt:lpstr>Sharing Files In NFS</vt:lpstr>
      <vt:lpstr>Synchronization In DFSs</vt:lpstr>
      <vt:lpstr>File Sharing Semantics</vt:lpstr>
      <vt:lpstr>File Sharing Semantics - Unix File Semantics</vt:lpstr>
      <vt:lpstr>File Sharing Semantics - Session Semantics</vt:lpstr>
      <vt:lpstr>File Sharing Semantics - Session Semantics</vt:lpstr>
      <vt:lpstr>File Sharing Semantics - Immutable Shared-files Semantics</vt:lpstr>
      <vt:lpstr>File Sharing Semantics- Transaction like Semantics</vt:lpstr>
      <vt:lpstr>Categories of Distributed System</vt:lpstr>
      <vt:lpstr>Distributed Web-Based Systems</vt:lpstr>
      <vt:lpstr>Architecture</vt:lpstr>
      <vt:lpstr>Traditional web based system</vt:lpstr>
      <vt:lpstr>Web Documents</vt:lpstr>
      <vt:lpstr>MIME Types</vt:lpstr>
      <vt:lpstr>Multitier Architecture</vt:lpstr>
      <vt:lpstr>Multitier Architecture</vt:lpstr>
      <vt:lpstr>Web Services</vt:lpstr>
      <vt:lpstr>Web Services</vt:lpstr>
      <vt:lpstr>Processes</vt:lpstr>
      <vt:lpstr>Clients</vt:lpstr>
      <vt:lpstr>Clients (Web Browser)</vt:lpstr>
      <vt:lpstr>Apache Web Server</vt:lpstr>
      <vt:lpstr>Apache Web Server</vt:lpstr>
      <vt:lpstr>Web Server Clusters</vt:lpstr>
      <vt:lpstr>Web Server Clusters</vt:lpstr>
      <vt:lpstr>Web Server Clusters</vt:lpstr>
      <vt:lpstr>Web Server Clusters</vt:lpstr>
      <vt:lpstr>Connections</vt:lpstr>
      <vt:lpstr>Hypertext Transfer Protocol (HTTP)</vt:lpstr>
      <vt:lpstr>HTTP Methods</vt:lpstr>
      <vt:lpstr>HTTP Messages</vt:lpstr>
      <vt:lpstr>Simple Object Access Protocol (SOAP)</vt:lpstr>
      <vt:lpstr>Naming</vt:lpstr>
      <vt:lpstr>Naming</vt:lpstr>
      <vt:lpstr>Synchronization</vt:lpstr>
      <vt:lpstr>Synchronization</vt:lpstr>
      <vt:lpstr>Web Proxy Caching</vt:lpstr>
      <vt:lpstr>Web Proxy Caching</vt:lpstr>
      <vt:lpstr>Replication for Web Hosting Systems</vt:lpstr>
      <vt:lpstr>Metric Estimation</vt:lpstr>
      <vt:lpstr>Adaptation Triggering</vt:lpstr>
      <vt:lpstr>Adjustment Measures</vt:lpstr>
      <vt:lpstr>Replication of Web Applications</vt:lpstr>
      <vt:lpstr>Replication of Web Applications</vt:lpstr>
      <vt:lpstr>Categories of Distributed System</vt:lpstr>
      <vt:lpstr>Distributed Coordination-Based Systems</vt:lpstr>
      <vt:lpstr>Distributed Coordination-Based Systems</vt:lpstr>
      <vt:lpstr>Architectures: Overview</vt:lpstr>
      <vt:lpstr>TIB/Rendezvous: Overview</vt:lpstr>
      <vt:lpstr>Communication</vt:lpstr>
      <vt:lpstr>Content-based routing: naive solution</vt:lpstr>
      <vt:lpstr>Fault Tolerance in TIB/Rendezvous</vt:lpstr>
      <vt:lpstr>Jini: Overview</vt:lpstr>
      <vt:lpstr>Jini: Main Components</vt:lpstr>
      <vt:lpstr>Jini: Javaspaces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umesh patel</cp:lastModifiedBy>
  <cp:revision>1697</cp:revision>
  <dcterms:created xsi:type="dcterms:W3CDTF">2020-05-01T05:09:15Z</dcterms:created>
  <dcterms:modified xsi:type="dcterms:W3CDTF">2021-11-23T05:58:03Z</dcterms:modified>
</cp:coreProperties>
</file>