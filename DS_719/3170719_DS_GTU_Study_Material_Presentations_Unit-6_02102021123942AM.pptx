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1"/>
  </p:notesMasterIdLst>
  <p:sldIdLst>
    <p:sldId id="283" r:id="rId2"/>
    <p:sldId id="410" r:id="rId3"/>
    <p:sldId id="455" r:id="rId4"/>
    <p:sldId id="638" r:id="rId5"/>
    <p:sldId id="651" r:id="rId6"/>
    <p:sldId id="640" r:id="rId7"/>
    <p:sldId id="639" r:id="rId8"/>
    <p:sldId id="641" r:id="rId9"/>
    <p:sldId id="497" r:id="rId10"/>
    <p:sldId id="648" r:id="rId11"/>
    <p:sldId id="650" r:id="rId12"/>
    <p:sldId id="642" r:id="rId13"/>
    <p:sldId id="501" r:id="rId14"/>
    <p:sldId id="500" r:id="rId15"/>
    <p:sldId id="643" r:id="rId16"/>
    <p:sldId id="644" r:id="rId17"/>
    <p:sldId id="645" r:id="rId18"/>
    <p:sldId id="504" r:id="rId19"/>
    <p:sldId id="646" r:id="rId20"/>
    <p:sldId id="507" r:id="rId21"/>
    <p:sldId id="652" r:id="rId22"/>
    <p:sldId id="653" r:id="rId23"/>
    <p:sldId id="654" r:id="rId24"/>
    <p:sldId id="656" r:id="rId25"/>
    <p:sldId id="522" r:id="rId26"/>
    <p:sldId id="658" r:id="rId27"/>
    <p:sldId id="659" r:id="rId28"/>
    <p:sldId id="660" r:id="rId29"/>
    <p:sldId id="661" r:id="rId30"/>
    <p:sldId id="662" r:id="rId31"/>
    <p:sldId id="663" r:id="rId32"/>
    <p:sldId id="664" r:id="rId33"/>
    <p:sldId id="665" r:id="rId34"/>
    <p:sldId id="666" r:id="rId35"/>
    <p:sldId id="667" r:id="rId36"/>
    <p:sldId id="668" r:id="rId37"/>
    <p:sldId id="669" r:id="rId38"/>
    <p:sldId id="675" r:id="rId39"/>
    <p:sldId id="676" r:id="rId40"/>
    <p:sldId id="677" r:id="rId41"/>
    <p:sldId id="678" r:id="rId42"/>
    <p:sldId id="679" r:id="rId43"/>
    <p:sldId id="680" r:id="rId44"/>
    <p:sldId id="681" r:id="rId45"/>
    <p:sldId id="683" r:id="rId46"/>
    <p:sldId id="670" r:id="rId47"/>
    <p:sldId id="524" r:id="rId48"/>
    <p:sldId id="671" r:id="rId49"/>
    <p:sldId id="525" r:id="rId50"/>
    <p:sldId id="672" r:id="rId51"/>
    <p:sldId id="435" r:id="rId52"/>
    <p:sldId id="688" r:id="rId53"/>
    <p:sldId id="673" r:id="rId54"/>
    <p:sldId id="542" r:id="rId55"/>
    <p:sldId id="691" r:id="rId56"/>
    <p:sldId id="689" r:id="rId57"/>
    <p:sldId id="536" r:id="rId58"/>
    <p:sldId id="547" r:id="rId59"/>
    <p:sldId id="698" r:id="rId60"/>
    <p:sldId id="548" r:id="rId61"/>
    <p:sldId id="711" r:id="rId62"/>
    <p:sldId id="709" r:id="rId63"/>
    <p:sldId id="721" r:id="rId64"/>
    <p:sldId id="705" r:id="rId65"/>
    <p:sldId id="552" r:id="rId66"/>
    <p:sldId id="551" r:id="rId67"/>
    <p:sldId id="566" r:id="rId68"/>
    <p:sldId id="695" r:id="rId69"/>
    <p:sldId id="697" r:id="rId70"/>
    <p:sldId id="696" r:id="rId71"/>
    <p:sldId id="572" r:id="rId72"/>
    <p:sldId id="719" r:id="rId73"/>
    <p:sldId id="702" r:id="rId74"/>
    <p:sldId id="699" r:id="rId75"/>
    <p:sldId id="728" r:id="rId76"/>
    <p:sldId id="700" r:id="rId77"/>
    <p:sldId id="555" r:id="rId78"/>
    <p:sldId id="701" r:id="rId79"/>
    <p:sldId id="579" r:id="rId80"/>
    <p:sldId id="575" r:id="rId81"/>
    <p:sldId id="580" r:id="rId82"/>
    <p:sldId id="581" r:id="rId83"/>
    <p:sldId id="458" r:id="rId84"/>
    <p:sldId id="706" r:id="rId85"/>
    <p:sldId id="715" r:id="rId86"/>
    <p:sldId id="707" r:id="rId87"/>
    <p:sldId id="716" r:id="rId88"/>
    <p:sldId id="708" r:id="rId89"/>
    <p:sldId id="589" r:id="rId90"/>
    <p:sldId id="714" r:id="rId91"/>
    <p:sldId id="713" r:id="rId92"/>
    <p:sldId id="590" r:id="rId93"/>
    <p:sldId id="710" r:id="rId94"/>
    <p:sldId id="717" r:id="rId95"/>
    <p:sldId id="723" r:id="rId96"/>
    <p:sldId id="724" r:id="rId97"/>
    <p:sldId id="725" r:id="rId98"/>
    <p:sldId id="727" r:id="rId99"/>
    <p:sldId id="712" r:id="rId10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lka+e8M/gqK7aPt1mLzgaA==" hashData="OPFKN33AVW0zrTTsiWKOv+auUmSsN7t4WsGvzjjzcZsCiXilsyTWrq4LsrddtCyuupF6Osx+PyUORNzDJIPTNg=="/>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3064"/>
    <a:srgbClr val="8BCBBA"/>
    <a:srgbClr val="0E3755"/>
    <a:srgbClr val="1D9A78"/>
    <a:srgbClr val="7D5008"/>
    <a:srgbClr val="BAD3CB"/>
    <a:srgbClr val="0000FF"/>
    <a:srgbClr val="FFFF00"/>
    <a:srgbClr val="C00000"/>
    <a:srgbClr val="00B0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618" y="60"/>
      </p:cViewPr>
      <p:guideLst>
        <p:guide orient="horz" pos="2160"/>
        <p:guide pos="3840"/>
      </p:guideLst>
    </p:cSldViewPr>
  </p:slideViewPr>
  <p:notesTextViewPr>
    <p:cViewPr>
      <p:scale>
        <a:sx n="1" d="1"/>
        <a:sy n="1" d="1"/>
      </p:scale>
      <p:origin x="0" y="0"/>
    </p:cViewPr>
  </p:notesTextViewPr>
  <p:notesViewPr>
    <p:cSldViewPr snapToGrid="0">
      <p:cViewPr varScale="1">
        <p:scale>
          <a:sx n="54" d="100"/>
          <a:sy n="54" d="100"/>
        </p:scale>
        <p:origin x="2820" y="7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1.wmf"/><Relationship Id="rId1" Type="http://schemas.openxmlformats.org/officeDocument/2006/relationships/image" Target="../media/image4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10/2/2021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79BDEF-6165-4E72-B1A6-6E8034CEC248}" type="slidenum">
              <a:rPr lang="en-US" smtClean="0"/>
              <a:t>1</a:t>
            </a:fld>
            <a:endParaRPr lang="en-US"/>
          </a:p>
        </p:txBody>
      </p:sp>
    </p:spTree>
    <p:extLst>
      <p:ext uri="{BB962C8B-B14F-4D97-AF65-F5344CB8AC3E}">
        <p14:creationId xmlns:p14="http://schemas.microsoft.com/office/powerpoint/2010/main" val="24200163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BC79BDEF-6165-4E72-B1A6-6E8034CEC248}" type="slidenum">
              <a:rPr lang="en-US" smtClean="0"/>
              <a:t>26</a:t>
            </a:fld>
            <a:endParaRPr lang="en-US"/>
          </a:p>
        </p:txBody>
      </p:sp>
    </p:spTree>
    <p:extLst>
      <p:ext uri="{BB962C8B-B14F-4D97-AF65-F5344CB8AC3E}">
        <p14:creationId xmlns:p14="http://schemas.microsoft.com/office/powerpoint/2010/main" val="1240969731"/>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microsoft.com/office/2007/relationships/hdphoto" Target="../media/hdphoto1.wdp"/></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9.jpe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6.png"/><Relationship Id="rId4" Type="http://schemas.microsoft.com/office/2007/relationships/hdphoto" Target="../media/hdphoto2.wdp"/></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12.jpeg"/><Relationship Id="rId4" Type="http://schemas.openxmlformats.org/officeDocument/2006/relationships/image" Target="../media/image3.png"/><Relationship Id="rId9" Type="http://schemas.microsoft.com/office/2007/relationships/hdphoto" Target="../media/hdphoto1.wdp"/></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xmlns="" id="{E0042908-6588-4C7A-9615-8D5899E8A9FA}"/>
              </a:ext>
            </a:extLst>
          </p:cNvPr>
          <p:cNvPicPr>
            <a:picLocks noChangeAspect="1"/>
          </p:cNvPicPr>
          <p:nvPr userDrawn="1"/>
        </p:nvPicPr>
        <p:blipFill rotWithShape="1">
          <a:blip r:embed="rId10">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xmlns="" id="{3C805A05-DDF6-4BA6-8EDB-D97128A43BFF}"/>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xmlns=""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57059326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solidFill>
              <a:schemeClr val="tx2"/>
            </a:solid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endParaRPr lang="en-US" dirty="0"/>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endParaRPr lang="en-US" dirty="0"/>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p:nvPr>
        </p:nvSpPr>
        <p:spPr>
          <a:xfrm>
            <a:off x="1828969" y="5563895"/>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endParaRPr lang="en-US" dirty="0"/>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endParaRPr lang="en-US" dirty="0"/>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6" name="Picture 35" descr="User icon Royalty Free Vector Image - VectorStock">
            <a:extLst>
              <a:ext uri="{FF2B5EF4-FFF2-40B4-BE49-F238E27FC236}">
                <a16:creationId xmlns:a16="http://schemas.microsoft.com/office/drawing/2014/main" xmlns="" id="{3C805A05-DDF6-4BA6-8EDB-D97128A43BFF}"/>
              </a:ext>
            </a:extLst>
          </p:cNvPr>
          <p:cNvPicPr>
            <a:picLocks noChangeAspect="1" noChangeArrowheads="1"/>
          </p:cNvPicPr>
          <p:nvPr userDrawn="1"/>
        </p:nvPicPr>
        <p:blipFill>
          <a:blip r:embed="rId7"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xmlns=""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sp>
        <p:nvSpPr>
          <p:cNvPr id="30" name="Hexagon 29">
            <a:extLst>
              <a:ext uri="{FF2B5EF4-FFF2-40B4-BE49-F238E27FC236}">
                <a16:creationId xmlns:a16="http://schemas.microsoft.com/office/drawing/2014/main" xmlns="" id="{43663646-67F9-47C4-84E3-B4EEDA5FB900}"/>
              </a:ext>
            </a:extLst>
          </p:cNvPr>
          <p:cNvSpPr/>
          <p:nvPr userDrawn="1"/>
        </p:nvSpPr>
        <p:spPr>
          <a:xfrm rot="5400000">
            <a:off x="4309292" y="1717040"/>
            <a:ext cx="3461658" cy="2984188"/>
          </a:xfrm>
          <a:prstGeom prst="hexagon">
            <a:avLst/>
          </a:prstGeom>
          <a:solidFill>
            <a:schemeClr val="bg1">
              <a:lumMod val="95000"/>
            </a:schemeClr>
          </a:solidFill>
          <a:ln w="57150">
            <a:solidFill>
              <a:schemeClr val="tx2"/>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1" name="TextBox 30">
            <a:extLst>
              <a:ext uri="{FF2B5EF4-FFF2-40B4-BE49-F238E27FC236}">
                <a16:creationId xmlns:a16="http://schemas.microsoft.com/office/drawing/2014/main" xmlns="" id="{760958F6-32DB-4A2F-BFC3-1FBEA359C54B}"/>
              </a:ext>
            </a:extLst>
          </p:cNvPr>
          <p:cNvSpPr txBox="1"/>
          <p:nvPr userDrawn="1"/>
        </p:nvSpPr>
        <p:spPr>
          <a:xfrm>
            <a:off x="5014038" y="2239638"/>
            <a:ext cx="2052165" cy="1938992"/>
          </a:xfrm>
          <a:prstGeom prst="rect">
            <a:avLst/>
          </a:prstGeom>
          <a:noFill/>
        </p:spPr>
        <p:txBody>
          <a:bodyPr wrap="none" rtlCol="0">
            <a:spAutoFit/>
          </a:bodyPr>
          <a:lstStyle/>
          <a:p>
            <a:pPr algn="ctr"/>
            <a:r>
              <a:rPr lang="en-US" sz="6000" b="1" i="1" dirty="0"/>
              <a:t>Thank</a:t>
            </a:r>
          </a:p>
          <a:p>
            <a:pPr algn="ctr"/>
            <a:r>
              <a:rPr lang="en-US" sz="6000" b="1" i="1" dirty="0"/>
              <a:t>You</a:t>
            </a:r>
          </a:p>
        </p:txBody>
      </p:sp>
      <p:sp>
        <p:nvSpPr>
          <p:cNvPr id="34" name="Rectangle 33">
            <a:extLst>
              <a:ext uri="{FF2B5EF4-FFF2-40B4-BE49-F238E27FC236}">
                <a16:creationId xmlns:a16="http://schemas.microsoft.com/office/drawing/2014/main" xmlns="" id="{66C323F2-F0D8-4EB7-83AE-DFAA81BC49DE}"/>
              </a:ext>
            </a:extLst>
          </p:cNvPr>
          <p:cNvSpPr/>
          <p:nvPr userDrawn="1"/>
        </p:nvSpPr>
        <p:spPr>
          <a:xfrm rot="10800000">
            <a:off x="7678346" y="2221532"/>
            <a:ext cx="4513654" cy="1951692"/>
          </a:xfrm>
          <a:prstGeom prst="rect">
            <a:avLst/>
          </a:prstGeom>
          <a:gradFill>
            <a:gsLst>
              <a:gs pos="0">
                <a:srgbClr val="1D3064"/>
              </a:gs>
              <a:gs pos="50000">
                <a:srgbClr val="1D3064"/>
              </a:gs>
              <a:gs pos="100000">
                <a:schemeClr val="tx2"/>
              </a:gs>
            </a:gsLst>
            <a:lin ang="10800000" scaled="1"/>
          </a:gra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xmlns="" id="{212D27AE-1148-4B42-8B61-FEBB2397EFD9}"/>
              </a:ext>
            </a:extLst>
          </p:cNvPr>
          <p:cNvSpPr/>
          <p:nvPr userDrawn="1"/>
        </p:nvSpPr>
        <p:spPr>
          <a:xfrm>
            <a:off x="0" y="2221532"/>
            <a:ext cx="4402106" cy="1951692"/>
          </a:xfrm>
          <a:prstGeom prst="rect">
            <a:avLst/>
          </a:prstGeom>
          <a:gradFill>
            <a:gsLst>
              <a:gs pos="0">
                <a:srgbClr val="1D3064"/>
              </a:gs>
              <a:gs pos="50000">
                <a:srgbClr val="1D3064"/>
              </a:gs>
              <a:gs pos="100000">
                <a:schemeClr val="tx2"/>
              </a:gs>
            </a:gsLst>
            <a:lin ang="10800000" scaled="1"/>
          </a:gradFill>
          <a:ln>
            <a:solidFill>
              <a:schemeClr val="tx2"/>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41235440"/>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xmlns="" id="{2967F7A9-F404-4412-B868-8EB67A41E2A4}"/>
              </a:ext>
            </a:extLst>
          </p:cNvPr>
          <p:cNvGrpSpPr/>
          <p:nvPr userDrawn="1"/>
        </p:nvGrpSpPr>
        <p:grpSpPr>
          <a:xfrm>
            <a:off x="9576895" y="861192"/>
            <a:ext cx="2554143" cy="587454"/>
            <a:chOff x="131177" y="5775962"/>
            <a:chExt cx="2530239" cy="581956"/>
          </a:xfrm>
        </p:grpSpPr>
        <p:pic>
          <p:nvPicPr>
            <p:cNvPr id="16" name="Picture 15">
              <a:extLst>
                <a:ext uri="{FF2B5EF4-FFF2-40B4-BE49-F238E27FC236}">
                  <a16:creationId xmlns:a16="http://schemas.microsoft.com/office/drawing/2014/main" xmlns="" id="{23F8D339-A0AA-4150-B7E8-C84E7F2AB7D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5" name="Rectangle 4">
              <a:extLst>
                <a:ext uri="{FF2B5EF4-FFF2-40B4-BE49-F238E27FC236}">
                  <a16:creationId xmlns:a16="http://schemas.microsoft.com/office/drawing/2014/main" xmlns=""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xmlns=""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xmlns=""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Umesh H.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Thoriya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xmlns="" id="{BF2BE79E-EA17-4AB9-8CB5-714A52A6B2F5}"/>
              </a:ext>
            </a:extLst>
          </p:cNvPr>
          <p:cNvSpPr txBox="1">
            <a:spLocks/>
          </p:cNvSpPr>
          <p:nvPr userDrawn="1"/>
        </p:nvSpPr>
        <p:spPr>
          <a:xfrm>
            <a:off x="3581400" y="6604000"/>
            <a:ext cx="4572000"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#3170719 (DS)   </a:t>
            </a:r>
            <a:r>
              <a:rPr lang="en-US" dirty="0" smtClean="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Unit 6 - Security</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3" name="Slide Number Placeholder 3">
            <a:extLst>
              <a:ext uri="{FF2B5EF4-FFF2-40B4-BE49-F238E27FC236}">
                <a16:creationId xmlns:a16="http://schemas.microsoft.com/office/drawing/2014/main" xmlns=""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xmlns=""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xmlns=""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xmlns=""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xmlns=""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xmlns="" id="{F86BF578-C91A-4942-95D5-11408C3CCACF}"/>
              </a:ext>
            </a:extLst>
          </p:cNvPr>
          <p:cNvCxnSpPr/>
          <p:nvPr userDrawn="1"/>
        </p:nvCxnSpPr>
        <p:spPr>
          <a:xfrm>
            <a:off x="131180" y="6604000"/>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6633316"/>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xmlns="" id="{2967F7A9-F404-4412-B868-8EB67A41E2A4}"/>
              </a:ext>
            </a:extLst>
          </p:cNvPr>
          <p:cNvGrpSpPr/>
          <p:nvPr userDrawn="1"/>
        </p:nvGrpSpPr>
        <p:grpSpPr>
          <a:xfrm>
            <a:off x="9576895" y="5890392"/>
            <a:ext cx="2554143" cy="587454"/>
            <a:chOff x="131177" y="5775962"/>
            <a:chExt cx="2530239" cy="581956"/>
          </a:xfrm>
        </p:grpSpPr>
        <p:pic>
          <p:nvPicPr>
            <p:cNvPr id="16" name="Picture 15">
              <a:extLst>
                <a:ext uri="{FF2B5EF4-FFF2-40B4-BE49-F238E27FC236}">
                  <a16:creationId xmlns:a16="http://schemas.microsoft.com/office/drawing/2014/main" xmlns="" id="{23F8D339-A0AA-4150-B7E8-C84E7F2AB7D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5" name="Rectangle 4">
              <a:extLst>
                <a:ext uri="{FF2B5EF4-FFF2-40B4-BE49-F238E27FC236}">
                  <a16:creationId xmlns:a16="http://schemas.microsoft.com/office/drawing/2014/main" xmlns=""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xmlns=""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xmlns=""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Prof. Umesh H.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Thoriya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3" name="Slide Number Placeholder 3">
            <a:extLst>
              <a:ext uri="{FF2B5EF4-FFF2-40B4-BE49-F238E27FC236}">
                <a16:creationId xmlns:a16="http://schemas.microsoft.com/office/drawing/2014/main" xmlns=""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xmlns=""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xmlns=""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xmlns=""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ebdings" panose="05030102010509060703"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xmlns=""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xmlns=""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 name="Footer Placeholder 2">
            <a:extLst>
              <a:ext uri="{FF2B5EF4-FFF2-40B4-BE49-F238E27FC236}">
                <a16:creationId xmlns:a16="http://schemas.microsoft.com/office/drawing/2014/main" xmlns="" id="{BF2BE79E-EA17-4AB9-8CB5-714A52A6B2F5}"/>
              </a:ext>
            </a:extLst>
          </p:cNvPr>
          <p:cNvSpPr txBox="1">
            <a:spLocks/>
          </p:cNvSpPr>
          <p:nvPr userDrawn="1"/>
        </p:nvSpPr>
        <p:spPr>
          <a:xfrm>
            <a:off x="3581400" y="6604000"/>
            <a:ext cx="4572000"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#3170719 (DS)   </a:t>
            </a:r>
            <a:r>
              <a:rPr lang="en-US" dirty="0" smtClean="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Unit 6 - Security</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4202761244"/>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xmlns="" id="{2967F7A9-F404-4412-B868-8EB67A41E2A4}"/>
              </a:ext>
            </a:extLst>
          </p:cNvPr>
          <p:cNvGrpSpPr/>
          <p:nvPr userDrawn="1"/>
        </p:nvGrpSpPr>
        <p:grpSpPr>
          <a:xfrm>
            <a:off x="128095" y="5890392"/>
            <a:ext cx="2554143" cy="587454"/>
            <a:chOff x="131177" y="5775962"/>
            <a:chExt cx="2530239" cy="581956"/>
          </a:xfrm>
        </p:grpSpPr>
        <p:pic>
          <p:nvPicPr>
            <p:cNvPr id="16" name="Picture 15">
              <a:extLst>
                <a:ext uri="{FF2B5EF4-FFF2-40B4-BE49-F238E27FC236}">
                  <a16:creationId xmlns:a16="http://schemas.microsoft.com/office/drawing/2014/main" xmlns="" id="{23F8D339-A0AA-4150-B7E8-C84E7F2AB7D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5" name="Rectangle 4">
              <a:extLst>
                <a:ext uri="{FF2B5EF4-FFF2-40B4-BE49-F238E27FC236}">
                  <a16:creationId xmlns:a16="http://schemas.microsoft.com/office/drawing/2014/main" xmlns=""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xmlns=""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xmlns=""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Prof. Umesh H.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Thoriya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3" name="Slide Number Placeholder 3">
            <a:extLst>
              <a:ext uri="{FF2B5EF4-FFF2-40B4-BE49-F238E27FC236}">
                <a16:creationId xmlns:a16="http://schemas.microsoft.com/office/drawing/2014/main" xmlns=""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xmlns=""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xmlns=""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xmlns=""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xmlns=""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xmlns="" id="{F86BF578-C91A-4942-95D5-11408C3CCACF}"/>
              </a:ext>
            </a:extLst>
          </p:cNvPr>
          <p:cNvCxnSpPr/>
          <p:nvPr userDrawn="1"/>
        </p:nvCxnSpPr>
        <p:spPr>
          <a:xfrm>
            <a:off x="0" y="6604000"/>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 name="Footer Placeholder 2">
            <a:extLst>
              <a:ext uri="{FF2B5EF4-FFF2-40B4-BE49-F238E27FC236}">
                <a16:creationId xmlns:a16="http://schemas.microsoft.com/office/drawing/2014/main" xmlns="" id="{BF2BE79E-EA17-4AB9-8CB5-714A52A6B2F5}"/>
              </a:ext>
            </a:extLst>
          </p:cNvPr>
          <p:cNvSpPr txBox="1">
            <a:spLocks/>
          </p:cNvSpPr>
          <p:nvPr userDrawn="1"/>
        </p:nvSpPr>
        <p:spPr>
          <a:xfrm>
            <a:off x="3581400" y="6604000"/>
            <a:ext cx="4572000"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#3170719 (DS)   </a:t>
            </a:r>
            <a:r>
              <a:rPr lang="en-US" dirty="0" smtClean="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Unit 6 - Security</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346862853"/>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xmlns=""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xmlns=""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xmlns=""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xmlns=""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8" name="Freeform 17">
            <a:extLst>
              <a:ext uri="{FF2B5EF4-FFF2-40B4-BE49-F238E27FC236}">
                <a16:creationId xmlns:a16="http://schemas.microsoft.com/office/drawing/2014/main" xmlns="" id="{910DC0DC-3FC7-402D-8C9F-62D3ACC8DC86}"/>
              </a:ext>
            </a:extLst>
          </p:cNvPr>
          <p:cNvSpPr>
            <a:spLocks/>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9" name="Group 8">
            <a:extLst>
              <a:ext uri="{FF2B5EF4-FFF2-40B4-BE49-F238E27FC236}">
                <a16:creationId xmlns:a16="http://schemas.microsoft.com/office/drawing/2014/main" xmlns="" id="{2802A992-B18A-47D4-8497-02E7586DF58D}"/>
              </a:ext>
            </a:extLst>
          </p:cNvPr>
          <p:cNvGrpSpPr/>
          <p:nvPr userDrawn="1"/>
        </p:nvGrpSpPr>
        <p:grpSpPr>
          <a:xfrm>
            <a:off x="9437223" y="6087939"/>
            <a:ext cx="2554143" cy="587454"/>
            <a:chOff x="131177" y="5775962"/>
            <a:chExt cx="2530239" cy="581956"/>
          </a:xfrm>
        </p:grpSpPr>
        <p:pic>
          <p:nvPicPr>
            <p:cNvPr id="13" name="Picture 12">
              <a:extLst>
                <a:ext uri="{FF2B5EF4-FFF2-40B4-BE49-F238E27FC236}">
                  <a16:creationId xmlns:a16="http://schemas.microsoft.com/office/drawing/2014/main" xmlns="" id="{8DD61FEC-075B-4EDD-97CA-36E6F72630F4}"/>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4" name="Rectangle 13">
              <a:extLst>
                <a:ext uri="{FF2B5EF4-FFF2-40B4-BE49-F238E27FC236}">
                  <a16:creationId xmlns:a16="http://schemas.microsoft.com/office/drawing/2014/main" xmlns="" id="{CB550E12-AA95-4B1B-A8D2-ED01E515FC43}"/>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01692949"/>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xmlns=""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xmlns=""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Prof. Umesh H.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Thoriya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8" name="Slide Number Placeholder 3">
            <a:extLst>
              <a:ext uri="{FF2B5EF4-FFF2-40B4-BE49-F238E27FC236}">
                <a16:creationId xmlns:a16="http://schemas.microsoft.com/office/drawing/2014/main" xmlns=""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xmlns=""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xmlns="" id="{FE191CF5-3D57-422B-B2EB-FF235E30DB22}"/>
              </a:ext>
            </a:extLst>
          </p:cNvPr>
          <p:cNvGrpSpPr/>
          <p:nvPr userDrawn="1"/>
        </p:nvGrpSpPr>
        <p:grpSpPr>
          <a:xfrm>
            <a:off x="9576895" y="99192"/>
            <a:ext cx="2554143" cy="587454"/>
            <a:chOff x="131177" y="5775962"/>
            <a:chExt cx="2530239" cy="581956"/>
          </a:xfrm>
        </p:grpSpPr>
        <p:pic>
          <p:nvPicPr>
            <p:cNvPr id="12" name="Picture 11">
              <a:extLst>
                <a:ext uri="{FF2B5EF4-FFF2-40B4-BE49-F238E27FC236}">
                  <a16:creationId xmlns:a16="http://schemas.microsoft.com/office/drawing/2014/main" xmlns="" id="{C9B183D5-5DE8-48E7-85E7-60CE9D0FD2D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xmlns="" id="{62445F4B-50F2-4CA0-A5C5-6D690A29F3F2}"/>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Footer Placeholder 2">
            <a:extLst>
              <a:ext uri="{FF2B5EF4-FFF2-40B4-BE49-F238E27FC236}">
                <a16:creationId xmlns:a16="http://schemas.microsoft.com/office/drawing/2014/main" xmlns="" id="{BF2BE79E-EA17-4AB9-8CB5-714A52A6B2F5}"/>
              </a:ext>
            </a:extLst>
          </p:cNvPr>
          <p:cNvSpPr txBox="1">
            <a:spLocks/>
          </p:cNvSpPr>
          <p:nvPr userDrawn="1"/>
        </p:nvSpPr>
        <p:spPr>
          <a:xfrm>
            <a:off x="3581400" y="6604000"/>
            <a:ext cx="4572000"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#3170719 (DS)   </a:t>
            </a:r>
            <a:r>
              <a:rPr lang="en-US" dirty="0" smtClean="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Unit 6 - Security</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2971972502"/>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xmlns=""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xmlns=""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Prof. Umesh H.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Thoriya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8" name="Slide Number Placeholder 3">
            <a:extLst>
              <a:ext uri="{FF2B5EF4-FFF2-40B4-BE49-F238E27FC236}">
                <a16:creationId xmlns:a16="http://schemas.microsoft.com/office/drawing/2014/main" xmlns=""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xmlns=""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xmlns="" id="{913602D2-CAF0-4790-95E8-87990761ED0C}"/>
              </a:ext>
            </a:extLst>
          </p:cNvPr>
          <p:cNvGrpSpPr/>
          <p:nvPr userDrawn="1"/>
        </p:nvGrpSpPr>
        <p:grpSpPr>
          <a:xfrm>
            <a:off x="9576895" y="5890392"/>
            <a:ext cx="2554143" cy="587454"/>
            <a:chOff x="131177" y="5775962"/>
            <a:chExt cx="2530239" cy="581956"/>
          </a:xfrm>
        </p:grpSpPr>
        <p:pic>
          <p:nvPicPr>
            <p:cNvPr id="12" name="Picture 11">
              <a:extLst>
                <a:ext uri="{FF2B5EF4-FFF2-40B4-BE49-F238E27FC236}">
                  <a16:creationId xmlns:a16="http://schemas.microsoft.com/office/drawing/2014/main" xmlns="" id="{A378A2C8-EF9C-479C-ACF0-D9819B46DF5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xmlns="" id="{61DE4F58-7D48-453D-89E1-B25767150977}"/>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Footer Placeholder 2">
            <a:extLst>
              <a:ext uri="{FF2B5EF4-FFF2-40B4-BE49-F238E27FC236}">
                <a16:creationId xmlns:a16="http://schemas.microsoft.com/office/drawing/2014/main" xmlns="" id="{BF2BE79E-EA17-4AB9-8CB5-714A52A6B2F5}"/>
              </a:ext>
            </a:extLst>
          </p:cNvPr>
          <p:cNvSpPr txBox="1">
            <a:spLocks/>
          </p:cNvSpPr>
          <p:nvPr userDrawn="1"/>
        </p:nvSpPr>
        <p:spPr>
          <a:xfrm>
            <a:off x="3581400" y="6604000"/>
            <a:ext cx="4572000"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#3170719 (DS)   </a:t>
            </a:r>
            <a:r>
              <a:rPr lang="en-US" dirty="0" smtClean="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Unit 6 - Security</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3206247808"/>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xmlns=""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xmlns=""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Prof. Umesh H.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Thoriya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8" name="Slide Number Placeholder 3">
            <a:extLst>
              <a:ext uri="{FF2B5EF4-FFF2-40B4-BE49-F238E27FC236}">
                <a16:creationId xmlns:a16="http://schemas.microsoft.com/office/drawing/2014/main" xmlns=""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xmlns=""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xmlns="" id="{15C60ED7-12D4-496E-AF73-0995BE8C12FD}"/>
              </a:ext>
            </a:extLst>
          </p:cNvPr>
          <p:cNvGrpSpPr/>
          <p:nvPr userDrawn="1"/>
        </p:nvGrpSpPr>
        <p:grpSpPr>
          <a:xfrm>
            <a:off x="128095" y="5890392"/>
            <a:ext cx="2554143" cy="587454"/>
            <a:chOff x="131177" y="5775962"/>
            <a:chExt cx="2530239" cy="581956"/>
          </a:xfrm>
        </p:grpSpPr>
        <p:pic>
          <p:nvPicPr>
            <p:cNvPr id="12" name="Picture 11">
              <a:extLst>
                <a:ext uri="{FF2B5EF4-FFF2-40B4-BE49-F238E27FC236}">
                  <a16:creationId xmlns:a16="http://schemas.microsoft.com/office/drawing/2014/main" xmlns="" id="{30CB04CE-0025-4B1F-B962-A759D179D8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xmlns="" id="{43F480CB-A4AF-424E-90DB-5B677403441A}"/>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Footer Placeholder 2">
            <a:extLst>
              <a:ext uri="{FF2B5EF4-FFF2-40B4-BE49-F238E27FC236}">
                <a16:creationId xmlns:a16="http://schemas.microsoft.com/office/drawing/2014/main" xmlns="" id="{BF2BE79E-EA17-4AB9-8CB5-714A52A6B2F5}"/>
              </a:ext>
            </a:extLst>
          </p:cNvPr>
          <p:cNvSpPr txBox="1">
            <a:spLocks/>
          </p:cNvSpPr>
          <p:nvPr userDrawn="1"/>
        </p:nvSpPr>
        <p:spPr>
          <a:xfrm>
            <a:off x="3581400" y="6604000"/>
            <a:ext cx="4572000"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#3170719 (DS)   </a:t>
            </a:r>
            <a:r>
              <a:rPr lang="en-US" dirty="0" smtClean="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Unit 6 - Security</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4243314523"/>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xmlns=""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3312012"/>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xmlns="" id="{4A8E0F54-DC01-449D-B951-DC7CBAFD954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xmlns=""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0888083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xmlns="" id="{5F55812D-505A-4B1A-9EB5-16DCD08F2B8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xmlns=""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64570402"/>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xmlns="" id="{AE6570A8-081D-45CE-A0DD-F78F5EDB0F9B}"/>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85033946"/>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xmlns="" id="{00C9ED70-1CC8-4EF2-BE10-AAFE24AAC5D7}"/>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615859789"/>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xmlns="" id="{80BF4AFD-B365-46D4-AAC5-485DFA5A7D4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31625911"/>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xmlns="" id="{AEB45C91-0DA6-4973-9AEA-FF1388508ACC}"/>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51881638"/>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xmlns="" id="{7E386D9D-B92A-4F40-9089-A1FD00CD387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8065262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xmlns="" id="{BE300026-40E8-4FB1-998A-9CEB5F7A1B8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40122809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xmlns="" id="{C3A13D11-EC6C-4E81-AD83-7AC73D273FD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5328075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xmlns="" id="{77B7B864-C091-4493-B14B-F5B61B586EED}"/>
              </a:ext>
            </a:extLst>
          </p:cNvPr>
          <p:cNvPicPr>
            <a:picLocks noChangeAspect="1"/>
          </p:cNvPicPr>
          <p:nvPr userDrawn="1"/>
        </p:nvPicPr>
        <p:blipFill>
          <a:blip r:embed="rId10"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xmlns="" id="{177B86E9-222D-4757-BE64-59540DB794E6}"/>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651319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xmlns="" id="{A2F1AAAC-C051-4A31-837B-4A9977722A4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1705025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10/2/2021</a:t>
            </a:fld>
            <a:endParaRPr lang="en-US"/>
          </a:p>
        </p:txBody>
      </p:sp>
      <p:sp>
        <p:nvSpPr>
          <p:cNvPr id="5" name="Footer Placeholder 4">
            <a:extLst>
              <a:ext uri="{FF2B5EF4-FFF2-40B4-BE49-F238E27FC236}">
                <a16:creationId xmlns:a16="http://schemas.microsoft.com/office/drawing/2014/main" xmlns=""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67" r:id="rId1"/>
    <p:sldLayoutId id="2147483692" r:id="rId2"/>
    <p:sldLayoutId id="2147483670" r:id="rId3"/>
    <p:sldLayoutId id="2147483687" r:id="rId4"/>
    <p:sldLayoutId id="2147483688" r:id="rId5"/>
    <p:sldLayoutId id="2147483671" r:id="rId6"/>
    <p:sldLayoutId id="2147483672" r:id="rId7"/>
    <p:sldLayoutId id="2147483689" r:id="rId8"/>
    <p:sldLayoutId id="2147483690" r:id="rId9"/>
    <p:sldLayoutId id="2147483673" r:id="rId10"/>
    <p:sldLayoutId id="2147483691" r:id="rId11"/>
    <p:sldLayoutId id="2147483674" r:id="rId12"/>
    <p:sldLayoutId id="2147483676" r:id="rId13"/>
    <p:sldLayoutId id="2147483677" r:id="rId14"/>
    <p:sldLayoutId id="2147483678" r:id="rId15"/>
    <p:sldLayoutId id="2147483679" r:id="rId16"/>
    <p:sldLayoutId id="2147483681" r:id="rId17"/>
    <p:sldLayoutId id="2147483683" r:id="rId18"/>
    <p:sldLayoutId id="2147483682" r:id="rId19"/>
    <p:sldLayoutId id="2147483684" r:id="rId20"/>
    <p:sldLayoutId id="2147483685" r:id="rId21"/>
    <p:sldLayoutId id="2147483686" r:id="rId22"/>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 Id="rId5" Type="http://schemas.openxmlformats.org/officeDocument/2006/relationships/image" Target="../media/image18.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 Id="rId4" Type="http://schemas.microsoft.com/office/2007/relationships/hdphoto" Target="../media/hdphoto3.wdp"/></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24.png"/><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image" Target="../media/image260.png"/><Relationship Id="rId1" Type="http://schemas.openxmlformats.org/officeDocument/2006/relationships/slideLayout" Target="../slideLayouts/slideLayout4.xml"/><Relationship Id="rId5" Type="http://schemas.openxmlformats.org/officeDocument/2006/relationships/image" Target="../media/image29.png"/><Relationship Id="rId4" Type="http://schemas.openxmlformats.org/officeDocument/2006/relationships/image" Target="../media/image28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image" Target="../media/image31.wmf"/><Relationship Id="rId1" Type="http://schemas.openxmlformats.org/officeDocument/2006/relationships/slideLayout" Target="../slideLayouts/slideLayout4.xml"/><Relationship Id="rId5" Type="http://schemas.openxmlformats.org/officeDocument/2006/relationships/image" Target="../media/image34.wmf"/><Relationship Id="rId4" Type="http://schemas.openxmlformats.org/officeDocument/2006/relationships/image" Target="../media/image33.emf"/></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2" Type="http://schemas.openxmlformats.org/officeDocument/2006/relationships/image" Target="../media/image37.wmf"/><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4.xml"/><Relationship Id="rId1" Type="http://schemas.openxmlformats.org/officeDocument/2006/relationships/vmlDrawing" Target="../drawings/vmlDrawing1.vml"/><Relationship Id="rId6" Type="http://schemas.openxmlformats.org/officeDocument/2006/relationships/image" Target="../media/image41.wmf"/><Relationship Id="rId5" Type="http://schemas.openxmlformats.org/officeDocument/2006/relationships/oleObject" Target="../embeddings/oleObject2.bin"/><Relationship Id="rId4" Type="http://schemas.openxmlformats.org/officeDocument/2006/relationships/image" Target="../media/image40.wmf"/></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E0A5353-D4D5-43D7-A039-6CFC6871D64F}"/>
              </a:ext>
            </a:extLst>
          </p:cNvPr>
          <p:cNvSpPr>
            <a:spLocks noGrp="1"/>
          </p:cNvSpPr>
          <p:nvPr>
            <p:ph type="ctrTitle"/>
          </p:nvPr>
        </p:nvSpPr>
        <p:spPr>
          <a:xfrm>
            <a:off x="772056" y="1671572"/>
            <a:ext cx="7060510" cy="2497450"/>
          </a:xfrm>
        </p:spPr>
        <p:txBody>
          <a:bodyPr/>
          <a:lstStyle/>
          <a:p>
            <a:pPr lvl="0">
              <a:lnSpc>
                <a:spcPct val="100000"/>
              </a:lnSpc>
              <a:spcBef>
                <a:spcPts val="0"/>
              </a:spcBef>
            </a:pPr>
            <a:r>
              <a:rPr lang="en-US" sz="4800" b="0" dirty="0" smtClean="0">
                <a:latin typeface="Roboto Condensed Light" panose="02000000000000000000" pitchFamily="2" charset="0"/>
                <a:ea typeface="Roboto Condensed Light" panose="02000000000000000000" pitchFamily="2" charset="0"/>
              </a:rPr>
              <a:t>Unit-6</a:t>
            </a:r>
            <a:r>
              <a:rPr lang="en-US" dirty="0" smtClean="0"/>
              <a:t> </a:t>
            </a:r>
            <a:r>
              <a:rPr lang="en-US" dirty="0"/>
              <a:t/>
            </a:r>
            <a:br>
              <a:rPr lang="en-US" dirty="0"/>
            </a:br>
            <a:r>
              <a:rPr lang="en-US" sz="4800" dirty="0" smtClean="0"/>
              <a:t>Security</a:t>
            </a:r>
            <a:r>
              <a:rPr lang="en-US" sz="4800" dirty="0"/>
              <a:t/>
            </a:r>
            <a:br>
              <a:rPr lang="en-US" sz="4800" dirty="0"/>
            </a:br>
            <a:r>
              <a:rPr lang="en-US" sz="2400" b="0" dirty="0">
                <a:solidFill>
                  <a:srgbClr val="212121">
                    <a:lumMod val="90000"/>
                    <a:lumOff val="10000"/>
                  </a:srgbClr>
                </a:solidFill>
              </a:rPr>
              <a:t/>
            </a:r>
            <a:br>
              <a:rPr lang="en-US" sz="2400" b="0" dirty="0">
                <a:solidFill>
                  <a:srgbClr val="212121">
                    <a:lumMod val="90000"/>
                    <a:lumOff val="10000"/>
                  </a:srgbClr>
                </a:solidFill>
              </a:rPr>
            </a:br>
            <a:endParaRPr lang="en-US" dirty="0"/>
          </a:p>
        </p:txBody>
      </p:sp>
      <p:sp>
        <p:nvSpPr>
          <p:cNvPr id="3" name="Text Placeholder 2">
            <a:extLst>
              <a:ext uri="{FF2B5EF4-FFF2-40B4-BE49-F238E27FC236}">
                <a16:creationId xmlns:a16="http://schemas.microsoft.com/office/drawing/2014/main" xmlns="" id="{E4D4005A-4647-4086-9144-7BCC7DFEFB1B}"/>
              </a:ext>
            </a:extLst>
          </p:cNvPr>
          <p:cNvSpPr>
            <a:spLocks noGrp="1"/>
          </p:cNvSpPr>
          <p:nvPr>
            <p:ph type="body" sz="quarter" idx="11"/>
          </p:nvPr>
        </p:nvSpPr>
        <p:spPr/>
        <p:txBody>
          <a:bodyPr/>
          <a:lstStyle/>
          <a:p>
            <a:r>
              <a:rPr lang="en-US" dirty="0"/>
              <a:t>u</a:t>
            </a:r>
            <a:r>
              <a:rPr lang="en-US" dirty="0" smtClean="0"/>
              <a:t>mesh.thoriya@darshan.ac.in</a:t>
            </a:r>
            <a:endParaRPr lang="en-US" dirty="0"/>
          </a:p>
        </p:txBody>
      </p:sp>
      <p:sp>
        <p:nvSpPr>
          <p:cNvPr id="4" name="Text Placeholder 3">
            <a:extLst>
              <a:ext uri="{FF2B5EF4-FFF2-40B4-BE49-F238E27FC236}">
                <a16:creationId xmlns:a16="http://schemas.microsoft.com/office/drawing/2014/main" xmlns="" id="{6F817D43-889A-4049-ACFD-9B3B648B6A91}"/>
              </a:ext>
            </a:extLst>
          </p:cNvPr>
          <p:cNvSpPr>
            <a:spLocks noGrp="1"/>
          </p:cNvSpPr>
          <p:nvPr>
            <p:ph type="body" sz="quarter" idx="12"/>
          </p:nvPr>
        </p:nvSpPr>
        <p:spPr/>
        <p:txBody>
          <a:bodyPr/>
          <a:lstStyle/>
          <a:p>
            <a:r>
              <a:rPr lang="en-US" dirty="0" smtClean="0"/>
              <a:t>9714233355</a:t>
            </a:r>
            <a:endParaRPr lang="en-US" dirty="0"/>
          </a:p>
        </p:txBody>
      </p:sp>
      <p:sp>
        <p:nvSpPr>
          <p:cNvPr id="5" name="Text Placeholder 4">
            <a:extLst>
              <a:ext uri="{FF2B5EF4-FFF2-40B4-BE49-F238E27FC236}">
                <a16:creationId xmlns:a16="http://schemas.microsoft.com/office/drawing/2014/main" xmlns="" id="{B786D614-6447-4787-8025-9C902A1B7344}"/>
              </a:ext>
            </a:extLst>
          </p:cNvPr>
          <p:cNvSpPr>
            <a:spLocks noGrp="1"/>
          </p:cNvSpPr>
          <p:nvPr>
            <p:ph type="body" sz="quarter" idx="13"/>
          </p:nvPr>
        </p:nvSpPr>
        <p:spPr>
          <a:xfrm>
            <a:off x="1837678" y="5546560"/>
            <a:ext cx="3735998" cy="290081"/>
          </a:xfrm>
        </p:spPr>
        <p:txBody>
          <a:bodyPr/>
          <a:lstStyle/>
          <a:p>
            <a:r>
              <a:rPr lang="en-US" dirty="0"/>
              <a:t>Computer Engineering Department</a:t>
            </a:r>
          </a:p>
        </p:txBody>
      </p:sp>
      <p:sp>
        <p:nvSpPr>
          <p:cNvPr id="6" name="Text Placeholder 5">
            <a:extLst>
              <a:ext uri="{FF2B5EF4-FFF2-40B4-BE49-F238E27FC236}">
                <a16:creationId xmlns:a16="http://schemas.microsoft.com/office/drawing/2014/main" xmlns="" id="{1F7AB9BC-FE08-46B2-A19C-803CB5DF0CD1}"/>
              </a:ext>
            </a:extLst>
          </p:cNvPr>
          <p:cNvSpPr>
            <a:spLocks noGrp="1"/>
          </p:cNvSpPr>
          <p:nvPr>
            <p:ph type="body" sz="quarter" idx="14"/>
          </p:nvPr>
        </p:nvSpPr>
        <p:spPr/>
        <p:txBody>
          <a:bodyPr/>
          <a:lstStyle/>
          <a:p>
            <a:r>
              <a:rPr lang="en-US" dirty="0"/>
              <a:t>Prof. </a:t>
            </a:r>
            <a:r>
              <a:rPr lang="en-US" dirty="0" smtClean="0"/>
              <a:t>Umesh H. </a:t>
            </a:r>
            <a:r>
              <a:rPr lang="en-US" dirty="0" err="1" smtClean="0"/>
              <a:t>Thoriya</a:t>
            </a:r>
            <a:endParaRPr lang="en-US" dirty="0"/>
          </a:p>
        </p:txBody>
      </p:sp>
      <p:sp>
        <p:nvSpPr>
          <p:cNvPr id="1027" name="Text Placeholder 1026">
            <a:extLst>
              <a:ext uri="{FF2B5EF4-FFF2-40B4-BE49-F238E27FC236}">
                <a16:creationId xmlns:a16="http://schemas.microsoft.com/office/drawing/2014/main" xmlns="" id="{D1F0AA94-EAF3-4868-942A-0125EFC5C764}"/>
              </a:ext>
            </a:extLst>
          </p:cNvPr>
          <p:cNvSpPr>
            <a:spLocks noGrp="1"/>
          </p:cNvSpPr>
          <p:nvPr>
            <p:ph type="body" sz="quarter" idx="16"/>
          </p:nvPr>
        </p:nvSpPr>
        <p:spPr/>
        <p:txBody>
          <a:bodyPr/>
          <a:lstStyle/>
          <a:p>
            <a:pPr>
              <a:lnSpc>
                <a:spcPct val="100000"/>
              </a:lnSpc>
            </a:pPr>
            <a:r>
              <a:rPr lang="en-US" sz="2000" b="1" dirty="0"/>
              <a:t>Distributed </a:t>
            </a:r>
            <a:r>
              <a:rPr lang="en-US" sz="2000" b="1" dirty="0" smtClean="0"/>
              <a:t>System </a:t>
            </a:r>
            <a:r>
              <a:rPr lang="en-US" sz="2000" dirty="0" smtClean="0">
                <a:latin typeface="Roboto Condensed Light" panose="02000000000000000000" pitchFamily="2" charset="0"/>
                <a:ea typeface="Roboto Condensed Light" panose="02000000000000000000" pitchFamily="2" charset="0"/>
              </a:rPr>
              <a:t>(DS)</a:t>
            </a:r>
            <a:endParaRPr lang="en-US" sz="2000" dirty="0">
              <a:latin typeface="Roboto Condensed Light" panose="02000000000000000000" pitchFamily="2" charset="0"/>
              <a:ea typeface="Roboto Condensed Light" panose="02000000000000000000" pitchFamily="2" charset="0"/>
            </a:endParaRPr>
          </a:p>
          <a:p>
            <a:pPr>
              <a:lnSpc>
                <a:spcPct val="100000"/>
              </a:lnSpc>
            </a:pPr>
            <a:r>
              <a:rPr lang="en-US" sz="2000" dirty="0">
                <a:latin typeface="Roboto Condensed Light" panose="02000000000000000000" pitchFamily="2" charset="0"/>
                <a:ea typeface="Roboto Condensed Light" panose="02000000000000000000" pitchFamily="2" charset="0"/>
              </a:rPr>
              <a:t>GTU #3170719</a:t>
            </a:r>
          </a:p>
        </p:txBody>
      </p:sp>
      <p:sp>
        <p:nvSpPr>
          <p:cNvPr id="11" name="AutoShape 3">
            <a:extLst>
              <a:ext uri="{FF2B5EF4-FFF2-40B4-BE49-F238E27FC236}">
                <a16:creationId xmlns:a16="http://schemas.microsoft.com/office/drawing/2014/main" xmlns="" id="{3D1B70E7-2396-452E-A00A-D1D4AA1E56DF}"/>
              </a:ext>
            </a:extLst>
          </p:cNvPr>
          <p:cNvSpPr>
            <a:spLocks noChangeAspect="1" noChangeArrowheads="1" noTextEdit="1"/>
          </p:cNvSpPr>
          <p:nvPr/>
        </p:nvSpPr>
        <p:spPr bwMode="auto">
          <a:xfrm>
            <a:off x="5573676" y="-3055324"/>
            <a:ext cx="7721600" cy="1457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2" name="Picture Placeholder 11">
            <a:extLst>
              <a:ext uri="{FF2B5EF4-FFF2-40B4-BE49-F238E27FC236}">
                <a16:creationId xmlns:a16="http://schemas.microsoft.com/office/drawing/2014/main" xmlns="" id="{D6337D8C-443B-4C47-A28D-6B3C54970252}"/>
              </a:ext>
            </a:extLst>
          </p:cNvPr>
          <p:cNvPicPr>
            <a:picLocks noGrp="1" noChangeAspect="1"/>
          </p:cNvPicPr>
          <p:nvPr>
            <p:ph type="pic" sz="quarter" idx="10"/>
          </p:nvPr>
        </p:nvPicPr>
        <p:blipFill>
          <a:blip r:embed="rId3" cstate="print">
            <a:extLst>
              <a:ext uri="{28A0092B-C50C-407E-A947-70E740481C1C}">
                <a14:useLocalDpi xmlns:a14="http://schemas.microsoft.com/office/drawing/2010/main" val="0"/>
              </a:ext>
            </a:extLst>
          </a:blip>
          <a:stretch>
            <a:fillRect/>
          </a:stretch>
        </p:blipFill>
        <p:spPr>
          <a:xfrm>
            <a:off x="353569" y="5211251"/>
            <a:ext cx="1353599" cy="1353599"/>
          </a:xfrm>
        </p:spPr>
      </p:pic>
    </p:spTree>
    <p:extLst>
      <p:ext uri="{BB962C8B-B14F-4D97-AF65-F5344CB8AC3E}">
        <p14:creationId xmlns:p14="http://schemas.microsoft.com/office/powerpoint/2010/main" val="66100193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xmlns="" id="{D9EBF344-4A7B-4C4A-AF6D-6441BD040AB3}"/>
              </a:ext>
            </a:extLst>
          </p:cNvPr>
          <p:cNvCxnSpPr>
            <a:cxnSpLocks/>
          </p:cNvCxnSpPr>
          <p:nvPr/>
        </p:nvCxnSpPr>
        <p:spPr>
          <a:xfrm>
            <a:off x="1191446" y="-29028"/>
            <a:ext cx="0" cy="348342"/>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xmlns="" id="{CA925EF2-D58F-4AC0-ACED-F747CC08D69F}"/>
              </a:ext>
            </a:extLst>
          </p:cNvPr>
          <p:cNvCxnSpPr>
            <a:cxnSpLocks/>
          </p:cNvCxnSpPr>
          <p:nvPr/>
        </p:nvCxnSpPr>
        <p:spPr>
          <a:xfrm>
            <a:off x="1191446" y="5063613"/>
            <a:ext cx="0" cy="179438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xmlns="" id="{4BD1E24D-7739-4C4F-8234-2614FB54ADBC}"/>
              </a:ext>
            </a:extLst>
          </p:cNvPr>
          <p:cNvSpPr/>
          <p:nvPr/>
        </p:nvSpPr>
        <p:spPr>
          <a:xfrm>
            <a:off x="954165" y="305540"/>
            <a:ext cx="474562" cy="474562"/>
          </a:xfrm>
          <a:prstGeom prst="ellipse">
            <a:avLst/>
          </a:prstGeom>
          <a:solidFill>
            <a:schemeClr val="tx2"/>
          </a:solidFill>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xmlns=""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xmlns="" id="{F34260FD-CAA3-43A0-977C-7E4B57013872}"/>
              </a:ext>
            </a:extLst>
          </p:cNvPr>
          <p:cNvCxnSpPr>
            <a:cxnSpLocks/>
            <a:stCxn id="6" idx="4"/>
          </p:cNvCxnSpPr>
          <p:nvPr/>
        </p:nvCxnSpPr>
        <p:spPr>
          <a:xfrm>
            <a:off x="1191446" y="780102"/>
            <a:ext cx="0" cy="416775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xmlns="" id="{BDA2F9A4-6988-4274-8384-12496EC9D59D}"/>
              </a:ext>
            </a:extLst>
          </p:cNvPr>
          <p:cNvSpPr txBox="1"/>
          <p:nvPr/>
        </p:nvSpPr>
        <p:spPr>
          <a:xfrm>
            <a:off x="1527893" y="319314"/>
            <a:ext cx="8810452" cy="6463308"/>
          </a:xfrm>
          <a:prstGeom prst="rect">
            <a:avLst/>
          </a:prstGeom>
          <a:noFill/>
        </p:spPr>
        <p:txBody>
          <a:bodyPr wrap="square" rtlCol="0">
            <a:spAutoFit/>
          </a:bodyPr>
          <a:lstStyle/>
          <a:p>
            <a:r>
              <a:rPr lang="en-US" sz="2400" b="1" dirty="0"/>
              <a:t>Topics to be covered</a:t>
            </a:r>
          </a:p>
          <a:p>
            <a:pPr marL="742950" lvl="1" indent="-285750">
              <a:lnSpc>
                <a:spcPct val="150000"/>
              </a:lnSpc>
              <a:buFont typeface="Arial" panose="020B0604020202020204" pitchFamily="34" charset="0"/>
              <a:buChar char="•"/>
            </a:pPr>
            <a:r>
              <a:rPr lang="en-US" sz="2000" dirty="0">
                <a:solidFill>
                  <a:schemeClr val="accent6"/>
                </a:solidFill>
              </a:rPr>
              <a:t>Introduction to Security- Security </a:t>
            </a:r>
            <a:r>
              <a:rPr lang="en-US" sz="2000" dirty="0" smtClean="0">
                <a:solidFill>
                  <a:schemeClr val="accent6"/>
                </a:solidFill>
              </a:rPr>
              <a:t>Threats, Policies</a:t>
            </a:r>
            <a:r>
              <a:rPr lang="en-US" sz="2000" dirty="0">
                <a:solidFill>
                  <a:schemeClr val="accent6"/>
                </a:solidFill>
              </a:rPr>
              <a:t>, and </a:t>
            </a:r>
            <a:r>
              <a:rPr lang="en-US" sz="2000" dirty="0" smtClean="0">
                <a:solidFill>
                  <a:schemeClr val="accent6"/>
                </a:solidFill>
              </a:rPr>
              <a:t>Mechanisms</a:t>
            </a:r>
          </a:p>
          <a:p>
            <a:pPr marL="742950" lvl="1" indent="-285750">
              <a:lnSpc>
                <a:spcPct val="150000"/>
              </a:lnSpc>
              <a:buFont typeface="Arial" panose="020B0604020202020204" pitchFamily="34" charset="0"/>
              <a:buChar char="•"/>
            </a:pPr>
            <a:r>
              <a:rPr lang="en-US" sz="2000" dirty="0" smtClean="0">
                <a:solidFill>
                  <a:schemeClr val="accent6"/>
                </a:solidFill>
              </a:rPr>
              <a:t>Design Issues</a:t>
            </a:r>
          </a:p>
          <a:p>
            <a:pPr marL="742950" lvl="1" indent="-285750">
              <a:lnSpc>
                <a:spcPct val="150000"/>
              </a:lnSpc>
              <a:buFont typeface="Arial" panose="020B0604020202020204" pitchFamily="34" charset="0"/>
              <a:buChar char="•"/>
            </a:pPr>
            <a:r>
              <a:rPr lang="en-US" sz="2000" dirty="0" smtClean="0">
                <a:solidFill>
                  <a:schemeClr val="accent6"/>
                </a:solidFill>
              </a:rPr>
              <a:t>Basics </a:t>
            </a:r>
            <a:r>
              <a:rPr lang="en-US" sz="2000" dirty="0">
                <a:solidFill>
                  <a:schemeClr val="accent6"/>
                </a:solidFill>
              </a:rPr>
              <a:t>of </a:t>
            </a:r>
            <a:r>
              <a:rPr lang="en-US" sz="2000" dirty="0" smtClean="0">
                <a:solidFill>
                  <a:schemeClr val="accent6"/>
                </a:solidFill>
              </a:rPr>
              <a:t>Cryptography</a:t>
            </a:r>
          </a:p>
          <a:p>
            <a:pPr marL="742950" lvl="1" indent="-285750">
              <a:lnSpc>
                <a:spcPct val="150000"/>
              </a:lnSpc>
              <a:buFont typeface="Arial" panose="020B0604020202020204" pitchFamily="34" charset="0"/>
              <a:buChar char="•"/>
            </a:pPr>
            <a:r>
              <a:rPr lang="en-US" sz="2000" dirty="0" smtClean="0">
                <a:solidFill>
                  <a:schemeClr val="accent6"/>
                </a:solidFill>
              </a:rPr>
              <a:t>Secure </a:t>
            </a:r>
            <a:r>
              <a:rPr lang="en-US" sz="2000" dirty="0">
                <a:solidFill>
                  <a:schemeClr val="accent6"/>
                </a:solidFill>
              </a:rPr>
              <a:t>Channels- Authentication, Message Integrity </a:t>
            </a:r>
            <a:r>
              <a:rPr lang="en-US" sz="2000" dirty="0" smtClean="0">
                <a:solidFill>
                  <a:schemeClr val="accent6"/>
                </a:solidFill>
              </a:rPr>
              <a:t>and Confidentiality</a:t>
            </a:r>
          </a:p>
          <a:p>
            <a:pPr marL="742950" lvl="1" indent="-285750">
              <a:lnSpc>
                <a:spcPct val="150000"/>
              </a:lnSpc>
              <a:buFont typeface="Arial" panose="020B0604020202020204" pitchFamily="34" charset="0"/>
              <a:buChar char="•"/>
            </a:pPr>
            <a:r>
              <a:rPr lang="en-US" sz="2000" dirty="0" smtClean="0">
                <a:solidFill>
                  <a:schemeClr val="accent6"/>
                </a:solidFill>
              </a:rPr>
              <a:t>Secure </a:t>
            </a:r>
            <a:r>
              <a:rPr lang="en-US" sz="2000" dirty="0">
                <a:solidFill>
                  <a:schemeClr val="accent6"/>
                </a:solidFill>
              </a:rPr>
              <a:t>Group </a:t>
            </a:r>
            <a:r>
              <a:rPr lang="en-US" sz="2000" dirty="0" smtClean="0">
                <a:solidFill>
                  <a:schemeClr val="accent6"/>
                </a:solidFill>
              </a:rPr>
              <a:t>Communication</a:t>
            </a:r>
          </a:p>
          <a:p>
            <a:pPr marL="742950" lvl="1" indent="-285750">
              <a:lnSpc>
                <a:spcPct val="150000"/>
              </a:lnSpc>
              <a:buFont typeface="Arial" panose="020B0604020202020204" pitchFamily="34" charset="0"/>
              <a:buChar char="•"/>
            </a:pPr>
            <a:r>
              <a:rPr lang="en-US" sz="2000" dirty="0" smtClean="0">
                <a:solidFill>
                  <a:schemeClr val="accent6"/>
                </a:solidFill>
              </a:rPr>
              <a:t>Access </a:t>
            </a:r>
            <a:r>
              <a:rPr lang="en-US" sz="2000" dirty="0">
                <a:solidFill>
                  <a:schemeClr val="accent6"/>
                </a:solidFill>
              </a:rPr>
              <a:t>Control- General Issues in </a:t>
            </a:r>
            <a:r>
              <a:rPr lang="en-US" sz="2000" dirty="0" smtClean="0">
                <a:solidFill>
                  <a:schemeClr val="accent6"/>
                </a:solidFill>
              </a:rPr>
              <a:t>Access Control</a:t>
            </a:r>
            <a:r>
              <a:rPr lang="en-US" sz="2000" dirty="0">
                <a:solidFill>
                  <a:schemeClr val="accent6"/>
                </a:solidFill>
              </a:rPr>
              <a:t>, </a:t>
            </a:r>
            <a:endParaRPr lang="en-US" sz="2000" dirty="0" smtClean="0">
              <a:solidFill>
                <a:schemeClr val="accent6"/>
              </a:solidFill>
            </a:endParaRPr>
          </a:p>
          <a:p>
            <a:pPr marL="742950" lvl="1" indent="-285750">
              <a:lnSpc>
                <a:spcPct val="150000"/>
              </a:lnSpc>
              <a:buFont typeface="Arial" panose="020B0604020202020204" pitchFamily="34" charset="0"/>
              <a:buChar char="•"/>
            </a:pPr>
            <a:r>
              <a:rPr lang="en-US" sz="2000" dirty="0" smtClean="0">
                <a:solidFill>
                  <a:schemeClr val="accent6"/>
                </a:solidFill>
              </a:rPr>
              <a:t>Firewalls</a:t>
            </a:r>
          </a:p>
          <a:p>
            <a:pPr marL="742950" lvl="1" indent="-285750">
              <a:lnSpc>
                <a:spcPct val="150000"/>
              </a:lnSpc>
              <a:buFont typeface="Arial" panose="020B0604020202020204" pitchFamily="34" charset="0"/>
              <a:buChar char="•"/>
            </a:pPr>
            <a:r>
              <a:rPr lang="en-US" sz="2000" dirty="0" smtClean="0">
                <a:solidFill>
                  <a:schemeClr val="accent6"/>
                </a:solidFill>
              </a:rPr>
              <a:t>Secure </a:t>
            </a:r>
            <a:r>
              <a:rPr lang="en-US" sz="2000" dirty="0">
                <a:solidFill>
                  <a:schemeClr val="accent6"/>
                </a:solidFill>
              </a:rPr>
              <a:t>Mobile </a:t>
            </a:r>
            <a:r>
              <a:rPr lang="en-US" sz="2000" dirty="0" smtClean="0">
                <a:solidFill>
                  <a:schemeClr val="accent6"/>
                </a:solidFill>
              </a:rPr>
              <a:t>Code</a:t>
            </a:r>
          </a:p>
          <a:p>
            <a:pPr marL="742950" lvl="1" indent="-285750">
              <a:lnSpc>
                <a:spcPct val="150000"/>
              </a:lnSpc>
              <a:buFont typeface="Arial" panose="020B0604020202020204" pitchFamily="34" charset="0"/>
              <a:buChar char="•"/>
            </a:pPr>
            <a:r>
              <a:rPr lang="en-US" sz="2000" dirty="0" smtClean="0">
                <a:solidFill>
                  <a:schemeClr val="accent6"/>
                </a:solidFill>
              </a:rPr>
              <a:t>Denial </a:t>
            </a:r>
            <a:r>
              <a:rPr lang="en-US" sz="2000" dirty="0">
                <a:solidFill>
                  <a:schemeClr val="accent6"/>
                </a:solidFill>
              </a:rPr>
              <a:t>of Service; </a:t>
            </a:r>
            <a:endParaRPr lang="en-US" sz="2000" dirty="0" smtClean="0">
              <a:solidFill>
                <a:schemeClr val="accent6"/>
              </a:solidFill>
            </a:endParaRPr>
          </a:p>
          <a:p>
            <a:pPr marL="742950" lvl="1" indent="-285750">
              <a:lnSpc>
                <a:spcPct val="150000"/>
              </a:lnSpc>
              <a:buFont typeface="Arial" panose="020B0604020202020204" pitchFamily="34" charset="0"/>
              <a:buChar char="•"/>
            </a:pPr>
            <a:r>
              <a:rPr lang="en-US" sz="2000" dirty="0" smtClean="0">
                <a:solidFill>
                  <a:schemeClr val="accent6"/>
                </a:solidFill>
              </a:rPr>
              <a:t>Security Management</a:t>
            </a:r>
          </a:p>
          <a:p>
            <a:pPr marL="742950" lvl="1" indent="-285750">
              <a:lnSpc>
                <a:spcPct val="150000"/>
              </a:lnSpc>
              <a:buFont typeface="Arial" panose="020B0604020202020204" pitchFamily="34" charset="0"/>
              <a:buChar char="•"/>
            </a:pPr>
            <a:r>
              <a:rPr lang="en-US" sz="2000" dirty="0" smtClean="0">
                <a:solidFill>
                  <a:schemeClr val="accent6"/>
                </a:solidFill>
              </a:rPr>
              <a:t>Key Management</a:t>
            </a:r>
          </a:p>
          <a:p>
            <a:pPr marL="742950" lvl="1" indent="-285750">
              <a:lnSpc>
                <a:spcPct val="150000"/>
              </a:lnSpc>
              <a:buFont typeface="Arial" panose="020B0604020202020204" pitchFamily="34" charset="0"/>
              <a:buChar char="•"/>
            </a:pPr>
            <a:r>
              <a:rPr lang="en-US" sz="2000" dirty="0" smtClean="0">
                <a:solidFill>
                  <a:schemeClr val="accent6"/>
                </a:solidFill>
              </a:rPr>
              <a:t>Secure </a:t>
            </a:r>
            <a:r>
              <a:rPr lang="en-US" sz="2000" dirty="0">
                <a:solidFill>
                  <a:schemeClr val="accent6"/>
                </a:solidFill>
              </a:rPr>
              <a:t>Group </a:t>
            </a:r>
            <a:r>
              <a:rPr lang="en-US" sz="2000" dirty="0" smtClean="0">
                <a:solidFill>
                  <a:schemeClr val="accent6"/>
                </a:solidFill>
              </a:rPr>
              <a:t>Management</a:t>
            </a:r>
          </a:p>
          <a:p>
            <a:pPr marL="742950" lvl="1" indent="-285750">
              <a:lnSpc>
                <a:spcPct val="150000"/>
              </a:lnSpc>
              <a:buFont typeface="Arial" panose="020B0604020202020204" pitchFamily="34" charset="0"/>
              <a:buChar char="•"/>
            </a:pPr>
            <a:r>
              <a:rPr lang="en-US" sz="2000" dirty="0" smtClean="0">
                <a:solidFill>
                  <a:schemeClr val="accent6"/>
                </a:solidFill>
              </a:rPr>
              <a:t>Authorization </a:t>
            </a:r>
            <a:r>
              <a:rPr lang="en-US" sz="2000" dirty="0">
                <a:solidFill>
                  <a:schemeClr val="accent6"/>
                </a:solidFill>
              </a:rPr>
              <a:t>Management</a:t>
            </a:r>
          </a:p>
        </p:txBody>
      </p:sp>
    </p:spTree>
    <p:extLst>
      <p:ext uri="{BB962C8B-B14F-4D97-AF65-F5344CB8AC3E}">
        <p14:creationId xmlns:p14="http://schemas.microsoft.com/office/powerpoint/2010/main" val="585272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9">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9">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9">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Introduction to Security</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dirty="0"/>
              <a:t>Computer security is about keeping systems, programs, and data secure</a:t>
            </a:r>
          </a:p>
          <a:p>
            <a:pPr>
              <a:lnSpc>
                <a:spcPct val="100000"/>
              </a:lnSpc>
            </a:pPr>
            <a:r>
              <a:rPr lang="en-US" dirty="0" smtClean="0"/>
              <a:t>What </a:t>
            </a:r>
            <a:r>
              <a:rPr lang="en-US" dirty="0"/>
              <a:t>services do you expect from secure Distributed Systems?</a:t>
            </a:r>
          </a:p>
          <a:p>
            <a:pPr>
              <a:lnSpc>
                <a:spcPct val="100000"/>
              </a:lnSpc>
            </a:pPr>
            <a:r>
              <a:rPr lang="en-US" dirty="0" smtClean="0"/>
              <a:t>Secure </a:t>
            </a:r>
            <a:r>
              <a:rPr lang="en-US" dirty="0"/>
              <a:t>DS should provide</a:t>
            </a:r>
          </a:p>
          <a:p>
            <a:pPr lvl="2"/>
            <a:r>
              <a:rPr lang="en-US" sz="2400" dirty="0">
                <a:solidFill>
                  <a:srgbClr val="1D3064"/>
                </a:solidFill>
              </a:rPr>
              <a:t>Confidentiality of </a:t>
            </a:r>
            <a:r>
              <a:rPr lang="en-US" sz="2400" dirty="0" smtClean="0">
                <a:solidFill>
                  <a:srgbClr val="1D3064"/>
                </a:solidFill>
              </a:rPr>
              <a:t>Information : </a:t>
            </a:r>
            <a:r>
              <a:rPr lang="en-US" sz="2400" dirty="0" smtClean="0"/>
              <a:t>Information </a:t>
            </a:r>
            <a:r>
              <a:rPr lang="en-US" sz="2400" dirty="0"/>
              <a:t>is disclosed only to authorized parties</a:t>
            </a:r>
          </a:p>
          <a:p>
            <a:pPr lvl="2"/>
            <a:r>
              <a:rPr lang="en-US" sz="2400" dirty="0">
                <a:solidFill>
                  <a:srgbClr val="1D3064"/>
                </a:solidFill>
              </a:rPr>
              <a:t>Integrity of </a:t>
            </a:r>
            <a:r>
              <a:rPr lang="en-US" sz="2400" dirty="0" smtClean="0">
                <a:solidFill>
                  <a:srgbClr val="1D3064"/>
                </a:solidFill>
              </a:rPr>
              <a:t>Information : </a:t>
            </a:r>
            <a:r>
              <a:rPr lang="en-US" sz="2400" dirty="0" smtClean="0"/>
              <a:t>Alterations </a:t>
            </a:r>
            <a:r>
              <a:rPr lang="en-US" sz="2400" dirty="0"/>
              <a:t>to system’s assets is made only in an authorized </a:t>
            </a:r>
            <a:r>
              <a:rPr lang="en-US" sz="2400" dirty="0" smtClean="0"/>
              <a:t>way</a:t>
            </a:r>
          </a:p>
          <a:p>
            <a:pPr marL="265113" lvl="2" indent="-265113">
              <a:lnSpc>
                <a:spcPct val="100000"/>
              </a:lnSpc>
              <a:spcBef>
                <a:spcPts val="1000"/>
              </a:spcBef>
              <a:buFont typeface="Webdings" panose="05030102010509060703" pitchFamily="18" charset="2"/>
              <a:buChar char=""/>
            </a:pPr>
            <a:r>
              <a:rPr lang="en-US" sz="2400" dirty="0"/>
              <a:t>Secure DS are immune against possible security threats that compromise confidentiality and </a:t>
            </a:r>
            <a:r>
              <a:rPr lang="en-US" sz="2400" dirty="0" smtClean="0"/>
              <a:t>integrity</a:t>
            </a:r>
            <a:endParaRPr lang="en-US" sz="2400" dirty="0"/>
          </a:p>
        </p:txBody>
      </p:sp>
    </p:spTree>
    <p:extLst>
      <p:ext uri="{BB962C8B-B14F-4D97-AF65-F5344CB8AC3E}">
        <p14:creationId xmlns:p14="http://schemas.microsoft.com/office/powerpoint/2010/main" val="2329917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Introduction to Security</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marL="0" lvl="2" indent="0">
              <a:lnSpc>
                <a:spcPct val="100000"/>
              </a:lnSpc>
              <a:spcBef>
                <a:spcPts val="1000"/>
              </a:spcBef>
              <a:buNone/>
            </a:pPr>
            <a:r>
              <a:rPr lang="en-US" sz="2400" b="1" dirty="0" smtClean="0">
                <a:solidFill>
                  <a:srgbClr val="0E3755"/>
                </a:solidFill>
              </a:rPr>
              <a:t>Security </a:t>
            </a:r>
            <a:r>
              <a:rPr lang="en-US" sz="2400" b="1" dirty="0">
                <a:solidFill>
                  <a:srgbClr val="0E3755"/>
                </a:solidFill>
              </a:rPr>
              <a:t>in distributed systems can be divided into two parts.</a:t>
            </a:r>
          </a:p>
          <a:p>
            <a:pPr marL="457200" lvl="2" indent="-457200">
              <a:lnSpc>
                <a:spcPct val="100000"/>
              </a:lnSpc>
              <a:spcBef>
                <a:spcPts val="1000"/>
              </a:spcBef>
              <a:buFont typeface="+mj-lt"/>
              <a:buAutoNum type="arabicPeriod"/>
            </a:pPr>
            <a:r>
              <a:rPr lang="en-US" sz="2400" dirty="0"/>
              <a:t>One part concerns the </a:t>
            </a:r>
            <a:r>
              <a:rPr lang="en-US" sz="2400" dirty="0">
                <a:solidFill>
                  <a:schemeClr val="accent6"/>
                </a:solidFill>
              </a:rPr>
              <a:t>communication between users or processes</a:t>
            </a:r>
            <a:r>
              <a:rPr lang="en-US" sz="2400" dirty="0"/>
              <a:t>, possibly residing on different machines.</a:t>
            </a:r>
          </a:p>
          <a:p>
            <a:pPr lvl="2"/>
            <a:r>
              <a:rPr lang="en-US" sz="2400" dirty="0"/>
              <a:t>The principal mechanism for ensuring secure communication </a:t>
            </a:r>
            <a:r>
              <a:rPr lang="en-US" sz="2400" dirty="0" smtClean="0"/>
              <a:t>is:</a:t>
            </a:r>
            <a:endParaRPr lang="en-US" sz="2400" dirty="0"/>
          </a:p>
          <a:p>
            <a:pPr marL="1612900" lvl="1" indent="-444500"/>
            <a:r>
              <a:rPr lang="en-US" sz="2400" dirty="0">
                <a:ea typeface="ＭＳ Ｐゴシック" charset="-128"/>
              </a:rPr>
              <a:t>Secure channels</a:t>
            </a:r>
          </a:p>
          <a:p>
            <a:pPr marL="1612900" lvl="1" indent="-444500"/>
            <a:r>
              <a:rPr lang="en-US" sz="2400" dirty="0">
                <a:ea typeface="ＭＳ Ｐゴシック" charset="-128"/>
              </a:rPr>
              <a:t>Authentication</a:t>
            </a:r>
          </a:p>
          <a:p>
            <a:pPr marL="1612900" lvl="1" indent="-444500"/>
            <a:r>
              <a:rPr lang="en-US" sz="2400" dirty="0">
                <a:ea typeface="ＭＳ Ｐゴシック" charset="-128"/>
              </a:rPr>
              <a:t>Message integrity</a:t>
            </a:r>
          </a:p>
          <a:p>
            <a:pPr marL="1612900" lvl="1" indent="-444500"/>
            <a:r>
              <a:rPr lang="en-US" sz="2400" dirty="0">
                <a:ea typeface="ＭＳ Ｐゴシック" charset="-128"/>
              </a:rPr>
              <a:t>Confidentiality</a:t>
            </a:r>
          </a:p>
          <a:p>
            <a:pPr marL="457200" lvl="2" indent="-457200">
              <a:lnSpc>
                <a:spcPct val="100000"/>
              </a:lnSpc>
              <a:spcBef>
                <a:spcPts val="1000"/>
              </a:spcBef>
              <a:buFont typeface="+mj-lt"/>
              <a:buAutoNum type="arabicPeriod" startAt="2"/>
            </a:pPr>
            <a:r>
              <a:rPr lang="en-US" sz="2400" dirty="0"/>
              <a:t>The other part concerns authorization, which deals with ensuring that a process gets only those access rights to the resources in a distributed system it is entitled to.</a:t>
            </a:r>
          </a:p>
          <a:p>
            <a:pPr>
              <a:lnSpc>
                <a:spcPct val="100000"/>
              </a:lnSpc>
            </a:pPr>
            <a:endParaRPr lang="en-US" dirty="0"/>
          </a:p>
          <a:p>
            <a:endParaRPr lang="en-US" dirty="0"/>
          </a:p>
          <a:p>
            <a:pPr marL="0" indent="0">
              <a:buNone/>
            </a:pPr>
            <a:endParaRPr lang="en-US" dirty="0"/>
          </a:p>
        </p:txBody>
      </p:sp>
    </p:spTree>
    <p:extLst>
      <p:ext uri="{BB962C8B-B14F-4D97-AF65-F5344CB8AC3E}">
        <p14:creationId xmlns:p14="http://schemas.microsoft.com/office/powerpoint/2010/main" val="4006512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Goals of Security</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dirty="0">
                <a:solidFill>
                  <a:schemeClr val="accent6"/>
                </a:solidFill>
              </a:rPr>
              <a:t>Secrecy</a:t>
            </a:r>
            <a:r>
              <a:rPr lang="en-US" dirty="0"/>
              <a:t>: Information within  the system must be accessible only to authorized users.</a:t>
            </a:r>
          </a:p>
          <a:p>
            <a:pPr>
              <a:lnSpc>
                <a:spcPct val="100000"/>
              </a:lnSpc>
            </a:pPr>
            <a:r>
              <a:rPr lang="en-US" dirty="0">
                <a:solidFill>
                  <a:schemeClr val="accent6"/>
                </a:solidFill>
              </a:rPr>
              <a:t>Privacy</a:t>
            </a:r>
            <a:r>
              <a:rPr lang="en-US" dirty="0"/>
              <a:t>: Information given to the users must be used only for the purpose for which it was given.</a:t>
            </a:r>
          </a:p>
          <a:p>
            <a:pPr>
              <a:lnSpc>
                <a:spcPct val="100000"/>
              </a:lnSpc>
            </a:pPr>
            <a:r>
              <a:rPr lang="en-US" dirty="0">
                <a:solidFill>
                  <a:schemeClr val="accent6"/>
                </a:solidFill>
              </a:rPr>
              <a:t>Authenticity</a:t>
            </a:r>
            <a:r>
              <a:rPr lang="en-US" dirty="0"/>
              <a:t>: The user must be able to verify that the data obtained is from expected sender only.</a:t>
            </a:r>
          </a:p>
          <a:p>
            <a:pPr>
              <a:lnSpc>
                <a:spcPct val="100000"/>
              </a:lnSpc>
            </a:pPr>
            <a:r>
              <a:rPr lang="en-US" dirty="0">
                <a:solidFill>
                  <a:schemeClr val="accent6"/>
                </a:solidFill>
              </a:rPr>
              <a:t>Integrity</a:t>
            </a:r>
            <a:r>
              <a:rPr lang="en-US" dirty="0"/>
              <a:t>: Information must be protected from unauthorized access. </a:t>
            </a:r>
          </a:p>
        </p:txBody>
      </p:sp>
    </p:spTree>
    <p:extLst>
      <p:ext uri="{BB962C8B-B14F-4D97-AF65-F5344CB8AC3E}">
        <p14:creationId xmlns:p14="http://schemas.microsoft.com/office/powerpoint/2010/main" val="1823145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Types of Security Threats </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marL="265113" lvl="1" indent="-265113">
              <a:lnSpc>
                <a:spcPct val="100000"/>
              </a:lnSpc>
              <a:spcBef>
                <a:spcPts val="1000"/>
              </a:spcBef>
              <a:buFont typeface="Webdings" panose="05030102010509060703" pitchFamily="18" charset="2"/>
              <a:buChar char=""/>
            </a:pPr>
            <a:r>
              <a:rPr lang="en-US" altLang="en-US" sz="2400" dirty="0"/>
              <a:t>Types of security threats to </a:t>
            </a:r>
            <a:r>
              <a:rPr lang="en-US" altLang="en-US" sz="2400" dirty="0" smtClean="0"/>
              <a:t>consider:</a:t>
            </a:r>
          </a:p>
          <a:p>
            <a:pPr marL="1371600" lvl="2" indent="-457200">
              <a:buFont typeface="+mj-lt"/>
              <a:buAutoNum type="arabicPeriod"/>
            </a:pPr>
            <a:r>
              <a:rPr lang="en-US" altLang="en-US" sz="2400" dirty="0">
                <a:solidFill>
                  <a:srgbClr val="1D3064"/>
                </a:solidFill>
              </a:rPr>
              <a:t>Interception</a:t>
            </a:r>
          </a:p>
          <a:p>
            <a:pPr marL="1371600" lvl="2" indent="-457200">
              <a:buFont typeface="+mj-lt"/>
              <a:buAutoNum type="arabicPeriod"/>
            </a:pPr>
            <a:r>
              <a:rPr lang="en-US" altLang="en-US" sz="2400" dirty="0">
                <a:solidFill>
                  <a:srgbClr val="1D3064"/>
                </a:solidFill>
              </a:rPr>
              <a:t>Interruption</a:t>
            </a:r>
          </a:p>
          <a:p>
            <a:pPr marL="1371600" lvl="2" indent="-457200">
              <a:buFont typeface="+mj-lt"/>
              <a:buAutoNum type="arabicPeriod"/>
            </a:pPr>
            <a:r>
              <a:rPr lang="en-US" altLang="en-US" sz="2400" dirty="0">
                <a:solidFill>
                  <a:srgbClr val="1D3064"/>
                </a:solidFill>
              </a:rPr>
              <a:t>Modification</a:t>
            </a:r>
          </a:p>
          <a:p>
            <a:pPr marL="1371600" lvl="2" indent="-457200">
              <a:buFont typeface="+mj-lt"/>
              <a:buAutoNum type="arabicPeriod"/>
            </a:pPr>
            <a:r>
              <a:rPr lang="en-US" altLang="en-US" sz="2400" dirty="0">
                <a:solidFill>
                  <a:srgbClr val="1D3064"/>
                </a:solidFill>
              </a:rPr>
              <a:t>Fabrication</a:t>
            </a:r>
          </a:p>
        </p:txBody>
      </p:sp>
    </p:spTree>
    <p:extLst>
      <p:ext uri="{BB962C8B-B14F-4D97-AF65-F5344CB8AC3E}">
        <p14:creationId xmlns:p14="http://schemas.microsoft.com/office/powerpoint/2010/main" val="3319483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Types of Security </a:t>
            </a:r>
            <a:r>
              <a:rPr lang="en-US" dirty="0" smtClean="0"/>
              <a:t>Threats</a:t>
            </a:r>
            <a:endParaRPr lang="en-US" dirty="0"/>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a:xfrm>
            <a:off x="131181" y="863444"/>
            <a:ext cx="7463420" cy="5590565"/>
          </a:xfrm>
        </p:spPr>
        <p:txBody>
          <a:bodyPr/>
          <a:lstStyle/>
          <a:p>
            <a:pPr marL="457200" lvl="1" indent="-457200">
              <a:lnSpc>
                <a:spcPct val="100000"/>
              </a:lnSpc>
              <a:spcBef>
                <a:spcPts val="1000"/>
              </a:spcBef>
              <a:buFont typeface="+mj-lt"/>
              <a:buAutoNum type="arabicPeriod"/>
            </a:pPr>
            <a:r>
              <a:rPr lang="en-US" altLang="en-US" sz="2400" b="1" dirty="0">
                <a:solidFill>
                  <a:srgbClr val="0E3755"/>
                </a:solidFill>
              </a:rPr>
              <a:t>Interception</a:t>
            </a:r>
          </a:p>
          <a:p>
            <a:pPr lvl="2"/>
            <a:r>
              <a:rPr lang="en-US" altLang="en-US" sz="2400" dirty="0"/>
              <a:t>Unauthorized party has gained access to a service or data</a:t>
            </a:r>
          </a:p>
          <a:p>
            <a:pPr lvl="2"/>
            <a:r>
              <a:rPr lang="en-US" altLang="en-US" sz="2400" dirty="0"/>
              <a:t>Example: Illegal copying of files, Eavesdropping over </a:t>
            </a:r>
            <a:r>
              <a:rPr lang="en-US" altLang="en-US" sz="2400" dirty="0" smtClean="0"/>
              <a:t>network</a:t>
            </a:r>
          </a:p>
          <a:p>
            <a:pPr lvl="2"/>
            <a:endParaRPr lang="en-US" altLang="en-US" sz="2400" dirty="0"/>
          </a:p>
          <a:p>
            <a:pPr marL="457200" lvl="1" indent="-457200">
              <a:lnSpc>
                <a:spcPct val="100000"/>
              </a:lnSpc>
              <a:spcBef>
                <a:spcPts val="1000"/>
              </a:spcBef>
              <a:buFont typeface="+mj-lt"/>
              <a:buAutoNum type="arabicPeriod"/>
            </a:pPr>
            <a:r>
              <a:rPr lang="en-US" altLang="en-US" sz="2400" b="1" dirty="0">
                <a:solidFill>
                  <a:srgbClr val="0E3755"/>
                </a:solidFill>
              </a:rPr>
              <a:t>Interruption</a:t>
            </a:r>
          </a:p>
          <a:p>
            <a:pPr lvl="2"/>
            <a:r>
              <a:rPr lang="en-US" altLang="en-US" sz="2400" dirty="0"/>
              <a:t>Services or data become unavailable, unusable or destroyed</a:t>
            </a:r>
          </a:p>
          <a:p>
            <a:pPr lvl="2"/>
            <a:r>
              <a:rPr lang="en-US" altLang="en-US" sz="2400" dirty="0"/>
              <a:t>Example: Denial-of-Service (</a:t>
            </a:r>
            <a:r>
              <a:rPr lang="en-US" altLang="en-US" sz="2400" dirty="0" err="1"/>
              <a:t>DoS</a:t>
            </a:r>
            <a:r>
              <a:rPr lang="en-US" altLang="en-US" sz="2400" dirty="0"/>
              <a:t>) Attacks</a:t>
            </a:r>
          </a:p>
          <a:p>
            <a:pPr lvl="2"/>
            <a:endParaRPr lang="en-US" altLang="en-US" sz="2400" dirty="0"/>
          </a:p>
        </p:txBody>
      </p:sp>
      <p:sp>
        <p:nvSpPr>
          <p:cNvPr id="4" name="Rectangle 3"/>
          <p:cNvSpPr/>
          <p:nvPr/>
        </p:nvSpPr>
        <p:spPr>
          <a:xfrm>
            <a:off x="8559801" y="1981200"/>
            <a:ext cx="594476" cy="304800"/>
          </a:xfrm>
          <a:prstGeom prst="rect">
            <a:avLst/>
          </a:prstGeom>
          <a:solidFill>
            <a:schemeClr val="accent4"/>
          </a:solidFill>
          <a:ln>
            <a:noFill/>
          </a:ln>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1600" dirty="0" smtClean="0"/>
              <a:t>Alice</a:t>
            </a:r>
            <a:endParaRPr lang="en-US" sz="1600" dirty="0"/>
          </a:p>
        </p:txBody>
      </p:sp>
      <p:sp>
        <p:nvSpPr>
          <p:cNvPr id="5" name="Rectangle 4"/>
          <p:cNvSpPr/>
          <p:nvPr/>
        </p:nvSpPr>
        <p:spPr>
          <a:xfrm>
            <a:off x="10807700" y="1981200"/>
            <a:ext cx="571500" cy="304800"/>
          </a:xfrm>
          <a:prstGeom prst="rect">
            <a:avLst/>
          </a:prstGeom>
          <a:solidFill>
            <a:srgbClr val="1D3064"/>
          </a:solidFill>
          <a:ln>
            <a:noFill/>
          </a:ln>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1600" dirty="0" smtClean="0"/>
              <a:t>Bob</a:t>
            </a:r>
            <a:endParaRPr lang="en-US" sz="1600" dirty="0"/>
          </a:p>
        </p:txBody>
      </p:sp>
      <p:cxnSp>
        <p:nvCxnSpPr>
          <p:cNvPr id="6" name="Straight Arrow Connector 5"/>
          <p:cNvCxnSpPr>
            <a:stCxn id="4" idx="3"/>
            <a:endCxn id="5" idx="1"/>
          </p:cNvCxnSpPr>
          <p:nvPr/>
        </p:nvCxnSpPr>
        <p:spPr>
          <a:xfrm>
            <a:off x="9154277" y="2133600"/>
            <a:ext cx="1653423"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9512301" y="1524000"/>
            <a:ext cx="1142999" cy="457200"/>
          </a:xfrm>
          <a:prstGeom prst="rect">
            <a:avLst/>
          </a:prstGeom>
          <a:ln w="9525"/>
        </p:spPr>
        <p:style>
          <a:lnRef idx="2">
            <a:schemeClr val="accent4"/>
          </a:lnRef>
          <a:fillRef idx="1">
            <a:schemeClr val="lt1"/>
          </a:fillRef>
          <a:effectRef idx="0">
            <a:schemeClr val="accent4"/>
          </a:effectRef>
          <a:fontRef idx="minor">
            <a:schemeClr val="dk1"/>
          </a:fontRef>
        </p:style>
        <p:txBody>
          <a:bodyPr rtlCol="0" anchor="ctr"/>
          <a:lstStyle/>
          <a:p>
            <a:pPr algn="ctr"/>
            <a:r>
              <a:rPr lang="en-US" sz="1200" dirty="0" smtClean="0"/>
              <a:t>Alice: Let us meet at 10 </a:t>
            </a:r>
            <a:r>
              <a:rPr lang="en-US" sz="1200" dirty="0"/>
              <a:t>A</a:t>
            </a:r>
            <a:r>
              <a:rPr lang="en-US" sz="1200" dirty="0" smtClean="0"/>
              <a:t>M</a:t>
            </a:r>
            <a:endParaRPr lang="en-US" sz="1200" dirty="0"/>
          </a:p>
        </p:txBody>
      </p:sp>
      <p:sp>
        <p:nvSpPr>
          <p:cNvPr id="8" name="Rectangle 7"/>
          <p:cNvSpPr/>
          <p:nvPr/>
        </p:nvSpPr>
        <p:spPr>
          <a:xfrm>
            <a:off x="8559801" y="1321175"/>
            <a:ext cx="571500" cy="304800"/>
          </a:xfrm>
          <a:prstGeom prst="rect">
            <a:avLst/>
          </a:prstGeom>
          <a:solidFill>
            <a:schemeClr val="accent6"/>
          </a:solidFill>
          <a:ln>
            <a:noFill/>
          </a:ln>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1600" dirty="0" smtClean="0"/>
              <a:t>Eve</a:t>
            </a:r>
            <a:endParaRPr lang="en-US" sz="1600" dirty="0"/>
          </a:p>
        </p:txBody>
      </p:sp>
      <p:cxnSp>
        <p:nvCxnSpPr>
          <p:cNvPr id="9" name="Straight Arrow Connector 8"/>
          <p:cNvCxnSpPr>
            <a:stCxn id="8" idx="3"/>
          </p:cNvCxnSpPr>
          <p:nvPr/>
        </p:nvCxnSpPr>
        <p:spPr>
          <a:xfrm>
            <a:off x="9131301" y="1473575"/>
            <a:ext cx="381000" cy="50425"/>
          </a:xfrm>
          <a:prstGeom prst="straightConnector1">
            <a:avLst/>
          </a:prstGeom>
          <a:ln w="19050">
            <a:solidFill>
              <a:schemeClr val="bg1">
                <a:lumMod val="50000"/>
              </a:schemeClr>
            </a:solidFill>
            <a:prstDash val="sysDash"/>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8582777" y="4610100"/>
            <a:ext cx="571500" cy="304800"/>
          </a:xfrm>
          <a:prstGeom prst="rect">
            <a:avLst/>
          </a:prstGeom>
          <a:solidFill>
            <a:schemeClr val="accent4"/>
          </a:solidFill>
          <a:ln>
            <a:noFill/>
          </a:ln>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1400" dirty="0" smtClean="0"/>
              <a:t>Alice</a:t>
            </a:r>
            <a:endParaRPr lang="en-US" sz="1400" dirty="0"/>
          </a:p>
        </p:txBody>
      </p:sp>
      <p:sp>
        <p:nvSpPr>
          <p:cNvPr id="12" name="Rectangle 11"/>
          <p:cNvSpPr/>
          <p:nvPr/>
        </p:nvSpPr>
        <p:spPr>
          <a:xfrm>
            <a:off x="10807700" y="4610100"/>
            <a:ext cx="571500" cy="304800"/>
          </a:xfrm>
          <a:prstGeom prst="rect">
            <a:avLst/>
          </a:prstGeom>
          <a:solidFill>
            <a:srgbClr val="1D3064"/>
          </a:solidFill>
          <a:ln>
            <a:noFill/>
          </a:ln>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1400" dirty="0" smtClean="0"/>
              <a:t>Bob</a:t>
            </a:r>
            <a:endParaRPr lang="en-US" sz="1400" dirty="0"/>
          </a:p>
        </p:txBody>
      </p:sp>
      <p:cxnSp>
        <p:nvCxnSpPr>
          <p:cNvPr id="13" name="Straight Arrow Connector 12"/>
          <p:cNvCxnSpPr>
            <a:stCxn id="11" idx="3"/>
            <a:endCxn id="12" idx="1"/>
          </p:cNvCxnSpPr>
          <p:nvPr/>
        </p:nvCxnSpPr>
        <p:spPr>
          <a:xfrm>
            <a:off x="9154277" y="4762500"/>
            <a:ext cx="1653423"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8559801" y="3950075"/>
            <a:ext cx="571500" cy="304800"/>
          </a:xfrm>
          <a:prstGeom prst="rect">
            <a:avLst/>
          </a:prstGeom>
          <a:solidFill>
            <a:schemeClr val="accent6"/>
          </a:solidFill>
          <a:ln>
            <a:noFill/>
          </a:ln>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1400" dirty="0" smtClean="0"/>
              <a:t>Eve</a:t>
            </a:r>
            <a:endParaRPr lang="en-US" sz="1400" dirty="0"/>
          </a:p>
        </p:txBody>
      </p:sp>
      <p:cxnSp>
        <p:nvCxnSpPr>
          <p:cNvPr id="15" name="Straight Arrow Connector 14"/>
          <p:cNvCxnSpPr>
            <a:endCxn id="14" idx="3"/>
          </p:cNvCxnSpPr>
          <p:nvPr/>
        </p:nvCxnSpPr>
        <p:spPr>
          <a:xfrm flipH="1" flipV="1">
            <a:off x="9131301" y="4102475"/>
            <a:ext cx="381000" cy="108171"/>
          </a:xfrm>
          <a:prstGeom prst="straightConnector1">
            <a:avLst/>
          </a:prstGeom>
          <a:ln w="19050">
            <a:solidFill>
              <a:schemeClr val="bg1">
                <a:lumMod val="50000"/>
              </a:schemeClr>
            </a:solidFill>
            <a:prstDash val="sysDash"/>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9512301" y="4210646"/>
            <a:ext cx="1142999" cy="399454"/>
          </a:xfrm>
          <a:prstGeom prst="rect">
            <a:avLst/>
          </a:prstGeom>
          <a:ln w="9525"/>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dirty="0" smtClean="0"/>
              <a:t>Alice: Let us meet at 12 PM</a:t>
            </a:r>
            <a:endParaRPr lang="en-US" sz="1100" dirty="0"/>
          </a:p>
        </p:txBody>
      </p:sp>
      <p:sp>
        <p:nvSpPr>
          <p:cNvPr id="17" name="Rectangle 16"/>
          <p:cNvSpPr/>
          <p:nvPr/>
        </p:nvSpPr>
        <p:spPr>
          <a:xfrm>
            <a:off x="9512301" y="4210646"/>
            <a:ext cx="1142999" cy="399454"/>
          </a:xfrm>
          <a:prstGeom prst="rect">
            <a:avLst/>
          </a:prstGeom>
          <a:ln w="952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dirty="0" smtClean="0"/>
              <a:t>(*##SWF * KF !34#*</a:t>
            </a:r>
            <a:endParaRPr lang="en-US" sz="1100" dirty="0"/>
          </a:p>
        </p:txBody>
      </p:sp>
    </p:spTree>
    <p:extLst>
      <p:ext uri="{BB962C8B-B14F-4D97-AF65-F5344CB8AC3E}">
        <p14:creationId xmlns:p14="http://schemas.microsoft.com/office/powerpoint/2010/main" val="3351031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11" grpId="0" animBg="1"/>
      <p:bldP spid="12" grpId="0" animBg="1"/>
      <p:bldP spid="14" grpId="0" animBg="1"/>
      <p:bldP spid="16" grpId="0" animBg="1"/>
      <p:bldP spid="1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Types of Security </a:t>
            </a:r>
            <a:r>
              <a:rPr lang="en-US" dirty="0" smtClean="0"/>
              <a:t>Threats</a:t>
            </a:r>
            <a:endParaRPr lang="en-US" dirty="0"/>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a:xfrm>
            <a:off x="131181" y="863444"/>
            <a:ext cx="7463420" cy="5590565"/>
          </a:xfrm>
        </p:spPr>
        <p:txBody>
          <a:bodyPr/>
          <a:lstStyle/>
          <a:p>
            <a:pPr marL="457200" lvl="1" indent="-457200">
              <a:lnSpc>
                <a:spcPct val="100000"/>
              </a:lnSpc>
              <a:spcBef>
                <a:spcPts val="1000"/>
              </a:spcBef>
              <a:buFont typeface="+mj-lt"/>
              <a:buAutoNum type="arabicPeriod" startAt="3"/>
            </a:pPr>
            <a:r>
              <a:rPr lang="en-US" altLang="en-US" sz="2400" b="1" dirty="0">
                <a:solidFill>
                  <a:srgbClr val="0E3755"/>
                </a:solidFill>
              </a:rPr>
              <a:t>Modification</a:t>
            </a:r>
          </a:p>
          <a:p>
            <a:pPr lvl="2"/>
            <a:r>
              <a:rPr lang="en-US" altLang="en-US" sz="2400" dirty="0"/>
              <a:t>Unauthorized changing of data or tampering with services</a:t>
            </a:r>
          </a:p>
          <a:p>
            <a:pPr lvl="2"/>
            <a:r>
              <a:rPr lang="en-US" altLang="en-US" sz="2400" dirty="0"/>
              <a:t>Example: Changing a program to secretly log the activities</a:t>
            </a:r>
          </a:p>
          <a:p>
            <a:pPr lvl="2"/>
            <a:endParaRPr lang="en-US" altLang="en-US" sz="2400" dirty="0"/>
          </a:p>
          <a:p>
            <a:pPr marL="457200" lvl="1" indent="-457200">
              <a:lnSpc>
                <a:spcPct val="100000"/>
              </a:lnSpc>
              <a:spcBef>
                <a:spcPts val="1000"/>
              </a:spcBef>
              <a:buFont typeface="+mj-lt"/>
              <a:buAutoNum type="arabicPeriod" startAt="3"/>
            </a:pPr>
            <a:r>
              <a:rPr lang="en-US" altLang="en-US" sz="2400" b="1" dirty="0">
                <a:solidFill>
                  <a:srgbClr val="0E3755"/>
                </a:solidFill>
              </a:rPr>
              <a:t>Fabrication</a:t>
            </a:r>
          </a:p>
          <a:p>
            <a:pPr lvl="2"/>
            <a:r>
              <a:rPr lang="en-US" altLang="en-US" sz="2400" dirty="0"/>
              <a:t>Additional data or activity is generated that would normally not exist</a:t>
            </a:r>
          </a:p>
          <a:p>
            <a:pPr lvl="2"/>
            <a:r>
              <a:rPr lang="en-US" altLang="en-US" sz="2400" dirty="0"/>
              <a:t>Example: Replay attacks</a:t>
            </a:r>
          </a:p>
          <a:p>
            <a:pPr lvl="2"/>
            <a:endParaRPr lang="en-US" altLang="en-US" sz="2400" dirty="0"/>
          </a:p>
        </p:txBody>
      </p:sp>
      <p:sp>
        <p:nvSpPr>
          <p:cNvPr id="18" name="Rectangle 17"/>
          <p:cNvSpPr/>
          <p:nvPr/>
        </p:nvSpPr>
        <p:spPr>
          <a:xfrm>
            <a:off x="8582777" y="2070066"/>
            <a:ext cx="571500" cy="304800"/>
          </a:xfrm>
          <a:prstGeom prst="rect">
            <a:avLst/>
          </a:prstGeom>
          <a:solidFill>
            <a:schemeClr val="accent4"/>
          </a:solidFill>
          <a:ln>
            <a:noFill/>
          </a:ln>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1400" dirty="0" smtClean="0"/>
              <a:t>Alice</a:t>
            </a:r>
            <a:endParaRPr lang="en-US" sz="1400" dirty="0"/>
          </a:p>
        </p:txBody>
      </p:sp>
      <p:sp>
        <p:nvSpPr>
          <p:cNvPr id="19" name="Rectangle 18"/>
          <p:cNvSpPr/>
          <p:nvPr/>
        </p:nvSpPr>
        <p:spPr>
          <a:xfrm>
            <a:off x="10807700" y="2070066"/>
            <a:ext cx="571500" cy="304800"/>
          </a:xfrm>
          <a:prstGeom prst="rect">
            <a:avLst/>
          </a:prstGeom>
          <a:solidFill>
            <a:srgbClr val="1D3064"/>
          </a:solidFill>
          <a:ln>
            <a:noFill/>
          </a:ln>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1400" dirty="0" smtClean="0"/>
              <a:t>Bob</a:t>
            </a:r>
            <a:endParaRPr lang="en-US" sz="1400" dirty="0"/>
          </a:p>
        </p:txBody>
      </p:sp>
      <p:cxnSp>
        <p:nvCxnSpPr>
          <p:cNvPr id="20" name="Straight Arrow Connector 19"/>
          <p:cNvCxnSpPr>
            <a:stCxn id="18" idx="3"/>
            <a:endCxn id="19" idx="1"/>
          </p:cNvCxnSpPr>
          <p:nvPr/>
        </p:nvCxnSpPr>
        <p:spPr>
          <a:xfrm>
            <a:off x="9154277" y="2222466"/>
            <a:ext cx="1653423"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9398000" y="1670612"/>
            <a:ext cx="1257300" cy="323254"/>
          </a:xfrm>
          <a:prstGeom prst="rect">
            <a:avLst/>
          </a:prstGeom>
          <a:ln w="9525"/>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dirty="0" smtClean="0"/>
              <a:t>Alice: Let us meet at 12 PM</a:t>
            </a:r>
            <a:endParaRPr lang="en-US" sz="1100" dirty="0"/>
          </a:p>
        </p:txBody>
      </p:sp>
      <p:sp>
        <p:nvSpPr>
          <p:cNvPr id="22" name="Rectangle 21"/>
          <p:cNvSpPr/>
          <p:nvPr/>
        </p:nvSpPr>
        <p:spPr>
          <a:xfrm>
            <a:off x="8559801" y="1410041"/>
            <a:ext cx="571500" cy="304800"/>
          </a:xfrm>
          <a:prstGeom prst="rect">
            <a:avLst/>
          </a:prstGeom>
          <a:solidFill>
            <a:schemeClr val="accent6"/>
          </a:solidFill>
          <a:ln>
            <a:noFill/>
          </a:ln>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1400" dirty="0" smtClean="0"/>
              <a:t>Eve</a:t>
            </a:r>
            <a:endParaRPr lang="en-US" sz="1400" dirty="0"/>
          </a:p>
        </p:txBody>
      </p:sp>
      <p:cxnSp>
        <p:nvCxnSpPr>
          <p:cNvPr id="23" name="Straight Arrow Connector 22"/>
          <p:cNvCxnSpPr>
            <a:stCxn id="22" idx="3"/>
          </p:cNvCxnSpPr>
          <p:nvPr/>
        </p:nvCxnSpPr>
        <p:spPr>
          <a:xfrm>
            <a:off x="9131301" y="1562441"/>
            <a:ext cx="525838" cy="108171"/>
          </a:xfrm>
          <a:prstGeom prst="straightConnector1">
            <a:avLst/>
          </a:prstGeom>
          <a:ln w="19050">
            <a:solidFill>
              <a:schemeClr val="bg1">
                <a:lumMod val="50000"/>
              </a:schemeClr>
            </a:solidFill>
            <a:prstDash val="sysDash"/>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24" name="Rectangle 23"/>
          <p:cNvSpPr/>
          <p:nvPr/>
        </p:nvSpPr>
        <p:spPr>
          <a:xfrm>
            <a:off x="9407427" y="1676897"/>
            <a:ext cx="1247872" cy="316969"/>
          </a:xfrm>
          <a:prstGeom prst="rect">
            <a:avLst/>
          </a:prstGeom>
          <a:ln w="9525"/>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dirty="0" smtClean="0"/>
              <a:t>Alice: Let us meet at </a:t>
            </a:r>
            <a:r>
              <a:rPr lang="en-US" sz="1100" dirty="0" smtClean="0">
                <a:solidFill>
                  <a:srgbClr val="0000FF"/>
                </a:solidFill>
              </a:rPr>
              <a:t>12 PM</a:t>
            </a:r>
            <a:endParaRPr lang="en-US" sz="1100" dirty="0">
              <a:solidFill>
                <a:srgbClr val="0000FF"/>
              </a:solidFill>
            </a:endParaRPr>
          </a:p>
        </p:txBody>
      </p:sp>
      <p:cxnSp>
        <p:nvCxnSpPr>
          <p:cNvPr id="25" name="Straight Arrow Connector 24"/>
          <p:cNvCxnSpPr/>
          <p:nvPr/>
        </p:nvCxnSpPr>
        <p:spPr>
          <a:xfrm flipH="1" flipV="1">
            <a:off x="9154277" y="1460466"/>
            <a:ext cx="1005724" cy="210146"/>
          </a:xfrm>
          <a:prstGeom prst="straightConnector1">
            <a:avLst/>
          </a:prstGeom>
          <a:ln w="19050">
            <a:solidFill>
              <a:schemeClr val="bg1">
                <a:lumMod val="50000"/>
              </a:schemeClr>
            </a:solidFill>
            <a:prstDash val="sysDash"/>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9154277" y="2222466"/>
            <a:ext cx="872373"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endCxn id="19" idx="1"/>
          </p:cNvCxnSpPr>
          <p:nvPr/>
        </p:nvCxnSpPr>
        <p:spPr>
          <a:xfrm>
            <a:off x="9980988" y="1997008"/>
            <a:ext cx="826712" cy="22545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H="1" flipV="1">
            <a:off x="10031363" y="2070066"/>
            <a:ext cx="1" cy="304802"/>
          </a:xfrm>
          <a:prstGeom prst="straightConnector1">
            <a:avLst/>
          </a:prstGeom>
          <a:ln w="28575">
            <a:solidFill>
              <a:srgbClr val="FF0000"/>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9" name="Rectangle 28"/>
          <p:cNvSpPr/>
          <p:nvPr/>
        </p:nvSpPr>
        <p:spPr>
          <a:xfrm>
            <a:off x="8582776" y="4393756"/>
            <a:ext cx="571500" cy="304800"/>
          </a:xfrm>
          <a:prstGeom prst="rect">
            <a:avLst/>
          </a:prstGeom>
          <a:solidFill>
            <a:schemeClr val="accent4"/>
          </a:solidFill>
          <a:ln>
            <a:noFill/>
          </a:ln>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1400" dirty="0" smtClean="0"/>
              <a:t>Alice</a:t>
            </a:r>
            <a:endParaRPr lang="en-US" sz="1400" dirty="0"/>
          </a:p>
        </p:txBody>
      </p:sp>
      <p:sp>
        <p:nvSpPr>
          <p:cNvPr id="30" name="Rectangle 29"/>
          <p:cNvSpPr/>
          <p:nvPr/>
        </p:nvSpPr>
        <p:spPr>
          <a:xfrm>
            <a:off x="10807699" y="4393756"/>
            <a:ext cx="571500" cy="304800"/>
          </a:xfrm>
          <a:prstGeom prst="rect">
            <a:avLst/>
          </a:prstGeom>
          <a:solidFill>
            <a:srgbClr val="1D3064"/>
          </a:solidFill>
          <a:ln>
            <a:noFill/>
          </a:ln>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1400" dirty="0" smtClean="0"/>
              <a:t>Bob</a:t>
            </a:r>
            <a:endParaRPr lang="en-US" sz="1400" dirty="0"/>
          </a:p>
        </p:txBody>
      </p:sp>
      <p:sp>
        <p:nvSpPr>
          <p:cNvPr id="31" name="Rectangle 30"/>
          <p:cNvSpPr/>
          <p:nvPr/>
        </p:nvSpPr>
        <p:spPr>
          <a:xfrm>
            <a:off x="8559800" y="3733731"/>
            <a:ext cx="571500" cy="304800"/>
          </a:xfrm>
          <a:prstGeom prst="rect">
            <a:avLst/>
          </a:prstGeom>
          <a:solidFill>
            <a:schemeClr val="accent6"/>
          </a:solidFill>
          <a:ln>
            <a:noFill/>
          </a:ln>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1400" dirty="0" smtClean="0"/>
              <a:t>Eve</a:t>
            </a:r>
            <a:endParaRPr lang="en-US" sz="1400" dirty="0"/>
          </a:p>
        </p:txBody>
      </p:sp>
      <p:cxnSp>
        <p:nvCxnSpPr>
          <p:cNvPr id="32" name="Straight Arrow Connector 31"/>
          <p:cNvCxnSpPr>
            <a:stCxn id="33" idx="0"/>
            <a:endCxn id="31" idx="3"/>
          </p:cNvCxnSpPr>
          <p:nvPr/>
        </p:nvCxnSpPr>
        <p:spPr>
          <a:xfrm flipH="1" flipV="1">
            <a:off x="9131300" y="3886131"/>
            <a:ext cx="895349" cy="108171"/>
          </a:xfrm>
          <a:prstGeom prst="straightConnector1">
            <a:avLst/>
          </a:prstGeom>
          <a:ln w="19050">
            <a:solidFill>
              <a:schemeClr val="bg1">
                <a:lumMod val="50000"/>
              </a:schemeClr>
            </a:solidFill>
            <a:prstDash val="sysDash"/>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9397999" y="3994302"/>
            <a:ext cx="1257300" cy="323254"/>
          </a:xfrm>
          <a:prstGeom prst="rect">
            <a:avLst/>
          </a:prstGeom>
          <a:ln w="9525"/>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dirty="0" smtClean="0"/>
              <a:t>Alice: Let us meet at 06 PM</a:t>
            </a:r>
            <a:endParaRPr lang="en-US" sz="1100" dirty="0"/>
          </a:p>
        </p:txBody>
      </p:sp>
      <p:cxnSp>
        <p:nvCxnSpPr>
          <p:cNvPr id="34" name="Straight Arrow Connector 33"/>
          <p:cNvCxnSpPr>
            <a:stCxn id="33" idx="2"/>
            <a:endCxn id="30" idx="1"/>
          </p:cNvCxnSpPr>
          <p:nvPr/>
        </p:nvCxnSpPr>
        <p:spPr>
          <a:xfrm>
            <a:off x="10026649" y="4317556"/>
            <a:ext cx="781050" cy="2286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7742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xit" presetSubtype="0" fill="hold" nodeType="withEffect">
                                  <p:stCondLst>
                                    <p:cond delay="0"/>
                                  </p:stCondLst>
                                  <p:childTnLst>
                                    <p:set>
                                      <p:cBhvr>
                                        <p:cTn id="20" dur="1" fill="hold">
                                          <p:stCondLst>
                                            <p:cond delay="0"/>
                                          </p:stCondLst>
                                        </p:cTn>
                                        <p:tgtEl>
                                          <p:spTgt spid="20"/>
                                        </p:tgtEl>
                                        <p:attrNameLst>
                                          <p:attrName>style.visibility</p:attrName>
                                        </p:attrNameLst>
                                      </p:cBhvr>
                                      <p:to>
                                        <p:strVal val="hidden"/>
                                      </p:to>
                                    </p:set>
                                  </p:childTnLst>
                                </p:cTn>
                              </p:par>
                              <p:par>
                                <p:cTn id="21" presetID="1" presetClass="entr" presetSubtype="0" fill="hold"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
                                            <p:txEl>
                                              <p:pRg st="4" end="4"/>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1"/>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3"/>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4"/>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1" grpId="0" animBg="1"/>
      <p:bldP spid="22" grpId="0" animBg="1"/>
      <p:bldP spid="24" grpId="0" animBg="1"/>
      <p:bldP spid="29" grpId="0" animBg="1"/>
      <p:bldP spid="30" grpId="0" animBg="1"/>
      <p:bldP spid="31" grpId="0" animBg="1"/>
      <p:bldP spid="3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Security Policy and Mechanisms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dirty="0"/>
              <a:t>Security policy describes what actions the entities in a system are allowed to take and which ones are prohibited.</a:t>
            </a:r>
          </a:p>
          <a:p>
            <a:pPr>
              <a:lnSpc>
                <a:spcPct val="100000"/>
              </a:lnSpc>
            </a:pPr>
            <a:r>
              <a:rPr lang="en-US" dirty="0"/>
              <a:t>Security mechanisms implement security policies. </a:t>
            </a:r>
          </a:p>
          <a:p>
            <a:pPr>
              <a:lnSpc>
                <a:spcPct val="100000"/>
              </a:lnSpc>
            </a:pPr>
            <a:r>
              <a:rPr lang="en-US" dirty="0"/>
              <a:t>The following techniques are used:</a:t>
            </a:r>
          </a:p>
          <a:p>
            <a:pPr lvl="2"/>
            <a:r>
              <a:rPr lang="en-US" sz="2400" dirty="0">
                <a:solidFill>
                  <a:schemeClr val="accent6"/>
                </a:solidFill>
              </a:rPr>
              <a:t>Encryption</a:t>
            </a:r>
            <a:r>
              <a:rPr lang="en-US" sz="2400" dirty="0"/>
              <a:t>: Provides a means to implement confidentiality, since it transforms the data into cypher text which attacker cannot understand.</a:t>
            </a:r>
          </a:p>
          <a:p>
            <a:pPr lvl="2"/>
            <a:r>
              <a:rPr lang="en-US" sz="2400" dirty="0">
                <a:solidFill>
                  <a:schemeClr val="accent6"/>
                </a:solidFill>
              </a:rPr>
              <a:t>Authentication</a:t>
            </a:r>
            <a:r>
              <a:rPr lang="en-US" sz="2400" dirty="0"/>
              <a:t>: To verify weather the user, client, server etc. are authentic or not. User are authenticated by password.</a:t>
            </a:r>
          </a:p>
          <a:p>
            <a:pPr lvl="2"/>
            <a:r>
              <a:rPr lang="en-US" sz="2400" dirty="0">
                <a:solidFill>
                  <a:schemeClr val="accent6"/>
                </a:solidFill>
              </a:rPr>
              <a:t>Authorization</a:t>
            </a:r>
            <a:r>
              <a:rPr lang="en-US" sz="2400" dirty="0"/>
              <a:t>: To check as a weather the client is authorized to perform specific task.</a:t>
            </a:r>
          </a:p>
          <a:p>
            <a:pPr lvl="2"/>
            <a:r>
              <a:rPr lang="en-US" sz="2400" dirty="0">
                <a:solidFill>
                  <a:schemeClr val="accent6"/>
                </a:solidFill>
              </a:rPr>
              <a:t>Auditing</a:t>
            </a:r>
            <a:r>
              <a:rPr lang="en-US" sz="2400" dirty="0"/>
              <a:t>: Tools are used to trace which clients accessed what information and when they did so.</a:t>
            </a:r>
          </a:p>
          <a:p>
            <a:pPr marL="0" indent="0">
              <a:buNone/>
            </a:pPr>
            <a:endParaRPr lang="en-US" dirty="0"/>
          </a:p>
        </p:txBody>
      </p:sp>
    </p:spTree>
    <p:extLst>
      <p:ext uri="{BB962C8B-B14F-4D97-AF65-F5344CB8AC3E}">
        <p14:creationId xmlns:p14="http://schemas.microsoft.com/office/powerpoint/2010/main" val="3318204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Cryptography</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dirty="0"/>
              <a:t>Cryptography is defined as a means of </a:t>
            </a:r>
            <a:r>
              <a:rPr lang="en-US" dirty="0">
                <a:solidFill>
                  <a:schemeClr val="accent6"/>
                </a:solidFill>
              </a:rPr>
              <a:t>protecting private information</a:t>
            </a:r>
            <a:r>
              <a:rPr lang="en-US" dirty="0"/>
              <a:t> against </a:t>
            </a:r>
            <a:r>
              <a:rPr lang="en-US" dirty="0">
                <a:solidFill>
                  <a:schemeClr val="accent6"/>
                </a:solidFill>
              </a:rPr>
              <a:t>unauthorized access </a:t>
            </a:r>
            <a:r>
              <a:rPr lang="en-US" dirty="0"/>
              <a:t>in cases where physical security is difficult to achieve.</a:t>
            </a:r>
          </a:p>
          <a:p>
            <a:pPr>
              <a:lnSpc>
                <a:spcPct val="100000"/>
              </a:lnSpc>
            </a:pPr>
            <a:r>
              <a:rPr lang="en-US" dirty="0"/>
              <a:t>Cryptography is carried out using two basic operations: </a:t>
            </a:r>
          </a:p>
          <a:p>
            <a:pPr>
              <a:lnSpc>
                <a:spcPct val="100000"/>
              </a:lnSpc>
            </a:pPr>
            <a:r>
              <a:rPr lang="en-US" b="1" dirty="0">
                <a:solidFill>
                  <a:srgbClr val="1D3064"/>
                </a:solidFill>
              </a:rPr>
              <a:t>Encryption</a:t>
            </a:r>
            <a:r>
              <a:rPr lang="en-US" dirty="0"/>
              <a:t>: The process of transforming intelligible information (plaintext) into unintelligible form (cipher text).</a:t>
            </a:r>
          </a:p>
          <a:p>
            <a:pPr>
              <a:lnSpc>
                <a:spcPct val="100000"/>
              </a:lnSpc>
            </a:pPr>
            <a:r>
              <a:rPr lang="en-US" b="1" dirty="0">
                <a:solidFill>
                  <a:srgbClr val="1D3064"/>
                </a:solidFill>
              </a:rPr>
              <a:t>Decryption</a:t>
            </a:r>
            <a:r>
              <a:rPr lang="en-US" dirty="0"/>
              <a:t>: The process of transforming the information from cipher text to plaintext.</a:t>
            </a:r>
          </a:p>
          <a:p>
            <a:pPr marL="0" indent="0">
              <a:buNone/>
            </a:pPr>
            <a:endParaRPr lang="en-US" dirty="0"/>
          </a:p>
        </p:txBody>
      </p:sp>
    </p:spTree>
    <p:extLst>
      <p:ext uri="{BB962C8B-B14F-4D97-AF65-F5344CB8AC3E}">
        <p14:creationId xmlns:p14="http://schemas.microsoft.com/office/powerpoint/2010/main" val="2328166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Cryptography</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a:xfrm>
            <a:off x="131180" y="863444"/>
            <a:ext cx="4994014" cy="5590565"/>
          </a:xfrm>
        </p:spPr>
        <p:txBody>
          <a:bodyPr/>
          <a:lstStyle/>
          <a:p>
            <a:pPr>
              <a:lnSpc>
                <a:spcPct val="100000"/>
              </a:lnSpc>
            </a:pPr>
            <a:r>
              <a:rPr lang="en-US" dirty="0"/>
              <a:t>The encryption algorithm has the following form: </a:t>
            </a:r>
            <a:r>
              <a:rPr lang="en-US" b="1" dirty="0">
                <a:solidFill>
                  <a:srgbClr val="1D3064"/>
                </a:solidFill>
              </a:rPr>
              <a:t>C = E(P, </a:t>
            </a:r>
            <a:r>
              <a:rPr lang="en-US" b="1" dirty="0" err="1">
                <a:solidFill>
                  <a:srgbClr val="1D3064"/>
                </a:solidFill>
              </a:rPr>
              <a:t>K</a:t>
            </a:r>
            <a:r>
              <a:rPr lang="en-US" b="1" baseline="-25000" dirty="0" err="1">
                <a:solidFill>
                  <a:srgbClr val="1D3064"/>
                </a:solidFill>
              </a:rPr>
              <a:t>e</a:t>
            </a:r>
            <a:r>
              <a:rPr lang="en-US" b="1" dirty="0">
                <a:solidFill>
                  <a:srgbClr val="1D3064"/>
                </a:solidFill>
              </a:rPr>
              <a:t>)</a:t>
            </a:r>
          </a:p>
          <a:p>
            <a:pPr>
              <a:lnSpc>
                <a:spcPct val="100000"/>
              </a:lnSpc>
            </a:pPr>
            <a:r>
              <a:rPr lang="en-US" dirty="0" smtClean="0"/>
              <a:t>Where </a:t>
            </a:r>
            <a:endParaRPr lang="en-US" dirty="0"/>
          </a:p>
          <a:p>
            <a:pPr lvl="2"/>
            <a:r>
              <a:rPr lang="en-US" sz="2400" b="1" dirty="0">
                <a:solidFill>
                  <a:srgbClr val="1D3064"/>
                </a:solidFill>
              </a:rPr>
              <a:t>P</a:t>
            </a:r>
            <a:r>
              <a:rPr lang="en-US" sz="2400" dirty="0"/>
              <a:t> = plaintext to be encrypted </a:t>
            </a:r>
          </a:p>
          <a:p>
            <a:pPr lvl="2"/>
            <a:r>
              <a:rPr lang="en-US" sz="2400" b="1" dirty="0" err="1">
                <a:solidFill>
                  <a:srgbClr val="1D3064"/>
                </a:solidFill>
              </a:rPr>
              <a:t>K</a:t>
            </a:r>
            <a:r>
              <a:rPr lang="en-US" sz="2400" b="1" baseline="-25000" dirty="0" err="1">
                <a:solidFill>
                  <a:srgbClr val="1D3064"/>
                </a:solidFill>
              </a:rPr>
              <a:t>e</a:t>
            </a:r>
            <a:r>
              <a:rPr lang="en-US" sz="2400" dirty="0"/>
              <a:t> = encryption key </a:t>
            </a:r>
          </a:p>
          <a:p>
            <a:pPr lvl="2"/>
            <a:r>
              <a:rPr lang="en-US" sz="2400" b="1" dirty="0">
                <a:solidFill>
                  <a:srgbClr val="1D3064"/>
                </a:solidFill>
              </a:rPr>
              <a:t>C</a:t>
            </a:r>
            <a:r>
              <a:rPr lang="en-US" sz="2400" dirty="0"/>
              <a:t> = resulting cipher text</a:t>
            </a:r>
          </a:p>
          <a:p>
            <a:pPr>
              <a:lnSpc>
                <a:spcPct val="100000"/>
              </a:lnSpc>
            </a:pPr>
            <a:r>
              <a:rPr lang="en-US" dirty="0"/>
              <a:t>The decryption algorithm is performed by the same matching function which has the following form: </a:t>
            </a:r>
            <a:r>
              <a:rPr lang="en-US" b="1" dirty="0">
                <a:solidFill>
                  <a:srgbClr val="1D3064"/>
                </a:solidFill>
              </a:rPr>
              <a:t>P = D(C, </a:t>
            </a:r>
            <a:r>
              <a:rPr lang="en-US" b="1" dirty="0" err="1">
                <a:solidFill>
                  <a:srgbClr val="1D3064"/>
                </a:solidFill>
              </a:rPr>
              <a:t>K</a:t>
            </a:r>
            <a:r>
              <a:rPr lang="en-US" b="1" baseline="-25000" dirty="0" err="1">
                <a:solidFill>
                  <a:srgbClr val="1D3064"/>
                </a:solidFill>
              </a:rPr>
              <a:t>d</a:t>
            </a:r>
            <a:r>
              <a:rPr lang="en-US" b="1" dirty="0">
                <a:solidFill>
                  <a:srgbClr val="1D3064"/>
                </a:solidFill>
              </a:rPr>
              <a:t>)</a:t>
            </a:r>
          </a:p>
          <a:p>
            <a:pPr>
              <a:lnSpc>
                <a:spcPct val="100000"/>
              </a:lnSpc>
            </a:pPr>
            <a:r>
              <a:rPr lang="en-US" dirty="0"/>
              <a:t>Where,</a:t>
            </a:r>
          </a:p>
          <a:p>
            <a:pPr lvl="2"/>
            <a:r>
              <a:rPr lang="en-US" sz="2400" b="1" dirty="0"/>
              <a:t>C</a:t>
            </a:r>
            <a:r>
              <a:rPr lang="en-US" sz="2400" dirty="0"/>
              <a:t> = cipher text to be decrypted </a:t>
            </a:r>
          </a:p>
          <a:p>
            <a:pPr lvl="2"/>
            <a:r>
              <a:rPr lang="en-US" sz="2400" b="1" dirty="0" err="1">
                <a:solidFill>
                  <a:srgbClr val="1D3064"/>
                </a:solidFill>
              </a:rPr>
              <a:t>K</a:t>
            </a:r>
            <a:r>
              <a:rPr lang="en-US" sz="2400" b="1" baseline="-25000" dirty="0" err="1">
                <a:solidFill>
                  <a:srgbClr val="1D3064"/>
                </a:solidFill>
              </a:rPr>
              <a:t>d</a:t>
            </a:r>
            <a:r>
              <a:rPr lang="en-US" sz="2400" dirty="0"/>
              <a:t> = decryption key </a:t>
            </a:r>
          </a:p>
          <a:p>
            <a:pPr lvl="2"/>
            <a:r>
              <a:rPr lang="en-US" sz="2400" b="1" dirty="0">
                <a:solidFill>
                  <a:srgbClr val="1D3064"/>
                </a:solidFill>
              </a:rPr>
              <a:t>P</a:t>
            </a:r>
            <a:r>
              <a:rPr lang="en-US" sz="2400" dirty="0"/>
              <a:t> = resulting plaintext</a:t>
            </a:r>
          </a:p>
        </p:txBody>
      </p:sp>
      <p:sp>
        <p:nvSpPr>
          <p:cNvPr id="4" name="Rectangle 3"/>
          <p:cNvSpPr/>
          <p:nvPr/>
        </p:nvSpPr>
        <p:spPr>
          <a:xfrm>
            <a:off x="7974107" y="1966976"/>
            <a:ext cx="1219200" cy="533400"/>
          </a:xfrm>
          <a:prstGeom prst="rect">
            <a:avLst/>
          </a:prstGeom>
          <a:ln>
            <a:solidFill>
              <a:schemeClr val="tx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Break</a:t>
            </a:r>
          </a:p>
        </p:txBody>
      </p:sp>
      <p:sp>
        <p:nvSpPr>
          <p:cNvPr id="5" name="Rectangle 4"/>
          <p:cNvSpPr/>
          <p:nvPr/>
        </p:nvSpPr>
        <p:spPr>
          <a:xfrm>
            <a:off x="6499411" y="3024814"/>
            <a:ext cx="1219200" cy="533400"/>
          </a:xfrm>
          <a:prstGeom prst="rect">
            <a:avLst/>
          </a:prstGeom>
          <a:solidFill>
            <a:schemeClr val="accent6"/>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solidFill>
                  <a:schemeClr val="bg1"/>
                </a:solidFill>
              </a:rPr>
              <a:t>Encrypt</a:t>
            </a:r>
          </a:p>
        </p:txBody>
      </p:sp>
      <p:sp>
        <p:nvSpPr>
          <p:cNvPr id="6" name="Rectangle 5"/>
          <p:cNvSpPr/>
          <p:nvPr/>
        </p:nvSpPr>
        <p:spPr>
          <a:xfrm>
            <a:off x="9592238" y="3024814"/>
            <a:ext cx="1219200" cy="533400"/>
          </a:xfrm>
          <a:prstGeom prst="rect">
            <a:avLst/>
          </a:prstGeom>
          <a:solidFill>
            <a:schemeClr val="accent4"/>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solidFill>
                  <a:schemeClr val="bg1"/>
                </a:solidFill>
              </a:rPr>
              <a:t>Decrypt</a:t>
            </a:r>
          </a:p>
        </p:txBody>
      </p:sp>
      <p:cxnSp>
        <p:nvCxnSpPr>
          <p:cNvPr id="7" name="Straight Arrow Connector 6"/>
          <p:cNvCxnSpPr>
            <a:endCxn id="4" idx="1"/>
          </p:cNvCxnSpPr>
          <p:nvPr/>
        </p:nvCxnSpPr>
        <p:spPr>
          <a:xfrm>
            <a:off x="6907307" y="2233676"/>
            <a:ext cx="1066800" cy="0"/>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a:stCxn id="4" idx="3"/>
          </p:cNvCxnSpPr>
          <p:nvPr/>
        </p:nvCxnSpPr>
        <p:spPr>
          <a:xfrm>
            <a:off x="9193307" y="2233676"/>
            <a:ext cx="1066800" cy="0"/>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5" idx="3"/>
            <a:endCxn id="6" idx="1"/>
          </p:cNvCxnSpPr>
          <p:nvPr/>
        </p:nvCxnSpPr>
        <p:spPr>
          <a:xfrm>
            <a:off x="7718611" y="3291514"/>
            <a:ext cx="1873627" cy="0"/>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endCxn id="4" idx="2"/>
          </p:cNvCxnSpPr>
          <p:nvPr/>
        </p:nvCxnSpPr>
        <p:spPr>
          <a:xfrm flipV="1">
            <a:off x="8565777" y="2500376"/>
            <a:ext cx="17930" cy="791138"/>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5432611" y="3291514"/>
            <a:ext cx="1066800" cy="0"/>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10811438" y="3291514"/>
            <a:ext cx="1066800" cy="0"/>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V="1">
            <a:off x="7101637" y="3558214"/>
            <a:ext cx="2458" cy="533400"/>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V="1">
            <a:off x="10201838" y="3558214"/>
            <a:ext cx="2458" cy="533400"/>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8437673" y="1610860"/>
            <a:ext cx="304892" cy="400110"/>
          </a:xfrm>
          <a:prstGeom prst="rect">
            <a:avLst/>
          </a:prstGeom>
          <a:noFill/>
        </p:spPr>
        <p:txBody>
          <a:bodyPr wrap="none" rtlCol="0">
            <a:spAutoFit/>
          </a:bodyPr>
          <a:lstStyle/>
          <a:p>
            <a:r>
              <a:rPr lang="en-US" sz="2000" dirty="0"/>
              <a:t>Z</a:t>
            </a:r>
          </a:p>
        </p:txBody>
      </p:sp>
      <p:sp>
        <p:nvSpPr>
          <p:cNvPr id="16" name="TextBox 15"/>
          <p:cNvSpPr txBox="1"/>
          <p:nvPr/>
        </p:nvSpPr>
        <p:spPr>
          <a:xfrm>
            <a:off x="6962977" y="2655482"/>
            <a:ext cx="317716" cy="400110"/>
          </a:xfrm>
          <a:prstGeom prst="rect">
            <a:avLst/>
          </a:prstGeom>
          <a:noFill/>
        </p:spPr>
        <p:txBody>
          <a:bodyPr wrap="none" rtlCol="0">
            <a:spAutoFit/>
          </a:bodyPr>
          <a:lstStyle/>
          <a:p>
            <a:r>
              <a:rPr lang="en-US" sz="2000" dirty="0"/>
              <a:t>X</a:t>
            </a:r>
          </a:p>
        </p:txBody>
      </p:sp>
      <p:sp>
        <p:nvSpPr>
          <p:cNvPr id="17" name="TextBox 16"/>
          <p:cNvSpPr txBox="1"/>
          <p:nvPr/>
        </p:nvSpPr>
        <p:spPr>
          <a:xfrm>
            <a:off x="10049392" y="2674835"/>
            <a:ext cx="309700" cy="400110"/>
          </a:xfrm>
          <a:prstGeom prst="rect">
            <a:avLst/>
          </a:prstGeom>
          <a:noFill/>
        </p:spPr>
        <p:txBody>
          <a:bodyPr wrap="none" rtlCol="0">
            <a:spAutoFit/>
          </a:bodyPr>
          <a:lstStyle/>
          <a:p>
            <a:r>
              <a:rPr lang="en-US" sz="2000" dirty="0"/>
              <a:t>Y</a:t>
            </a:r>
          </a:p>
        </p:txBody>
      </p:sp>
      <p:sp>
        <p:nvSpPr>
          <p:cNvPr id="18" name="TextBox 17"/>
          <p:cNvSpPr txBox="1"/>
          <p:nvPr/>
        </p:nvSpPr>
        <p:spPr>
          <a:xfrm>
            <a:off x="6086619" y="1549244"/>
            <a:ext cx="1416157" cy="707886"/>
          </a:xfrm>
          <a:prstGeom prst="rect">
            <a:avLst/>
          </a:prstGeom>
          <a:noFill/>
        </p:spPr>
        <p:txBody>
          <a:bodyPr wrap="none" rtlCol="0">
            <a:spAutoFit/>
          </a:bodyPr>
          <a:lstStyle/>
          <a:p>
            <a:pPr algn="ctr"/>
            <a:r>
              <a:rPr lang="en-US" sz="2000" dirty="0"/>
              <a:t>Side </a:t>
            </a:r>
          </a:p>
          <a:p>
            <a:pPr algn="ctr"/>
            <a:r>
              <a:rPr lang="en-US" sz="2000" dirty="0"/>
              <a:t>information</a:t>
            </a:r>
          </a:p>
        </p:txBody>
      </p:sp>
      <p:sp>
        <p:nvSpPr>
          <p:cNvPr id="19" name="TextBox 18"/>
          <p:cNvSpPr txBox="1"/>
          <p:nvPr/>
        </p:nvSpPr>
        <p:spPr>
          <a:xfrm>
            <a:off x="9616134" y="1568294"/>
            <a:ext cx="1098122" cy="707886"/>
          </a:xfrm>
          <a:prstGeom prst="rect">
            <a:avLst/>
          </a:prstGeom>
          <a:noFill/>
        </p:spPr>
        <p:txBody>
          <a:bodyPr wrap="none" rtlCol="0">
            <a:spAutoFit/>
          </a:bodyPr>
          <a:lstStyle/>
          <a:p>
            <a:pPr algn="ctr"/>
            <a:r>
              <a:rPr lang="en-US" sz="2000" dirty="0"/>
              <a:t>Plaintext</a:t>
            </a:r>
          </a:p>
          <a:p>
            <a:pPr algn="ctr"/>
            <a:r>
              <a:rPr lang="en-US" sz="2000" dirty="0"/>
              <a:t>M</a:t>
            </a:r>
          </a:p>
        </p:txBody>
      </p:sp>
      <p:sp>
        <p:nvSpPr>
          <p:cNvPr id="20" name="TextBox 19"/>
          <p:cNvSpPr txBox="1"/>
          <p:nvPr/>
        </p:nvSpPr>
        <p:spPr>
          <a:xfrm>
            <a:off x="7876191" y="3329614"/>
            <a:ext cx="1467581" cy="400110"/>
          </a:xfrm>
          <a:prstGeom prst="rect">
            <a:avLst/>
          </a:prstGeom>
          <a:noFill/>
        </p:spPr>
        <p:txBody>
          <a:bodyPr wrap="none" rtlCol="0">
            <a:spAutoFit/>
          </a:bodyPr>
          <a:lstStyle/>
          <a:p>
            <a:pPr algn="ctr"/>
            <a:r>
              <a:rPr lang="en-US" sz="2000" dirty="0"/>
              <a:t>Ciphertext C</a:t>
            </a:r>
          </a:p>
        </p:txBody>
      </p:sp>
      <p:sp>
        <p:nvSpPr>
          <p:cNvPr id="21" name="TextBox 20"/>
          <p:cNvSpPr txBox="1"/>
          <p:nvPr/>
        </p:nvSpPr>
        <p:spPr>
          <a:xfrm>
            <a:off x="5100859" y="2824759"/>
            <a:ext cx="1375441" cy="400110"/>
          </a:xfrm>
          <a:prstGeom prst="rect">
            <a:avLst/>
          </a:prstGeom>
          <a:noFill/>
        </p:spPr>
        <p:txBody>
          <a:bodyPr wrap="none" rtlCol="0">
            <a:spAutoFit/>
          </a:bodyPr>
          <a:lstStyle/>
          <a:p>
            <a:pPr algn="ctr"/>
            <a:r>
              <a:rPr lang="en-US" sz="2000" dirty="0">
                <a:solidFill>
                  <a:srgbClr val="1D3064"/>
                </a:solidFill>
              </a:rPr>
              <a:t>Plaintext M</a:t>
            </a:r>
          </a:p>
        </p:txBody>
      </p:sp>
      <p:sp>
        <p:nvSpPr>
          <p:cNvPr id="22" name="TextBox 21"/>
          <p:cNvSpPr txBox="1"/>
          <p:nvPr/>
        </p:nvSpPr>
        <p:spPr>
          <a:xfrm>
            <a:off x="10778141" y="2857751"/>
            <a:ext cx="1375441" cy="400110"/>
          </a:xfrm>
          <a:prstGeom prst="rect">
            <a:avLst/>
          </a:prstGeom>
          <a:noFill/>
        </p:spPr>
        <p:txBody>
          <a:bodyPr wrap="none" rtlCol="0">
            <a:spAutoFit/>
          </a:bodyPr>
          <a:lstStyle/>
          <a:p>
            <a:pPr algn="ctr"/>
            <a:r>
              <a:rPr lang="en-US" sz="2000" dirty="0">
                <a:solidFill>
                  <a:srgbClr val="1D3064"/>
                </a:solidFill>
              </a:rPr>
              <a:t>Plaintext M</a:t>
            </a:r>
          </a:p>
        </p:txBody>
      </p:sp>
      <p:sp>
        <p:nvSpPr>
          <p:cNvPr id="23" name="TextBox 22"/>
          <p:cNvSpPr txBox="1"/>
          <p:nvPr/>
        </p:nvSpPr>
        <p:spPr>
          <a:xfrm>
            <a:off x="6482880" y="4014525"/>
            <a:ext cx="1252266" cy="707886"/>
          </a:xfrm>
          <a:prstGeom prst="rect">
            <a:avLst/>
          </a:prstGeom>
          <a:noFill/>
        </p:spPr>
        <p:txBody>
          <a:bodyPr wrap="none" rtlCol="0">
            <a:spAutoFit/>
          </a:bodyPr>
          <a:lstStyle/>
          <a:p>
            <a:pPr algn="ctr"/>
            <a:r>
              <a:rPr lang="en-US" sz="2000" dirty="0">
                <a:solidFill>
                  <a:schemeClr val="accent6"/>
                </a:solidFill>
              </a:rPr>
              <a:t>Encryption</a:t>
            </a:r>
          </a:p>
          <a:p>
            <a:pPr algn="ctr"/>
            <a:r>
              <a:rPr lang="en-US" sz="2000" dirty="0">
                <a:solidFill>
                  <a:schemeClr val="accent6"/>
                </a:solidFill>
              </a:rPr>
              <a:t>Key</a:t>
            </a:r>
          </a:p>
        </p:txBody>
      </p:sp>
      <p:sp>
        <p:nvSpPr>
          <p:cNvPr id="24" name="TextBox 23"/>
          <p:cNvSpPr txBox="1"/>
          <p:nvPr/>
        </p:nvSpPr>
        <p:spPr>
          <a:xfrm>
            <a:off x="9596351" y="4014525"/>
            <a:ext cx="1268296" cy="707886"/>
          </a:xfrm>
          <a:prstGeom prst="rect">
            <a:avLst/>
          </a:prstGeom>
          <a:noFill/>
        </p:spPr>
        <p:txBody>
          <a:bodyPr wrap="none" rtlCol="0">
            <a:spAutoFit/>
          </a:bodyPr>
          <a:lstStyle/>
          <a:p>
            <a:pPr algn="ctr"/>
            <a:r>
              <a:rPr lang="en-US" sz="2000" dirty="0">
                <a:solidFill>
                  <a:schemeClr val="accent4"/>
                </a:solidFill>
              </a:rPr>
              <a:t>Decryption</a:t>
            </a:r>
          </a:p>
          <a:p>
            <a:pPr algn="ctr"/>
            <a:r>
              <a:rPr lang="en-US" sz="2000" dirty="0">
                <a:solidFill>
                  <a:schemeClr val="accent4"/>
                </a:solidFill>
              </a:rPr>
              <a:t>Key</a:t>
            </a:r>
          </a:p>
        </p:txBody>
      </p:sp>
      <p:cxnSp>
        <p:nvCxnSpPr>
          <p:cNvPr id="26" name="Straight Connector 25"/>
          <p:cNvCxnSpPr/>
          <p:nvPr/>
        </p:nvCxnSpPr>
        <p:spPr>
          <a:xfrm>
            <a:off x="5148304" y="863444"/>
            <a:ext cx="0" cy="559056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2212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left)">
                                      <p:cBhvr>
                                        <p:cTn id="10" dur="5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wipe(down)">
                                      <p:cBhvr>
                                        <p:cTn id="15" dur="500"/>
                                        <p:tgtEl>
                                          <p:spTgt spid="16"/>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down)">
                                      <p:cBhvr>
                                        <p:cTn id="18" dur="500"/>
                                        <p:tgtEl>
                                          <p:spTgt spid="5"/>
                                        </p:tgtEl>
                                      </p:cBhvr>
                                    </p:animEffect>
                                  </p:childTnLst>
                                </p:cTn>
                              </p:par>
                              <p:par>
                                <p:cTn id="19" presetID="22" presetClass="entr" presetSubtype="4"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down)">
                                      <p:cBhvr>
                                        <p:cTn id="21" dur="500"/>
                                        <p:tgtEl>
                                          <p:spTgt spid="13"/>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wipe(down)">
                                      <p:cBhvr>
                                        <p:cTn id="24" dur="500"/>
                                        <p:tgtEl>
                                          <p:spTgt spid="23"/>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wipe(left)">
                                      <p:cBhvr>
                                        <p:cTn id="29" dur="500"/>
                                        <p:tgtEl>
                                          <p:spTgt spid="9"/>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left)">
                                      <p:cBhvr>
                                        <p:cTn id="32" dur="500"/>
                                        <p:tgtEl>
                                          <p:spTgt spid="6"/>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wipe(left)">
                                      <p:cBhvr>
                                        <p:cTn id="35" dur="500"/>
                                        <p:tgtEl>
                                          <p:spTgt spid="17"/>
                                        </p:tgtEl>
                                      </p:cBhvr>
                                    </p:animEffect>
                                  </p:childTnLst>
                                </p:cTn>
                              </p:par>
                              <p:par>
                                <p:cTn id="36" presetID="22" presetClass="entr" presetSubtype="8" fill="hold"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wipe(left)">
                                      <p:cBhvr>
                                        <p:cTn id="38" dur="500"/>
                                        <p:tgtEl>
                                          <p:spTgt spid="14"/>
                                        </p:tgtEl>
                                      </p:cBhvr>
                                    </p:animEffect>
                                  </p:childTnLst>
                                </p:cTn>
                              </p:par>
                              <p:par>
                                <p:cTn id="39" presetID="22" presetClass="entr" presetSubtype="8"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wipe(left)">
                                      <p:cBhvr>
                                        <p:cTn id="41" dur="500"/>
                                        <p:tgtEl>
                                          <p:spTgt spid="24"/>
                                        </p:tgtEl>
                                      </p:cBhvr>
                                    </p:animEffect>
                                  </p:childTnLst>
                                </p:cTn>
                              </p:par>
                              <p:par>
                                <p:cTn id="42" presetID="22" presetClass="entr" presetSubtype="8" fill="hold"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wipe(left)">
                                      <p:cBhvr>
                                        <p:cTn id="44" dur="500"/>
                                        <p:tgtEl>
                                          <p:spTgt spid="12"/>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wipe(left)">
                                      <p:cBhvr>
                                        <p:cTn id="47" dur="500"/>
                                        <p:tgtEl>
                                          <p:spTgt spid="22"/>
                                        </p:tgtEl>
                                      </p:cBhvr>
                                    </p:animEffect>
                                  </p:childTnLst>
                                </p:cTn>
                              </p:par>
                              <p:par>
                                <p:cTn id="48" presetID="22" presetClass="entr" presetSubtype="4"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wipe(down)">
                                      <p:cBhvr>
                                        <p:cTn id="50" dur="500"/>
                                        <p:tgtEl>
                                          <p:spTgt spid="20"/>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nodeType="clickEffect">
                                  <p:stCondLst>
                                    <p:cond delay="0"/>
                                  </p:stCondLst>
                                  <p:childTnLst>
                                    <p:set>
                                      <p:cBhvr>
                                        <p:cTn id="54" dur="1" fill="hold">
                                          <p:stCondLst>
                                            <p:cond delay="0"/>
                                          </p:stCondLst>
                                        </p:cTn>
                                        <p:tgtEl>
                                          <p:spTgt spid="10"/>
                                        </p:tgtEl>
                                        <p:attrNameLst>
                                          <p:attrName>style.visibility</p:attrName>
                                        </p:attrNameLst>
                                      </p:cBhvr>
                                      <p:to>
                                        <p:strVal val="visible"/>
                                      </p:to>
                                    </p:set>
                                    <p:animEffect transition="in" filter="wipe(down)">
                                      <p:cBhvr>
                                        <p:cTn id="55" dur="500"/>
                                        <p:tgtEl>
                                          <p:spTgt spid="10"/>
                                        </p:tgtEl>
                                      </p:cBhvr>
                                    </p:animEffect>
                                  </p:childTnLst>
                                </p:cTn>
                              </p:par>
                              <p:par>
                                <p:cTn id="56" presetID="22" presetClass="entr" presetSubtype="4" fill="hold" grpId="0" nodeType="withEffect">
                                  <p:stCondLst>
                                    <p:cond delay="0"/>
                                  </p:stCondLst>
                                  <p:childTnLst>
                                    <p:set>
                                      <p:cBhvr>
                                        <p:cTn id="57" dur="1" fill="hold">
                                          <p:stCondLst>
                                            <p:cond delay="0"/>
                                          </p:stCondLst>
                                        </p:cTn>
                                        <p:tgtEl>
                                          <p:spTgt spid="4"/>
                                        </p:tgtEl>
                                        <p:attrNameLst>
                                          <p:attrName>style.visibility</p:attrName>
                                        </p:attrNameLst>
                                      </p:cBhvr>
                                      <p:to>
                                        <p:strVal val="visible"/>
                                      </p:to>
                                    </p:set>
                                    <p:animEffect transition="in" filter="wipe(down)">
                                      <p:cBhvr>
                                        <p:cTn id="58" dur="500"/>
                                        <p:tgtEl>
                                          <p:spTgt spid="4"/>
                                        </p:tgtEl>
                                      </p:cBhvr>
                                    </p:animEffect>
                                  </p:childTnLst>
                                </p:cTn>
                              </p:par>
                              <p:par>
                                <p:cTn id="59" presetID="22" presetClass="entr" presetSubtype="4" fill="hold" grpId="0" nodeType="with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wipe(down)">
                                      <p:cBhvr>
                                        <p:cTn id="61" dur="500"/>
                                        <p:tgtEl>
                                          <p:spTgt spid="15"/>
                                        </p:tgtEl>
                                      </p:cBhvr>
                                    </p:animEffect>
                                  </p:childTnLst>
                                </p:cTn>
                              </p:par>
                              <p:par>
                                <p:cTn id="62" presetID="22" presetClass="entr" presetSubtype="4" fill="hold" grpId="0" nodeType="with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wipe(down)">
                                      <p:cBhvr>
                                        <p:cTn id="64" dur="500"/>
                                        <p:tgtEl>
                                          <p:spTgt spid="18"/>
                                        </p:tgtEl>
                                      </p:cBhvr>
                                    </p:animEffect>
                                  </p:childTnLst>
                                </p:cTn>
                              </p:par>
                              <p:par>
                                <p:cTn id="65" presetID="22" presetClass="entr" presetSubtype="4" fill="hold" nodeType="withEffect">
                                  <p:stCondLst>
                                    <p:cond delay="0"/>
                                  </p:stCondLst>
                                  <p:childTnLst>
                                    <p:set>
                                      <p:cBhvr>
                                        <p:cTn id="66" dur="1" fill="hold">
                                          <p:stCondLst>
                                            <p:cond delay="0"/>
                                          </p:stCondLst>
                                        </p:cTn>
                                        <p:tgtEl>
                                          <p:spTgt spid="7"/>
                                        </p:tgtEl>
                                        <p:attrNameLst>
                                          <p:attrName>style.visibility</p:attrName>
                                        </p:attrNameLst>
                                      </p:cBhvr>
                                      <p:to>
                                        <p:strVal val="visible"/>
                                      </p:to>
                                    </p:set>
                                    <p:animEffect transition="in" filter="wipe(down)">
                                      <p:cBhvr>
                                        <p:cTn id="67" dur="500"/>
                                        <p:tgtEl>
                                          <p:spTgt spid="7"/>
                                        </p:tgtEl>
                                      </p:cBhvr>
                                    </p:animEffect>
                                  </p:childTnLst>
                                </p:cTn>
                              </p:par>
                              <p:par>
                                <p:cTn id="68" presetID="22" presetClass="entr" presetSubtype="4" fill="hold" grpId="0" nodeType="with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wipe(down)">
                                      <p:cBhvr>
                                        <p:cTn id="70" dur="500"/>
                                        <p:tgtEl>
                                          <p:spTgt spid="19"/>
                                        </p:tgtEl>
                                      </p:cBhvr>
                                    </p:animEffect>
                                  </p:childTnLst>
                                </p:cTn>
                              </p:par>
                              <p:par>
                                <p:cTn id="71" presetID="22" presetClass="entr" presetSubtype="4" fill="hold" nodeType="withEffect">
                                  <p:stCondLst>
                                    <p:cond delay="0"/>
                                  </p:stCondLst>
                                  <p:childTnLst>
                                    <p:set>
                                      <p:cBhvr>
                                        <p:cTn id="72" dur="1" fill="hold">
                                          <p:stCondLst>
                                            <p:cond delay="0"/>
                                          </p:stCondLst>
                                        </p:cTn>
                                        <p:tgtEl>
                                          <p:spTgt spid="8"/>
                                        </p:tgtEl>
                                        <p:attrNameLst>
                                          <p:attrName>style.visibility</p:attrName>
                                        </p:attrNameLst>
                                      </p:cBhvr>
                                      <p:to>
                                        <p:strVal val="visible"/>
                                      </p:to>
                                    </p:set>
                                    <p:animEffect transition="in" filter="wipe(down)">
                                      <p:cBhvr>
                                        <p:cTn id="73" dur="500"/>
                                        <p:tgtEl>
                                          <p:spTgt spid="8"/>
                                        </p:tgtEl>
                                      </p:cBhvr>
                                    </p:animEffec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nodeType="clickEffect">
                                  <p:stCondLst>
                                    <p:cond delay="0"/>
                                  </p:stCondLst>
                                  <p:childTnLst>
                                    <p:set>
                                      <p:cBhvr>
                                        <p:cTn id="77"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nodeType="clickEffect">
                                  <p:stCondLst>
                                    <p:cond delay="0"/>
                                  </p:stCondLst>
                                  <p:childTnLst>
                                    <p:set>
                                      <p:cBhvr>
                                        <p:cTn id="81"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nodeType="clickEffect">
                                  <p:stCondLst>
                                    <p:cond delay="0"/>
                                  </p:stCondLst>
                                  <p:childTnLst>
                                    <p:set>
                                      <p:cBhvr>
                                        <p:cTn id="89"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clickEffect">
                                  <p:stCondLst>
                                    <p:cond delay="0"/>
                                  </p:stCondLst>
                                  <p:childTnLst>
                                    <p:set>
                                      <p:cBhvr>
                                        <p:cTn id="93"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nodeType="clickEffect">
                                  <p:stCondLst>
                                    <p:cond delay="0"/>
                                  </p:stCondLst>
                                  <p:childTnLst>
                                    <p:set>
                                      <p:cBhvr>
                                        <p:cTn id="97"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98" fill="hold">
                      <p:stCondLst>
                        <p:cond delay="indefinite"/>
                      </p:stCondLst>
                      <p:childTnLst>
                        <p:par>
                          <p:cTn id="99" fill="hold">
                            <p:stCondLst>
                              <p:cond delay="0"/>
                            </p:stCondLst>
                            <p:childTnLst>
                              <p:par>
                                <p:cTn id="100" presetID="1" presetClass="entr" presetSubtype="0" fill="hold" nodeType="clickEffect">
                                  <p:stCondLst>
                                    <p:cond delay="0"/>
                                  </p:stCondLst>
                                  <p:childTnLst>
                                    <p:set>
                                      <p:cBhvr>
                                        <p:cTn id="101"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02" fill="hold">
                      <p:stCondLst>
                        <p:cond delay="indefinite"/>
                      </p:stCondLst>
                      <p:childTnLst>
                        <p:par>
                          <p:cTn id="103" fill="hold">
                            <p:stCondLst>
                              <p:cond delay="0"/>
                            </p:stCondLst>
                            <p:childTnLst>
                              <p:par>
                                <p:cTn id="104" presetID="1" presetClass="entr" presetSubtype="0" fill="hold" nodeType="clickEffect">
                                  <p:stCondLst>
                                    <p:cond delay="0"/>
                                  </p:stCondLst>
                                  <p:childTnLst>
                                    <p:set>
                                      <p:cBhvr>
                                        <p:cTn id="105"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1" presetClass="entr" presetSubtype="0" fill="hold" nodeType="clickEffect">
                                  <p:stCondLst>
                                    <p:cond delay="0"/>
                                  </p:stCondLst>
                                  <p:childTnLst>
                                    <p:set>
                                      <p:cBhvr>
                                        <p:cTn id="109"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clickEffect">
                                  <p:stCondLst>
                                    <p:cond delay="0"/>
                                  </p:stCondLst>
                                  <p:childTnLst>
                                    <p:set>
                                      <p:cBhvr>
                                        <p:cTn id="113"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15" grpId="0"/>
      <p:bldP spid="16" grpId="0"/>
      <p:bldP spid="17" grpId="0"/>
      <p:bldP spid="18" grpId="0"/>
      <p:bldP spid="19" grpId="0"/>
      <p:bldP spid="20" grpId="0"/>
      <p:bldP spid="21" grpId="0"/>
      <p:bldP spid="22" grpId="0"/>
      <p:bldP spid="23" grpId="0"/>
      <p:bldP spid="2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Cryptographic systems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dirty="0"/>
              <a:t>Cryptography is the study of techniques for secure communication in the presence of third parties</a:t>
            </a:r>
          </a:p>
          <a:p>
            <a:pPr marL="0" indent="0">
              <a:buNone/>
            </a:pPr>
            <a:endParaRPr lang="en-US" dirty="0"/>
          </a:p>
        </p:txBody>
      </p:sp>
      <p:sp>
        <p:nvSpPr>
          <p:cNvPr id="4" name="Rectangle 3"/>
          <p:cNvSpPr/>
          <p:nvPr/>
        </p:nvSpPr>
        <p:spPr>
          <a:xfrm>
            <a:off x="7196448" y="2100902"/>
            <a:ext cx="1866900" cy="609600"/>
          </a:xfrm>
          <a:prstGeom prst="rect">
            <a:avLst/>
          </a:prstGeom>
        </p:spPr>
        <p:style>
          <a:lnRef idx="0">
            <a:schemeClr val="accent1"/>
          </a:lnRef>
          <a:fillRef idx="3">
            <a:schemeClr val="accent1"/>
          </a:fillRef>
          <a:effectRef idx="3">
            <a:schemeClr val="accent1"/>
          </a:effectRef>
          <a:fontRef idx="minor">
            <a:schemeClr val="lt1"/>
          </a:fontRef>
        </p:style>
        <p:txBody>
          <a:bodyPr rtlCol="0" anchor="b"/>
          <a:lstStyle/>
          <a:p>
            <a:pPr algn="r"/>
            <a:r>
              <a:rPr lang="en-US" sz="1400" b="1" dirty="0" smtClean="0">
                <a:solidFill>
                  <a:schemeClr val="bg1"/>
                </a:solidFill>
                <a:latin typeface="+mj-lt"/>
              </a:rPr>
              <a:t>Intruder</a:t>
            </a:r>
            <a:endParaRPr lang="en-US" sz="1200" b="1" dirty="0">
              <a:solidFill>
                <a:schemeClr val="bg1"/>
              </a:solidFill>
              <a:latin typeface="+mj-lt"/>
            </a:endParaRPr>
          </a:p>
        </p:txBody>
      </p:sp>
      <p:sp>
        <p:nvSpPr>
          <p:cNvPr id="5" name="Rectangle 4"/>
          <p:cNvSpPr/>
          <p:nvPr/>
        </p:nvSpPr>
        <p:spPr>
          <a:xfrm>
            <a:off x="3085084" y="2014490"/>
            <a:ext cx="1866900" cy="609600"/>
          </a:xfrm>
          <a:prstGeom prst="rect">
            <a:avLst/>
          </a:prstGeom>
        </p:spPr>
        <p:style>
          <a:lnRef idx="0">
            <a:schemeClr val="accent1"/>
          </a:lnRef>
          <a:fillRef idx="3">
            <a:schemeClr val="accent1"/>
          </a:fillRef>
          <a:effectRef idx="3">
            <a:schemeClr val="accent1"/>
          </a:effectRef>
          <a:fontRef idx="minor">
            <a:schemeClr val="lt1"/>
          </a:fontRef>
        </p:style>
        <p:txBody>
          <a:bodyPr rtlCol="0" anchor="b"/>
          <a:lstStyle/>
          <a:p>
            <a:r>
              <a:rPr lang="en-US" sz="1400" b="1" dirty="0" smtClean="0">
                <a:solidFill>
                  <a:schemeClr val="bg1"/>
                </a:solidFill>
                <a:latin typeface="+mj-lt"/>
              </a:rPr>
              <a:t>Intruder</a:t>
            </a:r>
            <a:endParaRPr lang="en-US" sz="1200" b="1" dirty="0">
              <a:solidFill>
                <a:schemeClr val="bg1"/>
              </a:solidFill>
              <a:latin typeface="+mj-lt"/>
            </a:endParaRPr>
          </a:p>
        </p:txBody>
      </p:sp>
      <p:sp>
        <p:nvSpPr>
          <p:cNvPr id="6" name="Can 5"/>
          <p:cNvSpPr/>
          <p:nvPr/>
        </p:nvSpPr>
        <p:spPr>
          <a:xfrm rot="16200000">
            <a:off x="5565027" y="-119702"/>
            <a:ext cx="465050" cy="6667501"/>
          </a:xfrm>
          <a:prstGeom prst="can">
            <a:avLst/>
          </a:prstGeom>
          <a:solidFill>
            <a:schemeClr val="accent6">
              <a:alpha val="20000"/>
            </a:schemeClr>
          </a:solidFill>
          <a:ln w="9525"/>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latin typeface="+mj-lt"/>
            </a:endParaRPr>
          </a:p>
        </p:txBody>
      </p:sp>
      <p:sp>
        <p:nvSpPr>
          <p:cNvPr id="8" name="Rectangle 7"/>
          <p:cNvSpPr/>
          <p:nvPr/>
        </p:nvSpPr>
        <p:spPr>
          <a:xfrm>
            <a:off x="2082800" y="3743523"/>
            <a:ext cx="2438400" cy="1447800"/>
          </a:xfrm>
          <a:prstGeom prst="rect">
            <a:avLst/>
          </a:prstGeom>
          <a:ln>
            <a:solidFill>
              <a:srgbClr val="1D3064"/>
            </a:solidFill>
          </a:ln>
        </p:spPr>
        <p:style>
          <a:lnRef idx="0">
            <a:schemeClr val="accent1"/>
          </a:lnRef>
          <a:fillRef idx="1001">
            <a:schemeClr val="lt2"/>
          </a:fillRef>
          <a:effectRef idx="3">
            <a:schemeClr val="accent1"/>
          </a:effectRef>
          <a:fontRef idx="minor">
            <a:schemeClr val="lt1"/>
          </a:fontRef>
        </p:style>
        <p:txBody>
          <a:bodyPr rtlCol="0" anchor="b"/>
          <a:lstStyle/>
          <a:p>
            <a:r>
              <a:rPr lang="en-US" dirty="0" smtClean="0">
                <a:solidFill>
                  <a:schemeClr val="tx1"/>
                </a:solidFill>
                <a:latin typeface="+mj-lt"/>
              </a:rPr>
              <a:t>Sender</a:t>
            </a:r>
            <a:endParaRPr lang="en-US" dirty="0">
              <a:solidFill>
                <a:schemeClr val="tx1"/>
              </a:solidFill>
              <a:latin typeface="+mj-lt"/>
            </a:endParaRPr>
          </a:p>
        </p:txBody>
      </p:sp>
      <p:sp>
        <p:nvSpPr>
          <p:cNvPr id="9" name="Rectangle 8"/>
          <p:cNvSpPr/>
          <p:nvPr/>
        </p:nvSpPr>
        <p:spPr>
          <a:xfrm>
            <a:off x="7264400" y="3743523"/>
            <a:ext cx="2514600" cy="1447800"/>
          </a:xfrm>
          <a:prstGeom prst="rect">
            <a:avLst/>
          </a:prstGeom>
          <a:ln>
            <a:solidFill>
              <a:srgbClr val="1D3064"/>
            </a:solidFill>
          </a:ln>
        </p:spPr>
        <p:style>
          <a:lnRef idx="0">
            <a:schemeClr val="accent1"/>
          </a:lnRef>
          <a:fillRef idx="1001">
            <a:schemeClr val="lt2"/>
          </a:fillRef>
          <a:effectRef idx="3">
            <a:schemeClr val="accent1"/>
          </a:effectRef>
          <a:fontRef idx="minor">
            <a:schemeClr val="lt1"/>
          </a:fontRef>
        </p:style>
        <p:txBody>
          <a:bodyPr rtlCol="0" anchor="b"/>
          <a:lstStyle/>
          <a:p>
            <a:pPr algn="r"/>
            <a:r>
              <a:rPr lang="en-US" dirty="0" smtClean="0">
                <a:solidFill>
                  <a:schemeClr val="tx1"/>
                </a:solidFill>
                <a:latin typeface="+mj-lt"/>
              </a:rPr>
              <a:t>Receiver</a:t>
            </a:r>
            <a:endParaRPr lang="en-US" dirty="0">
              <a:solidFill>
                <a:schemeClr val="tx1"/>
              </a:solidFill>
              <a:latin typeface="+mj-lt"/>
            </a:endParaRPr>
          </a:p>
        </p:txBody>
      </p:sp>
      <p:sp>
        <p:nvSpPr>
          <p:cNvPr id="10" name="Rectangle 9"/>
          <p:cNvSpPr/>
          <p:nvPr/>
        </p:nvSpPr>
        <p:spPr>
          <a:xfrm>
            <a:off x="2235200" y="3972123"/>
            <a:ext cx="685800" cy="228600"/>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600" b="1" dirty="0" smtClean="0">
                <a:latin typeface="+mj-lt"/>
              </a:rPr>
              <a:t>P</a:t>
            </a:r>
            <a:endParaRPr lang="en-US" sz="1600" b="1" dirty="0">
              <a:latin typeface="+mj-lt"/>
            </a:endParaRPr>
          </a:p>
        </p:txBody>
      </p:sp>
      <p:sp>
        <p:nvSpPr>
          <p:cNvPr id="11" name="TextBox 10"/>
          <p:cNvSpPr txBox="1"/>
          <p:nvPr/>
        </p:nvSpPr>
        <p:spPr>
          <a:xfrm>
            <a:off x="863600" y="3172400"/>
            <a:ext cx="1714501" cy="338554"/>
          </a:xfrm>
          <a:prstGeom prst="rect">
            <a:avLst/>
          </a:prstGeom>
          <a:ln>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en-US" sz="1600" dirty="0" smtClean="0">
                <a:latin typeface="+mj-lt"/>
              </a:rPr>
              <a:t>Plain text message</a:t>
            </a:r>
            <a:endParaRPr lang="en-US" sz="1600" dirty="0">
              <a:latin typeface="+mj-lt"/>
            </a:endParaRPr>
          </a:p>
        </p:txBody>
      </p:sp>
      <p:cxnSp>
        <p:nvCxnSpPr>
          <p:cNvPr id="12" name="Straight Arrow Connector 11"/>
          <p:cNvCxnSpPr>
            <a:stCxn id="11" idx="2"/>
          </p:cNvCxnSpPr>
          <p:nvPr/>
        </p:nvCxnSpPr>
        <p:spPr>
          <a:xfrm>
            <a:off x="1720851" y="3510954"/>
            <a:ext cx="666749" cy="46116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3835400" y="4848423"/>
            <a:ext cx="609600" cy="266700"/>
          </a:xfrm>
          <a:prstGeom prst="rect">
            <a:avLst/>
          </a:prstGeom>
          <a:solidFill>
            <a:srgbClr val="00B050"/>
          </a:solidFill>
          <a:ln>
            <a:solidFill>
              <a:srgbClr val="00B05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600" dirty="0" smtClean="0">
                <a:solidFill>
                  <a:schemeClr val="tx1"/>
                </a:solidFill>
                <a:latin typeface="+mj-lt"/>
              </a:rPr>
              <a:t>K</a:t>
            </a:r>
            <a:endParaRPr lang="en-US" sz="1600" baseline="-25000" dirty="0">
              <a:solidFill>
                <a:schemeClr val="tx1"/>
              </a:solidFill>
              <a:latin typeface="+mj-lt"/>
            </a:endParaRPr>
          </a:p>
        </p:txBody>
      </p:sp>
      <p:sp>
        <p:nvSpPr>
          <p:cNvPr id="14" name="TextBox 13"/>
          <p:cNvSpPr txBox="1"/>
          <p:nvPr/>
        </p:nvSpPr>
        <p:spPr>
          <a:xfrm>
            <a:off x="3454400" y="5343723"/>
            <a:ext cx="1371600" cy="338554"/>
          </a:xfrm>
          <a:prstGeom prst="rect">
            <a:avLst/>
          </a:prstGeom>
          <a:ln>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en-US" sz="1600" dirty="0" smtClean="0">
                <a:latin typeface="+mj-lt"/>
              </a:rPr>
              <a:t>Encryption key</a:t>
            </a:r>
            <a:endParaRPr lang="en-US" sz="1600" dirty="0">
              <a:latin typeface="+mj-lt"/>
            </a:endParaRPr>
          </a:p>
        </p:txBody>
      </p:sp>
      <p:sp>
        <p:nvSpPr>
          <p:cNvPr id="15" name="Rectangle 14"/>
          <p:cNvSpPr/>
          <p:nvPr/>
        </p:nvSpPr>
        <p:spPr>
          <a:xfrm>
            <a:off x="3454400" y="3833871"/>
            <a:ext cx="990600" cy="633552"/>
          </a:xfrm>
          <a:prstGeom prst="rect">
            <a:avLst/>
          </a:prstGeom>
          <a:solidFill>
            <a:srgbClr val="0E3755"/>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1400" b="1" dirty="0" smtClean="0">
                <a:solidFill>
                  <a:schemeClr val="bg1"/>
                </a:solidFill>
                <a:latin typeface="+mj-lt"/>
              </a:rPr>
              <a:t>Encryption Algorithm</a:t>
            </a:r>
            <a:endParaRPr lang="en-US" sz="1400" b="1" dirty="0">
              <a:solidFill>
                <a:schemeClr val="bg1"/>
              </a:solidFill>
              <a:latin typeface="+mj-lt"/>
            </a:endParaRPr>
          </a:p>
        </p:txBody>
      </p:sp>
      <p:sp>
        <p:nvSpPr>
          <p:cNvPr id="16" name="Rectangle 15"/>
          <p:cNvSpPr/>
          <p:nvPr/>
        </p:nvSpPr>
        <p:spPr>
          <a:xfrm>
            <a:off x="5381396" y="3057723"/>
            <a:ext cx="968604" cy="316776"/>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600" b="1" dirty="0" smtClean="0">
                <a:solidFill>
                  <a:schemeClr val="bg1"/>
                </a:solidFill>
                <a:latin typeface="+mj-lt"/>
              </a:rPr>
              <a:t>C=E</a:t>
            </a:r>
            <a:r>
              <a:rPr lang="en-US" sz="1600" b="1" baseline="-25000" dirty="0" smtClean="0">
                <a:solidFill>
                  <a:schemeClr val="bg1"/>
                </a:solidFill>
                <a:latin typeface="+mj-lt"/>
              </a:rPr>
              <a:t>K</a:t>
            </a:r>
            <a:r>
              <a:rPr lang="en-US" sz="1600" b="1" dirty="0" smtClean="0">
                <a:solidFill>
                  <a:schemeClr val="bg1"/>
                </a:solidFill>
                <a:latin typeface="+mj-lt"/>
              </a:rPr>
              <a:t>(P)</a:t>
            </a:r>
            <a:endParaRPr lang="en-US" sz="1600" b="1" baseline="-25000" dirty="0">
              <a:solidFill>
                <a:schemeClr val="bg1"/>
              </a:solidFill>
              <a:latin typeface="+mj-lt"/>
            </a:endParaRPr>
          </a:p>
        </p:txBody>
      </p:sp>
      <p:cxnSp>
        <p:nvCxnSpPr>
          <p:cNvPr id="17" name="Straight Arrow Connector 16"/>
          <p:cNvCxnSpPr>
            <a:stCxn id="14" idx="0"/>
            <a:endCxn id="13" idx="2"/>
          </p:cNvCxnSpPr>
          <p:nvPr/>
        </p:nvCxnSpPr>
        <p:spPr>
          <a:xfrm flipV="1">
            <a:off x="4140200" y="5115123"/>
            <a:ext cx="0" cy="2286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5740400" y="4592329"/>
            <a:ext cx="1093902" cy="338554"/>
          </a:xfrm>
          <a:prstGeom prst="rect">
            <a:avLst/>
          </a:prstGeom>
          <a:ln>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en-US" sz="1600" dirty="0" smtClean="0">
                <a:latin typeface="+mj-lt"/>
              </a:rPr>
              <a:t>Cipher text</a:t>
            </a:r>
            <a:endParaRPr lang="en-US" sz="1600" dirty="0">
              <a:latin typeface="+mj-lt"/>
            </a:endParaRPr>
          </a:p>
        </p:txBody>
      </p:sp>
      <p:cxnSp>
        <p:nvCxnSpPr>
          <p:cNvPr id="19" name="Straight Arrow Connector 18"/>
          <p:cNvCxnSpPr>
            <a:stCxn id="18" idx="0"/>
            <a:endCxn id="16" idx="2"/>
          </p:cNvCxnSpPr>
          <p:nvPr/>
        </p:nvCxnSpPr>
        <p:spPr>
          <a:xfrm flipH="1" flipV="1">
            <a:off x="5865698" y="3374499"/>
            <a:ext cx="421653" cy="121783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7340600" y="3829150"/>
            <a:ext cx="990600" cy="633552"/>
          </a:xfrm>
          <a:prstGeom prst="rect">
            <a:avLst/>
          </a:prstGeom>
          <a:solidFill>
            <a:srgbClr val="0E3755"/>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1400" b="1" dirty="0" smtClean="0">
                <a:solidFill>
                  <a:schemeClr val="bg1"/>
                </a:solidFill>
                <a:latin typeface="+mj-lt"/>
              </a:rPr>
              <a:t>Decryption Algorithm</a:t>
            </a:r>
            <a:endParaRPr lang="en-US" sz="1400" b="1" dirty="0">
              <a:solidFill>
                <a:schemeClr val="bg1"/>
              </a:solidFill>
              <a:latin typeface="+mj-lt"/>
            </a:endParaRPr>
          </a:p>
        </p:txBody>
      </p:sp>
      <p:sp>
        <p:nvSpPr>
          <p:cNvPr id="21" name="Rectangle 20"/>
          <p:cNvSpPr/>
          <p:nvPr/>
        </p:nvSpPr>
        <p:spPr>
          <a:xfrm>
            <a:off x="7354740" y="4848423"/>
            <a:ext cx="609600" cy="266700"/>
          </a:xfrm>
          <a:prstGeom prst="rect">
            <a:avLst/>
          </a:prstGeom>
          <a:solidFill>
            <a:srgbClr val="00B050"/>
          </a:solidFill>
          <a:ln>
            <a:solidFill>
              <a:srgbClr val="00B05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600" dirty="0" smtClean="0">
                <a:solidFill>
                  <a:schemeClr val="tx1"/>
                </a:solidFill>
                <a:latin typeface="+mj-lt"/>
              </a:rPr>
              <a:t>K</a:t>
            </a:r>
            <a:endParaRPr lang="en-US" sz="1600" baseline="-25000" dirty="0">
              <a:solidFill>
                <a:schemeClr val="tx1"/>
              </a:solidFill>
              <a:latin typeface="+mj-lt"/>
            </a:endParaRPr>
          </a:p>
        </p:txBody>
      </p:sp>
      <p:sp>
        <p:nvSpPr>
          <p:cNvPr id="22" name="TextBox 21"/>
          <p:cNvSpPr txBox="1"/>
          <p:nvPr/>
        </p:nvSpPr>
        <p:spPr>
          <a:xfrm>
            <a:off x="6959600" y="5343723"/>
            <a:ext cx="1371600" cy="338554"/>
          </a:xfrm>
          <a:prstGeom prst="rect">
            <a:avLst/>
          </a:prstGeom>
          <a:ln>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en-US" sz="1600" dirty="0" smtClean="0">
                <a:latin typeface="+mj-lt"/>
              </a:rPr>
              <a:t>Decryption key</a:t>
            </a:r>
            <a:endParaRPr lang="en-US" sz="1600" dirty="0">
              <a:latin typeface="+mj-lt"/>
            </a:endParaRPr>
          </a:p>
        </p:txBody>
      </p:sp>
      <p:cxnSp>
        <p:nvCxnSpPr>
          <p:cNvPr id="23" name="Straight Arrow Connector 22"/>
          <p:cNvCxnSpPr>
            <a:stCxn id="22" idx="0"/>
            <a:endCxn id="21" idx="2"/>
          </p:cNvCxnSpPr>
          <p:nvPr/>
        </p:nvCxnSpPr>
        <p:spPr>
          <a:xfrm flipV="1">
            <a:off x="7645400" y="5115123"/>
            <a:ext cx="14140" cy="2286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4" name="Rectangle 23"/>
          <p:cNvSpPr/>
          <p:nvPr/>
        </p:nvSpPr>
        <p:spPr>
          <a:xfrm>
            <a:off x="8788400" y="3898900"/>
            <a:ext cx="914400" cy="301823"/>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600" b="1" dirty="0" smtClean="0">
                <a:latin typeface="+mj-lt"/>
              </a:rPr>
              <a:t>P=D</a:t>
            </a:r>
            <a:r>
              <a:rPr lang="en-US" sz="1600" b="1" baseline="-25000" dirty="0" smtClean="0">
                <a:solidFill>
                  <a:schemeClr val="bg1"/>
                </a:solidFill>
                <a:latin typeface="+mj-lt"/>
              </a:rPr>
              <a:t>K</a:t>
            </a:r>
            <a:r>
              <a:rPr lang="en-US" sz="1600" b="1" dirty="0" smtClean="0">
                <a:solidFill>
                  <a:schemeClr val="bg1"/>
                </a:solidFill>
                <a:latin typeface="+mj-lt"/>
              </a:rPr>
              <a:t>(C)</a:t>
            </a:r>
            <a:endParaRPr lang="en-US" sz="1600" b="1" dirty="0">
              <a:latin typeface="+mj-lt"/>
            </a:endParaRPr>
          </a:p>
        </p:txBody>
      </p:sp>
      <p:cxnSp>
        <p:nvCxnSpPr>
          <p:cNvPr id="25" name="Straight Arrow Connector 24"/>
          <p:cNvCxnSpPr>
            <a:stCxn id="10" idx="3"/>
          </p:cNvCxnSpPr>
          <p:nvPr/>
        </p:nvCxnSpPr>
        <p:spPr>
          <a:xfrm>
            <a:off x="2921000" y="4086423"/>
            <a:ext cx="533400"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endCxn id="16" idx="1"/>
          </p:cNvCxnSpPr>
          <p:nvPr/>
        </p:nvCxnSpPr>
        <p:spPr>
          <a:xfrm>
            <a:off x="3949700" y="3212672"/>
            <a:ext cx="1431696" cy="3439"/>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16" idx="3"/>
          </p:cNvCxnSpPr>
          <p:nvPr/>
        </p:nvCxnSpPr>
        <p:spPr>
          <a:xfrm>
            <a:off x="6350000" y="3216111"/>
            <a:ext cx="1485900" cy="0"/>
          </a:xfrm>
          <a:prstGeom prst="straightConnector1">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endCxn id="24" idx="1"/>
          </p:cNvCxnSpPr>
          <p:nvPr/>
        </p:nvCxnSpPr>
        <p:spPr>
          <a:xfrm flipV="1">
            <a:off x="8331200" y="4049812"/>
            <a:ext cx="457200" cy="36612"/>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4140200" y="4450041"/>
            <a:ext cx="0" cy="398382"/>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21" idx="0"/>
          </p:cNvCxnSpPr>
          <p:nvPr/>
        </p:nvCxnSpPr>
        <p:spPr>
          <a:xfrm flipH="1" flipV="1">
            <a:off x="7645400" y="4450041"/>
            <a:ext cx="14140" cy="398382"/>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flipH="1" flipV="1">
            <a:off x="4721520" y="3076577"/>
            <a:ext cx="628453" cy="1"/>
          </a:xfrm>
          <a:prstGeom prst="straightConnector1">
            <a:avLst/>
          </a:prstGeom>
          <a:ln w="38100">
            <a:solidFill>
              <a:schemeClr val="bg2">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2" name="Rectangle 31"/>
          <p:cNvSpPr/>
          <p:nvPr/>
        </p:nvSpPr>
        <p:spPr>
          <a:xfrm>
            <a:off x="3085083" y="2034102"/>
            <a:ext cx="1866900" cy="609600"/>
          </a:xfrm>
          <a:prstGeom prst="rect">
            <a:avLst/>
          </a:prstGeom>
          <a:solidFill>
            <a:schemeClr val="accent4">
              <a:lumMod val="20000"/>
              <a:lumOff val="80000"/>
            </a:schemeClr>
          </a:solidFill>
        </p:spPr>
        <p:style>
          <a:lnRef idx="0">
            <a:schemeClr val="accent1"/>
          </a:lnRef>
          <a:fillRef idx="3">
            <a:schemeClr val="accent1"/>
          </a:fillRef>
          <a:effectRef idx="3">
            <a:schemeClr val="accent1"/>
          </a:effectRef>
          <a:fontRef idx="minor">
            <a:schemeClr val="lt1"/>
          </a:fontRef>
        </p:style>
        <p:txBody>
          <a:bodyPr rtlCol="0" anchor="b"/>
          <a:lstStyle/>
          <a:p>
            <a:r>
              <a:rPr lang="en-US" sz="1400" dirty="0" smtClean="0">
                <a:solidFill>
                  <a:schemeClr val="tx1"/>
                </a:solidFill>
                <a:latin typeface="+mj-lt"/>
              </a:rPr>
              <a:t>Passive Intruder</a:t>
            </a:r>
            <a:endParaRPr lang="en-US" sz="1400" dirty="0">
              <a:solidFill>
                <a:schemeClr val="tx1"/>
              </a:solidFill>
              <a:latin typeface="+mj-lt"/>
            </a:endParaRPr>
          </a:p>
        </p:txBody>
      </p:sp>
      <p:sp>
        <p:nvSpPr>
          <p:cNvPr id="33" name="Rectangle 32"/>
          <p:cNvSpPr/>
          <p:nvPr/>
        </p:nvSpPr>
        <p:spPr>
          <a:xfrm>
            <a:off x="7177188" y="2105594"/>
            <a:ext cx="1979217" cy="609600"/>
          </a:xfrm>
          <a:prstGeom prst="rect">
            <a:avLst/>
          </a:prstGeom>
          <a:solidFill>
            <a:schemeClr val="accent4">
              <a:lumMod val="20000"/>
              <a:lumOff val="80000"/>
            </a:schemeClr>
          </a:solidFill>
        </p:spPr>
        <p:style>
          <a:lnRef idx="0">
            <a:schemeClr val="accent1"/>
          </a:lnRef>
          <a:fillRef idx="3">
            <a:schemeClr val="accent1"/>
          </a:fillRef>
          <a:effectRef idx="3">
            <a:schemeClr val="accent1"/>
          </a:effectRef>
          <a:fontRef idx="minor">
            <a:schemeClr val="lt1"/>
          </a:fontRef>
        </p:style>
        <p:txBody>
          <a:bodyPr rtlCol="0" anchor="b"/>
          <a:lstStyle/>
          <a:p>
            <a:pPr algn="r"/>
            <a:r>
              <a:rPr lang="en-US" sz="1400" dirty="0" smtClean="0">
                <a:solidFill>
                  <a:schemeClr val="tx1"/>
                </a:solidFill>
                <a:latin typeface="+mj-lt"/>
              </a:rPr>
              <a:t>Active Intruder</a:t>
            </a:r>
            <a:endParaRPr lang="en-US" sz="1400" dirty="0">
              <a:solidFill>
                <a:schemeClr val="tx1"/>
              </a:solidFill>
              <a:latin typeface="+mj-lt"/>
            </a:endParaRPr>
          </a:p>
        </p:txBody>
      </p:sp>
      <p:cxnSp>
        <p:nvCxnSpPr>
          <p:cNvPr id="34" name="Straight Arrow Connector 33"/>
          <p:cNvCxnSpPr/>
          <p:nvPr/>
        </p:nvCxnSpPr>
        <p:spPr>
          <a:xfrm flipV="1">
            <a:off x="7437936" y="2371923"/>
            <a:ext cx="0" cy="698375"/>
          </a:xfrm>
          <a:prstGeom prst="straightConnector1">
            <a:avLst/>
          </a:prstGeom>
          <a:ln w="3810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4570298" y="3972123"/>
            <a:ext cx="1295400" cy="523220"/>
          </a:xfrm>
          <a:prstGeom prst="rect">
            <a:avLst/>
          </a:prstGeom>
          <a:ln>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en-US" sz="1400" dirty="0" smtClean="0">
                <a:latin typeface="+mj-lt"/>
              </a:rPr>
              <a:t>Communication Channel</a:t>
            </a:r>
            <a:endParaRPr lang="en-US" sz="1400" dirty="0">
              <a:latin typeface="+mj-lt"/>
            </a:endParaRPr>
          </a:p>
        </p:txBody>
      </p:sp>
      <p:cxnSp>
        <p:nvCxnSpPr>
          <p:cNvPr id="36" name="Straight Arrow Connector 35"/>
          <p:cNvCxnSpPr>
            <a:stCxn id="35" idx="0"/>
          </p:cNvCxnSpPr>
          <p:nvPr/>
        </p:nvCxnSpPr>
        <p:spPr>
          <a:xfrm flipV="1">
            <a:off x="5217998" y="3462291"/>
            <a:ext cx="114300" cy="50983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15" idx="0"/>
          </p:cNvCxnSpPr>
          <p:nvPr/>
        </p:nvCxnSpPr>
        <p:spPr>
          <a:xfrm flipV="1">
            <a:off x="3949700" y="3216111"/>
            <a:ext cx="0" cy="617760"/>
          </a:xfrm>
          <a:prstGeom prst="straightConnector1">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flipV="1">
            <a:off x="7835900" y="3216111"/>
            <a:ext cx="0" cy="617760"/>
          </a:xfrm>
          <a:prstGeom prst="straightConnector1">
            <a:avLst/>
          </a:prstGeom>
          <a:ln w="3810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39" name="Can 38"/>
          <p:cNvSpPr/>
          <p:nvPr/>
        </p:nvSpPr>
        <p:spPr>
          <a:xfrm rot="10800000">
            <a:off x="3726407" y="3434010"/>
            <a:ext cx="398082" cy="336810"/>
          </a:xfrm>
          <a:prstGeom prst="can">
            <a:avLst/>
          </a:prstGeom>
          <a:solidFill>
            <a:schemeClr val="accent6">
              <a:alpha val="20000"/>
            </a:schemeClr>
          </a:solidFill>
          <a:ln w="9525"/>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latin typeface="+mj-lt"/>
            </a:endParaRPr>
          </a:p>
        </p:txBody>
      </p:sp>
      <p:sp>
        <p:nvSpPr>
          <p:cNvPr id="40" name="Can 39"/>
          <p:cNvSpPr/>
          <p:nvPr/>
        </p:nvSpPr>
        <p:spPr>
          <a:xfrm rot="10800000">
            <a:off x="7636859" y="3462291"/>
            <a:ext cx="398082" cy="336810"/>
          </a:xfrm>
          <a:prstGeom prst="can">
            <a:avLst/>
          </a:prstGeom>
          <a:solidFill>
            <a:schemeClr val="accent6">
              <a:alpha val="20000"/>
            </a:schemeClr>
          </a:solidFill>
          <a:ln w="9525"/>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latin typeface="+mj-lt"/>
            </a:endParaRPr>
          </a:p>
        </p:txBody>
      </p:sp>
      <p:sp>
        <p:nvSpPr>
          <p:cNvPr id="41" name="Can 40"/>
          <p:cNvSpPr/>
          <p:nvPr/>
        </p:nvSpPr>
        <p:spPr>
          <a:xfrm>
            <a:off x="4553902" y="2644713"/>
            <a:ext cx="398082" cy="336810"/>
          </a:xfrm>
          <a:prstGeom prst="can">
            <a:avLst/>
          </a:prstGeom>
          <a:solidFill>
            <a:schemeClr val="accent6">
              <a:alpha val="20000"/>
            </a:schemeClr>
          </a:solidFill>
          <a:ln w="9525"/>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latin typeface="+mj-lt"/>
            </a:endParaRPr>
          </a:p>
        </p:txBody>
      </p:sp>
      <p:cxnSp>
        <p:nvCxnSpPr>
          <p:cNvPr id="42" name="Straight Arrow Connector 41"/>
          <p:cNvCxnSpPr/>
          <p:nvPr/>
        </p:nvCxnSpPr>
        <p:spPr>
          <a:xfrm flipV="1">
            <a:off x="4740376" y="2338144"/>
            <a:ext cx="0" cy="732154"/>
          </a:xfrm>
          <a:prstGeom prst="straightConnector1">
            <a:avLst/>
          </a:prstGeom>
          <a:ln w="3810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43" name="Rectangle 42"/>
          <p:cNvSpPr/>
          <p:nvPr/>
        </p:nvSpPr>
        <p:spPr>
          <a:xfrm>
            <a:off x="4338016" y="2067123"/>
            <a:ext cx="414927" cy="271021"/>
          </a:xfrm>
          <a:prstGeom prst="rect">
            <a:avLst/>
          </a:prstGeom>
          <a:solidFill>
            <a:schemeClr val="accent4"/>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b="1" baseline="-25000" dirty="0" smtClean="0">
                <a:solidFill>
                  <a:schemeClr val="tx1"/>
                </a:solidFill>
                <a:latin typeface="+mj-lt"/>
              </a:rPr>
              <a:t>C</a:t>
            </a:r>
            <a:endParaRPr lang="en-US" b="1" baseline="-25000" dirty="0">
              <a:solidFill>
                <a:schemeClr val="tx1"/>
              </a:solidFill>
              <a:latin typeface="+mj-lt"/>
            </a:endParaRPr>
          </a:p>
        </p:txBody>
      </p:sp>
      <p:sp>
        <p:nvSpPr>
          <p:cNvPr id="44" name="Rectangle 43"/>
          <p:cNvSpPr/>
          <p:nvPr/>
        </p:nvSpPr>
        <p:spPr>
          <a:xfrm>
            <a:off x="7437936" y="2095403"/>
            <a:ext cx="414927" cy="271021"/>
          </a:xfrm>
          <a:prstGeom prst="rect">
            <a:avLst/>
          </a:prstGeom>
          <a:solidFill>
            <a:schemeClr val="accent4"/>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b="1" baseline="-25000" dirty="0" smtClean="0">
                <a:solidFill>
                  <a:schemeClr val="tx1"/>
                </a:solidFill>
                <a:latin typeface="+mj-lt"/>
              </a:rPr>
              <a:t>C</a:t>
            </a:r>
            <a:endParaRPr lang="en-US" b="1" baseline="-25000" dirty="0">
              <a:solidFill>
                <a:schemeClr val="tx1"/>
              </a:solidFill>
              <a:latin typeface="+mj-lt"/>
            </a:endParaRPr>
          </a:p>
        </p:txBody>
      </p:sp>
      <p:cxnSp>
        <p:nvCxnSpPr>
          <p:cNvPr id="45" name="Straight Arrow Connector 44"/>
          <p:cNvCxnSpPr/>
          <p:nvPr/>
        </p:nvCxnSpPr>
        <p:spPr>
          <a:xfrm>
            <a:off x="6350001" y="3076578"/>
            <a:ext cx="1087935" cy="0"/>
          </a:xfrm>
          <a:prstGeom prst="straightConnector1">
            <a:avLst/>
          </a:prstGeom>
          <a:ln w="38100">
            <a:solidFill>
              <a:schemeClr val="bg2">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6" name="Rectangle 45"/>
          <p:cNvSpPr/>
          <p:nvPr/>
        </p:nvSpPr>
        <p:spPr>
          <a:xfrm>
            <a:off x="7549413" y="2405702"/>
            <a:ext cx="414927" cy="271021"/>
          </a:xfrm>
          <a:prstGeom prst="rect">
            <a:avLst/>
          </a:prstGeom>
          <a:solidFill>
            <a:schemeClr val="accent4"/>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b="1" baseline="-25000" dirty="0" smtClean="0">
                <a:solidFill>
                  <a:schemeClr val="tx1"/>
                </a:solidFill>
                <a:latin typeface="+mj-lt"/>
              </a:rPr>
              <a:t>C’</a:t>
            </a:r>
            <a:endParaRPr lang="en-US" b="1" baseline="-25000" dirty="0">
              <a:solidFill>
                <a:schemeClr val="tx1"/>
              </a:solidFill>
              <a:latin typeface="+mj-lt"/>
            </a:endParaRPr>
          </a:p>
        </p:txBody>
      </p:sp>
      <p:cxnSp>
        <p:nvCxnSpPr>
          <p:cNvPr id="47" name="Straight Arrow Connector 46"/>
          <p:cNvCxnSpPr>
            <a:stCxn id="46" idx="2"/>
          </p:cNvCxnSpPr>
          <p:nvPr/>
        </p:nvCxnSpPr>
        <p:spPr>
          <a:xfrm flipH="1">
            <a:off x="7756876" y="2676723"/>
            <a:ext cx="1" cy="1152427"/>
          </a:xfrm>
          <a:prstGeom prst="straightConnector1">
            <a:avLst/>
          </a:prstGeom>
          <a:ln w="3810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48" name="Rectangle 47"/>
          <p:cNvSpPr/>
          <p:nvPr/>
        </p:nvSpPr>
        <p:spPr>
          <a:xfrm>
            <a:off x="1225433" y="2033344"/>
            <a:ext cx="1543167" cy="687766"/>
          </a:xfrm>
          <a:prstGeom prst="rect">
            <a:avLst/>
          </a:prstGeom>
          <a:ln>
            <a:prstDash val="sysDot"/>
          </a:ln>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smtClean="0">
                <a:latin typeface="+mj-lt"/>
              </a:rPr>
              <a:t>Passive Intruder can listen to C</a:t>
            </a:r>
            <a:endParaRPr lang="en-US" sz="1600" dirty="0">
              <a:latin typeface="+mj-lt"/>
            </a:endParaRPr>
          </a:p>
        </p:txBody>
      </p:sp>
      <p:sp>
        <p:nvSpPr>
          <p:cNvPr id="49" name="Can 48"/>
          <p:cNvSpPr/>
          <p:nvPr/>
        </p:nvSpPr>
        <p:spPr>
          <a:xfrm>
            <a:off x="7254388" y="2628804"/>
            <a:ext cx="398082" cy="336810"/>
          </a:xfrm>
          <a:prstGeom prst="can">
            <a:avLst/>
          </a:prstGeom>
          <a:solidFill>
            <a:schemeClr val="accent6">
              <a:alpha val="20000"/>
            </a:schemeClr>
          </a:solidFill>
          <a:ln w="9525"/>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latin typeface="+mj-lt"/>
            </a:endParaRPr>
          </a:p>
        </p:txBody>
      </p:sp>
      <p:sp>
        <p:nvSpPr>
          <p:cNvPr id="50" name="Rectangle 49"/>
          <p:cNvSpPr/>
          <p:nvPr/>
        </p:nvSpPr>
        <p:spPr>
          <a:xfrm>
            <a:off x="5193472" y="1643799"/>
            <a:ext cx="1851854" cy="1110990"/>
          </a:xfrm>
          <a:prstGeom prst="rect">
            <a:avLst/>
          </a:prstGeom>
          <a:ln>
            <a:prstDash val="sysDot"/>
          </a:ln>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smtClean="0">
                <a:latin typeface="+mj-lt"/>
              </a:rPr>
              <a:t>Active Intruder can listen and modify C, and insert messages</a:t>
            </a:r>
            <a:endParaRPr lang="en-US" sz="1600" dirty="0">
              <a:latin typeface="+mj-lt"/>
            </a:endParaRPr>
          </a:p>
        </p:txBody>
      </p:sp>
      <p:sp>
        <p:nvSpPr>
          <p:cNvPr id="51" name="Rectangle 50"/>
          <p:cNvSpPr/>
          <p:nvPr/>
        </p:nvSpPr>
        <p:spPr>
          <a:xfrm>
            <a:off x="1260576" y="5765800"/>
            <a:ext cx="6959600" cy="726309"/>
          </a:xfrm>
          <a:prstGeom prst="rect">
            <a:avLst/>
          </a:prstGeom>
          <a:solidFill>
            <a:srgbClr val="8BCBBA"/>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000" dirty="0" smtClean="0">
                <a:solidFill>
                  <a:schemeClr val="tx1"/>
                </a:solidFill>
                <a:latin typeface="+mj-lt"/>
                <a:ea typeface="Cambria Math" pitchFamily="18" charset="0"/>
              </a:rPr>
              <a:t>C=E</a:t>
            </a:r>
            <a:r>
              <a:rPr lang="en-US" sz="2000" baseline="-25000" dirty="0" smtClean="0">
                <a:solidFill>
                  <a:schemeClr val="tx1"/>
                </a:solidFill>
                <a:latin typeface="+mj-lt"/>
                <a:ea typeface="Cambria Math" pitchFamily="18" charset="0"/>
              </a:rPr>
              <a:t>K</a:t>
            </a:r>
            <a:r>
              <a:rPr lang="en-US" sz="2000" dirty="0" smtClean="0">
                <a:solidFill>
                  <a:schemeClr val="tx1"/>
                </a:solidFill>
                <a:latin typeface="+mj-lt"/>
                <a:ea typeface="Cambria Math" pitchFamily="18" charset="0"/>
              </a:rPr>
              <a:t>(P)</a:t>
            </a:r>
            <a:r>
              <a:rPr lang="en-US" sz="2000" dirty="0" smtClean="0">
                <a:solidFill>
                  <a:schemeClr val="tx1"/>
                </a:solidFill>
                <a:latin typeface="+mj-lt"/>
              </a:rPr>
              <a:t> </a:t>
            </a:r>
            <a:r>
              <a:rPr lang="en-US" sz="2000" dirty="0" smtClean="0">
                <a:solidFill>
                  <a:schemeClr val="tx1"/>
                </a:solidFill>
                <a:latin typeface="+mj-lt"/>
                <a:sym typeface="Wingdings" pitchFamily="2" charset="2"/>
              </a:rPr>
              <a:t> </a:t>
            </a:r>
            <a:r>
              <a:rPr lang="en-US" sz="2000" dirty="0">
                <a:solidFill>
                  <a:schemeClr val="tx1"/>
                </a:solidFill>
                <a:latin typeface="+mj-lt"/>
                <a:ea typeface="Cambria Math" pitchFamily="18" charset="0"/>
              </a:rPr>
              <a:t>C</a:t>
            </a:r>
            <a:r>
              <a:rPr lang="en-US" sz="2000" dirty="0" smtClean="0">
                <a:solidFill>
                  <a:schemeClr val="tx1"/>
                </a:solidFill>
                <a:latin typeface="+mj-lt"/>
              </a:rPr>
              <a:t> is obtained by encrypting the plain text </a:t>
            </a:r>
            <a:r>
              <a:rPr lang="en-US" sz="2000" dirty="0">
                <a:solidFill>
                  <a:schemeClr val="tx1"/>
                </a:solidFill>
                <a:latin typeface="+mj-lt"/>
                <a:ea typeface="Cambria Math" pitchFamily="18" charset="0"/>
              </a:rPr>
              <a:t>P</a:t>
            </a:r>
            <a:r>
              <a:rPr lang="en-US" sz="2000" dirty="0" smtClean="0">
                <a:solidFill>
                  <a:schemeClr val="tx1"/>
                </a:solidFill>
                <a:latin typeface="+mj-lt"/>
              </a:rPr>
              <a:t> with key </a:t>
            </a:r>
            <a:r>
              <a:rPr lang="en-US" sz="2000" dirty="0" smtClean="0">
                <a:solidFill>
                  <a:schemeClr val="tx1"/>
                </a:solidFill>
                <a:latin typeface="+mj-lt"/>
                <a:ea typeface="Cambria Math" pitchFamily="18" charset="0"/>
              </a:rPr>
              <a:t>K</a:t>
            </a:r>
          </a:p>
          <a:p>
            <a:pPr algn="ctr"/>
            <a:r>
              <a:rPr lang="en-US" sz="2000" dirty="0" smtClean="0">
                <a:solidFill>
                  <a:schemeClr val="tx1"/>
                </a:solidFill>
                <a:latin typeface="+mj-lt"/>
                <a:ea typeface="Cambria Math" pitchFamily="18" charset="0"/>
              </a:rPr>
              <a:t>P=D</a:t>
            </a:r>
            <a:r>
              <a:rPr lang="en-US" sz="2000" baseline="-25000" dirty="0" smtClean="0">
                <a:solidFill>
                  <a:schemeClr val="tx1"/>
                </a:solidFill>
                <a:latin typeface="+mj-lt"/>
                <a:ea typeface="Cambria Math" pitchFamily="18" charset="0"/>
              </a:rPr>
              <a:t>K</a:t>
            </a:r>
            <a:r>
              <a:rPr lang="en-US" sz="2000" dirty="0" smtClean="0">
                <a:solidFill>
                  <a:schemeClr val="tx1"/>
                </a:solidFill>
                <a:latin typeface="+mj-lt"/>
                <a:ea typeface="Cambria Math" pitchFamily="18" charset="0"/>
              </a:rPr>
              <a:t>(C)</a:t>
            </a:r>
            <a:r>
              <a:rPr lang="en-US" sz="2000" dirty="0" smtClean="0">
                <a:solidFill>
                  <a:schemeClr val="tx1"/>
                </a:solidFill>
                <a:latin typeface="+mj-lt"/>
              </a:rPr>
              <a:t> </a:t>
            </a:r>
            <a:r>
              <a:rPr lang="en-US" sz="2000" dirty="0">
                <a:solidFill>
                  <a:schemeClr val="tx1"/>
                </a:solidFill>
                <a:latin typeface="+mj-lt"/>
                <a:sym typeface="Wingdings" pitchFamily="2" charset="2"/>
              </a:rPr>
              <a:t> </a:t>
            </a:r>
            <a:r>
              <a:rPr lang="en-US" sz="2000" dirty="0" smtClean="0">
                <a:solidFill>
                  <a:schemeClr val="tx1"/>
                </a:solidFill>
                <a:latin typeface="+mj-lt"/>
                <a:ea typeface="Cambria Math" pitchFamily="18" charset="0"/>
                <a:sym typeface="Wingdings" pitchFamily="2" charset="2"/>
              </a:rPr>
              <a:t>P</a:t>
            </a:r>
            <a:r>
              <a:rPr lang="en-US" sz="2000" dirty="0" smtClean="0">
                <a:solidFill>
                  <a:schemeClr val="tx1"/>
                </a:solidFill>
                <a:latin typeface="+mj-lt"/>
              </a:rPr>
              <a:t> </a:t>
            </a:r>
            <a:r>
              <a:rPr lang="en-US" sz="2000" dirty="0">
                <a:solidFill>
                  <a:schemeClr val="tx1"/>
                </a:solidFill>
                <a:latin typeface="+mj-lt"/>
              </a:rPr>
              <a:t>is obtained by </a:t>
            </a:r>
            <a:r>
              <a:rPr lang="en-US" sz="2000" dirty="0" smtClean="0">
                <a:solidFill>
                  <a:schemeClr val="tx1"/>
                </a:solidFill>
                <a:latin typeface="+mj-lt"/>
              </a:rPr>
              <a:t>decrypting </a:t>
            </a:r>
            <a:r>
              <a:rPr lang="en-US" sz="2000" dirty="0">
                <a:solidFill>
                  <a:schemeClr val="tx1"/>
                </a:solidFill>
                <a:latin typeface="+mj-lt"/>
              </a:rPr>
              <a:t>the </a:t>
            </a:r>
            <a:r>
              <a:rPr lang="en-US" sz="2000" dirty="0" smtClean="0">
                <a:solidFill>
                  <a:schemeClr val="tx1"/>
                </a:solidFill>
                <a:latin typeface="+mj-lt"/>
              </a:rPr>
              <a:t>cipher text </a:t>
            </a:r>
            <a:r>
              <a:rPr lang="en-US" sz="2000" dirty="0">
                <a:solidFill>
                  <a:schemeClr val="tx1"/>
                </a:solidFill>
                <a:latin typeface="+mj-lt"/>
                <a:ea typeface="Cambria Math" pitchFamily="18" charset="0"/>
              </a:rPr>
              <a:t>P</a:t>
            </a:r>
            <a:r>
              <a:rPr lang="en-US" sz="2000" dirty="0">
                <a:solidFill>
                  <a:schemeClr val="tx1"/>
                </a:solidFill>
                <a:latin typeface="+mj-lt"/>
              </a:rPr>
              <a:t> with key </a:t>
            </a:r>
            <a:r>
              <a:rPr lang="en-US" sz="2000" dirty="0" smtClean="0">
                <a:solidFill>
                  <a:schemeClr val="tx1"/>
                </a:solidFill>
                <a:latin typeface="+mj-lt"/>
                <a:ea typeface="Cambria Math" pitchFamily="18" charset="0"/>
              </a:rPr>
              <a:t>K</a:t>
            </a:r>
            <a:endParaRPr lang="en-US" sz="2000" dirty="0">
              <a:solidFill>
                <a:schemeClr val="tx1"/>
              </a:solidFill>
              <a:latin typeface="+mj-lt"/>
              <a:ea typeface="Cambria Math" pitchFamily="18" charset="0"/>
            </a:endParaRPr>
          </a:p>
        </p:txBody>
      </p:sp>
    </p:spTree>
    <p:extLst>
      <p:ext uri="{BB962C8B-B14F-4D97-AF65-F5344CB8AC3E}">
        <p14:creationId xmlns:p14="http://schemas.microsoft.com/office/powerpoint/2010/main" val="2237176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9" presetClass="emph" presetSubtype="0" grpId="1" nodeType="clickEffect">
                                  <p:stCondLst>
                                    <p:cond delay="0"/>
                                  </p:stCondLst>
                                  <p:childTnLst>
                                    <p:set>
                                      <p:cBhvr rctx="PPT">
                                        <p:cTn id="42" dur="indefinite"/>
                                        <p:tgtEl>
                                          <p:spTgt spid="6"/>
                                        </p:tgtEl>
                                        <p:attrNameLst>
                                          <p:attrName>style.opacity</p:attrName>
                                        </p:attrNameLst>
                                      </p:cBhvr>
                                      <p:to>
                                        <p:strVal val="0.25"/>
                                      </p:to>
                                    </p:set>
                                    <p:animEffect filter="image" prLst="opacity: 0.25">
                                      <p:cBhvr rctx="IE">
                                        <p:cTn id="43" dur="indefinite"/>
                                        <p:tgtEl>
                                          <p:spTgt spid="6"/>
                                        </p:tgtEl>
                                      </p:cBhvr>
                                    </p:animEffect>
                                  </p:childTnLst>
                                </p:cTn>
                              </p:par>
                              <p:par>
                                <p:cTn id="44" presetID="9" presetClass="emph" presetSubtype="0" grpId="1" nodeType="withEffect">
                                  <p:stCondLst>
                                    <p:cond delay="0"/>
                                  </p:stCondLst>
                                  <p:childTnLst>
                                    <p:set>
                                      <p:cBhvr rctx="PPT">
                                        <p:cTn id="45" dur="indefinite"/>
                                        <p:tgtEl>
                                          <p:spTgt spid="39"/>
                                        </p:tgtEl>
                                        <p:attrNameLst>
                                          <p:attrName>style.opacity</p:attrName>
                                        </p:attrNameLst>
                                      </p:cBhvr>
                                      <p:to>
                                        <p:strVal val="0.25"/>
                                      </p:to>
                                    </p:set>
                                    <p:animEffect filter="image" prLst="opacity: 0.25">
                                      <p:cBhvr rctx="IE">
                                        <p:cTn id="46" dur="indefinite"/>
                                        <p:tgtEl>
                                          <p:spTgt spid="39"/>
                                        </p:tgtEl>
                                      </p:cBhvr>
                                    </p:animEffect>
                                  </p:childTnLst>
                                </p:cTn>
                              </p:par>
                              <p:par>
                                <p:cTn id="47" presetID="9" presetClass="emph" presetSubtype="0" grpId="1" nodeType="withEffect">
                                  <p:stCondLst>
                                    <p:cond delay="0"/>
                                  </p:stCondLst>
                                  <p:childTnLst>
                                    <p:set>
                                      <p:cBhvr rctx="PPT">
                                        <p:cTn id="48" dur="indefinite"/>
                                        <p:tgtEl>
                                          <p:spTgt spid="40"/>
                                        </p:tgtEl>
                                        <p:attrNameLst>
                                          <p:attrName>style.opacity</p:attrName>
                                        </p:attrNameLst>
                                      </p:cBhvr>
                                      <p:to>
                                        <p:strVal val="0.25"/>
                                      </p:to>
                                    </p:set>
                                    <p:animEffect filter="image" prLst="opacity: 0.25">
                                      <p:cBhvr rctx="IE">
                                        <p:cTn id="49" dur="indefinite"/>
                                        <p:tgtEl>
                                          <p:spTgt spid="40"/>
                                        </p:tgtEl>
                                      </p:cBhvr>
                                    </p:animEffect>
                                  </p:childTnLst>
                                </p:cTn>
                              </p:par>
                              <p:par>
                                <p:cTn id="50" presetID="9" presetClass="emph" presetSubtype="0" grpId="1" nodeType="withEffect">
                                  <p:stCondLst>
                                    <p:cond delay="0"/>
                                  </p:stCondLst>
                                  <p:childTnLst>
                                    <p:set>
                                      <p:cBhvr rctx="PPT">
                                        <p:cTn id="51" dur="indefinite"/>
                                        <p:tgtEl>
                                          <p:spTgt spid="41"/>
                                        </p:tgtEl>
                                        <p:attrNameLst>
                                          <p:attrName>style.opacity</p:attrName>
                                        </p:attrNameLst>
                                      </p:cBhvr>
                                      <p:to>
                                        <p:strVal val="0.25"/>
                                      </p:to>
                                    </p:set>
                                    <p:animEffect filter="image" prLst="opacity: 0.25">
                                      <p:cBhvr rctx="IE">
                                        <p:cTn id="52" dur="indefinite"/>
                                        <p:tgtEl>
                                          <p:spTgt spid="41"/>
                                        </p:tgtEl>
                                      </p:cBhvr>
                                    </p:animEffect>
                                  </p:childTnLst>
                                </p:cTn>
                              </p:par>
                              <p:par>
                                <p:cTn id="53" presetID="9" presetClass="emph" presetSubtype="0" grpId="1" nodeType="withEffect">
                                  <p:stCondLst>
                                    <p:cond delay="0"/>
                                  </p:stCondLst>
                                  <p:childTnLst>
                                    <p:set>
                                      <p:cBhvr rctx="PPT">
                                        <p:cTn id="54" dur="indefinite"/>
                                        <p:tgtEl>
                                          <p:spTgt spid="49"/>
                                        </p:tgtEl>
                                        <p:attrNameLst>
                                          <p:attrName>style.opacity</p:attrName>
                                        </p:attrNameLst>
                                      </p:cBhvr>
                                      <p:to>
                                        <p:strVal val="0.25"/>
                                      </p:to>
                                    </p:set>
                                    <p:animEffect filter="image" prLst="opacity: 0.25">
                                      <p:cBhvr rctx="IE">
                                        <p:cTn id="55" dur="indefinite"/>
                                        <p:tgtEl>
                                          <p:spTgt spid="49"/>
                                        </p:tgtEl>
                                      </p:cBhvr>
                                    </p:animEffect>
                                  </p:childTnLst>
                                </p:cTn>
                              </p:par>
                              <p:par>
                                <p:cTn id="56" presetID="1" presetClass="exit" presetSubtype="0" fill="hold" grpId="1" nodeType="withEffect">
                                  <p:stCondLst>
                                    <p:cond delay="0"/>
                                  </p:stCondLst>
                                  <p:childTnLst>
                                    <p:set>
                                      <p:cBhvr>
                                        <p:cTn id="57" dur="1" fill="hold">
                                          <p:stCondLst>
                                            <p:cond delay="0"/>
                                          </p:stCondLst>
                                        </p:cTn>
                                        <p:tgtEl>
                                          <p:spTgt spid="35"/>
                                        </p:tgtEl>
                                        <p:attrNameLst>
                                          <p:attrName>style.visibility</p:attrName>
                                        </p:attrNameLst>
                                      </p:cBhvr>
                                      <p:to>
                                        <p:strVal val="hidden"/>
                                      </p:to>
                                    </p:set>
                                  </p:childTnLst>
                                </p:cTn>
                              </p:par>
                              <p:par>
                                <p:cTn id="58" presetID="1" presetClass="exit" presetSubtype="0" fill="hold" nodeType="withEffect">
                                  <p:stCondLst>
                                    <p:cond delay="0"/>
                                  </p:stCondLst>
                                  <p:childTnLst>
                                    <p:set>
                                      <p:cBhvr>
                                        <p:cTn id="59" dur="1" fill="hold">
                                          <p:stCondLst>
                                            <p:cond delay="0"/>
                                          </p:stCondLst>
                                        </p:cTn>
                                        <p:tgtEl>
                                          <p:spTgt spid="36"/>
                                        </p:tgtEl>
                                        <p:attrNameLst>
                                          <p:attrName>style.visibility</p:attrName>
                                        </p:attrNameLst>
                                      </p:cBhvr>
                                      <p:to>
                                        <p:strVal val="hidden"/>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15"/>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13"/>
                                        </p:tgtEl>
                                        <p:attrNameLst>
                                          <p:attrName>style.visibility</p:attrName>
                                        </p:attrNameLst>
                                      </p:cBhvr>
                                      <p:to>
                                        <p:strVal val="visible"/>
                                      </p:to>
                                    </p:set>
                                  </p:childTnLst>
                                </p:cTn>
                              </p:par>
                              <p:par>
                                <p:cTn id="68" presetID="1" presetClass="entr" presetSubtype="0" fill="hold" nodeType="withEffect">
                                  <p:stCondLst>
                                    <p:cond delay="0"/>
                                  </p:stCondLst>
                                  <p:childTnLst>
                                    <p:set>
                                      <p:cBhvr>
                                        <p:cTn id="69" dur="1" fill="hold">
                                          <p:stCondLst>
                                            <p:cond delay="0"/>
                                          </p:stCondLst>
                                        </p:cTn>
                                        <p:tgtEl>
                                          <p:spTgt spid="29"/>
                                        </p:tgtEl>
                                        <p:attrNameLst>
                                          <p:attrName>style.visibility</p:attrName>
                                        </p:attrNameLst>
                                      </p:cBhvr>
                                      <p:to>
                                        <p:strVal val="visible"/>
                                      </p:to>
                                    </p:set>
                                  </p:childTnLst>
                                </p:cTn>
                              </p:par>
                              <p:par>
                                <p:cTn id="70" presetID="1" presetClass="entr" presetSubtype="0" fill="hold" nodeType="withEffect">
                                  <p:stCondLst>
                                    <p:cond delay="0"/>
                                  </p:stCondLst>
                                  <p:childTnLst>
                                    <p:set>
                                      <p:cBhvr>
                                        <p:cTn id="71" dur="1" fill="hold">
                                          <p:stCondLst>
                                            <p:cond delay="0"/>
                                          </p:stCondLst>
                                        </p:cTn>
                                        <p:tgtEl>
                                          <p:spTgt spid="25"/>
                                        </p:tgtEl>
                                        <p:attrNameLst>
                                          <p:attrName>style.visibility</p:attrName>
                                        </p:attrNameLst>
                                      </p:cBhvr>
                                      <p:to>
                                        <p:strVal val="visible"/>
                                      </p:to>
                                    </p:set>
                                  </p:childTnLst>
                                </p:cTn>
                              </p:par>
                              <p:par>
                                <p:cTn id="72" presetID="1" presetClass="entr" presetSubtype="0" fill="hold" nodeType="withEffect">
                                  <p:stCondLst>
                                    <p:cond delay="0"/>
                                  </p:stCondLst>
                                  <p:childTnLst>
                                    <p:set>
                                      <p:cBhvr>
                                        <p:cTn id="73" dur="1" fill="hold">
                                          <p:stCondLst>
                                            <p:cond delay="0"/>
                                          </p:stCondLst>
                                        </p:cTn>
                                        <p:tgtEl>
                                          <p:spTgt spid="17"/>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14"/>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nodeType="clickEffect">
                                  <p:stCondLst>
                                    <p:cond delay="0"/>
                                  </p:stCondLst>
                                  <p:childTnLst>
                                    <p:set>
                                      <p:cBhvr>
                                        <p:cTn id="79" dur="1" fill="hold">
                                          <p:stCondLst>
                                            <p:cond delay="0"/>
                                          </p:stCondLst>
                                        </p:cTn>
                                        <p:tgtEl>
                                          <p:spTgt spid="37"/>
                                        </p:tgtEl>
                                        <p:attrNameLst>
                                          <p:attrName>style.visibility</p:attrName>
                                        </p:attrNameLst>
                                      </p:cBhvr>
                                      <p:to>
                                        <p:strVal val="visible"/>
                                      </p:to>
                                    </p:set>
                                  </p:childTnLst>
                                </p:cTn>
                              </p:par>
                              <p:par>
                                <p:cTn id="80" presetID="1" presetClass="entr" presetSubtype="0" fill="hold" nodeType="withEffect">
                                  <p:stCondLst>
                                    <p:cond delay="0"/>
                                  </p:stCondLst>
                                  <p:childTnLst>
                                    <p:set>
                                      <p:cBhvr>
                                        <p:cTn id="81" dur="1" fill="hold">
                                          <p:stCondLst>
                                            <p:cond delay="0"/>
                                          </p:stCondLst>
                                        </p:cTn>
                                        <p:tgtEl>
                                          <p:spTgt spid="26"/>
                                        </p:tgtEl>
                                        <p:attrNameLst>
                                          <p:attrName>style.visibility</p:attrName>
                                        </p:attrNameLst>
                                      </p:cBhvr>
                                      <p:to>
                                        <p:strVal val="visible"/>
                                      </p:to>
                                    </p:set>
                                  </p:childTnLst>
                                </p:cTn>
                              </p:par>
                              <p:par>
                                <p:cTn id="82" presetID="1" presetClass="entr" presetSubtype="0" fill="hold" grpId="0" nodeType="withEffect">
                                  <p:stCondLst>
                                    <p:cond delay="0"/>
                                  </p:stCondLst>
                                  <p:childTnLst>
                                    <p:set>
                                      <p:cBhvr>
                                        <p:cTn id="83" dur="1" fill="hold">
                                          <p:stCondLst>
                                            <p:cond delay="0"/>
                                          </p:stCondLst>
                                        </p:cTn>
                                        <p:tgtEl>
                                          <p:spTgt spid="16"/>
                                        </p:tgtEl>
                                        <p:attrNameLst>
                                          <p:attrName>style.visibility</p:attrName>
                                        </p:attrNameLst>
                                      </p:cBhvr>
                                      <p:to>
                                        <p:strVal val="visible"/>
                                      </p:to>
                                    </p:set>
                                  </p:childTnLst>
                                </p:cTn>
                              </p:par>
                              <p:par>
                                <p:cTn id="84" presetID="1" presetClass="entr" presetSubtype="0" fill="hold" grpId="0" nodeType="withEffect">
                                  <p:stCondLst>
                                    <p:cond delay="0"/>
                                  </p:stCondLst>
                                  <p:childTnLst>
                                    <p:set>
                                      <p:cBhvr>
                                        <p:cTn id="85" dur="1" fill="hold">
                                          <p:stCondLst>
                                            <p:cond delay="0"/>
                                          </p:stCondLst>
                                        </p:cTn>
                                        <p:tgtEl>
                                          <p:spTgt spid="18"/>
                                        </p:tgtEl>
                                        <p:attrNameLst>
                                          <p:attrName>style.visibility</p:attrName>
                                        </p:attrNameLst>
                                      </p:cBhvr>
                                      <p:to>
                                        <p:strVal val="visible"/>
                                      </p:to>
                                    </p:set>
                                  </p:childTnLst>
                                </p:cTn>
                              </p:par>
                              <p:par>
                                <p:cTn id="86" presetID="1" presetClass="entr" presetSubtype="0" fill="hold" nodeType="withEffect">
                                  <p:stCondLst>
                                    <p:cond delay="0"/>
                                  </p:stCondLst>
                                  <p:childTnLst>
                                    <p:set>
                                      <p:cBhvr>
                                        <p:cTn id="87" dur="1" fill="hold">
                                          <p:stCondLst>
                                            <p:cond delay="0"/>
                                          </p:stCondLst>
                                        </p:cTn>
                                        <p:tgtEl>
                                          <p:spTgt spid="19"/>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nodeType="clickEffect">
                                  <p:stCondLst>
                                    <p:cond delay="0"/>
                                  </p:stCondLst>
                                  <p:childTnLst>
                                    <p:set>
                                      <p:cBhvr>
                                        <p:cTn id="91" dur="1" fill="hold">
                                          <p:stCondLst>
                                            <p:cond delay="0"/>
                                          </p:stCondLst>
                                        </p:cTn>
                                        <p:tgtEl>
                                          <p:spTgt spid="27"/>
                                        </p:tgtEl>
                                        <p:attrNameLst>
                                          <p:attrName>style.visibility</p:attrName>
                                        </p:attrNameLst>
                                      </p:cBhvr>
                                      <p:to>
                                        <p:strVal val="visible"/>
                                      </p:to>
                                    </p:set>
                                  </p:childTnLst>
                                </p:cTn>
                              </p:par>
                              <p:par>
                                <p:cTn id="92" presetID="1" presetClass="entr" presetSubtype="0" fill="hold" nodeType="withEffect">
                                  <p:stCondLst>
                                    <p:cond delay="0"/>
                                  </p:stCondLst>
                                  <p:childTnLst>
                                    <p:set>
                                      <p:cBhvr>
                                        <p:cTn id="93" dur="1" fill="hold">
                                          <p:stCondLst>
                                            <p:cond delay="0"/>
                                          </p:stCondLst>
                                        </p:cTn>
                                        <p:tgtEl>
                                          <p:spTgt spid="38"/>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grpId="0" nodeType="clickEffect">
                                  <p:stCondLst>
                                    <p:cond delay="0"/>
                                  </p:stCondLst>
                                  <p:childTnLst>
                                    <p:set>
                                      <p:cBhvr>
                                        <p:cTn id="97" dur="1" fill="hold">
                                          <p:stCondLst>
                                            <p:cond delay="0"/>
                                          </p:stCondLst>
                                        </p:cTn>
                                        <p:tgtEl>
                                          <p:spTgt spid="20"/>
                                        </p:tgtEl>
                                        <p:attrNameLst>
                                          <p:attrName>style.visibility</p:attrName>
                                        </p:attrNameLst>
                                      </p:cBhvr>
                                      <p:to>
                                        <p:strVal val="visible"/>
                                      </p:to>
                                    </p:set>
                                  </p:childTnLst>
                                </p:cTn>
                              </p:par>
                              <p:par>
                                <p:cTn id="98" presetID="1" presetClass="entr" presetSubtype="0" fill="hold" grpId="0" nodeType="withEffect">
                                  <p:stCondLst>
                                    <p:cond delay="0"/>
                                  </p:stCondLst>
                                  <p:childTnLst>
                                    <p:set>
                                      <p:cBhvr>
                                        <p:cTn id="99" dur="1" fill="hold">
                                          <p:stCondLst>
                                            <p:cond delay="0"/>
                                          </p:stCondLst>
                                        </p:cTn>
                                        <p:tgtEl>
                                          <p:spTgt spid="21"/>
                                        </p:tgtEl>
                                        <p:attrNameLst>
                                          <p:attrName>style.visibility</p:attrName>
                                        </p:attrNameLst>
                                      </p:cBhvr>
                                      <p:to>
                                        <p:strVal val="visible"/>
                                      </p:to>
                                    </p:set>
                                  </p:childTnLst>
                                </p:cTn>
                              </p:par>
                              <p:par>
                                <p:cTn id="100" presetID="1" presetClass="entr" presetSubtype="0" fill="hold" nodeType="withEffect">
                                  <p:stCondLst>
                                    <p:cond delay="0"/>
                                  </p:stCondLst>
                                  <p:childTnLst>
                                    <p:set>
                                      <p:cBhvr>
                                        <p:cTn id="101" dur="1" fill="hold">
                                          <p:stCondLst>
                                            <p:cond delay="0"/>
                                          </p:stCondLst>
                                        </p:cTn>
                                        <p:tgtEl>
                                          <p:spTgt spid="30"/>
                                        </p:tgtEl>
                                        <p:attrNameLst>
                                          <p:attrName>style.visibility</p:attrName>
                                        </p:attrNameLst>
                                      </p:cBhvr>
                                      <p:to>
                                        <p:strVal val="visible"/>
                                      </p:to>
                                    </p:set>
                                  </p:childTnLst>
                                </p:cTn>
                              </p:par>
                              <p:par>
                                <p:cTn id="102" presetID="1" presetClass="entr" presetSubtype="0" fill="hold" nodeType="withEffect">
                                  <p:stCondLst>
                                    <p:cond delay="0"/>
                                  </p:stCondLst>
                                  <p:childTnLst>
                                    <p:set>
                                      <p:cBhvr>
                                        <p:cTn id="103" dur="1" fill="hold">
                                          <p:stCondLst>
                                            <p:cond delay="0"/>
                                          </p:stCondLst>
                                        </p:cTn>
                                        <p:tgtEl>
                                          <p:spTgt spid="28"/>
                                        </p:tgtEl>
                                        <p:attrNameLst>
                                          <p:attrName>style.visibility</p:attrName>
                                        </p:attrNameLst>
                                      </p:cBhvr>
                                      <p:to>
                                        <p:strVal val="visible"/>
                                      </p:to>
                                    </p:set>
                                  </p:childTnLst>
                                </p:cTn>
                              </p:par>
                              <p:par>
                                <p:cTn id="104" presetID="1" presetClass="entr" presetSubtype="0" fill="hold" grpId="0" nodeType="withEffect">
                                  <p:stCondLst>
                                    <p:cond delay="0"/>
                                  </p:stCondLst>
                                  <p:childTnLst>
                                    <p:set>
                                      <p:cBhvr>
                                        <p:cTn id="105" dur="1" fill="hold">
                                          <p:stCondLst>
                                            <p:cond delay="0"/>
                                          </p:stCondLst>
                                        </p:cTn>
                                        <p:tgtEl>
                                          <p:spTgt spid="24"/>
                                        </p:tgtEl>
                                        <p:attrNameLst>
                                          <p:attrName>style.visibility</p:attrName>
                                        </p:attrNameLst>
                                      </p:cBhvr>
                                      <p:to>
                                        <p:strVal val="visible"/>
                                      </p:to>
                                    </p:set>
                                  </p:childTnLst>
                                </p:cTn>
                              </p:par>
                              <p:par>
                                <p:cTn id="106" presetID="1" presetClass="entr" presetSubtype="0" fill="hold" grpId="0" nodeType="withEffect">
                                  <p:stCondLst>
                                    <p:cond delay="0"/>
                                  </p:stCondLst>
                                  <p:childTnLst>
                                    <p:set>
                                      <p:cBhvr>
                                        <p:cTn id="107" dur="1" fill="hold">
                                          <p:stCondLst>
                                            <p:cond delay="0"/>
                                          </p:stCondLst>
                                        </p:cTn>
                                        <p:tgtEl>
                                          <p:spTgt spid="22"/>
                                        </p:tgtEl>
                                        <p:attrNameLst>
                                          <p:attrName>style.visibility</p:attrName>
                                        </p:attrNameLst>
                                      </p:cBhvr>
                                      <p:to>
                                        <p:strVal val="visible"/>
                                      </p:to>
                                    </p:set>
                                  </p:childTnLst>
                                </p:cTn>
                              </p:par>
                              <p:par>
                                <p:cTn id="108" presetID="1" presetClass="entr" presetSubtype="0" fill="hold" nodeType="withEffect">
                                  <p:stCondLst>
                                    <p:cond delay="0"/>
                                  </p:stCondLst>
                                  <p:childTnLst>
                                    <p:set>
                                      <p:cBhvr>
                                        <p:cTn id="109" dur="1" fill="hold">
                                          <p:stCondLst>
                                            <p:cond delay="0"/>
                                          </p:stCondLst>
                                        </p:cTn>
                                        <p:tgtEl>
                                          <p:spTgt spid="23"/>
                                        </p:tgtEl>
                                        <p:attrNameLst>
                                          <p:attrName>style.visibility</p:attrName>
                                        </p:attrNameLst>
                                      </p:cBhvr>
                                      <p:to>
                                        <p:strVal val="visible"/>
                                      </p:to>
                                    </p:se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grpId="0" nodeType="clickEffect">
                                  <p:stCondLst>
                                    <p:cond delay="0"/>
                                  </p:stCondLst>
                                  <p:childTnLst>
                                    <p:set>
                                      <p:cBhvr>
                                        <p:cTn id="113" dur="1" fill="hold">
                                          <p:stCondLst>
                                            <p:cond delay="0"/>
                                          </p:stCondLst>
                                        </p:cTn>
                                        <p:tgtEl>
                                          <p:spTgt spid="32"/>
                                        </p:tgtEl>
                                        <p:attrNameLst>
                                          <p:attrName>style.visibility</p:attrName>
                                        </p:attrNameLst>
                                      </p:cBhvr>
                                      <p:to>
                                        <p:strVal val="visible"/>
                                      </p:to>
                                    </p:set>
                                  </p:childTnLst>
                                </p:cTn>
                              </p:par>
                            </p:childTnLst>
                          </p:cTn>
                        </p:par>
                      </p:childTnLst>
                    </p:cTn>
                  </p:par>
                  <p:par>
                    <p:cTn id="114" fill="hold">
                      <p:stCondLst>
                        <p:cond delay="indefinite"/>
                      </p:stCondLst>
                      <p:childTnLst>
                        <p:par>
                          <p:cTn id="115" fill="hold">
                            <p:stCondLst>
                              <p:cond delay="0"/>
                            </p:stCondLst>
                            <p:childTnLst>
                              <p:par>
                                <p:cTn id="116" presetID="1" presetClass="entr" presetSubtype="0" fill="hold" nodeType="clickEffect">
                                  <p:stCondLst>
                                    <p:cond delay="0"/>
                                  </p:stCondLst>
                                  <p:childTnLst>
                                    <p:set>
                                      <p:cBhvr>
                                        <p:cTn id="117" dur="1" fill="hold">
                                          <p:stCondLst>
                                            <p:cond delay="0"/>
                                          </p:stCondLst>
                                        </p:cTn>
                                        <p:tgtEl>
                                          <p:spTgt spid="31"/>
                                        </p:tgtEl>
                                        <p:attrNameLst>
                                          <p:attrName>style.visibility</p:attrName>
                                        </p:attrNameLst>
                                      </p:cBhvr>
                                      <p:to>
                                        <p:strVal val="visible"/>
                                      </p:to>
                                    </p:set>
                                  </p:childTnLst>
                                </p:cTn>
                              </p:par>
                              <p:par>
                                <p:cTn id="118" presetID="1" presetClass="entr" presetSubtype="0" fill="hold" nodeType="withEffect">
                                  <p:stCondLst>
                                    <p:cond delay="0"/>
                                  </p:stCondLst>
                                  <p:childTnLst>
                                    <p:set>
                                      <p:cBhvr>
                                        <p:cTn id="119" dur="1" fill="hold">
                                          <p:stCondLst>
                                            <p:cond delay="0"/>
                                          </p:stCondLst>
                                        </p:cTn>
                                        <p:tgtEl>
                                          <p:spTgt spid="42"/>
                                        </p:tgtEl>
                                        <p:attrNameLst>
                                          <p:attrName>style.visibility</p:attrName>
                                        </p:attrNameLst>
                                      </p:cBhvr>
                                      <p:to>
                                        <p:strVal val="visible"/>
                                      </p:to>
                                    </p:set>
                                  </p:childTnLst>
                                </p:cTn>
                              </p:par>
                              <p:par>
                                <p:cTn id="120" presetID="1" presetClass="entr" presetSubtype="0" fill="hold" grpId="0" nodeType="withEffect">
                                  <p:stCondLst>
                                    <p:cond delay="0"/>
                                  </p:stCondLst>
                                  <p:childTnLst>
                                    <p:set>
                                      <p:cBhvr>
                                        <p:cTn id="121" dur="1" fill="hold">
                                          <p:stCondLst>
                                            <p:cond delay="0"/>
                                          </p:stCondLst>
                                        </p:cTn>
                                        <p:tgtEl>
                                          <p:spTgt spid="43"/>
                                        </p:tgtEl>
                                        <p:attrNameLst>
                                          <p:attrName>style.visibility</p:attrName>
                                        </p:attrNameLst>
                                      </p:cBhvr>
                                      <p:to>
                                        <p:strVal val="visible"/>
                                      </p:to>
                                    </p:set>
                                  </p:childTnLst>
                                </p:cTn>
                              </p:par>
                              <p:par>
                                <p:cTn id="122" presetID="1" presetClass="entr" presetSubtype="0" fill="hold" grpId="0" nodeType="withEffect">
                                  <p:stCondLst>
                                    <p:cond delay="0"/>
                                  </p:stCondLst>
                                  <p:childTnLst>
                                    <p:set>
                                      <p:cBhvr>
                                        <p:cTn id="123" dur="1" fill="hold">
                                          <p:stCondLst>
                                            <p:cond delay="0"/>
                                          </p:stCondLst>
                                        </p:cTn>
                                        <p:tgtEl>
                                          <p:spTgt spid="48"/>
                                        </p:tgtEl>
                                        <p:attrNameLst>
                                          <p:attrName>style.visibility</p:attrName>
                                        </p:attrNameLst>
                                      </p:cBhvr>
                                      <p:to>
                                        <p:strVal val="visible"/>
                                      </p:to>
                                    </p:set>
                                  </p:childTnLst>
                                </p:cTn>
                              </p:par>
                            </p:childTnLst>
                          </p:cTn>
                        </p:par>
                      </p:childTnLst>
                    </p:cTn>
                  </p:par>
                  <p:par>
                    <p:cTn id="124" fill="hold">
                      <p:stCondLst>
                        <p:cond delay="indefinite"/>
                      </p:stCondLst>
                      <p:childTnLst>
                        <p:par>
                          <p:cTn id="125" fill="hold">
                            <p:stCondLst>
                              <p:cond delay="0"/>
                            </p:stCondLst>
                            <p:childTnLst>
                              <p:par>
                                <p:cTn id="126" presetID="1" presetClass="entr" presetSubtype="0" fill="hold" grpId="0" nodeType="clickEffect">
                                  <p:stCondLst>
                                    <p:cond delay="0"/>
                                  </p:stCondLst>
                                  <p:childTnLst>
                                    <p:set>
                                      <p:cBhvr>
                                        <p:cTn id="127" dur="1" fill="hold">
                                          <p:stCondLst>
                                            <p:cond delay="0"/>
                                          </p:stCondLst>
                                        </p:cTn>
                                        <p:tgtEl>
                                          <p:spTgt spid="33"/>
                                        </p:tgtEl>
                                        <p:attrNameLst>
                                          <p:attrName>style.visibility</p:attrName>
                                        </p:attrNameLst>
                                      </p:cBhvr>
                                      <p:to>
                                        <p:strVal val="visible"/>
                                      </p:to>
                                    </p:set>
                                  </p:childTnLst>
                                </p:cTn>
                              </p:par>
                              <p:par>
                                <p:cTn id="128" presetID="1" presetClass="entr" presetSubtype="0" fill="hold" nodeType="withEffect">
                                  <p:stCondLst>
                                    <p:cond delay="0"/>
                                  </p:stCondLst>
                                  <p:childTnLst>
                                    <p:set>
                                      <p:cBhvr>
                                        <p:cTn id="129" dur="1" fill="hold">
                                          <p:stCondLst>
                                            <p:cond delay="0"/>
                                          </p:stCondLst>
                                        </p:cTn>
                                        <p:tgtEl>
                                          <p:spTgt spid="45"/>
                                        </p:tgtEl>
                                        <p:attrNameLst>
                                          <p:attrName>style.visibility</p:attrName>
                                        </p:attrNameLst>
                                      </p:cBhvr>
                                      <p:to>
                                        <p:strVal val="visible"/>
                                      </p:to>
                                    </p:set>
                                  </p:childTnLst>
                                </p:cTn>
                              </p:par>
                              <p:par>
                                <p:cTn id="130" presetID="1" presetClass="entr" presetSubtype="0" fill="hold" grpId="0" nodeType="withEffect">
                                  <p:stCondLst>
                                    <p:cond delay="0"/>
                                  </p:stCondLst>
                                  <p:childTnLst>
                                    <p:set>
                                      <p:cBhvr>
                                        <p:cTn id="131" dur="1" fill="hold">
                                          <p:stCondLst>
                                            <p:cond delay="0"/>
                                          </p:stCondLst>
                                        </p:cTn>
                                        <p:tgtEl>
                                          <p:spTgt spid="50"/>
                                        </p:tgtEl>
                                        <p:attrNameLst>
                                          <p:attrName>style.visibility</p:attrName>
                                        </p:attrNameLst>
                                      </p:cBhvr>
                                      <p:to>
                                        <p:strVal val="visible"/>
                                      </p:to>
                                    </p:set>
                                  </p:childTnLst>
                                </p:cTn>
                              </p:par>
                              <p:par>
                                <p:cTn id="132" presetID="1" presetClass="entr" presetSubtype="0" fill="hold" nodeType="withEffect">
                                  <p:stCondLst>
                                    <p:cond delay="0"/>
                                  </p:stCondLst>
                                  <p:childTnLst>
                                    <p:set>
                                      <p:cBhvr>
                                        <p:cTn id="133" dur="1" fill="hold">
                                          <p:stCondLst>
                                            <p:cond delay="0"/>
                                          </p:stCondLst>
                                        </p:cTn>
                                        <p:tgtEl>
                                          <p:spTgt spid="34"/>
                                        </p:tgtEl>
                                        <p:attrNameLst>
                                          <p:attrName>style.visibility</p:attrName>
                                        </p:attrNameLst>
                                      </p:cBhvr>
                                      <p:to>
                                        <p:strVal val="visible"/>
                                      </p:to>
                                    </p:set>
                                  </p:childTnLst>
                                </p:cTn>
                              </p:par>
                              <p:par>
                                <p:cTn id="134" presetID="1" presetClass="entr" presetSubtype="0" fill="hold" grpId="0" nodeType="withEffect">
                                  <p:stCondLst>
                                    <p:cond delay="0"/>
                                  </p:stCondLst>
                                  <p:childTnLst>
                                    <p:set>
                                      <p:cBhvr>
                                        <p:cTn id="135" dur="1" fill="hold">
                                          <p:stCondLst>
                                            <p:cond delay="0"/>
                                          </p:stCondLst>
                                        </p:cTn>
                                        <p:tgtEl>
                                          <p:spTgt spid="44"/>
                                        </p:tgtEl>
                                        <p:attrNameLst>
                                          <p:attrName>style.visibility</p:attrName>
                                        </p:attrNameLst>
                                      </p:cBhvr>
                                      <p:to>
                                        <p:strVal val="visible"/>
                                      </p:to>
                                    </p:set>
                                  </p:childTnLst>
                                </p:cTn>
                              </p:par>
                              <p:par>
                                <p:cTn id="136" presetID="1" presetClass="entr" presetSubtype="0" fill="hold" nodeType="withEffect">
                                  <p:stCondLst>
                                    <p:cond delay="0"/>
                                  </p:stCondLst>
                                  <p:childTnLst>
                                    <p:set>
                                      <p:cBhvr>
                                        <p:cTn id="137" dur="1" fill="hold">
                                          <p:stCondLst>
                                            <p:cond delay="0"/>
                                          </p:stCondLst>
                                        </p:cTn>
                                        <p:tgtEl>
                                          <p:spTgt spid="47"/>
                                        </p:tgtEl>
                                        <p:attrNameLst>
                                          <p:attrName>style.visibility</p:attrName>
                                        </p:attrNameLst>
                                      </p:cBhvr>
                                      <p:to>
                                        <p:strVal val="visible"/>
                                      </p:to>
                                    </p:set>
                                  </p:childTnLst>
                                </p:cTn>
                              </p:par>
                              <p:par>
                                <p:cTn id="138" presetID="1" presetClass="entr" presetSubtype="0" fill="hold" grpId="0" nodeType="withEffect">
                                  <p:stCondLst>
                                    <p:cond delay="0"/>
                                  </p:stCondLst>
                                  <p:childTnLst>
                                    <p:set>
                                      <p:cBhvr>
                                        <p:cTn id="139" dur="1" fill="hold">
                                          <p:stCondLst>
                                            <p:cond delay="0"/>
                                          </p:stCondLst>
                                        </p:cTn>
                                        <p:tgtEl>
                                          <p:spTgt spid="46"/>
                                        </p:tgtEl>
                                        <p:attrNameLst>
                                          <p:attrName>style.visibility</p:attrName>
                                        </p:attrNameLst>
                                      </p:cBhvr>
                                      <p:to>
                                        <p:strVal val="visible"/>
                                      </p:to>
                                    </p:set>
                                  </p:childTnLst>
                                </p:cTn>
                              </p:par>
                              <p:par>
                                <p:cTn id="140" presetID="9" presetClass="emph" presetSubtype="0" nodeType="withEffect">
                                  <p:stCondLst>
                                    <p:cond delay="0"/>
                                  </p:stCondLst>
                                  <p:childTnLst>
                                    <p:set>
                                      <p:cBhvr rctx="PPT">
                                        <p:cTn id="141" dur="indefinite"/>
                                        <p:tgtEl>
                                          <p:spTgt spid="27"/>
                                        </p:tgtEl>
                                        <p:attrNameLst>
                                          <p:attrName>style.opacity</p:attrName>
                                        </p:attrNameLst>
                                      </p:cBhvr>
                                      <p:to>
                                        <p:strVal val="0.25"/>
                                      </p:to>
                                    </p:set>
                                    <p:animEffect filter="image" prLst="opacity: 0.25">
                                      <p:cBhvr rctx="IE">
                                        <p:cTn id="142" dur="indefinite"/>
                                        <p:tgtEl>
                                          <p:spTgt spid="27"/>
                                        </p:tgtEl>
                                      </p:cBhvr>
                                    </p:animEffect>
                                  </p:childTnLst>
                                </p:cTn>
                              </p:par>
                              <p:par>
                                <p:cTn id="143" presetID="9" presetClass="emph" presetSubtype="0" nodeType="withEffect">
                                  <p:stCondLst>
                                    <p:cond delay="0"/>
                                  </p:stCondLst>
                                  <p:childTnLst>
                                    <p:set>
                                      <p:cBhvr rctx="PPT">
                                        <p:cTn id="144" dur="indefinite"/>
                                        <p:tgtEl>
                                          <p:spTgt spid="38"/>
                                        </p:tgtEl>
                                        <p:attrNameLst>
                                          <p:attrName>style.opacity</p:attrName>
                                        </p:attrNameLst>
                                      </p:cBhvr>
                                      <p:to>
                                        <p:strVal val="0.25"/>
                                      </p:to>
                                    </p:set>
                                    <p:animEffect filter="image" prLst="opacity: 0.25">
                                      <p:cBhvr rctx="IE">
                                        <p:cTn id="145" dur="indefinite"/>
                                        <p:tgtEl>
                                          <p:spTgt spid="38"/>
                                        </p:tgtEl>
                                      </p:cBhvr>
                                    </p:animEffect>
                                  </p:childTnLst>
                                </p:cTn>
                              </p:par>
                            </p:childTnLst>
                          </p:cTn>
                        </p:par>
                      </p:childTnLst>
                    </p:cTn>
                  </p:par>
                  <p:par>
                    <p:cTn id="146" fill="hold">
                      <p:stCondLst>
                        <p:cond delay="indefinite"/>
                      </p:stCondLst>
                      <p:childTnLst>
                        <p:par>
                          <p:cTn id="147" fill="hold">
                            <p:stCondLst>
                              <p:cond delay="0"/>
                            </p:stCondLst>
                            <p:childTnLst>
                              <p:par>
                                <p:cTn id="148" presetID="1" presetClass="entr" presetSubtype="0" fill="hold" grpId="0" nodeType="clickEffect">
                                  <p:stCondLst>
                                    <p:cond delay="0"/>
                                  </p:stCondLst>
                                  <p:childTnLst>
                                    <p:set>
                                      <p:cBhvr>
                                        <p:cTn id="149"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6" grpId="1" animBg="1"/>
      <p:bldP spid="8" grpId="0" animBg="1"/>
      <p:bldP spid="9" grpId="0" animBg="1"/>
      <p:bldP spid="10" grpId="0" animBg="1"/>
      <p:bldP spid="11" grpId="0" animBg="1"/>
      <p:bldP spid="13" grpId="0" animBg="1"/>
      <p:bldP spid="14" grpId="0" animBg="1"/>
      <p:bldP spid="15" grpId="0" animBg="1"/>
      <p:bldP spid="16" grpId="0" animBg="1"/>
      <p:bldP spid="18" grpId="0" animBg="1"/>
      <p:bldP spid="20" grpId="0" animBg="1"/>
      <p:bldP spid="21" grpId="0" animBg="1"/>
      <p:bldP spid="22" grpId="0" animBg="1"/>
      <p:bldP spid="24" grpId="0" animBg="1"/>
      <p:bldP spid="32" grpId="0" animBg="1"/>
      <p:bldP spid="33" grpId="0" animBg="1"/>
      <p:bldP spid="35" grpId="0" animBg="1"/>
      <p:bldP spid="35" grpId="1" animBg="1"/>
      <p:bldP spid="39" grpId="0" animBg="1"/>
      <p:bldP spid="39" grpId="1" animBg="1"/>
      <p:bldP spid="40" grpId="0" animBg="1"/>
      <p:bldP spid="40" grpId="1" animBg="1"/>
      <p:bldP spid="41" grpId="0" animBg="1"/>
      <p:bldP spid="41" grpId="1" animBg="1"/>
      <p:bldP spid="43" grpId="0" animBg="1"/>
      <p:bldP spid="44" grpId="0" animBg="1"/>
      <p:bldP spid="46" grpId="0" animBg="1"/>
      <p:bldP spid="48" grpId="0" animBg="1"/>
      <p:bldP spid="49" grpId="0" animBg="1"/>
      <p:bldP spid="49" grpId="1" animBg="1"/>
      <p:bldP spid="50" grpId="0" animBg="1"/>
      <p:bldP spid="5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Types of Cryptographic Systems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dirty="0"/>
              <a:t>Two types</a:t>
            </a:r>
          </a:p>
          <a:p>
            <a:pPr lvl="2"/>
            <a:r>
              <a:rPr lang="en-US" sz="2400" dirty="0"/>
              <a:t>Symmetric Cryptosystem (Shared-key system)</a:t>
            </a:r>
          </a:p>
          <a:p>
            <a:pPr lvl="2"/>
            <a:r>
              <a:rPr lang="en-US" sz="2400" dirty="0"/>
              <a:t>Asymmetric Cryptosystem (Public-key system)</a:t>
            </a:r>
          </a:p>
          <a:p>
            <a:pPr marL="0" indent="0">
              <a:buNone/>
            </a:pPr>
            <a:endParaRPr lang="en-US" dirty="0"/>
          </a:p>
        </p:txBody>
      </p:sp>
    </p:spTree>
    <p:extLst>
      <p:ext uri="{BB962C8B-B14F-4D97-AF65-F5344CB8AC3E}">
        <p14:creationId xmlns:p14="http://schemas.microsoft.com/office/powerpoint/2010/main" val="248264899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Symmetric Cryptosystem</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endParaRPr lang="en-US" dirty="0" smtClean="0"/>
          </a:p>
          <a:p>
            <a:endParaRPr lang="en-US" dirty="0"/>
          </a:p>
          <a:p>
            <a:endParaRPr lang="en-US" dirty="0" smtClean="0"/>
          </a:p>
          <a:p>
            <a:endParaRPr lang="en-US" dirty="0"/>
          </a:p>
          <a:p>
            <a:endParaRPr lang="en-US" dirty="0" smtClean="0"/>
          </a:p>
          <a:p>
            <a:endParaRPr lang="en-US" dirty="0" smtClean="0"/>
          </a:p>
          <a:p>
            <a:endParaRPr lang="en-US" dirty="0"/>
          </a:p>
          <a:p>
            <a:r>
              <a:rPr lang="en-US" dirty="0"/>
              <a:t>Safe with a strong lock, only Alice and Bob have a copy of the key</a:t>
            </a:r>
          </a:p>
          <a:p>
            <a:pPr lvl="2"/>
            <a:r>
              <a:rPr lang="en-US" sz="2400" dirty="0"/>
              <a:t>Alice encrypts: locks message in the safe with her key</a:t>
            </a:r>
          </a:p>
          <a:p>
            <a:pPr lvl="2"/>
            <a:r>
              <a:rPr lang="en-US" sz="2400" dirty="0"/>
              <a:t>Bob decrypts: uses his copy of the key to open the safe</a:t>
            </a:r>
          </a:p>
        </p:txBody>
      </p:sp>
      <p:pic>
        <p:nvPicPr>
          <p:cNvPr id="4" name="Picture 2">
            <a:extLst>
              <a:ext uri="{FF2B5EF4-FFF2-40B4-BE49-F238E27FC236}">
                <a16:creationId xmlns:a16="http://schemas.microsoft.com/office/drawing/2014/main" xmlns="" id="{8A80A6E1-2EC4-4BC0-A57F-8B1342D0C3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8002" y="967726"/>
            <a:ext cx="8640960" cy="26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16360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Symmetric Cryptosystem</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dirty="0"/>
              <a:t>A symmetric cryptosystem uses the </a:t>
            </a:r>
            <a:r>
              <a:rPr lang="en-US" dirty="0">
                <a:solidFill>
                  <a:schemeClr val="accent6"/>
                </a:solidFill>
              </a:rPr>
              <a:t>same key </a:t>
            </a:r>
            <a:r>
              <a:rPr lang="en-US" dirty="0"/>
              <a:t>for both encryption and decryption.</a:t>
            </a:r>
          </a:p>
          <a:p>
            <a:pPr marL="457200" lvl="1" indent="0">
              <a:buNone/>
            </a:pPr>
            <a:endParaRPr lang="en-US" sz="2400" b="1" dirty="0"/>
          </a:p>
          <a:p>
            <a:pPr lvl="4"/>
            <a:endParaRPr lang="en-US" sz="1200" dirty="0"/>
          </a:p>
          <a:p>
            <a:r>
              <a:rPr lang="en-US" dirty="0">
                <a:latin typeface="+mj-lt"/>
              </a:rPr>
              <a:t>The shared key </a:t>
            </a:r>
            <a:r>
              <a:rPr lang="en-US" dirty="0">
                <a:latin typeface="+mj-lt"/>
                <a:ea typeface="Cambria Math" pitchFamily="18" charset="0"/>
              </a:rPr>
              <a:t>K</a:t>
            </a:r>
            <a:r>
              <a:rPr lang="en-US" baseline="-25000" dirty="0">
                <a:latin typeface="+mj-lt"/>
                <a:ea typeface="Cambria Math" pitchFamily="18" charset="0"/>
              </a:rPr>
              <a:t>A,B</a:t>
            </a:r>
            <a:r>
              <a:rPr lang="en-US" dirty="0">
                <a:latin typeface="+mj-lt"/>
              </a:rPr>
              <a:t> between Alice </a:t>
            </a:r>
            <a:r>
              <a:rPr lang="en-US" dirty="0">
                <a:latin typeface="+mj-lt"/>
                <a:ea typeface="Cambria Math" pitchFamily="18" charset="0"/>
              </a:rPr>
              <a:t>A</a:t>
            </a:r>
            <a:r>
              <a:rPr lang="en-US" dirty="0">
                <a:latin typeface="+mj-lt"/>
              </a:rPr>
              <a:t> and Bob </a:t>
            </a:r>
            <a:r>
              <a:rPr lang="en-US" dirty="0">
                <a:latin typeface="+mj-lt"/>
                <a:ea typeface="Cambria Math" pitchFamily="18" charset="0"/>
              </a:rPr>
              <a:t>B</a:t>
            </a:r>
            <a:r>
              <a:rPr lang="en-US" dirty="0">
                <a:latin typeface="+mj-lt"/>
              </a:rPr>
              <a:t> should be kept </a:t>
            </a:r>
            <a:r>
              <a:rPr lang="en-US" dirty="0" smtClean="0">
                <a:latin typeface="+mj-lt"/>
              </a:rPr>
              <a:t>secret</a:t>
            </a:r>
            <a:endParaRPr lang="en-US" sz="1200" dirty="0">
              <a:latin typeface="+mj-lt"/>
            </a:endParaRPr>
          </a:p>
          <a:p>
            <a:r>
              <a:rPr lang="en-US" dirty="0" smtClean="0"/>
              <a:t>It </a:t>
            </a:r>
            <a:r>
              <a:rPr lang="en-US" dirty="0"/>
              <a:t>is necessary that the key should be easily alterable if required and is always kept secret.</a:t>
            </a:r>
          </a:p>
          <a:p>
            <a:r>
              <a:rPr lang="en-US" dirty="0"/>
              <a:t>This implies that the key is known only to authorized users.</a:t>
            </a:r>
          </a:p>
          <a:p>
            <a:r>
              <a:rPr lang="en-US" dirty="0"/>
              <a:t>Symmetric cryptosystems are also called as </a:t>
            </a:r>
            <a:r>
              <a:rPr lang="en-US" dirty="0">
                <a:solidFill>
                  <a:schemeClr val="accent6"/>
                </a:solidFill>
              </a:rPr>
              <a:t>shared key or private key cryptosystems </a:t>
            </a:r>
            <a:r>
              <a:rPr lang="en-US" dirty="0"/>
              <a:t>since both sender and receiver share the same key.</a:t>
            </a:r>
          </a:p>
          <a:p>
            <a:endParaRPr lang="en-US" sz="2400" dirty="0"/>
          </a:p>
        </p:txBody>
      </p:sp>
      <mc:AlternateContent xmlns:mc="http://schemas.openxmlformats.org/markup-compatibility/2006" xmlns:a14="http://schemas.microsoft.com/office/drawing/2010/main">
        <mc:Choice Requires="a14">
          <p:sp>
            <p:nvSpPr>
              <p:cNvPr id="5" name="TextBox 4"/>
              <p:cNvSpPr txBox="1"/>
              <p:nvPr/>
            </p:nvSpPr>
            <p:spPr>
              <a:xfrm>
                <a:off x="3429001" y="1385047"/>
                <a:ext cx="2528046" cy="50917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1">
                          <a:solidFill>
                            <a:srgbClr val="1D3064"/>
                          </a:solidFill>
                          <a:latin typeface="Cambria Math" panose="02040503050406030204" pitchFamily="18" charset="0"/>
                        </a:rPr>
                        <m:t>𝑷</m:t>
                      </m:r>
                      <m:r>
                        <a:rPr lang="en-US" sz="2400" b="1" i="1">
                          <a:solidFill>
                            <a:srgbClr val="1D3064"/>
                          </a:solidFill>
                          <a:latin typeface="Cambria Math" panose="02040503050406030204" pitchFamily="18" charset="0"/>
                        </a:rPr>
                        <m:t>=</m:t>
                      </m:r>
                      <m:sSub>
                        <m:sSubPr>
                          <m:ctrlPr>
                            <a:rPr lang="en-US" sz="2400" b="1" i="1">
                              <a:solidFill>
                                <a:srgbClr val="1D3064"/>
                              </a:solidFill>
                              <a:latin typeface="Cambria Math" panose="02040503050406030204" pitchFamily="18" charset="0"/>
                            </a:rPr>
                          </m:ctrlPr>
                        </m:sSubPr>
                        <m:e>
                          <m:r>
                            <a:rPr lang="en-US" sz="2400" b="1" i="1">
                              <a:solidFill>
                                <a:srgbClr val="1D3064"/>
                              </a:solidFill>
                              <a:latin typeface="Cambria Math" panose="02040503050406030204" pitchFamily="18" charset="0"/>
                            </a:rPr>
                            <m:t>𝑫</m:t>
                          </m:r>
                        </m:e>
                        <m:sub>
                          <m:r>
                            <a:rPr lang="en-US" sz="2400" b="1" i="1">
                              <a:solidFill>
                                <a:srgbClr val="1D3064"/>
                              </a:solidFill>
                              <a:latin typeface="Cambria Math" panose="02040503050406030204" pitchFamily="18" charset="0"/>
                            </a:rPr>
                            <m:t>𝑲</m:t>
                          </m:r>
                        </m:sub>
                      </m:sSub>
                      <m:d>
                        <m:dPr>
                          <m:ctrlPr>
                            <a:rPr lang="en-US" sz="2400" b="1" i="1">
                              <a:solidFill>
                                <a:srgbClr val="1D3064"/>
                              </a:solidFill>
                              <a:latin typeface="Cambria Math" panose="02040503050406030204" pitchFamily="18" charset="0"/>
                            </a:rPr>
                          </m:ctrlPr>
                        </m:dPr>
                        <m:e>
                          <m:r>
                            <a:rPr lang="en-US" sz="2400" b="1" i="1">
                              <a:solidFill>
                                <a:srgbClr val="1D3064"/>
                              </a:solidFill>
                              <a:latin typeface="Cambria Math" panose="02040503050406030204" pitchFamily="18" charset="0"/>
                            </a:rPr>
                            <m:t>𝑬</m:t>
                          </m:r>
                          <m:r>
                            <a:rPr lang="en-US" sz="2400" b="1" i="1" baseline="-25000">
                              <a:solidFill>
                                <a:srgbClr val="1D3064"/>
                              </a:solidFill>
                              <a:latin typeface="Cambria Math" panose="02040503050406030204" pitchFamily="18" charset="0"/>
                            </a:rPr>
                            <m:t>𝑲</m:t>
                          </m:r>
                          <m:d>
                            <m:dPr>
                              <m:ctrlPr>
                                <a:rPr lang="en-US" sz="2400" b="1" i="1">
                                  <a:solidFill>
                                    <a:srgbClr val="1D3064"/>
                                  </a:solidFill>
                                  <a:latin typeface="Cambria Math" panose="02040503050406030204" pitchFamily="18" charset="0"/>
                                </a:rPr>
                              </m:ctrlPr>
                            </m:dPr>
                            <m:e>
                              <m:r>
                                <a:rPr lang="en-US" sz="2400" b="1" i="1">
                                  <a:solidFill>
                                    <a:srgbClr val="1D3064"/>
                                  </a:solidFill>
                                  <a:latin typeface="Cambria Math" panose="02040503050406030204" pitchFamily="18" charset="0"/>
                                </a:rPr>
                                <m:t>𝑷</m:t>
                              </m:r>
                            </m:e>
                          </m:d>
                        </m:e>
                      </m:d>
                    </m:oMath>
                  </m:oMathPara>
                </a14:m>
                <a:endParaRPr lang="en-IN" sz="2400" b="1" dirty="0">
                  <a:latin typeface="+mj-lt"/>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3429001" y="1385047"/>
                <a:ext cx="2528046" cy="509178"/>
              </a:xfrm>
              <a:prstGeom prst="rect">
                <a:avLst/>
              </a:prstGeom>
              <a:blipFill rotWithShape="0">
                <a:blip r:embed="rId2"/>
                <a:stretch>
                  <a:fillRect/>
                </a:stretch>
              </a:blipFill>
            </p:spPr>
            <p:txBody>
              <a:bodyPr/>
              <a:lstStyle/>
              <a:p>
                <a:r>
                  <a:rPr lang="en-IN">
                    <a:noFill/>
                  </a:rPr>
                  <a:t> </a:t>
                </a:r>
              </a:p>
            </p:txBody>
          </p:sp>
        </mc:Fallback>
      </mc:AlternateContent>
      <p:sp>
        <p:nvSpPr>
          <p:cNvPr id="6" name="Rectangle 5"/>
          <p:cNvSpPr/>
          <p:nvPr/>
        </p:nvSpPr>
        <p:spPr>
          <a:xfrm>
            <a:off x="3589361" y="4463069"/>
            <a:ext cx="773090" cy="485650"/>
          </a:xfrm>
          <a:prstGeom prst="rect">
            <a:avLst/>
          </a:prstGeom>
          <a:solidFill>
            <a:srgbClr val="1D3064"/>
          </a:solidFill>
          <a:ln>
            <a:noFill/>
          </a:ln>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1600" dirty="0" smtClean="0">
                <a:latin typeface="+mj-lt"/>
              </a:rPr>
              <a:t>Alice</a:t>
            </a:r>
            <a:endParaRPr lang="en-US" sz="1600" dirty="0">
              <a:latin typeface="+mj-lt"/>
            </a:endParaRPr>
          </a:p>
        </p:txBody>
      </p:sp>
      <p:sp>
        <p:nvSpPr>
          <p:cNvPr id="7" name="Rectangle 6"/>
          <p:cNvSpPr/>
          <p:nvPr/>
        </p:nvSpPr>
        <p:spPr>
          <a:xfrm>
            <a:off x="6015874" y="4474465"/>
            <a:ext cx="753416" cy="460606"/>
          </a:xfrm>
          <a:prstGeom prst="rect">
            <a:avLst/>
          </a:prstGeom>
          <a:solidFill>
            <a:schemeClr val="accent6"/>
          </a:solidFill>
          <a:ln>
            <a:noFill/>
          </a:ln>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1600" dirty="0" smtClean="0">
                <a:latin typeface="+mj-lt"/>
              </a:rPr>
              <a:t>Bob</a:t>
            </a:r>
            <a:endParaRPr lang="en-US" sz="1600" dirty="0">
              <a:latin typeface="+mj-lt"/>
            </a:endParaRPr>
          </a:p>
        </p:txBody>
      </p:sp>
      <p:cxnSp>
        <p:nvCxnSpPr>
          <p:cNvPr id="8" name="Straight Arrow Connector 7"/>
          <p:cNvCxnSpPr>
            <a:stCxn id="6" idx="3"/>
            <a:endCxn id="7" idx="1"/>
          </p:cNvCxnSpPr>
          <p:nvPr/>
        </p:nvCxnSpPr>
        <p:spPr>
          <a:xfrm flipV="1">
            <a:off x="4362451" y="4704768"/>
            <a:ext cx="1653423" cy="1126"/>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Rectangle 8"/>
              <p:cNvSpPr/>
              <p:nvPr/>
            </p:nvSpPr>
            <p:spPr>
              <a:xfrm>
                <a:off x="2693894" y="5299315"/>
                <a:ext cx="1470213" cy="30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000" b="1" i="1" smtClean="0">
                          <a:solidFill>
                            <a:srgbClr val="1D3064"/>
                          </a:solidFill>
                          <a:latin typeface="Cambria Math" panose="02040503050406030204" pitchFamily="18" charset="0"/>
                        </a:rPr>
                        <m:t>𝑪</m:t>
                      </m:r>
                      <m:r>
                        <a:rPr lang="en-US" sz="2000" b="1" i="1" smtClean="0">
                          <a:solidFill>
                            <a:srgbClr val="1D3064"/>
                          </a:solidFill>
                          <a:latin typeface="Cambria Math" panose="02040503050406030204" pitchFamily="18" charset="0"/>
                        </a:rPr>
                        <m:t>=</m:t>
                      </m:r>
                      <m:r>
                        <a:rPr lang="en-US" sz="2000" b="1" i="1">
                          <a:solidFill>
                            <a:srgbClr val="1D3064"/>
                          </a:solidFill>
                          <a:latin typeface="Cambria Math" panose="02040503050406030204" pitchFamily="18" charset="0"/>
                        </a:rPr>
                        <m:t>𝑬</m:t>
                      </m:r>
                      <m:r>
                        <a:rPr lang="en-US" sz="2000" b="1" i="1" baseline="-25000">
                          <a:solidFill>
                            <a:srgbClr val="1D3064"/>
                          </a:solidFill>
                          <a:latin typeface="Cambria Math" panose="02040503050406030204" pitchFamily="18" charset="0"/>
                        </a:rPr>
                        <m:t>𝑲</m:t>
                      </m:r>
                      <m:d>
                        <m:dPr>
                          <m:ctrlPr>
                            <a:rPr lang="en-US" sz="2000" b="1" i="1">
                              <a:solidFill>
                                <a:srgbClr val="1D3064"/>
                              </a:solidFill>
                              <a:latin typeface="Cambria Math" panose="02040503050406030204" pitchFamily="18" charset="0"/>
                            </a:rPr>
                          </m:ctrlPr>
                        </m:dPr>
                        <m:e>
                          <m:r>
                            <a:rPr lang="en-US" sz="2000" b="1" i="1">
                              <a:solidFill>
                                <a:srgbClr val="1D3064"/>
                              </a:solidFill>
                              <a:latin typeface="Cambria Math" panose="02040503050406030204" pitchFamily="18" charset="0"/>
                            </a:rPr>
                            <m:t>𝑷</m:t>
                          </m:r>
                        </m:e>
                      </m:d>
                    </m:oMath>
                  </m:oMathPara>
                </a14:m>
                <a:endParaRPr lang="en-US" sz="2000" b="1" dirty="0">
                  <a:solidFill>
                    <a:srgbClr val="1D3064"/>
                  </a:solidFill>
                  <a:latin typeface="+mj-lt"/>
                </a:endParaRPr>
              </a:p>
            </p:txBody>
          </p:sp>
        </mc:Choice>
        <mc:Fallback xmlns="">
          <p:sp>
            <p:nvSpPr>
              <p:cNvPr id="9" name="Rectangle 8"/>
              <p:cNvSpPr>
                <a:spLocks noRot="1" noChangeAspect="1" noMove="1" noResize="1" noEditPoints="1" noAdjustHandles="1" noChangeArrowheads="1" noChangeShapeType="1" noTextEdit="1"/>
              </p:cNvSpPr>
              <p:nvPr/>
            </p:nvSpPr>
            <p:spPr>
              <a:xfrm>
                <a:off x="2693894" y="5299315"/>
                <a:ext cx="1470213" cy="304800"/>
              </a:xfrm>
              <a:prstGeom prst="rect">
                <a:avLst/>
              </a:prstGeom>
              <a:blipFill rotWithShape="0">
                <a:blip r:embed="rId3"/>
                <a:stretch>
                  <a:fillRect b="-18000"/>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6162714" y="5311837"/>
                <a:ext cx="1405782" cy="30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000" b="1" i="1" smtClean="0">
                          <a:solidFill>
                            <a:schemeClr val="accent6"/>
                          </a:solidFill>
                          <a:latin typeface="Cambria Math" panose="02040503050406030204" pitchFamily="18" charset="0"/>
                        </a:rPr>
                        <m:t>𝑷</m:t>
                      </m:r>
                      <m:r>
                        <a:rPr lang="en-US" sz="2000" b="1" i="1" smtClean="0">
                          <a:solidFill>
                            <a:schemeClr val="accent6"/>
                          </a:solidFill>
                          <a:latin typeface="Cambria Math" panose="02040503050406030204" pitchFamily="18" charset="0"/>
                        </a:rPr>
                        <m:t>=</m:t>
                      </m:r>
                      <m:sSub>
                        <m:sSubPr>
                          <m:ctrlPr>
                            <a:rPr lang="en-US" sz="2000" b="1" i="1" smtClean="0">
                              <a:solidFill>
                                <a:schemeClr val="accent6"/>
                              </a:solidFill>
                              <a:latin typeface="Cambria Math" panose="02040503050406030204" pitchFamily="18" charset="0"/>
                            </a:rPr>
                          </m:ctrlPr>
                        </m:sSubPr>
                        <m:e>
                          <m:r>
                            <a:rPr lang="en-US" sz="2000" b="1" i="1" smtClean="0">
                              <a:solidFill>
                                <a:schemeClr val="accent6"/>
                              </a:solidFill>
                              <a:latin typeface="Cambria Math" panose="02040503050406030204" pitchFamily="18" charset="0"/>
                            </a:rPr>
                            <m:t>𝑫</m:t>
                          </m:r>
                        </m:e>
                        <m:sub>
                          <m:r>
                            <a:rPr lang="en-US" sz="2000" b="1" i="1" smtClean="0">
                              <a:solidFill>
                                <a:schemeClr val="accent6"/>
                              </a:solidFill>
                              <a:latin typeface="Cambria Math" panose="02040503050406030204" pitchFamily="18" charset="0"/>
                            </a:rPr>
                            <m:t>𝑲</m:t>
                          </m:r>
                        </m:sub>
                      </m:sSub>
                      <m:d>
                        <m:dPr>
                          <m:ctrlPr>
                            <a:rPr lang="en-US" sz="2000" b="1" i="1">
                              <a:solidFill>
                                <a:schemeClr val="accent6"/>
                              </a:solidFill>
                              <a:latin typeface="Cambria Math" panose="02040503050406030204" pitchFamily="18" charset="0"/>
                            </a:rPr>
                          </m:ctrlPr>
                        </m:dPr>
                        <m:e>
                          <m:r>
                            <a:rPr lang="en-US" sz="2000" b="1" i="1" smtClean="0">
                              <a:solidFill>
                                <a:schemeClr val="accent6"/>
                              </a:solidFill>
                              <a:latin typeface="Cambria Math" panose="02040503050406030204" pitchFamily="18" charset="0"/>
                            </a:rPr>
                            <m:t>𝑪</m:t>
                          </m:r>
                        </m:e>
                      </m:d>
                    </m:oMath>
                  </m:oMathPara>
                </a14:m>
                <a:endParaRPr lang="en-US" sz="2000" b="1" dirty="0">
                  <a:solidFill>
                    <a:schemeClr val="accent6"/>
                  </a:solidFill>
                  <a:latin typeface="+mj-lt"/>
                </a:endParaRPr>
              </a:p>
            </p:txBody>
          </p:sp>
        </mc:Choice>
        <mc:Fallback xmlns="">
          <p:sp>
            <p:nvSpPr>
              <p:cNvPr id="10" name="Rectangle 9"/>
              <p:cNvSpPr>
                <a:spLocks noRot="1" noChangeAspect="1" noMove="1" noResize="1" noEditPoints="1" noAdjustHandles="1" noChangeArrowheads="1" noChangeShapeType="1" noTextEdit="1"/>
              </p:cNvSpPr>
              <p:nvPr/>
            </p:nvSpPr>
            <p:spPr>
              <a:xfrm>
                <a:off x="6162714" y="5311837"/>
                <a:ext cx="1405782" cy="304800"/>
              </a:xfrm>
              <a:prstGeom prst="rect">
                <a:avLst/>
              </a:prstGeom>
              <a:blipFill rotWithShape="0">
                <a:blip r:embed="rId4"/>
                <a:stretch>
                  <a:fillRect l="-1732" b="-20000"/>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5036762" y="4169665"/>
                <a:ext cx="304800" cy="304800"/>
              </a:xfrm>
              <a:prstGeom prst="rect">
                <a:avLst/>
              </a:prstGeom>
              <a:solidFill>
                <a:schemeClr val="accent4"/>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1" i="1" smtClean="0">
                          <a:solidFill>
                            <a:schemeClr val="bg1"/>
                          </a:solidFill>
                          <a:latin typeface="Cambria Math" panose="02040503050406030204" pitchFamily="18" charset="0"/>
                        </a:rPr>
                        <m:t>𝑪</m:t>
                      </m:r>
                    </m:oMath>
                  </m:oMathPara>
                </a14:m>
                <a:endParaRPr lang="en-US" sz="2400" b="1" dirty="0">
                  <a:solidFill>
                    <a:schemeClr val="bg1"/>
                  </a:solidFill>
                  <a:latin typeface="+mj-lt"/>
                </a:endParaRPr>
              </a:p>
            </p:txBody>
          </p:sp>
        </mc:Choice>
        <mc:Fallback xmlns="">
          <p:sp>
            <p:nvSpPr>
              <p:cNvPr id="11" name="Rectangle 10"/>
              <p:cNvSpPr>
                <a:spLocks noRot="1" noChangeAspect="1" noMove="1" noResize="1" noEditPoints="1" noAdjustHandles="1" noChangeArrowheads="1" noChangeShapeType="1" noTextEdit="1"/>
              </p:cNvSpPr>
              <p:nvPr/>
            </p:nvSpPr>
            <p:spPr>
              <a:xfrm>
                <a:off x="5036762" y="4169665"/>
                <a:ext cx="304800" cy="304800"/>
              </a:xfrm>
              <a:prstGeom prst="rect">
                <a:avLst/>
              </a:prstGeom>
              <a:blipFill rotWithShape="0">
                <a:blip r:embed="rId5"/>
                <a:stretch>
                  <a:fillRect l="-28000" r="-4000" b="-20000"/>
                </a:stretch>
              </a:blipFill>
              <a:ln>
                <a:noFill/>
              </a:ln>
            </p:spPr>
            <p:txBody>
              <a:bodyPr/>
              <a:lstStyle/>
              <a:p>
                <a:r>
                  <a:rPr lang="en-IN">
                    <a:noFill/>
                  </a:rPr>
                  <a:t> </a:t>
                </a:r>
              </a:p>
            </p:txBody>
          </p:sp>
        </mc:Fallback>
      </mc:AlternateContent>
    </p:spTree>
    <p:extLst>
      <p:ext uri="{BB962C8B-B14F-4D97-AF65-F5344CB8AC3E}">
        <p14:creationId xmlns:p14="http://schemas.microsoft.com/office/powerpoint/2010/main" val="934527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animBg="1"/>
      <p:bldP spid="9" grpId="0"/>
      <p:bldP spid="10" grpId="0"/>
      <p:bldP spid="1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Symmetric Cryptosystem</a:t>
            </a:r>
          </a:p>
        </p:txBody>
      </p:sp>
      <p:sp>
        <p:nvSpPr>
          <p:cNvPr id="12" name="Rectangle 11"/>
          <p:cNvSpPr/>
          <p:nvPr/>
        </p:nvSpPr>
        <p:spPr>
          <a:xfrm>
            <a:off x="2500185" y="1659924"/>
            <a:ext cx="1524000" cy="685800"/>
          </a:xfrm>
          <a:prstGeom prst="rect">
            <a:avLst/>
          </a:prstGeom>
          <a:ln>
            <a:solidFill>
              <a:schemeClr val="tx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Encryption</a:t>
            </a:r>
          </a:p>
          <a:p>
            <a:pPr algn="ctr"/>
            <a:r>
              <a:rPr lang="en-US" sz="2000" dirty="0"/>
              <a:t>method</a:t>
            </a:r>
          </a:p>
        </p:txBody>
      </p:sp>
      <p:sp>
        <p:nvSpPr>
          <p:cNvPr id="13" name="Rectangle 12"/>
          <p:cNvSpPr/>
          <p:nvPr/>
        </p:nvSpPr>
        <p:spPr>
          <a:xfrm>
            <a:off x="5477285" y="1887840"/>
            <a:ext cx="596236" cy="228600"/>
          </a:xfrm>
          <a:prstGeom prst="rect">
            <a:avLst/>
          </a:prstGeom>
          <a:ln>
            <a:solidFill>
              <a:schemeClr val="tx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000" dirty="0"/>
          </a:p>
        </p:txBody>
      </p:sp>
      <p:sp>
        <p:nvSpPr>
          <p:cNvPr id="14" name="Rectangle 13"/>
          <p:cNvSpPr/>
          <p:nvPr/>
        </p:nvSpPr>
        <p:spPr>
          <a:xfrm>
            <a:off x="7502038" y="1659924"/>
            <a:ext cx="1524000" cy="685800"/>
          </a:xfrm>
          <a:prstGeom prst="rect">
            <a:avLst/>
          </a:prstGeom>
          <a:ln>
            <a:solidFill>
              <a:schemeClr val="tx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Decryption method</a:t>
            </a:r>
          </a:p>
        </p:txBody>
      </p:sp>
      <p:cxnSp>
        <p:nvCxnSpPr>
          <p:cNvPr id="15" name="Straight Arrow Connector 14"/>
          <p:cNvCxnSpPr>
            <a:stCxn id="12" idx="3"/>
            <a:endCxn id="13" idx="1"/>
          </p:cNvCxnSpPr>
          <p:nvPr/>
        </p:nvCxnSpPr>
        <p:spPr>
          <a:xfrm flipV="1">
            <a:off x="4024185" y="2002140"/>
            <a:ext cx="1453100" cy="684"/>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13" idx="3"/>
            <a:endCxn id="14" idx="1"/>
          </p:cNvCxnSpPr>
          <p:nvPr/>
        </p:nvCxnSpPr>
        <p:spPr>
          <a:xfrm>
            <a:off x="6073521" y="2002140"/>
            <a:ext cx="1428517" cy="684"/>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22" idx="0"/>
            <a:endCxn id="14" idx="2"/>
          </p:cNvCxnSpPr>
          <p:nvPr/>
        </p:nvCxnSpPr>
        <p:spPr>
          <a:xfrm flipV="1">
            <a:off x="8264038" y="2345724"/>
            <a:ext cx="0" cy="112783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2009790" y="2586478"/>
            <a:ext cx="1308500" cy="707886"/>
          </a:xfrm>
          <a:prstGeom prst="rect">
            <a:avLst/>
          </a:prstGeom>
          <a:noFill/>
        </p:spPr>
        <p:txBody>
          <a:bodyPr wrap="none" rtlCol="0">
            <a:spAutoFit/>
          </a:bodyPr>
          <a:lstStyle/>
          <a:p>
            <a:pPr algn="ctr"/>
            <a:r>
              <a:rPr lang="en-US" sz="2000" dirty="0"/>
              <a:t>Encryption</a:t>
            </a:r>
          </a:p>
          <a:p>
            <a:pPr algn="ctr"/>
            <a:r>
              <a:rPr lang="en-US" sz="2000" dirty="0"/>
              <a:t>Key, K</a:t>
            </a:r>
          </a:p>
        </p:txBody>
      </p:sp>
      <p:sp>
        <p:nvSpPr>
          <p:cNvPr id="19" name="TextBox 18"/>
          <p:cNvSpPr txBox="1"/>
          <p:nvPr/>
        </p:nvSpPr>
        <p:spPr>
          <a:xfrm>
            <a:off x="5138594" y="2540347"/>
            <a:ext cx="1273618" cy="400110"/>
          </a:xfrm>
          <a:prstGeom prst="rect">
            <a:avLst/>
          </a:prstGeom>
          <a:noFill/>
        </p:spPr>
        <p:txBody>
          <a:bodyPr wrap="none" rtlCol="0">
            <a:spAutoFit/>
          </a:bodyPr>
          <a:lstStyle/>
          <a:p>
            <a:pPr algn="ctr"/>
            <a:r>
              <a:rPr lang="en-US" sz="2000" dirty="0"/>
              <a:t>Ciphertext</a:t>
            </a:r>
          </a:p>
        </p:txBody>
      </p:sp>
      <p:sp>
        <p:nvSpPr>
          <p:cNvPr id="20" name="Rectangle 19"/>
          <p:cNvSpPr/>
          <p:nvPr/>
        </p:nvSpPr>
        <p:spPr>
          <a:xfrm>
            <a:off x="4949491" y="3259440"/>
            <a:ext cx="1676400" cy="685800"/>
          </a:xfrm>
          <a:prstGeom prst="rect">
            <a:avLst/>
          </a:prstGeom>
          <a:ln>
            <a:solidFill>
              <a:schemeClr val="tx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Symmetric</a:t>
            </a:r>
          </a:p>
          <a:p>
            <a:pPr algn="ctr"/>
            <a:r>
              <a:rPr lang="en-US" sz="2000" dirty="0"/>
              <a:t>Key generator</a:t>
            </a:r>
          </a:p>
        </p:txBody>
      </p:sp>
      <p:sp>
        <p:nvSpPr>
          <p:cNvPr id="21" name="Rectangle 20"/>
          <p:cNvSpPr/>
          <p:nvPr/>
        </p:nvSpPr>
        <p:spPr>
          <a:xfrm>
            <a:off x="2964067" y="3473563"/>
            <a:ext cx="596236" cy="228600"/>
          </a:xfrm>
          <a:prstGeom prst="rect">
            <a:avLst/>
          </a:prstGeom>
          <a:ln>
            <a:solidFill>
              <a:schemeClr val="tx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000" dirty="0"/>
          </a:p>
        </p:txBody>
      </p:sp>
      <p:sp>
        <p:nvSpPr>
          <p:cNvPr id="22" name="Rectangle 21"/>
          <p:cNvSpPr/>
          <p:nvPr/>
        </p:nvSpPr>
        <p:spPr>
          <a:xfrm>
            <a:off x="7965920" y="3473563"/>
            <a:ext cx="596236" cy="228600"/>
          </a:xfrm>
          <a:prstGeom prst="rect">
            <a:avLst/>
          </a:prstGeom>
          <a:ln>
            <a:solidFill>
              <a:schemeClr val="tx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000" dirty="0"/>
          </a:p>
        </p:txBody>
      </p:sp>
      <p:cxnSp>
        <p:nvCxnSpPr>
          <p:cNvPr id="23" name="Straight Arrow Connector 22"/>
          <p:cNvCxnSpPr>
            <a:stCxn id="21" idx="0"/>
            <a:endCxn id="12" idx="2"/>
          </p:cNvCxnSpPr>
          <p:nvPr/>
        </p:nvCxnSpPr>
        <p:spPr>
          <a:xfrm flipV="1">
            <a:off x="3262185" y="2345724"/>
            <a:ext cx="0" cy="112783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1163217" y="1594708"/>
            <a:ext cx="1352999" cy="400110"/>
          </a:xfrm>
          <a:prstGeom prst="rect">
            <a:avLst/>
          </a:prstGeom>
          <a:noFill/>
        </p:spPr>
        <p:txBody>
          <a:bodyPr wrap="none" rtlCol="0">
            <a:spAutoFit/>
          </a:bodyPr>
          <a:lstStyle/>
          <a:p>
            <a:pPr algn="ctr"/>
            <a:r>
              <a:rPr lang="en-US" sz="2000" dirty="0"/>
              <a:t>Plaintext, P</a:t>
            </a:r>
          </a:p>
        </p:txBody>
      </p:sp>
      <p:cxnSp>
        <p:nvCxnSpPr>
          <p:cNvPr id="25" name="Straight Arrow Connector 24"/>
          <p:cNvCxnSpPr>
            <a:endCxn id="12" idx="1"/>
          </p:cNvCxnSpPr>
          <p:nvPr/>
        </p:nvCxnSpPr>
        <p:spPr>
          <a:xfrm>
            <a:off x="1672892" y="2002140"/>
            <a:ext cx="827293" cy="684"/>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9036146" y="1594708"/>
            <a:ext cx="1352999" cy="400110"/>
          </a:xfrm>
          <a:prstGeom prst="rect">
            <a:avLst/>
          </a:prstGeom>
          <a:noFill/>
        </p:spPr>
        <p:txBody>
          <a:bodyPr wrap="none" rtlCol="0">
            <a:spAutoFit/>
          </a:bodyPr>
          <a:lstStyle/>
          <a:p>
            <a:pPr algn="ctr"/>
            <a:r>
              <a:rPr lang="en-US" sz="2000" dirty="0"/>
              <a:t>Plaintext, P</a:t>
            </a:r>
          </a:p>
        </p:txBody>
      </p:sp>
      <p:cxnSp>
        <p:nvCxnSpPr>
          <p:cNvPr id="27" name="Straight Arrow Connector 26"/>
          <p:cNvCxnSpPr/>
          <p:nvPr/>
        </p:nvCxnSpPr>
        <p:spPr>
          <a:xfrm>
            <a:off x="9049523" y="2004598"/>
            <a:ext cx="827293" cy="684"/>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19" idx="0"/>
            <a:endCxn id="13" idx="2"/>
          </p:cNvCxnSpPr>
          <p:nvPr/>
        </p:nvCxnSpPr>
        <p:spPr>
          <a:xfrm flipV="1">
            <a:off x="5775403" y="2116440"/>
            <a:ext cx="0" cy="423907"/>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3901079" y="4382869"/>
            <a:ext cx="3748655" cy="707886"/>
          </a:xfrm>
          <a:prstGeom prst="rect">
            <a:avLst/>
          </a:prstGeom>
          <a:noFill/>
        </p:spPr>
        <p:txBody>
          <a:bodyPr wrap="none" rtlCol="0">
            <a:spAutoFit/>
          </a:bodyPr>
          <a:lstStyle/>
          <a:p>
            <a:pPr algn="ctr"/>
            <a:r>
              <a:rPr lang="en-US" sz="2000" dirty="0"/>
              <a:t>Secure channels with</a:t>
            </a:r>
          </a:p>
          <a:p>
            <a:pPr algn="ctr"/>
            <a:r>
              <a:rPr lang="en-US" sz="2000" dirty="0"/>
              <a:t>Confidentiality and authentication</a:t>
            </a:r>
          </a:p>
        </p:txBody>
      </p:sp>
      <p:sp>
        <p:nvSpPr>
          <p:cNvPr id="30" name="TextBox 29"/>
          <p:cNvSpPr txBox="1"/>
          <p:nvPr/>
        </p:nvSpPr>
        <p:spPr>
          <a:xfrm>
            <a:off x="8219691" y="2611056"/>
            <a:ext cx="1334148" cy="707886"/>
          </a:xfrm>
          <a:prstGeom prst="rect">
            <a:avLst/>
          </a:prstGeom>
          <a:noFill/>
        </p:spPr>
        <p:txBody>
          <a:bodyPr wrap="none" rtlCol="0">
            <a:spAutoFit/>
          </a:bodyPr>
          <a:lstStyle/>
          <a:p>
            <a:pPr algn="ctr"/>
            <a:r>
              <a:rPr lang="en-US" sz="2000" dirty="0"/>
              <a:t>Decryption</a:t>
            </a:r>
          </a:p>
          <a:p>
            <a:pPr algn="ctr"/>
            <a:r>
              <a:rPr lang="en-US" sz="2000" dirty="0"/>
              <a:t>Key, K</a:t>
            </a:r>
          </a:p>
        </p:txBody>
      </p:sp>
      <p:cxnSp>
        <p:nvCxnSpPr>
          <p:cNvPr id="31" name="Straight Arrow Connector 30"/>
          <p:cNvCxnSpPr>
            <a:endCxn id="21" idx="2"/>
          </p:cNvCxnSpPr>
          <p:nvPr/>
        </p:nvCxnSpPr>
        <p:spPr>
          <a:xfrm flipH="1" flipV="1">
            <a:off x="3262185" y="3702163"/>
            <a:ext cx="1488551" cy="680707"/>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endCxn id="22" idx="2"/>
          </p:cNvCxnSpPr>
          <p:nvPr/>
        </p:nvCxnSpPr>
        <p:spPr>
          <a:xfrm flipV="1">
            <a:off x="6787779" y="3702163"/>
            <a:ext cx="1476259" cy="680705"/>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a:stCxn id="20" idx="1"/>
            <a:endCxn id="21" idx="3"/>
          </p:cNvCxnSpPr>
          <p:nvPr/>
        </p:nvCxnSpPr>
        <p:spPr>
          <a:xfrm flipH="1" flipV="1">
            <a:off x="3560303" y="3587863"/>
            <a:ext cx="1389188" cy="14477"/>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a:stCxn id="22" idx="1"/>
            <a:endCxn id="20" idx="3"/>
          </p:cNvCxnSpPr>
          <p:nvPr/>
        </p:nvCxnSpPr>
        <p:spPr>
          <a:xfrm flipH="1">
            <a:off x="6625891" y="3587863"/>
            <a:ext cx="1340029" cy="14477"/>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4493216" y="5486400"/>
            <a:ext cx="2597955" cy="400110"/>
          </a:xfrm>
          <a:prstGeom prst="rect">
            <a:avLst/>
          </a:prstGeom>
          <a:noFill/>
          <a:ln>
            <a:solidFill>
              <a:srgbClr val="FF0000"/>
            </a:solidFill>
          </a:ln>
        </p:spPr>
        <p:txBody>
          <a:bodyPr wrap="none" rtlCol="0">
            <a:spAutoFit/>
          </a:bodyPr>
          <a:lstStyle/>
          <a:p>
            <a:r>
              <a:rPr lang="en-US" sz="2000" b="1" dirty="0"/>
              <a:t>Secret key Distribution</a:t>
            </a:r>
          </a:p>
        </p:txBody>
      </p:sp>
    </p:spTree>
    <p:extLst>
      <p:ext uri="{BB962C8B-B14F-4D97-AF65-F5344CB8AC3E}">
        <p14:creationId xmlns:p14="http://schemas.microsoft.com/office/powerpoint/2010/main" val="2323204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500"/>
                                        <p:tgtEl>
                                          <p:spTgt spid="25"/>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wipe(left)">
                                      <p:cBhvr>
                                        <p:cTn id="10" dur="500"/>
                                        <p:tgtEl>
                                          <p:spTgt spid="2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left)">
                                      <p:cBhvr>
                                        <p:cTn id="13" dur="500"/>
                                        <p:tgtEl>
                                          <p:spTgt spid="12"/>
                                        </p:tgtEl>
                                      </p:cBhvr>
                                    </p:animEffect>
                                  </p:childTnLst>
                                </p:cTn>
                              </p:par>
                              <p:par>
                                <p:cTn id="14" presetID="22" presetClass="entr" presetSubtype="8"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wipe(left)">
                                      <p:cBhvr>
                                        <p:cTn id="16" dur="500"/>
                                        <p:tgtEl>
                                          <p:spTgt spid="15"/>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left)">
                                      <p:cBhvr>
                                        <p:cTn id="19" dur="500"/>
                                        <p:tgtEl>
                                          <p:spTgt spid="13"/>
                                        </p:tgtEl>
                                      </p:cBhvr>
                                    </p:animEffect>
                                  </p:childTnLst>
                                </p:cTn>
                              </p:par>
                              <p:par>
                                <p:cTn id="20" presetID="22" presetClass="entr" presetSubtype="8" fill="hold" nodeType="with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wipe(left)">
                                      <p:cBhvr>
                                        <p:cTn id="22" dur="500"/>
                                        <p:tgtEl>
                                          <p:spTgt spid="28"/>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wipe(left)">
                                      <p:cBhvr>
                                        <p:cTn id="25" dur="500"/>
                                        <p:tgtEl>
                                          <p:spTgt spid="19"/>
                                        </p:tgtEl>
                                      </p:cBhvr>
                                    </p:animEffect>
                                  </p:childTnLst>
                                </p:cTn>
                              </p:par>
                              <p:par>
                                <p:cTn id="26" presetID="22" presetClass="entr" presetSubtype="8" fill="hold"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wipe(left)">
                                      <p:cBhvr>
                                        <p:cTn id="28" dur="500"/>
                                        <p:tgtEl>
                                          <p:spTgt spid="16"/>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left)">
                                      <p:cBhvr>
                                        <p:cTn id="31" dur="500"/>
                                        <p:tgtEl>
                                          <p:spTgt spid="14"/>
                                        </p:tgtEl>
                                      </p:cBhvr>
                                    </p:animEffect>
                                  </p:childTnLst>
                                </p:cTn>
                              </p:par>
                              <p:par>
                                <p:cTn id="32" presetID="22" presetClass="entr" presetSubtype="8" fill="hold"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wipe(left)">
                                      <p:cBhvr>
                                        <p:cTn id="34" dur="500"/>
                                        <p:tgtEl>
                                          <p:spTgt spid="27"/>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wipe(left)">
                                      <p:cBhvr>
                                        <p:cTn id="37" dur="500"/>
                                        <p:tgtEl>
                                          <p:spTgt spid="2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wipe(down)">
                                      <p:cBhvr>
                                        <p:cTn id="42" dur="500"/>
                                        <p:tgtEl>
                                          <p:spTgt spid="2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33"/>
                                        </p:tgtEl>
                                        <p:attrNameLst>
                                          <p:attrName>style.visibility</p:attrName>
                                        </p:attrNameLst>
                                      </p:cBhvr>
                                      <p:to>
                                        <p:strVal val="visible"/>
                                      </p:to>
                                    </p:set>
                                    <p:animEffect transition="in" filter="wipe(down)">
                                      <p:cBhvr>
                                        <p:cTn id="47" dur="500"/>
                                        <p:tgtEl>
                                          <p:spTgt spid="33"/>
                                        </p:tgtEl>
                                      </p:cBhvr>
                                    </p:animEffect>
                                  </p:childTnLst>
                                </p:cTn>
                              </p:par>
                              <p:par>
                                <p:cTn id="48" presetID="22" presetClass="entr" presetSubtype="4" fill="hold" grpId="0"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wipe(down)">
                                      <p:cBhvr>
                                        <p:cTn id="50" dur="500"/>
                                        <p:tgtEl>
                                          <p:spTgt spid="21"/>
                                        </p:tgtEl>
                                      </p:cBhvr>
                                    </p:animEffect>
                                  </p:childTnLst>
                                </p:cTn>
                              </p:par>
                              <p:par>
                                <p:cTn id="51" presetID="22" presetClass="entr" presetSubtype="4" fill="hold" nodeType="with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wipe(down)">
                                      <p:cBhvr>
                                        <p:cTn id="53" dur="500"/>
                                        <p:tgtEl>
                                          <p:spTgt spid="23"/>
                                        </p:tgtEl>
                                      </p:cBhvr>
                                    </p:animEffect>
                                  </p:childTnLst>
                                </p:cTn>
                              </p:par>
                              <p:par>
                                <p:cTn id="54" presetID="22" presetClass="entr" presetSubtype="4" fill="hold" grpId="0" nodeType="with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wipe(down)">
                                      <p:cBhvr>
                                        <p:cTn id="56" dur="500"/>
                                        <p:tgtEl>
                                          <p:spTgt spid="18"/>
                                        </p:tgtEl>
                                      </p:cBhvr>
                                    </p:animEffect>
                                  </p:childTnLst>
                                </p:cTn>
                              </p:par>
                              <p:par>
                                <p:cTn id="57" presetID="22" presetClass="entr" presetSubtype="4" fill="hold" nodeType="withEffect">
                                  <p:stCondLst>
                                    <p:cond delay="0"/>
                                  </p:stCondLst>
                                  <p:childTnLst>
                                    <p:set>
                                      <p:cBhvr>
                                        <p:cTn id="58" dur="1" fill="hold">
                                          <p:stCondLst>
                                            <p:cond delay="0"/>
                                          </p:stCondLst>
                                        </p:cTn>
                                        <p:tgtEl>
                                          <p:spTgt spid="34"/>
                                        </p:tgtEl>
                                        <p:attrNameLst>
                                          <p:attrName>style.visibility</p:attrName>
                                        </p:attrNameLst>
                                      </p:cBhvr>
                                      <p:to>
                                        <p:strVal val="visible"/>
                                      </p:to>
                                    </p:set>
                                    <p:animEffect transition="in" filter="wipe(down)">
                                      <p:cBhvr>
                                        <p:cTn id="59" dur="500"/>
                                        <p:tgtEl>
                                          <p:spTgt spid="34"/>
                                        </p:tgtEl>
                                      </p:cBhvr>
                                    </p:animEffect>
                                  </p:childTnLst>
                                </p:cTn>
                              </p:par>
                              <p:par>
                                <p:cTn id="60" presetID="22" presetClass="entr" presetSubtype="4" fill="hold" nodeType="withEffect">
                                  <p:stCondLst>
                                    <p:cond delay="0"/>
                                  </p:stCondLst>
                                  <p:childTnLst>
                                    <p:set>
                                      <p:cBhvr>
                                        <p:cTn id="61" dur="1" fill="hold">
                                          <p:stCondLst>
                                            <p:cond delay="0"/>
                                          </p:stCondLst>
                                        </p:cTn>
                                        <p:tgtEl>
                                          <p:spTgt spid="32"/>
                                        </p:tgtEl>
                                        <p:attrNameLst>
                                          <p:attrName>style.visibility</p:attrName>
                                        </p:attrNameLst>
                                      </p:cBhvr>
                                      <p:to>
                                        <p:strVal val="visible"/>
                                      </p:to>
                                    </p:set>
                                    <p:animEffect transition="in" filter="wipe(down)">
                                      <p:cBhvr>
                                        <p:cTn id="62" dur="500"/>
                                        <p:tgtEl>
                                          <p:spTgt spid="32"/>
                                        </p:tgtEl>
                                      </p:cBhvr>
                                    </p:animEffect>
                                  </p:childTnLst>
                                </p:cTn>
                              </p:par>
                              <p:par>
                                <p:cTn id="63" presetID="22" presetClass="entr" presetSubtype="4" fill="hold" grpId="0" nodeType="with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wipe(down)">
                                      <p:cBhvr>
                                        <p:cTn id="65" dur="500"/>
                                        <p:tgtEl>
                                          <p:spTgt spid="22"/>
                                        </p:tgtEl>
                                      </p:cBhvr>
                                    </p:animEffect>
                                  </p:childTnLst>
                                </p:cTn>
                              </p:par>
                              <p:par>
                                <p:cTn id="66" presetID="22" presetClass="entr" presetSubtype="4" fill="hold" nodeType="withEffect">
                                  <p:stCondLst>
                                    <p:cond delay="0"/>
                                  </p:stCondLst>
                                  <p:childTnLst>
                                    <p:set>
                                      <p:cBhvr>
                                        <p:cTn id="67" dur="1" fill="hold">
                                          <p:stCondLst>
                                            <p:cond delay="0"/>
                                          </p:stCondLst>
                                        </p:cTn>
                                        <p:tgtEl>
                                          <p:spTgt spid="17"/>
                                        </p:tgtEl>
                                        <p:attrNameLst>
                                          <p:attrName>style.visibility</p:attrName>
                                        </p:attrNameLst>
                                      </p:cBhvr>
                                      <p:to>
                                        <p:strVal val="visible"/>
                                      </p:to>
                                    </p:set>
                                    <p:animEffect transition="in" filter="wipe(down)">
                                      <p:cBhvr>
                                        <p:cTn id="68" dur="500"/>
                                        <p:tgtEl>
                                          <p:spTgt spid="17"/>
                                        </p:tgtEl>
                                      </p:cBhvr>
                                    </p:animEffect>
                                  </p:childTnLst>
                                </p:cTn>
                              </p:par>
                              <p:par>
                                <p:cTn id="69" presetID="22" presetClass="entr" presetSubtype="4" fill="hold" grpId="0" nodeType="withEffect">
                                  <p:stCondLst>
                                    <p:cond delay="0"/>
                                  </p:stCondLst>
                                  <p:childTnLst>
                                    <p:set>
                                      <p:cBhvr>
                                        <p:cTn id="70" dur="1" fill="hold">
                                          <p:stCondLst>
                                            <p:cond delay="0"/>
                                          </p:stCondLst>
                                        </p:cTn>
                                        <p:tgtEl>
                                          <p:spTgt spid="30"/>
                                        </p:tgtEl>
                                        <p:attrNameLst>
                                          <p:attrName>style.visibility</p:attrName>
                                        </p:attrNameLst>
                                      </p:cBhvr>
                                      <p:to>
                                        <p:strVal val="visible"/>
                                      </p:to>
                                    </p:set>
                                    <p:animEffect transition="in" filter="wipe(down)">
                                      <p:cBhvr>
                                        <p:cTn id="71" dur="500"/>
                                        <p:tgtEl>
                                          <p:spTgt spid="30"/>
                                        </p:tgtEl>
                                      </p:cBhvr>
                                    </p:animEffect>
                                  </p:childTnLst>
                                </p:cTn>
                              </p:par>
                              <p:par>
                                <p:cTn id="72" presetID="22" presetClass="entr" presetSubtype="4" fill="hold" nodeType="withEffect">
                                  <p:stCondLst>
                                    <p:cond delay="0"/>
                                  </p:stCondLst>
                                  <p:childTnLst>
                                    <p:set>
                                      <p:cBhvr>
                                        <p:cTn id="73" dur="1" fill="hold">
                                          <p:stCondLst>
                                            <p:cond delay="0"/>
                                          </p:stCondLst>
                                        </p:cTn>
                                        <p:tgtEl>
                                          <p:spTgt spid="31"/>
                                        </p:tgtEl>
                                        <p:attrNameLst>
                                          <p:attrName>style.visibility</p:attrName>
                                        </p:attrNameLst>
                                      </p:cBhvr>
                                      <p:to>
                                        <p:strVal val="visible"/>
                                      </p:to>
                                    </p:set>
                                    <p:animEffect transition="in" filter="wipe(down)">
                                      <p:cBhvr>
                                        <p:cTn id="74" dur="500"/>
                                        <p:tgtEl>
                                          <p:spTgt spid="31"/>
                                        </p:tgtEl>
                                      </p:cBhvr>
                                    </p:animEffect>
                                  </p:childTnLst>
                                </p:cTn>
                              </p:par>
                              <p:par>
                                <p:cTn id="75" presetID="22" presetClass="entr" presetSubtype="4" fill="hold" grpId="0" nodeType="withEffect">
                                  <p:stCondLst>
                                    <p:cond delay="0"/>
                                  </p:stCondLst>
                                  <p:childTnLst>
                                    <p:set>
                                      <p:cBhvr>
                                        <p:cTn id="76" dur="1" fill="hold">
                                          <p:stCondLst>
                                            <p:cond delay="0"/>
                                          </p:stCondLst>
                                        </p:cTn>
                                        <p:tgtEl>
                                          <p:spTgt spid="29"/>
                                        </p:tgtEl>
                                        <p:attrNameLst>
                                          <p:attrName>style.visibility</p:attrName>
                                        </p:attrNameLst>
                                      </p:cBhvr>
                                      <p:to>
                                        <p:strVal val="visible"/>
                                      </p:to>
                                    </p:set>
                                    <p:animEffect transition="in" filter="wipe(down)">
                                      <p:cBhvr>
                                        <p:cTn id="77" dur="500"/>
                                        <p:tgtEl>
                                          <p:spTgt spid="29"/>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4" fill="hold" grpId="0" nodeType="clickEffect">
                                  <p:stCondLst>
                                    <p:cond delay="0"/>
                                  </p:stCondLst>
                                  <p:childTnLst>
                                    <p:set>
                                      <p:cBhvr>
                                        <p:cTn id="81" dur="1" fill="hold">
                                          <p:stCondLst>
                                            <p:cond delay="0"/>
                                          </p:stCondLst>
                                        </p:cTn>
                                        <p:tgtEl>
                                          <p:spTgt spid="35"/>
                                        </p:tgtEl>
                                        <p:attrNameLst>
                                          <p:attrName>style.visibility</p:attrName>
                                        </p:attrNameLst>
                                      </p:cBhvr>
                                      <p:to>
                                        <p:strVal val="visible"/>
                                      </p:to>
                                    </p:set>
                                    <p:animEffect transition="in" filter="wipe(down)">
                                      <p:cBhvr>
                                        <p:cTn id="82"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8" grpId="0"/>
      <p:bldP spid="19" grpId="0"/>
      <p:bldP spid="20" grpId="0" animBg="1"/>
      <p:bldP spid="21" grpId="0" animBg="1"/>
      <p:bldP spid="22" grpId="0" animBg="1"/>
      <p:bldP spid="24" grpId="0"/>
      <p:bldP spid="26" grpId="0"/>
      <p:bldP spid="29" grpId="0"/>
      <p:bldP spid="30" grpId="0"/>
      <p:bldP spid="3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Asymmetric Cryptography</a:t>
            </a:r>
          </a:p>
        </p:txBody>
      </p:sp>
      <p:pic>
        <p:nvPicPr>
          <p:cNvPr id="6" name="Picture 2" descr="briefkasten">
            <a:extLst>
              <a:ext uri="{FF2B5EF4-FFF2-40B4-BE49-F238E27FC236}">
                <a16:creationId xmlns:a16="http://schemas.microsoft.com/office/drawing/2014/main" xmlns="" id="{E9B2DDA9-C944-4B6D-ACA8-DC2711142A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485" y="1330787"/>
            <a:ext cx="3420380" cy="301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xmlns="" id="{CD1EACF8-4164-4F19-B291-83AA2D6727C1}"/>
              </a:ext>
            </a:extLst>
          </p:cNvPr>
          <p:cNvSpPr/>
          <p:nvPr/>
        </p:nvSpPr>
        <p:spPr>
          <a:xfrm>
            <a:off x="4061865" y="1474803"/>
            <a:ext cx="5148064" cy="4007251"/>
          </a:xfrm>
          <a:prstGeom prst="rect">
            <a:avLst/>
          </a:prstGeom>
        </p:spPr>
        <p:txBody>
          <a:bodyPr wrap="square">
            <a:spAutoFit/>
          </a:bodyPr>
          <a:lstStyle/>
          <a:p>
            <a:pPr algn="just">
              <a:lnSpc>
                <a:spcPct val="90000"/>
              </a:lnSpc>
              <a:spcBef>
                <a:spcPct val="20000"/>
              </a:spcBef>
            </a:pPr>
            <a:r>
              <a:rPr lang="de-DE" sz="2400" b="1" dirty="0">
                <a:solidFill>
                  <a:srgbClr val="1D3064"/>
                </a:solidFill>
                <a:latin typeface="+mj-lt"/>
              </a:rPr>
              <a:t>New Idea: </a:t>
            </a:r>
          </a:p>
          <a:p>
            <a:pPr algn="just">
              <a:lnSpc>
                <a:spcPct val="90000"/>
              </a:lnSpc>
              <a:spcBef>
                <a:spcPct val="20000"/>
              </a:spcBef>
            </a:pPr>
            <a:r>
              <a:rPr lang="de-DE" sz="2400" dirty="0">
                <a:latin typeface="+mj-lt"/>
              </a:rPr>
              <a:t>Use the good old mailbox principle.</a:t>
            </a:r>
          </a:p>
          <a:p>
            <a:pPr algn="just">
              <a:lnSpc>
                <a:spcPct val="90000"/>
              </a:lnSpc>
              <a:spcBef>
                <a:spcPct val="20000"/>
              </a:spcBef>
            </a:pPr>
            <a:endParaRPr lang="de-DE" sz="2400" b="1" dirty="0">
              <a:latin typeface="+mj-lt"/>
            </a:endParaRPr>
          </a:p>
          <a:p>
            <a:pPr algn="just">
              <a:lnSpc>
                <a:spcPct val="90000"/>
              </a:lnSpc>
              <a:spcBef>
                <a:spcPct val="20000"/>
              </a:spcBef>
            </a:pPr>
            <a:r>
              <a:rPr lang="de-DE" sz="2400" dirty="0">
                <a:solidFill>
                  <a:schemeClr val="accent6"/>
                </a:solidFill>
                <a:latin typeface="+mj-lt"/>
              </a:rPr>
              <a:t>Everyone</a:t>
            </a:r>
            <a:r>
              <a:rPr lang="de-DE" sz="2400" dirty="0">
                <a:solidFill>
                  <a:srgbClr val="FF0000"/>
                </a:solidFill>
                <a:latin typeface="+mj-lt"/>
              </a:rPr>
              <a:t> </a:t>
            </a:r>
            <a:r>
              <a:rPr lang="de-DE" sz="2400" dirty="0">
                <a:latin typeface="+mj-lt"/>
              </a:rPr>
              <a:t>can drop a letter. </a:t>
            </a:r>
          </a:p>
          <a:p>
            <a:pPr algn="just">
              <a:lnSpc>
                <a:spcPct val="90000"/>
              </a:lnSpc>
              <a:spcBef>
                <a:spcPct val="20000"/>
              </a:spcBef>
            </a:pPr>
            <a:endParaRPr lang="de-DE" sz="2400" b="1" dirty="0">
              <a:latin typeface="+mj-lt"/>
            </a:endParaRPr>
          </a:p>
          <a:p>
            <a:pPr algn="just">
              <a:lnSpc>
                <a:spcPct val="90000"/>
              </a:lnSpc>
              <a:spcBef>
                <a:spcPct val="20000"/>
              </a:spcBef>
            </a:pPr>
            <a:r>
              <a:rPr lang="de-DE" sz="2400" dirty="0">
                <a:solidFill>
                  <a:schemeClr val="accent6"/>
                </a:solidFill>
                <a:latin typeface="+mj-lt"/>
              </a:rPr>
              <a:t>But Only the owner </a:t>
            </a:r>
            <a:r>
              <a:rPr lang="de-DE" sz="2400" dirty="0">
                <a:latin typeface="+mj-lt"/>
              </a:rPr>
              <a:t>has the</a:t>
            </a:r>
          </a:p>
          <a:p>
            <a:pPr algn="just">
              <a:lnSpc>
                <a:spcPct val="90000"/>
              </a:lnSpc>
              <a:spcBef>
                <a:spcPct val="20000"/>
              </a:spcBef>
            </a:pPr>
            <a:r>
              <a:rPr lang="de-DE" sz="2400" dirty="0">
                <a:latin typeface="+mj-lt"/>
              </a:rPr>
              <a:t>correct key to open the box.</a:t>
            </a:r>
          </a:p>
          <a:p>
            <a:pPr algn="just">
              <a:lnSpc>
                <a:spcPct val="90000"/>
              </a:lnSpc>
              <a:spcBef>
                <a:spcPct val="20000"/>
              </a:spcBef>
            </a:pPr>
            <a:r>
              <a:rPr lang="de-DE" sz="2400" dirty="0">
                <a:latin typeface="+mj-lt"/>
              </a:rPr>
              <a:t/>
            </a:r>
            <a:br>
              <a:rPr lang="de-DE" sz="2400" dirty="0">
                <a:latin typeface="+mj-lt"/>
              </a:rPr>
            </a:br>
            <a:endParaRPr lang="de-DE" sz="2400" dirty="0">
              <a:latin typeface="+mj-lt"/>
            </a:endParaRPr>
          </a:p>
          <a:p>
            <a:pPr algn="just">
              <a:lnSpc>
                <a:spcPct val="90000"/>
              </a:lnSpc>
              <a:spcBef>
                <a:spcPct val="20000"/>
              </a:spcBef>
            </a:pPr>
            <a:endParaRPr lang="de-DE" sz="2400" dirty="0">
              <a:latin typeface="+mj-lt"/>
            </a:endParaRPr>
          </a:p>
        </p:txBody>
      </p:sp>
      <p:pic>
        <p:nvPicPr>
          <p:cNvPr id="8" name="Picture 3" descr="briefkasten-offen">
            <a:extLst>
              <a:ext uri="{FF2B5EF4-FFF2-40B4-BE49-F238E27FC236}">
                <a16:creationId xmlns:a16="http://schemas.microsoft.com/office/drawing/2014/main" xmlns="" id="{BEA5E1ED-4A4A-4878-B4AA-ECA64C0D7525}"/>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7698269" y="3454874"/>
            <a:ext cx="1602431" cy="158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xmlns="" id="{8CE93690-0E14-4FB9-9E79-DF5DA914E416}"/>
              </a:ext>
            </a:extLst>
          </p:cNvPr>
          <p:cNvSpPr txBox="1"/>
          <p:nvPr/>
        </p:nvSpPr>
        <p:spPr>
          <a:xfrm>
            <a:off x="898520" y="4454467"/>
            <a:ext cx="1484702" cy="461665"/>
          </a:xfrm>
          <a:prstGeom prst="rect">
            <a:avLst/>
          </a:prstGeom>
          <a:noFill/>
        </p:spPr>
        <p:txBody>
          <a:bodyPr wrap="none" rtlCol="0">
            <a:spAutoFit/>
          </a:bodyPr>
          <a:lstStyle/>
          <a:p>
            <a:r>
              <a:rPr lang="en-IN" sz="2400" b="1" dirty="0"/>
              <a:t>Public Key</a:t>
            </a:r>
          </a:p>
        </p:txBody>
      </p:sp>
      <p:sp>
        <p:nvSpPr>
          <p:cNvPr id="10" name="TextBox 9">
            <a:extLst>
              <a:ext uri="{FF2B5EF4-FFF2-40B4-BE49-F238E27FC236}">
                <a16:creationId xmlns:a16="http://schemas.microsoft.com/office/drawing/2014/main" xmlns="" id="{3AE0185F-ECB7-4D8A-B0A0-0B9056D360B3}"/>
              </a:ext>
            </a:extLst>
          </p:cNvPr>
          <p:cNvSpPr txBox="1"/>
          <p:nvPr/>
        </p:nvSpPr>
        <p:spPr>
          <a:xfrm>
            <a:off x="7968568" y="5071293"/>
            <a:ext cx="1588897" cy="461665"/>
          </a:xfrm>
          <a:prstGeom prst="rect">
            <a:avLst/>
          </a:prstGeom>
          <a:noFill/>
        </p:spPr>
        <p:txBody>
          <a:bodyPr wrap="none" rtlCol="0">
            <a:spAutoFit/>
          </a:bodyPr>
          <a:lstStyle/>
          <a:p>
            <a:r>
              <a:rPr lang="en-IN" sz="2400" b="1" dirty="0"/>
              <a:t>Private Key</a:t>
            </a:r>
          </a:p>
        </p:txBody>
      </p:sp>
    </p:spTree>
    <p:extLst>
      <p:ext uri="{BB962C8B-B14F-4D97-AF65-F5344CB8AC3E}">
        <p14:creationId xmlns:p14="http://schemas.microsoft.com/office/powerpoint/2010/main" val="2365365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Asymmetric Cryptography</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dirty="0"/>
              <a:t>In asymmetric cryptosystem, the keys used for encryption and decryption are different but they form a unique pair.</a:t>
            </a:r>
          </a:p>
          <a:p>
            <a:r>
              <a:rPr lang="en-US" dirty="0"/>
              <a:t>There are separate keys for encryption (</a:t>
            </a:r>
            <a:r>
              <a:rPr lang="en-US" dirty="0" err="1"/>
              <a:t>K</a:t>
            </a:r>
            <a:r>
              <a:rPr lang="en-US" b="1" baseline="-25000" dirty="0" err="1"/>
              <a:t>e</a:t>
            </a:r>
            <a:r>
              <a:rPr lang="en-US" dirty="0"/>
              <a:t>) and decryption (</a:t>
            </a:r>
            <a:r>
              <a:rPr lang="en-US" dirty="0" err="1"/>
              <a:t>K</a:t>
            </a:r>
            <a:r>
              <a:rPr lang="en-US" b="1" baseline="-25000" dirty="0" err="1"/>
              <a:t>d</a:t>
            </a:r>
            <a:r>
              <a:rPr lang="en-US" dirty="0"/>
              <a:t>). </a:t>
            </a:r>
          </a:p>
          <a:p>
            <a:r>
              <a:rPr lang="en-US" dirty="0"/>
              <a:t>P = </a:t>
            </a:r>
            <a:r>
              <a:rPr lang="en-US" dirty="0" err="1"/>
              <a:t>DK</a:t>
            </a:r>
            <a:r>
              <a:rPr lang="en-US" b="1" baseline="-25000" dirty="0" err="1"/>
              <a:t>d</a:t>
            </a:r>
            <a:r>
              <a:rPr lang="en-US" dirty="0"/>
              <a:t>(</a:t>
            </a:r>
            <a:r>
              <a:rPr lang="en-US" dirty="0" err="1"/>
              <a:t>EK</a:t>
            </a:r>
            <a:r>
              <a:rPr lang="en-US" b="1" baseline="-25000" dirty="0" err="1"/>
              <a:t>e</a:t>
            </a:r>
            <a:r>
              <a:rPr lang="en-US" dirty="0"/>
              <a:t>(P))</a:t>
            </a:r>
          </a:p>
          <a:p>
            <a:r>
              <a:rPr lang="en-US" dirty="0"/>
              <a:t>One key in the asymmetric cryptosystem is kept private while the other one is made public.</a:t>
            </a:r>
          </a:p>
          <a:p>
            <a:r>
              <a:rPr lang="en-US" dirty="0"/>
              <a:t>Hence these types of cryptosystems are referred to as public key systems.</a:t>
            </a:r>
          </a:p>
          <a:p>
            <a:pPr marL="0" indent="0">
              <a:buNone/>
            </a:pPr>
            <a:endParaRPr lang="en-US" dirty="0"/>
          </a:p>
        </p:txBody>
      </p:sp>
    </p:spTree>
    <p:extLst>
      <p:ext uri="{BB962C8B-B14F-4D97-AF65-F5344CB8AC3E}">
        <p14:creationId xmlns:p14="http://schemas.microsoft.com/office/powerpoint/2010/main" val="272662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Type of Attacks</a:t>
            </a:r>
          </a:p>
        </p:txBody>
      </p:sp>
      <p:graphicFrame>
        <p:nvGraphicFramePr>
          <p:cNvPr id="5" name="Table 4"/>
          <p:cNvGraphicFramePr>
            <a:graphicFrameLocks noGrp="1"/>
          </p:cNvGraphicFramePr>
          <p:nvPr>
            <p:extLst>
              <p:ext uri="{D42A27DB-BD31-4B8C-83A1-F6EECF244321}">
                <p14:modId xmlns:p14="http://schemas.microsoft.com/office/powerpoint/2010/main" val="1335811255"/>
              </p:ext>
            </p:extLst>
          </p:nvPr>
        </p:nvGraphicFramePr>
        <p:xfrm>
          <a:off x="1066800" y="1219200"/>
          <a:ext cx="2971800" cy="457200"/>
        </p:xfrm>
        <a:graphic>
          <a:graphicData uri="http://schemas.openxmlformats.org/drawingml/2006/table">
            <a:tbl>
              <a:tblPr firstRow="1" bandRow="1">
                <a:tableStyleId>{5C22544A-7EE6-4342-B048-85BDC9FD1C3A}</a:tableStyleId>
              </a:tblPr>
              <a:tblGrid>
                <a:gridCol w="2971800">
                  <a:extLst>
                    <a:ext uri="{9D8B030D-6E8A-4147-A177-3AD203B41FA5}">
                      <a16:colId xmlns="" xmlns:a16="http://schemas.microsoft.com/office/drawing/2014/main" val="1996777739"/>
                    </a:ext>
                  </a:extLst>
                </a:gridCol>
              </a:tblGrid>
              <a:tr h="370840">
                <a:tc>
                  <a:txBody>
                    <a:bodyPr/>
                    <a:lstStyle/>
                    <a:p>
                      <a:pPr algn="ctr"/>
                      <a:r>
                        <a:rPr lang="en-US" sz="2400" dirty="0"/>
                        <a:t>Passive Attacks</a:t>
                      </a:r>
                    </a:p>
                  </a:txBody>
                  <a:tcPr>
                    <a:solidFill>
                      <a:srgbClr val="1D3064"/>
                    </a:solidFill>
                  </a:tcPr>
                </a:tc>
                <a:extLst>
                  <a:ext uri="{0D108BD9-81ED-4DB2-BD59-A6C34878D82A}">
                    <a16:rowId xmlns="" xmlns:a16="http://schemas.microsoft.com/office/drawing/2014/main" val="2317289028"/>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923649469"/>
              </p:ext>
            </p:extLst>
          </p:nvPr>
        </p:nvGraphicFramePr>
        <p:xfrm>
          <a:off x="1066800" y="1669025"/>
          <a:ext cx="2971800" cy="457200"/>
        </p:xfrm>
        <a:graphic>
          <a:graphicData uri="http://schemas.openxmlformats.org/drawingml/2006/table">
            <a:tbl>
              <a:tblPr firstRow="1" bandRow="1">
                <a:tableStyleId>{5C22544A-7EE6-4342-B048-85BDC9FD1C3A}</a:tableStyleId>
              </a:tblPr>
              <a:tblGrid>
                <a:gridCol w="2971800">
                  <a:extLst>
                    <a:ext uri="{9D8B030D-6E8A-4147-A177-3AD203B41FA5}">
                      <a16:colId xmlns="" xmlns:a16="http://schemas.microsoft.com/office/drawing/2014/main" val="2208455893"/>
                    </a:ext>
                  </a:extLst>
                </a:gridCol>
              </a:tblGrid>
              <a:tr h="370840">
                <a:tc>
                  <a:txBody>
                    <a:bodyPr/>
                    <a:lstStyle/>
                    <a:p>
                      <a:pPr algn="ctr"/>
                      <a:r>
                        <a:rPr lang="en-US" sz="2400" b="0" dirty="0">
                          <a:solidFill>
                            <a:sysClr val="windowText" lastClr="000000"/>
                          </a:solidFill>
                        </a:rPr>
                        <a:t>Browsing </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 xmlns:a16="http://schemas.microsoft.com/office/drawing/2014/main" val="2569319100"/>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2723070512"/>
              </p:ext>
            </p:extLst>
          </p:nvPr>
        </p:nvGraphicFramePr>
        <p:xfrm>
          <a:off x="1066800" y="2126225"/>
          <a:ext cx="2971800" cy="457200"/>
        </p:xfrm>
        <a:graphic>
          <a:graphicData uri="http://schemas.openxmlformats.org/drawingml/2006/table">
            <a:tbl>
              <a:tblPr firstRow="1" bandRow="1">
                <a:tableStyleId>{5C22544A-7EE6-4342-B048-85BDC9FD1C3A}</a:tableStyleId>
              </a:tblPr>
              <a:tblGrid>
                <a:gridCol w="2971800">
                  <a:extLst>
                    <a:ext uri="{9D8B030D-6E8A-4147-A177-3AD203B41FA5}">
                      <a16:colId xmlns="" xmlns:a16="http://schemas.microsoft.com/office/drawing/2014/main" val="2208455893"/>
                    </a:ext>
                  </a:extLst>
                </a:gridCol>
              </a:tblGrid>
              <a:tr h="370840">
                <a:tc>
                  <a:txBody>
                    <a:bodyPr/>
                    <a:lstStyle/>
                    <a:p>
                      <a:pPr algn="ctr"/>
                      <a:r>
                        <a:rPr lang="en-US" sz="2400" b="0" dirty="0">
                          <a:solidFill>
                            <a:sysClr val="windowText" lastClr="000000"/>
                          </a:solidFill>
                        </a:rPr>
                        <a:t>Inferencing </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 xmlns:a16="http://schemas.microsoft.com/office/drawing/2014/main" val="2569319100"/>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2596245420"/>
              </p:ext>
            </p:extLst>
          </p:nvPr>
        </p:nvGraphicFramePr>
        <p:xfrm>
          <a:off x="1066800" y="2598173"/>
          <a:ext cx="2971800" cy="457200"/>
        </p:xfrm>
        <a:graphic>
          <a:graphicData uri="http://schemas.openxmlformats.org/drawingml/2006/table">
            <a:tbl>
              <a:tblPr firstRow="1" bandRow="1">
                <a:tableStyleId>{5C22544A-7EE6-4342-B048-85BDC9FD1C3A}</a:tableStyleId>
              </a:tblPr>
              <a:tblGrid>
                <a:gridCol w="2971800">
                  <a:extLst>
                    <a:ext uri="{9D8B030D-6E8A-4147-A177-3AD203B41FA5}">
                      <a16:colId xmlns="" xmlns:a16="http://schemas.microsoft.com/office/drawing/2014/main" val="2208455893"/>
                    </a:ext>
                  </a:extLst>
                </a:gridCol>
              </a:tblGrid>
              <a:tr h="370840">
                <a:tc>
                  <a:txBody>
                    <a:bodyPr/>
                    <a:lstStyle/>
                    <a:p>
                      <a:pPr algn="ctr"/>
                      <a:r>
                        <a:rPr lang="en-US" sz="2400" b="0" dirty="0">
                          <a:solidFill>
                            <a:sysClr val="windowText" lastClr="000000"/>
                          </a:solidFill>
                        </a:rPr>
                        <a:t>Masquerading</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 xmlns:a16="http://schemas.microsoft.com/office/drawing/2014/main" val="2569319100"/>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3965808510"/>
              </p:ext>
            </p:extLst>
          </p:nvPr>
        </p:nvGraphicFramePr>
        <p:xfrm>
          <a:off x="5029200" y="1219200"/>
          <a:ext cx="2971800" cy="457200"/>
        </p:xfrm>
        <a:graphic>
          <a:graphicData uri="http://schemas.openxmlformats.org/drawingml/2006/table">
            <a:tbl>
              <a:tblPr firstRow="1" bandRow="1">
                <a:tableStyleId>{5C22544A-7EE6-4342-B048-85BDC9FD1C3A}</a:tableStyleId>
              </a:tblPr>
              <a:tblGrid>
                <a:gridCol w="2971800">
                  <a:extLst>
                    <a:ext uri="{9D8B030D-6E8A-4147-A177-3AD203B41FA5}">
                      <a16:colId xmlns="" xmlns:a16="http://schemas.microsoft.com/office/drawing/2014/main" val="1996777739"/>
                    </a:ext>
                  </a:extLst>
                </a:gridCol>
              </a:tblGrid>
              <a:tr h="370840">
                <a:tc>
                  <a:txBody>
                    <a:bodyPr/>
                    <a:lstStyle/>
                    <a:p>
                      <a:pPr algn="ctr"/>
                      <a:r>
                        <a:rPr lang="en-US" sz="2400" dirty="0"/>
                        <a:t>Active Attacks</a:t>
                      </a:r>
                    </a:p>
                  </a:txBody>
                  <a:tcPr>
                    <a:solidFill>
                      <a:srgbClr val="1D3064"/>
                    </a:solidFill>
                  </a:tcPr>
                </a:tc>
                <a:extLst>
                  <a:ext uri="{0D108BD9-81ED-4DB2-BD59-A6C34878D82A}">
                    <a16:rowId xmlns="" xmlns:a16="http://schemas.microsoft.com/office/drawing/2014/main" val="2317289028"/>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3505260479"/>
              </p:ext>
            </p:extLst>
          </p:nvPr>
        </p:nvGraphicFramePr>
        <p:xfrm>
          <a:off x="5029200" y="1669025"/>
          <a:ext cx="2971800" cy="457200"/>
        </p:xfrm>
        <a:graphic>
          <a:graphicData uri="http://schemas.openxmlformats.org/drawingml/2006/table">
            <a:tbl>
              <a:tblPr firstRow="1" bandRow="1">
                <a:tableStyleId>{5C22544A-7EE6-4342-B048-85BDC9FD1C3A}</a:tableStyleId>
              </a:tblPr>
              <a:tblGrid>
                <a:gridCol w="2971800">
                  <a:extLst>
                    <a:ext uri="{9D8B030D-6E8A-4147-A177-3AD203B41FA5}">
                      <a16:colId xmlns="" xmlns:a16="http://schemas.microsoft.com/office/drawing/2014/main" val="2208455893"/>
                    </a:ext>
                  </a:extLst>
                </a:gridCol>
              </a:tblGrid>
              <a:tr h="370840">
                <a:tc>
                  <a:txBody>
                    <a:bodyPr/>
                    <a:lstStyle/>
                    <a:p>
                      <a:pPr algn="ctr"/>
                      <a:r>
                        <a:rPr lang="en-US" sz="2400" b="0" dirty="0">
                          <a:solidFill>
                            <a:sysClr val="windowText" lastClr="000000"/>
                          </a:solidFill>
                        </a:rPr>
                        <a:t>Virus</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 xmlns:a16="http://schemas.microsoft.com/office/drawing/2014/main" val="2569319100"/>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1724583392"/>
              </p:ext>
            </p:extLst>
          </p:nvPr>
        </p:nvGraphicFramePr>
        <p:xfrm>
          <a:off x="5029200" y="2126225"/>
          <a:ext cx="2971800" cy="457200"/>
        </p:xfrm>
        <a:graphic>
          <a:graphicData uri="http://schemas.openxmlformats.org/drawingml/2006/table">
            <a:tbl>
              <a:tblPr firstRow="1" bandRow="1">
                <a:tableStyleId>{5C22544A-7EE6-4342-B048-85BDC9FD1C3A}</a:tableStyleId>
              </a:tblPr>
              <a:tblGrid>
                <a:gridCol w="2971800">
                  <a:extLst>
                    <a:ext uri="{9D8B030D-6E8A-4147-A177-3AD203B41FA5}">
                      <a16:colId xmlns="" xmlns:a16="http://schemas.microsoft.com/office/drawing/2014/main" val="2208455893"/>
                    </a:ext>
                  </a:extLst>
                </a:gridCol>
              </a:tblGrid>
              <a:tr h="370840">
                <a:tc>
                  <a:txBody>
                    <a:bodyPr/>
                    <a:lstStyle/>
                    <a:p>
                      <a:pPr algn="ctr"/>
                      <a:r>
                        <a:rPr lang="en-US" sz="2400" b="0" dirty="0">
                          <a:solidFill>
                            <a:sysClr val="windowText" lastClr="000000"/>
                          </a:solidFill>
                        </a:rPr>
                        <a:t>Worm</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 xmlns:a16="http://schemas.microsoft.com/office/drawing/2014/main" val="2569319100"/>
                  </a:ext>
                </a:extLst>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260089978"/>
              </p:ext>
            </p:extLst>
          </p:nvPr>
        </p:nvGraphicFramePr>
        <p:xfrm>
          <a:off x="5029200" y="2598173"/>
          <a:ext cx="2971800" cy="457200"/>
        </p:xfrm>
        <a:graphic>
          <a:graphicData uri="http://schemas.openxmlformats.org/drawingml/2006/table">
            <a:tbl>
              <a:tblPr firstRow="1" bandRow="1">
                <a:tableStyleId>{5C22544A-7EE6-4342-B048-85BDC9FD1C3A}</a:tableStyleId>
              </a:tblPr>
              <a:tblGrid>
                <a:gridCol w="2971800">
                  <a:extLst>
                    <a:ext uri="{9D8B030D-6E8A-4147-A177-3AD203B41FA5}">
                      <a16:colId xmlns="" xmlns:a16="http://schemas.microsoft.com/office/drawing/2014/main" val="2208455893"/>
                    </a:ext>
                  </a:extLst>
                </a:gridCol>
              </a:tblGrid>
              <a:tr h="370840">
                <a:tc>
                  <a:txBody>
                    <a:bodyPr/>
                    <a:lstStyle/>
                    <a:p>
                      <a:pPr algn="ctr"/>
                      <a:r>
                        <a:rPr lang="en-US" sz="2400" b="0" dirty="0">
                          <a:solidFill>
                            <a:sysClr val="windowText" lastClr="000000"/>
                          </a:solidFill>
                        </a:rPr>
                        <a:t>Logic bomb</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 xmlns:a16="http://schemas.microsoft.com/office/drawing/2014/main" val="2569319100"/>
                  </a:ext>
                </a:extLst>
              </a:tr>
            </a:tbl>
          </a:graphicData>
        </a:graphic>
      </p:graphicFrame>
      <p:graphicFrame>
        <p:nvGraphicFramePr>
          <p:cNvPr id="13" name="Table 12"/>
          <p:cNvGraphicFramePr>
            <a:graphicFrameLocks noGrp="1"/>
          </p:cNvGraphicFramePr>
          <p:nvPr>
            <p:extLst>
              <p:ext uri="{D42A27DB-BD31-4B8C-83A1-F6EECF244321}">
                <p14:modId xmlns:p14="http://schemas.microsoft.com/office/powerpoint/2010/main" val="1105906773"/>
              </p:ext>
            </p:extLst>
          </p:nvPr>
        </p:nvGraphicFramePr>
        <p:xfrm>
          <a:off x="5029200" y="3070121"/>
          <a:ext cx="2971800" cy="457200"/>
        </p:xfrm>
        <a:graphic>
          <a:graphicData uri="http://schemas.openxmlformats.org/drawingml/2006/table">
            <a:tbl>
              <a:tblPr firstRow="1" bandRow="1">
                <a:tableStyleId>{5C22544A-7EE6-4342-B048-85BDC9FD1C3A}</a:tableStyleId>
              </a:tblPr>
              <a:tblGrid>
                <a:gridCol w="2971800">
                  <a:extLst>
                    <a:ext uri="{9D8B030D-6E8A-4147-A177-3AD203B41FA5}">
                      <a16:colId xmlns="" xmlns:a16="http://schemas.microsoft.com/office/drawing/2014/main" val="2208455893"/>
                    </a:ext>
                  </a:extLst>
                </a:gridCol>
              </a:tblGrid>
              <a:tr h="370840">
                <a:tc>
                  <a:txBody>
                    <a:bodyPr/>
                    <a:lstStyle/>
                    <a:p>
                      <a:pPr algn="ctr"/>
                      <a:r>
                        <a:rPr lang="en-US" sz="2400" b="0" dirty="0">
                          <a:solidFill>
                            <a:sysClr val="windowText" lastClr="000000"/>
                          </a:solidFill>
                        </a:rPr>
                        <a:t>Integrity attack</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 xmlns:a16="http://schemas.microsoft.com/office/drawing/2014/main" val="2569319100"/>
                  </a:ext>
                </a:extLst>
              </a:tr>
            </a:tbl>
          </a:graphicData>
        </a:graphic>
      </p:graphicFrame>
      <p:graphicFrame>
        <p:nvGraphicFramePr>
          <p:cNvPr id="14" name="Table 13"/>
          <p:cNvGraphicFramePr>
            <a:graphicFrameLocks noGrp="1"/>
          </p:cNvGraphicFramePr>
          <p:nvPr>
            <p:extLst>
              <p:ext uri="{D42A27DB-BD31-4B8C-83A1-F6EECF244321}">
                <p14:modId xmlns:p14="http://schemas.microsoft.com/office/powerpoint/2010/main" val="157193608"/>
              </p:ext>
            </p:extLst>
          </p:nvPr>
        </p:nvGraphicFramePr>
        <p:xfrm>
          <a:off x="5029200" y="3527321"/>
          <a:ext cx="2971800" cy="457200"/>
        </p:xfrm>
        <a:graphic>
          <a:graphicData uri="http://schemas.openxmlformats.org/drawingml/2006/table">
            <a:tbl>
              <a:tblPr firstRow="1" bandRow="1">
                <a:tableStyleId>{5C22544A-7EE6-4342-B048-85BDC9FD1C3A}</a:tableStyleId>
              </a:tblPr>
              <a:tblGrid>
                <a:gridCol w="2971800">
                  <a:extLst>
                    <a:ext uri="{9D8B030D-6E8A-4147-A177-3AD203B41FA5}">
                      <a16:colId xmlns="" xmlns:a16="http://schemas.microsoft.com/office/drawing/2014/main" val="2208455893"/>
                    </a:ext>
                  </a:extLst>
                </a:gridCol>
              </a:tblGrid>
              <a:tr h="370840">
                <a:tc>
                  <a:txBody>
                    <a:bodyPr/>
                    <a:lstStyle/>
                    <a:p>
                      <a:pPr algn="ctr"/>
                      <a:r>
                        <a:rPr lang="en-US" sz="2400" b="0" dirty="0">
                          <a:solidFill>
                            <a:sysClr val="windowText" lastClr="000000"/>
                          </a:solidFill>
                        </a:rPr>
                        <a:t>Authenticity attack </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 xmlns:a16="http://schemas.microsoft.com/office/drawing/2014/main" val="2569319100"/>
                  </a:ext>
                </a:extLst>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252022985"/>
              </p:ext>
            </p:extLst>
          </p:nvPr>
        </p:nvGraphicFramePr>
        <p:xfrm>
          <a:off x="5029200" y="3999269"/>
          <a:ext cx="2971800" cy="457200"/>
        </p:xfrm>
        <a:graphic>
          <a:graphicData uri="http://schemas.openxmlformats.org/drawingml/2006/table">
            <a:tbl>
              <a:tblPr firstRow="1" bandRow="1">
                <a:tableStyleId>{5C22544A-7EE6-4342-B048-85BDC9FD1C3A}</a:tableStyleId>
              </a:tblPr>
              <a:tblGrid>
                <a:gridCol w="2971800">
                  <a:extLst>
                    <a:ext uri="{9D8B030D-6E8A-4147-A177-3AD203B41FA5}">
                      <a16:colId xmlns="" xmlns:a16="http://schemas.microsoft.com/office/drawing/2014/main" val="2208455893"/>
                    </a:ext>
                  </a:extLst>
                </a:gridCol>
              </a:tblGrid>
              <a:tr h="370840">
                <a:tc>
                  <a:txBody>
                    <a:bodyPr/>
                    <a:lstStyle/>
                    <a:p>
                      <a:pPr algn="ctr"/>
                      <a:r>
                        <a:rPr lang="en-US" sz="2400" b="0" dirty="0">
                          <a:solidFill>
                            <a:sysClr val="windowText" lastClr="000000"/>
                          </a:solidFill>
                        </a:rPr>
                        <a:t>Delay attack</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 xmlns:a16="http://schemas.microsoft.com/office/drawing/2014/main" val="2569319100"/>
                  </a:ext>
                </a:extLst>
              </a:tr>
            </a:tbl>
          </a:graphicData>
        </a:graphic>
      </p:graphicFrame>
      <p:graphicFrame>
        <p:nvGraphicFramePr>
          <p:cNvPr id="16" name="Table 15"/>
          <p:cNvGraphicFramePr>
            <a:graphicFrameLocks noGrp="1"/>
          </p:cNvGraphicFramePr>
          <p:nvPr>
            <p:extLst>
              <p:ext uri="{D42A27DB-BD31-4B8C-83A1-F6EECF244321}">
                <p14:modId xmlns:p14="http://schemas.microsoft.com/office/powerpoint/2010/main" val="2300130668"/>
              </p:ext>
            </p:extLst>
          </p:nvPr>
        </p:nvGraphicFramePr>
        <p:xfrm>
          <a:off x="5029200" y="4471217"/>
          <a:ext cx="2971800" cy="457200"/>
        </p:xfrm>
        <a:graphic>
          <a:graphicData uri="http://schemas.openxmlformats.org/drawingml/2006/table">
            <a:tbl>
              <a:tblPr firstRow="1" bandRow="1">
                <a:tableStyleId>{5C22544A-7EE6-4342-B048-85BDC9FD1C3A}</a:tableStyleId>
              </a:tblPr>
              <a:tblGrid>
                <a:gridCol w="2971800">
                  <a:extLst>
                    <a:ext uri="{9D8B030D-6E8A-4147-A177-3AD203B41FA5}">
                      <a16:colId xmlns="" xmlns:a16="http://schemas.microsoft.com/office/drawing/2014/main" val="2208455893"/>
                    </a:ext>
                  </a:extLst>
                </a:gridCol>
              </a:tblGrid>
              <a:tr h="370840">
                <a:tc>
                  <a:txBody>
                    <a:bodyPr/>
                    <a:lstStyle/>
                    <a:p>
                      <a:pPr algn="ctr"/>
                      <a:r>
                        <a:rPr lang="en-US" sz="2400" b="0" dirty="0">
                          <a:solidFill>
                            <a:sysClr val="windowText" lastClr="000000"/>
                          </a:solidFill>
                        </a:rPr>
                        <a:t>Replay attack </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 xmlns:a16="http://schemas.microsoft.com/office/drawing/2014/main" val="2569319100"/>
                  </a:ext>
                </a:extLst>
              </a:tr>
            </a:tbl>
          </a:graphicData>
        </a:graphic>
      </p:graphicFrame>
      <p:graphicFrame>
        <p:nvGraphicFramePr>
          <p:cNvPr id="17" name="Table 16"/>
          <p:cNvGraphicFramePr>
            <a:graphicFrameLocks noGrp="1"/>
          </p:cNvGraphicFramePr>
          <p:nvPr>
            <p:extLst>
              <p:ext uri="{D42A27DB-BD31-4B8C-83A1-F6EECF244321}">
                <p14:modId xmlns:p14="http://schemas.microsoft.com/office/powerpoint/2010/main" val="3707057524"/>
              </p:ext>
            </p:extLst>
          </p:nvPr>
        </p:nvGraphicFramePr>
        <p:xfrm>
          <a:off x="5029200" y="4943165"/>
          <a:ext cx="2971800" cy="457200"/>
        </p:xfrm>
        <a:graphic>
          <a:graphicData uri="http://schemas.openxmlformats.org/drawingml/2006/table">
            <a:tbl>
              <a:tblPr firstRow="1" bandRow="1">
                <a:tableStyleId>{5C22544A-7EE6-4342-B048-85BDC9FD1C3A}</a:tableStyleId>
              </a:tblPr>
              <a:tblGrid>
                <a:gridCol w="2971800">
                  <a:extLst>
                    <a:ext uri="{9D8B030D-6E8A-4147-A177-3AD203B41FA5}">
                      <a16:colId xmlns="" xmlns:a16="http://schemas.microsoft.com/office/drawing/2014/main" val="2208455893"/>
                    </a:ext>
                  </a:extLst>
                </a:gridCol>
              </a:tblGrid>
              <a:tr h="370840">
                <a:tc>
                  <a:txBody>
                    <a:bodyPr/>
                    <a:lstStyle/>
                    <a:p>
                      <a:pPr algn="ctr"/>
                      <a:r>
                        <a:rPr lang="en-US" sz="2400" b="0" dirty="0">
                          <a:solidFill>
                            <a:sysClr val="windowText" lastClr="000000"/>
                          </a:solidFill>
                        </a:rPr>
                        <a:t>Denial attack</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 xmlns:a16="http://schemas.microsoft.com/office/drawing/2014/main" val="2569319100"/>
                  </a:ext>
                </a:extLst>
              </a:tr>
            </a:tbl>
          </a:graphicData>
        </a:graphic>
      </p:graphicFrame>
    </p:spTree>
    <p:extLst>
      <p:ext uri="{BB962C8B-B14F-4D97-AF65-F5344CB8AC3E}">
        <p14:creationId xmlns:p14="http://schemas.microsoft.com/office/powerpoint/2010/main" val="901292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normAutofit/>
          </a:bodyPr>
          <a:lstStyle/>
          <a:p>
            <a:r>
              <a:rPr lang="en-US" dirty="0"/>
              <a:t>Passive Attack</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dirty="0"/>
              <a:t>Intruder access unauthorized information from a computer system but cannot cause harm to the system.</a:t>
            </a:r>
          </a:p>
          <a:p>
            <a:r>
              <a:rPr lang="en-US" dirty="0">
                <a:solidFill>
                  <a:schemeClr val="accent6"/>
                </a:solidFill>
              </a:rPr>
              <a:t>Browsing</a:t>
            </a:r>
            <a:r>
              <a:rPr lang="en-US" dirty="0"/>
              <a:t>: Intruders here attempt to read stored files, traverse message packet on the network, access other process memory, etc.</a:t>
            </a:r>
          </a:p>
          <a:p>
            <a:r>
              <a:rPr lang="en-US" dirty="0">
                <a:solidFill>
                  <a:schemeClr val="accent6"/>
                </a:solidFill>
              </a:rPr>
              <a:t>Inferencing</a:t>
            </a:r>
            <a:r>
              <a:rPr lang="en-US" dirty="0"/>
              <a:t>: The intruder records and analyzes past activities and access methods and uses this information to draw inferences.</a:t>
            </a:r>
          </a:p>
          <a:p>
            <a:r>
              <a:rPr lang="en-US" dirty="0">
                <a:solidFill>
                  <a:schemeClr val="accent6"/>
                </a:solidFill>
              </a:rPr>
              <a:t>Masquerading</a:t>
            </a:r>
            <a:r>
              <a:rPr lang="en-US" dirty="0"/>
              <a:t>: An intruder Masquerades as an authorized user or a program to gain access to unauthorized data or resource.</a:t>
            </a:r>
          </a:p>
        </p:txBody>
      </p:sp>
    </p:spTree>
    <p:extLst>
      <p:ext uri="{BB962C8B-B14F-4D97-AF65-F5344CB8AC3E}">
        <p14:creationId xmlns:p14="http://schemas.microsoft.com/office/powerpoint/2010/main" val="255428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normAutofit/>
          </a:bodyPr>
          <a:lstStyle/>
          <a:p>
            <a:r>
              <a:rPr lang="en-US" dirty="0"/>
              <a:t>Active Attack</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dirty="0">
                <a:solidFill>
                  <a:schemeClr val="accent6"/>
                </a:solidFill>
              </a:rPr>
              <a:t>Virus</a:t>
            </a:r>
            <a:r>
              <a:rPr lang="en-US" dirty="0"/>
              <a:t>: is a small computer program that needs to be executed by either running it or having it loaded from boot sector of a disk.</a:t>
            </a:r>
          </a:p>
          <a:p>
            <a:r>
              <a:rPr lang="en-US" dirty="0">
                <a:solidFill>
                  <a:schemeClr val="accent6"/>
                </a:solidFill>
              </a:rPr>
              <a:t>Worm</a:t>
            </a:r>
            <a:r>
              <a:rPr lang="en-US" dirty="0"/>
              <a:t>: is a small piece of software the uses computer network  and security holes to replicate itself.</a:t>
            </a:r>
          </a:p>
          <a:p>
            <a:r>
              <a:rPr lang="en-US" dirty="0">
                <a:solidFill>
                  <a:schemeClr val="accent6"/>
                </a:solidFill>
              </a:rPr>
              <a:t>Logic bomb</a:t>
            </a:r>
            <a:r>
              <a:rPr lang="en-US" dirty="0"/>
              <a:t>: is a piece of code intentionally inserted into a software system that will set off a malicious function when specified conditions are met. </a:t>
            </a:r>
          </a:p>
        </p:txBody>
      </p:sp>
    </p:spTree>
    <p:extLst>
      <p:ext uri="{BB962C8B-B14F-4D97-AF65-F5344CB8AC3E}">
        <p14:creationId xmlns:p14="http://schemas.microsoft.com/office/powerpoint/2010/main" val="2288351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normAutofit/>
          </a:bodyPr>
          <a:lstStyle/>
          <a:p>
            <a:r>
              <a:rPr lang="en-US" dirty="0"/>
              <a:t>Active Attack</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dirty="0">
                <a:solidFill>
                  <a:schemeClr val="accent6"/>
                </a:solidFill>
              </a:rPr>
              <a:t>Integrity Attack: </a:t>
            </a:r>
          </a:p>
          <a:p>
            <a:pPr lvl="2"/>
            <a:r>
              <a:rPr lang="en-US" sz="2400" dirty="0"/>
              <a:t>An intruder can change the message while it is traveling in the communication channel and the receiver may interpret it as original message.</a:t>
            </a:r>
          </a:p>
        </p:txBody>
      </p:sp>
      <p:sp>
        <p:nvSpPr>
          <p:cNvPr id="4" name="Rectangle 3"/>
          <p:cNvSpPr/>
          <p:nvPr/>
        </p:nvSpPr>
        <p:spPr>
          <a:xfrm>
            <a:off x="5253318" y="3025589"/>
            <a:ext cx="1066800" cy="533400"/>
          </a:xfrm>
          <a:prstGeom prst="rect">
            <a:avLst/>
          </a:prstGeom>
          <a:ln>
            <a:solidFill>
              <a:srgbClr val="1D3064"/>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Hello</a:t>
            </a:r>
          </a:p>
        </p:txBody>
      </p:sp>
      <p:sp>
        <p:nvSpPr>
          <p:cNvPr id="5" name="Cloud 4"/>
          <p:cNvSpPr/>
          <p:nvPr/>
        </p:nvSpPr>
        <p:spPr>
          <a:xfrm>
            <a:off x="3424518" y="3025589"/>
            <a:ext cx="1143000" cy="533400"/>
          </a:xfrm>
          <a:prstGeom prst="cloud">
            <a:avLst/>
          </a:prstGeom>
          <a:ln>
            <a:solidFill>
              <a:srgbClr val="1D3064"/>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Hello</a:t>
            </a:r>
          </a:p>
        </p:txBody>
      </p:sp>
      <p:sp>
        <p:nvSpPr>
          <p:cNvPr id="6" name="Cloud 5"/>
          <p:cNvSpPr/>
          <p:nvPr/>
        </p:nvSpPr>
        <p:spPr>
          <a:xfrm>
            <a:off x="6986868" y="3025589"/>
            <a:ext cx="1143000" cy="533400"/>
          </a:xfrm>
          <a:prstGeom prst="cloud">
            <a:avLst/>
          </a:prstGeom>
          <a:ln>
            <a:solidFill>
              <a:srgbClr val="1D3064"/>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Hi</a:t>
            </a: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43495" y="2967685"/>
            <a:ext cx="380846" cy="667504"/>
          </a:xfrm>
          <a:prstGeom prst="rect">
            <a:avLst/>
          </a:prstGeom>
          <a:solidFill>
            <a:srgbClr val="0E3755"/>
          </a:solidFill>
          <a:ln>
            <a:noFill/>
          </a:ln>
        </p:spPr>
      </p:pic>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872818" y="2967685"/>
            <a:ext cx="380846" cy="667504"/>
          </a:xfrm>
          <a:prstGeom prst="rect">
            <a:avLst/>
          </a:prstGeom>
          <a:solidFill>
            <a:srgbClr val="0E3755"/>
          </a:solidFill>
          <a:ln>
            <a:noFill/>
          </a:ln>
        </p:spPr>
      </p:pic>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96295" y="4522444"/>
            <a:ext cx="380846" cy="667504"/>
          </a:xfrm>
          <a:prstGeom prst="rect">
            <a:avLst/>
          </a:prstGeom>
          <a:solidFill>
            <a:srgbClr val="0E3755"/>
          </a:solidFill>
          <a:ln>
            <a:noFill/>
          </a:ln>
        </p:spPr>
      </p:pic>
      <p:cxnSp>
        <p:nvCxnSpPr>
          <p:cNvPr id="10" name="Straight Connector 9"/>
          <p:cNvCxnSpPr>
            <a:stCxn id="7" idx="3"/>
            <a:endCxn id="5" idx="2"/>
          </p:cNvCxnSpPr>
          <p:nvPr/>
        </p:nvCxnSpPr>
        <p:spPr>
          <a:xfrm flipV="1">
            <a:off x="2624341" y="3292289"/>
            <a:ext cx="803722" cy="9148"/>
          </a:xfrm>
          <a:prstGeom prst="line">
            <a:avLst/>
          </a:prstGeom>
          <a:ln w="28575">
            <a:solidFill>
              <a:srgbClr val="1D3064"/>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5" idx="0"/>
            <a:endCxn id="4" idx="1"/>
          </p:cNvCxnSpPr>
          <p:nvPr/>
        </p:nvCxnSpPr>
        <p:spPr>
          <a:xfrm>
            <a:off x="4566566" y="3292289"/>
            <a:ext cx="686752" cy="0"/>
          </a:xfrm>
          <a:prstGeom prst="line">
            <a:avLst/>
          </a:prstGeom>
          <a:ln w="28575">
            <a:solidFill>
              <a:srgbClr val="1D3064"/>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9" idx="0"/>
            <a:endCxn id="4" idx="2"/>
          </p:cNvCxnSpPr>
          <p:nvPr/>
        </p:nvCxnSpPr>
        <p:spPr>
          <a:xfrm flipV="1">
            <a:off x="5786718" y="3558989"/>
            <a:ext cx="0" cy="963455"/>
          </a:xfrm>
          <a:prstGeom prst="line">
            <a:avLst/>
          </a:prstGeom>
          <a:ln w="28575">
            <a:solidFill>
              <a:srgbClr val="1D3064"/>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4" idx="3"/>
            <a:endCxn id="6" idx="2"/>
          </p:cNvCxnSpPr>
          <p:nvPr/>
        </p:nvCxnSpPr>
        <p:spPr>
          <a:xfrm>
            <a:off x="6320118" y="3292289"/>
            <a:ext cx="670295" cy="0"/>
          </a:xfrm>
          <a:prstGeom prst="line">
            <a:avLst/>
          </a:prstGeom>
          <a:ln w="28575">
            <a:solidFill>
              <a:srgbClr val="1D3064"/>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6" idx="0"/>
            <a:endCxn id="8" idx="1"/>
          </p:cNvCxnSpPr>
          <p:nvPr/>
        </p:nvCxnSpPr>
        <p:spPr>
          <a:xfrm>
            <a:off x="8128916" y="3292289"/>
            <a:ext cx="743902" cy="9148"/>
          </a:xfrm>
          <a:prstGeom prst="line">
            <a:avLst/>
          </a:prstGeom>
          <a:ln w="28575">
            <a:solidFill>
              <a:srgbClr val="1D3064"/>
            </a:solidFill>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6046521" y="4668456"/>
            <a:ext cx="1044710" cy="400110"/>
          </a:xfrm>
          <a:prstGeom prst="rect">
            <a:avLst/>
          </a:prstGeom>
          <a:noFill/>
          <a:ln>
            <a:solidFill>
              <a:schemeClr val="bg1"/>
            </a:solidFill>
          </a:ln>
        </p:spPr>
        <p:txBody>
          <a:bodyPr wrap="none" rtlCol="0">
            <a:spAutoFit/>
          </a:bodyPr>
          <a:lstStyle/>
          <a:p>
            <a:r>
              <a:rPr lang="en-US" sz="2000" dirty="0"/>
              <a:t>Intruder</a:t>
            </a:r>
          </a:p>
        </p:txBody>
      </p:sp>
      <p:sp>
        <p:nvSpPr>
          <p:cNvPr id="16" name="TextBox 15"/>
          <p:cNvSpPr txBox="1"/>
          <p:nvPr/>
        </p:nvSpPr>
        <p:spPr>
          <a:xfrm>
            <a:off x="6471682" y="2796989"/>
            <a:ext cx="404278" cy="400110"/>
          </a:xfrm>
          <a:prstGeom prst="rect">
            <a:avLst/>
          </a:prstGeom>
          <a:noFill/>
          <a:ln>
            <a:solidFill>
              <a:schemeClr val="bg1"/>
            </a:solidFill>
          </a:ln>
        </p:spPr>
        <p:txBody>
          <a:bodyPr wrap="none" rtlCol="0">
            <a:spAutoFit/>
          </a:bodyPr>
          <a:lstStyle/>
          <a:p>
            <a:r>
              <a:rPr lang="en-US" sz="2000" dirty="0"/>
              <a:t>Hi</a:t>
            </a:r>
          </a:p>
        </p:txBody>
      </p:sp>
      <p:sp>
        <p:nvSpPr>
          <p:cNvPr id="17" name="TextBox 16"/>
          <p:cNvSpPr txBox="1"/>
          <p:nvPr/>
        </p:nvSpPr>
        <p:spPr>
          <a:xfrm>
            <a:off x="2243495" y="3711389"/>
            <a:ext cx="333746" cy="400110"/>
          </a:xfrm>
          <a:prstGeom prst="rect">
            <a:avLst/>
          </a:prstGeom>
          <a:noFill/>
          <a:ln>
            <a:solidFill>
              <a:schemeClr val="bg1"/>
            </a:solidFill>
          </a:ln>
        </p:spPr>
        <p:txBody>
          <a:bodyPr wrap="none" rtlCol="0">
            <a:spAutoFit/>
          </a:bodyPr>
          <a:lstStyle/>
          <a:p>
            <a:r>
              <a:rPr lang="en-US" sz="2000" dirty="0"/>
              <a:t>A</a:t>
            </a:r>
          </a:p>
        </p:txBody>
      </p:sp>
      <p:sp>
        <p:nvSpPr>
          <p:cNvPr id="18" name="TextBox 17"/>
          <p:cNvSpPr txBox="1"/>
          <p:nvPr/>
        </p:nvSpPr>
        <p:spPr>
          <a:xfrm>
            <a:off x="8915757" y="3711389"/>
            <a:ext cx="324128" cy="400110"/>
          </a:xfrm>
          <a:prstGeom prst="rect">
            <a:avLst/>
          </a:prstGeom>
          <a:noFill/>
          <a:ln>
            <a:solidFill>
              <a:schemeClr val="bg1"/>
            </a:solidFill>
          </a:ln>
        </p:spPr>
        <p:txBody>
          <a:bodyPr wrap="none" rtlCol="0">
            <a:spAutoFit/>
          </a:bodyPr>
          <a:lstStyle/>
          <a:p>
            <a:r>
              <a:rPr lang="en-US" sz="2000" dirty="0"/>
              <a:t>B</a:t>
            </a:r>
          </a:p>
        </p:txBody>
      </p:sp>
    </p:spTree>
    <p:extLst>
      <p:ext uri="{BB962C8B-B14F-4D97-AF65-F5344CB8AC3E}">
        <p14:creationId xmlns:p14="http://schemas.microsoft.com/office/powerpoint/2010/main" val="3200616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500"/>
                                        <p:tgtEl>
                                          <p:spTgt spid="10"/>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wipe(left)">
                                      <p:cBhvr>
                                        <p:cTn id="30" dur="500"/>
                                        <p:tgtEl>
                                          <p:spTgt spid="5"/>
                                        </p:tgtEl>
                                      </p:cBhvr>
                                    </p:animEffect>
                                  </p:childTnLst>
                                </p:cTn>
                              </p:par>
                              <p:par>
                                <p:cTn id="31" presetID="22" presetClass="entr" presetSubtype="8" fill="hold"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wipe(left)">
                                      <p:cBhvr>
                                        <p:cTn id="33" dur="500"/>
                                        <p:tgtEl>
                                          <p:spTgt spid="11"/>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wipe(left)">
                                      <p:cBhvr>
                                        <p:cTn id="36" dur="500"/>
                                        <p:tgtEl>
                                          <p:spTgt spid="4"/>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wipe(left)">
                                      <p:cBhvr>
                                        <p:cTn id="51" dur="500"/>
                                        <p:tgtEl>
                                          <p:spTgt spid="13"/>
                                        </p:tgtEl>
                                      </p:cBhvr>
                                    </p:animEffect>
                                  </p:childTnLst>
                                </p:cTn>
                              </p:par>
                              <p:par>
                                <p:cTn id="52" presetID="22" presetClass="entr" presetSubtype="8" fill="hold" grpId="0" nodeType="withEffect">
                                  <p:stCondLst>
                                    <p:cond delay="0"/>
                                  </p:stCondLst>
                                  <p:childTnLst>
                                    <p:set>
                                      <p:cBhvr>
                                        <p:cTn id="53" dur="1" fill="hold">
                                          <p:stCondLst>
                                            <p:cond delay="0"/>
                                          </p:stCondLst>
                                        </p:cTn>
                                        <p:tgtEl>
                                          <p:spTgt spid="16"/>
                                        </p:tgtEl>
                                        <p:attrNameLst>
                                          <p:attrName>style.visibility</p:attrName>
                                        </p:attrNameLst>
                                      </p:cBhvr>
                                      <p:to>
                                        <p:strVal val="visible"/>
                                      </p:to>
                                    </p:set>
                                    <p:animEffect transition="in" filter="wipe(left)">
                                      <p:cBhvr>
                                        <p:cTn id="54" dur="500"/>
                                        <p:tgtEl>
                                          <p:spTgt spid="16"/>
                                        </p:tgtEl>
                                      </p:cBhvr>
                                    </p:animEffect>
                                  </p:childTnLst>
                                </p:cTn>
                              </p:par>
                              <p:par>
                                <p:cTn id="55" presetID="22" presetClass="entr" presetSubtype="8" fill="hold" grpId="0" nodeType="withEffect">
                                  <p:stCondLst>
                                    <p:cond delay="0"/>
                                  </p:stCondLst>
                                  <p:childTnLst>
                                    <p:set>
                                      <p:cBhvr>
                                        <p:cTn id="56" dur="1" fill="hold">
                                          <p:stCondLst>
                                            <p:cond delay="0"/>
                                          </p:stCondLst>
                                        </p:cTn>
                                        <p:tgtEl>
                                          <p:spTgt spid="6"/>
                                        </p:tgtEl>
                                        <p:attrNameLst>
                                          <p:attrName>style.visibility</p:attrName>
                                        </p:attrNameLst>
                                      </p:cBhvr>
                                      <p:to>
                                        <p:strVal val="visible"/>
                                      </p:to>
                                    </p:set>
                                    <p:animEffect transition="in" filter="wipe(left)">
                                      <p:cBhvr>
                                        <p:cTn id="57" dur="500"/>
                                        <p:tgtEl>
                                          <p:spTgt spid="6"/>
                                        </p:tgtEl>
                                      </p:cBhvr>
                                    </p:animEffect>
                                  </p:childTnLst>
                                </p:cTn>
                              </p:par>
                              <p:par>
                                <p:cTn id="58" presetID="22" presetClass="entr" presetSubtype="8" fill="hold" nodeType="withEffect">
                                  <p:stCondLst>
                                    <p:cond delay="0"/>
                                  </p:stCondLst>
                                  <p:childTnLst>
                                    <p:set>
                                      <p:cBhvr>
                                        <p:cTn id="59" dur="1" fill="hold">
                                          <p:stCondLst>
                                            <p:cond delay="0"/>
                                          </p:stCondLst>
                                        </p:cTn>
                                        <p:tgtEl>
                                          <p:spTgt spid="14"/>
                                        </p:tgtEl>
                                        <p:attrNameLst>
                                          <p:attrName>style.visibility</p:attrName>
                                        </p:attrNameLst>
                                      </p:cBhvr>
                                      <p:to>
                                        <p:strVal val="visible"/>
                                      </p:to>
                                    </p:set>
                                    <p:animEffect transition="in" filter="wipe(left)">
                                      <p:cBhvr>
                                        <p:cTn id="6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15" grpId="0" animBg="1"/>
      <p:bldP spid="16" grpId="0" animBg="1"/>
      <p:bldP spid="17" grpId="0" animBg="1"/>
      <p:bldP spid="1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normAutofit/>
          </a:bodyPr>
          <a:lstStyle/>
          <a:p>
            <a:r>
              <a:rPr lang="en-US" dirty="0"/>
              <a:t>Active Attack</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dirty="0">
                <a:solidFill>
                  <a:schemeClr val="accent6"/>
                </a:solidFill>
              </a:rPr>
              <a:t>Denial Attack</a:t>
            </a:r>
          </a:p>
          <a:p>
            <a:pPr lvl="2"/>
            <a:r>
              <a:rPr lang="en-US" sz="2400" dirty="0"/>
              <a:t>An intruder might partly or completely block communication path between two processes. </a:t>
            </a:r>
          </a:p>
        </p:txBody>
      </p:sp>
      <p:sp>
        <p:nvSpPr>
          <p:cNvPr id="19" name="Rectangle 18"/>
          <p:cNvSpPr/>
          <p:nvPr/>
        </p:nvSpPr>
        <p:spPr>
          <a:xfrm>
            <a:off x="5029200" y="3200400"/>
            <a:ext cx="264448" cy="533400"/>
          </a:xfrm>
          <a:prstGeom prst="rect">
            <a:avLst/>
          </a:prstGeom>
          <a:ln>
            <a:solidFill>
              <a:schemeClr val="tx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pic>
        <p:nvPicPr>
          <p:cNvPr id="20" name="Picture 1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30749" y="3133348"/>
            <a:ext cx="380846" cy="667504"/>
          </a:xfrm>
          <a:prstGeom prst="rect">
            <a:avLst/>
          </a:prstGeom>
        </p:spPr>
      </p:pic>
      <p:pic>
        <p:nvPicPr>
          <p:cNvPr id="21" name="Picture 2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81800" y="3133348"/>
            <a:ext cx="380846" cy="667504"/>
          </a:xfrm>
          <a:prstGeom prst="rect">
            <a:avLst/>
          </a:prstGeom>
        </p:spPr>
      </p:pic>
      <p:pic>
        <p:nvPicPr>
          <p:cNvPr id="22" name="Picture 2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96543" y="4540463"/>
            <a:ext cx="346224" cy="606822"/>
          </a:xfrm>
          <a:prstGeom prst="rect">
            <a:avLst/>
          </a:prstGeom>
        </p:spPr>
      </p:pic>
      <p:sp>
        <p:nvSpPr>
          <p:cNvPr id="23" name="TextBox 22"/>
          <p:cNvSpPr txBox="1"/>
          <p:nvPr/>
        </p:nvSpPr>
        <p:spPr>
          <a:xfrm>
            <a:off x="4083350" y="2741259"/>
            <a:ext cx="2553456" cy="400110"/>
          </a:xfrm>
          <a:prstGeom prst="rect">
            <a:avLst/>
          </a:prstGeom>
          <a:noFill/>
        </p:spPr>
        <p:txBody>
          <a:bodyPr wrap="none" rtlCol="0">
            <a:spAutoFit/>
          </a:bodyPr>
          <a:lstStyle/>
          <a:p>
            <a:r>
              <a:rPr lang="en-US" sz="2000" dirty="0"/>
              <a:t>Blocks Communication</a:t>
            </a:r>
          </a:p>
        </p:txBody>
      </p:sp>
      <p:sp>
        <p:nvSpPr>
          <p:cNvPr id="24" name="TextBox 23"/>
          <p:cNvSpPr txBox="1"/>
          <p:nvPr/>
        </p:nvSpPr>
        <p:spPr>
          <a:xfrm>
            <a:off x="1333577" y="3877052"/>
            <a:ext cx="333746" cy="400110"/>
          </a:xfrm>
          <a:prstGeom prst="rect">
            <a:avLst/>
          </a:prstGeom>
          <a:noFill/>
        </p:spPr>
        <p:txBody>
          <a:bodyPr wrap="none" rtlCol="0">
            <a:spAutoFit/>
          </a:bodyPr>
          <a:lstStyle/>
          <a:p>
            <a:r>
              <a:rPr lang="en-US" sz="2000" dirty="0"/>
              <a:t>A</a:t>
            </a:r>
          </a:p>
        </p:txBody>
      </p:sp>
      <p:sp>
        <p:nvSpPr>
          <p:cNvPr id="25" name="TextBox 24"/>
          <p:cNvSpPr txBox="1"/>
          <p:nvPr/>
        </p:nvSpPr>
        <p:spPr>
          <a:xfrm>
            <a:off x="6824739" y="3877052"/>
            <a:ext cx="324128" cy="400110"/>
          </a:xfrm>
          <a:prstGeom prst="rect">
            <a:avLst/>
          </a:prstGeom>
          <a:noFill/>
        </p:spPr>
        <p:txBody>
          <a:bodyPr wrap="none" rtlCol="0">
            <a:spAutoFit/>
          </a:bodyPr>
          <a:lstStyle/>
          <a:p>
            <a:r>
              <a:rPr lang="en-US" sz="2000" dirty="0"/>
              <a:t>B</a:t>
            </a:r>
          </a:p>
        </p:txBody>
      </p:sp>
      <p:sp>
        <p:nvSpPr>
          <p:cNvPr id="26" name="Rectangle 25"/>
          <p:cNvSpPr/>
          <p:nvPr/>
        </p:nvSpPr>
        <p:spPr>
          <a:xfrm>
            <a:off x="2762211" y="3200400"/>
            <a:ext cx="1066800" cy="533400"/>
          </a:xfrm>
          <a:prstGeom prst="rect">
            <a:avLst/>
          </a:prstGeom>
          <a:ln>
            <a:solidFill>
              <a:schemeClr val="tx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Hello B</a:t>
            </a:r>
          </a:p>
        </p:txBody>
      </p:sp>
      <p:cxnSp>
        <p:nvCxnSpPr>
          <p:cNvPr id="27" name="Straight Arrow Connector 26"/>
          <p:cNvCxnSpPr>
            <a:stCxn id="20" idx="3"/>
            <a:endCxn id="26" idx="1"/>
          </p:cNvCxnSpPr>
          <p:nvPr/>
        </p:nvCxnSpPr>
        <p:spPr>
          <a:xfrm>
            <a:off x="1711595" y="3467100"/>
            <a:ext cx="1050616" cy="0"/>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26" idx="3"/>
            <a:endCxn id="19" idx="1"/>
          </p:cNvCxnSpPr>
          <p:nvPr/>
        </p:nvCxnSpPr>
        <p:spPr>
          <a:xfrm>
            <a:off x="3829011" y="3467100"/>
            <a:ext cx="1200189" cy="0"/>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19" idx="3"/>
          </p:cNvCxnSpPr>
          <p:nvPr/>
        </p:nvCxnSpPr>
        <p:spPr>
          <a:xfrm>
            <a:off x="5293648" y="3467100"/>
            <a:ext cx="1385097" cy="0"/>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22" idx="0"/>
            <a:endCxn id="19" idx="2"/>
          </p:cNvCxnSpPr>
          <p:nvPr/>
        </p:nvCxnSpPr>
        <p:spPr>
          <a:xfrm flipH="1" flipV="1">
            <a:off x="5161424" y="3733800"/>
            <a:ext cx="8231" cy="806663"/>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5023758" y="5176185"/>
            <a:ext cx="320922" cy="400110"/>
          </a:xfrm>
          <a:prstGeom prst="rect">
            <a:avLst/>
          </a:prstGeom>
          <a:noFill/>
        </p:spPr>
        <p:txBody>
          <a:bodyPr wrap="none" rtlCol="0">
            <a:spAutoFit/>
          </a:bodyPr>
          <a:lstStyle/>
          <a:p>
            <a:r>
              <a:rPr lang="en-US" sz="2000" dirty="0"/>
              <a:t>C</a:t>
            </a:r>
          </a:p>
        </p:txBody>
      </p:sp>
    </p:spTree>
    <p:extLst>
      <p:ext uri="{BB962C8B-B14F-4D97-AF65-F5344CB8AC3E}">
        <p14:creationId xmlns:p14="http://schemas.microsoft.com/office/powerpoint/2010/main" val="1324971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wipe(down)">
                                      <p:cBhvr>
                                        <p:cTn id="25" dur="500"/>
                                        <p:tgtEl>
                                          <p:spTgt spid="27"/>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wipe(down)">
                                      <p:cBhvr>
                                        <p:cTn id="28" dur="500"/>
                                        <p:tgtEl>
                                          <p:spTgt spid="26"/>
                                        </p:tgtEl>
                                      </p:cBhvr>
                                    </p:animEffect>
                                  </p:childTnLst>
                                </p:cTn>
                              </p:par>
                              <p:par>
                                <p:cTn id="29" presetID="22" presetClass="entr" presetSubtype="4" fill="hold" nodeType="with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wipe(down)">
                                      <p:cBhvr>
                                        <p:cTn id="31" dur="500"/>
                                        <p:tgtEl>
                                          <p:spTgt spid="28"/>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22"/>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31"/>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wipe(down)">
                                      <p:cBhvr>
                                        <p:cTn id="42" dur="500"/>
                                        <p:tgtEl>
                                          <p:spTgt spid="19"/>
                                        </p:tgtEl>
                                      </p:cBhvr>
                                    </p:animEffect>
                                  </p:childTnLst>
                                </p:cTn>
                              </p:par>
                              <p:par>
                                <p:cTn id="43" presetID="22" presetClass="entr" presetSubtype="4" fill="hold" nodeType="with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wipe(down)">
                                      <p:cBhvr>
                                        <p:cTn id="45" dur="500"/>
                                        <p:tgtEl>
                                          <p:spTgt spid="30"/>
                                        </p:tgtEl>
                                      </p:cBhvr>
                                    </p:animEffect>
                                  </p:childTnLst>
                                </p:cTn>
                              </p:par>
                              <p:par>
                                <p:cTn id="46" presetID="22" presetClass="entr" presetSubtype="4" fill="hold" grpId="0" nodeType="with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wipe(down)">
                                      <p:cBhvr>
                                        <p:cTn id="48" dur="500"/>
                                        <p:tgtEl>
                                          <p:spTgt spid="23"/>
                                        </p:tgtEl>
                                      </p:cBhvr>
                                    </p:animEffect>
                                  </p:childTnLst>
                                </p:cTn>
                              </p:par>
                              <p:par>
                                <p:cTn id="49" presetID="22" presetClass="entr" presetSubtype="4" fill="hold" nodeType="withEffect">
                                  <p:stCondLst>
                                    <p:cond delay="0"/>
                                  </p:stCondLst>
                                  <p:childTnLst>
                                    <p:set>
                                      <p:cBhvr>
                                        <p:cTn id="50" dur="1" fill="hold">
                                          <p:stCondLst>
                                            <p:cond delay="0"/>
                                          </p:stCondLst>
                                        </p:cTn>
                                        <p:tgtEl>
                                          <p:spTgt spid="29"/>
                                        </p:tgtEl>
                                        <p:attrNameLst>
                                          <p:attrName>style.visibility</p:attrName>
                                        </p:attrNameLst>
                                      </p:cBhvr>
                                      <p:to>
                                        <p:strVal val="visible"/>
                                      </p:to>
                                    </p:set>
                                    <p:animEffect transition="in" filter="wipe(down)">
                                      <p:cBhvr>
                                        <p:cTn id="51"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3" grpId="0"/>
      <p:bldP spid="24" grpId="0"/>
      <p:bldP spid="25" grpId="0"/>
      <p:bldP spid="26" grpId="0" animBg="1"/>
      <p:bldP spid="3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normAutofit/>
          </a:bodyPr>
          <a:lstStyle/>
          <a:p>
            <a:r>
              <a:rPr lang="en-US" dirty="0"/>
              <a:t>Active Attack</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dirty="0" smtClean="0">
                <a:solidFill>
                  <a:schemeClr val="accent6"/>
                </a:solidFill>
              </a:rPr>
              <a:t>Replay Attack</a:t>
            </a:r>
            <a:endParaRPr lang="en-US" dirty="0">
              <a:solidFill>
                <a:schemeClr val="accent6"/>
              </a:solidFill>
            </a:endParaRPr>
          </a:p>
          <a:p>
            <a:pPr lvl="2"/>
            <a:r>
              <a:rPr lang="en-US" sz="2400" dirty="0"/>
              <a:t>An intruder retransmit an old message that is accepted as new message by the receiver.</a:t>
            </a:r>
          </a:p>
        </p:txBody>
      </p:sp>
      <p:sp>
        <p:nvSpPr>
          <p:cNvPr id="46" name="Rectangle 45"/>
          <p:cNvSpPr/>
          <p:nvPr/>
        </p:nvSpPr>
        <p:spPr>
          <a:xfrm>
            <a:off x="6482022" y="2739813"/>
            <a:ext cx="1879166" cy="962029"/>
          </a:xfrm>
          <a:prstGeom prst="rect">
            <a:avLst/>
          </a:prstGeom>
          <a:ln>
            <a:solidFill>
              <a:schemeClr val="tx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Hello B Meet me at </a:t>
            </a:r>
            <a:r>
              <a:rPr lang="en-US" sz="2000" dirty="0" smtClean="0"/>
              <a:t>6 </a:t>
            </a:r>
            <a:r>
              <a:rPr lang="en-US" sz="2000" dirty="0"/>
              <a:t>PM – A</a:t>
            </a:r>
          </a:p>
          <a:p>
            <a:pPr algn="ctr"/>
            <a:r>
              <a:rPr lang="en-US" sz="2000" dirty="0"/>
              <a:t>On 16 June </a:t>
            </a:r>
            <a:r>
              <a:rPr lang="en-US" sz="2000" dirty="0" smtClean="0"/>
              <a:t>2021</a:t>
            </a:r>
            <a:endParaRPr lang="en-US" sz="2000" dirty="0"/>
          </a:p>
        </p:txBody>
      </p:sp>
      <p:pic>
        <p:nvPicPr>
          <p:cNvPr id="47" name="Picture 4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6118" y="2887076"/>
            <a:ext cx="380846" cy="667504"/>
          </a:xfrm>
          <a:prstGeom prst="rect">
            <a:avLst/>
          </a:prstGeom>
        </p:spPr>
      </p:pic>
      <p:pic>
        <p:nvPicPr>
          <p:cNvPr id="48" name="Picture 4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02105" y="2887076"/>
            <a:ext cx="380846" cy="667504"/>
          </a:xfrm>
          <a:prstGeom prst="rect">
            <a:avLst/>
          </a:prstGeom>
        </p:spPr>
      </p:pic>
      <p:pic>
        <p:nvPicPr>
          <p:cNvPr id="49" name="Picture 4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02632" y="4119104"/>
            <a:ext cx="380846" cy="667504"/>
          </a:xfrm>
          <a:prstGeom prst="rect">
            <a:avLst/>
          </a:prstGeom>
        </p:spPr>
      </p:pic>
      <p:cxnSp>
        <p:nvCxnSpPr>
          <p:cNvPr id="50" name="Straight Connector 49"/>
          <p:cNvCxnSpPr>
            <a:stCxn id="49" idx="0"/>
            <a:endCxn id="56" idx="2"/>
          </p:cNvCxnSpPr>
          <p:nvPr/>
        </p:nvCxnSpPr>
        <p:spPr>
          <a:xfrm flipH="1" flipV="1">
            <a:off x="4990744" y="3701842"/>
            <a:ext cx="2311" cy="417262"/>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4836694" y="4773676"/>
            <a:ext cx="320922" cy="400110"/>
          </a:xfrm>
          <a:prstGeom prst="rect">
            <a:avLst/>
          </a:prstGeom>
          <a:noFill/>
        </p:spPr>
        <p:txBody>
          <a:bodyPr wrap="none" rtlCol="0">
            <a:spAutoFit/>
          </a:bodyPr>
          <a:lstStyle/>
          <a:p>
            <a:r>
              <a:rPr lang="en-US" sz="2000" dirty="0"/>
              <a:t>C</a:t>
            </a:r>
          </a:p>
        </p:txBody>
      </p:sp>
      <p:sp>
        <p:nvSpPr>
          <p:cNvPr id="52" name="TextBox 51"/>
          <p:cNvSpPr txBox="1"/>
          <p:nvPr/>
        </p:nvSpPr>
        <p:spPr>
          <a:xfrm>
            <a:off x="1033372" y="3630780"/>
            <a:ext cx="333746" cy="400110"/>
          </a:xfrm>
          <a:prstGeom prst="rect">
            <a:avLst/>
          </a:prstGeom>
          <a:noFill/>
        </p:spPr>
        <p:txBody>
          <a:bodyPr wrap="none" rtlCol="0">
            <a:spAutoFit/>
          </a:bodyPr>
          <a:lstStyle/>
          <a:p>
            <a:r>
              <a:rPr lang="en-US" sz="2000" dirty="0"/>
              <a:t>A</a:t>
            </a:r>
          </a:p>
        </p:txBody>
      </p:sp>
      <p:sp>
        <p:nvSpPr>
          <p:cNvPr id="53" name="TextBox 52"/>
          <p:cNvSpPr txBox="1"/>
          <p:nvPr/>
        </p:nvSpPr>
        <p:spPr>
          <a:xfrm>
            <a:off x="8958823" y="3630780"/>
            <a:ext cx="324128" cy="400110"/>
          </a:xfrm>
          <a:prstGeom prst="rect">
            <a:avLst/>
          </a:prstGeom>
          <a:noFill/>
        </p:spPr>
        <p:txBody>
          <a:bodyPr wrap="none" rtlCol="0">
            <a:spAutoFit/>
          </a:bodyPr>
          <a:lstStyle/>
          <a:p>
            <a:r>
              <a:rPr lang="en-US" sz="2000" dirty="0"/>
              <a:t>B</a:t>
            </a:r>
          </a:p>
        </p:txBody>
      </p:sp>
      <p:sp>
        <p:nvSpPr>
          <p:cNvPr id="54" name="Rectangle 53"/>
          <p:cNvSpPr/>
          <p:nvPr/>
        </p:nvSpPr>
        <p:spPr>
          <a:xfrm>
            <a:off x="1671918" y="2739813"/>
            <a:ext cx="2039029" cy="962029"/>
          </a:xfrm>
          <a:prstGeom prst="rect">
            <a:avLst/>
          </a:prstGeom>
          <a:ln>
            <a:solidFill>
              <a:schemeClr val="tx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Hello B Meet me at </a:t>
            </a:r>
            <a:r>
              <a:rPr lang="en-US" sz="2000" dirty="0" smtClean="0"/>
              <a:t>6 </a:t>
            </a:r>
            <a:r>
              <a:rPr lang="en-US" sz="2000" dirty="0"/>
              <a:t>PM – A</a:t>
            </a:r>
          </a:p>
          <a:p>
            <a:pPr algn="ctr"/>
            <a:r>
              <a:rPr lang="en-US" sz="2000" dirty="0"/>
              <a:t>On 16 June </a:t>
            </a:r>
            <a:r>
              <a:rPr lang="en-US" sz="2000" dirty="0" smtClean="0"/>
              <a:t>2021</a:t>
            </a:r>
            <a:endParaRPr lang="en-US" sz="2000" dirty="0"/>
          </a:p>
        </p:txBody>
      </p:sp>
      <p:cxnSp>
        <p:nvCxnSpPr>
          <p:cNvPr id="55" name="Straight Connector 54"/>
          <p:cNvCxnSpPr>
            <a:endCxn id="48" idx="1"/>
          </p:cNvCxnSpPr>
          <p:nvPr/>
        </p:nvCxnSpPr>
        <p:spPr>
          <a:xfrm>
            <a:off x="8368551" y="3220828"/>
            <a:ext cx="533554"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56" name="Rectangle 55"/>
          <p:cNvSpPr/>
          <p:nvPr/>
        </p:nvSpPr>
        <p:spPr>
          <a:xfrm>
            <a:off x="4213411" y="2739815"/>
            <a:ext cx="1554665" cy="962027"/>
          </a:xfrm>
          <a:prstGeom prst="rect">
            <a:avLst/>
          </a:prstGeom>
          <a:ln>
            <a:solidFill>
              <a:schemeClr val="tx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Repeat same message on 20 June </a:t>
            </a:r>
            <a:r>
              <a:rPr lang="en-US" sz="2000" dirty="0" smtClean="0"/>
              <a:t>2021</a:t>
            </a:r>
            <a:endParaRPr lang="en-US" sz="2000" dirty="0"/>
          </a:p>
        </p:txBody>
      </p:sp>
      <p:cxnSp>
        <p:nvCxnSpPr>
          <p:cNvPr id="57" name="Straight Arrow Connector 56"/>
          <p:cNvCxnSpPr>
            <a:stCxn id="47" idx="3"/>
          </p:cNvCxnSpPr>
          <p:nvPr/>
        </p:nvCxnSpPr>
        <p:spPr>
          <a:xfrm>
            <a:off x="1366964" y="3220828"/>
            <a:ext cx="304954" cy="0"/>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56" idx="3"/>
            <a:endCxn id="46" idx="1"/>
          </p:cNvCxnSpPr>
          <p:nvPr/>
        </p:nvCxnSpPr>
        <p:spPr>
          <a:xfrm flipV="1">
            <a:off x="5768076" y="3220828"/>
            <a:ext cx="713946" cy="1"/>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54" idx="3"/>
            <a:endCxn id="56" idx="1"/>
          </p:cNvCxnSpPr>
          <p:nvPr/>
        </p:nvCxnSpPr>
        <p:spPr>
          <a:xfrm>
            <a:off x="3710947" y="3220828"/>
            <a:ext cx="502464" cy="1"/>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6294527" y="3692089"/>
            <a:ext cx="1881284" cy="707886"/>
          </a:xfrm>
          <a:prstGeom prst="rect">
            <a:avLst/>
          </a:prstGeom>
          <a:noFill/>
        </p:spPr>
        <p:txBody>
          <a:bodyPr wrap="none" rtlCol="0">
            <a:spAutoFit/>
          </a:bodyPr>
          <a:lstStyle/>
          <a:p>
            <a:pPr algn="ctr"/>
            <a:r>
              <a:rPr lang="en-US" sz="2000" dirty="0"/>
              <a:t>Repeat message</a:t>
            </a:r>
          </a:p>
          <a:p>
            <a:pPr algn="ctr"/>
            <a:r>
              <a:rPr lang="en-US" sz="2000" dirty="0"/>
              <a:t>on 20</a:t>
            </a:r>
            <a:r>
              <a:rPr lang="en-US" sz="2000" baseline="30000" dirty="0"/>
              <a:t>th</a:t>
            </a:r>
            <a:r>
              <a:rPr lang="en-US" sz="2000" dirty="0"/>
              <a:t> June</a:t>
            </a:r>
          </a:p>
        </p:txBody>
      </p:sp>
    </p:spTree>
    <p:extLst>
      <p:ext uri="{BB962C8B-B14F-4D97-AF65-F5344CB8AC3E}">
        <p14:creationId xmlns:p14="http://schemas.microsoft.com/office/powerpoint/2010/main" val="866534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57"/>
                                        </p:tgtEl>
                                        <p:attrNameLst>
                                          <p:attrName>style.visibility</p:attrName>
                                        </p:attrNameLst>
                                      </p:cBhvr>
                                      <p:to>
                                        <p:strVal val="visible"/>
                                      </p:to>
                                    </p:set>
                                    <p:animEffect transition="in" filter="wipe(left)">
                                      <p:cBhvr>
                                        <p:cTn id="21" dur="500"/>
                                        <p:tgtEl>
                                          <p:spTgt spid="57"/>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54"/>
                                        </p:tgtEl>
                                        <p:attrNameLst>
                                          <p:attrName>style.visibility</p:attrName>
                                        </p:attrNameLst>
                                      </p:cBhvr>
                                      <p:to>
                                        <p:strVal val="visible"/>
                                      </p:to>
                                    </p:set>
                                    <p:animEffect transition="in" filter="wipe(left)">
                                      <p:cBhvr>
                                        <p:cTn id="24" dur="500"/>
                                        <p:tgtEl>
                                          <p:spTgt spid="54"/>
                                        </p:tgtEl>
                                      </p:cBhvr>
                                    </p:animEffect>
                                  </p:childTnLst>
                                </p:cTn>
                              </p:par>
                              <p:par>
                                <p:cTn id="25" presetID="22" presetClass="entr" presetSubtype="8" fill="hold" nodeType="withEffect">
                                  <p:stCondLst>
                                    <p:cond delay="0"/>
                                  </p:stCondLst>
                                  <p:childTnLst>
                                    <p:set>
                                      <p:cBhvr>
                                        <p:cTn id="26" dur="1" fill="hold">
                                          <p:stCondLst>
                                            <p:cond delay="0"/>
                                          </p:stCondLst>
                                        </p:cTn>
                                        <p:tgtEl>
                                          <p:spTgt spid="59"/>
                                        </p:tgtEl>
                                        <p:attrNameLst>
                                          <p:attrName>style.visibility</p:attrName>
                                        </p:attrNameLst>
                                      </p:cBhvr>
                                      <p:to>
                                        <p:strVal val="visible"/>
                                      </p:to>
                                    </p:set>
                                    <p:animEffect transition="in" filter="wipe(left)">
                                      <p:cBhvr>
                                        <p:cTn id="27" dur="500"/>
                                        <p:tgtEl>
                                          <p:spTgt spid="59"/>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4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51"/>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50"/>
                                        </p:tgtEl>
                                        <p:attrNameLst>
                                          <p:attrName>style.visibility</p:attrName>
                                        </p:attrNameLst>
                                      </p:cBhvr>
                                      <p:to>
                                        <p:strVal val="visible"/>
                                      </p:to>
                                    </p:set>
                                    <p:animEffect transition="in" filter="wipe(left)">
                                      <p:cBhvr>
                                        <p:cTn id="38" dur="500"/>
                                        <p:tgtEl>
                                          <p:spTgt spid="50"/>
                                        </p:tgtEl>
                                      </p:cBhvr>
                                    </p:animEffect>
                                  </p:childTnLst>
                                </p:cTn>
                              </p:par>
                              <p:par>
                                <p:cTn id="39" presetID="22" presetClass="entr" presetSubtype="8" fill="hold" grpId="0" nodeType="withEffect">
                                  <p:stCondLst>
                                    <p:cond delay="0"/>
                                  </p:stCondLst>
                                  <p:childTnLst>
                                    <p:set>
                                      <p:cBhvr>
                                        <p:cTn id="40" dur="1" fill="hold">
                                          <p:stCondLst>
                                            <p:cond delay="0"/>
                                          </p:stCondLst>
                                        </p:cTn>
                                        <p:tgtEl>
                                          <p:spTgt spid="56"/>
                                        </p:tgtEl>
                                        <p:attrNameLst>
                                          <p:attrName>style.visibility</p:attrName>
                                        </p:attrNameLst>
                                      </p:cBhvr>
                                      <p:to>
                                        <p:strVal val="visible"/>
                                      </p:to>
                                    </p:set>
                                    <p:animEffect transition="in" filter="wipe(left)">
                                      <p:cBhvr>
                                        <p:cTn id="41" dur="500"/>
                                        <p:tgtEl>
                                          <p:spTgt spid="56"/>
                                        </p:tgtEl>
                                      </p:cBhvr>
                                    </p:animEffect>
                                  </p:childTnLst>
                                </p:cTn>
                              </p:par>
                              <p:par>
                                <p:cTn id="42" presetID="22" presetClass="entr" presetSubtype="8" fill="hold" nodeType="withEffect">
                                  <p:stCondLst>
                                    <p:cond delay="0"/>
                                  </p:stCondLst>
                                  <p:childTnLst>
                                    <p:set>
                                      <p:cBhvr>
                                        <p:cTn id="43" dur="1" fill="hold">
                                          <p:stCondLst>
                                            <p:cond delay="0"/>
                                          </p:stCondLst>
                                        </p:cTn>
                                        <p:tgtEl>
                                          <p:spTgt spid="58"/>
                                        </p:tgtEl>
                                        <p:attrNameLst>
                                          <p:attrName>style.visibility</p:attrName>
                                        </p:attrNameLst>
                                      </p:cBhvr>
                                      <p:to>
                                        <p:strVal val="visible"/>
                                      </p:to>
                                    </p:set>
                                    <p:animEffect transition="in" filter="wipe(left)">
                                      <p:cBhvr>
                                        <p:cTn id="44" dur="500"/>
                                        <p:tgtEl>
                                          <p:spTgt spid="5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46"/>
                                        </p:tgtEl>
                                        <p:attrNameLst>
                                          <p:attrName>style.visibility</p:attrName>
                                        </p:attrNameLst>
                                      </p:cBhvr>
                                      <p:to>
                                        <p:strVal val="visible"/>
                                      </p:to>
                                    </p:set>
                                    <p:animEffect transition="in" filter="wipe(left)">
                                      <p:cBhvr>
                                        <p:cTn id="47" dur="500"/>
                                        <p:tgtEl>
                                          <p:spTgt spid="46"/>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60"/>
                                        </p:tgtEl>
                                        <p:attrNameLst>
                                          <p:attrName>style.visibility</p:attrName>
                                        </p:attrNameLst>
                                      </p:cBhvr>
                                      <p:to>
                                        <p:strVal val="visible"/>
                                      </p:to>
                                    </p:set>
                                    <p:animEffect transition="in" filter="wipe(left)">
                                      <p:cBhvr>
                                        <p:cTn id="50" dur="500"/>
                                        <p:tgtEl>
                                          <p:spTgt spid="60"/>
                                        </p:tgtEl>
                                      </p:cBhvr>
                                    </p:animEffect>
                                  </p:childTnLst>
                                </p:cTn>
                              </p:par>
                              <p:par>
                                <p:cTn id="51" presetID="22" presetClass="entr" presetSubtype="8" fill="hold" nodeType="withEffect">
                                  <p:stCondLst>
                                    <p:cond delay="0"/>
                                  </p:stCondLst>
                                  <p:childTnLst>
                                    <p:set>
                                      <p:cBhvr>
                                        <p:cTn id="52" dur="1" fill="hold">
                                          <p:stCondLst>
                                            <p:cond delay="0"/>
                                          </p:stCondLst>
                                        </p:cTn>
                                        <p:tgtEl>
                                          <p:spTgt spid="55"/>
                                        </p:tgtEl>
                                        <p:attrNameLst>
                                          <p:attrName>style.visibility</p:attrName>
                                        </p:attrNameLst>
                                      </p:cBhvr>
                                      <p:to>
                                        <p:strVal val="visible"/>
                                      </p:to>
                                    </p:set>
                                    <p:animEffect transition="in" filter="wipe(left)">
                                      <p:cBhvr>
                                        <p:cTn id="53"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51" grpId="0"/>
      <p:bldP spid="52" grpId="0"/>
      <p:bldP spid="53" grpId="0"/>
      <p:bldP spid="54" grpId="0" animBg="1"/>
      <p:bldP spid="56" grpId="0" animBg="1"/>
      <p:bldP spid="6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smtClean="0"/>
              <a:t>Design </a:t>
            </a:r>
            <a:r>
              <a:rPr lang="en-US" dirty="0"/>
              <a:t>issues when considering security</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marL="0" indent="0">
              <a:buNone/>
            </a:pPr>
            <a:r>
              <a:rPr lang="en-US" b="1" dirty="0">
                <a:solidFill>
                  <a:srgbClr val="0E3755"/>
                </a:solidFill>
              </a:rPr>
              <a:t>Three design issues when considering </a:t>
            </a:r>
            <a:r>
              <a:rPr lang="en-US" b="1" dirty="0" smtClean="0">
                <a:solidFill>
                  <a:srgbClr val="0E3755"/>
                </a:solidFill>
              </a:rPr>
              <a:t>security</a:t>
            </a:r>
          </a:p>
          <a:p>
            <a:pPr marL="457200" indent="-457200">
              <a:buFont typeface="+mj-lt"/>
              <a:buAutoNum type="arabicPeriod"/>
            </a:pPr>
            <a:r>
              <a:rPr lang="en-US" dirty="0" smtClean="0"/>
              <a:t>Focus </a:t>
            </a:r>
            <a:r>
              <a:rPr lang="en-US" dirty="0"/>
              <a:t>of Control.</a:t>
            </a:r>
          </a:p>
          <a:p>
            <a:pPr marL="457200" indent="-457200">
              <a:buFont typeface="+mj-lt"/>
              <a:buAutoNum type="arabicPeriod"/>
            </a:pPr>
            <a:r>
              <a:rPr lang="en-US" dirty="0" smtClean="0"/>
              <a:t>Layering </a:t>
            </a:r>
            <a:r>
              <a:rPr lang="en-US" dirty="0"/>
              <a:t>of Security Mechanisms.</a:t>
            </a:r>
          </a:p>
          <a:p>
            <a:pPr marL="457200" indent="-457200">
              <a:buFont typeface="+mj-lt"/>
              <a:buAutoNum type="arabicPeriod"/>
            </a:pPr>
            <a:r>
              <a:rPr lang="en-US" dirty="0" smtClean="0"/>
              <a:t>Simplicity</a:t>
            </a:r>
            <a:r>
              <a:rPr lang="en-US" dirty="0"/>
              <a:t>.</a:t>
            </a:r>
          </a:p>
        </p:txBody>
      </p:sp>
    </p:spTree>
    <p:extLst>
      <p:ext uri="{BB962C8B-B14F-4D97-AF65-F5344CB8AC3E}">
        <p14:creationId xmlns:p14="http://schemas.microsoft.com/office/powerpoint/2010/main" val="2205564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Design </a:t>
            </a:r>
            <a:r>
              <a:rPr lang="en-US" dirty="0" smtClean="0"/>
              <a:t>Issue: Focus </a:t>
            </a:r>
            <a:r>
              <a:rPr lang="en-US" dirty="0"/>
              <a:t>of Control</a:t>
            </a:r>
          </a:p>
        </p:txBody>
      </p:sp>
      <p:sp>
        <p:nvSpPr>
          <p:cNvPr id="6" name="Content Placeholder 5"/>
          <p:cNvSpPr>
            <a:spLocks noGrp="1"/>
          </p:cNvSpPr>
          <p:nvPr>
            <p:ph idx="1"/>
          </p:nvPr>
        </p:nvSpPr>
        <p:spPr/>
        <p:txBody>
          <a:bodyPr/>
          <a:lstStyle/>
          <a:p>
            <a:r>
              <a:rPr lang="en-US" dirty="0"/>
              <a:t>The are three approaches that can be followed to protect a distributed application:</a:t>
            </a:r>
          </a:p>
        </p:txBody>
      </p:sp>
      <p:sp>
        <p:nvSpPr>
          <p:cNvPr id="11" name="TextBox 10"/>
          <p:cNvSpPr txBox="1"/>
          <p:nvPr/>
        </p:nvSpPr>
        <p:spPr>
          <a:xfrm>
            <a:off x="153391" y="1699029"/>
            <a:ext cx="3802909" cy="830997"/>
          </a:xfrm>
          <a:prstGeom prst="rect">
            <a:avLst/>
          </a:prstGeom>
          <a:noFill/>
        </p:spPr>
        <p:txBody>
          <a:bodyPr wrap="square" rtlCol="0">
            <a:spAutoFit/>
          </a:bodyPr>
          <a:lstStyle/>
          <a:p>
            <a:pPr algn="just"/>
            <a:r>
              <a:rPr lang="en-US" sz="2400" dirty="0" smtClean="0">
                <a:solidFill>
                  <a:srgbClr val="1D3064"/>
                </a:solidFill>
              </a:rPr>
              <a:t>1. Protection </a:t>
            </a:r>
            <a:r>
              <a:rPr lang="en-US" sz="2400" dirty="0">
                <a:solidFill>
                  <a:srgbClr val="1D3064"/>
                </a:solidFill>
              </a:rPr>
              <a:t>against invalid operations on secure data</a:t>
            </a:r>
          </a:p>
        </p:txBody>
      </p:sp>
      <p:sp>
        <p:nvSpPr>
          <p:cNvPr id="12" name="TextBox 11"/>
          <p:cNvSpPr txBox="1"/>
          <p:nvPr/>
        </p:nvSpPr>
        <p:spPr>
          <a:xfrm>
            <a:off x="4818909" y="1759392"/>
            <a:ext cx="3220293" cy="830997"/>
          </a:xfrm>
          <a:prstGeom prst="rect">
            <a:avLst/>
          </a:prstGeom>
          <a:noFill/>
        </p:spPr>
        <p:txBody>
          <a:bodyPr wrap="square" rtlCol="0">
            <a:spAutoFit/>
          </a:bodyPr>
          <a:lstStyle/>
          <a:p>
            <a:pPr algn="just"/>
            <a:r>
              <a:rPr lang="en-IN" sz="2400" dirty="0" smtClean="0">
                <a:solidFill>
                  <a:srgbClr val="1D3064"/>
                </a:solidFill>
              </a:rPr>
              <a:t>2. Protection </a:t>
            </a:r>
            <a:r>
              <a:rPr lang="en-IN" sz="2400" dirty="0">
                <a:solidFill>
                  <a:srgbClr val="1D3064"/>
                </a:solidFill>
              </a:rPr>
              <a:t>against unauthorized invocations</a:t>
            </a:r>
          </a:p>
        </p:txBody>
      </p:sp>
      <p:sp>
        <p:nvSpPr>
          <p:cNvPr id="13" name="TextBox 12"/>
          <p:cNvSpPr txBox="1"/>
          <p:nvPr/>
        </p:nvSpPr>
        <p:spPr>
          <a:xfrm>
            <a:off x="8708342" y="1759391"/>
            <a:ext cx="3443141" cy="830997"/>
          </a:xfrm>
          <a:prstGeom prst="rect">
            <a:avLst/>
          </a:prstGeom>
          <a:noFill/>
        </p:spPr>
        <p:txBody>
          <a:bodyPr wrap="square" rtlCol="0">
            <a:spAutoFit/>
          </a:bodyPr>
          <a:lstStyle/>
          <a:p>
            <a:pPr algn="just"/>
            <a:r>
              <a:rPr lang="en-IN" sz="2400" dirty="0" smtClean="0">
                <a:solidFill>
                  <a:srgbClr val="1D3064"/>
                </a:solidFill>
              </a:rPr>
              <a:t>3. Protection </a:t>
            </a:r>
            <a:r>
              <a:rPr lang="en-IN" sz="2400" dirty="0">
                <a:solidFill>
                  <a:srgbClr val="1D3064"/>
                </a:solidFill>
              </a:rPr>
              <a:t>against unauthorized users</a:t>
            </a:r>
          </a:p>
        </p:txBody>
      </p:sp>
      <p:grpSp>
        <p:nvGrpSpPr>
          <p:cNvPr id="30" name="Group 29"/>
          <p:cNvGrpSpPr/>
          <p:nvPr/>
        </p:nvGrpSpPr>
        <p:grpSpPr>
          <a:xfrm>
            <a:off x="124470" y="2822545"/>
            <a:ext cx="4279753" cy="2553637"/>
            <a:chOff x="124470" y="2822545"/>
            <a:chExt cx="4279753" cy="2553637"/>
          </a:xfrm>
        </p:grpSpPr>
        <p:sp>
          <p:nvSpPr>
            <p:cNvPr id="17" name="TextBox 16"/>
            <p:cNvSpPr txBox="1"/>
            <p:nvPr/>
          </p:nvSpPr>
          <p:spPr>
            <a:xfrm>
              <a:off x="3453965" y="4089017"/>
              <a:ext cx="950258" cy="400110"/>
            </a:xfrm>
            <a:prstGeom prst="rect">
              <a:avLst/>
            </a:prstGeom>
            <a:noFill/>
          </p:spPr>
          <p:txBody>
            <a:bodyPr wrap="square" rtlCol="0">
              <a:spAutoFit/>
            </a:bodyPr>
            <a:lstStyle/>
            <a:p>
              <a:r>
                <a:rPr lang="en-IN" sz="2000" dirty="0" smtClean="0">
                  <a:solidFill>
                    <a:schemeClr val="accent6"/>
                  </a:solidFill>
                </a:rPr>
                <a:t>Object</a:t>
              </a:r>
              <a:endParaRPr lang="en-IN" sz="2000" dirty="0">
                <a:solidFill>
                  <a:schemeClr val="accent6"/>
                </a:solidFill>
              </a:endParaRPr>
            </a:p>
          </p:txBody>
        </p:sp>
        <p:grpSp>
          <p:nvGrpSpPr>
            <p:cNvPr id="27" name="Group 26"/>
            <p:cNvGrpSpPr/>
            <p:nvPr/>
          </p:nvGrpSpPr>
          <p:grpSpPr>
            <a:xfrm>
              <a:off x="124470" y="2822545"/>
              <a:ext cx="4093362" cy="2553637"/>
              <a:chOff x="124470" y="2822545"/>
              <a:chExt cx="4093362" cy="2553637"/>
            </a:xfrm>
          </p:grpSpPr>
          <p:pic>
            <p:nvPicPr>
              <p:cNvPr id="14" name="Picture 13"/>
              <p:cNvPicPr>
                <a:picLocks noChangeAspect="1"/>
              </p:cNvPicPr>
              <p:nvPr/>
            </p:nvPicPr>
            <p:blipFill>
              <a:blip r:embed="rId3"/>
              <a:stretch>
                <a:fillRect/>
              </a:stretch>
            </p:blipFill>
            <p:spPr>
              <a:xfrm>
                <a:off x="124470" y="3428535"/>
                <a:ext cx="3405395" cy="1619987"/>
              </a:xfrm>
              <a:prstGeom prst="rect">
                <a:avLst/>
              </a:prstGeom>
            </p:spPr>
          </p:pic>
          <p:sp>
            <p:nvSpPr>
              <p:cNvPr id="15" name="TextBox 14"/>
              <p:cNvSpPr txBox="1"/>
              <p:nvPr/>
            </p:nvSpPr>
            <p:spPr>
              <a:xfrm>
                <a:off x="1293199" y="2822545"/>
                <a:ext cx="2924633" cy="707886"/>
              </a:xfrm>
              <a:prstGeom prst="rect">
                <a:avLst/>
              </a:prstGeom>
              <a:noFill/>
            </p:spPr>
            <p:txBody>
              <a:bodyPr wrap="square" rtlCol="0">
                <a:spAutoFit/>
              </a:bodyPr>
              <a:lstStyle/>
              <a:p>
                <a:r>
                  <a:rPr lang="en-IN" sz="2000" dirty="0" smtClean="0">
                    <a:solidFill>
                      <a:schemeClr val="accent6"/>
                    </a:solidFill>
                  </a:rPr>
                  <a:t>Data is protected against wrong or invalid operation</a:t>
                </a:r>
                <a:endParaRPr lang="en-IN" sz="2000" dirty="0">
                  <a:solidFill>
                    <a:schemeClr val="accent6"/>
                  </a:solidFill>
                </a:endParaRPr>
              </a:p>
            </p:txBody>
          </p:sp>
          <p:sp>
            <p:nvSpPr>
              <p:cNvPr id="16" name="TextBox 15"/>
              <p:cNvSpPr txBox="1"/>
              <p:nvPr/>
            </p:nvSpPr>
            <p:spPr>
              <a:xfrm>
                <a:off x="3468753" y="3585967"/>
                <a:ext cx="735106" cy="400110"/>
              </a:xfrm>
              <a:prstGeom prst="rect">
                <a:avLst/>
              </a:prstGeom>
              <a:noFill/>
            </p:spPr>
            <p:txBody>
              <a:bodyPr wrap="square" rtlCol="0">
                <a:spAutoFit/>
              </a:bodyPr>
              <a:lstStyle/>
              <a:p>
                <a:r>
                  <a:rPr lang="en-IN" sz="2000" dirty="0" smtClean="0">
                    <a:solidFill>
                      <a:schemeClr val="accent6"/>
                    </a:solidFill>
                  </a:rPr>
                  <a:t>State</a:t>
                </a:r>
                <a:endParaRPr lang="en-IN" sz="2000" dirty="0">
                  <a:solidFill>
                    <a:schemeClr val="accent6"/>
                  </a:solidFill>
                </a:endParaRPr>
              </a:p>
            </p:txBody>
          </p:sp>
          <p:sp>
            <p:nvSpPr>
              <p:cNvPr id="18" name="TextBox 17"/>
              <p:cNvSpPr txBox="1"/>
              <p:nvPr/>
            </p:nvSpPr>
            <p:spPr>
              <a:xfrm>
                <a:off x="1890075" y="4976072"/>
                <a:ext cx="950258" cy="400110"/>
              </a:xfrm>
              <a:prstGeom prst="rect">
                <a:avLst/>
              </a:prstGeom>
              <a:noFill/>
            </p:spPr>
            <p:txBody>
              <a:bodyPr wrap="square" rtlCol="0">
                <a:spAutoFit/>
              </a:bodyPr>
              <a:lstStyle/>
              <a:p>
                <a:r>
                  <a:rPr lang="en-IN" sz="2000" dirty="0" smtClean="0">
                    <a:solidFill>
                      <a:schemeClr val="accent6"/>
                    </a:solidFill>
                  </a:rPr>
                  <a:t>Method</a:t>
                </a:r>
                <a:endParaRPr lang="en-IN" sz="2000" dirty="0">
                  <a:solidFill>
                    <a:schemeClr val="accent6"/>
                  </a:solidFill>
                </a:endParaRPr>
              </a:p>
            </p:txBody>
          </p:sp>
          <p:sp>
            <p:nvSpPr>
              <p:cNvPr id="19" name="TextBox 18"/>
              <p:cNvSpPr txBox="1"/>
              <p:nvPr/>
            </p:nvSpPr>
            <p:spPr>
              <a:xfrm>
                <a:off x="472235" y="4904453"/>
                <a:ext cx="1497104" cy="400110"/>
              </a:xfrm>
              <a:prstGeom prst="rect">
                <a:avLst/>
              </a:prstGeom>
              <a:noFill/>
            </p:spPr>
            <p:txBody>
              <a:bodyPr wrap="square" rtlCol="0">
                <a:spAutoFit/>
              </a:bodyPr>
              <a:lstStyle/>
              <a:p>
                <a:r>
                  <a:rPr lang="en-IN" sz="2000" dirty="0" smtClean="0">
                    <a:solidFill>
                      <a:schemeClr val="accent6"/>
                    </a:solidFill>
                  </a:rPr>
                  <a:t>Invocation</a:t>
                </a:r>
                <a:endParaRPr lang="en-IN" sz="2000" dirty="0">
                  <a:solidFill>
                    <a:schemeClr val="accent6"/>
                  </a:solidFill>
                </a:endParaRPr>
              </a:p>
            </p:txBody>
          </p:sp>
        </p:grpSp>
      </p:grpSp>
      <p:grpSp>
        <p:nvGrpSpPr>
          <p:cNvPr id="28" name="Group 27"/>
          <p:cNvGrpSpPr/>
          <p:nvPr/>
        </p:nvGrpSpPr>
        <p:grpSpPr>
          <a:xfrm>
            <a:off x="4704685" y="2918158"/>
            <a:ext cx="3650584" cy="2315733"/>
            <a:chOff x="4704685" y="2918158"/>
            <a:chExt cx="3650584" cy="2315733"/>
          </a:xfrm>
        </p:grpSpPr>
        <p:pic>
          <p:nvPicPr>
            <p:cNvPr id="22" name="Picture 21"/>
            <p:cNvPicPr>
              <a:picLocks noChangeAspect="1"/>
            </p:cNvPicPr>
            <p:nvPr/>
          </p:nvPicPr>
          <p:blipFill>
            <a:blip r:embed="rId4"/>
            <a:stretch>
              <a:fillRect/>
            </a:stretch>
          </p:blipFill>
          <p:spPr>
            <a:xfrm>
              <a:off x="4704685" y="3501956"/>
              <a:ext cx="3650584" cy="1731935"/>
            </a:xfrm>
            <a:prstGeom prst="rect">
              <a:avLst/>
            </a:prstGeom>
          </p:spPr>
        </p:pic>
        <p:sp>
          <p:nvSpPr>
            <p:cNvPr id="20" name="TextBox 19"/>
            <p:cNvSpPr txBox="1"/>
            <p:nvPr/>
          </p:nvSpPr>
          <p:spPr>
            <a:xfrm>
              <a:off x="5065348" y="2918158"/>
              <a:ext cx="2836752" cy="707886"/>
            </a:xfrm>
            <a:prstGeom prst="rect">
              <a:avLst/>
            </a:prstGeom>
            <a:noFill/>
          </p:spPr>
          <p:txBody>
            <a:bodyPr wrap="square" rtlCol="0">
              <a:spAutoFit/>
            </a:bodyPr>
            <a:lstStyle/>
            <a:p>
              <a:r>
                <a:rPr lang="en-IN" sz="2000" dirty="0" smtClean="0">
                  <a:solidFill>
                    <a:schemeClr val="accent6"/>
                  </a:solidFill>
                </a:rPr>
                <a:t>Data is protected against unauthorized invocations</a:t>
              </a:r>
              <a:endParaRPr lang="en-IN" sz="2000" dirty="0">
                <a:solidFill>
                  <a:schemeClr val="accent6"/>
                </a:solidFill>
              </a:endParaRPr>
            </a:p>
          </p:txBody>
        </p:sp>
      </p:grpSp>
      <p:grpSp>
        <p:nvGrpSpPr>
          <p:cNvPr id="29" name="Group 28"/>
          <p:cNvGrpSpPr/>
          <p:nvPr/>
        </p:nvGrpSpPr>
        <p:grpSpPr>
          <a:xfrm>
            <a:off x="8804734" y="3170184"/>
            <a:ext cx="3262797" cy="2251980"/>
            <a:chOff x="8804734" y="3170184"/>
            <a:chExt cx="3262797" cy="2251980"/>
          </a:xfrm>
        </p:grpSpPr>
        <p:sp>
          <p:nvSpPr>
            <p:cNvPr id="21" name="TextBox 20"/>
            <p:cNvSpPr txBox="1"/>
            <p:nvPr/>
          </p:nvSpPr>
          <p:spPr>
            <a:xfrm>
              <a:off x="8965657" y="4714278"/>
              <a:ext cx="3101874" cy="707886"/>
            </a:xfrm>
            <a:prstGeom prst="rect">
              <a:avLst/>
            </a:prstGeom>
            <a:noFill/>
          </p:spPr>
          <p:txBody>
            <a:bodyPr wrap="square" rtlCol="0">
              <a:spAutoFit/>
            </a:bodyPr>
            <a:lstStyle/>
            <a:p>
              <a:r>
                <a:rPr lang="en-IN" sz="2000" dirty="0" smtClean="0">
                  <a:solidFill>
                    <a:schemeClr val="accent6"/>
                  </a:solidFill>
                </a:rPr>
                <a:t>Data is protected by checking the role of invoker</a:t>
              </a:r>
              <a:endParaRPr lang="en-IN" sz="2000" dirty="0">
                <a:solidFill>
                  <a:schemeClr val="accent6"/>
                </a:solidFill>
              </a:endParaRPr>
            </a:p>
          </p:txBody>
        </p:sp>
        <p:pic>
          <p:nvPicPr>
            <p:cNvPr id="23" name="Picture 22"/>
            <p:cNvPicPr>
              <a:picLocks noChangeAspect="1"/>
            </p:cNvPicPr>
            <p:nvPr/>
          </p:nvPicPr>
          <p:blipFill>
            <a:blip r:embed="rId5"/>
            <a:stretch>
              <a:fillRect/>
            </a:stretch>
          </p:blipFill>
          <p:spPr>
            <a:xfrm>
              <a:off x="8804734" y="3170184"/>
              <a:ext cx="3250358" cy="1613971"/>
            </a:xfrm>
            <a:prstGeom prst="rect">
              <a:avLst/>
            </a:prstGeom>
          </p:spPr>
        </p:pic>
      </p:grpSp>
      <p:cxnSp>
        <p:nvCxnSpPr>
          <p:cNvPr id="25" name="Straight Connector 24"/>
          <p:cNvCxnSpPr/>
          <p:nvPr/>
        </p:nvCxnSpPr>
        <p:spPr>
          <a:xfrm>
            <a:off x="4464424" y="1699029"/>
            <a:ext cx="0" cy="390839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8503024" y="1699029"/>
            <a:ext cx="0" cy="390839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0239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wipe(down)">
                                      <p:cBhvr>
                                        <p:cTn id="19" dur="500"/>
                                        <p:tgtEl>
                                          <p:spTgt spid="25"/>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2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wipe(down)">
                                      <p:cBhvr>
                                        <p:cTn id="32" dur="500"/>
                                        <p:tgtEl>
                                          <p:spTgt spid="26"/>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Design </a:t>
            </a:r>
            <a:r>
              <a:rPr lang="en-US" dirty="0" smtClean="0"/>
              <a:t>Issue: Layering </a:t>
            </a:r>
            <a:r>
              <a:rPr lang="en-US" dirty="0"/>
              <a:t>of Security </a:t>
            </a:r>
            <a:r>
              <a:rPr lang="en-US" dirty="0" smtClean="0"/>
              <a:t>Mechanisms</a:t>
            </a:r>
            <a:endParaRPr lang="en-US" dirty="0"/>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dirty="0"/>
              <a:t>The logical organization of a distributed system into several layers.</a:t>
            </a:r>
          </a:p>
          <a:p>
            <a:r>
              <a:rPr lang="en-US" dirty="0" smtClean="0"/>
              <a:t>A </a:t>
            </a:r>
            <a:r>
              <a:rPr lang="en-US" dirty="0"/>
              <a:t>decision is required as to where in the model security the mechanism is to be placed.</a:t>
            </a:r>
          </a:p>
          <a:p>
            <a:endParaRPr lang="en-US" sz="2400" dirty="0"/>
          </a:p>
        </p:txBody>
      </p:sp>
      <p:pic>
        <p:nvPicPr>
          <p:cNvPr id="5" name="Picture 4"/>
          <p:cNvPicPr>
            <a:picLocks noChangeAspect="1"/>
          </p:cNvPicPr>
          <p:nvPr/>
        </p:nvPicPr>
        <p:blipFill rotWithShape="1">
          <a:blip r:embed="rId2"/>
          <a:srcRect t="4274" b="3695"/>
          <a:stretch/>
        </p:blipFill>
        <p:spPr>
          <a:xfrm>
            <a:off x="273820" y="1941342"/>
            <a:ext cx="10163020" cy="3854548"/>
          </a:xfrm>
          <a:prstGeom prst="rect">
            <a:avLst/>
          </a:prstGeom>
        </p:spPr>
      </p:pic>
    </p:spTree>
    <p:extLst>
      <p:ext uri="{BB962C8B-B14F-4D97-AF65-F5344CB8AC3E}">
        <p14:creationId xmlns:p14="http://schemas.microsoft.com/office/powerpoint/2010/main" val="88316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Trust and Security</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dirty="0"/>
              <a:t>A system is either secure or it is not.</a:t>
            </a:r>
          </a:p>
          <a:p>
            <a:r>
              <a:rPr lang="en-US" dirty="0" smtClean="0"/>
              <a:t>Whether </a:t>
            </a:r>
            <a:r>
              <a:rPr lang="en-US" dirty="0"/>
              <a:t>a client considers a systems to be secure is a matter of trust.</a:t>
            </a:r>
          </a:p>
          <a:p>
            <a:r>
              <a:rPr lang="en-US" dirty="0" smtClean="0"/>
              <a:t>In </a:t>
            </a:r>
            <a:r>
              <a:rPr lang="en-US" dirty="0"/>
              <a:t>which layer security mechanisms are placed depends on the trust a client has in how secure the services are in any particular layer</a:t>
            </a:r>
            <a:r>
              <a:rPr lang="en-US" dirty="0" smtClean="0"/>
              <a:t>.</a:t>
            </a:r>
          </a:p>
          <a:p>
            <a:pPr marL="0" indent="0">
              <a:buNone/>
            </a:pPr>
            <a:endParaRPr lang="en-US" dirty="0"/>
          </a:p>
        </p:txBody>
      </p:sp>
    </p:spTree>
    <p:extLst>
      <p:ext uri="{BB962C8B-B14F-4D97-AF65-F5344CB8AC3E}">
        <p14:creationId xmlns:p14="http://schemas.microsoft.com/office/powerpoint/2010/main" val="676207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Trust and Security</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dirty="0" smtClean="0"/>
              <a:t>Several </a:t>
            </a:r>
            <a:r>
              <a:rPr lang="en-US" dirty="0"/>
              <a:t>sites connected through a wide-area backbone service.</a:t>
            </a:r>
          </a:p>
          <a:p>
            <a:r>
              <a:rPr lang="en-US" dirty="0"/>
              <a:t>Switched Multi-megabit Data Service (SMDS)</a:t>
            </a:r>
          </a:p>
          <a:p>
            <a:r>
              <a:rPr lang="en-US" dirty="0"/>
              <a:t>If the encryption mechanisms cannot be trusted, additional mechanisms can be employed by clients to provide the level of trust required (e.g., using SSL at the Application Layer</a:t>
            </a:r>
            <a:r>
              <a:rPr lang="en-US" dirty="0" smtClean="0"/>
              <a:t>).</a:t>
            </a:r>
            <a:endParaRPr lang="en-US" dirty="0"/>
          </a:p>
          <a:p>
            <a:endParaRPr lang="en-US" sz="2400" dirty="0"/>
          </a:p>
        </p:txBody>
      </p:sp>
      <p:grpSp>
        <p:nvGrpSpPr>
          <p:cNvPr id="8" name="Group 7"/>
          <p:cNvGrpSpPr/>
          <p:nvPr/>
        </p:nvGrpSpPr>
        <p:grpSpPr>
          <a:xfrm>
            <a:off x="1422852" y="2868588"/>
            <a:ext cx="8447619" cy="3062235"/>
            <a:chOff x="1704206" y="1096059"/>
            <a:chExt cx="8447619" cy="3062235"/>
          </a:xfrm>
        </p:grpSpPr>
        <p:pic>
          <p:nvPicPr>
            <p:cNvPr id="4" name="Picture 3"/>
            <p:cNvPicPr>
              <a:picLocks noChangeAspect="1"/>
            </p:cNvPicPr>
            <p:nvPr/>
          </p:nvPicPr>
          <p:blipFill>
            <a:blip r:embed="rId2"/>
            <a:stretch>
              <a:fillRect/>
            </a:stretch>
          </p:blipFill>
          <p:spPr>
            <a:xfrm>
              <a:off x="1704206" y="1377342"/>
              <a:ext cx="8447619" cy="2780952"/>
            </a:xfrm>
            <a:prstGeom prst="rect">
              <a:avLst/>
            </a:prstGeom>
          </p:spPr>
        </p:pic>
        <p:sp>
          <p:nvSpPr>
            <p:cNvPr id="6" name="TextBox 5"/>
            <p:cNvSpPr txBox="1"/>
            <p:nvPr/>
          </p:nvSpPr>
          <p:spPr>
            <a:xfrm>
              <a:off x="5078243" y="1096059"/>
              <a:ext cx="2474935" cy="461665"/>
            </a:xfrm>
            <a:prstGeom prst="rect">
              <a:avLst/>
            </a:prstGeom>
            <a:noFill/>
          </p:spPr>
          <p:txBody>
            <a:bodyPr wrap="square" rtlCol="0">
              <a:spAutoFit/>
            </a:bodyPr>
            <a:lstStyle/>
            <a:p>
              <a:r>
                <a:rPr lang="en-IN" sz="2400" dirty="0" smtClean="0">
                  <a:solidFill>
                    <a:schemeClr val="accent6"/>
                  </a:solidFill>
                </a:rPr>
                <a:t>Encryption device</a:t>
              </a:r>
              <a:endParaRPr lang="en-IN" sz="2400" dirty="0">
                <a:solidFill>
                  <a:schemeClr val="accent6"/>
                </a:solidFill>
              </a:endParaRPr>
            </a:p>
          </p:txBody>
        </p:sp>
        <p:sp>
          <p:nvSpPr>
            <p:cNvPr id="7" name="TextBox 6"/>
            <p:cNvSpPr txBox="1"/>
            <p:nvPr/>
          </p:nvSpPr>
          <p:spPr>
            <a:xfrm>
              <a:off x="5808592" y="2406394"/>
              <a:ext cx="1014239" cy="461665"/>
            </a:xfrm>
            <a:prstGeom prst="rect">
              <a:avLst/>
            </a:prstGeom>
            <a:noFill/>
          </p:spPr>
          <p:txBody>
            <a:bodyPr wrap="square" rtlCol="0">
              <a:spAutoFit/>
            </a:bodyPr>
            <a:lstStyle/>
            <a:p>
              <a:r>
                <a:rPr lang="en-IN" sz="2400" b="1" dirty="0" smtClean="0">
                  <a:solidFill>
                    <a:srgbClr val="1D3064"/>
                  </a:solidFill>
                </a:rPr>
                <a:t>SMDS</a:t>
              </a:r>
              <a:endParaRPr lang="en-IN" sz="2400" b="1" dirty="0">
                <a:solidFill>
                  <a:srgbClr val="1D3064"/>
                </a:solidFill>
              </a:endParaRPr>
            </a:p>
          </p:txBody>
        </p:sp>
      </p:grpSp>
    </p:spTree>
    <p:extLst>
      <p:ext uri="{BB962C8B-B14F-4D97-AF65-F5344CB8AC3E}">
        <p14:creationId xmlns:p14="http://schemas.microsoft.com/office/powerpoint/2010/main" val="845209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dirty="0" smtClean="0"/>
              <a:t>The </a:t>
            </a:r>
            <a:r>
              <a:rPr lang="en-US" dirty="0">
                <a:solidFill>
                  <a:schemeClr val="accent6"/>
                </a:solidFill>
              </a:rPr>
              <a:t>Trusted Computing Base (TCB) </a:t>
            </a:r>
            <a:r>
              <a:rPr lang="en-US" dirty="0"/>
              <a:t>is the set of services/mechanisms within a distributed system required to support a security policy</a:t>
            </a:r>
            <a:r>
              <a:rPr lang="en-US" dirty="0" smtClean="0"/>
              <a:t>.</a:t>
            </a:r>
          </a:p>
          <a:p>
            <a:r>
              <a:rPr lang="en-US" dirty="0" smtClean="0">
                <a:solidFill>
                  <a:schemeClr val="accent6"/>
                </a:solidFill>
              </a:rPr>
              <a:t>Reduced Interfaces </a:t>
            </a:r>
            <a:r>
              <a:rPr lang="en-US" dirty="0">
                <a:solidFill>
                  <a:schemeClr val="accent6"/>
                </a:solidFill>
              </a:rPr>
              <a:t>for Secure System Components (RISSC</a:t>
            </a:r>
            <a:r>
              <a:rPr lang="en-US" dirty="0" smtClean="0">
                <a:solidFill>
                  <a:schemeClr val="accent6"/>
                </a:solidFill>
              </a:rPr>
              <a:t>)</a:t>
            </a:r>
          </a:p>
          <a:p>
            <a:pPr lvl="2"/>
            <a:r>
              <a:rPr lang="en-US" sz="2400" dirty="0"/>
              <a:t>Prevents clients and their applications from direct access to critical services</a:t>
            </a:r>
            <a:r>
              <a:rPr lang="en-US" sz="2400" dirty="0" smtClean="0"/>
              <a:t>.</a:t>
            </a:r>
            <a:endParaRPr lang="en-US" sz="2400" dirty="0"/>
          </a:p>
          <a:p>
            <a:pPr lvl="2"/>
            <a:r>
              <a:rPr lang="en-US" sz="2400" dirty="0"/>
              <a:t>Any security-critical server is placed on a separate machine isolated from </a:t>
            </a:r>
            <a:r>
              <a:rPr lang="en-US" sz="2400" dirty="0" smtClean="0"/>
              <a:t>end-user systems </a:t>
            </a:r>
            <a:r>
              <a:rPr lang="en-US" sz="2400" dirty="0"/>
              <a:t>using low-level secure network interfaces.</a:t>
            </a:r>
          </a:p>
          <a:p>
            <a:pPr lvl="2"/>
            <a:r>
              <a:rPr lang="en-US" sz="2400" dirty="0"/>
              <a:t>Clients and their applications run on different machines and can access the secured server only through these network interface</a:t>
            </a:r>
          </a:p>
        </p:txBody>
      </p:sp>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Distribution of Security Mechanisms</a:t>
            </a:r>
          </a:p>
        </p:txBody>
      </p:sp>
      <p:grpSp>
        <p:nvGrpSpPr>
          <p:cNvPr id="5" name="Group 4"/>
          <p:cNvGrpSpPr/>
          <p:nvPr/>
        </p:nvGrpSpPr>
        <p:grpSpPr>
          <a:xfrm>
            <a:off x="519616" y="3910878"/>
            <a:ext cx="8935370" cy="2633819"/>
            <a:chOff x="519616" y="3910878"/>
            <a:chExt cx="8935370" cy="2633819"/>
          </a:xfrm>
        </p:grpSpPr>
        <p:pic>
          <p:nvPicPr>
            <p:cNvPr id="4" name="Picture 3"/>
            <p:cNvPicPr>
              <a:picLocks noChangeAspect="1"/>
            </p:cNvPicPr>
            <p:nvPr/>
          </p:nvPicPr>
          <p:blipFill>
            <a:blip r:embed="rId2"/>
            <a:stretch>
              <a:fillRect/>
            </a:stretch>
          </p:blipFill>
          <p:spPr>
            <a:xfrm>
              <a:off x="519616" y="4205668"/>
              <a:ext cx="6876190" cy="2114286"/>
            </a:xfrm>
            <a:prstGeom prst="rect">
              <a:avLst/>
            </a:prstGeom>
          </p:spPr>
        </p:pic>
        <p:sp>
          <p:nvSpPr>
            <p:cNvPr id="7" name="TextBox 6"/>
            <p:cNvSpPr txBox="1"/>
            <p:nvPr/>
          </p:nvSpPr>
          <p:spPr>
            <a:xfrm>
              <a:off x="2031415" y="6144587"/>
              <a:ext cx="1049409" cy="400110"/>
            </a:xfrm>
            <a:prstGeom prst="rect">
              <a:avLst/>
            </a:prstGeom>
            <a:noFill/>
          </p:spPr>
          <p:txBody>
            <a:bodyPr wrap="square" rtlCol="0">
              <a:spAutoFit/>
            </a:bodyPr>
            <a:lstStyle/>
            <a:p>
              <a:r>
                <a:rPr lang="en-IN" sz="2000" dirty="0" smtClean="0">
                  <a:solidFill>
                    <a:srgbClr val="1D3064"/>
                  </a:solidFill>
                </a:rPr>
                <a:t>Clients</a:t>
              </a:r>
              <a:endParaRPr lang="en-IN" sz="2000" dirty="0">
                <a:solidFill>
                  <a:srgbClr val="1D3064"/>
                </a:solidFill>
              </a:endParaRPr>
            </a:p>
          </p:txBody>
        </p:sp>
        <p:sp>
          <p:nvSpPr>
            <p:cNvPr id="8" name="TextBox 7"/>
            <p:cNvSpPr txBox="1"/>
            <p:nvPr/>
          </p:nvSpPr>
          <p:spPr>
            <a:xfrm>
              <a:off x="5559661" y="6144586"/>
              <a:ext cx="2320132" cy="400110"/>
            </a:xfrm>
            <a:prstGeom prst="rect">
              <a:avLst/>
            </a:prstGeom>
            <a:noFill/>
          </p:spPr>
          <p:txBody>
            <a:bodyPr wrap="square" rtlCol="0">
              <a:spAutoFit/>
            </a:bodyPr>
            <a:lstStyle/>
            <a:p>
              <a:r>
                <a:rPr lang="en-IN" sz="2000" dirty="0" smtClean="0">
                  <a:solidFill>
                    <a:srgbClr val="1D3064"/>
                  </a:solidFill>
                </a:rPr>
                <a:t>Unsecured server</a:t>
              </a:r>
              <a:endParaRPr lang="en-IN" sz="2000" dirty="0">
                <a:solidFill>
                  <a:srgbClr val="1D3064"/>
                </a:solidFill>
              </a:endParaRPr>
            </a:p>
          </p:txBody>
        </p:sp>
        <p:sp>
          <p:nvSpPr>
            <p:cNvPr id="9" name="TextBox 8"/>
            <p:cNvSpPr txBox="1"/>
            <p:nvPr/>
          </p:nvSpPr>
          <p:spPr>
            <a:xfrm>
              <a:off x="7286006" y="5488957"/>
              <a:ext cx="1759519" cy="707886"/>
            </a:xfrm>
            <a:prstGeom prst="rect">
              <a:avLst/>
            </a:prstGeom>
            <a:noFill/>
          </p:spPr>
          <p:txBody>
            <a:bodyPr wrap="square" rtlCol="0">
              <a:spAutoFit/>
            </a:bodyPr>
            <a:lstStyle/>
            <a:p>
              <a:r>
                <a:rPr lang="en-IN" sz="2000" dirty="0" smtClean="0">
                  <a:solidFill>
                    <a:srgbClr val="1D3064"/>
                  </a:solidFill>
                </a:rPr>
                <a:t>Access control device</a:t>
              </a:r>
              <a:endParaRPr lang="en-IN" sz="2000" dirty="0">
                <a:solidFill>
                  <a:srgbClr val="1D3064"/>
                </a:solidFill>
              </a:endParaRPr>
            </a:p>
          </p:txBody>
        </p:sp>
        <p:sp>
          <p:nvSpPr>
            <p:cNvPr id="10" name="TextBox 9"/>
            <p:cNvSpPr txBox="1"/>
            <p:nvPr/>
          </p:nvSpPr>
          <p:spPr>
            <a:xfrm>
              <a:off x="6719727" y="3950201"/>
              <a:ext cx="2735259" cy="707886"/>
            </a:xfrm>
            <a:prstGeom prst="rect">
              <a:avLst/>
            </a:prstGeom>
            <a:noFill/>
          </p:spPr>
          <p:txBody>
            <a:bodyPr wrap="square" rtlCol="0">
              <a:spAutoFit/>
            </a:bodyPr>
            <a:lstStyle/>
            <a:p>
              <a:r>
                <a:rPr lang="en-IN" sz="2000" dirty="0" smtClean="0">
                  <a:solidFill>
                    <a:srgbClr val="1D3064"/>
                  </a:solidFill>
                </a:rPr>
                <a:t>No direct access from other machines</a:t>
              </a:r>
              <a:endParaRPr lang="en-IN" sz="2000" dirty="0">
                <a:solidFill>
                  <a:srgbClr val="1D3064"/>
                </a:solidFill>
              </a:endParaRPr>
            </a:p>
          </p:txBody>
        </p:sp>
        <p:sp>
          <p:nvSpPr>
            <p:cNvPr id="11" name="TextBox 10"/>
            <p:cNvSpPr txBox="1"/>
            <p:nvPr/>
          </p:nvSpPr>
          <p:spPr>
            <a:xfrm>
              <a:off x="2408494" y="3910878"/>
              <a:ext cx="4311233" cy="400110"/>
            </a:xfrm>
            <a:prstGeom prst="rect">
              <a:avLst/>
            </a:prstGeom>
            <a:noFill/>
          </p:spPr>
          <p:txBody>
            <a:bodyPr wrap="square" rtlCol="0">
              <a:spAutoFit/>
            </a:bodyPr>
            <a:lstStyle/>
            <a:p>
              <a:r>
                <a:rPr lang="en-IN" sz="2000" dirty="0" smtClean="0">
                  <a:solidFill>
                    <a:srgbClr val="1D3064"/>
                  </a:solidFill>
                </a:rPr>
                <a:t>Servers running secured services</a:t>
              </a:r>
              <a:endParaRPr lang="en-IN" sz="2000" dirty="0">
                <a:solidFill>
                  <a:srgbClr val="1D3064"/>
                </a:solidFill>
              </a:endParaRPr>
            </a:p>
          </p:txBody>
        </p:sp>
      </p:grpSp>
    </p:spTree>
    <p:extLst>
      <p:ext uri="{BB962C8B-B14F-4D97-AF65-F5344CB8AC3E}">
        <p14:creationId xmlns:p14="http://schemas.microsoft.com/office/powerpoint/2010/main" val="2223498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Design Issue: Simplicity</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dirty="0"/>
              <a:t>Designing a secure computer system is considered a difficult task, regardless of whether it is also a DS.</a:t>
            </a:r>
          </a:p>
          <a:p>
            <a:r>
              <a:rPr lang="en-US" dirty="0" smtClean="0"/>
              <a:t>The </a:t>
            </a:r>
            <a:r>
              <a:rPr lang="en-US" dirty="0"/>
              <a:t>use of a few simple mechanisms that are easily understood and trusted to work would be the ideal situation.</a:t>
            </a:r>
          </a:p>
          <a:p>
            <a:r>
              <a:rPr lang="en-US" dirty="0" smtClean="0"/>
              <a:t>Unfortunately</a:t>
            </a:r>
            <a:r>
              <a:rPr lang="en-US" dirty="0"/>
              <a:t>, the real world is not this clear cut, as introducing security mechanisms to an already complex system can often matters worse.</a:t>
            </a:r>
          </a:p>
          <a:p>
            <a:endParaRPr lang="en-US" sz="2400" dirty="0"/>
          </a:p>
        </p:txBody>
      </p:sp>
    </p:spTree>
    <p:extLst>
      <p:ext uri="{BB962C8B-B14F-4D97-AF65-F5344CB8AC3E}">
        <p14:creationId xmlns:p14="http://schemas.microsoft.com/office/powerpoint/2010/main" val="1782477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Cryptographic Hash Functions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dirty="0"/>
              <a:t> A hash function is a unique identifier for any given piece of content. It’s also a process that takes plaintext data of any size and converts it into a unique </a:t>
            </a:r>
            <a:r>
              <a:rPr lang="en-US" dirty="0" err="1"/>
              <a:t>ciphertext</a:t>
            </a:r>
            <a:r>
              <a:rPr lang="en-US" dirty="0"/>
              <a:t> of a specific length.</a:t>
            </a:r>
          </a:p>
          <a:p>
            <a:r>
              <a:rPr lang="en-US" dirty="0" smtClean="0"/>
              <a:t>A </a:t>
            </a:r>
            <a:r>
              <a:rPr lang="en-US" dirty="0"/>
              <a:t>hash function 𝐻(𝑚) maps an input message 𝑚 to a hash value ℎ</a:t>
            </a:r>
          </a:p>
          <a:p>
            <a:r>
              <a:rPr lang="en-US" dirty="0"/>
              <a:t>Message 𝑚 is of any arbitrary length</a:t>
            </a:r>
          </a:p>
          <a:p>
            <a:r>
              <a:rPr lang="en-US" dirty="0"/>
              <a:t>Hash ℎ is fixed </a:t>
            </a:r>
            <a:r>
              <a:rPr lang="en-US" dirty="0" smtClean="0"/>
              <a:t>length</a:t>
            </a:r>
            <a:endParaRPr lang="en-US" dirty="0"/>
          </a:p>
          <a:p>
            <a:r>
              <a:rPr lang="en-US" dirty="0" smtClean="0"/>
              <a:t>Often</a:t>
            </a:r>
            <a:r>
              <a:rPr lang="en-US" dirty="0"/>
              <a:t>, ℎ is called as the “</a:t>
            </a:r>
            <a:r>
              <a:rPr lang="en-US" dirty="0">
                <a:solidFill>
                  <a:srgbClr val="0E3755"/>
                </a:solidFill>
              </a:rPr>
              <a:t>message digest</a:t>
            </a:r>
            <a:r>
              <a:rPr lang="en-US" dirty="0"/>
              <a:t>” of 𝑚</a:t>
            </a:r>
          </a:p>
          <a:p>
            <a:r>
              <a:rPr lang="en-US" dirty="0" smtClean="0"/>
              <a:t>How </a:t>
            </a:r>
            <a:r>
              <a:rPr lang="en-US" dirty="0"/>
              <a:t>does a cryptographic hash function differ from a regular hash function?</a:t>
            </a:r>
          </a:p>
          <a:p>
            <a:endParaRPr lang="en-US" sz="2400" dirty="0"/>
          </a:p>
        </p:txBody>
      </p:sp>
      <p:sp>
        <p:nvSpPr>
          <p:cNvPr id="4" name="TextBox 3"/>
          <p:cNvSpPr txBox="1"/>
          <p:nvPr/>
        </p:nvSpPr>
        <p:spPr>
          <a:xfrm>
            <a:off x="3265227" y="2524435"/>
            <a:ext cx="1411941" cy="461665"/>
          </a:xfrm>
          <a:prstGeom prst="rect">
            <a:avLst/>
          </a:prstGeom>
          <a:noFill/>
        </p:spPr>
        <p:txBody>
          <a:bodyPr wrap="square" rtlCol="0">
            <a:spAutoFit/>
          </a:bodyPr>
          <a:lstStyle/>
          <a:p>
            <a:r>
              <a:rPr lang="en-IN" sz="2400" b="1" dirty="0">
                <a:solidFill>
                  <a:srgbClr val="C00000"/>
                </a:solidFill>
              </a:rPr>
              <a:t>ℎ=𝐻(𝑚)</a:t>
            </a:r>
          </a:p>
        </p:txBody>
      </p:sp>
      <p:pic>
        <p:nvPicPr>
          <p:cNvPr id="9" name="Picture 8"/>
          <p:cNvPicPr>
            <a:picLocks noChangeAspect="1"/>
          </p:cNvPicPr>
          <p:nvPr/>
        </p:nvPicPr>
        <p:blipFill>
          <a:blip r:embed="rId2"/>
          <a:stretch>
            <a:fillRect/>
          </a:stretch>
        </p:blipFill>
        <p:spPr>
          <a:xfrm>
            <a:off x="527069" y="3920813"/>
            <a:ext cx="8893936" cy="2425619"/>
          </a:xfrm>
          <a:prstGeom prst="rect">
            <a:avLst/>
          </a:prstGeom>
        </p:spPr>
      </p:pic>
    </p:spTree>
    <p:extLst>
      <p:ext uri="{BB962C8B-B14F-4D97-AF65-F5344CB8AC3E}">
        <p14:creationId xmlns:p14="http://schemas.microsoft.com/office/powerpoint/2010/main" val="894609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Properties of Cryptographic Hash Functions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marL="457200" indent="-457200">
              <a:buFont typeface="+mj-lt"/>
              <a:buAutoNum type="arabicPeriod"/>
            </a:pPr>
            <a:r>
              <a:rPr lang="en-US" dirty="0">
                <a:solidFill>
                  <a:srgbClr val="0E3755"/>
                </a:solidFill>
              </a:rPr>
              <a:t>One-Way Function</a:t>
            </a:r>
          </a:p>
          <a:p>
            <a:pPr lvl="2"/>
            <a:r>
              <a:rPr lang="en-US" sz="2400" dirty="0"/>
              <a:t>Finding hash ℎ from 𝑚 is easy, but not vice-versa</a:t>
            </a:r>
          </a:p>
          <a:p>
            <a:pPr lvl="2"/>
            <a:r>
              <a:rPr lang="en-US" sz="2400" dirty="0"/>
              <a:t>Computationally infeasible to find 𝑚  that corresponds to a given hash ℎ</a:t>
            </a:r>
          </a:p>
          <a:p>
            <a:pPr marL="457200" indent="-457200">
              <a:buFont typeface="+mj-lt"/>
              <a:buAutoNum type="arabicPeriod"/>
            </a:pPr>
            <a:r>
              <a:rPr lang="en-US" dirty="0">
                <a:solidFill>
                  <a:srgbClr val="0E3755"/>
                </a:solidFill>
              </a:rPr>
              <a:t>Weak-collision resistance</a:t>
            </a:r>
          </a:p>
          <a:p>
            <a:pPr lvl="2"/>
            <a:r>
              <a:rPr lang="en-US" sz="2400" dirty="0"/>
              <a:t>Given a message, it is hard to find another message that has the same hash value</a:t>
            </a:r>
          </a:p>
          <a:p>
            <a:pPr lvl="2"/>
            <a:r>
              <a:rPr lang="en-US" sz="2400" dirty="0"/>
              <a:t>Given 𝑚 and ℎ=𝐻(𝑚), it is computationally infeasible to find 𝑚′≠𝑚 such that 𝐻(𝑚)=𝐻(</a:t>
            </a:r>
            <a:r>
              <a:rPr lang="en-US" sz="2400" dirty="0">
                <a:solidFill>
                  <a:srgbClr val="0E3755"/>
                </a:solidFill>
              </a:rPr>
              <a:t>𝑚^′)</a:t>
            </a:r>
          </a:p>
          <a:p>
            <a:pPr marL="457200" indent="-457200">
              <a:buFont typeface="+mj-lt"/>
              <a:buAutoNum type="arabicPeriod"/>
            </a:pPr>
            <a:r>
              <a:rPr lang="en-US" dirty="0">
                <a:solidFill>
                  <a:srgbClr val="0E3755"/>
                </a:solidFill>
              </a:rPr>
              <a:t>Strong-collision resistance</a:t>
            </a:r>
          </a:p>
          <a:p>
            <a:pPr lvl="2"/>
            <a:r>
              <a:rPr lang="en-US" sz="2400" dirty="0"/>
              <a:t>Given a hash function, it is hard to find two messages with the same hash value</a:t>
            </a:r>
          </a:p>
          <a:p>
            <a:pPr lvl="2"/>
            <a:r>
              <a:rPr lang="en-US" sz="2400" dirty="0"/>
              <a:t>Given 𝐻(.), it is computationally infeasible to find two messages 𝑚 and 𝑚′  such that 𝐻(𝑚)=𝐻(𝑚^′)</a:t>
            </a:r>
          </a:p>
          <a:p>
            <a:endParaRPr lang="en-US" sz="2400" dirty="0"/>
          </a:p>
        </p:txBody>
      </p:sp>
    </p:spTree>
    <p:extLst>
      <p:ext uri="{BB962C8B-B14F-4D97-AF65-F5344CB8AC3E}">
        <p14:creationId xmlns:p14="http://schemas.microsoft.com/office/powerpoint/2010/main" val="2450328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Encryption/Decryption Functions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dirty="0"/>
              <a:t>Recall: An encryption function 𝐸_𝐾 (𝑚_𝑝) encrypts a plain-text message 𝑚_𝑝 to an cipher-text message 𝑚_𝑐  using a key 𝐾</a:t>
            </a:r>
          </a:p>
          <a:p>
            <a:pPr marL="0" indent="0">
              <a:buNone/>
            </a:pPr>
            <a:r>
              <a:rPr lang="en-US" dirty="0" smtClean="0"/>
              <a:t>                                    </a:t>
            </a:r>
            <a:r>
              <a:rPr lang="en-US" dirty="0" smtClean="0">
                <a:solidFill>
                  <a:schemeClr val="accent6"/>
                </a:solidFill>
              </a:rPr>
              <a:t>𝑚</a:t>
            </a:r>
            <a:r>
              <a:rPr lang="en-US" dirty="0">
                <a:solidFill>
                  <a:schemeClr val="accent6"/>
                </a:solidFill>
              </a:rPr>
              <a:t>_𝑐=𝐸_𝐾 (𝑚_𝑝 )</a:t>
            </a:r>
          </a:p>
          <a:p>
            <a:r>
              <a:rPr lang="en-US" dirty="0" smtClean="0"/>
              <a:t>Similarly</a:t>
            </a:r>
            <a:r>
              <a:rPr lang="en-US" dirty="0"/>
              <a:t>, decryption function 𝐷_𝐾 (𝑚_𝑐 ):</a:t>
            </a:r>
          </a:p>
          <a:p>
            <a:pPr marL="0" indent="0">
              <a:buNone/>
            </a:pPr>
            <a:r>
              <a:rPr lang="en-US" dirty="0" smtClean="0"/>
              <a:t>                                    </a:t>
            </a:r>
            <a:r>
              <a:rPr lang="en-US" dirty="0" smtClean="0">
                <a:solidFill>
                  <a:schemeClr val="accent6"/>
                </a:solidFill>
              </a:rPr>
              <a:t>𝑚</a:t>
            </a:r>
            <a:r>
              <a:rPr lang="en-US" dirty="0">
                <a:solidFill>
                  <a:schemeClr val="accent6"/>
                </a:solidFill>
              </a:rPr>
              <a:t>_𝑝=𝐷_𝐾 (𝑚_𝑐 )</a:t>
            </a:r>
          </a:p>
          <a:p>
            <a:r>
              <a:rPr lang="en-US" dirty="0" smtClean="0"/>
              <a:t>Encryption/Decryption </a:t>
            </a:r>
            <a:r>
              <a:rPr lang="en-US" dirty="0"/>
              <a:t>Functions have the same properties as Cryptographic Hash Functions</a:t>
            </a:r>
          </a:p>
          <a:p>
            <a:pPr lvl="2"/>
            <a:r>
              <a:rPr lang="en-US" sz="2400" dirty="0"/>
              <a:t>One-way functions</a:t>
            </a:r>
          </a:p>
          <a:p>
            <a:pPr lvl="2"/>
            <a:r>
              <a:rPr lang="en-US" sz="2400" dirty="0"/>
              <a:t>Weak and Strong collision resistance</a:t>
            </a:r>
          </a:p>
          <a:p>
            <a:endParaRPr lang="en-US" sz="2400" dirty="0"/>
          </a:p>
        </p:txBody>
      </p:sp>
    </p:spTree>
    <p:extLst>
      <p:ext uri="{BB962C8B-B14F-4D97-AF65-F5344CB8AC3E}">
        <p14:creationId xmlns:p14="http://schemas.microsoft.com/office/powerpoint/2010/main" val="229771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Protocols in Cryptosystems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b="1" dirty="0" smtClean="0">
                <a:solidFill>
                  <a:srgbClr val="0E3755"/>
                </a:solidFill>
              </a:rPr>
              <a:t>Data </a:t>
            </a:r>
            <a:r>
              <a:rPr lang="en-US" b="1" dirty="0">
                <a:solidFill>
                  <a:srgbClr val="0E3755"/>
                </a:solidFill>
              </a:rPr>
              <a:t>Encryption Standard (DES</a:t>
            </a:r>
            <a:r>
              <a:rPr lang="en-US" b="1" dirty="0" smtClean="0">
                <a:solidFill>
                  <a:srgbClr val="0E3755"/>
                </a:solidFill>
              </a:rPr>
              <a:t>) </a:t>
            </a:r>
            <a:r>
              <a:rPr lang="en-US" dirty="0" smtClean="0"/>
              <a:t>: Encryption/Decryption </a:t>
            </a:r>
            <a:r>
              <a:rPr lang="en-US" dirty="0"/>
              <a:t>in </a:t>
            </a:r>
            <a:r>
              <a:rPr lang="en-US" dirty="0">
                <a:solidFill>
                  <a:schemeClr val="accent6"/>
                </a:solidFill>
              </a:rPr>
              <a:t>Symmetric</a:t>
            </a:r>
            <a:r>
              <a:rPr lang="en-US" dirty="0"/>
              <a:t> Cryptosystems</a:t>
            </a:r>
          </a:p>
          <a:p>
            <a:r>
              <a:rPr lang="en-US" b="1" dirty="0" smtClean="0">
                <a:solidFill>
                  <a:srgbClr val="0E3755"/>
                </a:solidFill>
              </a:rPr>
              <a:t>RSA protocol </a:t>
            </a:r>
            <a:r>
              <a:rPr lang="en-US" dirty="0" smtClean="0"/>
              <a:t>: Encryption/Decryption </a:t>
            </a:r>
            <a:r>
              <a:rPr lang="en-US" dirty="0"/>
              <a:t>in </a:t>
            </a:r>
            <a:r>
              <a:rPr lang="en-US" dirty="0">
                <a:solidFill>
                  <a:schemeClr val="accent6"/>
                </a:solidFill>
              </a:rPr>
              <a:t>Public-Key</a:t>
            </a:r>
            <a:r>
              <a:rPr lang="en-US" dirty="0"/>
              <a:t> cryptosystems</a:t>
            </a:r>
          </a:p>
          <a:p>
            <a:r>
              <a:rPr lang="en-US" b="1" dirty="0" smtClean="0">
                <a:solidFill>
                  <a:srgbClr val="0E3755"/>
                </a:solidFill>
              </a:rPr>
              <a:t>Hybrid </a:t>
            </a:r>
            <a:r>
              <a:rPr lang="en-US" b="1" dirty="0">
                <a:solidFill>
                  <a:srgbClr val="0E3755"/>
                </a:solidFill>
              </a:rPr>
              <a:t>Cryptographic </a:t>
            </a:r>
            <a:r>
              <a:rPr lang="en-US" b="1" dirty="0" smtClean="0">
                <a:solidFill>
                  <a:srgbClr val="0E3755"/>
                </a:solidFill>
              </a:rPr>
              <a:t>protocol </a:t>
            </a:r>
            <a:r>
              <a:rPr lang="en-US" dirty="0" smtClean="0"/>
              <a:t>: A </a:t>
            </a:r>
            <a:r>
              <a:rPr lang="en-US" dirty="0"/>
              <a:t>combination of </a:t>
            </a:r>
            <a:r>
              <a:rPr lang="en-US" dirty="0">
                <a:solidFill>
                  <a:schemeClr val="accent6"/>
                </a:solidFill>
              </a:rPr>
              <a:t>Symmetric and Public-Key</a:t>
            </a:r>
            <a:r>
              <a:rPr lang="en-US" dirty="0"/>
              <a:t> based system</a:t>
            </a:r>
          </a:p>
          <a:p>
            <a:endParaRPr lang="en-US" sz="2400" dirty="0"/>
          </a:p>
        </p:txBody>
      </p:sp>
    </p:spTree>
    <p:extLst>
      <p:ext uri="{BB962C8B-B14F-4D97-AF65-F5344CB8AC3E}">
        <p14:creationId xmlns:p14="http://schemas.microsoft.com/office/powerpoint/2010/main" val="389680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DES Protocol</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dirty="0"/>
              <a:t>Purpose: Used for </a:t>
            </a:r>
            <a:r>
              <a:rPr lang="en-US" dirty="0" smtClean="0">
                <a:solidFill>
                  <a:schemeClr val="accent6"/>
                </a:solidFill>
              </a:rPr>
              <a:t>Encryption/Decryption </a:t>
            </a:r>
            <a:r>
              <a:rPr lang="en-US" dirty="0">
                <a:solidFill>
                  <a:schemeClr val="accent6"/>
                </a:solidFill>
              </a:rPr>
              <a:t>in Symmetric Cryptosystems</a:t>
            </a:r>
          </a:p>
          <a:p>
            <a:r>
              <a:rPr lang="en-US" dirty="0" smtClean="0"/>
              <a:t>DES </a:t>
            </a:r>
            <a:r>
              <a:rPr lang="en-US" dirty="0"/>
              <a:t>is designed to operate on 64-bit blocks of data.</a:t>
            </a:r>
          </a:p>
          <a:p>
            <a:r>
              <a:rPr lang="en-US" dirty="0"/>
              <a:t>A block is transformed into an encrypted (64 bit) block of output in 16 rounds, where each round uses a different 48-bit key for encryption.</a:t>
            </a:r>
          </a:p>
          <a:p>
            <a:r>
              <a:rPr lang="en-US" dirty="0"/>
              <a:t>Each of these 16 keys is derived from a 56-bit master </a:t>
            </a:r>
            <a:r>
              <a:rPr lang="en-US" dirty="0" smtClean="0"/>
              <a:t>key</a:t>
            </a:r>
            <a:endParaRPr lang="en-US" dirty="0"/>
          </a:p>
          <a:p>
            <a:r>
              <a:rPr lang="en-US" dirty="0"/>
              <a:t>Before an input block starts its 16 rounds of encryption, it is first subject to an initial permutation, of which the inverse is later applied to the encrypted output leading to the final output block.</a:t>
            </a:r>
          </a:p>
          <a:p>
            <a:endParaRPr lang="en-US" sz="2400" dirty="0"/>
          </a:p>
        </p:txBody>
      </p:sp>
      <p:grpSp>
        <p:nvGrpSpPr>
          <p:cNvPr id="4" name="Group 3"/>
          <p:cNvGrpSpPr/>
          <p:nvPr/>
        </p:nvGrpSpPr>
        <p:grpSpPr>
          <a:xfrm>
            <a:off x="2685203" y="4223245"/>
            <a:ext cx="1038520" cy="190500"/>
            <a:chOff x="1628480" y="3733800"/>
            <a:chExt cx="1038520" cy="190500"/>
          </a:xfrm>
        </p:grpSpPr>
        <p:sp>
          <p:nvSpPr>
            <p:cNvPr id="5" name="Rectangle 4"/>
            <p:cNvSpPr/>
            <p:nvPr/>
          </p:nvSpPr>
          <p:spPr>
            <a:xfrm>
              <a:off x="1628480" y="3733800"/>
              <a:ext cx="124120" cy="190500"/>
            </a:xfrm>
            <a:prstGeom prst="rect">
              <a:avLst/>
            </a:prstGeom>
            <a:solidFill>
              <a:srgbClr val="FF0000"/>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6" name="Rectangle 5"/>
            <p:cNvSpPr/>
            <p:nvPr/>
          </p:nvSpPr>
          <p:spPr>
            <a:xfrm>
              <a:off x="1752600" y="3733800"/>
              <a:ext cx="124120" cy="190500"/>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7" name="Rectangle 6"/>
            <p:cNvSpPr/>
            <p:nvPr/>
          </p:nvSpPr>
          <p:spPr>
            <a:xfrm>
              <a:off x="1876720" y="3733800"/>
              <a:ext cx="124120" cy="190500"/>
            </a:xfrm>
            <a:prstGeom prst="rect">
              <a:avLst/>
            </a:prstGeom>
            <a:solidFill>
              <a:srgbClr val="FFFF00"/>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8" name="Rectangle 7"/>
            <p:cNvSpPr/>
            <p:nvPr/>
          </p:nvSpPr>
          <p:spPr>
            <a:xfrm>
              <a:off x="2007125" y="3733800"/>
              <a:ext cx="124120" cy="190500"/>
            </a:xfrm>
            <a:prstGeom prst="rect">
              <a:avLst/>
            </a:prstGeom>
            <a:solidFill>
              <a:srgbClr val="0000FF"/>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9" name="Rectangle 8"/>
            <p:cNvSpPr/>
            <p:nvPr/>
          </p:nvSpPr>
          <p:spPr>
            <a:xfrm>
              <a:off x="2138313" y="3733800"/>
              <a:ext cx="395140" cy="190500"/>
            </a:xfrm>
            <a:prstGeom prst="rect">
              <a:avLst/>
            </a:prstGeom>
            <a:noFill/>
            <a:ln w="3175">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smtClean="0"/>
                <a:t>...</a:t>
              </a:r>
              <a:endParaRPr lang="en-US" dirty="0"/>
            </a:p>
          </p:txBody>
        </p:sp>
        <p:sp>
          <p:nvSpPr>
            <p:cNvPr id="10" name="Rectangle 9"/>
            <p:cNvSpPr/>
            <p:nvPr/>
          </p:nvSpPr>
          <p:spPr>
            <a:xfrm>
              <a:off x="2542880" y="3733800"/>
              <a:ext cx="124120" cy="190500"/>
            </a:xfrm>
            <a:prstGeom prst="rect">
              <a:avLst/>
            </a:prstGeom>
            <a:solidFill>
              <a:srgbClr val="00B050"/>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grpSp>
      <p:sp>
        <p:nvSpPr>
          <p:cNvPr id="11" name="Rectangle 10"/>
          <p:cNvSpPr/>
          <p:nvPr/>
        </p:nvSpPr>
        <p:spPr>
          <a:xfrm>
            <a:off x="2809323" y="4693559"/>
            <a:ext cx="903794" cy="264093"/>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b="1" dirty="0" smtClean="0"/>
              <a:t>K</a:t>
            </a:r>
            <a:r>
              <a:rPr lang="en-US" b="1" baseline="-25000" dirty="0" smtClean="0"/>
              <a:t>M</a:t>
            </a:r>
            <a:endParaRPr lang="en-US" b="1" baseline="-25000" dirty="0"/>
          </a:p>
        </p:txBody>
      </p:sp>
      <p:grpSp>
        <p:nvGrpSpPr>
          <p:cNvPr id="12" name="Group 11"/>
          <p:cNvGrpSpPr/>
          <p:nvPr/>
        </p:nvGrpSpPr>
        <p:grpSpPr>
          <a:xfrm>
            <a:off x="6726946" y="4454202"/>
            <a:ext cx="1038520" cy="190500"/>
            <a:chOff x="5971880" y="6057900"/>
            <a:chExt cx="1038520" cy="190500"/>
          </a:xfrm>
        </p:grpSpPr>
        <p:sp>
          <p:nvSpPr>
            <p:cNvPr id="13" name="Rectangle 12"/>
            <p:cNvSpPr/>
            <p:nvPr/>
          </p:nvSpPr>
          <p:spPr>
            <a:xfrm>
              <a:off x="5971880" y="6057900"/>
              <a:ext cx="124120" cy="190500"/>
            </a:xfrm>
            <a:prstGeom prst="rect">
              <a:avLst/>
            </a:prstGeom>
            <a:solidFill>
              <a:srgbClr val="FF0000"/>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4" name="Rectangle 13"/>
            <p:cNvSpPr/>
            <p:nvPr/>
          </p:nvSpPr>
          <p:spPr>
            <a:xfrm>
              <a:off x="6096000" y="6057900"/>
              <a:ext cx="124120" cy="190500"/>
            </a:xfrm>
            <a:prstGeom prst="rect">
              <a:avLst/>
            </a:prstGeom>
            <a:solidFill>
              <a:srgbClr val="0070C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5" name="Rectangle 14"/>
            <p:cNvSpPr/>
            <p:nvPr/>
          </p:nvSpPr>
          <p:spPr>
            <a:xfrm>
              <a:off x="6220120" y="6057900"/>
              <a:ext cx="124120" cy="190500"/>
            </a:xfrm>
            <a:prstGeom prst="rect">
              <a:avLst/>
            </a:prstGeom>
            <a:solidFill>
              <a:schemeClr val="tx1">
                <a:lumMod val="75000"/>
                <a:lumOff val="25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6" name="Rectangle 15"/>
            <p:cNvSpPr/>
            <p:nvPr/>
          </p:nvSpPr>
          <p:spPr>
            <a:xfrm>
              <a:off x="6350525" y="6057900"/>
              <a:ext cx="124120" cy="190500"/>
            </a:xfrm>
            <a:prstGeom prst="rect">
              <a:avLst/>
            </a:prstGeom>
            <a:solidFill>
              <a:schemeClr val="accent5">
                <a:lumMod val="75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7" name="Rectangle 16"/>
            <p:cNvSpPr/>
            <p:nvPr/>
          </p:nvSpPr>
          <p:spPr>
            <a:xfrm>
              <a:off x="6481713" y="6057900"/>
              <a:ext cx="395140" cy="190500"/>
            </a:xfrm>
            <a:prstGeom prst="rect">
              <a:avLst/>
            </a:prstGeom>
            <a:noFill/>
            <a:ln w="3175">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smtClean="0"/>
                <a:t>...</a:t>
              </a:r>
              <a:endParaRPr lang="en-US" dirty="0"/>
            </a:p>
          </p:txBody>
        </p:sp>
        <p:sp>
          <p:nvSpPr>
            <p:cNvPr id="18" name="Rectangle 17"/>
            <p:cNvSpPr/>
            <p:nvPr/>
          </p:nvSpPr>
          <p:spPr>
            <a:xfrm>
              <a:off x="6886280" y="6057900"/>
              <a:ext cx="124120" cy="190500"/>
            </a:xfrm>
            <a:prstGeom prst="rect">
              <a:avLst/>
            </a:prstGeom>
            <a:solidFill>
              <a:schemeClr val="accent3">
                <a:lumMod val="5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grpSp>
      <p:sp>
        <p:nvSpPr>
          <p:cNvPr id="19" name="Rectangle 18"/>
          <p:cNvSpPr/>
          <p:nvPr/>
        </p:nvSpPr>
        <p:spPr>
          <a:xfrm>
            <a:off x="4557210" y="4148027"/>
            <a:ext cx="1524000" cy="933450"/>
          </a:xfrm>
          <a:prstGeom prst="rect">
            <a:avLst/>
          </a:prstGeom>
          <a:solidFill>
            <a:schemeClr val="accent4"/>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solidFill>
                  <a:schemeClr val="bg1"/>
                </a:solidFill>
              </a:rPr>
              <a:t>DES</a:t>
            </a:r>
          </a:p>
          <a:p>
            <a:pPr algn="ctr"/>
            <a:r>
              <a:rPr lang="en-US" dirty="0" smtClean="0">
                <a:solidFill>
                  <a:schemeClr val="bg1"/>
                </a:solidFill>
              </a:rPr>
              <a:t>Encryption</a:t>
            </a:r>
          </a:p>
          <a:p>
            <a:pPr algn="ctr"/>
            <a:r>
              <a:rPr lang="en-US" dirty="0" smtClean="0">
                <a:solidFill>
                  <a:schemeClr val="bg1"/>
                </a:solidFill>
              </a:rPr>
              <a:t>Algorithm</a:t>
            </a:r>
            <a:endParaRPr lang="en-US" dirty="0">
              <a:solidFill>
                <a:schemeClr val="bg1"/>
              </a:solidFill>
            </a:endParaRPr>
          </a:p>
        </p:txBody>
      </p:sp>
      <p:cxnSp>
        <p:nvCxnSpPr>
          <p:cNvPr id="20" name="Straight Arrow Connector 19"/>
          <p:cNvCxnSpPr>
            <a:stCxn id="10" idx="3"/>
          </p:cNvCxnSpPr>
          <p:nvPr/>
        </p:nvCxnSpPr>
        <p:spPr>
          <a:xfrm>
            <a:off x="3723723" y="4318495"/>
            <a:ext cx="833487"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11" idx="3"/>
          </p:cNvCxnSpPr>
          <p:nvPr/>
        </p:nvCxnSpPr>
        <p:spPr>
          <a:xfrm>
            <a:off x="3713117" y="4825606"/>
            <a:ext cx="844093" cy="8995"/>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6081210" y="4549452"/>
            <a:ext cx="644166"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3" name="Group 22"/>
          <p:cNvGrpSpPr/>
          <p:nvPr/>
        </p:nvGrpSpPr>
        <p:grpSpPr>
          <a:xfrm>
            <a:off x="6715950" y="5827571"/>
            <a:ext cx="1038520" cy="190500"/>
            <a:chOff x="1628480" y="3733800"/>
            <a:chExt cx="1038520" cy="190500"/>
          </a:xfrm>
        </p:grpSpPr>
        <p:sp>
          <p:nvSpPr>
            <p:cNvPr id="24" name="Rectangle 23"/>
            <p:cNvSpPr/>
            <p:nvPr/>
          </p:nvSpPr>
          <p:spPr>
            <a:xfrm>
              <a:off x="1628480" y="3733800"/>
              <a:ext cx="124120" cy="190500"/>
            </a:xfrm>
            <a:prstGeom prst="rect">
              <a:avLst/>
            </a:prstGeom>
            <a:solidFill>
              <a:srgbClr val="FF0000"/>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5" name="Rectangle 24"/>
            <p:cNvSpPr/>
            <p:nvPr/>
          </p:nvSpPr>
          <p:spPr>
            <a:xfrm>
              <a:off x="1752600" y="3733800"/>
              <a:ext cx="124120" cy="190500"/>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6" name="Rectangle 25"/>
            <p:cNvSpPr/>
            <p:nvPr/>
          </p:nvSpPr>
          <p:spPr>
            <a:xfrm>
              <a:off x="1876720" y="3733800"/>
              <a:ext cx="124120" cy="190500"/>
            </a:xfrm>
            <a:prstGeom prst="rect">
              <a:avLst/>
            </a:prstGeom>
            <a:solidFill>
              <a:srgbClr val="FFFF00"/>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7" name="Rectangle 26"/>
            <p:cNvSpPr/>
            <p:nvPr/>
          </p:nvSpPr>
          <p:spPr>
            <a:xfrm>
              <a:off x="2007125" y="3733800"/>
              <a:ext cx="124120" cy="190500"/>
            </a:xfrm>
            <a:prstGeom prst="rect">
              <a:avLst/>
            </a:prstGeom>
            <a:solidFill>
              <a:srgbClr val="0000FF"/>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8" name="Rectangle 27"/>
            <p:cNvSpPr/>
            <p:nvPr/>
          </p:nvSpPr>
          <p:spPr>
            <a:xfrm>
              <a:off x="2138313" y="3733800"/>
              <a:ext cx="395140" cy="190500"/>
            </a:xfrm>
            <a:prstGeom prst="rect">
              <a:avLst/>
            </a:prstGeom>
            <a:noFill/>
            <a:ln w="3175">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smtClean="0"/>
                <a:t>...</a:t>
              </a:r>
              <a:endParaRPr lang="en-US" dirty="0"/>
            </a:p>
          </p:txBody>
        </p:sp>
        <p:sp>
          <p:nvSpPr>
            <p:cNvPr id="29" name="Rectangle 28"/>
            <p:cNvSpPr/>
            <p:nvPr/>
          </p:nvSpPr>
          <p:spPr>
            <a:xfrm>
              <a:off x="2542880" y="3733800"/>
              <a:ext cx="124120" cy="190500"/>
            </a:xfrm>
            <a:prstGeom prst="rect">
              <a:avLst/>
            </a:prstGeom>
            <a:solidFill>
              <a:srgbClr val="00B050"/>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grpSp>
      <p:sp>
        <p:nvSpPr>
          <p:cNvPr id="30" name="Rectangle 29"/>
          <p:cNvSpPr/>
          <p:nvPr/>
        </p:nvSpPr>
        <p:spPr>
          <a:xfrm>
            <a:off x="2803040" y="6065160"/>
            <a:ext cx="903794" cy="264093"/>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b="1" dirty="0" smtClean="0"/>
              <a:t>K</a:t>
            </a:r>
            <a:r>
              <a:rPr lang="en-US" b="1" baseline="-25000" dirty="0" smtClean="0"/>
              <a:t>M</a:t>
            </a:r>
            <a:endParaRPr lang="en-US" b="1" baseline="-25000" dirty="0"/>
          </a:p>
        </p:txBody>
      </p:sp>
      <p:grpSp>
        <p:nvGrpSpPr>
          <p:cNvPr id="31" name="Group 30"/>
          <p:cNvGrpSpPr/>
          <p:nvPr/>
        </p:nvGrpSpPr>
        <p:grpSpPr>
          <a:xfrm>
            <a:off x="2740980" y="5637071"/>
            <a:ext cx="1038520" cy="190500"/>
            <a:chOff x="5971880" y="6057900"/>
            <a:chExt cx="1038520" cy="190500"/>
          </a:xfrm>
        </p:grpSpPr>
        <p:sp>
          <p:nvSpPr>
            <p:cNvPr id="32" name="Rectangle 31"/>
            <p:cNvSpPr/>
            <p:nvPr/>
          </p:nvSpPr>
          <p:spPr>
            <a:xfrm>
              <a:off x="5971880" y="6057900"/>
              <a:ext cx="124120" cy="190500"/>
            </a:xfrm>
            <a:prstGeom prst="rect">
              <a:avLst/>
            </a:prstGeom>
            <a:solidFill>
              <a:srgbClr val="FF0000"/>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3" name="Rectangle 32"/>
            <p:cNvSpPr/>
            <p:nvPr/>
          </p:nvSpPr>
          <p:spPr>
            <a:xfrm>
              <a:off x="6096000" y="6057900"/>
              <a:ext cx="124120" cy="190500"/>
            </a:xfrm>
            <a:prstGeom prst="rect">
              <a:avLst/>
            </a:prstGeom>
            <a:solidFill>
              <a:srgbClr val="0070C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4" name="Rectangle 33"/>
            <p:cNvSpPr/>
            <p:nvPr/>
          </p:nvSpPr>
          <p:spPr>
            <a:xfrm>
              <a:off x="6220120" y="6057900"/>
              <a:ext cx="124120" cy="190500"/>
            </a:xfrm>
            <a:prstGeom prst="rect">
              <a:avLst/>
            </a:prstGeom>
            <a:solidFill>
              <a:schemeClr val="tx1">
                <a:lumMod val="75000"/>
                <a:lumOff val="25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5" name="Rectangle 34"/>
            <p:cNvSpPr/>
            <p:nvPr/>
          </p:nvSpPr>
          <p:spPr>
            <a:xfrm>
              <a:off x="6350525" y="6057900"/>
              <a:ext cx="124120" cy="190500"/>
            </a:xfrm>
            <a:prstGeom prst="rect">
              <a:avLst/>
            </a:prstGeom>
            <a:solidFill>
              <a:schemeClr val="accent5">
                <a:lumMod val="75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6" name="Rectangle 35"/>
            <p:cNvSpPr/>
            <p:nvPr/>
          </p:nvSpPr>
          <p:spPr>
            <a:xfrm>
              <a:off x="6481713" y="6057900"/>
              <a:ext cx="395140" cy="190500"/>
            </a:xfrm>
            <a:prstGeom prst="rect">
              <a:avLst/>
            </a:prstGeom>
            <a:noFill/>
            <a:ln w="3175">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smtClean="0"/>
                <a:t>...</a:t>
              </a:r>
              <a:endParaRPr lang="en-US" dirty="0"/>
            </a:p>
          </p:txBody>
        </p:sp>
        <p:sp>
          <p:nvSpPr>
            <p:cNvPr id="37" name="Rectangle 36"/>
            <p:cNvSpPr/>
            <p:nvPr/>
          </p:nvSpPr>
          <p:spPr>
            <a:xfrm>
              <a:off x="6886280" y="6057900"/>
              <a:ext cx="124120" cy="190500"/>
            </a:xfrm>
            <a:prstGeom prst="rect">
              <a:avLst/>
            </a:prstGeom>
            <a:solidFill>
              <a:schemeClr val="accent3">
                <a:lumMod val="5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grpSp>
      <p:sp>
        <p:nvSpPr>
          <p:cNvPr id="38" name="Rectangle 37"/>
          <p:cNvSpPr/>
          <p:nvPr/>
        </p:nvSpPr>
        <p:spPr>
          <a:xfrm>
            <a:off x="4550927" y="5519628"/>
            <a:ext cx="1524000" cy="933450"/>
          </a:xfrm>
          <a:prstGeom prst="rect">
            <a:avLst/>
          </a:prstGeom>
          <a:solidFill>
            <a:srgbClr val="0E3755"/>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solidFill>
                  <a:schemeClr val="bg1"/>
                </a:solidFill>
              </a:rPr>
              <a:t>DES</a:t>
            </a:r>
          </a:p>
          <a:p>
            <a:pPr algn="ctr"/>
            <a:r>
              <a:rPr lang="en-US" dirty="0" smtClean="0">
                <a:solidFill>
                  <a:schemeClr val="bg1"/>
                </a:solidFill>
              </a:rPr>
              <a:t>Decryption</a:t>
            </a:r>
          </a:p>
          <a:p>
            <a:pPr algn="ctr"/>
            <a:r>
              <a:rPr lang="en-US" dirty="0" smtClean="0">
                <a:solidFill>
                  <a:schemeClr val="bg1"/>
                </a:solidFill>
              </a:rPr>
              <a:t>Algorithm</a:t>
            </a:r>
            <a:endParaRPr lang="en-US" dirty="0">
              <a:solidFill>
                <a:schemeClr val="bg1"/>
              </a:solidFill>
            </a:endParaRPr>
          </a:p>
        </p:txBody>
      </p:sp>
      <p:cxnSp>
        <p:nvCxnSpPr>
          <p:cNvPr id="39" name="Straight Arrow Connector 38"/>
          <p:cNvCxnSpPr/>
          <p:nvPr/>
        </p:nvCxnSpPr>
        <p:spPr>
          <a:xfrm>
            <a:off x="3774787" y="5732321"/>
            <a:ext cx="77614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30" idx="3"/>
          </p:cNvCxnSpPr>
          <p:nvPr/>
        </p:nvCxnSpPr>
        <p:spPr>
          <a:xfrm>
            <a:off x="3706834" y="6197207"/>
            <a:ext cx="844093" cy="6686"/>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a:off x="6074927" y="5921053"/>
            <a:ext cx="644166"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2689916" y="3872293"/>
            <a:ext cx="1529722" cy="338554"/>
          </a:xfrm>
          <a:prstGeom prst="rect">
            <a:avLst/>
          </a:prstGeom>
          <a:noFill/>
        </p:spPr>
        <p:txBody>
          <a:bodyPr wrap="square" rtlCol="0">
            <a:spAutoFit/>
          </a:bodyPr>
          <a:lstStyle/>
          <a:p>
            <a:r>
              <a:rPr lang="en-US" sz="1600" dirty="0" smtClean="0"/>
              <a:t>64-bit plain-text</a:t>
            </a:r>
            <a:endParaRPr lang="en-US" sz="1600" dirty="0"/>
          </a:p>
        </p:txBody>
      </p:sp>
      <p:sp>
        <p:nvSpPr>
          <p:cNvPr id="43" name="TextBox 42"/>
          <p:cNvSpPr txBox="1"/>
          <p:nvPr/>
        </p:nvSpPr>
        <p:spPr>
          <a:xfrm>
            <a:off x="6725375" y="4175828"/>
            <a:ext cx="1719377" cy="338554"/>
          </a:xfrm>
          <a:prstGeom prst="rect">
            <a:avLst/>
          </a:prstGeom>
          <a:noFill/>
        </p:spPr>
        <p:txBody>
          <a:bodyPr wrap="square" rtlCol="0">
            <a:spAutoFit/>
          </a:bodyPr>
          <a:lstStyle/>
          <a:p>
            <a:r>
              <a:rPr lang="en-US" sz="1600" dirty="0" smtClean="0"/>
              <a:t>64-bit Cipher-text</a:t>
            </a:r>
            <a:endParaRPr lang="en-US" sz="1600" dirty="0"/>
          </a:p>
        </p:txBody>
      </p:sp>
      <p:sp>
        <p:nvSpPr>
          <p:cNvPr id="44" name="TextBox 43"/>
          <p:cNvSpPr txBox="1"/>
          <p:nvPr/>
        </p:nvSpPr>
        <p:spPr>
          <a:xfrm>
            <a:off x="2561666" y="5342129"/>
            <a:ext cx="1692316" cy="338554"/>
          </a:xfrm>
          <a:prstGeom prst="rect">
            <a:avLst/>
          </a:prstGeom>
          <a:noFill/>
        </p:spPr>
        <p:txBody>
          <a:bodyPr wrap="square" rtlCol="0">
            <a:spAutoFit/>
          </a:bodyPr>
          <a:lstStyle/>
          <a:p>
            <a:r>
              <a:rPr lang="en-US" sz="1600" dirty="0" smtClean="0"/>
              <a:t>64-bit Cipher-text</a:t>
            </a:r>
            <a:endParaRPr lang="en-US" sz="1600" dirty="0"/>
          </a:p>
        </p:txBody>
      </p:sp>
      <p:sp>
        <p:nvSpPr>
          <p:cNvPr id="45" name="TextBox 44"/>
          <p:cNvSpPr txBox="1"/>
          <p:nvPr/>
        </p:nvSpPr>
        <p:spPr>
          <a:xfrm>
            <a:off x="6668817" y="5547429"/>
            <a:ext cx="1602515" cy="338554"/>
          </a:xfrm>
          <a:prstGeom prst="rect">
            <a:avLst/>
          </a:prstGeom>
          <a:noFill/>
        </p:spPr>
        <p:txBody>
          <a:bodyPr wrap="square" rtlCol="0">
            <a:spAutoFit/>
          </a:bodyPr>
          <a:lstStyle/>
          <a:p>
            <a:r>
              <a:rPr lang="en-US" sz="1600" dirty="0" smtClean="0"/>
              <a:t>64-bit plain-text</a:t>
            </a:r>
            <a:endParaRPr lang="en-US" sz="1600" dirty="0"/>
          </a:p>
        </p:txBody>
      </p:sp>
      <p:sp>
        <p:nvSpPr>
          <p:cNvPr id="46" name="TextBox 45"/>
          <p:cNvSpPr txBox="1"/>
          <p:nvPr/>
        </p:nvSpPr>
        <p:spPr>
          <a:xfrm>
            <a:off x="2870204" y="4929851"/>
            <a:ext cx="1588630" cy="338554"/>
          </a:xfrm>
          <a:prstGeom prst="rect">
            <a:avLst/>
          </a:prstGeom>
          <a:noFill/>
        </p:spPr>
        <p:txBody>
          <a:bodyPr wrap="square" rtlCol="0">
            <a:spAutoFit/>
          </a:bodyPr>
          <a:lstStyle/>
          <a:p>
            <a:r>
              <a:rPr lang="en-US" sz="1600" dirty="0" smtClean="0"/>
              <a:t>56-bit key</a:t>
            </a:r>
            <a:endParaRPr lang="en-US" sz="1600" dirty="0"/>
          </a:p>
        </p:txBody>
      </p:sp>
      <p:sp>
        <p:nvSpPr>
          <p:cNvPr id="47" name="TextBox 46"/>
          <p:cNvSpPr txBox="1"/>
          <p:nvPr/>
        </p:nvSpPr>
        <p:spPr>
          <a:xfrm>
            <a:off x="2865100" y="6329253"/>
            <a:ext cx="1588630" cy="338554"/>
          </a:xfrm>
          <a:prstGeom prst="rect">
            <a:avLst/>
          </a:prstGeom>
          <a:noFill/>
        </p:spPr>
        <p:txBody>
          <a:bodyPr wrap="square" rtlCol="0">
            <a:spAutoFit/>
          </a:bodyPr>
          <a:lstStyle/>
          <a:p>
            <a:r>
              <a:rPr lang="en-US" sz="1600" dirty="0" smtClean="0"/>
              <a:t>56-bit key</a:t>
            </a:r>
            <a:endParaRPr lang="en-US" sz="1600" dirty="0"/>
          </a:p>
        </p:txBody>
      </p:sp>
      <p:cxnSp>
        <p:nvCxnSpPr>
          <p:cNvPr id="48" name="Straight Arrow Connector 47"/>
          <p:cNvCxnSpPr/>
          <p:nvPr/>
        </p:nvCxnSpPr>
        <p:spPr>
          <a:xfrm>
            <a:off x="1353670" y="5333263"/>
            <a:ext cx="7772400" cy="0"/>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0984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DES Encryption Algorithm</a:t>
            </a:r>
          </a:p>
        </p:txBody>
      </p:sp>
      <p:sp>
        <p:nvSpPr>
          <p:cNvPr id="49" name="Content Placeholder 2"/>
          <p:cNvSpPr>
            <a:spLocks noGrp="1"/>
          </p:cNvSpPr>
          <p:nvPr>
            <p:ph idx="1"/>
          </p:nvPr>
        </p:nvSpPr>
        <p:spPr>
          <a:xfrm>
            <a:off x="0" y="850676"/>
            <a:ext cx="6337901" cy="4800600"/>
          </a:xfrm>
        </p:spPr>
        <p:txBody>
          <a:bodyPr/>
          <a:lstStyle/>
          <a:p>
            <a:pPr marL="457200" indent="-457200">
              <a:buFont typeface="+mj-lt"/>
              <a:buAutoNum type="arabicPeriod"/>
            </a:pPr>
            <a:r>
              <a:rPr lang="en-US" dirty="0" smtClean="0">
                <a:latin typeface="+mj-lt"/>
              </a:rPr>
              <a:t>Permute a 64-bit block</a:t>
            </a:r>
            <a:endParaRPr lang="en-US" sz="2400" dirty="0" smtClean="0">
              <a:latin typeface="+mj-lt"/>
            </a:endParaRPr>
          </a:p>
          <a:p>
            <a:pPr marL="457200" indent="-457200">
              <a:buFont typeface="+mj-lt"/>
              <a:buAutoNum type="arabicPeriod"/>
            </a:pPr>
            <a:r>
              <a:rPr lang="en-US" dirty="0" smtClean="0">
                <a:latin typeface="+mj-lt"/>
              </a:rPr>
              <a:t>16 rounds of identical operations</a:t>
            </a:r>
            <a:endParaRPr lang="en-US" sz="2400" dirty="0" smtClean="0">
              <a:latin typeface="+mj-lt"/>
            </a:endParaRPr>
          </a:p>
          <a:p>
            <a:pPr marL="457200" indent="-457200">
              <a:buFont typeface="+mj-lt"/>
              <a:buAutoNum type="arabicPeriod"/>
            </a:pPr>
            <a:r>
              <a:rPr lang="en-US" dirty="0" smtClean="0">
                <a:latin typeface="+mj-lt"/>
              </a:rPr>
              <a:t>In each round </a:t>
            </a:r>
            <a:r>
              <a:rPr lang="en-US" i="1" dirty="0" err="1" smtClean="0">
                <a:solidFill>
                  <a:schemeClr val="tx1"/>
                </a:solidFill>
                <a:latin typeface="+mj-lt"/>
              </a:rPr>
              <a:t>i</a:t>
            </a:r>
            <a:endParaRPr lang="en-US" i="1" dirty="0" smtClean="0">
              <a:solidFill>
                <a:schemeClr val="tx1"/>
              </a:solidFill>
              <a:latin typeface="+mj-lt"/>
            </a:endParaRPr>
          </a:p>
          <a:p>
            <a:pPr marL="857250" lvl="1" indent="-400050">
              <a:buFont typeface="+mj-lt"/>
              <a:buAutoNum type="romanLcPeriod"/>
            </a:pPr>
            <a:r>
              <a:rPr lang="en-US" sz="2400" dirty="0">
                <a:latin typeface="+mj-lt"/>
              </a:rPr>
              <a:t>Divide the block into 2 </a:t>
            </a:r>
            <a:r>
              <a:rPr lang="en-US" sz="2400" dirty="0" smtClean="0">
                <a:latin typeface="+mj-lt"/>
              </a:rPr>
              <a:t>halves </a:t>
            </a:r>
            <a:r>
              <a:rPr lang="en-US" sz="2400" dirty="0" smtClean="0">
                <a:solidFill>
                  <a:schemeClr val="tx1"/>
                </a:solidFill>
                <a:latin typeface="+mj-lt"/>
              </a:rPr>
              <a:t>L</a:t>
            </a:r>
            <a:r>
              <a:rPr lang="en-US" sz="2400" baseline="-25000" dirty="0" smtClean="0">
                <a:solidFill>
                  <a:schemeClr val="tx1"/>
                </a:solidFill>
                <a:latin typeface="+mj-lt"/>
              </a:rPr>
              <a:t>i</a:t>
            </a:r>
            <a:r>
              <a:rPr lang="en-US" sz="2400" dirty="0" smtClean="0">
                <a:latin typeface="+mj-lt"/>
              </a:rPr>
              <a:t> and </a:t>
            </a:r>
            <a:r>
              <a:rPr lang="en-US" sz="2400" dirty="0" err="1" smtClean="0">
                <a:solidFill>
                  <a:schemeClr val="tx1"/>
                </a:solidFill>
                <a:latin typeface="+mj-lt"/>
              </a:rPr>
              <a:t>R</a:t>
            </a:r>
            <a:r>
              <a:rPr lang="en-US" sz="2400" baseline="-25000" dirty="0" err="1">
                <a:solidFill>
                  <a:schemeClr val="tx1"/>
                </a:solidFill>
                <a:latin typeface="+mj-lt"/>
              </a:rPr>
              <a:t>i</a:t>
            </a:r>
            <a:endParaRPr lang="en-US" sz="2400" baseline="-25000" dirty="0">
              <a:solidFill>
                <a:schemeClr val="tx1"/>
              </a:solidFill>
              <a:latin typeface="+mj-lt"/>
            </a:endParaRPr>
          </a:p>
          <a:p>
            <a:pPr marL="857250" lvl="1" indent="-400050">
              <a:buFont typeface="+mj-lt"/>
              <a:buAutoNum type="romanLcPeriod"/>
            </a:pPr>
            <a:r>
              <a:rPr lang="en-US" sz="2400" dirty="0" smtClean="0">
                <a:latin typeface="+mj-lt"/>
              </a:rPr>
              <a:t>Extract 48-bit key </a:t>
            </a:r>
            <a:r>
              <a:rPr lang="en-US" sz="2400" dirty="0" smtClean="0">
                <a:solidFill>
                  <a:schemeClr val="tx1"/>
                </a:solidFill>
                <a:latin typeface="+mj-lt"/>
              </a:rPr>
              <a:t>K</a:t>
            </a:r>
            <a:r>
              <a:rPr lang="en-US" sz="2400" baseline="-25000" dirty="0" smtClean="0">
                <a:solidFill>
                  <a:schemeClr val="tx1"/>
                </a:solidFill>
                <a:latin typeface="+mj-lt"/>
              </a:rPr>
              <a:t>i </a:t>
            </a:r>
            <a:r>
              <a:rPr lang="en-US" sz="2400" dirty="0" smtClean="0">
                <a:latin typeface="+mj-lt"/>
              </a:rPr>
              <a:t>from </a:t>
            </a:r>
            <a:r>
              <a:rPr lang="en-US" sz="2400" dirty="0" smtClean="0">
                <a:solidFill>
                  <a:schemeClr val="tx1"/>
                </a:solidFill>
                <a:latin typeface="+mj-lt"/>
              </a:rPr>
              <a:t>K</a:t>
            </a:r>
            <a:r>
              <a:rPr lang="en-US" sz="2400" baseline="-25000" dirty="0" smtClean="0">
                <a:solidFill>
                  <a:schemeClr val="tx1"/>
                </a:solidFill>
                <a:latin typeface="+mj-lt"/>
              </a:rPr>
              <a:t>M</a:t>
            </a:r>
            <a:endParaRPr lang="en-US" sz="2400" dirty="0" smtClean="0">
              <a:solidFill>
                <a:schemeClr val="tx1"/>
              </a:solidFill>
              <a:latin typeface="+mj-lt"/>
            </a:endParaRPr>
          </a:p>
          <a:p>
            <a:pPr marL="857250" lvl="1" indent="-400050">
              <a:buFont typeface="+mj-lt"/>
              <a:buAutoNum type="romanLcPeriod"/>
            </a:pPr>
            <a:r>
              <a:rPr lang="en-US" sz="2400" dirty="0" smtClean="0">
                <a:latin typeface="+mj-lt"/>
              </a:rPr>
              <a:t>Mangle the bits in </a:t>
            </a:r>
            <a:r>
              <a:rPr lang="en-US" sz="2400" dirty="0">
                <a:solidFill>
                  <a:schemeClr val="tx1"/>
                </a:solidFill>
                <a:latin typeface="+mj-lt"/>
              </a:rPr>
              <a:t>L</a:t>
            </a:r>
            <a:r>
              <a:rPr lang="en-US" sz="2400" baseline="-25000" dirty="0">
                <a:solidFill>
                  <a:schemeClr val="tx1"/>
                </a:solidFill>
                <a:latin typeface="+mj-lt"/>
              </a:rPr>
              <a:t>i</a:t>
            </a:r>
            <a:r>
              <a:rPr lang="en-US" sz="2400" dirty="0">
                <a:latin typeface="+mj-lt"/>
              </a:rPr>
              <a:t> and </a:t>
            </a:r>
            <a:r>
              <a:rPr lang="en-US" sz="2400" dirty="0" err="1" smtClean="0">
                <a:solidFill>
                  <a:schemeClr val="tx1"/>
                </a:solidFill>
                <a:latin typeface="+mj-lt"/>
              </a:rPr>
              <a:t>R</a:t>
            </a:r>
            <a:r>
              <a:rPr lang="en-US" sz="2400" baseline="-25000" dirty="0" err="1" smtClean="0">
                <a:solidFill>
                  <a:schemeClr val="tx1"/>
                </a:solidFill>
                <a:latin typeface="+mj-lt"/>
              </a:rPr>
              <a:t>i</a:t>
            </a:r>
            <a:r>
              <a:rPr lang="en-US" sz="2400" dirty="0" smtClean="0">
                <a:latin typeface="+mj-lt"/>
              </a:rPr>
              <a:t> using </a:t>
            </a:r>
            <a:r>
              <a:rPr lang="en-US" sz="2400" dirty="0" smtClean="0">
                <a:solidFill>
                  <a:schemeClr val="tx1"/>
                </a:solidFill>
                <a:latin typeface="+mj-lt"/>
              </a:rPr>
              <a:t>K</a:t>
            </a:r>
            <a:r>
              <a:rPr lang="en-US" sz="2400" baseline="-25000" dirty="0" smtClean="0">
                <a:solidFill>
                  <a:schemeClr val="tx1"/>
                </a:solidFill>
                <a:latin typeface="+mj-lt"/>
              </a:rPr>
              <a:t>i</a:t>
            </a:r>
            <a:r>
              <a:rPr lang="en-US" sz="2400" dirty="0">
                <a:latin typeface="+mj-lt"/>
              </a:rPr>
              <a:t> </a:t>
            </a:r>
            <a:r>
              <a:rPr lang="en-US" sz="2400" dirty="0" smtClean="0">
                <a:latin typeface="+mj-lt"/>
              </a:rPr>
              <a:t>to produce </a:t>
            </a:r>
            <a:r>
              <a:rPr lang="en-US" sz="2400" dirty="0" smtClean="0">
                <a:solidFill>
                  <a:schemeClr val="tx1"/>
                </a:solidFill>
                <a:latin typeface="+mj-lt"/>
              </a:rPr>
              <a:t>R</a:t>
            </a:r>
            <a:r>
              <a:rPr lang="en-US" sz="2400" baseline="-25000" dirty="0" smtClean="0">
                <a:solidFill>
                  <a:schemeClr val="tx1"/>
                </a:solidFill>
                <a:latin typeface="+mj-lt"/>
              </a:rPr>
              <a:t>i+1</a:t>
            </a:r>
            <a:endParaRPr lang="en-US" sz="2400" baseline="-25000" dirty="0">
              <a:solidFill>
                <a:schemeClr val="tx1"/>
              </a:solidFill>
              <a:latin typeface="+mj-lt"/>
            </a:endParaRPr>
          </a:p>
          <a:p>
            <a:pPr marL="857250" lvl="1" indent="-400050">
              <a:buFont typeface="+mj-lt"/>
              <a:buAutoNum type="romanLcPeriod"/>
            </a:pPr>
            <a:r>
              <a:rPr lang="en-US" sz="2400" dirty="0" smtClean="0">
                <a:latin typeface="+mj-lt"/>
              </a:rPr>
              <a:t>Extract </a:t>
            </a:r>
            <a:r>
              <a:rPr lang="en-US" sz="2400" dirty="0" err="1" smtClean="0">
                <a:solidFill>
                  <a:schemeClr val="tx1"/>
                </a:solidFill>
                <a:latin typeface="+mj-lt"/>
              </a:rPr>
              <a:t>R</a:t>
            </a:r>
            <a:r>
              <a:rPr lang="en-US" sz="2400" baseline="-25000" dirty="0" err="1" smtClean="0">
                <a:solidFill>
                  <a:schemeClr val="tx1"/>
                </a:solidFill>
                <a:latin typeface="+mj-lt"/>
              </a:rPr>
              <a:t>i</a:t>
            </a:r>
            <a:r>
              <a:rPr lang="en-US" sz="2400" baseline="-25000" dirty="0" smtClean="0">
                <a:solidFill>
                  <a:schemeClr val="tx1"/>
                </a:solidFill>
                <a:latin typeface="+mj-lt"/>
              </a:rPr>
              <a:t> </a:t>
            </a:r>
            <a:r>
              <a:rPr lang="en-US" sz="2400" dirty="0" smtClean="0">
                <a:latin typeface="+mj-lt"/>
              </a:rPr>
              <a:t>as </a:t>
            </a:r>
            <a:r>
              <a:rPr lang="en-US" sz="2400" dirty="0" smtClean="0">
                <a:solidFill>
                  <a:schemeClr val="tx1"/>
                </a:solidFill>
                <a:latin typeface="+mj-lt"/>
              </a:rPr>
              <a:t>L</a:t>
            </a:r>
            <a:r>
              <a:rPr lang="en-US" sz="2400" baseline="-25000" dirty="0" smtClean="0">
                <a:solidFill>
                  <a:schemeClr val="tx1"/>
                </a:solidFill>
                <a:latin typeface="+mj-lt"/>
              </a:rPr>
              <a:t>i+1</a:t>
            </a:r>
          </a:p>
          <a:p>
            <a:pPr marL="457200" indent="-457200">
              <a:buFont typeface="+mj-lt"/>
              <a:buAutoNum type="arabicPeriod"/>
            </a:pPr>
            <a:r>
              <a:rPr lang="en-US" dirty="0" smtClean="0">
                <a:latin typeface="+mj-lt"/>
              </a:rPr>
              <a:t>Perform an inverse permutation on the block </a:t>
            </a:r>
            <a:r>
              <a:rPr lang="en-US" dirty="0" smtClean="0">
                <a:solidFill>
                  <a:schemeClr val="tx1"/>
                </a:solidFill>
                <a:latin typeface="+mj-lt"/>
              </a:rPr>
              <a:t>L</a:t>
            </a:r>
            <a:r>
              <a:rPr lang="en-US" baseline="-25000" dirty="0" smtClean="0">
                <a:solidFill>
                  <a:schemeClr val="tx1"/>
                </a:solidFill>
                <a:latin typeface="+mj-lt"/>
              </a:rPr>
              <a:t>16</a:t>
            </a:r>
            <a:r>
              <a:rPr lang="en-US" dirty="0" smtClean="0">
                <a:solidFill>
                  <a:schemeClr val="tx1"/>
                </a:solidFill>
                <a:latin typeface="+mj-lt"/>
              </a:rPr>
              <a:t>-R</a:t>
            </a:r>
            <a:r>
              <a:rPr lang="en-US" baseline="-25000" dirty="0" smtClean="0">
                <a:solidFill>
                  <a:schemeClr val="tx1"/>
                </a:solidFill>
                <a:latin typeface="+mj-lt"/>
              </a:rPr>
              <a:t>16</a:t>
            </a:r>
            <a:r>
              <a:rPr lang="en-US" dirty="0" smtClean="0">
                <a:latin typeface="+mj-lt"/>
              </a:rPr>
              <a:t> to produce the encrypted output block</a:t>
            </a:r>
            <a:endParaRPr lang="en-US" baseline="-25000" dirty="0">
              <a:solidFill>
                <a:schemeClr val="tx1"/>
              </a:solidFill>
              <a:latin typeface="+mj-lt"/>
            </a:endParaRPr>
          </a:p>
        </p:txBody>
      </p:sp>
      <p:sp>
        <p:nvSpPr>
          <p:cNvPr id="50" name="Rectangle 49"/>
          <p:cNvSpPr/>
          <p:nvPr/>
        </p:nvSpPr>
        <p:spPr>
          <a:xfrm>
            <a:off x="8038244" y="1905300"/>
            <a:ext cx="124120" cy="190500"/>
          </a:xfrm>
          <a:prstGeom prst="rect">
            <a:avLst/>
          </a:prstGeom>
          <a:solidFill>
            <a:srgbClr val="FF0000"/>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latin typeface="+mj-lt"/>
            </a:endParaRPr>
          </a:p>
        </p:txBody>
      </p:sp>
      <p:sp>
        <p:nvSpPr>
          <p:cNvPr id="51" name="Rectangle 50"/>
          <p:cNvSpPr/>
          <p:nvPr/>
        </p:nvSpPr>
        <p:spPr>
          <a:xfrm>
            <a:off x="8162364" y="1905300"/>
            <a:ext cx="124120" cy="190500"/>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latin typeface="+mj-lt"/>
            </a:endParaRPr>
          </a:p>
        </p:txBody>
      </p:sp>
      <p:sp>
        <p:nvSpPr>
          <p:cNvPr id="52" name="Rectangle 51"/>
          <p:cNvSpPr/>
          <p:nvPr/>
        </p:nvSpPr>
        <p:spPr>
          <a:xfrm>
            <a:off x="8286484" y="1905300"/>
            <a:ext cx="124120" cy="190500"/>
          </a:xfrm>
          <a:prstGeom prst="rect">
            <a:avLst/>
          </a:prstGeom>
          <a:solidFill>
            <a:srgbClr val="FFFF00"/>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latin typeface="+mj-lt"/>
            </a:endParaRPr>
          </a:p>
        </p:txBody>
      </p:sp>
      <p:sp>
        <p:nvSpPr>
          <p:cNvPr id="53" name="Rectangle 52"/>
          <p:cNvSpPr/>
          <p:nvPr/>
        </p:nvSpPr>
        <p:spPr>
          <a:xfrm>
            <a:off x="8416889" y="1905300"/>
            <a:ext cx="124120" cy="190500"/>
          </a:xfrm>
          <a:prstGeom prst="rect">
            <a:avLst/>
          </a:prstGeom>
          <a:solidFill>
            <a:srgbClr val="0000FF"/>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latin typeface="+mj-lt"/>
            </a:endParaRPr>
          </a:p>
        </p:txBody>
      </p:sp>
      <p:sp>
        <p:nvSpPr>
          <p:cNvPr id="54" name="Rectangle 53"/>
          <p:cNvSpPr/>
          <p:nvPr/>
        </p:nvSpPr>
        <p:spPr>
          <a:xfrm>
            <a:off x="8548077" y="1905300"/>
            <a:ext cx="395140" cy="190500"/>
          </a:xfrm>
          <a:prstGeom prst="rect">
            <a:avLst/>
          </a:prstGeom>
          <a:noFill/>
          <a:ln w="3175">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smtClean="0">
                <a:latin typeface="+mj-lt"/>
              </a:rPr>
              <a:t>...</a:t>
            </a:r>
            <a:endParaRPr lang="en-US" dirty="0">
              <a:latin typeface="+mj-lt"/>
            </a:endParaRPr>
          </a:p>
        </p:txBody>
      </p:sp>
      <p:sp>
        <p:nvSpPr>
          <p:cNvPr id="55" name="Rectangle 54"/>
          <p:cNvSpPr/>
          <p:nvPr/>
        </p:nvSpPr>
        <p:spPr>
          <a:xfrm>
            <a:off x="8952644" y="1905300"/>
            <a:ext cx="124120" cy="190500"/>
          </a:xfrm>
          <a:prstGeom prst="rect">
            <a:avLst/>
          </a:prstGeom>
          <a:solidFill>
            <a:srgbClr val="00B050"/>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latin typeface="+mj-lt"/>
            </a:endParaRPr>
          </a:p>
        </p:txBody>
      </p:sp>
      <p:sp>
        <p:nvSpPr>
          <p:cNvPr id="56" name="Rectangle 55"/>
          <p:cNvSpPr/>
          <p:nvPr/>
        </p:nvSpPr>
        <p:spPr>
          <a:xfrm>
            <a:off x="8283342" y="2348753"/>
            <a:ext cx="124120" cy="190500"/>
          </a:xfrm>
          <a:prstGeom prst="rect">
            <a:avLst/>
          </a:prstGeom>
          <a:solidFill>
            <a:srgbClr val="FF0000"/>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latin typeface="+mj-lt"/>
            </a:endParaRPr>
          </a:p>
        </p:txBody>
      </p:sp>
      <p:sp>
        <p:nvSpPr>
          <p:cNvPr id="57" name="Rectangle 56"/>
          <p:cNvSpPr/>
          <p:nvPr/>
        </p:nvSpPr>
        <p:spPr>
          <a:xfrm>
            <a:off x="8152937" y="2348753"/>
            <a:ext cx="124120" cy="190500"/>
          </a:xfrm>
          <a:prstGeom prst="rect">
            <a:avLst/>
          </a:prstGeom>
          <a:solidFill>
            <a:schemeClr val="bg1">
              <a:lumMod val="50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latin typeface="+mj-lt"/>
            </a:endParaRPr>
          </a:p>
        </p:txBody>
      </p:sp>
      <p:sp>
        <p:nvSpPr>
          <p:cNvPr id="58" name="Rectangle 57"/>
          <p:cNvSpPr/>
          <p:nvPr/>
        </p:nvSpPr>
        <p:spPr>
          <a:xfrm>
            <a:off x="8028033" y="2348753"/>
            <a:ext cx="124120" cy="190500"/>
          </a:xfrm>
          <a:prstGeom prst="rect">
            <a:avLst/>
          </a:prstGeom>
          <a:solidFill>
            <a:srgbClr val="FFFF00"/>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latin typeface="+mj-lt"/>
            </a:endParaRPr>
          </a:p>
        </p:txBody>
      </p:sp>
      <p:sp>
        <p:nvSpPr>
          <p:cNvPr id="59" name="Rectangle 58"/>
          <p:cNvSpPr/>
          <p:nvPr/>
        </p:nvSpPr>
        <p:spPr>
          <a:xfrm>
            <a:off x="8407462" y="2348753"/>
            <a:ext cx="124120" cy="190500"/>
          </a:xfrm>
          <a:prstGeom prst="rect">
            <a:avLst/>
          </a:prstGeom>
          <a:solidFill>
            <a:schemeClr val="accent2">
              <a:lumMod val="40000"/>
              <a:lumOff val="6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latin typeface="+mj-lt"/>
            </a:endParaRPr>
          </a:p>
        </p:txBody>
      </p:sp>
      <p:sp>
        <p:nvSpPr>
          <p:cNvPr id="60" name="Rectangle 59"/>
          <p:cNvSpPr/>
          <p:nvPr/>
        </p:nvSpPr>
        <p:spPr>
          <a:xfrm>
            <a:off x="8538650" y="2348753"/>
            <a:ext cx="395140" cy="190500"/>
          </a:xfrm>
          <a:prstGeom prst="rect">
            <a:avLst/>
          </a:prstGeom>
          <a:noFill/>
          <a:ln w="3175">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smtClean="0">
                <a:latin typeface="+mj-lt"/>
              </a:rPr>
              <a:t>...</a:t>
            </a:r>
            <a:endParaRPr lang="en-US" dirty="0">
              <a:latin typeface="+mj-lt"/>
            </a:endParaRPr>
          </a:p>
        </p:txBody>
      </p:sp>
      <p:sp>
        <p:nvSpPr>
          <p:cNvPr id="61" name="Rectangle 60"/>
          <p:cNvSpPr/>
          <p:nvPr/>
        </p:nvSpPr>
        <p:spPr>
          <a:xfrm>
            <a:off x="8943217" y="2348753"/>
            <a:ext cx="124120" cy="190500"/>
          </a:xfrm>
          <a:prstGeom prst="rect">
            <a:avLst/>
          </a:prstGeom>
          <a:solidFill>
            <a:srgbClr val="C0C0C0"/>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latin typeface="+mj-lt"/>
            </a:endParaRPr>
          </a:p>
        </p:txBody>
      </p:sp>
      <p:cxnSp>
        <p:nvCxnSpPr>
          <p:cNvPr id="62" name="Straight Arrow Connector 61"/>
          <p:cNvCxnSpPr>
            <a:endCxn id="56" idx="0"/>
          </p:cNvCxnSpPr>
          <p:nvPr/>
        </p:nvCxnSpPr>
        <p:spPr>
          <a:xfrm>
            <a:off x="8090093" y="2095800"/>
            <a:ext cx="255309" cy="25295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endCxn id="58" idx="0"/>
          </p:cNvCxnSpPr>
          <p:nvPr/>
        </p:nvCxnSpPr>
        <p:spPr>
          <a:xfrm flipH="1">
            <a:off x="8090093" y="2095800"/>
            <a:ext cx="255309" cy="25295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stCxn id="55" idx="2"/>
          </p:cNvCxnSpPr>
          <p:nvPr/>
        </p:nvCxnSpPr>
        <p:spPr>
          <a:xfrm flipH="1">
            <a:off x="8602871" y="2095800"/>
            <a:ext cx="411833" cy="25295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stCxn id="54" idx="2"/>
          </p:cNvCxnSpPr>
          <p:nvPr/>
        </p:nvCxnSpPr>
        <p:spPr>
          <a:xfrm>
            <a:off x="8745647" y="2095800"/>
            <a:ext cx="259630" cy="25295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Rectangle 65"/>
          <p:cNvSpPr/>
          <p:nvPr/>
        </p:nvSpPr>
        <p:spPr>
          <a:xfrm>
            <a:off x="8038244" y="2348753"/>
            <a:ext cx="493338" cy="190500"/>
          </a:xfrm>
          <a:prstGeom prst="rect">
            <a:avLst/>
          </a:prstGeom>
          <a:solidFill>
            <a:srgbClr val="FF0000"/>
          </a:solidFill>
          <a:ln w="9525">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100" dirty="0" smtClean="0">
                <a:solidFill>
                  <a:schemeClr val="bg1"/>
                </a:solidFill>
                <a:latin typeface="+mj-lt"/>
              </a:rPr>
              <a:t>L1</a:t>
            </a:r>
            <a:endParaRPr lang="en-US" sz="1100" dirty="0">
              <a:solidFill>
                <a:schemeClr val="bg1"/>
              </a:solidFill>
              <a:latin typeface="+mj-lt"/>
            </a:endParaRPr>
          </a:p>
        </p:txBody>
      </p:sp>
      <p:sp>
        <p:nvSpPr>
          <p:cNvPr id="67" name="Rectangle 66"/>
          <p:cNvSpPr/>
          <p:nvPr/>
        </p:nvSpPr>
        <p:spPr>
          <a:xfrm>
            <a:off x="8548076" y="2348753"/>
            <a:ext cx="528687" cy="190500"/>
          </a:xfrm>
          <a:prstGeom prst="rect">
            <a:avLst/>
          </a:prstGeom>
          <a:solidFill>
            <a:srgbClr val="00B050"/>
          </a:solidFill>
          <a:ln w="9525">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100" b="1" dirty="0" smtClean="0">
                <a:solidFill>
                  <a:schemeClr val="tx1"/>
                </a:solidFill>
                <a:latin typeface="+mj-lt"/>
              </a:rPr>
              <a:t>R1</a:t>
            </a:r>
            <a:endParaRPr lang="en-US" sz="1100" b="1" dirty="0">
              <a:solidFill>
                <a:schemeClr val="tx1"/>
              </a:solidFill>
              <a:latin typeface="+mj-lt"/>
            </a:endParaRPr>
          </a:p>
        </p:txBody>
      </p:sp>
      <p:sp>
        <p:nvSpPr>
          <p:cNvPr id="68" name="Rectangle 67"/>
          <p:cNvSpPr/>
          <p:nvPr/>
        </p:nvSpPr>
        <p:spPr>
          <a:xfrm>
            <a:off x="9838764" y="1853454"/>
            <a:ext cx="838200" cy="242346"/>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1100" dirty="0" smtClean="0">
                <a:latin typeface="+mj-lt"/>
              </a:rPr>
              <a:t>K</a:t>
            </a:r>
            <a:r>
              <a:rPr lang="en-US" sz="1100" baseline="-25000" dirty="0" smtClean="0">
                <a:latin typeface="+mj-lt"/>
              </a:rPr>
              <a:t>M</a:t>
            </a:r>
            <a:endParaRPr lang="en-US" sz="1100" baseline="-25000" dirty="0">
              <a:latin typeface="+mj-lt"/>
            </a:endParaRPr>
          </a:p>
        </p:txBody>
      </p:sp>
      <p:cxnSp>
        <p:nvCxnSpPr>
          <p:cNvPr id="69" name="Straight Connector 68"/>
          <p:cNvCxnSpPr>
            <a:stCxn id="68" idx="2"/>
          </p:cNvCxnSpPr>
          <p:nvPr/>
        </p:nvCxnSpPr>
        <p:spPr>
          <a:xfrm>
            <a:off x="10257864" y="2095800"/>
            <a:ext cx="0" cy="7482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a:stCxn id="74" idx="6"/>
          </p:cNvCxnSpPr>
          <p:nvPr/>
        </p:nvCxnSpPr>
        <p:spPr>
          <a:xfrm flipV="1">
            <a:off x="9381565" y="2844054"/>
            <a:ext cx="876299" cy="16300"/>
          </a:xfrm>
          <a:prstGeom prst="line">
            <a:avLst/>
          </a:prstGeom>
          <a:ln w="1905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71" name="Rectangle 70"/>
          <p:cNvSpPr/>
          <p:nvPr/>
        </p:nvSpPr>
        <p:spPr>
          <a:xfrm>
            <a:off x="9781613" y="2577353"/>
            <a:ext cx="419100" cy="190500"/>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1100" dirty="0" smtClean="0">
                <a:latin typeface="+mj-lt"/>
              </a:rPr>
              <a:t>K</a:t>
            </a:r>
            <a:r>
              <a:rPr lang="en-US" sz="1100" baseline="-25000" dirty="0">
                <a:latin typeface="+mj-lt"/>
              </a:rPr>
              <a:t>1</a:t>
            </a:r>
          </a:p>
        </p:txBody>
      </p:sp>
      <p:cxnSp>
        <p:nvCxnSpPr>
          <p:cNvPr id="72" name="Straight Connector 71"/>
          <p:cNvCxnSpPr/>
          <p:nvPr/>
        </p:nvCxnSpPr>
        <p:spPr>
          <a:xfrm>
            <a:off x="8488571" y="2539253"/>
            <a:ext cx="188242" cy="19050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flipH="1">
            <a:off x="8808787" y="2539253"/>
            <a:ext cx="3632" cy="19050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74" name="Oval 73"/>
          <p:cNvSpPr/>
          <p:nvPr/>
        </p:nvSpPr>
        <p:spPr>
          <a:xfrm>
            <a:off x="8301017" y="2729753"/>
            <a:ext cx="1080548" cy="261202"/>
          </a:xfrm>
          <a:prstGeom prst="ellipse">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smtClean="0">
                <a:latin typeface="+mj-lt"/>
              </a:rPr>
              <a:t>f(L1,R1,K1)</a:t>
            </a:r>
            <a:endParaRPr lang="en-US" sz="1000" b="1" dirty="0">
              <a:latin typeface="+mj-lt"/>
            </a:endParaRPr>
          </a:p>
        </p:txBody>
      </p:sp>
      <p:sp>
        <p:nvSpPr>
          <p:cNvPr id="75" name="Rectangle 74"/>
          <p:cNvSpPr/>
          <p:nvPr/>
        </p:nvSpPr>
        <p:spPr>
          <a:xfrm>
            <a:off x="8039030" y="3110753"/>
            <a:ext cx="493338" cy="190500"/>
          </a:xfrm>
          <a:prstGeom prst="rect">
            <a:avLst/>
          </a:prstGeom>
          <a:solidFill>
            <a:srgbClr val="00B050"/>
          </a:solidFill>
          <a:ln w="9525">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100" b="1" dirty="0" smtClean="0">
                <a:solidFill>
                  <a:schemeClr val="bg1"/>
                </a:solidFill>
                <a:latin typeface="+mj-lt"/>
              </a:rPr>
              <a:t>L2</a:t>
            </a:r>
            <a:endParaRPr lang="en-US" sz="1100" b="1" dirty="0">
              <a:solidFill>
                <a:schemeClr val="bg1"/>
              </a:solidFill>
              <a:latin typeface="+mj-lt"/>
            </a:endParaRPr>
          </a:p>
        </p:txBody>
      </p:sp>
      <p:sp>
        <p:nvSpPr>
          <p:cNvPr id="76" name="Rectangle 75"/>
          <p:cNvSpPr/>
          <p:nvPr/>
        </p:nvSpPr>
        <p:spPr>
          <a:xfrm>
            <a:off x="8548077" y="3110753"/>
            <a:ext cx="528687" cy="190500"/>
          </a:xfrm>
          <a:prstGeom prst="rect">
            <a:avLst/>
          </a:prstGeom>
          <a:solidFill>
            <a:srgbClr val="FFFF00"/>
          </a:solidFill>
          <a:ln w="9525">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100" b="1" dirty="0" smtClean="0">
                <a:solidFill>
                  <a:schemeClr val="tx1"/>
                </a:solidFill>
                <a:latin typeface="+mj-lt"/>
              </a:rPr>
              <a:t>R2</a:t>
            </a:r>
            <a:endParaRPr lang="en-US" sz="1100" b="1" dirty="0">
              <a:solidFill>
                <a:schemeClr val="tx1"/>
              </a:solidFill>
              <a:latin typeface="+mj-lt"/>
            </a:endParaRPr>
          </a:p>
        </p:txBody>
      </p:sp>
      <p:cxnSp>
        <p:nvCxnSpPr>
          <p:cNvPr id="77" name="Straight Connector 76"/>
          <p:cNvCxnSpPr/>
          <p:nvPr/>
        </p:nvCxnSpPr>
        <p:spPr>
          <a:xfrm flipH="1">
            <a:off x="8805155" y="2958942"/>
            <a:ext cx="3632" cy="151811"/>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flipH="1">
            <a:off x="8214997" y="2577353"/>
            <a:ext cx="590158" cy="95250"/>
          </a:xfrm>
          <a:prstGeom prst="line">
            <a:avLst/>
          </a:prstGeom>
          <a:ln w="19050">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8224424" y="2672603"/>
            <a:ext cx="0" cy="438150"/>
          </a:xfrm>
          <a:prstGeom prst="line">
            <a:avLst/>
          </a:prstGeom>
          <a:ln w="19050">
            <a:solidFill>
              <a:schemeClr val="tx1"/>
            </a:solidFill>
            <a:prstDash val="sysDot"/>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80" name="TextBox 79"/>
          <p:cNvSpPr txBox="1"/>
          <p:nvPr/>
        </p:nvSpPr>
        <p:spPr>
          <a:xfrm>
            <a:off x="7789578" y="1429888"/>
            <a:ext cx="1531927" cy="461665"/>
          </a:xfrm>
          <a:prstGeom prst="rect">
            <a:avLst/>
          </a:prstGeom>
          <a:noFill/>
        </p:spPr>
        <p:txBody>
          <a:bodyPr wrap="square" rtlCol="0">
            <a:spAutoFit/>
          </a:bodyPr>
          <a:lstStyle/>
          <a:p>
            <a:r>
              <a:rPr lang="en-US" sz="2400" dirty="0" smtClean="0">
                <a:solidFill>
                  <a:srgbClr val="0E3755"/>
                </a:solidFill>
                <a:latin typeface="+mj-lt"/>
              </a:rPr>
              <a:t>Input block</a:t>
            </a:r>
            <a:endParaRPr lang="en-US" sz="2400" dirty="0">
              <a:solidFill>
                <a:srgbClr val="0E3755"/>
              </a:solidFill>
              <a:latin typeface="+mj-lt"/>
            </a:endParaRPr>
          </a:p>
        </p:txBody>
      </p:sp>
      <p:sp>
        <p:nvSpPr>
          <p:cNvPr id="81" name="TextBox 80"/>
          <p:cNvSpPr txBox="1"/>
          <p:nvPr/>
        </p:nvSpPr>
        <p:spPr>
          <a:xfrm>
            <a:off x="9735067" y="1586752"/>
            <a:ext cx="1018097" cy="276999"/>
          </a:xfrm>
          <a:prstGeom prst="rect">
            <a:avLst/>
          </a:prstGeom>
          <a:noFill/>
        </p:spPr>
        <p:txBody>
          <a:bodyPr wrap="square" rtlCol="0">
            <a:spAutoFit/>
          </a:bodyPr>
          <a:lstStyle/>
          <a:p>
            <a:r>
              <a:rPr lang="en-US" sz="1200" dirty="0" smtClean="0">
                <a:latin typeface="+mj-lt"/>
              </a:rPr>
              <a:t>Master Key</a:t>
            </a:r>
            <a:endParaRPr lang="en-US" sz="1200" dirty="0">
              <a:latin typeface="+mj-lt"/>
            </a:endParaRPr>
          </a:p>
        </p:txBody>
      </p:sp>
      <p:sp>
        <p:nvSpPr>
          <p:cNvPr id="83" name="Rectangle 82"/>
          <p:cNvSpPr/>
          <p:nvPr/>
        </p:nvSpPr>
        <p:spPr>
          <a:xfrm>
            <a:off x="7071245" y="2338455"/>
            <a:ext cx="3377869" cy="990600"/>
          </a:xfrm>
          <a:prstGeom prst="rect">
            <a:avLst/>
          </a:prstGeom>
          <a:solidFill>
            <a:schemeClr val="bg1">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84" name="Rectangle 83"/>
          <p:cNvSpPr/>
          <p:nvPr/>
        </p:nvSpPr>
        <p:spPr>
          <a:xfrm>
            <a:off x="10433233" y="2348753"/>
            <a:ext cx="259836" cy="990600"/>
          </a:xfrm>
          <a:prstGeom prst="rect">
            <a:avLst/>
          </a:prstGeom>
          <a:solidFill>
            <a:srgbClr val="0E3755"/>
          </a:solidFill>
          <a:ln>
            <a:noFill/>
          </a:ln>
        </p:spPr>
        <p:style>
          <a:lnRef idx="2">
            <a:schemeClr val="accent4">
              <a:shade val="50000"/>
            </a:schemeClr>
          </a:lnRef>
          <a:fillRef idx="1">
            <a:schemeClr val="accent4"/>
          </a:fillRef>
          <a:effectRef idx="0">
            <a:schemeClr val="accent4"/>
          </a:effectRef>
          <a:fontRef idx="minor">
            <a:schemeClr val="lt1"/>
          </a:fontRef>
        </p:style>
        <p:txBody>
          <a:bodyPr vert="vert270" rtlCol="0" anchor="ctr"/>
          <a:lstStyle/>
          <a:p>
            <a:pPr algn="ctr"/>
            <a:r>
              <a:rPr lang="en-US" sz="1400" b="1" dirty="0" smtClean="0">
                <a:latin typeface="+mj-lt"/>
              </a:rPr>
              <a:t>Round 1</a:t>
            </a:r>
            <a:endParaRPr lang="en-US" sz="1400" b="1" dirty="0">
              <a:latin typeface="+mj-lt"/>
            </a:endParaRPr>
          </a:p>
        </p:txBody>
      </p:sp>
      <p:grpSp>
        <p:nvGrpSpPr>
          <p:cNvPr id="85" name="Group 84"/>
          <p:cNvGrpSpPr/>
          <p:nvPr/>
        </p:nvGrpSpPr>
        <p:grpSpPr>
          <a:xfrm>
            <a:off x="7028628" y="3488617"/>
            <a:ext cx="3701755" cy="991195"/>
            <a:chOff x="5237033" y="3276005"/>
            <a:chExt cx="3221167" cy="991195"/>
          </a:xfrm>
        </p:grpSpPr>
        <p:sp>
          <p:nvSpPr>
            <p:cNvPr id="86" name="Rectangle 85"/>
            <p:cNvSpPr/>
            <p:nvPr/>
          </p:nvSpPr>
          <p:spPr>
            <a:xfrm>
              <a:off x="5237033" y="3276005"/>
              <a:ext cx="2971800" cy="990600"/>
            </a:xfrm>
            <a:prstGeom prst="rect">
              <a:avLst/>
            </a:prstGeom>
            <a:solidFill>
              <a:schemeClr val="bg1">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87" name="Rectangle 86"/>
            <p:cNvSpPr/>
            <p:nvPr/>
          </p:nvSpPr>
          <p:spPr>
            <a:xfrm>
              <a:off x="8229600" y="3276600"/>
              <a:ext cx="228600" cy="990600"/>
            </a:xfrm>
            <a:prstGeom prst="rect">
              <a:avLst/>
            </a:prstGeom>
            <a:solidFill>
              <a:srgbClr val="0E3755"/>
            </a:solidFill>
            <a:ln>
              <a:noFill/>
            </a:ln>
          </p:spPr>
          <p:style>
            <a:lnRef idx="2">
              <a:schemeClr val="accent4">
                <a:shade val="50000"/>
              </a:schemeClr>
            </a:lnRef>
            <a:fillRef idx="1">
              <a:schemeClr val="accent4"/>
            </a:fillRef>
            <a:effectRef idx="0">
              <a:schemeClr val="accent4"/>
            </a:effectRef>
            <a:fontRef idx="minor">
              <a:schemeClr val="lt1"/>
            </a:fontRef>
          </p:style>
          <p:txBody>
            <a:bodyPr vert="vert270" rtlCol="0" anchor="ctr"/>
            <a:lstStyle/>
            <a:p>
              <a:pPr algn="ctr"/>
              <a:r>
                <a:rPr lang="en-US" sz="1400" b="1" dirty="0" smtClean="0">
                  <a:latin typeface="+mj-lt"/>
                </a:rPr>
                <a:t>Round 16</a:t>
              </a:r>
              <a:endParaRPr lang="en-US" sz="1400" b="1" dirty="0">
                <a:latin typeface="+mj-lt"/>
              </a:endParaRPr>
            </a:p>
          </p:txBody>
        </p:sp>
      </p:grpSp>
      <p:grpSp>
        <p:nvGrpSpPr>
          <p:cNvPr id="88" name="Group 87"/>
          <p:cNvGrpSpPr/>
          <p:nvPr/>
        </p:nvGrpSpPr>
        <p:grpSpPr>
          <a:xfrm>
            <a:off x="8046097" y="2476800"/>
            <a:ext cx="2219624" cy="2005553"/>
            <a:chOff x="5827333" y="3404647"/>
            <a:chExt cx="2219624" cy="2005553"/>
          </a:xfrm>
        </p:grpSpPr>
        <p:grpSp>
          <p:nvGrpSpPr>
            <p:cNvPr id="89" name="Group 88"/>
            <p:cNvGrpSpPr/>
            <p:nvPr/>
          </p:nvGrpSpPr>
          <p:grpSpPr>
            <a:xfrm>
              <a:off x="5828123" y="3404647"/>
              <a:ext cx="2218834" cy="2005553"/>
              <a:chOff x="5715000" y="3771900"/>
              <a:chExt cx="2218834" cy="2005553"/>
            </a:xfrm>
          </p:grpSpPr>
          <p:cxnSp>
            <p:nvCxnSpPr>
              <p:cNvPr id="92" name="Straight Connector 91"/>
              <p:cNvCxnSpPr/>
              <p:nvPr/>
            </p:nvCxnSpPr>
            <p:spPr>
              <a:xfrm>
                <a:off x="7924800" y="3771900"/>
                <a:ext cx="0" cy="15483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97" idx="6"/>
              </p:cNvCxnSpPr>
              <p:nvPr/>
            </p:nvCxnSpPr>
            <p:spPr>
              <a:xfrm>
                <a:off x="7388779" y="5291973"/>
                <a:ext cx="545055" cy="28280"/>
              </a:xfrm>
              <a:prstGeom prst="line">
                <a:avLst/>
              </a:prstGeom>
              <a:ln w="1905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94" name="Rectangle 93"/>
              <p:cNvSpPr/>
              <p:nvPr/>
            </p:nvSpPr>
            <p:spPr>
              <a:xfrm>
                <a:off x="7457583" y="5053553"/>
                <a:ext cx="419100" cy="190500"/>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1100" dirty="0" smtClean="0">
                    <a:latin typeface="+mj-lt"/>
                  </a:rPr>
                  <a:t>K</a:t>
                </a:r>
                <a:r>
                  <a:rPr lang="en-US" sz="1100" baseline="-25000" dirty="0" smtClean="0">
                    <a:latin typeface="+mj-lt"/>
                  </a:rPr>
                  <a:t>16</a:t>
                </a:r>
                <a:endParaRPr lang="en-US" sz="1100" baseline="-25000" dirty="0">
                  <a:latin typeface="+mj-lt"/>
                </a:endParaRPr>
              </a:p>
            </p:txBody>
          </p:sp>
          <p:cxnSp>
            <p:nvCxnSpPr>
              <p:cNvPr id="95" name="Straight Connector 94"/>
              <p:cNvCxnSpPr/>
              <p:nvPr/>
            </p:nvCxnSpPr>
            <p:spPr>
              <a:xfrm>
                <a:off x="6164541" y="5015453"/>
                <a:ext cx="188242" cy="19050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p:nvPr/>
            </p:nvCxnSpPr>
            <p:spPr>
              <a:xfrm flipH="1">
                <a:off x="6484757" y="5015453"/>
                <a:ext cx="3632" cy="19050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97" name="Oval 96"/>
              <p:cNvSpPr/>
              <p:nvPr/>
            </p:nvSpPr>
            <p:spPr>
              <a:xfrm>
                <a:off x="6024514" y="5148804"/>
                <a:ext cx="1364265" cy="286338"/>
              </a:xfrm>
              <a:prstGeom prst="ellipse">
                <a:avLst/>
              </a:prstGeom>
              <a:solidFill>
                <a:srgbClr val="1D9A78"/>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smtClean="0">
                    <a:latin typeface="+mj-lt"/>
                  </a:rPr>
                  <a:t>f(L16,R16,K16)</a:t>
                </a:r>
                <a:endParaRPr lang="en-US" sz="1000" b="1" dirty="0">
                  <a:latin typeface="+mj-lt"/>
                </a:endParaRPr>
              </a:p>
            </p:txBody>
          </p:sp>
          <p:sp>
            <p:nvSpPr>
              <p:cNvPr id="98" name="Rectangle 97"/>
              <p:cNvSpPr/>
              <p:nvPr/>
            </p:nvSpPr>
            <p:spPr>
              <a:xfrm>
                <a:off x="5715000" y="5586953"/>
                <a:ext cx="493338" cy="190500"/>
              </a:xfrm>
              <a:prstGeom prst="rect">
                <a:avLst/>
              </a:prstGeom>
              <a:solidFill>
                <a:srgbClr val="00B050"/>
              </a:solidFill>
              <a:ln w="9525">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100" dirty="0" smtClean="0">
                    <a:solidFill>
                      <a:schemeClr val="tx1"/>
                    </a:solidFill>
                    <a:latin typeface="+mj-lt"/>
                  </a:rPr>
                  <a:t>L16</a:t>
                </a:r>
                <a:endParaRPr lang="en-US" sz="1100" dirty="0">
                  <a:solidFill>
                    <a:schemeClr val="tx1"/>
                  </a:solidFill>
                  <a:latin typeface="+mj-lt"/>
                </a:endParaRPr>
              </a:p>
            </p:txBody>
          </p:sp>
          <p:sp>
            <p:nvSpPr>
              <p:cNvPr id="99" name="Rectangle 98"/>
              <p:cNvSpPr/>
              <p:nvPr/>
            </p:nvSpPr>
            <p:spPr>
              <a:xfrm>
                <a:off x="6224047" y="5586953"/>
                <a:ext cx="528687" cy="190500"/>
              </a:xfrm>
              <a:prstGeom prst="rect">
                <a:avLst/>
              </a:prstGeom>
              <a:solidFill>
                <a:schemeClr val="accent6">
                  <a:lumMod val="40000"/>
                  <a:lumOff val="60000"/>
                </a:schemeClr>
              </a:solidFill>
              <a:ln w="9525">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100" dirty="0" smtClean="0">
                    <a:solidFill>
                      <a:schemeClr val="tx1"/>
                    </a:solidFill>
                    <a:latin typeface="+mj-lt"/>
                  </a:rPr>
                  <a:t>R16</a:t>
                </a:r>
                <a:endParaRPr lang="en-US" sz="1100" dirty="0">
                  <a:solidFill>
                    <a:schemeClr val="tx1"/>
                  </a:solidFill>
                  <a:latin typeface="+mj-lt"/>
                </a:endParaRPr>
              </a:p>
            </p:txBody>
          </p:sp>
          <p:cxnSp>
            <p:nvCxnSpPr>
              <p:cNvPr id="100" name="Straight Connector 99"/>
              <p:cNvCxnSpPr/>
              <p:nvPr/>
            </p:nvCxnSpPr>
            <p:spPr>
              <a:xfrm flipH="1">
                <a:off x="6481125" y="5435142"/>
                <a:ext cx="3632" cy="151811"/>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a:xfrm flipH="1">
                <a:off x="5890967" y="5053553"/>
                <a:ext cx="590158" cy="95250"/>
              </a:xfrm>
              <a:prstGeom prst="line">
                <a:avLst/>
              </a:prstGeom>
              <a:ln w="19050">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a:xfrm>
                <a:off x="5900394" y="5148803"/>
                <a:ext cx="0" cy="438150"/>
              </a:xfrm>
              <a:prstGeom prst="line">
                <a:avLst/>
              </a:prstGeom>
              <a:ln w="19050">
                <a:solidFill>
                  <a:schemeClr val="tx1"/>
                </a:solidFill>
                <a:prstDash val="sysDot"/>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sp>
          <p:nvSpPr>
            <p:cNvPr id="90" name="Rectangle 89"/>
            <p:cNvSpPr/>
            <p:nvPr/>
          </p:nvSpPr>
          <p:spPr>
            <a:xfrm>
              <a:off x="5827333" y="4443953"/>
              <a:ext cx="493338" cy="190500"/>
            </a:xfrm>
            <a:prstGeom prst="rect">
              <a:avLst/>
            </a:prstGeom>
            <a:solidFill>
              <a:srgbClr val="C00000"/>
            </a:solidFill>
            <a:ln w="9525">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100" b="1" dirty="0" smtClean="0">
                  <a:solidFill>
                    <a:schemeClr val="bg1"/>
                  </a:solidFill>
                  <a:latin typeface="+mj-lt"/>
                </a:rPr>
                <a:t>L15</a:t>
              </a:r>
              <a:endParaRPr lang="en-US" sz="1100" b="1" dirty="0">
                <a:solidFill>
                  <a:schemeClr val="bg1"/>
                </a:solidFill>
                <a:latin typeface="+mj-lt"/>
              </a:endParaRPr>
            </a:p>
          </p:txBody>
        </p:sp>
        <p:sp>
          <p:nvSpPr>
            <p:cNvPr id="91" name="Rectangle 90"/>
            <p:cNvSpPr/>
            <p:nvPr/>
          </p:nvSpPr>
          <p:spPr>
            <a:xfrm>
              <a:off x="6319886" y="4443953"/>
              <a:ext cx="528687" cy="190500"/>
            </a:xfrm>
            <a:prstGeom prst="rect">
              <a:avLst/>
            </a:prstGeom>
            <a:solidFill>
              <a:srgbClr val="00B050"/>
            </a:solidFill>
            <a:ln w="9525">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100" b="1" dirty="0" smtClean="0">
                  <a:solidFill>
                    <a:schemeClr val="bg1"/>
                  </a:solidFill>
                  <a:latin typeface="+mj-lt"/>
                </a:rPr>
                <a:t>R15</a:t>
              </a:r>
              <a:endParaRPr lang="en-US" sz="1100" b="1" dirty="0">
                <a:solidFill>
                  <a:schemeClr val="bg1"/>
                </a:solidFill>
                <a:latin typeface="+mj-lt"/>
              </a:endParaRPr>
            </a:p>
          </p:txBody>
        </p:sp>
      </p:grpSp>
      <p:grpSp>
        <p:nvGrpSpPr>
          <p:cNvPr id="103" name="Group 102"/>
          <p:cNvGrpSpPr/>
          <p:nvPr/>
        </p:nvGrpSpPr>
        <p:grpSpPr>
          <a:xfrm>
            <a:off x="8052777" y="4455459"/>
            <a:ext cx="1038520" cy="334651"/>
            <a:chOff x="5834013" y="5410200"/>
            <a:chExt cx="1038520" cy="334651"/>
          </a:xfrm>
        </p:grpSpPr>
        <p:grpSp>
          <p:nvGrpSpPr>
            <p:cNvPr id="104" name="Group 103"/>
            <p:cNvGrpSpPr/>
            <p:nvPr/>
          </p:nvGrpSpPr>
          <p:grpSpPr>
            <a:xfrm>
              <a:off x="5834013" y="5554351"/>
              <a:ext cx="1038520" cy="190500"/>
              <a:chOff x="5971880" y="6057900"/>
              <a:chExt cx="1038520" cy="190500"/>
            </a:xfrm>
          </p:grpSpPr>
          <p:sp>
            <p:nvSpPr>
              <p:cNvPr id="110" name="Rectangle 109"/>
              <p:cNvSpPr/>
              <p:nvPr/>
            </p:nvSpPr>
            <p:spPr>
              <a:xfrm>
                <a:off x="5971880" y="6057900"/>
                <a:ext cx="124120" cy="190500"/>
              </a:xfrm>
              <a:prstGeom prst="rect">
                <a:avLst/>
              </a:prstGeom>
              <a:solidFill>
                <a:srgbClr val="FF0000"/>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latin typeface="+mj-lt"/>
                </a:endParaRPr>
              </a:p>
            </p:txBody>
          </p:sp>
          <p:sp>
            <p:nvSpPr>
              <p:cNvPr id="111" name="Rectangle 110"/>
              <p:cNvSpPr/>
              <p:nvPr/>
            </p:nvSpPr>
            <p:spPr>
              <a:xfrm>
                <a:off x="6096000" y="6057900"/>
                <a:ext cx="124120" cy="190500"/>
              </a:xfrm>
              <a:prstGeom prst="rect">
                <a:avLst/>
              </a:prstGeom>
              <a:solidFill>
                <a:srgbClr val="0070C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latin typeface="+mj-lt"/>
                </a:endParaRPr>
              </a:p>
            </p:txBody>
          </p:sp>
          <p:sp>
            <p:nvSpPr>
              <p:cNvPr id="112" name="Rectangle 111"/>
              <p:cNvSpPr/>
              <p:nvPr/>
            </p:nvSpPr>
            <p:spPr>
              <a:xfrm>
                <a:off x="6220120" y="6057900"/>
                <a:ext cx="124120" cy="190500"/>
              </a:xfrm>
              <a:prstGeom prst="rect">
                <a:avLst/>
              </a:prstGeom>
              <a:solidFill>
                <a:schemeClr val="tx1">
                  <a:lumMod val="75000"/>
                  <a:lumOff val="25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latin typeface="+mj-lt"/>
                </a:endParaRPr>
              </a:p>
            </p:txBody>
          </p:sp>
          <p:sp>
            <p:nvSpPr>
              <p:cNvPr id="113" name="Rectangle 112"/>
              <p:cNvSpPr/>
              <p:nvPr/>
            </p:nvSpPr>
            <p:spPr>
              <a:xfrm>
                <a:off x="6350525" y="6057900"/>
                <a:ext cx="124120" cy="190500"/>
              </a:xfrm>
              <a:prstGeom prst="rect">
                <a:avLst/>
              </a:prstGeom>
              <a:solidFill>
                <a:schemeClr val="accent5">
                  <a:lumMod val="75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latin typeface="+mj-lt"/>
                </a:endParaRPr>
              </a:p>
            </p:txBody>
          </p:sp>
          <p:sp>
            <p:nvSpPr>
              <p:cNvPr id="114" name="Rectangle 113"/>
              <p:cNvSpPr/>
              <p:nvPr/>
            </p:nvSpPr>
            <p:spPr>
              <a:xfrm>
                <a:off x="6481713" y="6057900"/>
                <a:ext cx="395140" cy="190500"/>
              </a:xfrm>
              <a:prstGeom prst="rect">
                <a:avLst/>
              </a:prstGeom>
              <a:noFill/>
              <a:ln w="3175">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smtClean="0">
                    <a:latin typeface="+mj-lt"/>
                  </a:rPr>
                  <a:t>...</a:t>
                </a:r>
                <a:endParaRPr lang="en-US" dirty="0">
                  <a:latin typeface="+mj-lt"/>
                </a:endParaRPr>
              </a:p>
            </p:txBody>
          </p:sp>
          <p:sp>
            <p:nvSpPr>
              <p:cNvPr id="115" name="Rectangle 114"/>
              <p:cNvSpPr/>
              <p:nvPr/>
            </p:nvSpPr>
            <p:spPr>
              <a:xfrm>
                <a:off x="6886280" y="6057900"/>
                <a:ext cx="124120" cy="190500"/>
              </a:xfrm>
              <a:prstGeom prst="rect">
                <a:avLst/>
              </a:prstGeom>
              <a:solidFill>
                <a:schemeClr val="accent3">
                  <a:lumMod val="5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latin typeface="+mj-lt"/>
                </a:endParaRPr>
              </a:p>
            </p:txBody>
          </p:sp>
        </p:grpSp>
        <p:grpSp>
          <p:nvGrpSpPr>
            <p:cNvPr id="105" name="Group 104"/>
            <p:cNvGrpSpPr/>
            <p:nvPr/>
          </p:nvGrpSpPr>
          <p:grpSpPr>
            <a:xfrm>
              <a:off x="5863867" y="5410200"/>
              <a:ext cx="1001990" cy="126476"/>
              <a:chOff x="6023729" y="5995447"/>
              <a:chExt cx="924611" cy="252953"/>
            </a:xfrm>
          </p:grpSpPr>
          <p:cxnSp>
            <p:nvCxnSpPr>
              <p:cNvPr id="106" name="Straight Arrow Connector 105"/>
              <p:cNvCxnSpPr/>
              <p:nvPr/>
            </p:nvCxnSpPr>
            <p:spPr>
              <a:xfrm>
                <a:off x="6023729" y="5995447"/>
                <a:ext cx="255309" cy="25295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7" name="Straight Arrow Connector 106"/>
              <p:cNvCxnSpPr/>
              <p:nvPr/>
            </p:nvCxnSpPr>
            <p:spPr>
              <a:xfrm flipH="1">
                <a:off x="6023729" y="5995447"/>
                <a:ext cx="255309" cy="25295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8" name="Straight Arrow Connector 107"/>
              <p:cNvCxnSpPr/>
              <p:nvPr/>
            </p:nvCxnSpPr>
            <p:spPr>
              <a:xfrm flipH="1">
                <a:off x="6536507" y="5995447"/>
                <a:ext cx="411833" cy="25295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9" name="Straight Arrow Connector 108"/>
              <p:cNvCxnSpPr/>
              <p:nvPr/>
            </p:nvCxnSpPr>
            <p:spPr>
              <a:xfrm>
                <a:off x="6679283" y="5995447"/>
                <a:ext cx="259630" cy="25295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sp>
        <p:nvSpPr>
          <p:cNvPr id="116" name="TextBox 115"/>
          <p:cNvSpPr txBox="1"/>
          <p:nvPr/>
        </p:nvSpPr>
        <p:spPr>
          <a:xfrm>
            <a:off x="7598229" y="4988859"/>
            <a:ext cx="3107682" cy="461665"/>
          </a:xfrm>
          <a:prstGeom prst="rect">
            <a:avLst/>
          </a:prstGeom>
          <a:noFill/>
        </p:spPr>
        <p:txBody>
          <a:bodyPr wrap="square" rtlCol="0">
            <a:spAutoFit/>
          </a:bodyPr>
          <a:lstStyle/>
          <a:p>
            <a:r>
              <a:rPr lang="en-US" sz="2400" dirty="0" smtClean="0">
                <a:solidFill>
                  <a:schemeClr val="accent6"/>
                </a:solidFill>
                <a:latin typeface="+mj-lt"/>
              </a:rPr>
              <a:t>Encrypted output block</a:t>
            </a:r>
            <a:endParaRPr lang="en-US" sz="2400" dirty="0">
              <a:solidFill>
                <a:schemeClr val="accent6"/>
              </a:solidFill>
              <a:latin typeface="+mj-lt"/>
            </a:endParaRPr>
          </a:p>
        </p:txBody>
      </p:sp>
      <p:grpSp>
        <p:nvGrpSpPr>
          <p:cNvPr id="117" name="Group 116"/>
          <p:cNvGrpSpPr/>
          <p:nvPr/>
        </p:nvGrpSpPr>
        <p:grpSpPr>
          <a:xfrm>
            <a:off x="8262459" y="3339353"/>
            <a:ext cx="671267" cy="176753"/>
            <a:chOff x="6043695" y="4267200"/>
            <a:chExt cx="671267" cy="176753"/>
          </a:xfrm>
        </p:grpSpPr>
        <p:cxnSp>
          <p:nvCxnSpPr>
            <p:cNvPr id="118" name="Straight Connector 117"/>
            <p:cNvCxnSpPr/>
            <p:nvPr/>
          </p:nvCxnSpPr>
          <p:spPr>
            <a:xfrm>
              <a:off x="6714962" y="4267200"/>
              <a:ext cx="0" cy="176753"/>
            </a:xfrm>
            <a:prstGeom prst="line">
              <a:avLst/>
            </a:prstGeom>
            <a:ln w="19050">
              <a:solidFill>
                <a:schemeClr val="tx1"/>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9" name="Straight Connector 118"/>
            <p:cNvCxnSpPr/>
            <p:nvPr/>
          </p:nvCxnSpPr>
          <p:spPr>
            <a:xfrm>
              <a:off x="6458049" y="4267200"/>
              <a:ext cx="0" cy="176753"/>
            </a:xfrm>
            <a:prstGeom prst="line">
              <a:avLst/>
            </a:prstGeom>
            <a:ln w="19050">
              <a:solidFill>
                <a:schemeClr val="tx1"/>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0" name="Straight Connector 119"/>
            <p:cNvCxnSpPr/>
            <p:nvPr/>
          </p:nvCxnSpPr>
          <p:spPr>
            <a:xfrm>
              <a:off x="6245980" y="4267200"/>
              <a:ext cx="0" cy="176753"/>
            </a:xfrm>
            <a:prstGeom prst="line">
              <a:avLst/>
            </a:prstGeom>
            <a:ln w="19050">
              <a:solidFill>
                <a:schemeClr val="tx1"/>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a:off x="6043695" y="4267200"/>
              <a:ext cx="0" cy="176753"/>
            </a:xfrm>
            <a:prstGeom prst="line">
              <a:avLst/>
            </a:prstGeom>
            <a:ln w="19050">
              <a:solidFill>
                <a:schemeClr val="tx1"/>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13241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9">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9">
                                            <p:txEl>
                                              <p:pRg st="1" end="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9">
                                            <p:txEl>
                                              <p:pRg st="2" end="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9">
                                            <p:txEl>
                                              <p:pRg st="3" end="3"/>
                                            </p:txEl>
                                          </p:spTgt>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9">
                                            <p:txEl>
                                              <p:pRg st="4" end="4"/>
                                            </p:txEl>
                                          </p:spTgt>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69"/>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70"/>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71"/>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49">
                                            <p:txEl>
                                              <p:pRg st="5" end="5"/>
                                            </p:txEl>
                                          </p:spTgt>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77"/>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76"/>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74"/>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72"/>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73"/>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49">
                                            <p:txEl>
                                              <p:pRg st="6" end="6"/>
                                            </p:txEl>
                                          </p:spTgt>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78"/>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79"/>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75"/>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85"/>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117"/>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88"/>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0"/>
                                          </p:stCondLst>
                                        </p:cTn>
                                        <p:tgtEl>
                                          <p:spTgt spid="49">
                                            <p:txEl>
                                              <p:pRg st="7" end="7"/>
                                            </p:txEl>
                                          </p:spTgt>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nodeType="clickEffect">
                                  <p:stCondLst>
                                    <p:cond delay="0"/>
                                  </p:stCondLst>
                                  <p:childTnLst>
                                    <p:set>
                                      <p:cBhvr>
                                        <p:cTn id="112" dur="1" fill="hold">
                                          <p:stCondLst>
                                            <p:cond delay="0"/>
                                          </p:stCondLst>
                                        </p:cTn>
                                        <p:tgtEl>
                                          <p:spTgt spid="103"/>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1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6" grpId="0" animBg="1"/>
      <p:bldP spid="67" grpId="0" animBg="1"/>
      <p:bldP spid="68" grpId="0" animBg="1"/>
      <p:bldP spid="71" grpId="0" animBg="1"/>
      <p:bldP spid="74" grpId="0" animBg="1"/>
      <p:bldP spid="75" grpId="0" animBg="1"/>
      <p:bldP spid="76" grpId="0" animBg="1"/>
      <p:bldP spid="80" grpId="0"/>
      <p:bldP spid="81" grpId="0"/>
      <p:bldP spid="11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RSA protocol</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dirty="0"/>
              <a:t>Sender uses a public key : Advertised to everyone</a:t>
            </a:r>
          </a:p>
          <a:p>
            <a:r>
              <a:rPr lang="en-US" dirty="0"/>
              <a:t>Receiver uses a private key</a:t>
            </a:r>
          </a:p>
          <a:p>
            <a:endParaRPr lang="en-US" sz="2400" dirty="0"/>
          </a:p>
        </p:txBody>
      </p:sp>
      <p:sp>
        <p:nvSpPr>
          <p:cNvPr id="4" name="Oval 4"/>
          <p:cNvSpPr>
            <a:spLocks noChangeArrowheads="1"/>
          </p:cNvSpPr>
          <p:nvPr/>
        </p:nvSpPr>
        <p:spPr bwMode="auto">
          <a:xfrm>
            <a:off x="1822327" y="3632107"/>
            <a:ext cx="1593226" cy="773112"/>
          </a:xfrm>
          <a:prstGeom prst="ellipse">
            <a:avLst/>
          </a:prstGeom>
          <a:solidFill>
            <a:srgbClr val="0E3755"/>
          </a:solidFill>
          <a:ln w="12700">
            <a:noFill/>
            <a:round/>
            <a:headEnd/>
            <a:tailEnd/>
          </a:ln>
          <a:effectLst/>
          <a:extLst/>
        </p:spPr>
        <p:txBody>
          <a:bodyPr wrap="none" lIns="83527" tIns="41031" rIns="83527" bIns="41031" anchor="ctr"/>
          <a:lstStyle/>
          <a:p>
            <a:pPr>
              <a:defRPr/>
            </a:pPr>
            <a:endParaRPr lang="en-US" sz="2215">
              <a:solidFill>
                <a:schemeClr val="bg1"/>
              </a:solidFill>
              <a:latin typeface="+mj-lt"/>
              <a:ea typeface="ＭＳ Ｐゴシック" panose="020B0600070205080204" pitchFamily="34" charset="-128"/>
            </a:endParaRPr>
          </a:p>
        </p:txBody>
      </p:sp>
      <p:grpSp>
        <p:nvGrpSpPr>
          <p:cNvPr id="5" name="Group 5"/>
          <p:cNvGrpSpPr>
            <a:grpSpLocks/>
          </p:cNvGrpSpPr>
          <p:nvPr/>
        </p:nvGrpSpPr>
        <p:grpSpPr bwMode="auto">
          <a:xfrm>
            <a:off x="3796553" y="3490819"/>
            <a:ext cx="3048000" cy="1406525"/>
            <a:chOff x="1719" y="1709"/>
            <a:chExt cx="1775" cy="1123"/>
          </a:xfrm>
          <a:solidFill>
            <a:schemeClr val="bg1">
              <a:lumMod val="95000"/>
            </a:schemeClr>
          </a:solidFill>
        </p:grpSpPr>
        <p:sp>
          <p:nvSpPr>
            <p:cNvPr id="6" name="Oval 6"/>
            <p:cNvSpPr>
              <a:spLocks noChangeArrowheads="1"/>
            </p:cNvSpPr>
            <p:nvPr/>
          </p:nvSpPr>
          <p:spPr bwMode="auto">
            <a:xfrm>
              <a:off x="2109" y="1709"/>
              <a:ext cx="736" cy="345"/>
            </a:xfrm>
            <a:prstGeom prst="ellipse">
              <a:avLst/>
            </a:prstGeom>
            <a:grp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2215">
                <a:latin typeface="+mj-lt"/>
                <a:ea typeface="ＭＳ Ｐゴシック" panose="020B0600070205080204" pitchFamily="34" charset="-128"/>
              </a:endParaRPr>
            </a:p>
          </p:txBody>
        </p:sp>
        <p:sp>
          <p:nvSpPr>
            <p:cNvPr id="7" name="Oval 7"/>
            <p:cNvSpPr>
              <a:spLocks noChangeArrowheads="1"/>
            </p:cNvSpPr>
            <p:nvPr/>
          </p:nvSpPr>
          <p:spPr bwMode="auto">
            <a:xfrm>
              <a:off x="2542" y="1752"/>
              <a:ext cx="692" cy="346"/>
            </a:xfrm>
            <a:prstGeom prst="ellipse">
              <a:avLst/>
            </a:prstGeom>
            <a:grp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2215">
                <a:latin typeface="+mj-lt"/>
                <a:ea typeface="ＭＳ Ｐゴシック" panose="020B0600070205080204" pitchFamily="34" charset="-128"/>
              </a:endParaRPr>
            </a:p>
          </p:txBody>
        </p:sp>
        <p:sp>
          <p:nvSpPr>
            <p:cNvPr id="8" name="Oval 8"/>
            <p:cNvSpPr>
              <a:spLocks noChangeArrowheads="1"/>
            </p:cNvSpPr>
            <p:nvPr/>
          </p:nvSpPr>
          <p:spPr bwMode="auto">
            <a:xfrm>
              <a:off x="2715" y="1924"/>
              <a:ext cx="692" cy="346"/>
            </a:xfrm>
            <a:prstGeom prst="ellipse">
              <a:avLst/>
            </a:prstGeom>
            <a:grp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4533" tIns="42267" rIns="84533" bIns="42267" anchor="ctr"/>
            <a:lstStyle>
              <a:lvl1pPr defTabSz="915988">
                <a:defRPr sz="2400">
                  <a:solidFill>
                    <a:schemeClr val="tx1"/>
                  </a:solidFill>
                  <a:latin typeface="Times New Roman" panose="02020603050405020304" pitchFamily="18" charset="0"/>
                  <a:ea typeface="ＭＳ Ｐゴシック" panose="020B0600070205080204" pitchFamily="34" charset="-128"/>
                </a:defRPr>
              </a:lvl1pPr>
              <a:lvl2pPr defTabSz="915988">
                <a:defRPr sz="2400">
                  <a:solidFill>
                    <a:schemeClr val="tx1"/>
                  </a:solidFill>
                  <a:latin typeface="Times New Roman" panose="02020603050405020304" pitchFamily="18" charset="0"/>
                  <a:ea typeface="ＭＳ Ｐゴシック" panose="020B0600070205080204" pitchFamily="34" charset="-128"/>
                </a:defRPr>
              </a:lvl2pPr>
              <a:lvl3pPr marL="915988" defTabSz="915988">
                <a:defRPr sz="2400">
                  <a:solidFill>
                    <a:schemeClr val="tx1"/>
                  </a:solidFill>
                  <a:latin typeface="Times New Roman" panose="02020603050405020304" pitchFamily="18" charset="0"/>
                  <a:ea typeface="ＭＳ Ｐゴシック" panose="020B0600070205080204" pitchFamily="34" charset="-128"/>
                </a:defRPr>
              </a:lvl3pPr>
              <a:lvl4pPr marL="1373188" defTabSz="915988">
                <a:defRPr sz="2400">
                  <a:solidFill>
                    <a:schemeClr val="tx1"/>
                  </a:solidFill>
                  <a:latin typeface="Times New Roman" panose="02020603050405020304" pitchFamily="18" charset="0"/>
                  <a:ea typeface="ＭＳ Ｐゴシック" panose="020B0600070205080204" pitchFamily="34" charset="-128"/>
                </a:defRPr>
              </a:lvl4pPr>
              <a:lvl5pPr marL="1831975" defTabSz="915988">
                <a:defRPr sz="2400">
                  <a:solidFill>
                    <a:schemeClr val="tx1"/>
                  </a:solidFill>
                  <a:latin typeface="Times New Roman" panose="02020603050405020304" pitchFamily="18" charset="0"/>
                  <a:ea typeface="ＭＳ Ｐゴシック" panose="020B0600070205080204" pitchFamily="34" charset="-128"/>
                </a:defRPr>
              </a:lvl5pPr>
              <a:lvl6pPr marL="2289175" defTabSz="915988"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746375" defTabSz="915988"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203575" defTabSz="915988"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660775" defTabSz="915988"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eaLnBrk="1" hangingPunct="1">
                <a:defRPr/>
              </a:pPr>
              <a:endParaRPr lang="en-US" altLang="en-US" sz="1846" smtClean="0">
                <a:latin typeface="+mj-lt"/>
              </a:endParaRPr>
            </a:p>
          </p:txBody>
        </p:sp>
        <p:sp>
          <p:nvSpPr>
            <p:cNvPr id="9" name="Oval 9"/>
            <p:cNvSpPr>
              <a:spLocks noChangeArrowheads="1"/>
            </p:cNvSpPr>
            <p:nvPr/>
          </p:nvSpPr>
          <p:spPr bwMode="auto">
            <a:xfrm>
              <a:off x="2801" y="2141"/>
              <a:ext cx="693" cy="518"/>
            </a:xfrm>
            <a:prstGeom prst="ellipse">
              <a:avLst/>
            </a:prstGeom>
            <a:grp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4533" tIns="42267" rIns="84533" bIns="42267" anchor="ctr"/>
            <a:lstStyle>
              <a:lvl1pPr defTabSz="915988">
                <a:defRPr sz="2400">
                  <a:solidFill>
                    <a:schemeClr val="tx1"/>
                  </a:solidFill>
                  <a:latin typeface="Times New Roman" panose="02020603050405020304" pitchFamily="18" charset="0"/>
                  <a:ea typeface="ＭＳ Ｐゴシック" panose="020B0600070205080204" pitchFamily="34" charset="-128"/>
                </a:defRPr>
              </a:lvl1pPr>
              <a:lvl2pPr defTabSz="915988">
                <a:defRPr sz="2400">
                  <a:solidFill>
                    <a:schemeClr val="tx1"/>
                  </a:solidFill>
                  <a:latin typeface="Times New Roman" panose="02020603050405020304" pitchFamily="18" charset="0"/>
                  <a:ea typeface="ＭＳ Ｐゴシック" panose="020B0600070205080204" pitchFamily="34" charset="-128"/>
                </a:defRPr>
              </a:lvl2pPr>
              <a:lvl3pPr marL="915988" defTabSz="915988">
                <a:defRPr sz="2400">
                  <a:solidFill>
                    <a:schemeClr val="tx1"/>
                  </a:solidFill>
                  <a:latin typeface="Times New Roman" panose="02020603050405020304" pitchFamily="18" charset="0"/>
                  <a:ea typeface="ＭＳ Ｐゴシック" panose="020B0600070205080204" pitchFamily="34" charset="-128"/>
                </a:defRPr>
              </a:lvl3pPr>
              <a:lvl4pPr marL="1373188" defTabSz="915988">
                <a:defRPr sz="2400">
                  <a:solidFill>
                    <a:schemeClr val="tx1"/>
                  </a:solidFill>
                  <a:latin typeface="Times New Roman" panose="02020603050405020304" pitchFamily="18" charset="0"/>
                  <a:ea typeface="ＭＳ Ｐゴシック" panose="020B0600070205080204" pitchFamily="34" charset="-128"/>
                </a:defRPr>
              </a:lvl4pPr>
              <a:lvl5pPr marL="1831975" defTabSz="915988">
                <a:defRPr sz="2400">
                  <a:solidFill>
                    <a:schemeClr val="tx1"/>
                  </a:solidFill>
                  <a:latin typeface="Times New Roman" panose="02020603050405020304" pitchFamily="18" charset="0"/>
                  <a:ea typeface="ＭＳ Ｐゴシック" panose="020B0600070205080204" pitchFamily="34" charset="-128"/>
                </a:defRPr>
              </a:lvl5pPr>
              <a:lvl6pPr marL="2289175" defTabSz="915988"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746375" defTabSz="915988"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203575" defTabSz="915988"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660775" defTabSz="915988"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eaLnBrk="1" hangingPunct="1">
                <a:defRPr/>
              </a:pPr>
              <a:endParaRPr lang="en-US" altLang="en-US" sz="1846" smtClean="0">
                <a:latin typeface="+mj-lt"/>
              </a:endParaRPr>
            </a:p>
          </p:txBody>
        </p:sp>
        <p:sp>
          <p:nvSpPr>
            <p:cNvPr id="10" name="Oval 10"/>
            <p:cNvSpPr>
              <a:spLocks noChangeArrowheads="1"/>
            </p:cNvSpPr>
            <p:nvPr/>
          </p:nvSpPr>
          <p:spPr bwMode="auto">
            <a:xfrm>
              <a:off x="2412" y="2271"/>
              <a:ext cx="692" cy="561"/>
            </a:xfrm>
            <a:prstGeom prst="ellipse">
              <a:avLst/>
            </a:prstGeom>
            <a:grp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4533" tIns="42267" rIns="84533" bIns="42267" anchor="ctr"/>
            <a:lstStyle>
              <a:lvl1pPr defTabSz="915988">
                <a:defRPr sz="2400">
                  <a:solidFill>
                    <a:schemeClr val="tx1"/>
                  </a:solidFill>
                  <a:latin typeface="Times New Roman" panose="02020603050405020304" pitchFamily="18" charset="0"/>
                  <a:ea typeface="ＭＳ Ｐゴシック" panose="020B0600070205080204" pitchFamily="34" charset="-128"/>
                </a:defRPr>
              </a:lvl1pPr>
              <a:lvl2pPr defTabSz="915988">
                <a:defRPr sz="2400">
                  <a:solidFill>
                    <a:schemeClr val="tx1"/>
                  </a:solidFill>
                  <a:latin typeface="Times New Roman" panose="02020603050405020304" pitchFamily="18" charset="0"/>
                  <a:ea typeface="ＭＳ Ｐゴシック" panose="020B0600070205080204" pitchFamily="34" charset="-128"/>
                </a:defRPr>
              </a:lvl2pPr>
              <a:lvl3pPr marL="915988" defTabSz="915988">
                <a:defRPr sz="2400">
                  <a:solidFill>
                    <a:schemeClr val="tx1"/>
                  </a:solidFill>
                  <a:latin typeface="Times New Roman" panose="02020603050405020304" pitchFamily="18" charset="0"/>
                  <a:ea typeface="ＭＳ Ｐゴシック" panose="020B0600070205080204" pitchFamily="34" charset="-128"/>
                </a:defRPr>
              </a:lvl3pPr>
              <a:lvl4pPr marL="1373188" defTabSz="915988">
                <a:defRPr sz="2400">
                  <a:solidFill>
                    <a:schemeClr val="tx1"/>
                  </a:solidFill>
                  <a:latin typeface="Times New Roman" panose="02020603050405020304" pitchFamily="18" charset="0"/>
                  <a:ea typeface="ＭＳ Ｐゴシック" panose="020B0600070205080204" pitchFamily="34" charset="-128"/>
                </a:defRPr>
              </a:lvl4pPr>
              <a:lvl5pPr marL="1831975" defTabSz="915988">
                <a:defRPr sz="2400">
                  <a:solidFill>
                    <a:schemeClr val="tx1"/>
                  </a:solidFill>
                  <a:latin typeface="Times New Roman" panose="02020603050405020304" pitchFamily="18" charset="0"/>
                  <a:ea typeface="ＭＳ Ｐゴシック" panose="020B0600070205080204" pitchFamily="34" charset="-128"/>
                </a:defRPr>
              </a:lvl5pPr>
              <a:lvl6pPr marL="2289175" defTabSz="915988"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746375" defTabSz="915988"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203575" defTabSz="915988"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660775" defTabSz="915988"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eaLnBrk="1" hangingPunct="1">
                <a:defRPr/>
              </a:pPr>
              <a:endParaRPr lang="en-US" altLang="en-US" sz="1846" smtClean="0">
                <a:latin typeface="+mj-lt"/>
              </a:endParaRPr>
            </a:p>
          </p:txBody>
        </p:sp>
        <p:sp>
          <p:nvSpPr>
            <p:cNvPr id="11" name="Oval 11"/>
            <p:cNvSpPr>
              <a:spLocks noChangeArrowheads="1"/>
            </p:cNvSpPr>
            <p:nvPr/>
          </p:nvSpPr>
          <p:spPr bwMode="auto">
            <a:xfrm>
              <a:off x="1935" y="2141"/>
              <a:ext cx="692" cy="648"/>
            </a:xfrm>
            <a:prstGeom prst="ellipse">
              <a:avLst/>
            </a:prstGeom>
            <a:grp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4533" tIns="42267" rIns="84533" bIns="42267" anchor="ctr"/>
            <a:lstStyle>
              <a:lvl1pPr defTabSz="915988">
                <a:defRPr sz="2400">
                  <a:solidFill>
                    <a:schemeClr val="tx1"/>
                  </a:solidFill>
                  <a:latin typeface="Times New Roman" panose="02020603050405020304" pitchFamily="18" charset="0"/>
                  <a:ea typeface="ＭＳ Ｐゴシック" panose="020B0600070205080204" pitchFamily="34" charset="-128"/>
                </a:defRPr>
              </a:lvl1pPr>
              <a:lvl2pPr defTabSz="915988">
                <a:defRPr sz="2400">
                  <a:solidFill>
                    <a:schemeClr val="tx1"/>
                  </a:solidFill>
                  <a:latin typeface="Times New Roman" panose="02020603050405020304" pitchFamily="18" charset="0"/>
                  <a:ea typeface="ＭＳ Ｐゴシック" panose="020B0600070205080204" pitchFamily="34" charset="-128"/>
                </a:defRPr>
              </a:lvl2pPr>
              <a:lvl3pPr marL="915988" defTabSz="915988">
                <a:defRPr sz="2400">
                  <a:solidFill>
                    <a:schemeClr val="tx1"/>
                  </a:solidFill>
                  <a:latin typeface="Times New Roman" panose="02020603050405020304" pitchFamily="18" charset="0"/>
                  <a:ea typeface="ＭＳ Ｐゴシック" panose="020B0600070205080204" pitchFamily="34" charset="-128"/>
                </a:defRPr>
              </a:lvl3pPr>
              <a:lvl4pPr marL="1373188" defTabSz="915988">
                <a:defRPr sz="2400">
                  <a:solidFill>
                    <a:schemeClr val="tx1"/>
                  </a:solidFill>
                  <a:latin typeface="Times New Roman" panose="02020603050405020304" pitchFamily="18" charset="0"/>
                  <a:ea typeface="ＭＳ Ｐゴシック" panose="020B0600070205080204" pitchFamily="34" charset="-128"/>
                </a:defRPr>
              </a:lvl4pPr>
              <a:lvl5pPr marL="1831975" defTabSz="915988">
                <a:defRPr sz="2400">
                  <a:solidFill>
                    <a:schemeClr val="tx1"/>
                  </a:solidFill>
                  <a:latin typeface="Times New Roman" panose="02020603050405020304" pitchFamily="18" charset="0"/>
                  <a:ea typeface="ＭＳ Ｐゴシック" panose="020B0600070205080204" pitchFamily="34" charset="-128"/>
                </a:defRPr>
              </a:lvl5pPr>
              <a:lvl6pPr marL="2289175" defTabSz="915988"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746375" defTabSz="915988"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203575" defTabSz="915988"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660775" defTabSz="915988"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eaLnBrk="1" hangingPunct="1">
                <a:defRPr/>
              </a:pPr>
              <a:endParaRPr lang="en-US" altLang="en-US" sz="1846" smtClean="0">
                <a:latin typeface="+mj-lt"/>
              </a:endParaRPr>
            </a:p>
          </p:txBody>
        </p:sp>
        <p:sp>
          <p:nvSpPr>
            <p:cNvPr id="12" name="Oval 12"/>
            <p:cNvSpPr>
              <a:spLocks noChangeArrowheads="1"/>
            </p:cNvSpPr>
            <p:nvPr/>
          </p:nvSpPr>
          <p:spPr bwMode="auto">
            <a:xfrm>
              <a:off x="1719" y="1838"/>
              <a:ext cx="693" cy="605"/>
            </a:xfrm>
            <a:prstGeom prst="ellipse">
              <a:avLst/>
            </a:prstGeom>
            <a:grp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4533" tIns="42267" rIns="84533" bIns="42267" anchor="ctr"/>
            <a:lstStyle>
              <a:lvl1pPr defTabSz="915988">
                <a:defRPr sz="2400">
                  <a:solidFill>
                    <a:schemeClr val="tx1"/>
                  </a:solidFill>
                  <a:latin typeface="Times New Roman" panose="02020603050405020304" pitchFamily="18" charset="0"/>
                  <a:ea typeface="ＭＳ Ｐゴシック" panose="020B0600070205080204" pitchFamily="34" charset="-128"/>
                </a:defRPr>
              </a:lvl1pPr>
              <a:lvl2pPr defTabSz="915988">
                <a:defRPr sz="2400">
                  <a:solidFill>
                    <a:schemeClr val="tx1"/>
                  </a:solidFill>
                  <a:latin typeface="Times New Roman" panose="02020603050405020304" pitchFamily="18" charset="0"/>
                  <a:ea typeface="ＭＳ Ｐゴシック" panose="020B0600070205080204" pitchFamily="34" charset="-128"/>
                </a:defRPr>
              </a:lvl2pPr>
              <a:lvl3pPr marL="915988" defTabSz="915988">
                <a:defRPr sz="2400">
                  <a:solidFill>
                    <a:schemeClr val="tx1"/>
                  </a:solidFill>
                  <a:latin typeface="Times New Roman" panose="02020603050405020304" pitchFamily="18" charset="0"/>
                  <a:ea typeface="ＭＳ Ｐゴシック" panose="020B0600070205080204" pitchFamily="34" charset="-128"/>
                </a:defRPr>
              </a:lvl3pPr>
              <a:lvl4pPr marL="1373188" defTabSz="915988">
                <a:defRPr sz="2400">
                  <a:solidFill>
                    <a:schemeClr val="tx1"/>
                  </a:solidFill>
                  <a:latin typeface="Times New Roman" panose="02020603050405020304" pitchFamily="18" charset="0"/>
                  <a:ea typeface="ＭＳ Ｐゴシック" panose="020B0600070205080204" pitchFamily="34" charset="-128"/>
                </a:defRPr>
              </a:lvl4pPr>
              <a:lvl5pPr marL="1831975" defTabSz="915988">
                <a:defRPr sz="2400">
                  <a:solidFill>
                    <a:schemeClr val="tx1"/>
                  </a:solidFill>
                  <a:latin typeface="Times New Roman" panose="02020603050405020304" pitchFamily="18" charset="0"/>
                  <a:ea typeface="ＭＳ Ｐゴシック" panose="020B0600070205080204" pitchFamily="34" charset="-128"/>
                </a:defRPr>
              </a:lvl5pPr>
              <a:lvl6pPr marL="2289175" defTabSz="915988"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746375" defTabSz="915988"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203575" defTabSz="915988"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660775" defTabSz="915988"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eaLnBrk="1" hangingPunct="1">
                <a:defRPr/>
              </a:pPr>
              <a:endParaRPr lang="en-US" altLang="en-US" sz="1846" smtClean="0">
                <a:latin typeface="+mj-lt"/>
              </a:endParaRPr>
            </a:p>
          </p:txBody>
        </p:sp>
        <p:sp>
          <p:nvSpPr>
            <p:cNvPr id="13" name="Freeform 13"/>
            <p:cNvSpPr>
              <a:spLocks/>
            </p:cNvSpPr>
            <p:nvPr/>
          </p:nvSpPr>
          <p:spPr bwMode="auto">
            <a:xfrm>
              <a:off x="1893" y="1753"/>
              <a:ext cx="1470" cy="1037"/>
            </a:xfrm>
            <a:custGeom>
              <a:avLst/>
              <a:gdLst>
                <a:gd name="T0" fmla="*/ 48 w 1632"/>
                <a:gd name="T1" fmla="*/ 192 h 1152"/>
                <a:gd name="T2" fmla="*/ 384 w 1632"/>
                <a:gd name="T3" fmla="*/ 48 h 1152"/>
                <a:gd name="T4" fmla="*/ 672 w 1632"/>
                <a:gd name="T5" fmla="*/ 0 h 1152"/>
                <a:gd name="T6" fmla="*/ 1248 w 1632"/>
                <a:gd name="T7" fmla="*/ 48 h 1152"/>
                <a:gd name="T8" fmla="*/ 1440 w 1632"/>
                <a:gd name="T9" fmla="*/ 144 h 1152"/>
                <a:gd name="T10" fmla="*/ 1536 w 1632"/>
                <a:gd name="T11" fmla="*/ 336 h 1152"/>
                <a:gd name="T12" fmla="*/ 1632 w 1632"/>
                <a:gd name="T13" fmla="*/ 384 h 1152"/>
                <a:gd name="T14" fmla="*/ 1536 w 1632"/>
                <a:gd name="T15" fmla="*/ 912 h 1152"/>
                <a:gd name="T16" fmla="*/ 912 w 1632"/>
                <a:gd name="T17" fmla="*/ 1152 h 1152"/>
                <a:gd name="T18" fmla="*/ 288 w 1632"/>
                <a:gd name="T19" fmla="*/ 960 h 1152"/>
                <a:gd name="T20" fmla="*/ 96 w 1632"/>
                <a:gd name="T21" fmla="*/ 768 h 1152"/>
                <a:gd name="T22" fmla="*/ 0 w 1632"/>
                <a:gd name="T23" fmla="*/ 720 h 1152"/>
                <a:gd name="T24" fmla="*/ 48 w 1632"/>
                <a:gd name="T25" fmla="*/ 192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32" h="1152">
                  <a:moveTo>
                    <a:pt x="48" y="192"/>
                  </a:moveTo>
                  <a:lnTo>
                    <a:pt x="384" y="48"/>
                  </a:lnTo>
                  <a:lnTo>
                    <a:pt x="672" y="0"/>
                  </a:lnTo>
                  <a:lnTo>
                    <a:pt x="1248" y="48"/>
                  </a:lnTo>
                  <a:lnTo>
                    <a:pt x="1440" y="144"/>
                  </a:lnTo>
                  <a:lnTo>
                    <a:pt x="1536" y="336"/>
                  </a:lnTo>
                  <a:lnTo>
                    <a:pt x="1632" y="384"/>
                  </a:lnTo>
                  <a:lnTo>
                    <a:pt x="1536" y="912"/>
                  </a:lnTo>
                  <a:lnTo>
                    <a:pt x="912" y="1152"/>
                  </a:lnTo>
                  <a:lnTo>
                    <a:pt x="288" y="960"/>
                  </a:lnTo>
                  <a:lnTo>
                    <a:pt x="96" y="768"/>
                  </a:lnTo>
                  <a:lnTo>
                    <a:pt x="0" y="720"/>
                  </a:lnTo>
                  <a:lnTo>
                    <a:pt x="48" y="192"/>
                  </a:lnTo>
                  <a:close/>
                </a:path>
              </a:pathLst>
            </a:custGeom>
            <a:grp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sz="2215">
                <a:latin typeface="+mj-lt"/>
                <a:ea typeface="ＭＳ Ｐゴシック" panose="020B0600070205080204" pitchFamily="34" charset="-128"/>
              </a:endParaRPr>
            </a:p>
          </p:txBody>
        </p:sp>
      </p:grpSp>
      <p:sp>
        <p:nvSpPr>
          <p:cNvPr id="14" name="Text Box 14"/>
          <p:cNvSpPr txBox="1">
            <a:spLocks noChangeArrowheads="1"/>
          </p:cNvSpPr>
          <p:nvPr/>
        </p:nvSpPr>
        <p:spPr bwMode="auto">
          <a:xfrm>
            <a:off x="4639516" y="3560669"/>
            <a:ext cx="1262188" cy="51387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3653" tIns="41093" rIns="83653" bIns="41093">
            <a:spAutoFit/>
          </a:bodyPr>
          <a:lstStyle>
            <a:lvl1pPr defTabSz="915988">
              <a:defRPr sz="2400">
                <a:solidFill>
                  <a:schemeClr val="tx1"/>
                </a:solidFill>
                <a:latin typeface="Times New Roman" panose="02020603050405020304" pitchFamily="18" charset="0"/>
                <a:ea typeface="ＭＳ Ｐゴシック" panose="020B0600070205080204" pitchFamily="34" charset="-128"/>
              </a:defRPr>
            </a:lvl1pPr>
            <a:lvl2pPr defTabSz="915988">
              <a:defRPr sz="2400">
                <a:solidFill>
                  <a:schemeClr val="tx1"/>
                </a:solidFill>
                <a:latin typeface="Times New Roman" panose="02020603050405020304" pitchFamily="18" charset="0"/>
                <a:ea typeface="ＭＳ Ｐゴシック" panose="020B0600070205080204" pitchFamily="34" charset="-128"/>
              </a:defRPr>
            </a:lvl2pPr>
            <a:lvl3pPr marL="915988" defTabSz="915988">
              <a:defRPr sz="2400">
                <a:solidFill>
                  <a:schemeClr val="tx1"/>
                </a:solidFill>
                <a:latin typeface="Times New Roman" panose="02020603050405020304" pitchFamily="18" charset="0"/>
                <a:ea typeface="ＭＳ Ｐゴシック" panose="020B0600070205080204" pitchFamily="34" charset="-128"/>
              </a:defRPr>
            </a:lvl3pPr>
            <a:lvl4pPr marL="1373188" defTabSz="915988">
              <a:defRPr sz="2400">
                <a:solidFill>
                  <a:schemeClr val="tx1"/>
                </a:solidFill>
                <a:latin typeface="Times New Roman" panose="02020603050405020304" pitchFamily="18" charset="0"/>
                <a:ea typeface="ＭＳ Ｐゴシック" panose="020B0600070205080204" pitchFamily="34" charset="-128"/>
              </a:defRPr>
            </a:lvl4pPr>
            <a:lvl5pPr marL="1831975" defTabSz="915988">
              <a:defRPr sz="2400">
                <a:solidFill>
                  <a:schemeClr val="tx1"/>
                </a:solidFill>
                <a:latin typeface="Times New Roman" panose="02020603050405020304" pitchFamily="18" charset="0"/>
                <a:ea typeface="ＭＳ Ｐゴシック" panose="020B0600070205080204" pitchFamily="34" charset="-128"/>
              </a:defRPr>
            </a:lvl5pPr>
            <a:lvl6pPr marL="2289175" defTabSz="915988"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746375" defTabSz="915988"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203575" defTabSz="915988"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660775" defTabSz="915988"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defRPr/>
            </a:pPr>
            <a:r>
              <a:rPr lang="en-US" altLang="en-US" sz="2800" dirty="0" smtClean="0">
                <a:latin typeface="+mj-lt"/>
              </a:rPr>
              <a:t>Internet</a:t>
            </a:r>
          </a:p>
        </p:txBody>
      </p:sp>
      <p:sp>
        <p:nvSpPr>
          <p:cNvPr id="15" name="Text Box 15"/>
          <p:cNvSpPr txBox="1">
            <a:spLocks noChangeArrowheads="1"/>
          </p:cNvSpPr>
          <p:nvPr/>
        </p:nvSpPr>
        <p:spPr bwMode="auto">
          <a:xfrm>
            <a:off x="1994094" y="3736882"/>
            <a:ext cx="1218907" cy="59453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3653" tIns="41093" rIns="83653" bIns="41093">
            <a:spAutoFit/>
          </a:bodyPr>
          <a:lstStyle>
            <a:lvl1pPr defTabSz="915988">
              <a:defRPr sz="2400">
                <a:solidFill>
                  <a:schemeClr val="tx1"/>
                </a:solidFill>
                <a:latin typeface="Times New Roman" panose="02020603050405020304" pitchFamily="18" charset="0"/>
                <a:ea typeface="ＭＳ Ｐゴシック" panose="020B0600070205080204" pitchFamily="34" charset="-128"/>
              </a:defRPr>
            </a:lvl1pPr>
            <a:lvl2pPr defTabSz="915988">
              <a:defRPr sz="2400">
                <a:solidFill>
                  <a:schemeClr val="tx1"/>
                </a:solidFill>
                <a:latin typeface="Times New Roman" panose="02020603050405020304" pitchFamily="18" charset="0"/>
                <a:ea typeface="ＭＳ Ｐゴシック" panose="020B0600070205080204" pitchFamily="34" charset="-128"/>
              </a:defRPr>
            </a:lvl2pPr>
            <a:lvl3pPr marL="915988" defTabSz="915988">
              <a:defRPr sz="2400">
                <a:solidFill>
                  <a:schemeClr val="tx1"/>
                </a:solidFill>
                <a:latin typeface="Times New Roman" panose="02020603050405020304" pitchFamily="18" charset="0"/>
                <a:ea typeface="ＭＳ Ｐゴシック" panose="020B0600070205080204" pitchFamily="34" charset="-128"/>
              </a:defRPr>
            </a:lvl3pPr>
            <a:lvl4pPr marL="1373188" defTabSz="915988">
              <a:defRPr sz="2400">
                <a:solidFill>
                  <a:schemeClr val="tx1"/>
                </a:solidFill>
                <a:latin typeface="Times New Roman" panose="02020603050405020304" pitchFamily="18" charset="0"/>
                <a:ea typeface="ＭＳ Ｐゴシック" panose="020B0600070205080204" pitchFamily="34" charset="-128"/>
              </a:defRPr>
            </a:lvl4pPr>
            <a:lvl5pPr marL="1831975" defTabSz="915988">
              <a:defRPr sz="2400">
                <a:solidFill>
                  <a:schemeClr val="tx1"/>
                </a:solidFill>
                <a:latin typeface="Times New Roman" panose="02020603050405020304" pitchFamily="18" charset="0"/>
                <a:ea typeface="ＭＳ Ｐゴシック" panose="020B0600070205080204" pitchFamily="34" charset="-128"/>
              </a:defRPr>
            </a:lvl5pPr>
            <a:lvl6pPr marL="2289175" defTabSz="915988"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746375" defTabSz="915988"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203575" defTabSz="915988"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660775" defTabSz="915988"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defRPr/>
            </a:pPr>
            <a:r>
              <a:rPr lang="en-US" altLang="en-US" sz="1662" dirty="0" smtClean="0">
                <a:solidFill>
                  <a:schemeClr val="bg1"/>
                </a:solidFill>
                <a:latin typeface="+mj-lt"/>
              </a:rPr>
              <a:t>Encrypt with</a:t>
            </a:r>
          </a:p>
          <a:p>
            <a:pPr algn="ctr">
              <a:defRPr/>
            </a:pPr>
            <a:r>
              <a:rPr lang="en-US" altLang="en-US" sz="1662" dirty="0" smtClean="0">
                <a:solidFill>
                  <a:schemeClr val="bg1"/>
                </a:solidFill>
                <a:latin typeface="+mj-lt"/>
              </a:rPr>
              <a:t>public key</a:t>
            </a:r>
          </a:p>
        </p:txBody>
      </p:sp>
      <p:sp>
        <p:nvSpPr>
          <p:cNvPr id="16" name="Oval 16"/>
          <p:cNvSpPr>
            <a:spLocks noChangeArrowheads="1"/>
          </p:cNvSpPr>
          <p:nvPr/>
        </p:nvSpPr>
        <p:spPr bwMode="auto">
          <a:xfrm>
            <a:off x="7073153" y="3632107"/>
            <a:ext cx="1729418" cy="773112"/>
          </a:xfrm>
          <a:prstGeom prst="ellipse">
            <a:avLst/>
          </a:prstGeom>
          <a:solidFill>
            <a:schemeClr val="accent6"/>
          </a:solidFill>
          <a:ln w="12700">
            <a:noFill/>
            <a:round/>
            <a:headEnd/>
            <a:tailEnd/>
          </a:ln>
          <a:effectLst/>
          <a:extLst/>
        </p:spPr>
        <p:txBody>
          <a:bodyPr wrap="none" lIns="83527" tIns="41031" rIns="83527" bIns="41031" anchor="ctr"/>
          <a:lstStyle/>
          <a:p>
            <a:pPr>
              <a:defRPr/>
            </a:pPr>
            <a:endParaRPr lang="en-US" sz="2215">
              <a:solidFill>
                <a:schemeClr val="bg1"/>
              </a:solidFill>
              <a:latin typeface="+mj-lt"/>
              <a:ea typeface="ＭＳ Ｐゴシック" panose="020B0600070205080204" pitchFamily="34" charset="-128"/>
            </a:endParaRPr>
          </a:p>
        </p:txBody>
      </p:sp>
      <p:sp>
        <p:nvSpPr>
          <p:cNvPr id="17" name="Text Box 17"/>
          <p:cNvSpPr txBox="1">
            <a:spLocks noChangeArrowheads="1"/>
          </p:cNvSpPr>
          <p:nvPr/>
        </p:nvSpPr>
        <p:spPr bwMode="auto">
          <a:xfrm>
            <a:off x="7244680" y="3736882"/>
            <a:ext cx="1233334" cy="59453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3653" tIns="41093" rIns="83653" bIns="41093">
            <a:spAutoFit/>
          </a:bodyPr>
          <a:lstStyle>
            <a:lvl1pPr defTabSz="915988">
              <a:defRPr sz="2400">
                <a:solidFill>
                  <a:schemeClr val="tx1"/>
                </a:solidFill>
                <a:latin typeface="Times New Roman" panose="02020603050405020304" pitchFamily="18" charset="0"/>
                <a:ea typeface="ＭＳ Ｐゴシック" panose="020B0600070205080204" pitchFamily="34" charset="-128"/>
              </a:defRPr>
            </a:lvl1pPr>
            <a:lvl2pPr defTabSz="915988">
              <a:defRPr sz="2400">
                <a:solidFill>
                  <a:schemeClr val="tx1"/>
                </a:solidFill>
                <a:latin typeface="Times New Roman" panose="02020603050405020304" pitchFamily="18" charset="0"/>
                <a:ea typeface="ＭＳ Ｐゴシック" panose="020B0600070205080204" pitchFamily="34" charset="-128"/>
              </a:defRPr>
            </a:lvl2pPr>
            <a:lvl3pPr marL="915988" defTabSz="915988">
              <a:defRPr sz="2400">
                <a:solidFill>
                  <a:schemeClr val="tx1"/>
                </a:solidFill>
                <a:latin typeface="Times New Roman" panose="02020603050405020304" pitchFamily="18" charset="0"/>
                <a:ea typeface="ＭＳ Ｐゴシック" panose="020B0600070205080204" pitchFamily="34" charset="-128"/>
              </a:defRPr>
            </a:lvl3pPr>
            <a:lvl4pPr marL="1373188" defTabSz="915988">
              <a:defRPr sz="2400">
                <a:solidFill>
                  <a:schemeClr val="tx1"/>
                </a:solidFill>
                <a:latin typeface="Times New Roman" panose="02020603050405020304" pitchFamily="18" charset="0"/>
                <a:ea typeface="ＭＳ Ｐゴシック" panose="020B0600070205080204" pitchFamily="34" charset="-128"/>
              </a:defRPr>
            </a:lvl4pPr>
            <a:lvl5pPr marL="1831975" defTabSz="915988">
              <a:defRPr sz="2400">
                <a:solidFill>
                  <a:schemeClr val="tx1"/>
                </a:solidFill>
                <a:latin typeface="Times New Roman" panose="02020603050405020304" pitchFamily="18" charset="0"/>
                <a:ea typeface="ＭＳ Ｐゴシック" panose="020B0600070205080204" pitchFamily="34" charset="-128"/>
              </a:defRPr>
            </a:lvl5pPr>
            <a:lvl6pPr marL="2289175" defTabSz="915988"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746375" defTabSz="915988"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203575" defTabSz="915988"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660775" defTabSz="915988"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defRPr/>
            </a:pPr>
            <a:r>
              <a:rPr lang="en-US" altLang="en-US" sz="1662" smtClean="0">
                <a:solidFill>
                  <a:schemeClr val="bg1"/>
                </a:solidFill>
                <a:latin typeface="+mj-lt"/>
              </a:rPr>
              <a:t>Decrypt with</a:t>
            </a:r>
          </a:p>
          <a:p>
            <a:pPr algn="ctr">
              <a:defRPr/>
            </a:pPr>
            <a:r>
              <a:rPr lang="en-US" altLang="en-US" sz="1662" smtClean="0">
                <a:solidFill>
                  <a:schemeClr val="bg1"/>
                </a:solidFill>
                <a:latin typeface="+mj-lt"/>
              </a:rPr>
              <a:t>private key</a:t>
            </a:r>
          </a:p>
        </p:txBody>
      </p:sp>
      <p:sp>
        <p:nvSpPr>
          <p:cNvPr id="18" name="Text Box 18"/>
          <p:cNvSpPr txBox="1">
            <a:spLocks noChangeArrowheads="1"/>
          </p:cNvSpPr>
          <p:nvPr/>
        </p:nvSpPr>
        <p:spPr bwMode="auto">
          <a:xfrm>
            <a:off x="2077291" y="2421686"/>
            <a:ext cx="1238143" cy="45232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3653" tIns="41093" rIns="83653" bIns="41093">
            <a:spAutoFit/>
          </a:bodyPr>
          <a:lstStyle>
            <a:lvl1pPr defTabSz="915988">
              <a:defRPr sz="2400">
                <a:solidFill>
                  <a:schemeClr val="tx1"/>
                </a:solidFill>
                <a:latin typeface="Times New Roman" panose="02020603050405020304" pitchFamily="18" charset="0"/>
                <a:ea typeface="ＭＳ Ｐゴシック" panose="020B0600070205080204" pitchFamily="34" charset="-128"/>
              </a:defRPr>
            </a:lvl1pPr>
            <a:lvl2pPr defTabSz="915988">
              <a:defRPr sz="2400">
                <a:solidFill>
                  <a:schemeClr val="tx1"/>
                </a:solidFill>
                <a:latin typeface="Times New Roman" panose="02020603050405020304" pitchFamily="18" charset="0"/>
                <a:ea typeface="ＭＳ Ｐゴシック" panose="020B0600070205080204" pitchFamily="34" charset="-128"/>
              </a:defRPr>
            </a:lvl2pPr>
            <a:lvl3pPr marL="915988" defTabSz="915988">
              <a:defRPr sz="2400">
                <a:solidFill>
                  <a:schemeClr val="tx1"/>
                </a:solidFill>
                <a:latin typeface="Times New Roman" panose="02020603050405020304" pitchFamily="18" charset="0"/>
                <a:ea typeface="ＭＳ Ｐゴシック" panose="020B0600070205080204" pitchFamily="34" charset="-128"/>
              </a:defRPr>
            </a:lvl3pPr>
            <a:lvl4pPr marL="1373188" defTabSz="915988">
              <a:defRPr sz="2400">
                <a:solidFill>
                  <a:schemeClr val="tx1"/>
                </a:solidFill>
                <a:latin typeface="Times New Roman" panose="02020603050405020304" pitchFamily="18" charset="0"/>
                <a:ea typeface="ＭＳ Ｐゴシック" panose="020B0600070205080204" pitchFamily="34" charset="-128"/>
              </a:defRPr>
            </a:lvl4pPr>
            <a:lvl5pPr marL="1831975" defTabSz="915988">
              <a:defRPr sz="2400">
                <a:solidFill>
                  <a:schemeClr val="tx1"/>
                </a:solidFill>
                <a:latin typeface="Times New Roman" panose="02020603050405020304" pitchFamily="18" charset="0"/>
                <a:ea typeface="ＭＳ Ｐゴシック" panose="020B0600070205080204" pitchFamily="34" charset="-128"/>
              </a:defRPr>
            </a:lvl5pPr>
            <a:lvl6pPr marL="2289175" defTabSz="915988"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746375" defTabSz="915988"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203575" defTabSz="915988"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660775" defTabSz="915988"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defRPr/>
            </a:pPr>
            <a:r>
              <a:rPr lang="en-US" altLang="en-US" dirty="0" smtClean="0">
                <a:solidFill>
                  <a:srgbClr val="000000"/>
                </a:solidFill>
                <a:latin typeface="+mj-lt"/>
              </a:rPr>
              <a:t>Plaintext</a:t>
            </a:r>
          </a:p>
        </p:txBody>
      </p:sp>
      <p:sp>
        <p:nvSpPr>
          <p:cNvPr id="19" name="Text Box 19"/>
          <p:cNvSpPr txBox="1">
            <a:spLocks noChangeArrowheads="1"/>
          </p:cNvSpPr>
          <p:nvPr/>
        </p:nvSpPr>
        <p:spPr bwMode="auto">
          <a:xfrm>
            <a:off x="7387478" y="2418511"/>
            <a:ext cx="1238143" cy="45232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3653" tIns="41093" rIns="83653" bIns="41093">
            <a:spAutoFit/>
          </a:bodyPr>
          <a:lstStyle>
            <a:lvl1pPr defTabSz="915988">
              <a:defRPr sz="2400">
                <a:solidFill>
                  <a:schemeClr val="tx1"/>
                </a:solidFill>
                <a:latin typeface="Times New Roman" panose="02020603050405020304" pitchFamily="18" charset="0"/>
                <a:ea typeface="ＭＳ Ｐゴシック" panose="020B0600070205080204" pitchFamily="34" charset="-128"/>
              </a:defRPr>
            </a:lvl1pPr>
            <a:lvl2pPr defTabSz="915988">
              <a:defRPr sz="2400">
                <a:solidFill>
                  <a:schemeClr val="tx1"/>
                </a:solidFill>
                <a:latin typeface="Times New Roman" panose="02020603050405020304" pitchFamily="18" charset="0"/>
                <a:ea typeface="ＭＳ Ｐゴシック" panose="020B0600070205080204" pitchFamily="34" charset="-128"/>
              </a:defRPr>
            </a:lvl2pPr>
            <a:lvl3pPr marL="915988" defTabSz="915988">
              <a:defRPr sz="2400">
                <a:solidFill>
                  <a:schemeClr val="tx1"/>
                </a:solidFill>
                <a:latin typeface="Times New Roman" panose="02020603050405020304" pitchFamily="18" charset="0"/>
                <a:ea typeface="ＭＳ Ｐゴシック" panose="020B0600070205080204" pitchFamily="34" charset="-128"/>
              </a:defRPr>
            </a:lvl3pPr>
            <a:lvl4pPr marL="1373188" defTabSz="915988">
              <a:defRPr sz="2400">
                <a:solidFill>
                  <a:schemeClr val="tx1"/>
                </a:solidFill>
                <a:latin typeface="Times New Roman" panose="02020603050405020304" pitchFamily="18" charset="0"/>
                <a:ea typeface="ＭＳ Ｐゴシック" panose="020B0600070205080204" pitchFamily="34" charset="-128"/>
              </a:defRPr>
            </a:lvl4pPr>
            <a:lvl5pPr marL="1831975" defTabSz="915988">
              <a:defRPr sz="2400">
                <a:solidFill>
                  <a:schemeClr val="tx1"/>
                </a:solidFill>
                <a:latin typeface="Times New Roman" panose="02020603050405020304" pitchFamily="18" charset="0"/>
                <a:ea typeface="ＭＳ Ｐゴシック" panose="020B0600070205080204" pitchFamily="34" charset="-128"/>
              </a:defRPr>
            </a:lvl5pPr>
            <a:lvl6pPr marL="2289175" defTabSz="915988"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746375" defTabSz="915988"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203575" defTabSz="915988"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660775" defTabSz="915988"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defRPr/>
            </a:pPr>
            <a:r>
              <a:rPr lang="en-US" altLang="en-US" smtClean="0">
                <a:solidFill>
                  <a:srgbClr val="000000"/>
                </a:solidFill>
                <a:latin typeface="+mj-lt"/>
              </a:rPr>
              <a:t>Plaintext</a:t>
            </a:r>
          </a:p>
        </p:txBody>
      </p:sp>
      <p:sp>
        <p:nvSpPr>
          <p:cNvPr id="20" name="Line 20"/>
          <p:cNvSpPr>
            <a:spLocks noChangeShapeType="1"/>
          </p:cNvSpPr>
          <p:nvPr/>
        </p:nvSpPr>
        <p:spPr bwMode="auto">
          <a:xfrm>
            <a:off x="2577353" y="2998694"/>
            <a:ext cx="0" cy="633413"/>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83527" tIns="41031" rIns="83527" bIns="41031"/>
          <a:lstStyle/>
          <a:p>
            <a:pPr>
              <a:defRPr/>
            </a:pPr>
            <a:endParaRPr lang="en-US" sz="2215">
              <a:solidFill>
                <a:srgbClr val="000000"/>
              </a:solidFill>
              <a:latin typeface="+mj-lt"/>
              <a:ea typeface="ＭＳ Ｐゴシック" panose="020B0600070205080204" pitchFamily="34" charset="-128"/>
            </a:endParaRPr>
          </a:p>
        </p:txBody>
      </p:sp>
      <p:sp>
        <p:nvSpPr>
          <p:cNvPr id="21" name="Freeform 21"/>
          <p:cNvSpPr>
            <a:spLocks/>
          </p:cNvSpPr>
          <p:nvPr/>
        </p:nvSpPr>
        <p:spPr bwMode="auto">
          <a:xfrm>
            <a:off x="2577353" y="4405219"/>
            <a:ext cx="5334000" cy="211138"/>
          </a:xfrm>
          <a:custGeom>
            <a:avLst/>
            <a:gdLst>
              <a:gd name="T0" fmla="*/ 0 w 3360"/>
              <a:gd name="T1" fmla="*/ 0 h 144"/>
              <a:gd name="T2" fmla="*/ 0 w 3360"/>
              <a:gd name="T3" fmla="*/ 144 h 144"/>
              <a:gd name="T4" fmla="*/ 3360 w 3360"/>
              <a:gd name="T5" fmla="*/ 144 h 144"/>
              <a:gd name="T6" fmla="*/ 3360 w 3360"/>
              <a:gd name="T7" fmla="*/ 0 h 144"/>
            </a:gdLst>
            <a:ahLst/>
            <a:cxnLst>
              <a:cxn ang="0">
                <a:pos x="T0" y="T1"/>
              </a:cxn>
              <a:cxn ang="0">
                <a:pos x="T2" y="T3"/>
              </a:cxn>
              <a:cxn ang="0">
                <a:pos x="T4" y="T5"/>
              </a:cxn>
              <a:cxn ang="0">
                <a:pos x="T6" y="T7"/>
              </a:cxn>
            </a:cxnLst>
            <a:rect l="0" t="0" r="r" b="b"/>
            <a:pathLst>
              <a:path w="3360" h="144">
                <a:moveTo>
                  <a:pt x="0" y="0"/>
                </a:moveTo>
                <a:lnTo>
                  <a:pt x="0" y="144"/>
                </a:lnTo>
                <a:lnTo>
                  <a:pt x="3360" y="144"/>
                </a:lnTo>
                <a:lnTo>
                  <a:pt x="3360" y="0"/>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83527" tIns="41031" rIns="83527" bIns="41031"/>
          <a:lstStyle/>
          <a:p>
            <a:pPr>
              <a:defRPr/>
            </a:pPr>
            <a:endParaRPr lang="en-US" sz="2215">
              <a:solidFill>
                <a:schemeClr val="bg1"/>
              </a:solidFill>
              <a:latin typeface="+mj-lt"/>
              <a:ea typeface="ＭＳ Ｐゴシック" panose="020B0600070205080204" pitchFamily="34" charset="-128"/>
            </a:endParaRPr>
          </a:p>
        </p:txBody>
      </p:sp>
      <p:sp>
        <p:nvSpPr>
          <p:cNvPr id="22" name="Line 22"/>
          <p:cNvSpPr>
            <a:spLocks noChangeShapeType="1"/>
          </p:cNvSpPr>
          <p:nvPr/>
        </p:nvSpPr>
        <p:spPr bwMode="auto">
          <a:xfrm flipV="1">
            <a:off x="7911353" y="2928844"/>
            <a:ext cx="0" cy="703263"/>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83527" tIns="41031" rIns="83527" bIns="41031"/>
          <a:lstStyle/>
          <a:p>
            <a:pPr>
              <a:defRPr/>
            </a:pPr>
            <a:endParaRPr lang="en-US" sz="2215">
              <a:solidFill>
                <a:srgbClr val="000000"/>
              </a:solidFill>
              <a:latin typeface="+mj-lt"/>
              <a:ea typeface="ＭＳ Ｐゴシック" panose="020B0600070205080204" pitchFamily="34" charset="-128"/>
            </a:endParaRPr>
          </a:p>
        </p:txBody>
      </p:sp>
      <p:sp>
        <p:nvSpPr>
          <p:cNvPr id="23" name="Text Box 23"/>
          <p:cNvSpPr txBox="1">
            <a:spLocks noChangeArrowheads="1"/>
          </p:cNvSpPr>
          <p:nvPr/>
        </p:nvSpPr>
        <p:spPr bwMode="auto">
          <a:xfrm>
            <a:off x="4544266" y="4300444"/>
            <a:ext cx="1236540" cy="3907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3653" tIns="41093" rIns="83653" bIns="41093">
            <a:spAutoFit/>
          </a:bodyPr>
          <a:lstStyle>
            <a:lvl1pPr defTabSz="915988">
              <a:defRPr sz="2400">
                <a:solidFill>
                  <a:schemeClr val="tx1"/>
                </a:solidFill>
                <a:latin typeface="Times New Roman" panose="02020603050405020304" pitchFamily="18" charset="0"/>
                <a:ea typeface="ＭＳ Ｐゴシック" panose="020B0600070205080204" pitchFamily="34" charset="-128"/>
              </a:defRPr>
            </a:lvl1pPr>
            <a:lvl2pPr defTabSz="915988">
              <a:defRPr sz="2400">
                <a:solidFill>
                  <a:schemeClr val="tx1"/>
                </a:solidFill>
                <a:latin typeface="Times New Roman" panose="02020603050405020304" pitchFamily="18" charset="0"/>
                <a:ea typeface="ＭＳ Ｐゴシック" panose="020B0600070205080204" pitchFamily="34" charset="-128"/>
              </a:defRPr>
            </a:lvl2pPr>
            <a:lvl3pPr marL="915988" defTabSz="915988">
              <a:defRPr sz="2400">
                <a:solidFill>
                  <a:schemeClr val="tx1"/>
                </a:solidFill>
                <a:latin typeface="Times New Roman" panose="02020603050405020304" pitchFamily="18" charset="0"/>
                <a:ea typeface="ＭＳ Ｐゴシック" panose="020B0600070205080204" pitchFamily="34" charset="-128"/>
              </a:defRPr>
            </a:lvl3pPr>
            <a:lvl4pPr marL="1373188" defTabSz="915988">
              <a:defRPr sz="2400">
                <a:solidFill>
                  <a:schemeClr val="tx1"/>
                </a:solidFill>
                <a:latin typeface="Times New Roman" panose="02020603050405020304" pitchFamily="18" charset="0"/>
                <a:ea typeface="ＭＳ Ｐゴシック" panose="020B0600070205080204" pitchFamily="34" charset="-128"/>
              </a:defRPr>
            </a:lvl4pPr>
            <a:lvl5pPr marL="1831975" defTabSz="915988">
              <a:defRPr sz="2400">
                <a:solidFill>
                  <a:schemeClr val="tx1"/>
                </a:solidFill>
                <a:latin typeface="Times New Roman" panose="02020603050405020304" pitchFamily="18" charset="0"/>
                <a:ea typeface="ＭＳ Ｐゴシック" panose="020B0600070205080204" pitchFamily="34" charset="-128"/>
              </a:defRPr>
            </a:lvl5pPr>
            <a:lvl6pPr marL="2289175" defTabSz="915988"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746375" defTabSz="915988"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203575" defTabSz="915988"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660775" defTabSz="915988"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defRPr/>
            </a:pPr>
            <a:r>
              <a:rPr lang="en-US" altLang="en-US" sz="2000" b="1" dirty="0" err="1" smtClean="0">
                <a:latin typeface="+mj-lt"/>
              </a:rPr>
              <a:t>Ciphertext</a:t>
            </a:r>
            <a:endParaRPr lang="en-US" altLang="en-US" sz="2000" b="1" dirty="0" smtClean="0">
              <a:latin typeface="+mj-lt"/>
            </a:endParaRPr>
          </a:p>
        </p:txBody>
      </p:sp>
    </p:spTree>
    <p:extLst>
      <p:ext uri="{BB962C8B-B14F-4D97-AF65-F5344CB8AC3E}">
        <p14:creationId xmlns:p14="http://schemas.microsoft.com/office/powerpoint/2010/main" val="3648029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smtClean="0"/>
              <a:t>RSA </a:t>
            </a:r>
            <a:r>
              <a:rPr lang="en-US" dirty="0"/>
              <a:t>encryption algorithm</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marL="457200" indent="-457200">
              <a:buFont typeface="+mj-lt"/>
              <a:buAutoNum type="arabicPeriod"/>
            </a:pPr>
            <a:r>
              <a:rPr lang="en-US" dirty="0"/>
              <a:t>Select two large prime numbers, </a:t>
            </a:r>
            <a:r>
              <a:rPr lang="en-US" b="1" dirty="0"/>
              <a:t>p </a:t>
            </a:r>
            <a:r>
              <a:rPr lang="en-US" dirty="0"/>
              <a:t>and </a:t>
            </a:r>
            <a:r>
              <a:rPr lang="en-US" b="1" dirty="0"/>
              <a:t>q</a:t>
            </a:r>
            <a:r>
              <a:rPr lang="en-US" dirty="0"/>
              <a:t>.</a:t>
            </a:r>
          </a:p>
          <a:p>
            <a:pPr marL="457200" indent="-457200">
              <a:buFont typeface="+mj-lt"/>
              <a:buAutoNum type="arabicPeriod"/>
            </a:pPr>
            <a:r>
              <a:rPr lang="en-US" dirty="0"/>
              <a:t>Multiply these numbers to find </a:t>
            </a:r>
            <a:r>
              <a:rPr lang="en-US" b="1" dirty="0"/>
              <a:t>n = p x q,</a:t>
            </a:r>
            <a:r>
              <a:rPr lang="en-US" dirty="0"/>
              <a:t> where </a:t>
            </a:r>
            <a:r>
              <a:rPr lang="en-US" b="1" dirty="0"/>
              <a:t>n</a:t>
            </a:r>
            <a:r>
              <a:rPr lang="en-US" dirty="0"/>
              <a:t> is called the modulus for encryption and decryption.</a:t>
            </a:r>
          </a:p>
          <a:p>
            <a:pPr marL="457200" indent="-457200">
              <a:buFont typeface="+mj-lt"/>
              <a:buAutoNum type="arabicPeriod"/>
            </a:pPr>
            <a:r>
              <a:rPr lang="en-US" dirty="0"/>
              <a:t>Choose a number </a:t>
            </a:r>
            <a:r>
              <a:rPr lang="en-US" b="1" dirty="0"/>
              <a:t>e</a:t>
            </a:r>
            <a:r>
              <a:rPr lang="en-US" dirty="0"/>
              <a:t> less than </a:t>
            </a:r>
            <a:r>
              <a:rPr lang="en-US" b="1" dirty="0"/>
              <a:t>n</a:t>
            </a:r>
            <a:r>
              <a:rPr lang="en-US" dirty="0"/>
              <a:t>, such that n is relatively prime to </a:t>
            </a:r>
            <a:r>
              <a:rPr lang="en-US" b="1" dirty="0"/>
              <a:t>(p - 1) x (q -1).</a:t>
            </a:r>
            <a:r>
              <a:rPr lang="en-US" dirty="0"/>
              <a:t> </a:t>
            </a:r>
            <a:endParaRPr lang="en-US" dirty="0" smtClean="0"/>
          </a:p>
          <a:p>
            <a:pPr marL="631825" indent="-363538">
              <a:buFont typeface="Wingdings" panose="05000000000000000000" pitchFamily="2" charset="2"/>
              <a:buChar char="§"/>
            </a:pPr>
            <a:r>
              <a:rPr lang="en-US" dirty="0" smtClean="0"/>
              <a:t>It </a:t>
            </a:r>
            <a:r>
              <a:rPr lang="en-US" dirty="0"/>
              <a:t>means that </a:t>
            </a:r>
            <a:r>
              <a:rPr lang="en-US" b="1" dirty="0"/>
              <a:t>e</a:t>
            </a:r>
            <a:r>
              <a:rPr lang="en-US" dirty="0"/>
              <a:t> and </a:t>
            </a:r>
            <a:r>
              <a:rPr lang="en-US" b="1" dirty="0"/>
              <a:t>(p - 1) x (q - 1)</a:t>
            </a:r>
            <a:r>
              <a:rPr lang="en-US" dirty="0"/>
              <a:t> have no common factor except 1. </a:t>
            </a:r>
            <a:endParaRPr lang="en-US" dirty="0" smtClean="0"/>
          </a:p>
          <a:p>
            <a:pPr marL="631825" indent="-363538">
              <a:buFont typeface="Wingdings" panose="05000000000000000000" pitchFamily="2" charset="2"/>
              <a:buChar char="§"/>
            </a:pPr>
            <a:r>
              <a:rPr lang="en-US" dirty="0" smtClean="0"/>
              <a:t>Choose </a:t>
            </a:r>
            <a:r>
              <a:rPr lang="en-US" dirty="0"/>
              <a:t>"e" such that 1&lt;e &lt; φ (n), e is prime to φ (</a:t>
            </a:r>
            <a:r>
              <a:rPr lang="en-US" dirty="0" smtClean="0"/>
              <a:t>n)</a:t>
            </a:r>
          </a:p>
          <a:p>
            <a:pPr marL="631825" indent="-363538">
              <a:buFont typeface="Wingdings" panose="05000000000000000000" pitchFamily="2" charset="2"/>
              <a:buChar char="§"/>
            </a:pPr>
            <a:r>
              <a:rPr lang="en-US" b="1" dirty="0" err="1" smtClean="0"/>
              <a:t>gcd</a:t>
            </a:r>
            <a:r>
              <a:rPr lang="en-US" b="1" dirty="0" smtClean="0"/>
              <a:t> </a:t>
            </a:r>
            <a:r>
              <a:rPr lang="en-US" b="1" dirty="0"/>
              <a:t>(</a:t>
            </a:r>
            <a:r>
              <a:rPr lang="en-US" b="1" dirty="0" err="1"/>
              <a:t>e,d</a:t>
            </a:r>
            <a:r>
              <a:rPr lang="en-US" b="1" dirty="0"/>
              <a:t>(n)) =1</a:t>
            </a:r>
            <a:endParaRPr lang="en-US" dirty="0"/>
          </a:p>
          <a:p>
            <a:pPr marL="457200" indent="-457200">
              <a:buFont typeface="+mj-lt"/>
              <a:buAutoNum type="arabicPeriod" startAt="4"/>
            </a:pPr>
            <a:r>
              <a:rPr lang="en-US" dirty="0"/>
              <a:t>If </a:t>
            </a:r>
            <a:r>
              <a:rPr lang="en-US" b="1" dirty="0"/>
              <a:t>n = p x q,</a:t>
            </a:r>
            <a:r>
              <a:rPr lang="en-US" dirty="0"/>
              <a:t> then the public key is &lt;e, n&gt;. </a:t>
            </a:r>
            <a:endParaRPr lang="en-US" dirty="0" smtClean="0"/>
          </a:p>
          <a:p>
            <a:pPr marL="631825" indent="-363538">
              <a:buFont typeface="Wingdings" panose="05000000000000000000" pitchFamily="2" charset="2"/>
              <a:buChar char="§"/>
            </a:pPr>
            <a:r>
              <a:rPr lang="en-US" dirty="0" smtClean="0"/>
              <a:t>A </a:t>
            </a:r>
            <a:r>
              <a:rPr lang="en-US" dirty="0"/>
              <a:t>plaintext message </a:t>
            </a:r>
            <a:r>
              <a:rPr lang="en-US" b="1" dirty="0"/>
              <a:t>m</a:t>
            </a:r>
            <a:r>
              <a:rPr lang="en-US" dirty="0"/>
              <a:t> is encrypted using public key &lt;e, n&gt;. </a:t>
            </a:r>
            <a:endParaRPr lang="en-US" dirty="0" smtClean="0"/>
          </a:p>
          <a:p>
            <a:pPr marL="631825" indent="-363538">
              <a:buFont typeface="Wingdings" panose="05000000000000000000" pitchFamily="2" charset="2"/>
              <a:buChar char="§"/>
            </a:pPr>
            <a:r>
              <a:rPr lang="en-US" dirty="0" smtClean="0"/>
              <a:t>To </a:t>
            </a:r>
            <a:r>
              <a:rPr lang="en-US" dirty="0"/>
              <a:t>find </a:t>
            </a:r>
            <a:r>
              <a:rPr lang="en-US" dirty="0" err="1"/>
              <a:t>ciphertext</a:t>
            </a:r>
            <a:r>
              <a:rPr lang="en-US" dirty="0"/>
              <a:t> from the plain text following formula is used to get </a:t>
            </a:r>
            <a:r>
              <a:rPr lang="en-US" dirty="0" err="1"/>
              <a:t>ciphertext</a:t>
            </a:r>
            <a:r>
              <a:rPr lang="en-US" dirty="0"/>
              <a:t> </a:t>
            </a:r>
            <a:r>
              <a:rPr lang="en-US" dirty="0" smtClean="0"/>
              <a:t>C. </a:t>
            </a:r>
          </a:p>
          <a:p>
            <a:pPr marL="631825" indent="-363538">
              <a:buFont typeface="Wingdings" panose="05000000000000000000" pitchFamily="2" charset="2"/>
              <a:buChar char="§"/>
            </a:pPr>
            <a:r>
              <a:rPr lang="en-US" b="1" dirty="0" smtClean="0"/>
              <a:t>C=m</a:t>
            </a:r>
            <a:r>
              <a:rPr lang="en-US" b="1" baseline="30000" dirty="0" smtClean="0"/>
              <a:t>e</a:t>
            </a:r>
            <a:r>
              <a:rPr lang="en-US" b="1" dirty="0"/>
              <a:t> mod </a:t>
            </a:r>
            <a:r>
              <a:rPr lang="en-US" b="1" dirty="0" smtClean="0"/>
              <a:t>n</a:t>
            </a:r>
            <a:r>
              <a:rPr lang="en-US" dirty="0"/>
              <a:t> </a:t>
            </a:r>
            <a:r>
              <a:rPr lang="en-US" dirty="0" smtClean="0"/>
              <a:t>Here</a:t>
            </a:r>
            <a:r>
              <a:rPr lang="en-US" b="1" dirty="0"/>
              <a:t>, m</a:t>
            </a:r>
            <a:r>
              <a:rPr lang="en-US" dirty="0"/>
              <a:t> must be less than </a:t>
            </a:r>
            <a:r>
              <a:rPr lang="en-US" b="1" dirty="0"/>
              <a:t>n</a:t>
            </a:r>
            <a:r>
              <a:rPr lang="en-US" dirty="0"/>
              <a:t>. </a:t>
            </a:r>
            <a:endParaRPr lang="en-US" dirty="0" smtClean="0"/>
          </a:p>
          <a:p>
            <a:pPr marL="631825" indent="-363538">
              <a:buFont typeface="Wingdings" panose="05000000000000000000" pitchFamily="2" charset="2"/>
              <a:buChar char="§"/>
            </a:pPr>
            <a:r>
              <a:rPr lang="en-US" dirty="0" smtClean="0"/>
              <a:t>A </a:t>
            </a:r>
            <a:r>
              <a:rPr lang="en-US" dirty="0"/>
              <a:t>larger message (&gt;n) is treated as a concatenation of messages, each of which is encrypted separately</a:t>
            </a:r>
            <a:r>
              <a:rPr lang="en-US" dirty="0" smtClean="0"/>
              <a:t>.</a:t>
            </a:r>
            <a:endParaRPr lang="en-US" sz="2400" dirty="0"/>
          </a:p>
        </p:txBody>
      </p:sp>
    </p:spTree>
    <p:extLst>
      <p:ext uri="{BB962C8B-B14F-4D97-AF65-F5344CB8AC3E}">
        <p14:creationId xmlns:p14="http://schemas.microsoft.com/office/powerpoint/2010/main" val="1341538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RSA encryption algorithm</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marL="457200" indent="-457200">
              <a:buFont typeface="+mj-lt"/>
              <a:buAutoNum type="arabicPeriod" startAt="5"/>
            </a:pPr>
            <a:r>
              <a:rPr lang="en-US" dirty="0" smtClean="0"/>
              <a:t>To </a:t>
            </a:r>
            <a:r>
              <a:rPr lang="en-US" dirty="0"/>
              <a:t>determine the private key, we use the following formula to calculate the d such that</a:t>
            </a:r>
            <a:r>
              <a:rPr lang="en-US" dirty="0" smtClean="0"/>
              <a:t>:</a:t>
            </a:r>
          </a:p>
          <a:p>
            <a:pPr marL="631825" indent="-268288">
              <a:buFont typeface="Wingdings" panose="05000000000000000000" pitchFamily="2" charset="2"/>
              <a:buChar char="§"/>
            </a:pPr>
            <a:r>
              <a:rPr lang="en-US" b="1" dirty="0" smtClean="0"/>
              <a:t>D</a:t>
            </a:r>
            <a:r>
              <a:rPr lang="en-US" b="1" baseline="-25000" dirty="0" smtClean="0"/>
              <a:t>e</a:t>
            </a:r>
            <a:r>
              <a:rPr lang="en-US" b="1" dirty="0"/>
              <a:t> mod {(p - 1) x (q - 1)} = </a:t>
            </a:r>
            <a:r>
              <a:rPr lang="en-US" b="1" dirty="0" smtClean="0"/>
              <a:t>1</a:t>
            </a:r>
            <a:r>
              <a:rPr lang="en-US" dirty="0"/>
              <a:t> </a:t>
            </a:r>
            <a:r>
              <a:rPr lang="en-US" dirty="0" smtClean="0"/>
              <a:t>Or </a:t>
            </a:r>
          </a:p>
          <a:p>
            <a:pPr marL="631825" indent="-268288">
              <a:buFont typeface="Wingdings" panose="05000000000000000000" pitchFamily="2" charset="2"/>
              <a:buChar char="§"/>
            </a:pPr>
            <a:r>
              <a:rPr lang="en-US" b="1" dirty="0" smtClean="0"/>
              <a:t>D</a:t>
            </a:r>
            <a:r>
              <a:rPr lang="en-US" b="1" baseline="-25000" dirty="0" smtClean="0"/>
              <a:t>e</a:t>
            </a:r>
            <a:r>
              <a:rPr lang="en-US" b="1" dirty="0"/>
              <a:t> mod φ (n) = </a:t>
            </a:r>
            <a:r>
              <a:rPr lang="en-US" b="1" dirty="0" smtClean="0"/>
              <a:t>1</a:t>
            </a:r>
          </a:p>
          <a:p>
            <a:pPr marL="457200" indent="-457200">
              <a:buFont typeface="+mj-lt"/>
              <a:buAutoNum type="arabicPeriod" startAt="6"/>
            </a:pPr>
            <a:r>
              <a:rPr lang="en-US" dirty="0"/>
              <a:t>The private key is &lt;d, n&gt;. A </a:t>
            </a:r>
            <a:r>
              <a:rPr lang="en-US" dirty="0" err="1"/>
              <a:t>ciphertext</a:t>
            </a:r>
            <a:r>
              <a:rPr lang="en-US" dirty="0"/>
              <a:t> message </a:t>
            </a:r>
            <a:r>
              <a:rPr lang="en-US" b="1" dirty="0"/>
              <a:t>c</a:t>
            </a:r>
            <a:r>
              <a:rPr lang="en-US" dirty="0"/>
              <a:t> is decrypted using private key &lt;d, n&gt;. </a:t>
            </a:r>
            <a:endParaRPr lang="en-US" dirty="0" smtClean="0"/>
          </a:p>
          <a:p>
            <a:pPr marL="631825" indent="-268288">
              <a:buFont typeface="Wingdings" panose="05000000000000000000" pitchFamily="2" charset="2"/>
              <a:buChar char="§"/>
            </a:pPr>
            <a:r>
              <a:rPr lang="en-US" dirty="0" smtClean="0"/>
              <a:t>To </a:t>
            </a:r>
            <a:r>
              <a:rPr lang="en-US" dirty="0"/>
              <a:t>calculate plain text </a:t>
            </a:r>
            <a:r>
              <a:rPr lang="en-US" b="1" dirty="0"/>
              <a:t>m</a:t>
            </a:r>
            <a:r>
              <a:rPr lang="en-US" dirty="0"/>
              <a:t> from the </a:t>
            </a:r>
            <a:r>
              <a:rPr lang="en-US" dirty="0" err="1"/>
              <a:t>ciphertext</a:t>
            </a:r>
            <a:r>
              <a:rPr lang="en-US" dirty="0"/>
              <a:t> c following formula is used to get plain text m</a:t>
            </a:r>
            <a:r>
              <a:rPr lang="en-US" dirty="0" smtClean="0"/>
              <a:t>.</a:t>
            </a:r>
          </a:p>
          <a:p>
            <a:pPr marL="631825" indent="-268288">
              <a:buFont typeface="Wingdings" panose="05000000000000000000" pitchFamily="2" charset="2"/>
              <a:buChar char="§"/>
            </a:pPr>
            <a:r>
              <a:rPr lang="en-US" b="1" dirty="0" smtClean="0"/>
              <a:t>m </a:t>
            </a:r>
            <a:r>
              <a:rPr lang="en-US" b="1" dirty="0"/>
              <a:t>= c</a:t>
            </a:r>
            <a:r>
              <a:rPr lang="en-US" b="1" baseline="30000" dirty="0"/>
              <a:t>d</a:t>
            </a:r>
            <a:r>
              <a:rPr lang="en-US" b="1" dirty="0"/>
              <a:t> mod </a:t>
            </a:r>
            <a:r>
              <a:rPr lang="en-US" b="1" dirty="0" smtClean="0"/>
              <a:t>n</a:t>
            </a:r>
            <a:endParaRPr lang="en-US" dirty="0"/>
          </a:p>
          <a:p>
            <a:endParaRPr lang="en-US" sz="2400" dirty="0"/>
          </a:p>
        </p:txBody>
      </p:sp>
    </p:spTree>
    <p:extLst>
      <p:ext uri="{BB962C8B-B14F-4D97-AF65-F5344CB8AC3E}">
        <p14:creationId xmlns:p14="http://schemas.microsoft.com/office/powerpoint/2010/main" val="3625549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RSA encryption </a:t>
            </a:r>
            <a:r>
              <a:rPr lang="en-US" dirty="0" smtClean="0"/>
              <a:t>algorithm- An Example</a:t>
            </a:r>
            <a:endParaRPr lang="en-US" dirty="0"/>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b="1" dirty="0"/>
              <a:t>Step 1:</a:t>
            </a:r>
            <a:r>
              <a:rPr lang="en-US" dirty="0"/>
              <a:t> Select two large prime numbers, p, and </a:t>
            </a:r>
            <a:r>
              <a:rPr lang="en-US" b="1" dirty="0"/>
              <a:t>q</a:t>
            </a:r>
            <a:r>
              <a:rPr lang="en-US" dirty="0"/>
              <a:t>.</a:t>
            </a:r>
          </a:p>
          <a:p>
            <a:pPr marL="712788" indent="-349250">
              <a:buFont typeface="Wingdings" panose="05000000000000000000" pitchFamily="2" charset="2"/>
              <a:buChar char="§"/>
            </a:pPr>
            <a:r>
              <a:rPr lang="en-US" dirty="0"/>
              <a:t>p = 7</a:t>
            </a:r>
          </a:p>
          <a:p>
            <a:pPr marL="712788" indent="-349250">
              <a:buFont typeface="Wingdings" panose="05000000000000000000" pitchFamily="2" charset="2"/>
              <a:buChar char="§"/>
            </a:pPr>
            <a:r>
              <a:rPr lang="en-US" dirty="0"/>
              <a:t>q = 11</a:t>
            </a:r>
          </a:p>
          <a:p>
            <a:r>
              <a:rPr lang="en-US" b="1" dirty="0"/>
              <a:t>Step 2:</a:t>
            </a:r>
            <a:r>
              <a:rPr lang="en-US" dirty="0"/>
              <a:t> Multiply these numbers to find </a:t>
            </a:r>
            <a:r>
              <a:rPr lang="en-US" b="1" dirty="0"/>
              <a:t>n = p x q,</a:t>
            </a:r>
            <a:r>
              <a:rPr lang="en-US" dirty="0"/>
              <a:t> where </a:t>
            </a:r>
            <a:r>
              <a:rPr lang="en-US" b="1" dirty="0"/>
              <a:t>n</a:t>
            </a:r>
            <a:r>
              <a:rPr lang="en-US" dirty="0"/>
              <a:t> is called the modulus for encryption and decryption.</a:t>
            </a:r>
          </a:p>
          <a:p>
            <a:pPr marL="712788" indent="-349250">
              <a:buFont typeface="Wingdings" panose="05000000000000000000" pitchFamily="2" charset="2"/>
              <a:buChar char="§"/>
            </a:pPr>
            <a:r>
              <a:rPr lang="en-US" dirty="0"/>
              <a:t>First, we calculate</a:t>
            </a:r>
          </a:p>
          <a:p>
            <a:pPr marL="712788" indent="-349250">
              <a:buFont typeface="Wingdings" panose="05000000000000000000" pitchFamily="2" charset="2"/>
              <a:buChar char="§"/>
            </a:pPr>
            <a:r>
              <a:rPr lang="pt-BR" b="1" dirty="0"/>
              <a:t>n = p x q</a:t>
            </a:r>
            <a:endParaRPr lang="pt-BR" dirty="0"/>
          </a:p>
          <a:p>
            <a:pPr marL="712788" indent="-349250">
              <a:buFont typeface="Wingdings" panose="05000000000000000000" pitchFamily="2" charset="2"/>
              <a:buChar char="§"/>
            </a:pPr>
            <a:r>
              <a:rPr lang="pt-BR" dirty="0"/>
              <a:t>n = 7 x 11</a:t>
            </a:r>
          </a:p>
          <a:p>
            <a:pPr marL="712788" indent="-349250">
              <a:buFont typeface="Wingdings" panose="05000000000000000000" pitchFamily="2" charset="2"/>
              <a:buChar char="§"/>
            </a:pPr>
            <a:r>
              <a:rPr lang="pt-BR" dirty="0"/>
              <a:t>n = 77</a:t>
            </a:r>
          </a:p>
          <a:p>
            <a:endParaRPr lang="en-US" sz="2400" dirty="0"/>
          </a:p>
        </p:txBody>
      </p:sp>
    </p:spTree>
    <p:extLst>
      <p:ext uri="{BB962C8B-B14F-4D97-AF65-F5344CB8AC3E}">
        <p14:creationId xmlns:p14="http://schemas.microsoft.com/office/powerpoint/2010/main" val="3674832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RSA encryption </a:t>
            </a:r>
            <a:r>
              <a:rPr lang="en-US" dirty="0" smtClean="0"/>
              <a:t>algorithm- An Example</a:t>
            </a:r>
            <a:endParaRPr lang="en-US" dirty="0"/>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b="1" dirty="0"/>
              <a:t>Step 3:</a:t>
            </a:r>
            <a:r>
              <a:rPr lang="en-US" dirty="0"/>
              <a:t> Choose a number </a:t>
            </a:r>
            <a:r>
              <a:rPr lang="en-US" b="1" dirty="0"/>
              <a:t>e</a:t>
            </a:r>
            <a:r>
              <a:rPr lang="en-US" dirty="0"/>
              <a:t> less that </a:t>
            </a:r>
            <a:r>
              <a:rPr lang="en-US" b="1" dirty="0"/>
              <a:t>n</a:t>
            </a:r>
            <a:r>
              <a:rPr lang="en-US" dirty="0"/>
              <a:t>, such that n is relatively prime to </a:t>
            </a:r>
            <a:r>
              <a:rPr lang="en-US" b="1" dirty="0"/>
              <a:t>(p - 1) x (q -1).</a:t>
            </a:r>
            <a:r>
              <a:rPr lang="en-US" dirty="0"/>
              <a:t> It means that </a:t>
            </a:r>
            <a:r>
              <a:rPr lang="en-US" b="1" dirty="0"/>
              <a:t>e</a:t>
            </a:r>
            <a:r>
              <a:rPr lang="en-US" dirty="0"/>
              <a:t> and </a:t>
            </a:r>
            <a:r>
              <a:rPr lang="en-US" b="1" dirty="0"/>
              <a:t>(p - 1) x (q - 1)</a:t>
            </a:r>
            <a:r>
              <a:rPr lang="en-US" dirty="0"/>
              <a:t> have no common factor except 1. Choose "e" such that 1&lt;e &lt; φ (n), e is prime to φ (n), </a:t>
            </a:r>
            <a:r>
              <a:rPr lang="en-US" dirty="0" err="1"/>
              <a:t>gcd</a:t>
            </a:r>
            <a:r>
              <a:rPr lang="en-US" dirty="0"/>
              <a:t> (e, d (n)) =1.</a:t>
            </a:r>
          </a:p>
          <a:p>
            <a:pPr marL="631825" indent="-363538">
              <a:buFont typeface="Wingdings" panose="05000000000000000000" pitchFamily="2" charset="2"/>
              <a:buChar char="§"/>
            </a:pPr>
            <a:r>
              <a:rPr lang="en-US" dirty="0"/>
              <a:t>Second, we calculate</a:t>
            </a:r>
          </a:p>
          <a:p>
            <a:pPr marL="631825" indent="-363538">
              <a:buFont typeface="Wingdings" panose="05000000000000000000" pitchFamily="2" charset="2"/>
              <a:buChar char="§"/>
            </a:pPr>
            <a:r>
              <a:rPr lang="pt-BR" b="1" dirty="0"/>
              <a:t>φ (n) = (p - 1) x (q-1)</a:t>
            </a:r>
            <a:endParaRPr lang="pt-BR" dirty="0"/>
          </a:p>
          <a:p>
            <a:pPr marL="631825" indent="-363538">
              <a:buFont typeface="Wingdings" panose="05000000000000000000" pitchFamily="2" charset="2"/>
              <a:buChar char="§"/>
            </a:pPr>
            <a:r>
              <a:rPr lang="pt-BR" dirty="0"/>
              <a:t>φ (n) = (7 - 1) x (11 - 1)</a:t>
            </a:r>
          </a:p>
          <a:p>
            <a:pPr marL="631825" indent="-363538">
              <a:buFont typeface="Wingdings" panose="05000000000000000000" pitchFamily="2" charset="2"/>
              <a:buChar char="§"/>
            </a:pPr>
            <a:r>
              <a:rPr lang="pt-BR" dirty="0"/>
              <a:t>φ (n) = 6 x 10</a:t>
            </a:r>
          </a:p>
          <a:p>
            <a:pPr marL="631825" indent="-363538">
              <a:buFont typeface="Wingdings" panose="05000000000000000000" pitchFamily="2" charset="2"/>
              <a:buChar char="§"/>
            </a:pPr>
            <a:r>
              <a:rPr lang="en-US" dirty="0"/>
              <a:t>φ (n) = 60</a:t>
            </a:r>
          </a:p>
          <a:p>
            <a:pPr marL="631825" indent="-363538">
              <a:buFont typeface="Wingdings" panose="05000000000000000000" pitchFamily="2" charset="2"/>
              <a:buChar char="§"/>
            </a:pPr>
            <a:r>
              <a:rPr lang="en-US" dirty="0"/>
              <a:t>Let us now choose relative prime e of 60 as 7.</a:t>
            </a:r>
          </a:p>
          <a:p>
            <a:pPr marL="631825" indent="-363538">
              <a:buFont typeface="Wingdings" panose="05000000000000000000" pitchFamily="2" charset="2"/>
              <a:buChar char="§"/>
            </a:pPr>
            <a:r>
              <a:rPr lang="en-US" dirty="0"/>
              <a:t>Thus the public key is &lt;e, n&gt; = (7, 77)</a:t>
            </a:r>
          </a:p>
          <a:p>
            <a:endParaRPr lang="en-US" sz="2400" dirty="0"/>
          </a:p>
        </p:txBody>
      </p:sp>
    </p:spTree>
    <p:extLst>
      <p:ext uri="{BB962C8B-B14F-4D97-AF65-F5344CB8AC3E}">
        <p14:creationId xmlns:p14="http://schemas.microsoft.com/office/powerpoint/2010/main" val="3900485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RSA encryption </a:t>
            </a:r>
            <a:r>
              <a:rPr lang="en-US" dirty="0" smtClean="0"/>
              <a:t>algorithm- An Example</a:t>
            </a:r>
            <a:endParaRPr lang="en-US" dirty="0"/>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b="1" dirty="0"/>
              <a:t>Step 4:</a:t>
            </a:r>
            <a:r>
              <a:rPr lang="en-US" dirty="0"/>
              <a:t> A plaintext message </a:t>
            </a:r>
            <a:r>
              <a:rPr lang="en-US" b="1" dirty="0"/>
              <a:t>m</a:t>
            </a:r>
            <a:r>
              <a:rPr lang="en-US" dirty="0"/>
              <a:t> is encrypted using public key &lt;e, n&gt;. To find </a:t>
            </a:r>
            <a:r>
              <a:rPr lang="en-US" dirty="0" err="1"/>
              <a:t>ciphertext</a:t>
            </a:r>
            <a:r>
              <a:rPr lang="en-US" dirty="0"/>
              <a:t> from the plain text following formula is used to get </a:t>
            </a:r>
            <a:r>
              <a:rPr lang="en-US" dirty="0" err="1"/>
              <a:t>ciphertext</a:t>
            </a:r>
            <a:r>
              <a:rPr lang="en-US" dirty="0"/>
              <a:t> C.</a:t>
            </a:r>
          </a:p>
          <a:p>
            <a:pPr marL="631825" indent="-363538">
              <a:buFont typeface="Wingdings" panose="05000000000000000000" pitchFamily="2" charset="2"/>
              <a:buChar char="§"/>
            </a:pPr>
            <a:r>
              <a:rPr lang="en-US" dirty="0"/>
              <a:t>To find </a:t>
            </a:r>
            <a:r>
              <a:rPr lang="en-US" dirty="0" err="1"/>
              <a:t>ciphertext</a:t>
            </a:r>
            <a:r>
              <a:rPr lang="en-US" dirty="0"/>
              <a:t> from the plain text following formula is used to get </a:t>
            </a:r>
            <a:r>
              <a:rPr lang="en-US" dirty="0" err="1"/>
              <a:t>ciphertext</a:t>
            </a:r>
            <a:r>
              <a:rPr lang="en-US" dirty="0"/>
              <a:t> C.</a:t>
            </a:r>
          </a:p>
          <a:p>
            <a:pPr marL="631825" indent="-363538">
              <a:buFont typeface="Wingdings" panose="05000000000000000000" pitchFamily="2" charset="2"/>
              <a:buChar char="§"/>
            </a:pPr>
            <a:r>
              <a:rPr lang="en-US" b="1" dirty="0"/>
              <a:t>C = m</a:t>
            </a:r>
            <a:r>
              <a:rPr lang="en-US" b="1" baseline="30000" dirty="0"/>
              <a:t>e</a:t>
            </a:r>
            <a:r>
              <a:rPr lang="en-US" b="1" dirty="0"/>
              <a:t> mod n</a:t>
            </a:r>
            <a:endParaRPr lang="en-US" dirty="0"/>
          </a:p>
          <a:p>
            <a:pPr marL="631825" indent="-363538">
              <a:buFont typeface="Wingdings" panose="05000000000000000000" pitchFamily="2" charset="2"/>
              <a:buChar char="§"/>
            </a:pPr>
            <a:r>
              <a:rPr lang="en-US" dirty="0"/>
              <a:t>C = 9</a:t>
            </a:r>
            <a:r>
              <a:rPr lang="en-US" baseline="30000" dirty="0"/>
              <a:t>7</a:t>
            </a:r>
            <a:r>
              <a:rPr lang="en-US" dirty="0"/>
              <a:t> mod 77</a:t>
            </a:r>
          </a:p>
          <a:p>
            <a:pPr marL="631825" indent="-363538">
              <a:buFont typeface="Wingdings" panose="05000000000000000000" pitchFamily="2" charset="2"/>
              <a:buChar char="§"/>
            </a:pPr>
            <a:r>
              <a:rPr lang="en-US" dirty="0"/>
              <a:t>C = 37</a:t>
            </a:r>
          </a:p>
          <a:p>
            <a:r>
              <a:rPr lang="en-US" b="1" dirty="0"/>
              <a:t>Step 5:</a:t>
            </a:r>
            <a:r>
              <a:rPr lang="en-US" dirty="0"/>
              <a:t> The private key is &lt;d, n&gt;. To determine the private key, we use the following formula d such that</a:t>
            </a:r>
            <a:r>
              <a:rPr lang="en-US" dirty="0" smtClean="0"/>
              <a:t>:</a:t>
            </a:r>
          </a:p>
          <a:p>
            <a:pPr marL="631825" indent="-363538">
              <a:buFont typeface="Wingdings" panose="05000000000000000000" pitchFamily="2" charset="2"/>
              <a:buChar char="§"/>
            </a:pPr>
            <a:r>
              <a:rPr lang="en-US" b="1" dirty="0"/>
              <a:t>D</a:t>
            </a:r>
            <a:r>
              <a:rPr lang="en-US" b="1" baseline="-25000" dirty="0"/>
              <a:t>e</a:t>
            </a:r>
            <a:r>
              <a:rPr lang="en-US" b="1" dirty="0"/>
              <a:t> mod {(p - 1) x (q - 1)} = 1</a:t>
            </a:r>
            <a:endParaRPr lang="en-US" dirty="0"/>
          </a:p>
          <a:p>
            <a:pPr marL="631825" indent="-363538">
              <a:buFont typeface="Wingdings" panose="05000000000000000000" pitchFamily="2" charset="2"/>
              <a:buChar char="§"/>
            </a:pPr>
            <a:r>
              <a:rPr lang="en-US" dirty="0"/>
              <a:t>7</a:t>
            </a:r>
            <a:r>
              <a:rPr lang="en-US" baseline="30000" dirty="0"/>
              <a:t>d</a:t>
            </a:r>
            <a:r>
              <a:rPr lang="en-US" dirty="0"/>
              <a:t> mod 60 = 1, which gives d = 43</a:t>
            </a:r>
          </a:p>
          <a:p>
            <a:pPr marL="631825" indent="-363538">
              <a:buFont typeface="Wingdings" panose="05000000000000000000" pitchFamily="2" charset="2"/>
              <a:buChar char="§"/>
            </a:pPr>
            <a:r>
              <a:rPr lang="en-US" dirty="0"/>
              <a:t>The private key is &lt;d, n&gt; = (43, 77)</a:t>
            </a:r>
          </a:p>
          <a:p>
            <a:endParaRPr lang="en-US" sz="2400" dirty="0"/>
          </a:p>
        </p:txBody>
      </p:sp>
    </p:spTree>
    <p:extLst>
      <p:ext uri="{BB962C8B-B14F-4D97-AF65-F5344CB8AC3E}">
        <p14:creationId xmlns:p14="http://schemas.microsoft.com/office/powerpoint/2010/main" val="4146185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RSA encryption </a:t>
            </a:r>
            <a:r>
              <a:rPr lang="en-US" dirty="0" smtClean="0"/>
              <a:t>algorithm- An Example</a:t>
            </a:r>
            <a:endParaRPr lang="en-US" dirty="0"/>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b="1" dirty="0"/>
              <a:t>Step 6:</a:t>
            </a:r>
            <a:r>
              <a:rPr lang="en-US" dirty="0"/>
              <a:t> A </a:t>
            </a:r>
            <a:r>
              <a:rPr lang="en-US" dirty="0" err="1"/>
              <a:t>ciphertext</a:t>
            </a:r>
            <a:r>
              <a:rPr lang="en-US" dirty="0"/>
              <a:t> message </a:t>
            </a:r>
            <a:r>
              <a:rPr lang="en-US" b="1" dirty="0"/>
              <a:t>c</a:t>
            </a:r>
            <a:r>
              <a:rPr lang="en-US" dirty="0"/>
              <a:t> is decrypted using private key &lt;d, n&gt;. To calculate plain text </a:t>
            </a:r>
            <a:r>
              <a:rPr lang="en-US" b="1" dirty="0"/>
              <a:t>m</a:t>
            </a:r>
            <a:r>
              <a:rPr lang="en-US" dirty="0"/>
              <a:t> from the </a:t>
            </a:r>
            <a:r>
              <a:rPr lang="en-US" dirty="0" err="1"/>
              <a:t>ciphertext</a:t>
            </a:r>
            <a:r>
              <a:rPr lang="en-US" dirty="0"/>
              <a:t> c following formula is used to get plain text m.</a:t>
            </a:r>
          </a:p>
          <a:p>
            <a:pPr marL="631825" indent="-363538">
              <a:buFont typeface="Wingdings" panose="05000000000000000000" pitchFamily="2" charset="2"/>
              <a:buChar char="§"/>
            </a:pPr>
            <a:r>
              <a:rPr lang="en-US" b="1" dirty="0"/>
              <a:t>m = c</a:t>
            </a:r>
            <a:r>
              <a:rPr lang="en-US" b="1" baseline="30000" dirty="0"/>
              <a:t>d</a:t>
            </a:r>
            <a:r>
              <a:rPr lang="en-US" b="1" dirty="0"/>
              <a:t> mod n</a:t>
            </a:r>
            <a:endParaRPr lang="en-US" dirty="0"/>
          </a:p>
          <a:p>
            <a:pPr marL="631825" indent="-363538">
              <a:buFont typeface="Wingdings" panose="05000000000000000000" pitchFamily="2" charset="2"/>
              <a:buChar char="§"/>
            </a:pPr>
            <a:r>
              <a:rPr lang="en-US" dirty="0"/>
              <a:t>m = 37</a:t>
            </a:r>
            <a:r>
              <a:rPr lang="en-US" baseline="30000" dirty="0"/>
              <a:t>43</a:t>
            </a:r>
            <a:r>
              <a:rPr lang="en-US" dirty="0"/>
              <a:t> mod 77</a:t>
            </a:r>
          </a:p>
          <a:p>
            <a:pPr marL="631825" indent="-363538">
              <a:buFont typeface="Wingdings" panose="05000000000000000000" pitchFamily="2" charset="2"/>
              <a:buChar char="§"/>
            </a:pPr>
            <a:r>
              <a:rPr lang="en-US" dirty="0"/>
              <a:t>m = 9</a:t>
            </a:r>
          </a:p>
          <a:p>
            <a:pPr marL="631825" indent="-363538">
              <a:buFont typeface="Wingdings" panose="05000000000000000000" pitchFamily="2" charset="2"/>
              <a:buChar char="§"/>
            </a:pPr>
            <a:r>
              <a:rPr lang="en-US" dirty="0"/>
              <a:t>In this example, Plain text = 9 and the </a:t>
            </a:r>
            <a:r>
              <a:rPr lang="en-US" dirty="0" err="1"/>
              <a:t>ciphertext</a:t>
            </a:r>
            <a:r>
              <a:rPr lang="en-US" dirty="0"/>
              <a:t> = 37</a:t>
            </a:r>
          </a:p>
          <a:p>
            <a:endParaRPr lang="en-US" sz="2400" dirty="0"/>
          </a:p>
        </p:txBody>
      </p:sp>
    </p:spTree>
    <p:extLst>
      <p:ext uri="{BB962C8B-B14F-4D97-AF65-F5344CB8AC3E}">
        <p14:creationId xmlns:p14="http://schemas.microsoft.com/office/powerpoint/2010/main" val="432869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RSA encryption </a:t>
            </a:r>
            <a:r>
              <a:rPr lang="en-US" dirty="0" smtClean="0"/>
              <a:t>algorithm- Overview</a:t>
            </a:r>
            <a:endParaRPr lang="en-US" dirty="0"/>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dirty="0"/>
              <a:t>Choose two large prime numbers p &amp; q</a:t>
            </a:r>
          </a:p>
          <a:p>
            <a:r>
              <a:rPr lang="en-US" dirty="0"/>
              <a:t>Compute n=</a:t>
            </a:r>
            <a:r>
              <a:rPr lang="en-US" dirty="0" err="1"/>
              <a:t>pq</a:t>
            </a:r>
            <a:r>
              <a:rPr lang="en-US" dirty="0"/>
              <a:t> and z=(p-1)(q-1)</a:t>
            </a:r>
          </a:p>
          <a:p>
            <a:r>
              <a:rPr lang="en-US" dirty="0"/>
              <a:t>Choose number e, less than n, which has no common factor (other than 1) with z</a:t>
            </a:r>
          </a:p>
          <a:p>
            <a:r>
              <a:rPr lang="en-US" dirty="0"/>
              <a:t>Find number d, such that </a:t>
            </a:r>
            <a:r>
              <a:rPr lang="en-US" dirty="0" err="1"/>
              <a:t>ed</a:t>
            </a:r>
            <a:r>
              <a:rPr lang="en-US" dirty="0"/>
              <a:t> – 1 is exactly divisible by z</a:t>
            </a:r>
          </a:p>
          <a:p>
            <a:r>
              <a:rPr lang="en-US" dirty="0"/>
              <a:t>Keys are generated using n, d, e</a:t>
            </a:r>
          </a:p>
          <a:p>
            <a:pPr lvl="2"/>
            <a:r>
              <a:rPr lang="en-US" sz="2400" dirty="0"/>
              <a:t>Public key is (</a:t>
            </a:r>
            <a:r>
              <a:rPr lang="en-US" sz="2400" dirty="0" err="1"/>
              <a:t>n,e</a:t>
            </a:r>
            <a:r>
              <a:rPr lang="en-US" sz="2400" dirty="0"/>
              <a:t>)</a:t>
            </a:r>
          </a:p>
          <a:p>
            <a:pPr lvl="2"/>
            <a:r>
              <a:rPr lang="en-US" sz="2400" dirty="0"/>
              <a:t>Private key is (n, d)</a:t>
            </a:r>
          </a:p>
          <a:p>
            <a:r>
              <a:rPr lang="en-US" dirty="0"/>
              <a:t>Encryption: </a:t>
            </a:r>
            <a:r>
              <a:rPr lang="en-US" b="1" dirty="0">
                <a:solidFill>
                  <a:schemeClr val="accent6"/>
                </a:solidFill>
              </a:rPr>
              <a:t>c = m</a:t>
            </a:r>
            <a:r>
              <a:rPr lang="en-US" b="1" baseline="30000" dirty="0">
                <a:solidFill>
                  <a:schemeClr val="accent6"/>
                </a:solidFill>
              </a:rPr>
              <a:t>e</a:t>
            </a:r>
            <a:r>
              <a:rPr lang="en-US" b="1" dirty="0">
                <a:solidFill>
                  <a:schemeClr val="accent6"/>
                </a:solidFill>
              </a:rPr>
              <a:t> mod n </a:t>
            </a:r>
          </a:p>
          <a:p>
            <a:pPr lvl="2"/>
            <a:r>
              <a:rPr lang="en-US" sz="2400" dirty="0"/>
              <a:t>m is plain text</a:t>
            </a:r>
          </a:p>
          <a:p>
            <a:pPr lvl="2"/>
            <a:r>
              <a:rPr lang="en-US" sz="2400" dirty="0"/>
              <a:t>c is cipher text</a:t>
            </a:r>
          </a:p>
          <a:p>
            <a:r>
              <a:rPr lang="en-US" dirty="0"/>
              <a:t>Decryption: </a:t>
            </a:r>
            <a:r>
              <a:rPr lang="en-US" b="1" dirty="0">
                <a:solidFill>
                  <a:schemeClr val="accent6"/>
                </a:solidFill>
              </a:rPr>
              <a:t>m = c</a:t>
            </a:r>
            <a:r>
              <a:rPr lang="en-US" b="1" baseline="30000" dirty="0">
                <a:solidFill>
                  <a:schemeClr val="accent6"/>
                </a:solidFill>
              </a:rPr>
              <a:t>d</a:t>
            </a:r>
            <a:r>
              <a:rPr lang="en-US" b="1" dirty="0">
                <a:solidFill>
                  <a:schemeClr val="accent6"/>
                </a:solidFill>
              </a:rPr>
              <a:t> mod n</a:t>
            </a:r>
          </a:p>
          <a:p>
            <a:r>
              <a:rPr lang="en-US" dirty="0"/>
              <a:t>Public key is shared and the private key is </a:t>
            </a:r>
            <a:r>
              <a:rPr lang="en-US" dirty="0" smtClean="0"/>
              <a:t>hidden</a:t>
            </a:r>
            <a:endParaRPr lang="en-US" dirty="0"/>
          </a:p>
        </p:txBody>
      </p:sp>
    </p:spTree>
    <p:extLst>
      <p:ext uri="{BB962C8B-B14F-4D97-AF65-F5344CB8AC3E}">
        <p14:creationId xmlns:p14="http://schemas.microsoft.com/office/powerpoint/2010/main" val="9715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RSA protocol</a:t>
            </a:r>
          </a:p>
        </p:txBody>
      </p:sp>
      <p:sp>
        <p:nvSpPr>
          <p:cNvPr id="11" name="Content Placeholder 2"/>
          <p:cNvSpPr>
            <a:spLocks noGrp="1"/>
          </p:cNvSpPr>
          <p:nvPr>
            <p:ph idx="1"/>
          </p:nvPr>
        </p:nvSpPr>
        <p:spPr>
          <a:xfrm>
            <a:off x="0" y="711201"/>
            <a:ext cx="7859702" cy="5877858"/>
          </a:xfrm>
        </p:spPr>
        <p:txBody>
          <a:bodyPr/>
          <a:lstStyle/>
          <a:p>
            <a:r>
              <a:rPr lang="en-US" dirty="0" smtClean="0"/>
              <a:t>Invented by </a:t>
            </a:r>
            <a:r>
              <a:rPr lang="en-US" dirty="0" err="1" smtClean="0"/>
              <a:t>Rivest</a:t>
            </a:r>
            <a:r>
              <a:rPr lang="en-US" dirty="0" smtClean="0"/>
              <a:t>, Shamir and </a:t>
            </a:r>
            <a:r>
              <a:rPr lang="en-US" dirty="0" err="1" smtClean="0"/>
              <a:t>Adleman</a:t>
            </a:r>
            <a:r>
              <a:rPr lang="en-US" dirty="0" smtClean="0"/>
              <a:t> (RSA) as a protocol for Public-key systems</a:t>
            </a:r>
          </a:p>
          <a:p>
            <a:r>
              <a:rPr lang="en-US" dirty="0" smtClean="0"/>
              <a:t>Approach:</a:t>
            </a:r>
          </a:p>
          <a:p>
            <a:pPr marL="914400" lvl="1" indent="-457200">
              <a:buFont typeface="+mj-lt"/>
              <a:buAutoNum type="arabicPeriod"/>
            </a:pPr>
            <a:r>
              <a:rPr lang="en-US" sz="2400" dirty="0" smtClean="0"/>
              <a:t>Choose two very large prime numbers, </a:t>
            </a:r>
            <a:r>
              <a:rPr lang="en-US" sz="2400" dirty="0" smtClean="0">
                <a:solidFill>
                  <a:schemeClr val="tx1"/>
                </a:solidFill>
              </a:rPr>
              <a:t>p</a:t>
            </a:r>
            <a:r>
              <a:rPr lang="en-US" sz="2400" dirty="0" smtClean="0"/>
              <a:t> and </a:t>
            </a:r>
            <a:r>
              <a:rPr lang="en-US" sz="2400" dirty="0" smtClean="0">
                <a:solidFill>
                  <a:schemeClr val="tx1"/>
                </a:solidFill>
              </a:rPr>
              <a:t>q</a:t>
            </a:r>
          </a:p>
          <a:p>
            <a:pPr marL="914400" lvl="1" indent="-457200">
              <a:buFont typeface="+mj-lt"/>
              <a:buAutoNum type="arabicPeriod"/>
            </a:pPr>
            <a:r>
              <a:rPr lang="en-US" sz="2400" dirty="0" smtClean="0"/>
              <a:t>Compute </a:t>
            </a:r>
            <a:r>
              <a:rPr lang="en-US" sz="2400" dirty="0" smtClean="0">
                <a:solidFill>
                  <a:schemeClr val="tx1"/>
                </a:solidFill>
              </a:rPr>
              <a:t>n = </a:t>
            </a:r>
            <a:r>
              <a:rPr lang="en-US" sz="2400" dirty="0" err="1" smtClean="0">
                <a:solidFill>
                  <a:schemeClr val="tx1"/>
                </a:solidFill>
              </a:rPr>
              <a:t>pq</a:t>
            </a:r>
            <a:endParaRPr lang="en-US" sz="2400" dirty="0">
              <a:solidFill>
                <a:schemeClr val="tx1"/>
              </a:solidFill>
            </a:endParaRPr>
          </a:p>
          <a:p>
            <a:pPr marL="914400" lvl="1" indent="-457200">
              <a:buFont typeface="+mj-lt"/>
              <a:buAutoNum type="arabicPeriod"/>
            </a:pPr>
            <a:r>
              <a:rPr lang="en-US" sz="2400" dirty="0" smtClean="0"/>
              <a:t>Compute </a:t>
            </a:r>
            <a:r>
              <a:rPr lang="en-US" sz="2400" dirty="0" smtClean="0">
                <a:solidFill>
                  <a:schemeClr val="tx1"/>
                </a:solidFill>
              </a:rPr>
              <a:t>z = (p-1)(q-1)</a:t>
            </a:r>
          </a:p>
          <a:p>
            <a:pPr marL="914400" lvl="1" indent="-457200">
              <a:buFont typeface="+mj-lt"/>
              <a:buAutoNum type="arabicPeriod"/>
            </a:pPr>
            <a:r>
              <a:rPr lang="en-US" sz="2400" dirty="0" smtClean="0"/>
              <a:t>Choose a number </a:t>
            </a:r>
            <a:r>
              <a:rPr lang="en-US" sz="2400" dirty="0">
                <a:solidFill>
                  <a:schemeClr val="tx1"/>
                </a:solidFill>
              </a:rPr>
              <a:t>e</a:t>
            </a:r>
            <a:r>
              <a:rPr lang="en-US" sz="2400" dirty="0" smtClean="0"/>
              <a:t> that is relatively prime to </a:t>
            </a:r>
            <a:r>
              <a:rPr lang="en-US" sz="2400" dirty="0" smtClean="0">
                <a:solidFill>
                  <a:schemeClr val="tx1"/>
                </a:solidFill>
              </a:rPr>
              <a:t>z</a:t>
            </a:r>
          </a:p>
          <a:p>
            <a:pPr lvl="2"/>
            <a:r>
              <a:rPr lang="en-US" sz="2400" dirty="0">
                <a:solidFill>
                  <a:schemeClr val="tx1"/>
                </a:solidFill>
              </a:rPr>
              <a:t>e</a:t>
            </a:r>
            <a:r>
              <a:rPr lang="en-US" sz="2400" dirty="0" smtClean="0"/>
              <a:t> is co-prime to </a:t>
            </a:r>
            <a:r>
              <a:rPr lang="en-US" sz="2400" dirty="0" smtClean="0">
                <a:solidFill>
                  <a:schemeClr val="tx1"/>
                </a:solidFill>
              </a:rPr>
              <a:t>z</a:t>
            </a:r>
            <a:endParaRPr lang="en-US" sz="2400" dirty="0">
              <a:solidFill>
                <a:schemeClr val="tx1"/>
              </a:solidFill>
            </a:endParaRPr>
          </a:p>
          <a:p>
            <a:pPr marL="914400" lvl="1" indent="-457200">
              <a:buFont typeface="+mj-lt"/>
              <a:buAutoNum type="arabicPeriod"/>
            </a:pPr>
            <a:r>
              <a:rPr lang="en-US" sz="2400" dirty="0" smtClean="0"/>
              <a:t>Compute the number </a:t>
            </a:r>
            <a:r>
              <a:rPr lang="en-US" sz="2400" dirty="0">
                <a:solidFill>
                  <a:schemeClr val="tx1"/>
                </a:solidFill>
              </a:rPr>
              <a:t>d</a:t>
            </a:r>
            <a:r>
              <a:rPr lang="en-US" sz="2400" dirty="0" smtClean="0"/>
              <a:t> such that </a:t>
            </a:r>
            <a:r>
              <a:rPr lang="en-US" sz="2400" dirty="0" smtClean="0">
                <a:solidFill>
                  <a:schemeClr val="tx1"/>
                </a:solidFill>
              </a:rPr>
              <a:t>de % z = 1</a:t>
            </a:r>
          </a:p>
          <a:p>
            <a:pPr lvl="2"/>
            <a:r>
              <a:rPr lang="en-US" sz="2400" dirty="0" smtClean="0"/>
              <a:t>This is equivalent to finding </a:t>
            </a:r>
            <a:r>
              <a:rPr lang="en-US" sz="2400" dirty="0" smtClean="0">
                <a:solidFill>
                  <a:schemeClr val="tx1"/>
                </a:solidFill>
              </a:rPr>
              <a:t>de = 1 + </a:t>
            </a:r>
            <a:r>
              <a:rPr lang="en-US" sz="2400" dirty="0" err="1">
                <a:solidFill>
                  <a:schemeClr val="tx1"/>
                </a:solidFill>
              </a:rPr>
              <a:t>k</a:t>
            </a:r>
            <a:r>
              <a:rPr lang="en-US" sz="2400" dirty="0" err="1" smtClean="0">
                <a:solidFill>
                  <a:schemeClr val="tx1"/>
                </a:solidFill>
              </a:rPr>
              <a:t>z</a:t>
            </a:r>
            <a:r>
              <a:rPr lang="en-US" sz="2400" dirty="0" smtClean="0"/>
              <a:t> for some </a:t>
            </a:r>
            <a:br>
              <a:rPr lang="en-US" sz="2400" dirty="0" smtClean="0"/>
            </a:br>
            <a:r>
              <a:rPr lang="en-US" sz="2400" dirty="0" smtClean="0"/>
              <a:t>integer </a:t>
            </a:r>
            <a:r>
              <a:rPr lang="en-US" sz="2400" dirty="0" smtClean="0">
                <a:solidFill>
                  <a:schemeClr val="tx1"/>
                </a:solidFill>
              </a:rPr>
              <a:t>k</a:t>
            </a:r>
          </a:p>
          <a:p>
            <a:r>
              <a:rPr lang="en-US" dirty="0" smtClean="0"/>
              <a:t>Depending on the requirement,  </a:t>
            </a:r>
            <a:r>
              <a:rPr lang="en-US" dirty="0" smtClean="0">
                <a:solidFill>
                  <a:schemeClr val="tx1"/>
                </a:solidFill>
              </a:rPr>
              <a:t>d</a:t>
            </a:r>
            <a:r>
              <a:rPr lang="en-US" dirty="0" smtClean="0"/>
              <a:t> and </a:t>
            </a:r>
            <a:r>
              <a:rPr lang="en-US" dirty="0" smtClean="0">
                <a:solidFill>
                  <a:schemeClr val="tx1"/>
                </a:solidFill>
              </a:rPr>
              <a:t>e</a:t>
            </a:r>
            <a:r>
              <a:rPr lang="en-US" dirty="0" smtClean="0"/>
              <a:t> can be used as public and private keys</a:t>
            </a:r>
            <a:endParaRPr lang="en-US" dirty="0"/>
          </a:p>
          <a:p>
            <a:pPr lvl="1"/>
            <a:r>
              <a:rPr lang="en-US" sz="2400" dirty="0" smtClean="0">
                <a:solidFill>
                  <a:schemeClr val="tx1"/>
                </a:solidFill>
              </a:rPr>
              <a:t>d</a:t>
            </a:r>
            <a:r>
              <a:rPr lang="en-US" sz="2400" dirty="0" smtClean="0"/>
              <a:t> is used for decryption; </a:t>
            </a:r>
            <a:r>
              <a:rPr lang="en-US" sz="2400" dirty="0" smtClean="0">
                <a:solidFill>
                  <a:schemeClr val="tx1"/>
                </a:solidFill>
              </a:rPr>
              <a:t>e </a:t>
            </a:r>
            <a:r>
              <a:rPr lang="en-US" sz="2400" dirty="0"/>
              <a:t>is used for </a:t>
            </a:r>
            <a:r>
              <a:rPr lang="en-US" sz="2400" dirty="0" smtClean="0"/>
              <a:t>encryption</a:t>
            </a:r>
            <a:endParaRPr lang="en-US" sz="2000" dirty="0">
              <a:solidFill>
                <a:schemeClr val="tx1"/>
              </a:solidFill>
            </a:endParaRPr>
          </a:p>
        </p:txBody>
      </p:sp>
      <p:graphicFrame>
        <p:nvGraphicFramePr>
          <p:cNvPr id="12" name="Table 11"/>
          <p:cNvGraphicFramePr>
            <a:graphicFrameLocks noGrp="1"/>
          </p:cNvGraphicFramePr>
          <p:nvPr>
            <p:extLst>
              <p:ext uri="{D42A27DB-BD31-4B8C-83A1-F6EECF244321}">
                <p14:modId xmlns:p14="http://schemas.microsoft.com/office/powerpoint/2010/main" val="462255790"/>
              </p:ext>
            </p:extLst>
          </p:nvPr>
        </p:nvGraphicFramePr>
        <p:xfrm>
          <a:off x="8723970" y="1523998"/>
          <a:ext cx="2289171" cy="3411071"/>
        </p:xfrm>
        <a:graphic>
          <a:graphicData uri="http://schemas.openxmlformats.org/drawingml/2006/table">
            <a:tbl>
              <a:tblPr firstRow="1" bandRow="1">
                <a:tableStyleId>{073A0DAA-6AF3-43AB-8588-CEC1D06C72B9}</a:tableStyleId>
              </a:tblPr>
              <a:tblGrid>
                <a:gridCol w="2289171"/>
              </a:tblGrid>
              <a:tr h="507489">
                <a:tc>
                  <a:txBody>
                    <a:bodyPr/>
                    <a:lstStyle/>
                    <a:p>
                      <a:pPr algn="ctr"/>
                      <a:r>
                        <a:rPr lang="en-US" sz="2400" dirty="0" smtClean="0"/>
                        <a:t>Example</a:t>
                      </a:r>
                      <a:endParaRPr lang="en-US" sz="2400" baseline="30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0E3755"/>
                    </a:solidFill>
                  </a:tcPr>
                </a:tc>
              </a:tr>
              <a:tr h="413454">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r>
              <a:tr h="460471">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lumMod val="95000"/>
                      </a:schemeClr>
                    </a:solidFill>
                  </a:tcPr>
                </a:tc>
              </a:tr>
              <a:tr h="460471">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r>
              <a:tr h="828849">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lumMod val="95000"/>
                      </a:schemeClr>
                    </a:solidFill>
                  </a:tcPr>
                </a:tc>
              </a:tr>
              <a:tr h="740337">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13" name="TextBox 12"/>
          <p:cNvSpPr txBox="1"/>
          <p:nvPr/>
        </p:nvSpPr>
        <p:spPr>
          <a:xfrm>
            <a:off x="8732611" y="2490994"/>
            <a:ext cx="1752600" cy="400110"/>
          </a:xfrm>
          <a:prstGeom prst="rect">
            <a:avLst/>
          </a:prstGeom>
          <a:noFill/>
        </p:spPr>
        <p:txBody>
          <a:bodyPr wrap="square" rtlCol="0">
            <a:spAutoFit/>
          </a:bodyPr>
          <a:lstStyle/>
          <a:p>
            <a:r>
              <a:rPr lang="en-US" sz="2000" b="1" dirty="0"/>
              <a:t>n = 7*19 = </a:t>
            </a:r>
            <a:r>
              <a:rPr lang="en-US" sz="2000" b="1" dirty="0" smtClean="0"/>
              <a:t>133</a:t>
            </a:r>
            <a:endParaRPr lang="en-US" sz="2000" b="1" dirty="0"/>
          </a:p>
        </p:txBody>
      </p:sp>
      <p:sp>
        <p:nvSpPr>
          <p:cNvPr id="14" name="TextBox 13"/>
          <p:cNvSpPr txBox="1"/>
          <p:nvPr/>
        </p:nvSpPr>
        <p:spPr>
          <a:xfrm>
            <a:off x="8732611" y="2915303"/>
            <a:ext cx="1752600" cy="400110"/>
          </a:xfrm>
          <a:prstGeom prst="rect">
            <a:avLst/>
          </a:prstGeom>
          <a:noFill/>
        </p:spPr>
        <p:txBody>
          <a:bodyPr wrap="square" rtlCol="0">
            <a:spAutoFit/>
          </a:bodyPr>
          <a:lstStyle/>
          <a:p>
            <a:r>
              <a:rPr lang="en-US" sz="2000" b="1" dirty="0" smtClean="0"/>
              <a:t>z </a:t>
            </a:r>
            <a:r>
              <a:rPr lang="en-US" sz="2000" b="1" dirty="0"/>
              <a:t>= </a:t>
            </a:r>
            <a:r>
              <a:rPr lang="en-US" sz="2000" b="1" dirty="0" smtClean="0"/>
              <a:t>6*18 </a:t>
            </a:r>
            <a:r>
              <a:rPr lang="en-US" sz="2000" b="1" dirty="0"/>
              <a:t>= </a:t>
            </a:r>
            <a:r>
              <a:rPr lang="en-US" sz="2000" b="1" dirty="0" smtClean="0"/>
              <a:t>108</a:t>
            </a:r>
            <a:endParaRPr lang="en-US" sz="2000" b="1" dirty="0"/>
          </a:p>
        </p:txBody>
      </p:sp>
      <p:sp>
        <p:nvSpPr>
          <p:cNvPr id="15" name="TextBox 14"/>
          <p:cNvSpPr txBox="1"/>
          <p:nvPr/>
        </p:nvSpPr>
        <p:spPr>
          <a:xfrm>
            <a:off x="8804491" y="3579903"/>
            <a:ext cx="609600" cy="400110"/>
          </a:xfrm>
          <a:prstGeom prst="rect">
            <a:avLst/>
          </a:prstGeom>
          <a:noFill/>
        </p:spPr>
        <p:txBody>
          <a:bodyPr wrap="square" rtlCol="0">
            <a:spAutoFit/>
          </a:bodyPr>
          <a:lstStyle/>
          <a:p>
            <a:r>
              <a:rPr lang="en-US" sz="2000" b="1" dirty="0" smtClean="0"/>
              <a:t>e=5</a:t>
            </a:r>
            <a:endParaRPr lang="en-US" sz="2000" b="1" dirty="0"/>
          </a:p>
        </p:txBody>
      </p:sp>
      <p:sp>
        <p:nvSpPr>
          <p:cNvPr id="16" name="Rectangle 15"/>
          <p:cNvSpPr/>
          <p:nvPr/>
        </p:nvSpPr>
        <p:spPr>
          <a:xfrm>
            <a:off x="8732611" y="2066685"/>
            <a:ext cx="1210588" cy="400110"/>
          </a:xfrm>
          <a:prstGeom prst="rect">
            <a:avLst/>
          </a:prstGeom>
        </p:spPr>
        <p:txBody>
          <a:bodyPr wrap="none">
            <a:spAutoFit/>
          </a:bodyPr>
          <a:lstStyle/>
          <a:p>
            <a:r>
              <a:rPr lang="en-US" sz="2000" b="1" dirty="0"/>
              <a:t>p=7; q=19</a:t>
            </a:r>
          </a:p>
        </p:txBody>
      </p:sp>
      <p:sp>
        <p:nvSpPr>
          <p:cNvPr id="17" name="TextBox 16"/>
          <p:cNvSpPr txBox="1"/>
          <p:nvPr/>
        </p:nvSpPr>
        <p:spPr>
          <a:xfrm>
            <a:off x="8782796" y="4302014"/>
            <a:ext cx="1979094" cy="400110"/>
          </a:xfrm>
          <a:prstGeom prst="rect">
            <a:avLst/>
          </a:prstGeom>
          <a:noFill/>
        </p:spPr>
        <p:txBody>
          <a:bodyPr wrap="square" rtlCol="0">
            <a:spAutoFit/>
          </a:bodyPr>
          <a:lstStyle/>
          <a:p>
            <a:r>
              <a:rPr lang="en-US" sz="2000" b="1" dirty="0"/>
              <a:t>d</a:t>
            </a:r>
            <a:r>
              <a:rPr lang="en-US" sz="2000" b="1" dirty="0" smtClean="0"/>
              <a:t>=65 for m=325</a:t>
            </a:r>
            <a:endParaRPr lang="en-US" sz="2000" b="1" dirty="0"/>
          </a:p>
        </p:txBody>
      </p:sp>
    </p:spTree>
    <p:extLst>
      <p:ext uri="{BB962C8B-B14F-4D97-AF65-F5344CB8AC3E}">
        <p14:creationId xmlns:p14="http://schemas.microsoft.com/office/powerpoint/2010/main" val="2304377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xEl>
                                              <p:pRg st="2" end="2"/>
                                            </p:txEl>
                                          </p:spTgt>
                                        </p:tgtEl>
                                        <p:attrNameLst>
                                          <p:attrName>style.visibility</p:attrName>
                                        </p:attrNameLst>
                                      </p:cBhvr>
                                      <p:to>
                                        <p:strVal val="visible"/>
                                      </p:to>
                                    </p:set>
                                  </p:childTnLst>
                                </p:cTn>
                              </p:par>
                              <p:par>
                                <p:cTn id="13" presetID="14" presetClass="entr" presetSubtype="1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randombar(horizontal)">
                                      <p:cBhvr>
                                        <p:cTn id="15" dur="5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1">
                                            <p:txEl>
                                              <p:pRg st="3" end="3"/>
                                            </p:txEl>
                                          </p:spTgt>
                                        </p:tgtEl>
                                        <p:attrNameLst>
                                          <p:attrName>style.visibility</p:attrName>
                                        </p:attrNameLst>
                                      </p:cBhvr>
                                      <p:to>
                                        <p:strVal val="visible"/>
                                      </p:to>
                                    </p:set>
                                  </p:childTnLst>
                                </p:cTn>
                              </p:par>
                              <p:par>
                                <p:cTn id="20" presetID="14" presetClass="entr" presetSubtype="1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randombar(horizontal)">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4" end="4"/>
                                            </p:txEl>
                                          </p:spTgt>
                                        </p:tgtEl>
                                        <p:attrNameLst>
                                          <p:attrName>style.visibility</p:attrName>
                                        </p:attrNameLst>
                                      </p:cBhvr>
                                      <p:to>
                                        <p:strVal val="visible"/>
                                      </p:to>
                                    </p:set>
                                  </p:childTnLst>
                                </p:cTn>
                              </p:par>
                              <p:par>
                                <p:cTn id="27" presetID="14" presetClass="entr" presetSubtype="1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randombar(horizontal)">
                                      <p:cBhvr>
                                        <p:cTn id="29" dur="500"/>
                                        <p:tgtEl>
                                          <p:spTgt spid="14"/>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11">
                                            <p:txEl>
                                              <p:pRg st="5" end="5"/>
                                            </p:txEl>
                                          </p:spTgt>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11">
                                            <p:txEl>
                                              <p:pRg st="6" end="6"/>
                                            </p:txEl>
                                          </p:spTgt>
                                        </p:tgtEl>
                                        <p:attrNameLst>
                                          <p:attrName>style.visibility</p:attrName>
                                        </p:attrNameLst>
                                      </p:cBhvr>
                                      <p:to>
                                        <p:strVal val="visible"/>
                                      </p:to>
                                    </p:set>
                                  </p:childTnLst>
                                </p:cTn>
                              </p:par>
                              <p:par>
                                <p:cTn id="36" presetID="14" presetClass="entr" presetSubtype="10"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randombar(horizontal)">
                                      <p:cBhvr>
                                        <p:cTn id="38" dur="500"/>
                                        <p:tgtEl>
                                          <p:spTgt spid="15"/>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1">
                                            <p:txEl>
                                              <p:pRg st="7" end="7"/>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1">
                                            <p:txEl>
                                              <p:pRg st="8" end="8"/>
                                            </p:txEl>
                                          </p:spTgt>
                                        </p:tgtEl>
                                        <p:attrNameLst>
                                          <p:attrName>style.visibility</p:attrName>
                                        </p:attrNameLst>
                                      </p:cBhvr>
                                      <p:to>
                                        <p:strVal val="visible"/>
                                      </p:to>
                                    </p:set>
                                  </p:childTnLst>
                                </p:cTn>
                              </p:par>
                              <p:par>
                                <p:cTn id="45" presetID="14" presetClass="entr" presetSubtype="1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randombar(horizontal)">
                                      <p:cBhvr>
                                        <p:cTn id="47" dur="500"/>
                                        <p:tgtEl>
                                          <p:spTgt spid="17"/>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11">
                                            <p:txEl>
                                              <p:pRg st="9" end="9"/>
                                            </p:txEl>
                                          </p:spTgt>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11">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P spid="17"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RSA protocol for </a:t>
            </a:r>
            <a:r>
              <a:rPr lang="en-US" dirty="0" smtClean="0"/>
              <a:t>encryption- An Example</a:t>
            </a:r>
            <a:endParaRPr lang="en-US" dirty="0"/>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dirty="0"/>
              <a:t>Scenario: Alice (A) wants to send to Bob (B)</a:t>
            </a:r>
          </a:p>
          <a:p>
            <a:r>
              <a:rPr lang="en-US" dirty="0" smtClean="0"/>
              <a:t>Problem</a:t>
            </a:r>
            <a:r>
              <a:rPr lang="en-US" dirty="0"/>
              <a:t>: Only Bob should be able to decrypt the message</a:t>
            </a:r>
          </a:p>
          <a:p>
            <a:r>
              <a:rPr lang="en-US" dirty="0" smtClean="0"/>
              <a:t>Given </a:t>
            </a:r>
            <a:r>
              <a:rPr lang="en-US" dirty="0"/>
              <a:t>d and e are the two keys </a:t>
            </a:r>
            <a:r>
              <a:rPr lang="en-US" dirty="0" smtClean="0"/>
              <a:t>computed </a:t>
            </a:r>
            <a:r>
              <a:rPr lang="en-US" dirty="0"/>
              <a:t>by RSA, which row indicates correct choice of keys?</a:t>
            </a:r>
          </a:p>
        </p:txBody>
      </p:sp>
      <p:sp>
        <p:nvSpPr>
          <p:cNvPr id="4" name="Rectangle 3"/>
          <p:cNvSpPr/>
          <p:nvPr/>
        </p:nvSpPr>
        <p:spPr>
          <a:xfrm>
            <a:off x="6651816" y="3664210"/>
            <a:ext cx="571500" cy="304800"/>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1400" dirty="0" smtClean="0">
                <a:latin typeface="+mj-lt"/>
              </a:rPr>
              <a:t>A</a:t>
            </a:r>
            <a:endParaRPr lang="en-US" sz="1400" dirty="0">
              <a:latin typeface="+mj-lt"/>
            </a:endParaRPr>
          </a:p>
        </p:txBody>
      </p:sp>
      <p:sp>
        <p:nvSpPr>
          <p:cNvPr id="5" name="Rectangle 4"/>
          <p:cNvSpPr/>
          <p:nvPr/>
        </p:nvSpPr>
        <p:spPr>
          <a:xfrm>
            <a:off x="8876739" y="3664210"/>
            <a:ext cx="571500" cy="304800"/>
          </a:xfrm>
          <a:prstGeom prst="rect">
            <a:avLst/>
          </a:prstGeom>
          <a:solidFill>
            <a:srgbClr val="00B050"/>
          </a:solidFill>
          <a:ln>
            <a:solidFill>
              <a:srgbClr val="00B050"/>
            </a:solidFill>
          </a:ln>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1400" dirty="0" smtClean="0">
                <a:latin typeface="+mj-lt"/>
              </a:rPr>
              <a:t>B</a:t>
            </a:r>
            <a:endParaRPr lang="en-US" sz="1400" dirty="0">
              <a:latin typeface="+mj-lt"/>
            </a:endParaRPr>
          </a:p>
        </p:txBody>
      </p:sp>
      <p:cxnSp>
        <p:nvCxnSpPr>
          <p:cNvPr id="6" name="Straight Arrow Connector 5"/>
          <p:cNvCxnSpPr>
            <a:stCxn id="4" idx="3"/>
            <a:endCxn id="5" idx="1"/>
          </p:cNvCxnSpPr>
          <p:nvPr/>
        </p:nvCxnSpPr>
        <p:spPr>
          <a:xfrm>
            <a:off x="7223316" y="3816610"/>
            <a:ext cx="1653423"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Rectangle 6"/>
              <p:cNvSpPr/>
              <p:nvPr/>
            </p:nvSpPr>
            <p:spPr>
              <a:xfrm>
                <a:off x="6333564" y="4094700"/>
                <a:ext cx="1251702" cy="41006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1400" b="1" i="1" smtClean="0">
                          <a:solidFill>
                            <a:schemeClr val="bg1"/>
                          </a:solidFill>
                          <a:latin typeface="Cambria Math" panose="02040503050406030204" pitchFamily="18" charset="0"/>
                        </a:rPr>
                        <m:t>𝒎</m:t>
                      </m:r>
                      <m:r>
                        <a:rPr lang="en-US" sz="1400" b="1" i="1" smtClean="0">
                          <a:solidFill>
                            <a:schemeClr val="bg1"/>
                          </a:solidFill>
                          <a:latin typeface="Cambria Math" panose="02040503050406030204" pitchFamily="18" charset="0"/>
                        </a:rPr>
                        <m:t>′=</m:t>
                      </m:r>
                      <m:sSub>
                        <m:sSubPr>
                          <m:ctrlPr>
                            <a:rPr lang="en-US" sz="1400" b="1" i="1" smtClean="0">
                              <a:solidFill>
                                <a:schemeClr val="bg1"/>
                              </a:solidFill>
                              <a:latin typeface="Cambria Math" panose="02040503050406030204" pitchFamily="18" charset="0"/>
                            </a:rPr>
                          </m:ctrlPr>
                        </m:sSubPr>
                        <m:e>
                          <m:r>
                            <a:rPr lang="en-US" sz="1400" b="1" i="1" smtClean="0">
                              <a:solidFill>
                                <a:schemeClr val="bg1"/>
                              </a:solidFill>
                              <a:latin typeface="Cambria Math" panose="02040503050406030204" pitchFamily="18" charset="0"/>
                            </a:rPr>
                            <m:t>𝑬</m:t>
                          </m:r>
                        </m:e>
                        <m:sub>
                          <m:sSubSup>
                            <m:sSubSupPr>
                              <m:ctrlPr>
                                <a:rPr lang="en-US" sz="1400" b="1" i="1">
                                  <a:solidFill>
                                    <a:schemeClr val="bg1"/>
                                  </a:solidFill>
                                  <a:latin typeface="Cambria Math" panose="02040503050406030204" pitchFamily="18" charset="0"/>
                                </a:rPr>
                              </m:ctrlPr>
                            </m:sSubSupPr>
                            <m:e>
                              <m:r>
                                <a:rPr lang="en-US" sz="1400" b="1" i="1">
                                  <a:solidFill>
                                    <a:schemeClr val="bg1"/>
                                  </a:solidFill>
                                  <a:latin typeface="Cambria Math" panose="02040503050406030204" pitchFamily="18" charset="0"/>
                                </a:rPr>
                                <m:t>𝑲</m:t>
                              </m:r>
                            </m:e>
                            <m:sub>
                              <m:r>
                                <a:rPr lang="en-US" sz="1400" b="1" i="1" smtClean="0">
                                  <a:solidFill>
                                    <a:schemeClr val="bg1"/>
                                  </a:solidFill>
                                  <a:latin typeface="Cambria Math" panose="02040503050406030204" pitchFamily="18" charset="0"/>
                                </a:rPr>
                                <m:t>𝑩</m:t>
                              </m:r>
                            </m:sub>
                            <m:sup>
                              <m:r>
                                <a:rPr lang="en-US" sz="1400" b="1" i="1">
                                  <a:solidFill>
                                    <a:schemeClr val="bg1"/>
                                  </a:solidFill>
                                  <a:latin typeface="Cambria Math" panose="02040503050406030204" pitchFamily="18" charset="0"/>
                                </a:rPr>
                                <m:t>+</m:t>
                              </m:r>
                            </m:sup>
                          </m:sSubSup>
                        </m:sub>
                      </m:sSub>
                      <m:d>
                        <m:dPr>
                          <m:ctrlPr>
                            <a:rPr lang="en-US" sz="1400" b="1" i="1">
                              <a:solidFill>
                                <a:schemeClr val="bg1"/>
                              </a:solidFill>
                              <a:latin typeface="Cambria Math" panose="02040503050406030204" pitchFamily="18" charset="0"/>
                            </a:rPr>
                          </m:ctrlPr>
                        </m:dPr>
                        <m:e>
                          <m:r>
                            <a:rPr lang="en-US" sz="1400" b="1" i="1" smtClean="0">
                              <a:solidFill>
                                <a:schemeClr val="bg1"/>
                              </a:solidFill>
                              <a:latin typeface="Cambria Math" panose="02040503050406030204" pitchFamily="18" charset="0"/>
                            </a:rPr>
                            <m:t>𝒎</m:t>
                          </m:r>
                        </m:e>
                      </m:d>
                    </m:oMath>
                  </m:oMathPara>
                </a14:m>
                <a:endParaRPr lang="en-US" sz="1400" b="1" dirty="0">
                  <a:solidFill>
                    <a:schemeClr val="bg1"/>
                  </a:solidFill>
                  <a:latin typeface="+mj-lt"/>
                </a:endParaRPr>
              </a:p>
            </p:txBody>
          </p:sp>
        </mc:Choice>
        <mc:Fallback xmlns="">
          <p:sp>
            <p:nvSpPr>
              <p:cNvPr id="7" name="Rectangle 6"/>
              <p:cNvSpPr>
                <a:spLocks noRot="1" noChangeAspect="1" noMove="1" noResize="1" noEditPoints="1" noAdjustHandles="1" noChangeArrowheads="1" noChangeShapeType="1" noTextEdit="1"/>
              </p:cNvSpPr>
              <p:nvPr/>
            </p:nvSpPr>
            <p:spPr>
              <a:xfrm>
                <a:off x="6333564" y="4094700"/>
                <a:ext cx="1251702" cy="410065"/>
              </a:xfrm>
              <a:prstGeom prst="rect">
                <a:avLst/>
              </a:prstGeom>
              <a:blipFill rotWithShape="0">
                <a:blip r:embed="rId2"/>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7756716" y="3359410"/>
                <a:ext cx="381000" cy="304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𝑚</m:t>
                      </m:r>
                      <m:r>
                        <a:rPr lang="en-US" b="0" i="1" smtClean="0">
                          <a:solidFill>
                            <a:schemeClr val="tx1"/>
                          </a:solidFill>
                          <a:latin typeface="Cambria Math" panose="02040503050406030204" pitchFamily="18" charset="0"/>
                        </a:rPr>
                        <m:t>′</m:t>
                      </m:r>
                    </m:oMath>
                  </m:oMathPara>
                </a14:m>
                <a:endParaRPr lang="en-US" dirty="0">
                  <a:solidFill>
                    <a:schemeClr val="tx1"/>
                  </a:solidFill>
                  <a:latin typeface="+mj-lt"/>
                </a:endParaRPr>
              </a:p>
            </p:txBody>
          </p:sp>
        </mc:Choice>
        <mc:Fallback xmlns="">
          <p:sp>
            <p:nvSpPr>
              <p:cNvPr id="8" name="Rectangle 7"/>
              <p:cNvSpPr>
                <a:spLocks noRot="1" noChangeAspect="1" noMove="1" noResize="1" noEditPoints="1" noAdjustHandles="1" noChangeArrowheads="1" noChangeShapeType="1" noTextEdit="1"/>
              </p:cNvSpPr>
              <p:nvPr/>
            </p:nvSpPr>
            <p:spPr>
              <a:xfrm>
                <a:off x="7756716" y="3359410"/>
                <a:ext cx="381000" cy="304800"/>
              </a:xfrm>
              <a:prstGeom prst="rect">
                <a:avLst/>
              </a:prstGeom>
              <a:blipFill rotWithShape="0">
                <a:blip r:embed="rId3"/>
                <a:stretch>
                  <a:fillRect l="-10769" b="-576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8543364" y="4094700"/>
                <a:ext cx="1295400" cy="41006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1400" b="1" i="1" smtClean="0">
                          <a:solidFill>
                            <a:schemeClr val="bg1"/>
                          </a:solidFill>
                          <a:latin typeface="Cambria Math" panose="02040503050406030204" pitchFamily="18" charset="0"/>
                        </a:rPr>
                        <m:t>𝒎</m:t>
                      </m:r>
                      <m:r>
                        <a:rPr lang="en-US" sz="1400" b="1" i="1" smtClean="0">
                          <a:solidFill>
                            <a:schemeClr val="bg1"/>
                          </a:solidFill>
                          <a:latin typeface="Cambria Math" panose="02040503050406030204" pitchFamily="18" charset="0"/>
                        </a:rPr>
                        <m:t>=</m:t>
                      </m:r>
                      <m:sSub>
                        <m:sSubPr>
                          <m:ctrlPr>
                            <a:rPr lang="en-US" sz="1400" b="1" i="1" smtClean="0">
                              <a:solidFill>
                                <a:schemeClr val="bg1"/>
                              </a:solidFill>
                              <a:latin typeface="Cambria Math" panose="02040503050406030204" pitchFamily="18" charset="0"/>
                            </a:rPr>
                          </m:ctrlPr>
                        </m:sSubPr>
                        <m:e>
                          <m:r>
                            <a:rPr lang="en-US" sz="1400" b="1" i="1" smtClean="0">
                              <a:solidFill>
                                <a:schemeClr val="bg1"/>
                              </a:solidFill>
                              <a:latin typeface="Cambria Math" panose="02040503050406030204" pitchFamily="18" charset="0"/>
                            </a:rPr>
                            <m:t>𝑫</m:t>
                          </m:r>
                        </m:e>
                        <m:sub>
                          <m:sSubSup>
                            <m:sSubSupPr>
                              <m:ctrlPr>
                                <a:rPr lang="en-US" sz="1400" b="1" i="1">
                                  <a:solidFill>
                                    <a:schemeClr val="bg1"/>
                                  </a:solidFill>
                                  <a:latin typeface="Cambria Math" panose="02040503050406030204" pitchFamily="18" charset="0"/>
                                </a:rPr>
                              </m:ctrlPr>
                            </m:sSubSupPr>
                            <m:e>
                              <m:r>
                                <a:rPr lang="en-US" sz="1400" b="1" i="1">
                                  <a:solidFill>
                                    <a:schemeClr val="bg1"/>
                                  </a:solidFill>
                                  <a:latin typeface="Cambria Math" panose="02040503050406030204" pitchFamily="18" charset="0"/>
                                </a:rPr>
                                <m:t>𝑲</m:t>
                              </m:r>
                            </m:e>
                            <m:sub>
                              <m:r>
                                <a:rPr lang="en-US" sz="1400" b="1" i="1" smtClean="0">
                                  <a:solidFill>
                                    <a:schemeClr val="bg1"/>
                                  </a:solidFill>
                                  <a:latin typeface="Cambria Math" panose="02040503050406030204" pitchFamily="18" charset="0"/>
                                </a:rPr>
                                <m:t>𝑩</m:t>
                              </m:r>
                            </m:sub>
                            <m:sup>
                              <m:r>
                                <a:rPr lang="en-US" sz="1400" b="1" i="1" smtClean="0">
                                  <a:solidFill>
                                    <a:schemeClr val="bg1"/>
                                  </a:solidFill>
                                  <a:latin typeface="Cambria Math" panose="02040503050406030204" pitchFamily="18" charset="0"/>
                                </a:rPr>
                                <m:t>−</m:t>
                              </m:r>
                            </m:sup>
                          </m:sSubSup>
                        </m:sub>
                      </m:sSub>
                      <m:d>
                        <m:dPr>
                          <m:ctrlPr>
                            <a:rPr lang="en-US" sz="1400" b="1" i="1">
                              <a:solidFill>
                                <a:schemeClr val="bg1"/>
                              </a:solidFill>
                              <a:latin typeface="Cambria Math" panose="02040503050406030204" pitchFamily="18" charset="0"/>
                            </a:rPr>
                          </m:ctrlPr>
                        </m:dPr>
                        <m:e>
                          <m:r>
                            <a:rPr lang="en-US" sz="1400" b="1" i="1" smtClean="0">
                              <a:solidFill>
                                <a:schemeClr val="bg1"/>
                              </a:solidFill>
                              <a:latin typeface="Cambria Math" panose="02040503050406030204" pitchFamily="18" charset="0"/>
                            </a:rPr>
                            <m:t>𝒎</m:t>
                          </m:r>
                          <m:r>
                            <a:rPr lang="en-US" sz="1400" b="1" i="1" smtClean="0">
                              <a:solidFill>
                                <a:schemeClr val="bg1"/>
                              </a:solidFill>
                              <a:latin typeface="Cambria Math" panose="02040503050406030204" pitchFamily="18" charset="0"/>
                            </a:rPr>
                            <m:t>′</m:t>
                          </m:r>
                        </m:e>
                      </m:d>
                    </m:oMath>
                  </m:oMathPara>
                </a14:m>
                <a:endParaRPr lang="en-US" sz="1400" b="1" dirty="0">
                  <a:solidFill>
                    <a:schemeClr val="bg1"/>
                  </a:solidFill>
                  <a:latin typeface="+mj-lt"/>
                </a:endParaRPr>
              </a:p>
            </p:txBody>
          </p:sp>
        </mc:Choice>
        <mc:Fallback xmlns="">
          <p:sp>
            <p:nvSpPr>
              <p:cNvPr id="9" name="Rectangle 8"/>
              <p:cNvSpPr>
                <a:spLocks noRot="1" noChangeAspect="1" noMove="1" noResize="1" noEditPoints="1" noAdjustHandles="1" noChangeArrowheads="1" noChangeShapeType="1" noTextEdit="1"/>
              </p:cNvSpPr>
              <p:nvPr/>
            </p:nvSpPr>
            <p:spPr>
              <a:xfrm>
                <a:off x="8543364" y="4094700"/>
                <a:ext cx="1295400" cy="410065"/>
              </a:xfrm>
              <a:prstGeom prst="rect">
                <a:avLst/>
              </a:prstGeom>
              <a:blipFill rotWithShape="0">
                <a:blip r:embed="rId4"/>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graphicFrame>
            <p:nvGraphicFramePr>
              <p:cNvPr id="10" name="Table 9"/>
              <p:cNvGraphicFramePr>
                <a:graphicFrameLocks noGrp="1"/>
              </p:cNvGraphicFramePr>
              <p:nvPr>
                <p:extLst>
                  <p:ext uri="{D42A27DB-BD31-4B8C-83A1-F6EECF244321}">
                    <p14:modId xmlns:p14="http://schemas.microsoft.com/office/powerpoint/2010/main" val="2531385869"/>
                  </p:ext>
                </p:extLst>
              </p:nvPr>
            </p:nvGraphicFramePr>
            <p:xfrm>
              <a:off x="672355" y="2970605"/>
              <a:ext cx="5239870" cy="2496884"/>
            </p:xfrm>
            <a:graphic>
              <a:graphicData uri="http://schemas.openxmlformats.org/drawingml/2006/table">
                <a:tbl>
                  <a:tblPr bandRow="1">
                    <a:tableStyleId>{9D7B26C5-4107-4FEC-AEDC-1716B250A1EF}</a:tableStyleId>
                  </a:tblPr>
                  <a:tblGrid>
                    <a:gridCol w="1047974"/>
                    <a:gridCol w="1047974"/>
                    <a:gridCol w="1047974"/>
                    <a:gridCol w="1047974"/>
                    <a:gridCol w="1047974"/>
                  </a:tblGrid>
                  <a:tr h="370840">
                    <a:tc rowSpan="2">
                      <a:txBody>
                        <a:bodyPr/>
                        <a:lstStyle/>
                        <a:p>
                          <a:pPr algn="ctr"/>
                          <a:r>
                            <a:rPr lang="en-US" sz="1800" b="1" dirty="0" smtClean="0">
                              <a:solidFill>
                                <a:schemeClr val="tx1"/>
                              </a:solidFill>
                            </a:rPr>
                            <a:t>Correct/</a:t>
                          </a:r>
                          <a:br>
                            <a:rPr lang="en-US" sz="1800" b="1" dirty="0" smtClean="0">
                              <a:solidFill>
                                <a:schemeClr val="tx1"/>
                              </a:solidFill>
                            </a:rPr>
                          </a:br>
                          <a:r>
                            <a:rPr lang="en-US" sz="1800" b="1" dirty="0" smtClean="0">
                              <a:solidFill>
                                <a:schemeClr val="tx1"/>
                              </a:solidFill>
                            </a:rPr>
                            <a:t>Incorrect</a:t>
                          </a:r>
                          <a:endParaRPr lang="en-US" sz="18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gridSpan="2">
                      <a:txBody>
                        <a:bodyPr/>
                        <a:lstStyle/>
                        <a:p>
                          <a:pPr algn="ctr"/>
                          <a:r>
                            <a:rPr lang="en-US" sz="1800" b="1" dirty="0" smtClean="0">
                              <a:solidFill>
                                <a:schemeClr val="tx1"/>
                              </a:solidFill>
                            </a:rPr>
                            <a:t>Alice</a:t>
                          </a:r>
                          <a:endParaRPr lang="en-US" sz="18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hMerge="1">
                      <a:txBody>
                        <a:bodyPr/>
                        <a:lstStyle/>
                        <a:p>
                          <a:endParaRPr lang="en-US" dirty="0"/>
                        </a:p>
                      </a:txBody>
                      <a:tcPr/>
                    </a:tc>
                    <a:tc gridSpan="2">
                      <a:txBody>
                        <a:bodyPr/>
                        <a:lstStyle/>
                        <a:p>
                          <a:pPr algn="ctr"/>
                          <a:r>
                            <a:rPr lang="en-US" sz="1800" b="1" dirty="0" smtClean="0">
                              <a:solidFill>
                                <a:schemeClr val="tx1"/>
                              </a:solidFill>
                            </a:rPr>
                            <a:t>Bob</a:t>
                          </a:r>
                          <a:endParaRPr lang="en-US" sz="18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hMerge="1">
                      <a:txBody>
                        <a:bodyPr/>
                        <a:lstStyle/>
                        <a:p>
                          <a:endParaRPr lang="en-US" dirty="0"/>
                        </a:p>
                      </a:txBody>
                      <a:tcPr/>
                    </a:tc>
                  </a:tr>
                  <a:tr h="370840">
                    <a:tc v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sz="1800" b="1" dirty="0" smtClean="0">
                              <a:solidFill>
                                <a:schemeClr val="tx1"/>
                              </a:solidFill>
                            </a:rPr>
                            <a:t>Private</a:t>
                          </a:r>
                        </a:p>
                        <a:p>
                          <a:pPr algn="ctr"/>
                          <a14:m>
                            <m:oMathPara xmlns:m="http://schemas.openxmlformats.org/officeDocument/2006/math">
                              <m:oMathParaPr>
                                <m:jc m:val="centerGroup"/>
                              </m:oMathParaPr>
                              <m:oMath xmlns:m="http://schemas.openxmlformats.org/officeDocument/2006/math">
                                <m:sSubSup>
                                  <m:sSubSupPr>
                                    <m:ctrlPr>
                                      <a:rPr lang="en-US" sz="1800" b="1" i="1" smtClean="0">
                                        <a:solidFill>
                                          <a:schemeClr val="tx1"/>
                                        </a:solidFill>
                                        <a:latin typeface="Cambria Math" panose="02040503050406030204" pitchFamily="18" charset="0"/>
                                      </a:rPr>
                                    </m:ctrlPr>
                                  </m:sSubSupPr>
                                  <m:e>
                                    <m:r>
                                      <a:rPr lang="en-US" sz="1800" b="1" i="1">
                                        <a:solidFill>
                                          <a:schemeClr val="tx1"/>
                                        </a:solidFill>
                                        <a:latin typeface="Cambria Math"/>
                                      </a:rPr>
                                      <m:t>𝑲</m:t>
                                    </m:r>
                                  </m:e>
                                  <m:sub>
                                    <m:r>
                                      <a:rPr lang="en-US" sz="1800" b="1" i="1" smtClean="0">
                                        <a:solidFill>
                                          <a:schemeClr val="tx1"/>
                                        </a:solidFill>
                                        <a:latin typeface="Cambria Math"/>
                                      </a:rPr>
                                      <m:t>𝑨</m:t>
                                    </m:r>
                                  </m:sub>
                                  <m:sup>
                                    <m:r>
                                      <a:rPr lang="en-US" sz="1800" b="1" i="1" smtClean="0">
                                        <a:solidFill>
                                          <a:schemeClr val="tx1"/>
                                        </a:solidFill>
                                        <a:latin typeface="Cambria Math"/>
                                      </a:rPr>
                                      <m:t>−</m:t>
                                    </m:r>
                                  </m:sup>
                                </m:sSubSup>
                              </m:oMath>
                            </m:oMathPara>
                          </a14:m>
                          <a:endParaRPr lang="en-US" sz="18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sz="1800" b="1" dirty="0" smtClean="0">
                              <a:solidFill>
                                <a:schemeClr val="tx1"/>
                              </a:solidFill>
                            </a:rPr>
                            <a:t>Public</a:t>
                          </a:r>
                        </a:p>
                        <a:p>
                          <a:pPr algn="ctr"/>
                          <a14:m>
                            <m:oMathPara xmlns:m="http://schemas.openxmlformats.org/officeDocument/2006/math">
                              <m:oMathParaPr>
                                <m:jc m:val="centerGroup"/>
                              </m:oMathParaPr>
                              <m:oMath xmlns:m="http://schemas.openxmlformats.org/officeDocument/2006/math">
                                <m:sSubSup>
                                  <m:sSubSupPr>
                                    <m:ctrlPr>
                                      <a:rPr lang="en-US" sz="1800" b="1" i="1" smtClean="0">
                                        <a:solidFill>
                                          <a:schemeClr val="tx1"/>
                                        </a:solidFill>
                                        <a:latin typeface="Cambria Math" panose="02040503050406030204" pitchFamily="18" charset="0"/>
                                      </a:rPr>
                                    </m:ctrlPr>
                                  </m:sSubSupPr>
                                  <m:e>
                                    <m:r>
                                      <a:rPr lang="en-US" sz="1800" b="1" i="1">
                                        <a:solidFill>
                                          <a:schemeClr val="tx1"/>
                                        </a:solidFill>
                                        <a:latin typeface="Cambria Math"/>
                                      </a:rPr>
                                      <m:t>𝑲</m:t>
                                    </m:r>
                                  </m:e>
                                  <m:sub>
                                    <m:r>
                                      <a:rPr lang="en-US" sz="1800" b="1" i="1" smtClean="0">
                                        <a:solidFill>
                                          <a:schemeClr val="tx1"/>
                                        </a:solidFill>
                                        <a:latin typeface="Cambria Math"/>
                                      </a:rPr>
                                      <m:t>𝑨</m:t>
                                    </m:r>
                                  </m:sub>
                                  <m:sup>
                                    <m:r>
                                      <a:rPr lang="en-US" sz="1800" b="1" i="1">
                                        <a:solidFill>
                                          <a:schemeClr val="tx1"/>
                                        </a:solidFill>
                                        <a:latin typeface="Cambria Math"/>
                                      </a:rPr>
                                      <m:t>+</m:t>
                                    </m:r>
                                  </m:sup>
                                </m:sSubSup>
                              </m:oMath>
                            </m:oMathPara>
                          </a14:m>
                          <a:endParaRPr lang="en-US" sz="18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sz="1800" b="1" dirty="0" smtClean="0">
                              <a:solidFill>
                                <a:schemeClr val="tx1"/>
                              </a:solidFill>
                            </a:rPr>
                            <a:t>Private</a:t>
                          </a:r>
                        </a:p>
                        <a:p>
                          <a:pPr algn="ctr"/>
                          <a14:m>
                            <m:oMathPara xmlns:m="http://schemas.openxmlformats.org/officeDocument/2006/math">
                              <m:oMathParaPr>
                                <m:jc m:val="centerGroup"/>
                              </m:oMathParaPr>
                              <m:oMath xmlns:m="http://schemas.openxmlformats.org/officeDocument/2006/math">
                                <m:sSubSup>
                                  <m:sSubSupPr>
                                    <m:ctrlPr>
                                      <a:rPr lang="en-US" sz="1800" b="1" i="1" smtClean="0">
                                        <a:solidFill>
                                          <a:schemeClr val="tx1"/>
                                        </a:solidFill>
                                        <a:latin typeface="Cambria Math" panose="02040503050406030204" pitchFamily="18" charset="0"/>
                                      </a:rPr>
                                    </m:ctrlPr>
                                  </m:sSubSupPr>
                                  <m:e>
                                    <m:r>
                                      <a:rPr lang="en-US" sz="1800" b="1" i="1">
                                        <a:solidFill>
                                          <a:schemeClr val="tx1"/>
                                        </a:solidFill>
                                        <a:latin typeface="Cambria Math"/>
                                      </a:rPr>
                                      <m:t>𝑲</m:t>
                                    </m:r>
                                  </m:e>
                                  <m:sub>
                                    <m:r>
                                      <a:rPr lang="en-US" sz="1800" b="1" i="1" smtClean="0">
                                        <a:solidFill>
                                          <a:schemeClr val="tx1"/>
                                        </a:solidFill>
                                        <a:latin typeface="Cambria Math"/>
                                      </a:rPr>
                                      <m:t>𝑩</m:t>
                                    </m:r>
                                  </m:sub>
                                  <m:sup>
                                    <m:r>
                                      <a:rPr lang="en-US" sz="1800" b="1" i="1" smtClean="0">
                                        <a:solidFill>
                                          <a:schemeClr val="tx1"/>
                                        </a:solidFill>
                                        <a:latin typeface="Cambria Math"/>
                                      </a:rPr>
                                      <m:t>−</m:t>
                                    </m:r>
                                  </m:sup>
                                </m:sSubSup>
                              </m:oMath>
                            </m:oMathPara>
                          </a14:m>
                          <a:endParaRPr lang="en-US" sz="18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sz="1800" b="1" dirty="0" smtClean="0">
                              <a:solidFill>
                                <a:schemeClr val="tx1"/>
                              </a:solidFill>
                            </a:rPr>
                            <a:t>Public</a:t>
                          </a:r>
                        </a:p>
                        <a:p>
                          <a:pPr algn="ctr"/>
                          <a14:m>
                            <m:oMathPara xmlns:m="http://schemas.openxmlformats.org/officeDocument/2006/math">
                              <m:oMathParaPr>
                                <m:jc m:val="centerGroup"/>
                              </m:oMathParaPr>
                              <m:oMath xmlns:m="http://schemas.openxmlformats.org/officeDocument/2006/math">
                                <m:sSubSup>
                                  <m:sSubSupPr>
                                    <m:ctrlPr>
                                      <a:rPr lang="en-US" sz="1800" b="1" i="1" smtClean="0">
                                        <a:solidFill>
                                          <a:schemeClr val="tx1"/>
                                        </a:solidFill>
                                        <a:latin typeface="Cambria Math" panose="02040503050406030204" pitchFamily="18" charset="0"/>
                                      </a:rPr>
                                    </m:ctrlPr>
                                  </m:sSubSupPr>
                                  <m:e>
                                    <m:r>
                                      <a:rPr lang="en-US" sz="1800" b="1" i="1">
                                        <a:solidFill>
                                          <a:schemeClr val="tx1"/>
                                        </a:solidFill>
                                        <a:latin typeface="Cambria Math"/>
                                      </a:rPr>
                                      <m:t>𝑲</m:t>
                                    </m:r>
                                  </m:e>
                                  <m:sub>
                                    <m:r>
                                      <a:rPr lang="en-US" sz="1800" b="1" i="1" smtClean="0">
                                        <a:solidFill>
                                          <a:schemeClr val="tx1"/>
                                        </a:solidFill>
                                        <a:latin typeface="Cambria Math"/>
                                      </a:rPr>
                                      <m:t>𝑩</m:t>
                                    </m:r>
                                  </m:sub>
                                  <m:sup>
                                    <m:r>
                                      <a:rPr lang="en-US" sz="1800" b="1" i="1">
                                        <a:solidFill>
                                          <a:schemeClr val="tx1"/>
                                        </a:solidFill>
                                        <a:latin typeface="Cambria Math"/>
                                      </a:rPr>
                                      <m:t>+</m:t>
                                    </m:r>
                                  </m:sup>
                                </m:sSubSup>
                              </m:oMath>
                            </m:oMathPara>
                          </a14:m>
                          <a:endParaRPr lang="en-US" sz="18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r>
                  <a:tr h="370840">
                    <a:tc>
                      <a:txBody>
                        <a:bodyPr/>
                        <a:lstStyle/>
                        <a:p>
                          <a:pPr algn="ct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b="1" dirty="0" smtClean="0"/>
                            <a:t>d</a:t>
                          </a:r>
                          <a:endParaRPr lang="en-US" sz="1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b="1" dirty="0" smtClean="0"/>
                            <a:t>e</a:t>
                          </a:r>
                          <a:endParaRPr lang="en-US" sz="1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pPr algn="ctr"/>
                          <a:endParaRPr lang="en-US" sz="1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b="1" dirty="0" smtClean="0"/>
                            <a:t>e</a:t>
                          </a:r>
                          <a:endParaRPr lang="en-US" sz="1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b="1" dirty="0" smtClean="0"/>
                            <a:t>d</a:t>
                          </a:r>
                          <a:endParaRPr lang="en-US" sz="1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b="1"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b="1"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pPr algn="ct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b="1" dirty="0" smtClean="0"/>
                            <a:t>d</a:t>
                          </a:r>
                          <a:endParaRPr lang="en-US" sz="1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b="1" dirty="0" smtClean="0"/>
                            <a:t>e</a:t>
                          </a:r>
                          <a:endParaRPr lang="en-US" sz="1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pPr algn="ct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b="1" dirty="0" smtClean="0"/>
                            <a:t>e</a:t>
                          </a:r>
                          <a:endParaRPr lang="en-US" sz="1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b="1" dirty="0" smtClean="0"/>
                            <a:t>d</a:t>
                          </a:r>
                          <a:endParaRPr lang="en-US" sz="1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mc:Choice>
        <mc:Fallback xmlns="">
          <p:graphicFrame>
            <p:nvGraphicFramePr>
              <p:cNvPr id="10" name="Table 9"/>
              <p:cNvGraphicFramePr>
                <a:graphicFrameLocks noGrp="1"/>
              </p:cNvGraphicFramePr>
              <p:nvPr>
                <p:extLst>
                  <p:ext uri="{D42A27DB-BD31-4B8C-83A1-F6EECF244321}">
                    <p14:modId xmlns:p14="http://schemas.microsoft.com/office/powerpoint/2010/main" val="2531385869"/>
                  </p:ext>
                </p:extLst>
              </p:nvPr>
            </p:nvGraphicFramePr>
            <p:xfrm>
              <a:off x="672355" y="2970605"/>
              <a:ext cx="5239870" cy="2496884"/>
            </p:xfrm>
            <a:graphic>
              <a:graphicData uri="http://schemas.openxmlformats.org/drawingml/2006/table">
                <a:tbl>
                  <a:tblPr bandRow="1">
                    <a:tableStyleId>{9D7B26C5-4107-4FEC-AEDC-1716B250A1EF}</a:tableStyleId>
                  </a:tblPr>
                  <a:tblGrid>
                    <a:gridCol w="1047974"/>
                    <a:gridCol w="1047974"/>
                    <a:gridCol w="1047974"/>
                    <a:gridCol w="1047974"/>
                    <a:gridCol w="1047974"/>
                  </a:tblGrid>
                  <a:tr h="370840">
                    <a:tc rowSpan="2">
                      <a:txBody>
                        <a:bodyPr/>
                        <a:lstStyle/>
                        <a:p>
                          <a:pPr algn="ctr"/>
                          <a:r>
                            <a:rPr lang="en-US" sz="1800" b="1" dirty="0" smtClean="0">
                              <a:solidFill>
                                <a:schemeClr val="tx1"/>
                              </a:solidFill>
                            </a:rPr>
                            <a:t>Correct/</a:t>
                          </a:r>
                          <a:br>
                            <a:rPr lang="en-US" sz="1800" b="1" dirty="0" smtClean="0">
                              <a:solidFill>
                                <a:schemeClr val="tx1"/>
                              </a:solidFill>
                            </a:rPr>
                          </a:br>
                          <a:r>
                            <a:rPr lang="en-US" sz="1800" b="1" dirty="0" smtClean="0">
                              <a:solidFill>
                                <a:schemeClr val="tx1"/>
                              </a:solidFill>
                            </a:rPr>
                            <a:t>Incorrect</a:t>
                          </a:r>
                          <a:endParaRPr lang="en-US" sz="18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gridSpan="2">
                      <a:txBody>
                        <a:bodyPr/>
                        <a:lstStyle/>
                        <a:p>
                          <a:pPr algn="ctr"/>
                          <a:r>
                            <a:rPr lang="en-US" sz="1800" b="1" dirty="0" smtClean="0">
                              <a:solidFill>
                                <a:schemeClr val="tx1"/>
                              </a:solidFill>
                            </a:rPr>
                            <a:t>Alice</a:t>
                          </a:r>
                          <a:endParaRPr lang="en-US" sz="18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hMerge="1">
                      <a:txBody>
                        <a:bodyPr/>
                        <a:lstStyle/>
                        <a:p>
                          <a:endParaRPr lang="en-US" dirty="0"/>
                        </a:p>
                      </a:txBody>
                      <a:tcPr/>
                    </a:tc>
                    <a:tc gridSpan="2">
                      <a:txBody>
                        <a:bodyPr/>
                        <a:lstStyle/>
                        <a:p>
                          <a:pPr algn="ctr"/>
                          <a:r>
                            <a:rPr lang="en-US" sz="1800" b="1" dirty="0" smtClean="0">
                              <a:solidFill>
                                <a:schemeClr val="tx1"/>
                              </a:solidFill>
                            </a:rPr>
                            <a:t>Bob</a:t>
                          </a:r>
                          <a:endParaRPr lang="en-US" sz="18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hMerge="1">
                      <a:txBody>
                        <a:bodyPr/>
                        <a:lstStyle/>
                        <a:p>
                          <a:endParaRPr lang="en-US" dirty="0"/>
                        </a:p>
                      </a:txBody>
                      <a:tcPr/>
                    </a:tc>
                  </a:tr>
                  <a:tr h="642684">
                    <a:tc v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0">
                          <a:blip r:embed="rId5"/>
                          <a:stretch>
                            <a:fillRect l="-100581" t="-61905" r="-301163" b="-247619"/>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0">
                          <a:blip r:embed="rId5"/>
                          <a:stretch>
                            <a:fillRect l="-200581" t="-61905" r="-201163" b="-247619"/>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0">
                          <a:blip r:embed="rId5"/>
                          <a:stretch>
                            <a:fillRect l="-300581" t="-61905" r="-101163" b="-247619"/>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0">
                          <a:blip r:embed="rId5"/>
                          <a:stretch>
                            <a:fillRect l="-400581" t="-61905" r="-1163" b="-247619"/>
                          </a:stretch>
                        </a:blipFill>
                      </a:tcPr>
                    </a:tc>
                  </a:tr>
                  <a:tr h="370840">
                    <a:tc>
                      <a:txBody>
                        <a:bodyPr/>
                        <a:lstStyle/>
                        <a:p>
                          <a:pPr algn="ct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b="1" dirty="0" smtClean="0"/>
                            <a:t>d</a:t>
                          </a:r>
                          <a:endParaRPr lang="en-US" sz="1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b="1" dirty="0" smtClean="0"/>
                            <a:t>e</a:t>
                          </a:r>
                          <a:endParaRPr lang="en-US" sz="1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pPr algn="ctr"/>
                          <a:endParaRPr lang="en-US" sz="1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b="1" dirty="0" smtClean="0"/>
                            <a:t>e</a:t>
                          </a:r>
                          <a:endParaRPr lang="en-US" sz="1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b="1" dirty="0" smtClean="0"/>
                            <a:t>d</a:t>
                          </a:r>
                          <a:endParaRPr lang="en-US" sz="1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b="1"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b="1"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pPr algn="ct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b="1" dirty="0" smtClean="0"/>
                            <a:t>d</a:t>
                          </a:r>
                          <a:endParaRPr lang="en-US" sz="1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b="1" dirty="0" smtClean="0"/>
                            <a:t>e</a:t>
                          </a:r>
                          <a:endParaRPr lang="en-US" sz="1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pPr algn="ct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b="1" dirty="0" smtClean="0"/>
                            <a:t>e</a:t>
                          </a:r>
                          <a:endParaRPr lang="en-US" sz="1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b="1" dirty="0" smtClean="0"/>
                            <a:t>d</a:t>
                          </a:r>
                          <a:endParaRPr lang="en-US" sz="1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mc:Fallback>
      </mc:AlternateContent>
      <p:sp>
        <p:nvSpPr>
          <p:cNvPr id="11" name="Rectangle 10"/>
          <p:cNvSpPr/>
          <p:nvPr/>
        </p:nvSpPr>
        <p:spPr>
          <a:xfrm>
            <a:off x="1064627" y="3868944"/>
            <a:ext cx="341760" cy="523220"/>
          </a:xfrm>
          <a:prstGeom prst="rect">
            <a:avLst/>
          </a:prstGeom>
        </p:spPr>
        <p:txBody>
          <a:bodyPr wrap="none">
            <a:spAutoFit/>
          </a:bodyPr>
          <a:lstStyle/>
          <a:p>
            <a:r>
              <a:rPr lang="en-US" sz="2800" dirty="0" smtClean="0">
                <a:solidFill>
                  <a:srgbClr val="FF0000"/>
                </a:solidFill>
                <a:latin typeface="+mj-lt"/>
              </a:rPr>
              <a:t>x</a:t>
            </a:r>
            <a:endParaRPr lang="en-US" sz="2800" dirty="0">
              <a:solidFill>
                <a:srgbClr val="FF0000"/>
              </a:solidFill>
              <a:latin typeface="+mj-lt"/>
            </a:endParaRPr>
          </a:p>
        </p:txBody>
      </p:sp>
      <p:sp>
        <p:nvSpPr>
          <p:cNvPr id="12" name="Rectangle 11"/>
          <p:cNvSpPr/>
          <p:nvPr/>
        </p:nvSpPr>
        <p:spPr>
          <a:xfrm>
            <a:off x="1055193" y="4995598"/>
            <a:ext cx="341760" cy="523220"/>
          </a:xfrm>
          <a:prstGeom prst="rect">
            <a:avLst/>
          </a:prstGeom>
        </p:spPr>
        <p:txBody>
          <a:bodyPr wrap="none">
            <a:spAutoFit/>
          </a:bodyPr>
          <a:lstStyle/>
          <a:p>
            <a:r>
              <a:rPr lang="en-US" sz="2800" dirty="0" smtClean="0">
                <a:solidFill>
                  <a:srgbClr val="FF0000"/>
                </a:solidFill>
                <a:latin typeface="+mj-lt"/>
              </a:rPr>
              <a:t>x</a:t>
            </a:r>
            <a:endParaRPr lang="en-US" sz="2800" dirty="0">
              <a:solidFill>
                <a:srgbClr val="FF0000"/>
              </a:solidFill>
              <a:latin typeface="+mj-lt"/>
            </a:endParaRPr>
          </a:p>
        </p:txBody>
      </p:sp>
      <p:sp>
        <p:nvSpPr>
          <p:cNvPr id="13" name="Rectangle 12"/>
          <p:cNvSpPr/>
          <p:nvPr/>
        </p:nvSpPr>
        <p:spPr>
          <a:xfrm>
            <a:off x="738599" y="4688586"/>
            <a:ext cx="930063" cy="400110"/>
          </a:xfrm>
          <a:prstGeom prst="rect">
            <a:avLst/>
          </a:prstGeom>
        </p:spPr>
        <p:txBody>
          <a:bodyPr wrap="none">
            <a:spAutoFit/>
          </a:bodyPr>
          <a:lstStyle/>
          <a:p>
            <a:r>
              <a:rPr lang="en-US" sz="2000" dirty="0" smtClean="0">
                <a:latin typeface="+mj-lt"/>
              </a:rPr>
              <a:t>Correct</a:t>
            </a:r>
            <a:endParaRPr lang="en-US" sz="2000" dirty="0">
              <a:latin typeface="+mj-lt"/>
            </a:endParaRPr>
          </a:p>
        </p:txBody>
      </p:sp>
      <p:sp>
        <p:nvSpPr>
          <p:cNvPr id="14" name="Rectangle 13"/>
          <p:cNvSpPr/>
          <p:nvPr/>
        </p:nvSpPr>
        <p:spPr>
          <a:xfrm>
            <a:off x="1055193" y="4258176"/>
            <a:ext cx="341760" cy="523220"/>
          </a:xfrm>
          <a:prstGeom prst="rect">
            <a:avLst/>
          </a:prstGeom>
        </p:spPr>
        <p:txBody>
          <a:bodyPr wrap="none">
            <a:spAutoFit/>
          </a:bodyPr>
          <a:lstStyle/>
          <a:p>
            <a:r>
              <a:rPr lang="en-US" sz="2800" dirty="0" smtClean="0">
                <a:solidFill>
                  <a:srgbClr val="FF0000"/>
                </a:solidFill>
                <a:latin typeface="+mj-lt"/>
              </a:rPr>
              <a:t>x</a:t>
            </a:r>
            <a:endParaRPr lang="en-US" sz="2800" dirty="0">
              <a:solidFill>
                <a:srgbClr val="FF0000"/>
              </a:solidFill>
              <a:latin typeface="+mj-lt"/>
            </a:endParaRPr>
          </a:p>
        </p:txBody>
      </p:sp>
    </p:spTree>
    <p:extLst>
      <p:ext uri="{BB962C8B-B14F-4D97-AF65-F5344CB8AC3E}">
        <p14:creationId xmlns:p14="http://schemas.microsoft.com/office/powerpoint/2010/main" val="1298253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4" presetClass="entr" presetSubtype="1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randombar(horizontal)">
                                      <p:cBhvr>
                                        <p:cTn id="33" dur="500"/>
                                        <p:tgtEl>
                                          <p:spTgt spid="11"/>
                                        </p:tgtEl>
                                      </p:cBhvr>
                                    </p:animEffect>
                                  </p:childTnLst>
                                </p:cTn>
                              </p:par>
                              <p:par>
                                <p:cTn id="34" presetID="14" presetClass="entr" presetSubtype="1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randombar(horizontal)">
                                      <p:cBhvr>
                                        <p:cTn id="36" dur="500"/>
                                        <p:tgtEl>
                                          <p:spTgt spid="12"/>
                                        </p:tgtEl>
                                      </p:cBhvr>
                                    </p:animEffect>
                                  </p:childTnLst>
                                </p:cTn>
                              </p:par>
                              <p:par>
                                <p:cTn id="37" presetID="14" presetClass="entr" presetSubtype="1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randombar(horizontal)">
                                      <p:cBhvr>
                                        <p:cTn id="39" dur="500"/>
                                        <p:tgtEl>
                                          <p:spTgt spid="13"/>
                                        </p:tgtEl>
                                      </p:cBhvr>
                                    </p:animEffect>
                                  </p:childTnLst>
                                </p:cTn>
                              </p:par>
                              <p:par>
                                <p:cTn id="40" presetID="14" presetClass="entr" presetSubtype="1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randombar(horizontal)">
                                      <p:cBhvr>
                                        <p:cTn id="4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1" grpId="0"/>
      <p:bldP spid="12" grpId="0"/>
      <p:bldP spid="13" grpId="0"/>
      <p:bldP spid="14"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RSA protocol for </a:t>
            </a:r>
            <a:r>
              <a:rPr lang="en-US" dirty="0" smtClean="0"/>
              <a:t>encryption- An Example</a:t>
            </a:r>
            <a:endParaRPr lang="en-US" dirty="0"/>
          </a:p>
        </p:txBody>
      </p:sp>
      <p:sp>
        <p:nvSpPr>
          <p:cNvPr id="16" name="Content Placeholder 2"/>
          <p:cNvSpPr>
            <a:spLocks noGrp="1"/>
          </p:cNvSpPr>
          <p:nvPr>
            <p:ph idx="1"/>
          </p:nvPr>
        </p:nvSpPr>
        <p:spPr>
          <a:xfrm>
            <a:off x="0" y="711201"/>
            <a:ext cx="8229600" cy="5212976"/>
          </a:xfrm>
        </p:spPr>
        <p:txBody>
          <a:bodyPr/>
          <a:lstStyle/>
          <a:p>
            <a:pPr marL="0" indent="0">
              <a:buNone/>
            </a:pPr>
            <a:r>
              <a:rPr lang="en-US" b="1" dirty="0" smtClean="0">
                <a:solidFill>
                  <a:srgbClr val="0E3755"/>
                </a:solidFill>
              </a:rPr>
              <a:t>At the sender:</a:t>
            </a:r>
            <a:endParaRPr lang="en-US" b="1" dirty="0">
              <a:solidFill>
                <a:srgbClr val="0E3755"/>
              </a:solidFill>
            </a:endParaRPr>
          </a:p>
          <a:p>
            <a:r>
              <a:rPr lang="en-US" dirty="0" smtClean="0"/>
              <a:t>Split the message into fixed-length blocks of size </a:t>
            </a:r>
            <a:r>
              <a:rPr lang="en-US" dirty="0" smtClean="0">
                <a:solidFill>
                  <a:schemeClr val="tx1"/>
                </a:solidFill>
              </a:rPr>
              <a:t>s</a:t>
            </a:r>
            <a:r>
              <a:rPr lang="en-US" dirty="0" smtClean="0"/>
              <a:t>  (</a:t>
            </a:r>
            <a:r>
              <a:rPr lang="en-US" dirty="0" smtClean="0">
                <a:solidFill>
                  <a:schemeClr val="tx1"/>
                </a:solidFill>
              </a:rPr>
              <a:t>0 &lt;= s &lt; n</a:t>
            </a:r>
            <a:r>
              <a:rPr lang="en-US" dirty="0" smtClean="0"/>
              <a:t>)</a:t>
            </a:r>
          </a:p>
          <a:p>
            <a:r>
              <a:rPr lang="en-US" dirty="0" smtClean="0"/>
              <a:t>For each block </a:t>
            </a:r>
            <a:r>
              <a:rPr lang="en-US" dirty="0">
                <a:solidFill>
                  <a:schemeClr val="tx1"/>
                </a:solidFill>
              </a:rPr>
              <a:t>m</a:t>
            </a:r>
            <a:r>
              <a:rPr lang="en-US" baseline="-25000" dirty="0">
                <a:solidFill>
                  <a:schemeClr val="tx1"/>
                </a:solidFill>
              </a:rPr>
              <a:t>i </a:t>
            </a:r>
            <a:endParaRPr lang="en-US" baseline="-25000" dirty="0" smtClean="0">
              <a:solidFill>
                <a:schemeClr val="tx1"/>
              </a:solidFill>
            </a:endParaRPr>
          </a:p>
          <a:p>
            <a:pPr lvl="1"/>
            <a:r>
              <a:rPr lang="en-US" sz="2400" dirty="0" smtClean="0"/>
              <a:t>Sender calculates the encrypted message </a:t>
            </a:r>
            <a:r>
              <a:rPr lang="en-US" sz="2400" dirty="0">
                <a:solidFill>
                  <a:schemeClr val="tx1"/>
                </a:solidFill>
              </a:rPr>
              <a:t>c</a:t>
            </a:r>
            <a:r>
              <a:rPr lang="en-US" sz="2400" baseline="-25000" dirty="0" smtClean="0">
                <a:solidFill>
                  <a:schemeClr val="tx1"/>
                </a:solidFill>
              </a:rPr>
              <a:t>i</a:t>
            </a:r>
            <a:r>
              <a:rPr lang="en-US" sz="2400" dirty="0" smtClean="0"/>
              <a:t> such that </a:t>
            </a:r>
            <a:r>
              <a:rPr lang="en-US" sz="2400" dirty="0" smtClean="0">
                <a:solidFill>
                  <a:schemeClr val="tx1"/>
                </a:solidFill>
              </a:rPr>
              <a:t>c</a:t>
            </a:r>
            <a:r>
              <a:rPr lang="en-US" sz="2400" baseline="-25000" dirty="0" smtClean="0">
                <a:solidFill>
                  <a:schemeClr val="tx1"/>
                </a:solidFill>
              </a:rPr>
              <a:t>i </a:t>
            </a:r>
            <a:r>
              <a:rPr lang="en-US" sz="2400" dirty="0">
                <a:solidFill>
                  <a:schemeClr val="tx1"/>
                </a:solidFill>
              </a:rPr>
              <a:t>=</a:t>
            </a:r>
            <a:r>
              <a:rPr lang="en-US" sz="2400" dirty="0" smtClean="0">
                <a:solidFill>
                  <a:schemeClr val="tx1"/>
                </a:solidFill>
              </a:rPr>
              <a:t>m</a:t>
            </a:r>
            <a:r>
              <a:rPr lang="en-US" sz="2400" baseline="-25000" dirty="0" smtClean="0">
                <a:solidFill>
                  <a:schemeClr val="tx1"/>
                </a:solidFill>
              </a:rPr>
              <a:t>i</a:t>
            </a:r>
            <a:r>
              <a:rPr lang="en-US" sz="2400" baseline="50000" dirty="0" smtClean="0">
                <a:solidFill>
                  <a:schemeClr val="tx1"/>
                </a:solidFill>
              </a:rPr>
              <a:t>e</a:t>
            </a:r>
            <a:r>
              <a:rPr lang="en-US" sz="2400" dirty="0">
                <a:solidFill>
                  <a:schemeClr val="tx1"/>
                </a:solidFill>
              </a:rPr>
              <a:t> </a:t>
            </a:r>
            <a:r>
              <a:rPr lang="en-US" sz="2400" dirty="0" smtClean="0">
                <a:solidFill>
                  <a:schemeClr val="tx1"/>
                </a:solidFill>
              </a:rPr>
              <a:t>(mod n)</a:t>
            </a:r>
          </a:p>
          <a:p>
            <a:pPr lvl="1"/>
            <a:r>
              <a:rPr lang="en-US" sz="2400" dirty="0" smtClean="0"/>
              <a:t>Send </a:t>
            </a:r>
            <a:r>
              <a:rPr lang="en-US" sz="2400" dirty="0">
                <a:solidFill>
                  <a:schemeClr val="tx1"/>
                </a:solidFill>
              </a:rPr>
              <a:t>c</a:t>
            </a:r>
            <a:r>
              <a:rPr lang="en-US" sz="2400" baseline="-25000" dirty="0">
                <a:solidFill>
                  <a:schemeClr val="tx1"/>
                </a:solidFill>
              </a:rPr>
              <a:t>i </a:t>
            </a:r>
            <a:r>
              <a:rPr lang="en-US" sz="2400" dirty="0" smtClean="0"/>
              <a:t>to the receiver</a:t>
            </a:r>
          </a:p>
          <a:p>
            <a:pPr lvl="4"/>
            <a:endParaRPr lang="en-US" sz="2400" dirty="0" smtClean="0"/>
          </a:p>
          <a:p>
            <a:pPr marL="0" indent="0">
              <a:buNone/>
            </a:pPr>
            <a:r>
              <a:rPr lang="en-US" b="1" dirty="0" smtClean="0">
                <a:solidFill>
                  <a:srgbClr val="0E3755"/>
                </a:solidFill>
              </a:rPr>
              <a:t>At the receiver:</a:t>
            </a:r>
          </a:p>
          <a:p>
            <a:r>
              <a:rPr lang="en-US" dirty="0" smtClean="0"/>
              <a:t>Receive </a:t>
            </a:r>
            <a:r>
              <a:rPr lang="en-US" dirty="0">
                <a:solidFill>
                  <a:schemeClr val="tx1"/>
                </a:solidFill>
              </a:rPr>
              <a:t>c</a:t>
            </a:r>
            <a:r>
              <a:rPr lang="en-US" baseline="-25000" dirty="0">
                <a:solidFill>
                  <a:schemeClr val="tx1"/>
                </a:solidFill>
              </a:rPr>
              <a:t>i </a:t>
            </a:r>
            <a:r>
              <a:rPr lang="en-US" dirty="0" smtClean="0"/>
              <a:t>from sender</a:t>
            </a:r>
          </a:p>
          <a:p>
            <a:r>
              <a:rPr lang="en-US" dirty="0" smtClean="0"/>
              <a:t>For each block </a:t>
            </a:r>
            <a:r>
              <a:rPr lang="en-US" dirty="0" smtClean="0">
                <a:solidFill>
                  <a:schemeClr val="tx1"/>
                </a:solidFill>
              </a:rPr>
              <a:t>c</a:t>
            </a:r>
            <a:r>
              <a:rPr lang="en-US" baseline="-25000" dirty="0" smtClean="0">
                <a:solidFill>
                  <a:schemeClr val="tx1"/>
                </a:solidFill>
              </a:rPr>
              <a:t>i</a:t>
            </a:r>
          </a:p>
          <a:p>
            <a:pPr lvl="1"/>
            <a:r>
              <a:rPr lang="en-US" sz="2400" dirty="0" smtClean="0"/>
              <a:t>Compute actual message </a:t>
            </a:r>
            <a:r>
              <a:rPr lang="en-US" sz="2400" dirty="0" smtClean="0">
                <a:solidFill>
                  <a:schemeClr val="tx1"/>
                </a:solidFill>
              </a:rPr>
              <a:t>m</a:t>
            </a:r>
            <a:r>
              <a:rPr lang="en-US" sz="2400" baseline="-25000" dirty="0" smtClean="0">
                <a:solidFill>
                  <a:schemeClr val="tx1"/>
                </a:solidFill>
              </a:rPr>
              <a:t>i</a:t>
            </a:r>
            <a:r>
              <a:rPr lang="en-US" sz="2400" dirty="0">
                <a:solidFill>
                  <a:schemeClr val="tx1"/>
                </a:solidFill>
              </a:rPr>
              <a:t> </a:t>
            </a:r>
            <a:r>
              <a:rPr lang="en-US" sz="2400" dirty="0" smtClean="0">
                <a:solidFill>
                  <a:schemeClr val="tx1"/>
                </a:solidFill>
              </a:rPr>
              <a:t>= </a:t>
            </a:r>
            <a:r>
              <a:rPr lang="en-US" sz="2400" dirty="0" err="1" smtClean="0">
                <a:solidFill>
                  <a:schemeClr val="tx1"/>
                </a:solidFill>
              </a:rPr>
              <a:t>c</a:t>
            </a:r>
            <a:r>
              <a:rPr lang="en-US" sz="2400" baseline="-25000" dirty="0" err="1" smtClean="0">
                <a:solidFill>
                  <a:schemeClr val="tx1"/>
                </a:solidFill>
              </a:rPr>
              <a:t>i</a:t>
            </a:r>
            <a:r>
              <a:rPr lang="en-US" sz="2400" baseline="50000" dirty="0" err="1" smtClean="0">
                <a:solidFill>
                  <a:schemeClr val="tx1"/>
                </a:solidFill>
              </a:rPr>
              <a:t>d</a:t>
            </a:r>
            <a:r>
              <a:rPr lang="en-US" sz="2400" dirty="0" smtClean="0">
                <a:solidFill>
                  <a:schemeClr val="tx1"/>
                </a:solidFill>
              </a:rPr>
              <a:t> </a:t>
            </a:r>
            <a:r>
              <a:rPr lang="en-US" sz="2400" dirty="0">
                <a:solidFill>
                  <a:schemeClr val="tx1"/>
                </a:solidFill>
              </a:rPr>
              <a:t>(mod n)</a:t>
            </a:r>
            <a:endParaRPr lang="en-US" sz="2400" baseline="-25000" dirty="0" smtClean="0">
              <a:solidFill>
                <a:schemeClr val="tx1"/>
              </a:solidFill>
            </a:endParaRPr>
          </a:p>
          <a:p>
            <a:r>
              <a:rPr lang="en-US" dirty="0" smtClean="0"/>
              <a:t>Merge all </a:t>
            </a:r>
            <a:r>
              <a:rPr lang="en-US" dirty="0" err="1" smtClean="0">
                <a:solidFill>
                  <a:schemeClr val="tx1"/>
                </a:solidFill>
              </a:rPr>
              <a:t>c</a:t>
            </a:r>
            <a:r>
              <a:rPr lang="en-US" baseline="-25000" dirty="0" err="1" smtClean="0">
                <a:solidFill>
                  <a:schemeClr val="tx1"/>
                </a:solidFill>
              </a:rPr>
              <a:t>i</a:t>
            </a:r>
            <a:r>
              <a:rPr lang="en-US" dirty="0" err="1" smtClean="0"/>
              <a:t>’s</a:t>
            </a:r>
            <a:r>
              <a:rPr lang="en-US" dirty="0" smtClean="0"/>
              <a:t> to obtain the complete message</a:t>
            </a:r>
            <a:endParaRPr lang="en-US" dirty="0"/>
          </a:p>
        </p:txBody>
      </p:sp>
      <p:graphicFrame>
        <p:nvGraphicFramePr>
          <p:cNvPr id="17" name="Table 16"/>
          <p:cNvGraphicFramePr>
            <a:graphicFrameLocks noGrp="1"/>
          </p:cNvGraphicFramePr>
          <p:nvPr>
            <p:extLst>
              <p:ext uri="{D42A27DB-BD31-4B8C-83A1-F6EECF244321}">
                <p14:modId xmlns:p14="http://schemas.microsoft.com/office/powerpoint/2010/main" val="987163635"/>
              </p:ext>
            </p:extLst>
          </p:nvPr>
        </p:nvGraphicFramePr>
        <p:xfrm>
          <a:off x="8731139" y="1425389"/>
          <a:ext cx="1981200" cy="4349328"/>
        </p:xfrm>
        <a:graphic>
          <a:graphicData uri="http://schemas.openxmlformats.org/drawingml/2006/table">
            <a:tbl>
              <a:tblPr firstRow="1" bandRow="1">
                <a:tableStyleId>{073A0DAA-6AF3-43AB-8588-CEC1D06C72B9}</a:tableStyleId>
              </a:tblPr>
              <a:tblGrid>
                <a:gridCol w="1981200"/>
              </a:tblGrid>
              <a:tr h="419903">
                <a:tc>
                  <a:txBody>
                    <a:bodyPr/>
                    <a:lstStyle/>
                    <a:p>
                      <a:pPr algn="ctr"/>
                      <a:r>
                        <a:rPr lang="en-US" sz="1800" dirty="0" smtClean="0"/>
                        <a:t>Example</a:t>
                      </a:r>
                      <a:endParaRPr lang="en-US" sz="1400" baseline="30000" dirty="0"/>
                    </a:p>
                  </a:txBody>
                  <a:tcPr>
                    <a:solidFill>
                      <a:srgbClr val="0E3755"/>
                    </a:solidFill>
                  </a:tcPr>
                </a:tc>
              </a:tr>
              <a:tr h="418297">
                <a:tc>
                  <a:txBody>
                    <a:bodyPr/>
                    <a:lstStyle/>
                    <a:p>
                      <a:endParaRPr lang="en-US" sz="1200" dirty="0"/>
                    </a:p>
                  </a:txBody>
                  <a:tcPr/>
                </a:tc>
              </a:tr>
              <a:tr h="381000">
                <a:tc>
                  <a:txBody>
                    <a:bodyPr/>
                    <a:lstStyle/>
                    <a:p>
                      <a:endParaRPr lang="en-US" sz="1200" dirty="0"/>
                    </a:p>
                  </a:txBody>
                  <a:tcPr/>
                </a:tc>
              </a:tr>
              <a:tr h="609600">
                <a:tc>
                  <a:txBody>
                    <a:bodyPr/>
                    <a:lstStyle/>
                    <a:p>
                      <a:endParaRPr lang="en-US" sz="1200" dirty="0"/>
                    </a:p>
                  </a:txBody>
                  <a:tcPr/>
                </a:tc>
              </a:tr>
              <a:tr h="1295400">
                <a:tc>
                  <a:txBody>
                    <a:bodyPr/>
                    <a:lstStyle/>
                    <a:p>
                      <a:endParaRPr lang="en-US" sz="1200" dirty="0"/>
                    </a:p>
                  </a:txBody>
                  <a:tcPr/>
                </a:tc>
              </a:tr>
              <a:tr h="612564">
                <a:tc>
                  <a:txBody>
                    <a:bodyPr/>
                    <a:lstStyle/>
                    <a:p>
                      <a:endParaRPr lang="en-US" sz="1200" dirty="0"/>
                    </a:p>
                  </a:txBody>
                  <a:tcPr/>
                </a:tc>
              </a:tr>
              <a:tr h="612564">
                <a:tc>
                  <a:txBody>
                    <a:bodyPr/>
                    <a:lstStyle/>
                    <a:p>
                      <a:endParaRPr lang="en-US" sz="1200" dirty="0"/>
                    </a:p>
                  </a:txBody>
                  <a:tcPr/>
                </a:tc>
              </a:tr>
            </a:tbl>
          </a:graphicData>
        </a:graphic>
      </p:graphicFrame>
      <p:sp>
        <p:nvSpPr>
          <p:cNvPr id="18" name="TextBox 17"/>
          <p:cNvSpPr txBox="1"/>
          <p:nvPr/>
        </p:nvSpPr>
        <p:spPr>
          <a:xfrm>
            <a:off x="8693039" y="1882589"/>
            <a:ext cx="1752600" cy="369332"/>
          </a:xfrm>
          <a:prstGeom prst="rect">
            <a:avLst/>
          </a:prstGeom>
          <a:noFill/>
        </p:spPr>
        <p:txBody>
          <a:bodyPr wrap="square" rtlCol="0">
            <a:spAutoFit/>
          </a:bodyPr>
          <a:lstStyle/>
          <a:p>
            <a:r>
              <a:rPr lang="en-US" b="1" dirty="0"/>
              <a:t>s</a:t>
            </a:r>
            <a:r>
              <a:rPr lang="en-US" b="1" dirty="0" smtClean="0"/>
              <a:t> = 132</a:t>
            </a:r>
            <a:endParaRPr lang="en-US" b="1" dirty="0"/>
          </a:p>
        </p:txBody>
      </p:sp>
      <p:sp>
        <p:nvSpPr>
          <p:cNvPr id="19" name="TextBox 18"/>
          <p:cNvSpPr txBox="1"/>
          <p:nvPr/>
        </p:nvSpPr>
        <p:spPr>
          <a:xfrm>
            <a:off x="8731139" y="2275257"/>
            <a:ext cx="1752600" cy="369332"/>
          </a:xfrm>
          <a:prstGeom prst="rect">
            <a:avLst/>
          </a:prstGeom>
          <a:noFill/>
        </p:spPr>
        <p:txBody>
          <a:bodyPr wrap="square" rtlCol="0">
            <a:spAutoFit/>
          </a:bodyPr>
          <a:lstStyle/>
          <a:p>
            <a:r>
              <a:rPr lang="en-US" b="1" dirty="0" smtClean="0"/>
              <a:t>m</a:t>
            </a:r>
            <a:r>
              <a:rPr lang="en-US" b="1" baseline="-25000" dirty="0" smtClean="0"/>
              <a:t>i = </a:t>
            </a:r>
            <a:r>
              <a:rPr lang="en-US" b="1" dirty="0" smtClean="0"/>
              <a:t>6</a:t>
            </a:r>
            <a:endParaRPr lang="en-US" b="1" dirty="0"/>
          </a:p>
        </p:txBody>
      </p:sp>
      <p:sp>
        <p:nvSpPr>
          <p:cNvPr id="20" name="Rectangle 19"/>
          <p:cNvSpPr/>
          <p:nvPr/>
        </p:nvSpPr>
        <p:spPr>
          <a:xfrm>
            <a:off x="8450397" y="786538"/>
            <a:ext cx="2542684" cy="584775"/>
          </a:xfrm>
          <a:prstGeom prst="rect">
            <a:avLst/>
          </a:prstGeom>
          <a:solidFill>
            <a:schemeClr val="accent6"/>
          </a:solidFill>
          <a:ln>
            <a:noFill/>
          </a:ln>
        </p:spPr>
        <p:txBody>
          <a:bodyPr wrap="none">
            <a:spAutoFit/>
          </a:bodyPr>
          <a:lstStyle/>
          <a:p>
            <a:pPr algn="ctr"/>
            <a:r>
              <a:rPr lang="en-US" sz="1600" b="1" u="sng" dirty="0" smtClean="0">
                <a:solidFill>
                  <a:schemeClr val="bg1"/>
                </a:solidFill>
              </a:rPr>
              <a:t>Calculated Values</a:t>
            </a:r>
            <a:r>
              <a:rPr lang="en-US" sz="1600" b="1" dirty="0" smtClean="0">
                <a:solidFill>
                  <a:schemeClr val="bg1"/>
                </a:solidFill>
              </a:rPr>
              <a:t/>
            </a:r>
            <a:br>
              <a:rPr lang="en-US" sz="1600" b="1" dirty="0" smtClean="0">
                <a:solidFill>
                  <a:schemeClr val="bg1"/>
                </a:solidFill>
              </a:rPr>
            </a:br>
            <a:r>
              <a:rPr lang="en-US" sz="1600" b="1" dirty="0" smtClean="0">
                <a:solidFill>
                  <a:schemeClr val="bg1"/>
                </a:solidFill>
              </a:rPr>
              <a:t>p=7</a:t>
            </a:r>
            <a:r>
              <a:rPr lang="en-US" sz="1600" b="1" dirty="0">
                <a:solidFill>
                  <a:schemeClr val="bg1"/>
                </a:solidFill>
              </a:rPr>
              <a:t>; </a:t>
            </a:r>
            <a:r>
              <a:rPr lang="en-US" sz="1600" b="1" dirty="0" smtClean="0">
                <a:solidFill>
                  <a:schemeClr val="bg1"/>
                </a:solidFill>
              </a:rPr>
              <a:t>q=19; n=133; d=65; e=5</a:t>
            </a:r>
            <a:endParaRPr lang="en-US" sz="1600" b="1" dirty="0">
              <a:solidFill>
                <a:schemeClr val="bg1"/>
              </a:solidFill>
            </a:endParaRPr>
          </a:p>
        </p:txBody>
      </p:sp>
      <p:sp>
        <p:nvSpPr>
          <p:cNvPr id="21" name="TextBox 20"/>
          <p:cNvSpPr txBox="1"/>
          <p:nvPr/>
        </p:nvSpPr>
        <p:spPr>
          <a:xfrm>
            <a:off x="8731139" y="2644589"/>
            <a:ext cx="1828800" cy="646331"/>
          </a:xfrm>
          <a:prstGeom prst="rect">
            <a:avLst/>
          </a:prstGeom>
          <a:noFill/>
        </p:spPr>
        <p:txBody>
          <a:bodyPr wrap="square" rtlCol="0">
            <a:spAutoFit/>
          </a:bodyPr>
          <a:lstStyle/>
          <a:p>
            <a:pPr marL="0" lvl="1"/>
            <a:r>
              <a:rPr lang="en-US" b="1" dirty="0" smtClean="0"/>
              <a:t>c</a:t>
            </a:r>
            <a:r>
              <a:rPr lang="en-US" b="1" baseline="-25000" dirty="0" smtClean="0"/>
              <a:t>i </a:t>
            </a:r>
            <a:r>
              <a:rPr lang="en-US" b="1" dirty="0" smtClean="0"/>
              <a:t>= 6</a:t>
            </a:r>
            <a:r>
              <a:rPr lang="en-US" b="1" baseline="50000" dirty="0" smtClean="0"/>
              <a:t>5</a:t>
            </a:r>
            <a:r>
              <a:rPr lang="en-US" b="1" dirty="0" smtClean="0"/>
              <a:t> </a:t>
            </a:r>
            <a:r>
              <a:rPr lang="en-US" b="1" dirty="0"/>
              <a:t>(mod </a:t>
            </a:r>
            <a:r>
              <a:rPr lang="en-US" b="1" dirty="0" smtClean="0"/>
              <a:t>133)</a:t>
            </a:r>
            <a:r>
              <a:rPr lang="en-US" b="1" baseline="-25000" dirty="0" smtClean="0"/>
              <a:t> </a:t>
            </a:r>
            <a:br>
              <a:rPr lang="en-US" b="1" baseline="-25000" dirty="0" smtClean="0"/>
            </a:br>
            <a:r>
              <a:rPr lang="en-US" b="1" baseline="-25000" dirty="0" smtClean="0"/>
              <a:t>     </a:t>
            </a:r>
            <a:r>
              <a:rPr lang="en-US" b="1" dirty="0" smtClean="0"/>
              <a:t>= 62</a:t>
            </a:r>
            <a:endParaRPr lang="en-US" b="1" dirty="0"/>
          </a:p>
        </p:txBody>
      </p:sp>
      <p:sp>
        <p:nvSpPr>
          <p:cNvPr id="22" name="TextBox 21"/>
          <p:cNvSpPr txBox="1"/>
          <p:nvPr/>
        </p:nvSpPr>
        <p:spPr>
          <a:xfrm>
            <a:off x="8731139" y="4549589"/>
            <a:ext cx="1981200" cy="646331"/>
          </a:xfrm>
          <a:prstGeom prst="rect">
            <a:avLst/>
          </a:prstGeom>
          <a:noFill/>
        </p:spPr>
        <p:txBody>
          <a:bodyPr wrap="square" rtlCol="0">
            <a:spAutoFit/>
          </a:bodyPr>
          <a:lstStyle/>
          <a:p>
            <a:pPr marL="0" lvl="1"/>
            <a:r>
              <a:rPr lang="en-US" b="1" dirty="0" smtClean="0"/>
              <a:t>m</a:t>
            </a:r>
            <a:r>
              <a:rPr lang="en-US" b="1" baseline="-25000" dirty="0" smtClean="0"/>
              <a:t>i </a:t>
            </a:r>
            <a:r>
              <a:rPr lang="en-US" b="1" dirty="0" smtClean="0"/>
              <a:t>= 62</a:t>
            </a:r>
            <a:r>
              <a:rPr lang="en-US" b="1" baseline="50000" dirty="0" smtClean="0"/>
              <a:t>65</a:t>
            </a:r>
            <a:r>
              <a:rPr lang="en-US" b="1" dirty="0" smtClean="0"/>
              <a:t> </a:t>
            </a:r>
            <a:r>
              <a:rPr lang="en-US" b="1" dirty="0"/>
              <a:t>(mod </a:t>
            </a:r>
            <a:r>
              <a:rPr lang="en-US" b="1" dirty="0" smtClean="0"/>
              <a:t>133)</a:t>
            </a:r>
            <a:r>
              <a:rPr lang="en-US" b="1" baseline="-25000" dirty="0" smtClean="0"/>
              <a:t> </a:t>
            </a:r>
            <a:br>
              <a:rPr lang="en-US" b="1" baseline="-25000" dirty="0" smtClean="0"/>
            </a:br>
            <a:r>
              <a:rPr lang="en-US" b="1" baseline="-25000" dirty="0" smtClean="0"/>
              <a:t>      </a:t>
            </a:r>
            <a:r>
              <a:rPr lang="en-US" b="1" dirty="0" smtClean="0"/>
              <a:t>= 6</a:t>
            </a:r>
            <a:endParaRPr lang="en-US" b="1" dirty="0"/>
          </a:p>
        </p:txBody>
      </p:sp>
    </p:spTree>
    <p:extLst>
      <p:ext uri="{BB962C8B-B14F-4D97-AF65-F5344CB8AC3E}">
        <p14:creationId xmlns:p14="http://schemas.microsoft.com/office/powerpoint/2010/main" val="3269281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randombar(horizontal)">
                                      <p:cBhvr>
                                        <p:cTn id="7" dur="500"/>
                                        <p:tgtEl>
                                          <p:spTgt spid="20"/>
                                        </p:tgtEl>
                                      </p:cBhvr>
                                    </p:animEffect>
                                  </p:childTnLst>
                                </p:cTn>
                              </p:par>
                              <p:par>
                                <p:cTn id="8" presetID="1"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16">
                                            <p:txEl>
                                              <p:pRg st="1" end="1"/>
                                            </p:txEl>
                                          </p:spTgt>
                                        </p:tgtEl>
                                        <p:attrNameLst>
                                          <p:attrName>style.visibility</p:attrName>
                                        </p:attrNameLst>
                                      </p:cBhvr>
                                      <p:to>
                                        <p:strVal val="visible"/>
                                      </p:to>
                                    </p:set>
                                  </p:childTnLst>
                                </p:cTn>
                              </p:par>
                              <p:par>
                                <p:cTn id="14" presetID="14" presetClass="entr" presetSubtype="1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randombar(horizontal)">
                                      <p:cBhvr>
                                        <p:cTn id="16" dur="500"/>
                                        <p:tgtEl>
                                          <p:spTgt spid="18"/>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6">
                                            <p:txEl>
                                              <p:pRg st="2" end="2"/>
                                            </p:txEl>
                                          </p:spTgt>
                                        </p:tgtEl>
                                        <p:attrNameLst>
                                          <p:attrName>style.visibility</p:attrName>
                                        </p:attrNameLst>
                                      </p:cBhvr>
                                      <p:to>
                                        <p:strVal val="visible"/>
                                      </p:to>
                                    </p:set>
                                  </p:childTnLst>
                                </p:cTn>
                              </p:par>
                              <p:par>
                                <p:cTn id="21" presetID="14" presetClass="entr" presetSubtype="1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randombar(horizontal)">
                                      <p:cBhvr>
                                        <p:cTn id="23" dur="500"/>
                                        <p:tgtEl>
                                          <p:spTgt spid="19"/>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6">
                                            <p:txEl>
                                              <p:pRg st="3" end="3"/>
                                            </p:txEl>
                                          </p:spTgt>
                                        </p:tgtEl>
                                        <p:attrNameLst>
                                          <p:attrName>style.visibility</p:attrName>
                                        </p:attrNameLst>
                                      </p:cBhvr>
                                      <p:to>
                                        <p:strVal val="visible"/>
                                      </p:to>
                                    </p:set>
                                  </p:childTnLst>
                                </p:cTn>
                              </p:par>
                              <p:par>
                                <p:cTn id="28" presetID="14" presetClass="entr" presetSubtype="10" fill="hold" grpId="0" nodeType="with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randombar(horizontal)">
                                      <p:cBhvr>
                                        <p:cTn id="30" dur="500"/>
                                        <p:tgtEl>
                                          <p:spTgt spid="21"/>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6">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6">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6">
                                            <p:txEl>
                                              <p:pRg st="9" end="9"/>
                                            </p:txEl>
                                          </p:spTgt>
                                        </p:tgtEl>
                                        <p:attrNameLst>
                                          <p:attrName>style.visibility</p:attrName>
                                        </p:attrNameLst>
                                      </p:cBhvr>
                                      <p:to>
                                        <p:strVal val="visible"/>
                                      </p:to>
                                    </p:set>
                                  </p:childTnLst>
                                </p:cTn>
                              </p:par>
                              <p:par>
                                <p:cTn id="47" presetID="14" presetClass="entr" presetSubtype="10"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randombar(horizontal)">
                                      <p:cBhvr>
                                        <p:cTn id="49" dur="500"/>
                                        <p:tgtEl>
                                          <p:spTgt spid="22"/>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1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animBg="1"/>
      <p:bldP spid="21" grpId="0"/>
      <p:bldP spid="22"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Secure Channels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dirty="0"/>
              <a:t>A Secure Channel is an abstraction of </a:t>
            </a:r>
            <a:r>
              <a:rPr lang="en-US" dirty="0">
                <a:solidFill>
                  <a:schemeClr val="accent6"/>
                </a:solidFill>
              </a:rPr>
              <a:t>secure communication</a:t>
            </a:r>
            <a:r>
              <a:rPr lang="en-US" dirty="0"/>
              <a:t> between communication parties in a DS</a:t>
            </a:r>
          </a:p>
          <a:p>
            <a:r>
              <a:rPr lang="en-US" dirty="0" smtClean="0"/>
              <a:t>A </a:t>
            </a:r>
            <a:r>
              <a:rPr lang="en-US" dirty="0"/>
              <a:t>Secure Channel protects senders and receivers against:</a:t>
            </a:r>
          </a:p>
          <a:p>
            <a:pPr lvl="2"/>
            <a:r>
              <a:rPr lang="en-US" sz="2400" dirty="0" smtClean="0">
                <a:solidFill>
                  <a:schemeClr val="accent6"/>
                </a:solidFill>
              </a:rPr>
              <a:t>Interception</a:t>
            </a:r>
            <a:r>
              <a:rPr lang="en-US" sz="2400" dirty="0" smtClean="0"/>
              <a:t> : By </a:t>
            </a:r>
            <a:r>
              <a:rPr lang="en-US" sz="2400" dirty="0"/>
              <a:t>ensuring confidentiality of the sender and receiver</a:t>
            </a:r>
          </a:p>
          <a:p>
            <a:pPr lvl="2"/>
            <a:r>
              <a:rPr lang="en-US" sz="2400" dirty="0">
                <a:solidFill>
                  <a:schemeClr val="accent6"/>
                </a:solidFill>
              </a:rPr>
              <a:t>Modification and Fabrication of messages </a:t>
            </a:r>
            <a:r>
              <a:rPr lang="en-US" sz="2400" dirty="0" smtClean="0"/>
              <a:t>: By </a:t>
            </a:r>
            <a:r>
              <a:rPr lang="en-US" sz="2400" dirty="0"/>
              <a:t>providing mutual authentication and message integrity protocols</a:t>
            </a:r>
          </a:p>
        </p:txBody>
      </p:sp>
    </p:spTree>
    <p:extLst>
      <p:ext uri="{BB962C8B-B14F-4D97-AF65-F5344CB8AC3E}">
        <p14:creationId xmlns:p14="http://schemas.microsoft.com/office/powerpoint/2010/main" val="2146604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Authentication</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dirty="0"/>
              <a:t>Consider a scenario where Alice wants to set up a secure channel with </a:t>
            </a:r>
            <a:r>
              <a:rPr lang="en-US" dirty="0" smtClean="0"/>
              <a:t>Bob</a:t>
            </a:r>
            <a:endParaRPr lang="en-US" sz="2400" dirty="0"/>
          </a:p>
          <a:p>
            <a:pPr lvl="1"/>
            <a:r>
              <a:rPr lang="en-US" sz="2400" dirty="0"/>
              <a:t>Alice sends a message to Bob (or trusted third party) for mutual </a:t>
            </a:r>
            <a:r>
              <a:rPr lang="en-US" sz="2400" dirty="0" smtClean="0"/>
              <a:t>authentication</a:t>
            </a:r>
            <a:endParaRPr lang="en-US" sz="2400" dirty="0"/>
          </a:p>
          <a:p>
            <a:pPr lvl="1"/>
            <a:r>
              <a:rPr lang="en-US" sz="2400" dirty="0"/>
              <a:t>Message integrity should be ensured for all communication between Alice and Bob</a:t>
            </a:r>
          </a:p>
          <a:p>
            <a:pPr lvl="2"/>
            <a:r>
              <a:rPr lang="en-US" sz="2400" dirty="0"/>
              <a:t>Generate a “session key” to be used between Alice and Bob</a:t>
            </a:r>
          </a:p>
          <a:p>
            <a:pPr lvl="2"/>
            <a:r>
              <a:rPr lang="en-US" sz="2400" dirty="0"/>
              <a:t>Session-keys ensure integrity and </a:t>
            </a:r>
            <a:r>
              <a:rPr lang="en-US" sz="2400" dirty="0" smtClean="0"/>
              <a:t>confidentiality</a:t>
            </a:r>
            <a:endParaRPr lang="en-US" sz="2400" dirty="0"/>
          </a:p>
          <a:p>
            <a:pPr lvl="1"/>
            <a:r>
              <a:rPr lang="en-US" sz="2400" dirty="0"/>
              <a:t>When the channel is closed, the session key is destroyed</a:t>
            </a:r>
          </a:p>
        </p:txBody>
      </p:sp>
    </p:spTree>
    <p:extLst>
      <p:ext uri="{BB962C8B-B14F-4D97-AF65-F5344CB8AC3E}">
        <p14:creationId xmlns:p14="http://schemas.microsoft.com/office/powerpoint/2010/main" val="3179976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normAutofit/>
          </a:bodyPr>
          <a:lstStyle/>
          <a:p>
            <a:r>
              <a:rPr lang="en-US" dirty="0"/>
              <a:t>Mutual Authentication Protocols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marL="0" indent="0">
              <a:buNone/>
            </a:pPr>
            <a:r>
              <a:rPr lang="en-US" b="1" dirty="0" smtClean="0">
                <a:solidFill>
                  <a:srgbClr val="0E3755"/>
                </a:solidFill>
              </a:rPr>
              <a:t>Three types </a:t>
            </a:r>
            <a:r>
              <a:rPr lang="en-US" b="1" dirty="0">
                <a:solidFill>
                  <a:srgbClr val="0E3755"/>
                </a:solidFill>
              </a:rPr>
              <a:t>of Mutual Authentication </a:t>
            </a:r>
            <a:r>
              <a:rPr lang="en-US" b="1" dirty="0" smtClean="0">
                <a:solidFill>
                  <a:srgbClr val="0E3755"/>
                </a:solidFill>
              </a:rPr>
              <a:t>Protocols:</a:t>
            </a:r>
          </a:p>
          <a:p>
            <a:pPr marL="457200" indent="-457200">
              <a:buFont typeface="+mj-lt"/>
              <a:buAutoNum type="arabicPeriod"/>
            </a:pPr>
            <a:r>
              <a:rPr lang="en-US" dirty="0"/>
              <a:t>Shared Secret Key based Authentication</a:t>
            </a:r>
          </a:p>
          <a:p>
            <a:pPr marL="457200" indent="-457200">
              <a:buFont typeface="+mj-lt"/>
              <a:buAutoNum type="arabicPeriod"/>
            </a:pPr>
            <a:r>
              <a:rPr lang="en-US" dirty="0"/>
              <a:t>Authentication using a Key Distribution Center</a:t>
            </a:r>
          </a:p>
          <a:p>
            <a:pPr marL="457200" indent="-457200">
              <a:buFont typeface="+mj-lt"/>
              <a:buAutoNum type="arabicPeriod"/>
            </a:pPr>
            <a:r>
              <a:rPr lang="en-US" dirty="0"/>
              <a:t>Authentication using Public-key Cryptography</a:t>
            </a:r>
          </a:p>
        </p:txBody>
      </p:sp>
    </p:spTree>
    <p:extLst>
      <p:ext uri="{BB962C8B-B14F-4D97-AF65-F5344CB8AC3E}">
        <p14:creationId xmlns:p14="http://schemas.microsoft.com/office/powerpoint/2010/main" val="734094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normAutofit/>
          </a:bodyPr>
          <a:lstStyle/>
          <a:p>
            <a:r>
              <a:rPr lang="en-US" dirty="0"/>
              <a:t>Shared Secret Key based Authentication</a:t>
            </a:r>
          </a:p>
        </p:txBody>
      </p:sp>
      <p:sp>
        <p:nvSpPr>
          <p:cNvPr id="4" name="Content Placeholder 2"/>
          <p:cNvSpPr>
            <a:spLocks noGrp="1"/>
          </p:cNvSpPr>
          <p:nvPr>
            <p:ph idx="1"/>
          </p:nvPr>
        </p:nvSpPr>
        <p:spPr>
          <a:xfrm>
            <a:off x="131181" y="863444"/>
            <a:ext cx="8194796" cy="5590565"/>
          </a:xfrm>
        </p:spPr>
        <p:txBody>
          <a:bodyPr/>
          <a:lstStyle/>
          <a:p>
            <a:r>
              <a:rPr lang="en-US" dirty="0" smtClean="0"/>
              <a:t>Ensure data </a:t>
            </a:r>
            <a:r>
              <a:rPr lang="en-US" dirty="0"/>
              <a:t>message integrity exchanged after authentication use secret-key cryptography with session keys.</a:t>
            </a:r>
          </a:p>
          <a:p>
            <a:r>
              <a:rPr lang="en-US" dirty="0" smtClean="0"/>
              <a:t>The scheme is also known as “</a:t>
            </a:r>
            <a:r>
              <a:rPr lang="en-US" i="1" dirty="0" smtClean="0">
                <a:solidFill>
                  <a:schemeClr val="accent6"/>
                </a:solidFill>
              </a:rPr>
              <a:t>Challenge-Response protocol</a:t>
            </a:r>
            <a:r>
              <a:rPr lang="en-US" dirty="0" smtClean="0"/>
              <a:t>”</a:t>
            </a:r>
          </a:p>
          <a:p>
            <a:r>
              <a:rPr lang="en-US" dirty="0" smtClean="0"/>
              <a:t>Let </a:t>
            </a:r>
            <a:r>
              <a:rPr lang="en-US" dirty="0" smtClean="0">
                <a:solidFill>
                  <a:srgbClr val="000000"/>
                </a:solidFill>
              </a:rPr>
              <a:t>K</a:t>
            </a:r>
            <a:r>
              <a:rPr lang="en-US" baseline="-25000" dirty="0" smtClean="0">
                <a:solidFill>
                  <a:srgbClr val="000000"/>
                </a:solidFill>
              </a:rPr>
              <a:t>A,B</a:t>
            </a:r>
            <a:r>
              <a:rPr lang="en-US" dirty="0" smtClean="0"/>
              <a:t> be the shared secret key between Alice and Bob</a:t>
            </a:r>
          </a:p>
          <a:p>
            <a:endParaRPr lang="en-US" dirty="0" smtClean="0"/>
          </a:p>
          <a:p>
            <a:pPr marL="0" indent="0">
              <a:buNone/>
            </a:pPr>
            <a:r>
              <a:rPr lang="en-US" b="1" dirty="0" smtClean="0">
                <a:solidFill>
                  <a:srgbClr val="0E3755"/>
                </a:solidFill>
              </a:rPr>
              <a:t>The Challenge-Response Protocol</a:t>
            </a:r>
            <a:endParaRPr lang="en-US" b="1" dirty="0">
              <a:solidFill>
                <a:srgbClr val="0E3755"/>
              </a:solidFill>
            </a:endParaRPr>
          </a:p>
          <a:p>
            <a:pPr marL="457200" indent="-457200">
              <a:buFont typeface="+mj-lt"/>
              <a:buAutoNum type="arabicPeriod"/>
            </a:pPr>
            <a:r>
              <a:rPr lang="en-US" dirty="0" smtClean="0"/>
              <a:t>‘A’ sends her identity to ‘B’</a:t>
            </a:r>
            <a:endParaRPr lang="en-US" sz="2400" dirty="0" smtClean="0"/>
          </a:p>
          <a:p>
            <a:pPr marL="457200" indent="-457200">
              <a:buFont typeface="+mj-lt"/>
              <a:buAutoNum type="arabicPeriod"/>
            </a:pPr>
            <a:r>
              <a:rPr lang="en-US" dirty="0" smtClean="0"/>
              <a:t>‘B’ sends a challenge </a:t>
            </a:r>
            <a:r>
              <a:rPr lang="en-US" dirty="0">
                <a:solidFill>
                  <a:srgbClr val="000000"/>
                </a:solidFill>
              </a:rPr>
              <a:t>R</a:t>
            </a:r>
            <a:r>
              <a:rPr lang="en-US" baseline="-25000" dirty="0" smtClean="0">
                <a:solidFill>
                  <a:srgbClr val="000000"/>
                </a:solidFill>
              </a:rPr>
              <a:t>B </a:t>
            </a:r>
            <a:r>
              <a:rPr lang="en-US" dirty="0" smtClean="0"/>
              <a:t>back to ‘A’</a:t>
            </a:r>
            <a:endParaRPr lang="en-US" sz="2400" dirty="0" smtClean="0"/>
          </a:p>
          <a:p>
            <a:pPr marL="457200" indent="-457200">
              <a:buFont typeface="+mj-lt"/>
              <a:buAutoNum type="arabicPeriod"/>
            </a:pPr>
            <a:r>
              <a:rPr lang="en-US" dirty="0" smtClean="0"/>
              <a:t>‘A’ responds to the challenge by encrypting </a:t>
            </a:r>
            <a:r>
              <a:rPr lang="en-US" dirty="0" smtClean="0">
                <a:solidFill>
                  <a:srgbClr val="000000"/>
                </a:solidFill>
              </a:rPr>
              <a:t>R</a:t>
            </a:r>
            <a:r>
              <a:rPr lang="en-US" baseline="-25000" dirty="0" smtClean="0">
                <a:solidFill>
                  <a:srgbClr val="000000"/>
                </a:solidFill>
              </a:rPr>
              <a:t>B </a:t>
            </a:r>
            <a:r>
              <a:rPr lang="en-US" dirty="0" smtClean="0"/>
              <a:t>with </a:t>
            </a:r>
            <a:r>
              <a:rPr lang="en-US" dirty="0" smtClean="0">
                <a:solidFill>
                  <a:srgbClr val="000000"/>
                </a:solidFill>
              </a:rPr>
              <a:t>K</a:t>
            </a:r>
            <a:r>
              <a:rPr lang="en-US" baseline="-25000" dirty="0" smtClean="0">
                <a:solidFill>
                  <a:srgbClr val="000000"/>
                </a:solidFill>
              </a:rPr>
              <a:t>A,B</a:t>
            </a:r>
            <a:r>
              <a:rPr lang="en-US" dirty="0"/>
              <a:t> </a:t>
            </a:r>
            <a:r>
              <a:rPr lang="en-US" dirty="0" smtClean="0"/>
              <a:t>(denoted by </a:t>
            </a:r>
            <a:r>
              <a:rPr lang="en-US" dirty="0" smtClean="0">
                <a:solidFill>
                  <a:srgbClr val="000000"/>
                </a:solidFill>
              </a:rPr>
              <a:t>K</a:t>
            </a:r>
            <a:r>
              <a:rPr lang="en-US" baseline="-25000" dirty="0" smtClean="0">
                <a:solidFill>
                  <a:srgbClr val="000000"/>
                </a:solidFill>
              </a:rPr>
              <a:t>A,B</a:t>
            </a:r>
            <a:r>
              <a:rPr lang="en-US" dirty="0">
                <a:solidFill>
                  <a:srgbClr val="000000"/>
                </a:solidFill>
              </a:rPr>
              <a:t> </a:t>
            </a:r>
            <a:r>
              <a:rPr lang="en-US" dirty="0" smtClean="0">
                <a:solidFill>
                  <a:srgbClr val="000000"/>
                </a:solidFill>
              </a:rPr>
              <a:t>(R</a:t>
            </a:r>
            <a:r>
              <a:rPr lang="en-US" baseline="-25000" dirty="0" smtClean="0">
                <a:solidFill>
                  <a:srgbClr val="000000"/>
                </a:solidFill>
              </a:rPr>
              <a:t>B</a:t>
            </a:r>
            <a:r>
              <a:rPr lang="en-US" dirty="0" smtClean="0">
                <a:solidFill>
                  <a:srgbClr val="000000"/>
                </a:solidFill>
              </a:rPr>
              <a:t>)</a:t>
            </a:r>
            <a:r>
              <a:rPr lang="en-US" dirty="0" smtClean="0"/>
              <a:t>), and sending it  back to ‘B’</a:t>
            </a:r>
            <a:endParaRPr lang="en-US" sz="2400" dirty="0" smtClean="0"/>
          </a:p>
          <a:p>
            <a:pPr marL="457200" indent="-457200">
              <a:buFont typeface="+mj-lt"/>
              <a:buAutoNum type="arabicPeriod"/>
            </a:pPr>
            <a:r>
              <a:rPr lang="en-US" dirty="0" smtClean="0"/>
              <a:t>‘A’ challenges ‘B’ by sending </a:t>
            </a:r>
            <a:r>
              <a:rPr lang="en-US" dirty="0" smtClean="0">
                <a:solidFill>
                  <a:srgbClr val="000000"/>
                </a:solidFill>
              </a:rPr>
              <a:t>R</a:t>
            </a:r>
            <a:r>
              <a:rPr lang="en-US" baseline="-25000" dirty="0" smtClean="0">
                <a:solidFill>
                  <a:srgbClr val="000000"/>
                </a:solidFill>
              </a:rPr>
              <a:t>A</a:t>
            </a:r>
            <a:endParaRPr lang="en-US" sz="2400" baseline="-25000" dirty="0" smtClean="0">
              <a:solidFill>
                <a:srgbClr val="000000"/>
              </a:solidFill>
            </a:endParaRPr>
          </a:p>
          <a:p>
            <a:pPr marL="457200" indent="-457200">
              <a:buFont typeface="+mj-lt"/>
              <a:buAutoNum type="arabicPeriod"/>
            </a:pPr>
            <a:r>
              <a:rPr lang="en-US" dirty="0" smtClean="0"/>
              <a:t>‘B’ responds to the challenge by sending the encrypted message </a:t>
            </a:r>
            <a:r>
              <a:rPr lang="en-US" dirty="0" smtClean="0">
                <a:solidFill>
                  <a:srgbClr val="000000"/>
                </a:solidFill>
              </a:rPr>
              <a:t>K</a:t>
            </a:r>
            <a:r>
              <a:rPr lang="en-US" baseline="-25000" dirty="0" smtClean="0">
                <a:solidFill>
                  <a:srgbClr val="000000"/>
                </a:solidFill>
              </a:rPr>
              <a:t>A,B</a:t>
            </a:r>
            <a:r>
              <a:rPr lang="en-US" dirty="0" smtClean="0">
                <a:solidFill>
                  <a:srgbClr val="000000"/>
                </a:solidFill>
              </a:rPr>
              <a:t>(R</a:t>
            </a:r>
            <a:r>
              <a:rPr lang="en-US" baseline="-25000" dirty="0" smtClean="0">
                <a:solidFill>
                  <a:srgbClr val="000000"/>
                </a:solidFill>
              </a:rPr>
              <a:t>A</a:t>
            </a:r>
            <a:r>
              <a:rPr lang="en-US" dirty="0" smtClean="0">
                <a:solidFill>
                  <a:srgbClr val="000000"/>
                </a:solidFill>
              </a:rPr>
              <a:t>)</a:t>
            </a:r>
            <a:endParaRPr lang="en-US" dirty="0"/>
          </a:p>
          <a:p>
            <a:endParaRPr lang="en-US" dirty="0"/>
          </a:p>
          <a:p>
            <a:endParaRPr lang="en-US" dirty="0"/>
          </a:p>
        </p:txBody>
      </p:sp>
      <p:sp>
        <p:nvSpPr>
          <p:cNvPr id="6" name="Rectangle 5"/>
          <p:cNvSpPr/>
          <p:nvPr/>
        </p:nvSpPr>
        <p:spPr>
          <a:xfrm>
            <a:off x="8765938" y="2367371"/>
            <a:ext cx="457200" cy="3200400"/>
          </a:xfrm>
          <a:prstGeom prst="rect">
            <a:avLst/>
          </a:prstGeom>
        </p:spPr>
        <p:style>
          <a:lnRef idx="0">
            <a:schemeClr val="accent6"/>
          </a:lnRef>
          <a:fillRef idx="3">
            <a:schemeClr val="accent6"/>
          </a:fillRef>
          <a:effectRef idx="3">
            <a:schemeClr val="accent6"/>
          </a:effectRef>
          <a:fontRef idx="minor">
            <a:schemeClr val="lt1"/>
          </a:fontRef>
        </p:style>
        <p:txBody>
          <a:bodyPr vert="vert270" rtlCol="0" anchor="ctr"/>
          <a:lstStyle/>
          <a:p>
            <a:pPr algn="ctr"/>
            <a:r>
              <a:rPr lang="en-US" sz="2400" b="1" dirty="0" smtClean="0"/>
              <a:t>Alice</a:t>
            </a:r>
            <a:endParaRPr lang="en-US" sz="2400" b="1" dirty="0"/>
          </a:p>
        </p:txBody>
      </p:sp>
      <p:sp>
        <p:nvSpPr>
          <p:cNvPr id="7" name="Rectangle 6"/>
          <p:cNvSpPr/>
          <p:nvPr/>
        </p:nvSpPr>
        <p:spPr>
          <a:xfrm>
            <a:off x="11397076" y="2392509"/>
            <a:ext cx="457200" cy="3200400"/>
          </a:xfrm>
          <a:prstGeom prst="rect">
            <a:avLst/>
          </a:prstGeom>
        </p:spPr>
        <p:style>
          <a:lnRef idx="0">
            <a:schemeClr val="accent6"/>
          </a:lnRef>
          <a:fillRef idx="3">
            <a:schemeClr val="accent6"/>
          </a:fillRef>
          <a:effectRef idx="3">
            <a:schemeClr val="accent6"/>
          </a:effectRef>
          <a:fontRef idx="minor">
            <a:schemeClr val="lt1"/>
          </a:fontRef>
        </p:style>
        <p:txBody>
          <a:bodyPr vert="vert270" rtlCol="0" anchor="ctr"/>
          <a:lstStyle/>
          <a:p>
            <a:pPr algn="ctr"/>
            <a:r>
              <a:rPr lang="en-US" sz="2400" b="1" dirty="0" smtClean="0"/>
              <a:t>Bob</a:t>
            </a:r>
            <a:endParaRPr lang="en-US" sz="2400" b="1" dirty="0"/>
          </a:p>
        </p:txBody>
      </p:sp>
      <p:cxnSp>
        <p:nvCxnSpPr>
          <p:cNvPr id="8" name="Straight Arrow Connector 7"/>
          <p:cNvCxnSpPr/>
          <p:nvPr/>
        </p:nvCxnSpPr>
        <p:spPr>
          <a:xfrm>
            <a:off x="9223138" y="2849709"/>
            <a:ext cx="2173938" cy="0"/>
          </a:xfrm>
          <a:prstGeom prst="straightConnector1">
            <a:avLst/>
          </a:prstGeom>
          <a:ln w="28575">
            <a:solidFill>
              <a:srgbClr val="000000"/>
            </a:solidFill>
            <a:tailEnd type="arrow"/>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9868595" y="2697309"/>
            <a:ext cx="637419" cy="364564"/>
          </a:xfrm>
          <a:prstGeom prst="rect">
            <a:avLst/>
          </a:prstGeom>
          <a:ln>
            <a:solidFill>
              <a:srgbClr val="0E3755"/>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2400" b="1" dirty="0" smtClean="0"/>
              <a:t>A</a:t>
            </a:r>
            <a:endParaRPr lang="en-US" sz="2400" b="1" dirty="0"/>
          </a:p>
        </p:txBody>
      </p:sp>
      <p:cxnSp>
        <p:nvCxnSpPr>
          <p:cNvPr id="10" name="Straight Arrow Connector 9"/>
          <p:cNvCxnSpPr/>
          <p:nvPr/>
        </p:nvCxnSpPr>
        <p:spPr>
          <a:xfrm flipH="1">
            <a:off x="9223139" y="3383109"/>
            <a:ext cx="2173937" cy="0"/>
          </a:xfrm>
          <a:prstGeom prst="straightConnector1">
            <a:avLst/>
          </a:prstGeom>
          <a:ln w="28575">
            <a:solidFill>
              <a:srgbClr val="000000"/>
            </a:solidFill>
            <a:tailEnd type="arrow"/>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9867809" y="3230709"/>
            <a:ext cx="637419" cy="364564"/>
          </a:xfrm>
          <a:prstGeom prst="rect">
            <a:avLst/>
          </a:prstGeom>
          <a:ln>
            <a:solidFill>
              <a:srgbClr val="0E3755"/>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2400" b="1" dirty="0" smtClean="0"/>
              <a:t>R</a:t>
            </a:r>
            <a:r>
              <a:rPr lang="en-US" sz="2400" b="1" baseline="-25000" dirty="0" smtClean="0"/>
              <a:t>B</a:t>
            </a:r>
            <a:endParaRPr lang="en-US" sz="2400" b="1" baseline="-25000" dirty="0"/>
          </a:p>
        </p:txBody>
      </p:sp>
      <p:cxnSp>
        <p:nvCxnSpPr>
          <p:cNvPr id="12" name="Straight Arrow Connector 11"/>
          <p:cNvCxnSpPr/>
          <p:nvPr/>
        </p:nvCxnSpPr>
        <p:spPr>
          <a:xfrm>
            <a:off x="9223138" y="3916509"/>
            <a:ext cx="2173938" cy="0"/>
          </a:xfrm>
          <a:prstGeom prst="straightConnector1">
            <a:avLst/>
          </a:prstGeom>
          <a:ln w="28575">
            <a:solidFill>
              <a:srgbClr val="000000"/>
            </a:solidFill>
            <a:tailEnd type="arrow"/>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9639996" y="3764109"/>
            <a:ext cx="1381074" cy="364564"/>
          </a:xfrm>
          <a:prstGeom prst="rect">
            <a:avLst/>
          </a:prstGeom>
          <a:ln>
            <a:solidFill>
              <a:srgbClr val="0E3755"/>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2400" b="1" dirty="0">
                <a:solidFill>
                  <a:srgbClr val="000000"/>
                </a:solidFill>
              </a:rPr>
              <a:t>K</a:t>
            </a:r>
            <a:r>
              <a:rPr lang="en-US" sz="2400" b="1" baseline="-25000" dirty="0">
                <a:solidFill>
                  <a:srgbClr val="000000"/>
                </a:solidFill>
              </a:rPr>
              <a:t>A,B </a:t>
            </a:r>
            <a:r>
              <a:rPr lang="en-US" sz="2400" b="1" dirty="0" smtClean="0"/>
              <a:t>(R</a:t>
            </a:r>
            <a:r>
              <a:rPr lang="en-US" sz="2400" b="1" baseline="-25000" dirty="0" smtClean="0"/>
              <a:t>B</a:t>
            </a:r>
            <a:r>
              <a:rPr lang="en-US" sz="2400" b="1" dirty="0" smtClean="0"/>
              <a:t>)</a:t>
            </a:r>
            <a:endParaRPr lang="en-US" sz="2400" b="1" baseline="-25000" dirty="0"/>
          </a:p>
        </p:txBody>
      </p:sp>
      <p:cxnSp>
        <p:nvCxnSpPr>
          <p:cNvPr id="14" name="Straight Arrow Connector 13"/>
          <p:cNvCxnSpPr/>
          <p:nvPr/>
        </p:nvCxnSpPr>
        <p:spPr>
          <a:xfrm>
            <a:off x="9223138" y="4526109"/>
            <a:ext cx="2173938" cy="0"/>
          </a:xfrm>
          <a:prstGeom prst="straightConnector1">
            <a:avLst/>
          </a:prstGeom>
          <a:ln w="28575">
            <a:solidFill>
              <a:srgbClr val="000000"/>
            </a:solidFill>
            <a:tailEnd type="arrow"/>
          </a:ln>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9868595" y="4373709"/>
            <a:ext cx="636323" cy="364564"/>
          </a:xfrm>
          <a:prstGeom prst="rect">
            <a:avLst/>
          </a:prstGeom>
          <a:ln>
            <a:solidFill>
              <a:srgbClr val="0E3755"/>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2400" b="1" dirty="0" smtClean="0"/>
              <a:t>R</a:t>
            </a:r>
            <a:r>
              <a:rPr lang="en-US" sz="2400" b="1" baseline="-25000" dirty="0" smtClean="0"/>
              <a:t>A</a:t>
            </a:r>
            <a:endParaRPr lang="en-US" sz="2400" b="1" baseline="-25000" dirty="0"/>
          </a:p>
        </p:txBody>
      </p:sp>
      <p:cxnSp>
        <p:nvCxnSpPr>
          <p:cNvPr id="16" name="Straight Arrow Connector 15"/>
          <p:cNvCxnSpPr/>
          <p:nvPr/>
        </p:nvCxnSpPr>
        <p:spPr>
          <a:xfrm flipH="1">
            <a:off x="9223139" y="5037965"/>
            <a:ext cx="2173937" cy="21544"/>
          </a:xfrm>
          <a:prstGeom prst="straightConnector1">
            <a:avLst/>
          </a:prstGeom>
          <a:ln w="28575">
            <a:solidFill>
              <a:srgbClr val="000000"/>
            </a:solidFill>
            <a:tailEnd type="arrow"/>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9675347" y="4907109"/>
            <a:ext cx="1381074" cy="364564"/>
          </a:xfrm>
          <a:prstGeom prst="rect">
            <a:avLst/>
          </a:prstGeom>
          <a:ln>
            <a:solidFill>
              <a:srgbClr val="0E3755"/>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2400" b="1" dirty="0">
                <a:solidFill>
                  <a:srgbClr val="000000"/>
                </a:solidFill>
              </a:rPr>
              <a:t>K</a:t>
            </a:r>
            <a:r>
              <a:rPr lang="en-US" sz="2400" b="1" baseline="-25000" dirty="0">
                <a:solidFill>
                  <a:srgbClr val="000000"/>
                </a:solidFill>
              </a:rPr>
              <a:t>A,B </a:t>
            </a:r>
            <a:r>
              <a:rPr lang="en-US" sz="2400" b="1" dirty="0" smtClean="0"/>
              <a:t>(R</a:t>
            </a:r>
            <a:r>
              <a:rPr lang="en-US" sz="2400" b="1" baseline="-25000" dirty="0"/>
              <a:t>A</a:t>
            </a:r>
            <a:r>
              <a:rPr lang="en-US" sz="2400" b="1" dirty="0" smtClean="0"/>
              <a:t>)</a:t>
            </a:r>
            <a:endParaRPr lang="en-US" sz="2400" b="1" baseline="-25000" dirty="0"/>
          </a:p>
        </p:txBody>
      </p:sp>
      <p:sp>
        <p:nvSpPr>
          <p:cNvPr id="18" name="Rectangle 17"/>
          <p:cNvSpPr/>
          <p:nvPr/>
        </p:nvSpPr>
        <p:spPr>
          <a:xfrm>
            <a:off x="8620770" y="5781643"/>
            <a:ext cx="3233506" cy="664193"/>
          </a:xfrm>
          <a:prstGeom prst="rect">
            <a:avLst/>
          </a:prstGeom>
          <a:solidFill>
            <a:srgbClr val="0E3755"/>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400" dirty="0" smtClean="0"/>
              <a:t>A and B are mutually authenticated</a:t>
            </a:r>
            <a:endParaRPr lang="en-US" sz="2400" dirty="0"/>
          </a:p>
        </p:txBody>
      </p:sp>
    </p:spTree>
    <p:extLst>
      <p:ext uri="{BB962C8B-B14F-4D97-AF65-F5344CB8AC3E}">
        <p14:creationId xmlns:p14="http://schemas.microsoft.com/office/powerpoint/2010/main" val="2887445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9" end="9"/>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15" grpId="0" animBg="1"/>
      <p:bldP spid="17" grpId="0" animBg="1"/>
      <p:bldP spid="18"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normAutofit/>
          </a:bodyPr>
          <a:lstStyle/>
          <a:p>
            <a:r>
              <a:rPr lang="en-US" dirty="0"/>
              <a:t>Optimization </a:t>
            </a:r>
            <a:r>
              <a:rPr lang="en-US" dirty="0" smtClean="0"/>
              <a:t>of the </a:t>
            </a:r>
            <a:r>
              <a:rPr lang="en-US" dirty="0"/>
              <a:t>Authentication based on a shared secret key</a:t>
            </a:r>
          </a:p>
        </p:txBody>
      </p:sp>
      <p:sp>
        <p:nvSpPr>
          <p:cNvPr id="4" name="Content Placeholder 3"/>
          <p:cNvSpPr>
            <a:spLocks noGrp="1"/>
          </p:cNvSpPr>
          <p:nvPr>
            <p:ph idx="1"/>
          </p:nvPr>
        </p:nvSpPr>
        <p:spPr/>
        <p:txBody>
          <a:bodyPr/>
          <a:lstStyle/>
          <a:p>
            <a:r>
              <a:rPr lang="en-US" dirty="0" smtClean="0">
                <a:solidFill>
                  <a:schemeClr val="accent6"/>
                </a:solidFill>
              </a:rPr>
              <a:t>Session key </a:t>
            </a:r>
            <a:r>
              <a:rPr lang="en-US" dirty="0"/>
              <a:t>- is a shared (secret) key that is used to encrypt messages for </a:t>
            </a:r>
            <a:r>
              <a:rPr lang="en-US" dirty="0" smtClean="0"/>
              <a:t>integrity</a:t>
            </a:r>
          </a:p>
          <a:p>
            <a:r>
              <a:rPr lang="en-US" dirty="0" smtClean="0"/>
              <a:t>Generally used </a:t>
            </a:r>
            <a:r>
              <a:rPr lang="en-US" dirty="0"/>
              <a:t>only for as long as the channel exists</a:t>
            </a:r>
            <a:endParaRPr lang="en-IN" dirty="0"/>
          </a:p>
        </p:txBody>
      </p:sp>
      <p:sp>
        <p:nvSpPr>
          <p:cNvPr id="19" name="Rectangle 18"/>
          <p:cNvSpPr/>
          <p:nvPr/>
        </p:nvSpPr>
        <p:spPr>
          <a:xfrm>
            <a:off x="656668" y="2355570"/>
            <a:ext cx="457200" cy="1879076"/>
          </a:xfrm>
          <a:prstGeom prst="rect">
            <a:avLst/>
          </a:prstGeom>
        </p:spPr>
        <p:style>
          <a:lnRef idx="0">
            <a:schemeClr val="accent6"/>
          </a:lnRef>
          <a:fillRef idx="3">
            <a:schemeClr val="accent6"/>
          </a:fillRef>
          <a:effectRef idx="3">
            <a:schemeClr val="accent6"/>
          </a:effectRef>
          <a:fontRef idx="minor">
            <a:schemeClr val="lt1"/>
          </a:fontRef>
        </p:style>
        <p:txBody>
          <a:bodyPr vert="vert270" rtlCol="0" anchor="ctr"/>
          <a:lstStyle/>
          <a:p>
            <a:pPr algn="ctr"/>
            <a:r>
              <a:rPr lang="en-US" sz="2400" dirty="0" smtClean="0"/>
              <a:t>Alice</a:t>
            </a:r>
            <a:endParaRPr lang="en-US" sz="2400" dirty="0"/>
          </a:p>
        </p:txBody>
      </p:sp>
      <p:sp>
        <p:nvSpPr>
          <p:cNvPr id="20" name="Rectangle 19"/>
          <p:cNvSpPr/>
          <p:nvPr/>
        </p:nvSpPr>
        <p:spPr>
          <a:xfrm>
            <a:off x="3251948" y="2380708"/>
            <a:ext cx="457200" cy="1853938"/>
          </a:xfrm>
          <a:prstGeom prst="rect">
            <a:avLst/>
          </a:prstGeom>
        </p:spPr>
        <p:style>
          <a:lnRef idx="0">
            <a:schemeClr val="accent6"/>
          </a:lnRef>
          <a:fillRef idx="3">
            <a:schemeClr val="accent6"/>
          </a:fillRef>
          <a:effectRef idx="3">
            <a:schemeClr val="accent6"/>
          </a:effectRef>
          <a:fontRef idx="minor">
            <a:schemeClr val="lt1"/>
          </a:fontRef>
        </p:style>
        <p:txBody>
          <a:bodyPr vert="vert270" rtlCol="0" anchor="ctr"/>
          <a:lstStyle/>
          <a:p>
            <a:pPr algn="ctr"/>
            <a:r>
              <a:rPr lang="en-US" sz="2400" dirty="0" smtClean="0"/>
              <a:t>Bob</a:t>
            </a:r>
            <a:endParaRPr lang="en-US" sz="2400" dirty="0"/>
          </a:p>
        </p:txBody>
      </p:sp>
      <p:cxnSp>
        <p:nvCxnSpPr>
          <p:cNvPr id="21" name="Straight Arrow Connector 20"/>
          <p:cNvCxnSpPr/>
          <p:nvPr/>
        </p:nvCxnSpPr>
        <p:spPr>
          <a:xfrm>
            <a:off x="1113868" y="2837908"/>
            <a:ext cx="2138080" cy="0"/>
          </a:xfrm>
          <a:prstGeom prst="straightConnector1">
            <a:avLst/>
          </a:prstGeom>
          <a:ln w="28575">
            <a:solidFill>
              <a:srgbClr val="000000"/>
            </a:solidFill>
            <a:tailEnd type="arrow"/>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1642277" y="2685508"/>
            <a:ext cx="802849" cy="304800"/>
          </a:xfrm>
          <a:prstGeom prst="rect">
            <a:avLst/>
          </a:prstGeom>
          <a:ln>
            <a:solidFill>
              <a:srgbClr val="0E3755"/>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2000" dirty="0" smtClean="0"/>
              <a:t>A,</a:t>
            </a:r>
            <a:r>
              <a:rPr lang="en-US" sz="2000" dirty="0"/>
              <a:t> </a:t>
            </a:r>
            <a:r>
              <a:rPr lang="en-US" sz="2000" dirty="0" smtClean="0"/>
              <a:t>R</a:t>
            </a:r>
            <a:r>
              <a:rPr lang="en-US" sz="2000" baseline="-25000" dirty="0" smtClean="0"/>
              <a:t>A</a:t>
            </a:r>
            <a:endParaRPr lang="en-US" sz="2000" baseline="-25000" dirty="0"/>
          </a:p>
        </p:txBody>
      </p:sp>
      <p:cxnSp>
        <p:nvCxnSpPr>
          <p:cNvPr id="23" name="Straight Arrow Connector 22"/>
          <p:cNvCxnSpPr/>
          <p:nvPr/>
        </p:nvCxnSpPr>
        <p:spPr>
          <a:xfrm flipH="1">
            <a:off x="1113868" y="3371308"/>
            <a:ext cx="2138080" cy="0"/>
          </a:xfrm>
          <a:prstGeom prst="straightConnector1">
            <a:avLst/>
          </a:prstGeom>
          <a:ln w="28575">
            <a:solidFill>
              <a:srgbClr val="000000"/>
            </a:solidFill>
            <a:tailEnd type="arrow"/>
          </a:ln>
        </p:spPr>
        <p:style>
          <a:lnRef idx="1">
            <a:schemeClr val="accent1"/>
          </a:lnRef>
          <a:fillRef idx="0">
            <a:schemeClr val="accent1"/>
          </a:fillRef>
          <a:effectRef idx="0">
            <a:schemeClr val="accent1"/>
          </a:effectRef>
          <a:fontRef idx="minor">
            <a:schemeClr val="tx1"/>
          </a:fontRef>
        </p:style>
      </p:cxnSp>
      <p:sp>
        <p:nvSpPr>
          <p:cNvPr id="24" name="Rectangle 23"/>
          <p:cNvSpPr/>
          <p:nvPr/>
        </p:nvSpPr>
        <p:spPr>
          <a:xfrm>
            <a:off x="1530726" y="3218908"/>
            <a:ext cx="1295400" cy="304800"/>
          </a:xfrm>
          <a:prstGeom prst="rect">
            <a:avLst/>
          </a:prstGeom>
          <a:ln>
            <a:solidFill>
              <a:srgbClr val="0E3755"/>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2000" dirty="0" smtClean="0"/>
              <a:t>R</a:t>
            </a:r>
            <a:r>
              <a:rPr lang="en-US" sz="2000" baseline="-25000" dirty="0" smtClean="0"/>
              <a:t>B</a:t>
            </a:r>
            <a:r>
              <a:rPr lang="en-US" sz="2000" dirty="0" smtClean="0">
                <a:solidFill>
                  <a:srgbClr val="000000"/>
                </a:solidFill>
              </a:rPr>
              <a:t>,K</a:t>
            </a:r>
            <a:r>
              <a:rPr lang="en-US" sz="2000" baseline="-25000" dirty="0" smtClean="0">
                <a:solidFill>
                  <a:srgbClr val="000000"/>
                </a:solidFill>
              </a:rPr>
              <a:t>A,B </a:t>
            </a:r>
            <a:r>
              <a:rPr lang="en-US" sz="2000" dirty="0"/>
              <a:t>(R</a:t>
            </a:r>
            <a:r>
              <a:rPr lang="en-US" sz="2000" baseline="-25000" dirty="0"/>
              <a:t>A</a:t>
            </a:r>
            <a:r>
              <a:rPr lang="en-US" sz="2000" dirty="0" smtClean="0"/>
              <a:t>)</a:t>
            </a:r>
            <a:endParaRPr lang="en-US" sz="2000" baseline="-25000" dirty="0"/>
          </a:p>
        </p:txBody>
      </p:sp>
      <p:cxnSp>
        <p:nvCxnSpPr>
          <p:cNvPr id="25" name="Straight Arrow Connector 24"/>
          <p:cNvCxnSpPr/>
          <p:nvPr/>
        </p:nvCxnSpPr>
        <p:spPr>
          <a:xfrm>
            <a:off x="1113868" y="3904708"/>
            <a:ext cx="2138080" cy="0"/>
          </a:xfrm>
          <a:prstGeom prst="straightConnector1">
            <a:avLst/>
          </a:prstGeom>
          <a:ln w="28575">
            <a:solidFill>
              <a:srgbClr val="000000"/>
            </a:solidFill>
            <a:tailEnd type="arrow"/>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a:xfrm>
            <a:off x="1530726" y="3752308"/>
            <a:ext cx="990600" cy="304800"/>
          </a:xfrm>
          <a:prstGeom prst="rect">
            <a:avLst/>
          </a:prstGeom>
          <a:ln>
            <a:solidFill>
              <a:srgbClr val="0E3755"/>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2000" dirty="0">
                <a:solidFill>
                  <a:srgbClr val="000000"/>
                </a:solidFill>
              </a:rPr>
              <a:t>K</a:t>
            </a:r>
            <a:r>
              <a:rPr lang="en-US" sz="2000" baseline="-25000" dirty="0">
                <a:solidFill>
                  <a:srgbClr val="000000"/>
                </a:solidFill>
              </a:rPr>
              <a:t>A,B </a:t>
            </a:r>
            <a:r>
              <a:rPr lang="en-US" sz="2000" dirty="0" smtClean="0"/>
              <a:t>(R</a:t>
            </a:r>
            <a:r>
              <a:rPr lang="en-US" sz="2000" baseline="-25000" dirty="0" smtClean="0"/>
              <a:t>B</a:t>
            </a:r>
            <a:r>
              <a:rPr lang="en-US" sz="2000" dirty="0" smtClean="0"/>
              <a:t>)</a:t>
            </a:r>
            <a:endParaRPr lang="en-US" sz="2000" baseline="-25000" dirty="0"/>
          </a:p>
        </p:txBody>
      </p:sp>
      <p:sp>
        <p:nvSpPr>
          <p:cNvPr id="27" name="Rectangle 26"/>
          <p:cNvSpPr/>
          <p:nvPr/>
        </p:nvSpPr>
        <p:spPr>
          <a:xfrm>
            <a:off x="9332258" y="2003243"/>
            <a:ext cx="457200" cy="2736130"/>
          </a:xfrm>
          <a:prstGeom prst="rect">
            <a:avLst/>
          </a:prstGeom>
        </p:spPr>
        <p:style>
          <a:lnRef idx="0">
            <a:schemeClr val="accent6"/>
          </a:lnRef>
          <a:fillRef idx="3">
            <a:schemeClr val="accent6"/>
          </a:fillRef>
          <a:effectRef idx="3">
            <a:schemeClr val="accent6"/>
          </a:effectRef>
          <a:fontRef idx="minor">
            <a:schemeClr val="lt1"/>
          </a:fontRef>
        </p:style>
        <p:txBody>
          <a:bodyPr vert="vert270" rtlCol="0" anchor="ctr"/>
          <a:lstStyle/>
          <a:p>
            <a:pPr algn="ctr"/>
            <a:r>
              <a:rPr lang="en-US" sz="2400" dirty="0" smtClean="0"/>
              <a:t>Bob</a:t>
            </a:r>
            <a:endParaRPr lang="en-US" sz="2400" dirty="0"/>
          </a:p>
        </p:txBody>
      </p:sp>
      <p:sp>
        <p:nvSpPr>
          <p:cNvPr id="28" name="Rectangle 27"/>
          <p:cNvSpPr/>
          <p:nvPr/>
        </p:nvSpPr>
        <p:spPr>
          <a:xfrm>
            <a:off x="6109448" y="2003243"/>
            <a:ext cx="762000" cy="2736130"/>
          </a:xfrm>
          <a:prstGeom prst="rect">
            <a:avLst/>
          </a:prstGeom>
        </p:spPr>
        <p:style>
          <a:lnRef idx="0">
            <a:schemeClr val="accent6"/>
          </a:lnRef>
          <a:fillRef idx="3">
            <a:schemeClr val="accent6"/>
          </a:fillRef>
          <a:effectRef idx="3">
            <a:schemeClr val="accent6"/>
          </a:effectRef>
          <a:fontRef idx="minor">
            <a:schemeClr val="lt1"/>
          </a:fontRef>
        </p:style>
        <p:txBody>
          <a:bodyPr vert="vert270" rtlCol="0" anchor="ctr"/>
          <a:lstStyle/>
          <a:p>
            <a:pPr algn="ctr"/>
            <a:r>
              <a:rPr lang="en-US" sz="2400" dirty="0" smtClean="0"/>
              <a:t>Chuck </a:t>
            </a:r>
            <a:br>
              <a:rPr lang="en-US" sz="2400" dirty="0" smtClean="0"/>
            </a:br>
            <a:r>
              <a:rPr lang="en-US" sz="1400" dirty="0" smtClean="0"/>
              <a:t>(pretending to be Alice)</a:t>
            </a:r>
            <a:endParaRPr lang="en-US" sz="1400" dirty="0"/>
          </a:p>
        </p:txBody>
      </p:sp>
      <p:cxnSp>
        <p:nvCxnSpPr>
          <p:cNvPr id="29" name="Straight Arrow Connector 28"/>
          <p:cNvCxnSpPr/>
          <p:nvPr/>
        </p:nvCxnSpPr>
        <p:spPr>
          <a:xfrm>
            <a:off x="6871448" y="2205919"/>
            <a:ext cx="2460810" cy="0"/>
          </a:xfrm>
          <a:prstGeom prst="straightConnector1">
            <a:avLst/>
          </a:prstGeom>
          <a:ln w="28575">
            <a:solidFill>
              <a:srgbClr val="000000"/>
            </a:solidFill>
            <a:tailEnd type="arrow"/>
          </a:ln>
        </p:spPr>
        <p:style>
          <a:lnRef idx="1">
            <a:schemeClr val="accent1"/>
          </a:lnRef>
          <a:fillRef idx="0">
            <a:schemeClr val="accent1"/>
          </a:fillRef>
          <a:effectRef idx="0">
            <a:schemeClr val="accent1"/>
          </a:effectRef>
          <a:fontRef idx="minor">
            <a:schemeClr val="tx1"/>
          </a:fontRef>
        </p:style>
      </p:cxnSp>
      <p:sp>
        <p:nvSpPr>
          <p:cNvPr id="30" name="Rectangle 29"/>
          <p:cNvSpPr/>
          <p:nvPr/>
        </p:nvSpPr>
        <p:spPr>
          <a:xfrm>
            <a:off x="7543800" y="2053519"/>
            <a:ext cx="802849" cy="304800"/>
          </a:xfrm>
          <a:prstGeom prst="rect">
            <a:avLst/>
          </a:prstGeom>
          <a:ln>
            <a:solidFill>
              <a:schemeClr val="tx1"/>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2000" dirty="0" smtClean="0"/>
              <a:t>A,</a:t>
            </a:r>
            <a:r>
              <a:rPr lang="en-US" sz="2000" dirty="0"/>
              <a:t> </a:t>
            </a:r>
            <a:r>
              <a:rPr lang="en-US" sz="2000" dirty="0" smtClean="0"/>
              <a:t>R</a:t>
            </a:r>
            <a:r>
              <a:rPr lang="en-US" sz="2000" baseline="-25000" dirty="0" smtClean="0"/>
              <a:t>C</a:t>
            </a:r>
            <a:endParaRPr lang="en-US" sz="2000" baseline="-25000" dirty="0"/>
          </a:p>
        </p:txBody>
      </p:sp>
      <p:cxnSp>
        <p:nvCxnSpPr>
          <p:cNvPr id="31" name="Straight Arrow Connector 30"/>
          <p:cNvCxnSpPr/>
          <p:nvPr/>
        </p:nvCxnSpPr>
        <p:spPr>
          <a:xfrm flipH="1">
            <a:off x="6871448" y="2586919"/>
            <a:ext cx="2460810" cy="0"/>
          </a:xfrm>
          <a:prstGeom prst="straightConnector1">
            <a:avLst/>
          </a:prstGeom>
          <a:ln w="28575">
            <a:solidFill>
              <a:srgbClr val="000000"/>
            </a:solidFill>
            <a:tailEnd type="arrow"/>
          </a:ln>
        </p:spPr>
        <p:style>
          <a:lnRef idx="1">
            <a:schemeClr val="accent1"/>
          </a:lnRef>
          <a:fillRef idx="0">
            <a:schemeClr val="accent1"/>
          </a:fillRef>
          <a:effectRef idx="0">
            <a:schemeClr val="accent1"/>
          </a:effectRef>
          <a:fontRef idx="minor">
            <a:schemeClr val="tx1"/>
          </a:fontRef>
        </p:style>
      </p:cxnSp>
      <p:sp>
        <p:nvSpPr>
          <p:cNvPr id="32" name="Rectangle 31"/>
          <p:cNvSpPr/>
          <p:nvPr/>
        </p:nvSpPr>
        <p:spPr>
          <a:xfrm>
            <a:off x="7543800" y="2434519"/>
            <a:ext cx="1295400" cy="304800"/>
          </a:xfrm>
          <a:prstGeom prst="rect">
            <a:avLst/>
          </a:prstGeom>
          <a:ln>
            <a:solidFill>
              <a:schemeClr val="tx1"/>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2000" dirty="0" smtClean="0"/>
              <a:t>R</a:t>
            </a:r>
            <a:r>
              <a:rPr lang="en-US" sz="2000" baseline="-25000" dirty="0" smtClean="0"/>
              <a:t>B</a:t>
            </a:r>
            <a:r>
              <a:rPr lang="en-US" sz="2000" dirty="0" smtClean="0">
                <a:solidFill>
                  <a:srgbClr val="000000"/>
                </a:solidFill>
              </a:rPr>
              <a:t>,K</a:t>
            </a:r>
            <a:r>
              <a:rPr lang="en-US" sz="2000" baseline="-25000" dirty="0" smtClean="0">
                <a:solidFill>
                  <a:srgbClr val="000000"/>
                </a:solidFill>
              </a:rPr>
              <a:t>A,B </a:t>
            </a:r>
            <a:r>
              <a:rPr lang="en-US" sz="2000" dirty="0"/>
              <a:t>(</a:t>
            </a:r>
            <a:r>
              <a:rPr lang="en-US" sz="2000" dirty="0" smtClean="0"/>
              <a:t>R</a:t>
            </a:r>
            <a:r>
              <a:rPr lang="en-US" sz="2000" baseline="-25000" dirty="0" smtClean="0"/>
              <a:t>C</a:t>
            </a:r>
            <a:r>
              <a:rPr lang="en-US" sz="2000" dirty="0" smtClean="0"/>
              <a:t>)</a:t>
            </a:r>
            <a:endParaRPr lang="en-US" sz="2000" baseline="-25000" dirty="0"/>
          </a:p>
        </p:txBody>
      </p:sp>
      <p:cxnSp>
        <p:nvCxnSpPr>
          <p:cNvPr id="33" name="Straight Arrow Connector 32"/>
          <p:cNvCxnSpPr/>
          <p:nvPr/>
        </p:nvCxnSpPr>
        <p:spPr>
          <a:xfrm flipH="1">
            <a:off x="6871448" y="3584589"/>
            <a:ext cx="2460810" cy="37114"/>
          </a:xfrm>
          <a:prstGeom prst="straightConnector1">
            <a:avLst/>
          </a:prstGeom>
          <a:ln w="28575">
            <a:solidFill>
              <a:schemeClr val="accent4"/>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096436" y="2154347"/>
            <a:ext cx="0" cy="3394435"/>
          </a:xfrm>
          <a:prstGeom prst="line">
            <a:avLst/>
          </a:prstGeom>
          <a:ln w="12700">
            <a:solidFill>
              <a:srgbClr val="000000"/>
            </a:solidFill>
          </a:ln>
        </p:spPr>
        <p:style>
          <a:lnRef idx="1">
            <a:schemeClr val="accent1"/>
          </a:lnRef>
          <a:fillRef idx="0">
            <a:schemeClr val="accent1"/>
          </a:fillRef>
          <a:effectRef idx="0">
            <a:schemeClr val="accent1"/>
          </a:effectRef>
          <a:fontRef idx="minor">
            <a:schemeClr val="tx1"/>
          </a:fontRef>
        </p:style>
      </p:cxnSp>
      <p:sp>
        <p:nvSpPr>
          <p:cNvPr id="35" name="Right Brace 34"/>
          <p:cNvSpPr/>
          <p:nvPr/>
        </p:nvSpPr>
        <p:spPr>
          <a:xfrm>
            <a:off x="9865658" y="2053519"/>
            <a:ext cx="152400" cy="584462"/>
          </a:xfrm>
          <a:prstGeom prst="rightBrace">
            <a:avLst/>
          </a:prstGeom>
          <a:ln w="28575">
            <a:solidFill>
              <a:srgbClr val="0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6" name="TextBox 35"/>
          <p:cNvSpPr txBox="1"/>
          <p:nvPr/>
        </p:nvSpPr>
        <p:spPr>
          <a:xfrm>
            <a:off x="10181408" y="2145695"/>
            <a:ext cx="1252101" cy="400110"/>
          </a:xfrm>
          <a:prstGeom prst="rect">
            <a:avLst/>
          </a:prstGeom>
          <a:noFill/>
          <a:ln>
            <a:solidFill>
              <a:schemeClr val="tx1"/>
            </a:solidFill>
          </a:ln>
        </p:spPr>
        <p:txBody>
          <a:bodyPr wrap="square" rtlCol="0">
            <a:spAutoFit/>
          </a:bodyPr>
          <a:lstStyle/>
          <a:p>
            <a:r>
              <a:rPr lang="en-US" sz="2000" dirty="0" smtClean="0"/>
              <a:t>Session 1</a:t>
            </a:r>
            <a:endParaRPr lang="en-US" sz="2000" dirty="0"/>
          </a:p>
        </p:txBody>
      </p:sp>
      <p:cxnSp>
        <p:nvCxnSpPr>
          <p:cNvPr id="37" name="Straight Arrow Connector 36"/>
          <p:cNvCxnSpPr/>
          <p:nvPr/>
        </p:nvCxnSpPr>
        <p:spPr>
          <a:xfrm>
            <a:off x="6871448" y="3196519"/>
            <a:ext cx="2460810" cy="0"/>
          </a:xfrm>
          <a:prstGeom prst="straightConnector1">
            <a:avLst/>
          </a:prstGeom>
          <a:ln w="28575">
            <a:solidFill>
              <a:schemeClr val="accent4"/>
            </a:solidFill>
            <a:tailEnd type="arrow"/>
          </a:ln>
        </p:spPr>
        <p:style>
          <a:lnRef idx="1">
            <a:schemeClr val="accent1"/>
          </a:lnRef>
          <a:fillRef idx="0">
            <a:schemeClr val="accent1"/>
          </a:fillRef>
          <a:effectRef idx="0">
            <a:schemeClr val="accent1"/>
          </a:effectRef>
          <a:fontRef idx="minor">
            <a:schemeClr val="tx1"/>
          </a:fontRef>
        </p:style>
      </p:cxnSp>
      <p:sp>
        <p:nvSpPr>
          <p:cNvPr id="38" name="Rectangle 37"/>
          <p:cNvSpPr/>
          <p:nvPr/>
        </p:nvSpPr>
        <p:spPr>
          <a:xfrm>
            <a:off x="7543800" y="3044119"/>
            <a:ext cx="802849" cy="304800"/>
          </a:xfrm>
          <a:prstGeom prst="rect">
            <a:avLst/>
          </a:prstGeom>
          <a:ln>
            <a:solidFill>
              <a:schemeClr val="accent4"/>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2000" dirty="0" smtClean="0"/>
              <a:t>A,</a:t>
            </a:r>
            <a:r>
              <a:rPr lang="en-US" sz="2000" dirty="0"/>
              <a:t> </a:t>
            </a:r>
            <a:r>
              <a:rPr lang="en-US" sz="2000" dirty="0" smtClean="0"/>
              <a:t>R</a:t>
            </a:r>
            <a:r>
              <a:rPr lang="en-US" sz="2000" baseline="-25000" dirty="0"/>
              <a:t>B</a:t>
            </a:r>
          </a:p>
        </p:txBody>
      </p:sp>
      <p:sp>
        <p:nvSpPr>
          <p:cNvPr id="39" name="Rectangle 38"/>
          <p:cNvSpPr/>
          <p:nvPr/>
        </p:nvSpPr>
        <p:spPr>
          <a:xfrm>
            <a:off x="7297524" y="3463219"/>
            <a:ext cx="1465476" cy="304800"/>
          </a:xfrm>
          <a:prstGeom prst="rect">
            <a:avLst/>
          </a:prstGeom>
          <a:ln>
            <a:solidFill>
              <a:schemeClr val="accent4"/>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2000" dirty="0" smtClean="0"/>
              <a:t>R</a:t>
            </a:r>
            <a:r>
              <a:rPr lang="en-US" sz="2000" baseline="-25000" dirty="0" smtClean="0"/>
              <a:t>B2</a:t>
            </a:r>
            <a:r>
              <a:rPr lang="en-US" sz="2000" dirty="0" smtClean="0">
                <a:solidFill>
                  <a:srgbClr val="000000"/>
                </a:solidFill>
              </a:rPr>
              <a:t>,K</a:t>
            </a:r>
            <a:r>
              <a:rPr lang="en-US" sz="2000" baseline="-25000" dirty="0" smtClean="0">
                <a:solidFill>
                  <a:srgbClr val="000000"/>
                </a:solidFill>
              </a:rPr>
              <a:t>A,B </a:t>
            </a:r>
            <a:r>
              <a:rPr lang="en-US" sz="2000" dirty="0"/>
              <a:t>(</a:t>
            </a:r>
            <a:r>
              <a:rPr lang="en-US" sz="2000" dirty="0" smtClean="0"/>
              <a:t>R</a:t>
            </a:r>
            <a:r>
              <a:rPr lang="en-US" sz="2000" baseline="-25000" dirty="0"/>
              <a:t>B</a:t>
            </a:r>
            <a:r>
              <a:rPr lang="en-US" sz="2000" dirty="0" smtClean="0"/>
              <a:t>)</a:t>
            </a:r>
            <a:endParaRPr lang="en-US" sz="2000" baseline="-25000" dirty="0"/>
          </a:p>
        </p:txBody>
      </p:sp>
      <p:sp>
        <p:nvSpPr>
          <p:cNvPr id="40" name="Right Brace 39"/>
          <p:cNvSpPr/>
          <p:nvPr/>
        </p:nvSpPr>
        <p:spPr>
          <a:xfrm>
            <a:off x="9912006" y="3067015"/>
            <a:ext cx="152400" cy="584462"/>
          </a:xfrm>
          <a:prstGeom prst="rightBrace">
            <a:avLst/>
          </a:prstGeom>
          <a:ln w="28575">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1" name="TextBox 40"/>
          <p:cNvSpPr txBox="1"/>
          <p:nvPr/>
        </p:nvSpPr>
        <p:spPr>
          <a:xfrm>
            <a:off x="10186954" y="3148864"/>
            <a:ext cx="1252101" cy="400110"/>
          </a:xfrm>
          <a:prstGeom prst="rect">
            <a:avLst/>
          </a:prstGeom>
          <a:noFill/>
          <a:ln>
            <a:solidFill>
              <a:schemeClr val="accent4"/>
            </a:solidFill>
          </a:ln>
        </p:spPr>
        <p:txBody>
          <a:bodyPr wrap="square" rtlCol="0">
            <a:spAutoFit/>
          </a:bodyPr>
          <a:lstStyle/>
          <a:p>
            <a:r>
              <a:rPr lang="en-US" sz="2000" dirty="0" smtClean="0"/>
              <a:t>Session 2</a:t>
            </a:r>
            <a:endParaRPr lang="en-US" sz="2000" dirty="0"/>
          </a:p>
        </p:txBody>
      </p:sp>
      <p:cxnSp>
        <p:nvCxnSpPr>
          <p:cNvPr id="42" name="Straight Arrow Connector 41"/>
          <p:cNvCxnSpPr/>
          <p:nvPr/>
        </p:nvCxnSpPr>
        <p:spPr>
          <a:xfrm>
            <a:off x="6871448" y="4339519"/>
            <a:ext cx="2460810" cy="0"/>
          </a:xfrm>
          <a:prstGeom prst="straightConnector1">
            <a:avLst/>
          </a:prstGeom>
          <a:ln w="28575">
            <a:solidFill>
              <a:srgbClr val="000000"/>
            </a:solidFill>
            <a:tailEnd type="arrow"/>
          </a:ln>
        </p:spPr>
        <p:style>
          <a:lnRef idx="1">
            <a:schemeClr val="accent1"/>
          </a:lnRef>
          <a:fillRef idx="0">
            <a:schemeClr val="accent1"/>
          </a:fillRef>
          <a:effectRef idx="0">
            <a:schemeClr val="accent1"/>
          </a:effectRef>
          <a:fontRef idx="minor">
            <a:schemeClr val="tx1"/>
          </a:fontRef>
        </p:style>
      </p:cxnSp>
      <p:sp>
        <p:nvSpPr>
          <p:cNvPr id="43" name="Rectangle 42"/>
          <p:cNvSpPr/>
          <p:nvPr/>
        </p:nvSpPr>
        <p:spPr>
          <a:xfrm>
            <a:off x="7543800" y="4187119"/>
            <a:ext cx="990600" cy="304800"/>
          </a:xfrm>
          <a:prstGeom prst="rect">
            <a:avLst/>
          </a:prstGeom>
          <a:ln>
            <a:solidFill>
              <a:schemeClr val="tx1"/>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2000" dirty="0">
                <a:solidFill>
                  <a:srgbClr val="000000"/>
                </a:solidFill>
              </a:rPr>
              <a:t>K</a:t>
            </a:r>
            <a:r>
              <a:rPr lang="en-US" sz="2000" baseline="-25000" dirty="0">
                <a:solidFill>
                  <a:srgbClr val="000000"/>
                </a:solidFill>
              </a:rPr>
              <a:t>A,B </a:t>
            </a:r>
            <a:r>
              <a:rPr lang="en-US" sz="2000" dirty="0" smtClean="0"/>
              <a:t>(R</a:t>
            </a:r>
            <a:r>
              <a:rPr lang="en-US" sz="2000" baseline="-25000" dirty="0" smtClean="0"/>
              <a:t>B</a:t>
            </a:r>
            <a:r>
              <a:rPr lang="en-US" sz="2000" dirty="0" smtClean="0"/>
              <a:t>)</a:t>
            </a:r>
            <a:endParaRPr lang="en-US" sz="2000" baseline="-25000" dirty="0"/>
          </a:p>
        </p:txBody>
      </p:sp>
      <p:sp>
        <p:nvSpPr>
          <p:cNvPr id="44" name="Right Brace 43"/>
          <p:cNvSpPr/>
          <p:nvPr/>
        </p:nvSpPr>
        <p:spPr>
          <a:xfrm>
            <a:off x="9904936" y="4059104"/>
            <a:ext cx="152400" cy="584462"/>
          </a:xfrm>
          <a:prstGeom prst="rightBrace">
            <a:avLst/>
          </a:prstGeom>
          <a:ln w="28575">
            <a:solidFill>
              <a:srgbClr val="0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TextBox 44"/>
          <p:cNvSpPr txBox="1"/>
          <p:nvPr/>
        </p:nvSpPr>
        <p:spPr>
          <a:xfrm>
            <a:off x="10191388" y="4139464"/>
            <a:ext cx="1252101" cy="400110"/>
          </a:xfrm>
          <a:prstGeom prst="rect">
            <a:avLst/>
          </a:prstGeom>
          <a:noFill/>
          <a:ln>
            <a:solidFill>
              <a:schemeClr val="tx1"/>
            </a:solidFill>
          </a:ln>
        </p:spPr>
        <p:txBody>
          <a:bodyPr wrap="square" rtlCol="0">
            <a:spAutoFit/>
          </a:bodyPr>
          <a:lstStyle/>
          <a:p>
            <a:r>
              <a:rPr lang="en-US" sz="2000" dirty="0" smtClean="0"/>
              <a:t>Session 1</a:t>
            </a:r>
            <a:endParaRPr lang="en-US" sz="2000" dirty="0"/>
          </a:p>
        </p:txBody>
      </p:sp>
      <p:sp>
        <p:nvSpPr>
          <p:cNvPr id="46" name="Rectangle 45"/>
          <p:cNvSpPr/>
          <p:nvPr/>
        </p:nvSpPr>
        <p:spPr>
          <a:xfrm>
            <a:off x="6490448" y="5051243"/>
            <a:ext cx="3124200" cy="457200"/>
          </a:xfrm>
          <a:prstGeom prst="rect">
            <a:avLst/>
          </a:prstGeom>
          <a:solidFill>
            <a:schemeClr val="accent4"/>
          </a:solidFill>
          <a:ln w="12700">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400" dirty="0" smtClean="0"/>
              <a:t>Reflection Attack</a:t>
            </a:r>
            <a:endParaRPr lang="en-US" sz="2400" dirty="0"/>
          </a:p>
        </p:txBody>
      </p:sp>
      <p:sp>
        <p:nvSpPr>
          <p:cNvPr id="73" name="Rectangle 72"/>
          <p:cNvSpPr/>
          <p:nvPr/>
        </p:nvSpPr>
        <p:spPr>
          <a:xfrm>
            <a:off x="1793194" y="5637920"/>
            <a:ext cx="6696636" cy="755809"/>
          </a:xfrm>
          <a:prstGeom prst="rect">
            <a:avLst/>
          </a:prstGeom>
          <a:solidFill>
            <a:srgbClr val="0E3755"/>
          </a:solidFill>
          <a:ln w="12700">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just"/>
            <a:r>
              <a:rPr lang="en-US" sz="2400" dirty="0"/>
              <a:t>Optimization </a:t>
            </a:r>
            <a:r>
              <a:rPr lang="en-US" sz="2400" dirty="0" smtClean="0"/>
              <a:t>of the </a:t>
            </a:r>
            <a:r>
              <a:rPr lang="en-US" sz="2400" dirty="0"/>
              <a:t>Authentication based on a shared secret key, </a:t>
            </a:r>
            <a:r>
              <a:rPr lang="en-US" sz="2400" dirty="0" smtClean="0"/>
              <a:t>but using </a:t>
            </a:r>
            <a:r>
              <a:rPr lang="en-US" sz="2400" dirty="0"/>
              <a:t>three instead </a:t>
            </a:r>
            <a:r>
              <a:rPr lang="en-US" sz="2400" dirty="0" smtClean="0"/>
              <a:t>of five </a:t>
            </a:r>
            <a:r>
              <a:rPr lang="en-US" sz="2400" dirty="0"/>
              <a:t>messages</a:t>
            </a:r>
          </a:p>
        </p:txBody>
      </p:sp>
      <p:sp>
        <p:nvSpPr>
          <p:cNvPr id="47" name="Rectangle 46"/>
          <p:cNvSpPr/>
          <p:nvPr/>
        </p:nvSpPr>
        <p:spPr>
          <a:xfrm>
            <a:off x="687423" y="4539574"/>
            <a:ext cx="3356852" cy="717345"/>
          </a:xfrm>
          <a:prstGeom prst="rect">
            <a:avLst/>
          </a:prstGeom>
          <a:solidFill>
            <a:schemeClr val="accent4"/>
          </a:solidFill>
          <a:ln w="12700">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400" dirty="0"/>
              <a:t>Bob and Alice – Taking Shortcuts</a:t>
            </a:r>
          </a:p>
        </p:txBody>
      </p:sp>
    </p:spTree>
    <p:extLst>
      <p:ext uri="{BB962C8B-B14F-4D97-AF65-F5344CB8AC3E}">
        <p14:creationId xmlns:p14="http://schemas.microsoft.com/office/powerpoint/2010/main" val="3933968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6"/>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1"/>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4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5"/>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34"/>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46"/>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2" grpId="0" animBg="1"/>
      <p:bldP spid="24" grpId="0" animBg="1"/>
      <p:bldP spid="26" grpId="0" animBg="1"/>
      <p:bldP spid="27" grpId="0" animBg="1"/>
      <p:bldP spid="28" grpId="0" animBg="1"/>
      <p:bldP spid="30" grpId="0" animBg="1"/>
      <p:bldP spid="32" grpId="0" animBg="1"/>
      <p:bldP spid="35" grpId="0" animBg="1"/>
      <p:bldP spid="36" grpId="0" animBg="1"/>
      <p:bldP spid="38" grpId="0" animBg="1"/>
      <p:bldP spid="39" grpId="0" animBg="1"/>
      <p:bldP spid="40" grpId="0" animBg="1"/>
      <p:bldP spid="41" grpId="0" animBg="1"/>
      <p:bldP spid="43" grpId="0" animBg="1"/>
      <p:bldP spid="44" grpId="0" animBg="1"/>
      <p:bldP spid="45" grpId="0" animBg="1"/>
      <p:bldP spid="46" grpId="0" animBg="1"/>
      <p:bldP spid="73" grpId="0" animBg="1"/>
      <p:bldP spid="47"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normAutofit/>
          </a:bodyPr>
          <a:lstStyle/>
          <a:p>
            <a:r>
              <a:rPr lang="en-US" dirty="0"/>
              <a:t>Authentication Using </a:t>
            </a:r>
            <a:r>
              <a:rPr lang="en-US" dirty="0" smtClean="0"/>
              <a:t>a Key </a:t>
            </a:r>
            <a:r>
              <a:rPr lang="en-US" dirty="0"/>
              <a:t>Distribution </a:t>
            </a:r>
            <a:r>
              <a:rPr lang="en-US" dirty="0" smtClean="0"/>
              <a:t>Center (KDC)</a:t>
            </a:r>
            <a:endParaRPr lang="en-US" dirty="0"/>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dirty="0"/>
              <a:t>Shared secret key based authentication is not scalable</a:t>
            </a:r>
          </a:p>
          <a:p>
            <a:pPr lvl="2"/>
            <a:r>
              <a:rPr lang="en-US" sz="2400" dirty="0"/>
              <a:t>Each host has exchange keys with every other host </a:t>
            </a:r>
          </a:p>
          <a:p>
            <a:pPr lvl="2"/>
            <a:r>
              <a:rPr lang="en-US" sz="2400" dirty="0"/>
              <a:t>Complexity: O(N</a:t>
            </a:r>
            <a:r>
              <a:rPr lang="en-US" sz="2400" baseline="30000" dirty="0"/>
              <a:t>2</a:t>
            </a:r>
            <a:r>
              <a:rPr lang="en-US" sz="2400" dirty="0"/>
              <a:t>)</a:t>
            </a:r>
          </a:p>
          <a:p>
            <a:pPr>
              <a:lnSpc>
                <a:spcPct val="100000"/>
              </a:lnSpc>
            </a:pPr>
            <a:r>
              <a:rPr lang="en-US" dirty="0"/>
              <a:t>The complexity is reduced by electing one node as “Key Distribution Center” (KDC)</a:t>
            </a:r>
          </a:p>
          <a:p>
            <a:pPr lvl="2"/>
            <a:r>
              <a:rPr lang="en-US" sz="2400" dirty="0"/>
              <a:t>KDC shares a secret-key with every host</a:t>
            </a:r>
          </a:p>
          <a:p>
            <a:pPr lvl="2"/>
            <a:r>
              <a:rPr lang="en-US" sz="2400" dirty="0"/>
              <a:t>No pair of hosts need to share a key</a:t>
            </a:r>
          </a:p>
          <a:p>
            <a:pPr lvl="2"/>
            <a:r>
              <a:rPr lang="en-US" sz="2400" dirty="0"/>
              <a:t>Complexity: O(N</a:t>
            </a:r>
            <a:r>
              <a:rPr lang="en-US" sz="2400" dirty="0" smtClean="0"/>
              <a:t>)</a:t>
            </a:r>
          </a:p>
          <a:p>
            <a:pPr lvl="2"/>
            <a:endParaRPr lang="en-US" sz="2400" dirty="0"/>
          </a:p>
          <a:p>
            <a:pPr lvl="2"/>
            <a:endParaRPr lang="en-US" sz="2400" dirty="0" smtClean="0"/>
          </a:p>
          <a:p>
            <a:pPr lvl="2"/>
            <a:endParaRPr lang="en-US" sz="2400" dirty="0"/>
          </a:p>
          <a:p>
            <a:pPr lvl="2"/>
            <a:endParaRPr lang="en-US" sz="2400" dirty="0" smtClean="0"/>
          </a:p>
        </p:txBody>
      </p:sp>
    </p:spTree>
    <p:extLst>
      <p:ext uri="{BB962C8B-B14F-4D97-AF65-F5344CB8AC3E}">
        <p14:creationId xmlns:p14="http://schemas.microsoft.com/office/powerpoint/2010/main" val="2486119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normAutofit/>
          </a:bodyPr>
          <a:lstStyle/>
          <a:p>
            <a:r>
              <a:rPr lang="en-US" dirty="0"/>
              <a:t>Authentication Using </a:t>
            </a:r>
            <a:r>
              <a:rPr lang="en-US" dirty="0" smtClean="0"/>
              <a:t>a Key </a:t>
            </a:r>
            <a:r>
              <a:rPr lang="en-US" dirty="0"/>
              <a:t>Distribution Center</a:t>
            </a:r>
          </a:p>
        </p:txBody>
      </p:sp>
      <p:sp>
        <p:nvSpPr>
          <p:cNvPr id="5" name="Content Placeholder 4"/>
          <p:cNvSpPr>
            <a:spLocks noGrp="1"/>
          </p:cNvSpPr>
          <p:nvPr>
            <p:ph idx="1"/>
          </p:nvPr>
        </p:nvSpPr>
        <p:spPr/>
        <p:txBody>
          <a:bodyPr/>
          <a:lstStyle/>
          <a:p>
            <a:r>
              <a:rPr lang="en-US" dirty="0"/>
              <a:t>If Alice wants to set up a </a:t>
            </a:r>
            <a:r>
              <a:rPr lang="en-US" dirty="0" smtClean="0"/>
              <a:t>secure channel </a:t>
            </a:r>
            <a:r>
              <a:rPr lang="en-US" dirty="0"/>
              <a:t>with Bob, she can do so with the help of a (trusted) KDC.</a:t>
            </a:r>
          </a:p>
          <a:p>
            <a:r>
              <a:rPr lang="en-US" dirty="0"/>
              <a:t>The KDC hands out a key to both Alice and </a:t>
            </a:r>
            <a:r>
              <a:rPr lang="en-US" dirty="0" smtClean="0"/>
              <a:t>Bob that </a:t>
            </a:r>
            <a:r>
              <a:rPr lang="en-US" dirty="0"/>
              <a:t>they can use for </a:t>
            </a:r>
            <a:r>
              <a:rPr lang="en-US" dirty="0" smtClean="0"/>
              <a:t>communication</a:t>
            </a:r>
          </a:p>
          <a:p>
            <a:endParaRPr lang="en-US" dirty="0"/>
          </a:p>
          <a:p>
            <a:endParaRPr lang="en-US" dirty="0" smtClean="0"/>
          </a:p>
          <a:p>
            <a:endParaRPr lang="en-US" dirty="0"/>
          </a:p>
          <a:p>
            <a:endParaRPr lang="en-US" dirty="0" smtClean="0"/>
          </a:p>
          <a:p>
            <a:endParaRPr lang="en-US" dirty="0" smtClean="0"/>
          </a:p>
          <a:p>
            <a:pPr marL="457200" indent="-457200">
              <a:buFont typeface="+mj-lt"/>
              <a:buAutoNum type="arabicPeriod"/>
            </a:pPr>
            <a:r>
              <a:rPr lang="en-US" dirty="0"/>
              <a:t>Alice sends a message to the KDC</a:t>
            </a:r>
            <a:r>
              <a:rPr lang="en-US" dirty="0" smtClean="0"/>
              <a:t>, telling </a:t>
            </a:r>
            <a:r>
              <a:rPr lang="en-US" dirty="0"/>
              <a:t>it that she wants to talk to Bob.</a:t>
            </a:r>
          </a:p>
          <a:p>
            <a:pPr marL="457200" indent="-457200">
              <a:buFont typeface="+mj-lt"/>
              <a:buAutoNum type="arabicPeriod"/>
            </a:pPr>
            <a:r>
              <a:rPr lang="en-US" dirty="0" smtClean="0"/>
              <a:t>The </a:t>
            </a:r>
            <a:r>
              <a:rPr lang="en-US" dirty="0"/>
              <a:t>KDC returns a message containing a </a:t>
            </a:r>
            <a:r>
              <a:rPr lang="en-US" dirty="0" smtClean="0"/>
              <a:t>shared secret </a:t>
            </a:r>
            <a:r>
              <a:rPr lang="en-US" dirty="0"/>
              <a:t>key KA,B that she can use</a:t>
            </a:r>
            <a:r>
              <a:rPr lang="en-US" dirty="0" smtClean="0"/>
              <a:t>.</a:t>
            </a:r>
          </a:p>
          <a:p>
            <a:pPr lvl="2"/>
            <a:r>
              <a:rPr lang="en-US" sz="2400" dirty="0"/>
              <a:t>The message is encrypted with the secret key KA,KDC that Alice shares with the KDC</a:t>
            </a:r>
          </a:p>
          <a:p>
            <a:pPr marL="457200" indent="-457200">
              <a:buFont typeface="+mj-lt"/>
              <a:buAutoNum type="arabicPeriod"/>
            </a:pPr>
            <a:r>
              <a:rPr lang="en-US" dirty="0"/>
              <a:t>The KDC sends KA,B to Bob, but now encrypted with the secret key KB,KDC it shares with Bob</a:t>
            </a:r>
            <a:endParaRPr lang="en-IN" dirty="0"/>
          </a:p>
        </p:txBody>
      </p:sp>
      <p:sp>
        <p:nvSpPr>
          <p:cNvPr id="16" name="Rectangle 15"/>
          <p:cNvSpPr/>
          <p:nvPr/>
        </p:nvSpPr>
        <p:spPr>
          <a:xfrm>
            <a:off x="1989561" y="2510991"/>
            <a:ext cx="457200" cy="1650476"/>
          </a:xfrm>
          <a:prstGeom prst="rect">
            <a:avLst/>
          </a:prstGeom>
        </p:spPr>
        <p:style>
          <a:lnRef idx="0">
            <a:schemeClr val="accent6"/>
          </a:lnRef>
          <a:fillRef idx="3">
            <a:schemeClr val="accent6"/>
          </a:fillRef>
          <a:effectRef idx="3">
            <a:schemeClr val="accent6"/>
          </a:effectRef>
          <a:fontRef idx="minor">
            <a:schemeClr val="lt1"/>
          </a:fontRef>
        </p:style>
        <p:txBody>
          <a:bodyPr vert="vert270" rtlCol="0" anchor="ctr"/>
          <a:lstStyle/>
          <a:p>
            <a:pPr algn="ctr"/>
            <a:r>
              <a:rPr lang="en-US" sz="2400" dirty="0" smtClean="0"/>
              <a:t>Alice</a:t>
            </a:r>
            <a:endParaRPr lang="en-US" sz="2400" dirty="0"/>
          </a:p>
        </p:txBody>
      </p:sp>
      <p:sp>
        <p:nvSpPr>
          <p:cNvPr id="17" name="Rectangle 16"/>
          <p:cNvSpPr/>
          <p:nvPr/>
        </p:nvSpPr>
        <p:spPr>
          <a:xfrm>
            <a:off x="5179802" y="2527693"/>
            <a:ext cx="457200" cy="1633774"/>
          </a:xfrm>
          <a:prstGeom prst="rect">
            <a:avLst/>
          </a:prstGeom>
          <a:solidFill>
            <a:srgbClr val="0E3755"/>
          </a:solidFill>
        </p:spPr>
        <p:style>
          <a:lnRef idx="0">
            <a:schemeClr val="accent6"/>
          </a:lnRef>
          <a:fillRef idx="3">
            <a:schemeClr val="accent6"/>
          </a:fillRef>
          <a:effectRef idx="3">
            <a:schemeClr val="accent6"/>
          </a:effectRef>
          <a:fontRef idx="minor">
            <a:schemeClr val="lt1"/>
          </a:fontRef>
        </p:style>
        <p:txBody>
          <a:bodyPr vert="vert270" rtlCol="0" anchor="ctr"/>
          <a:lstStyle/>
          <a:p>
            <a:pPr algn="ctr"/>
            <a:r>
              <a:rPr lang="en-US" b="1" dirty="0" smtClean="0"/>
              <a:t>KDC</a:t>
            </a:r>
            <a:endParaRPr lang="en-US" b="1" dirty="0"/>
          </a:p>
        </p:txBody>
      </p:sp>
      <p:cxnSp>
        <p:nvCxnSpPr>
          <p:cNvPr id="18" name="Straight Arrow Connector 17"/>
          <p:cNvCxnSpPr/>
          <p:nvPr/>
        </p:nvCxnSpPr>
        <p:spPr>
          <a:xfrm>
            <a:off x="2446761" y="2949523"/>
            <a:ext cx="2733041" cy="0"/>
          </a:xfrm>
          <a:prstGeom prst="straightConnector1">
            <a:avLst/>
          </a:prstGeom>
          <a:ln w="28575">
            <a:solidFill>
              <a:srgbClr val="000000"/>
            </a:solidFill>
            <a:tailEnd type="arrow"/>
          </a:ln>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a:off x="2786912" y="2797123"/>
            <a:ext cx="802849" cy="304800"/>
          </a:xfrm>
          <a:prstGeom prst="rect">
            <a:avLst/>
          </a:prstGeom>
          <a:ln>
            <a:solidFill>
              <a:srgbClr val="0E3755"/>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2000" dirty="0" smtClean="0"/>
              <a:t>A,</a:t>
            </a:r>
            <a:r>
              <a:rPr lang="en-US" sz="2000" dirty="0"/>
              <a:t> </a:t>
            </a:r>
            <a:r>
              <a:rPr lang="en-US" sz="2000" dirty="0" smtClean="0"/>
              <a:t>B</a:t>
            </a:r>
            <a:endParaRPr lang="en-US" sz="2000" baseline="-25000" dirty="0"/>
          </a:p>
        </p:txBody>
      </p:sp>
      <p:cxnSp>
        <p:nvCxnSpPr>
          <p:cNvPr id="20" name="Straight Arrow Connector 19"/>
          <p:cNvCxnSpPr/>
          <p:nvPr/>
        </p:nvCxnSpPr>
        <p:spPr>
          <a:xfrm flipH="1">
            <a:off x="2446761" y="3562753"/>
            <a:ext cx="2733041" cy="0"/>
          </a:xfrm>
          <a:prstGeom prst="straightConnector1">
            <a:avLst/>
          </a:prstGeom>
          <a:ln w="28575">
            <a:solidFill>
              <a:srgbClr val="000000"/>
            </a:solidFill>
            <a:tailEnd type="arrow"/>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2786912" y="3443928"/>
            <a:ext cx="1422231" cy="297148"/>
          </a:xfrm>
          <a:prstGeom prst="rect">
            <a:avLst/>
          </a:prstGeom>
          <a:ln>
            <a:solidFill>
              <a:srgbClr val="0E3755"/>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2000" b="1" dirty="0" smtClean="0">
                <a:solidFill>
                  <a:srgbClr val="0E3755"/>
                </a:solidFill>
              </a:rPr>
              <a:t>K</a:t>
            </a:r>
            <a:r>
              <a:rPr lang="en-US" sz="2000" b="1" baseline="-25000" dirty="0" smtClean="0">
                <a:solidFill>
                  <a:srgbClr val="0E3755"/>
                </a:solidFill>
              </a:rPr>
              <a:t>A,KDC</a:t>
            </a:r>
            <a:r>
              <a:rPr lang="en-US" sz="2000" b="1" dirty="0" smtClean="0">
                <a:solidFill>
                  <a:srgbClr val="0E3755"/>
                </a:solidFill>
              </a:rPr>
              <a:t>(K</a:t>
            </a:r>
            <a:r>
              <a:rPr lang="en-US" sz="2000" b="1" baseline="-25000" dirty="0" smtClean="0">
                <a:solidFill>
                  <a:srgbClr val="0E3755"/>
                </a:solidFill>
              </a:rPr>
              <a:t>A,B</a:t>
            </a:r>
            <a:r>
              <a:rPr lang="en-US" sz="2000" b="1" dirty="0" smtClean="0">
                <a:solidFill>
                  <a:srgbClr val="0E3755"/>
                </a:solidFill>
              </a:rPr>
              <a:t>)</a:t>
            </a:r>
            <a:endParaRPr lang="en-US" sz="2000" b="1" baseline="-25000" dirty="0">
              <a:solidFill>
                <a:schemeClr val="accent6"/>
              </a:solidFill>
            </a:endParaRPr>
          </a:p>
        </p:txBody>
      </p:sp>
      <p:sp>
        <p:nvSpPr>
          <p:cNvPr id="24" name="Rectangle 23"/>
          <p:cNvSpPr/>
          <p:nvPr/>
        </p:nvSpPr>
        <p:spPr>
          <a:xfrm>
            <a:off x="8141443" y="2527693"/>
            <a:ext cx="457200" cy="1633774"/>
          </a:xfrm>
          <a:prstGeom prst="rect">
            <a:avLst/>
          </a:prstGeom>
        </p:spPr>
        <p:style>
          <a:lnRef idx="0">
            <a:schemeClr val="accent6"/>
          </a:lnRef>
          <a:fillRef idx="3">
            <a:schemeClr val="accent6"/>
          </a:fillRef>
          <a:effectRef idx="3">
            <a:schemeClr val="accent6"/>
          </a:effectRef>
          <a:fontRef idx="minor">
            <a:schemeClr val="lt1"/>
          </a:fontRef>
        </p:style>
        <p:txBody>
          <a:bodyPr vert="vert270" rtlCol="0" anchor="ctr"/>
          <a:lstStyle/>
          <a:p>
            <a:pPr algn="ctr"/>
            <a:r>
              <a:rPr lang="en-US" sz="2400" dirty="0" smtClean="0"/>
              <a:t>Bob</a:t>
            </a:r>
            <a:endParaRPr lang="en-US" sz="2400" dirty="0"/>
          </a:p>
        </p:txBody>
      </p:sp>
      <p:cxnSp>
        <p:nvCxnSpPr>
          <p:cNvPr id="28" name="Straight Arrow Connector 27"/>
          <p:cNvCxnSpPr/>
          <p:nvPr/>
        </p:nvCxnSpPr>
        <p:spPr>
          <a:xfrm flipH="1">
            <a:off x="5606002" y="3576606"/>
            <a:ext cx="2535441" cy="0"/>
          </a:xfrm>
          <a:prstGeom prst="straightConnector1">
            <a:avLst/>
          </a:prstGeom>
          <a:ln w="28575">
            <a:solidFill>
              <a:srgbClr val="00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29" name="Rectangle 28"/>
          <p:cNvSpPr/>
          <p:nvPr/>
        </p:nvSpPr>
        <p:spPr>
          <a:xfrm>
            <a:off x="5946152" y="3457781"/>
            <a:ext cx="1422231" cy="297148"/>
          </a:xfrm>
          <a:prstGeom prst="rect">
            <a:avLst/>
          </a:prstGeom>
          <a:ln>
            <a:solidFill>
              <a:srgbClr val="0E3755"/>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2000" b="1" dirty="0" smtClean="0">
                <a:solidFill>
                  <a:srgbClr val="0E3755"/>
                </a:solidFill>
              </a:rPr>
              <a:t>K</a:t>
            </a:r>
            <a:r>
              <a:rPr lang="en-US" sz="2000" b="1" baseline="-25000" dirty="0">
                <a:solidFill>
                  <a:srgbClr val="0E3755"/>
                </a:solidFill>
              </a:rPr>
              <a:t>B</a:t>
            </a:r>
            <a:r>
              <a:rPr lang="en-US" sz="2000" b="1" baseline="-25000" dirty="0" smtClean="0">
                <a:solidFill>
                  <a:srgbClr val="0E3755"/>
                </a:solidFill>
              </a:rPr>
              <a:t>,KDC</a:t>
            </a:r>
            <a:r>
              <a:rPr lang="en-US" sz="2000" b="1" dirty="0" smtClean="0">
                <a:solidFill>
                  <a:srgbClr val="0E3755"/>
                </a:solidFill>
              </a:rPr>
              <a:t>(K</a:t>
            </a:r>
            <a:r>
              <a:rPr lang="en-US" sz="2000" b="1" baseline="-25000" dirty="0" smtClean="0">
                <a:solidFill>
                  <a:srgbClr val="0E3755"/>
                </a:solidFill>
              </a:rPr>
              <a:t>A,B</a:t>
            </a:r>
            <a:r>
              <a:rPr lang="en-US" sz="2000" b="1" dirty="0" smtClean="0">
                <a:solidFill>
                  <a:srgbClr val="0E3755"/>
                </a:solidFill>
              </a:rPr>
              <a:t>)</a:t>
            </a:r>
            <a:endParaRPr lang="en-US" sz="2000" b="1" baseline="-25000" dirty="0">
              <a:solidFill>
                <a:schemeClr val="accent6"/>
              </a:solidFill>
            </a:endParaRPr>
          </a:p>
        </p:txBody>
      </p:sp>
      <p:sp>
        <p:nvSpPr>
          <p:cNvPr id="13" name="Rectangle 12"/>
          <p:cNvSpPr/>
          <p:nvPr/>
        </p:nvSpPr>
        <p:spPr>
          <a:xfrm>
            <a:off x="3575539" y="2455118"/>
            <a:ext cx="336179" cy="297480"/>
          </a:xfrm>
          <a:prstGeom prst="rect">
            <a:avLst/>
          </a:prstGeom>
          <a:ln>
            <a:solidFill>
              <a:srgbClr val="0E3755"/>
            </a:solidFill>
            <a:prstDash val="dash"/>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2000" dirty="0" smtClean="0">
                <a:solidFill>
                  <a:schemeClr val="accent4"/>
                </a:solidFill>
              </a:rPr>
              <a:t>1</a:t>
            </a:r>
            <a:endParaRPr lang="en-US" sz="2000" baseline="-25000" dirty="0">
              <a:solidFill>
                <a:schemeClr val="accent4"/>
              </a:solidFill>
            </a:endParaRPr>
          </a:p>
        </p:txBody>
      </p:sp>
      <p:sp>
        <p:nvSpPr>
          <p:cNvPr id="14" name="Rectangle 13"/>
          <p:cNvSpPr/>
          <p:nvPr/>
        </p:nvSpPr>
        <p:spPr>
          <a:xfrm>
            <a:off x="3841670" y="3116866"/>
            <a:ext cx="336179" cy="297480"/>
          </a:xfrm>
          <a:prstGeom prst="rect">
            <a:avLst/>
          </a:prstGeom>
          <a:ln>
            <a:solidFill>
              <a:srgbClr val="0E3755"/>
            </a:solidFill>
            <a:prstDash val="dash"/>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2000" dirty="0" smtClean="0">
                <a:solidFill>
                  <a:schemeClr val="accent4"/>
                </a:solidFill>
              </a:rPr>
              <a:t>2</a:t>
            </a:r>
            <a:endParaRPr lang="en-US" sz="2000" baseline="-25000" dirty="0">
              <a:solidFill>
                <a:schemeClr val="accent4"/>
              </a:solidFill>
            </a:endParaRPr>
          </a:p>
        </p:txBody>
      </p:sp>
      <p:sp>
        <p:nvSpPr>
          <p:cNvPr id="15" name="Rectangle 14"/>
          <p:cNvSpPr/>
          <p:nvPr/>
        </p:nvSpPr>
        <p:spPr>
          <a:xfrm>
            <a:off x="7032204" y="3116866"/>
            <a:ext cx="336179" cy="297480"/>
          </a:xfrm>
          <a:prstGeom prst="rect">
            <a:avLst/>
          </a:prstGeom>
          <a:ln>
            <a:solidFill>
              <a:srgbClr val="0E3755"/>
            </a:solidFill>
            <a:prstDash val="dash"/>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2000" dirty="0" smtClean="0">
                <a:solidFill>
                  <a:schemeClr val="accent4"/>
                </a:solidFill>
              </a:rPr>
              <a:t>2</a:t>
            </a:r>
            <a:endParaRPr lang="en-US" sz="2000" baseline="-25000" dirty="0">
              <a:solidFill>
                <a:schemeClr val="accent4"/>
              </a:solidFill>
            </a:endParaRPr>
          </a:p>
        </p:txBody>
      </p:sp>
    </p:spTree>
    <p:extLst>
      <p:ext uri="{BB962C8B-B14F-4D97-AF65-F5344CB8AC3E}">
        <p14:creationId xmlns:p14="http://schemas.microsoft.com/office/powerpoint/2010/main" val="459631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9" grpId="0" animBg="1"/>
      <p:bldP spid="21" grpId="0" animBg="1"/>
      <p:bldP spid="24" grpId="0" animBg="1"/>
      <p:bldP spid="29" grpId="0" animBg="1"/>
      <p:bldP spid="13" grpId="0" animBg="1"/>
      <p:bldP spid="14" grpId="0" animBg="1"/>
      <p:bldP spid="15"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normAutofit/>
          </a:bodyPr>
          <a:lstStyle/>
          <a:p>
            <a:r>
              <a:rPr lang="en-US" dirty="0"/>
              <a:t>Authentication Using </a:t>
            </a:r>
            <a:r>
              <a:rPr lang="en-US" dirty="0" smtClean="0"/>
              <a:t>a Key </a:t>
            </a:r>
            <a:r>
              <a:rPr lang="en-US" dirty="0"/>
              <a:t>Distribution </a:t>
            </a:r>
            <a:r>
              <a:rPr lang="en-US" dirty="0" smtClean="0"/>
              <a:t>Center using Ticket</a:t>
            </a:r>
            <a:endParaRPr lang="en-US" dirty="0"/>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marL="265113" lvl="2" indent="-265113">
              <a:lnSpc>
                <a:spcPct val="100000"/>
              </a:lnSpc>
              <a:spcBef>
                <a:spcPts val="1000"/>
              </a:spcBef>
              <a:buFont typeface="Webdings" panose="05030102010509060703" pitchFamily="18" charset="2"/>
              <a:buChar char=""/>
            </a:pPr>
            <a:endParaRPr lang="en-US" sz="2400" dirty="0">
              <a:solidFill>
                <a:schemeClr val="accent6"/>
              </a:solidFill>
            </a:endParaRPr>
          </a:p>
        </p:txBody>
      </p:sp>
      <p:sp>
        <p:nvSpPr>
          <p:cNvPr id="16" name="Rectangle 15"/>
          <p:cNvSpPr/>
          <p:nvPr/>
        </p:nvSpPr>
        <p:spPr>
          <a:xfrm>
            <a:off x="2134704" y="3106077"/>
            <a:ext cx="457200" cy="1650476"/>
          </a:xfrm>
          <a:prstGeom prst="rect">
            <a:avLst/>
          </a:prstGeom>
        </p:spPr>
        <p:style>
          <a:lnRef idx="0">
            <a:schemeClr val="accent6"/>
          </a:lnRef>
          <a:fillRef idx="3">
            <a:schemeClr val="accent6"/>
          </a:fillRef>
          <a:effectRef idx="3">
            <a:schemeClr val="accent6"/>
          </a:effectRef>
          <a:fontRef idx="minor">
            <a:schemeClr val="lt1"/>
          </a:fontRef>
        </p:style>
        <p:txBody>
          <a:bodyPr vert="vert270" rtlCol="0" anchor="ctr"/>
          <a:lstStyle/>
          <a:p>
            <a:pPr algn="ctr"/>
            <a:r>
              <a:rPr lang="en-US" sz="2400" dirty="0" smtClean="0"/>
              <a:t>Alice</a:t>
            </a:r>
            <a:endParaRPr lang="en-US" sz="2400" dirty="0"/>
          </a:p>
        </p:txBody>
      </p:sp>
      <p:sp>
        <p:nvSpPr>
          <p:cNvPr id="17" name="Rectangle 16"/>
          <p:cNvSpPr/>
          <p:nvPr/>
        </p:nvSpPr>
        <p:spPr>
          <a:xfrm>
            <a:off x="6628328" y="3106077"/>
            <a:ext cx="457200" cy="838200"/>
          </a:xfrm>
          <a:prstGeom prst="rect">
            <a:avLst/>
          </a:prstGeom>
          <a:solidFill>
            <a:srgbClr val="0E3755"/>
          </a:solidFill>
        </p:spPr>
        <p:style>
          <a:lnRef idx="0">
            <a:schemeClr val="accent6"/>
          </a:lnRef>
          <a:fillRef idx="3">
            <a:schemeClr val="accent6"/>
          </a:fillRef>
          <a:effectRef idx="3">
            <a:schemeClr val="accent6"/>
          </a:effectRef>
          <a:fontRef idx="minor">
            <a:schemeClr val="lt1"/>
          </a:fontRef>
        </p:style>
        <p:txBody>
          <a:bodyPr vert="vert270" rtlCol="0" anchor="ctr"/>
          <a:lstStyle/>
          <a:p>
            <a:pPr algn="ctr"/>
            <a:r>
              <a:rPr lang="en-US" b="1" dirty="0" smtClean="0"/>
              <a:t>KDC</a:t>
            </a:r>
            <a:endParaRPr lang="en-US" b="1" dirty="0"/>
          </a:p>
        </p:txBody>
      </p:sp>
      <p:cxnSp>
        <p:nvCxnSpPr>
          <p:cNvPr id="18" name="Straight Arrow Connector 17"/>
          <p:cNvCxnSpPr/>
          <p:nvPr/>
        </p:nvCxnSpPr>
        <p:spPr>
          <a:xfrm>
            <a:off x="2591904" y="3384953"/>
            <a:ext cx="4036424" cy="0"/>
          </a:xfrm>
          <a:prstGeom prst="straightConnector1">
            <a:avLst/>
          </a:prstGeom>
          <a:ln w="28575">
            <a:solidFill>
              <a:srgbClr val="000000"/>
            </a:solidFill>
            <a:tailEnd type="arrow"/>
          </a:ln>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a:off x="2932055" y="3232553"/>
            <a:ext cx="802849" cy="304800"/>
          </a:xfrm>
          <a:prstGeom prst="rect">
            <a:avLst/>
          </a:prstGeom>
          <a:ln>
            <a:solidFill>
              <a:srgbClr val="0E3755"/>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2000" dirty="0" smtClean="0"/>
              <a:t>A,</a:t>
            </a:r>
            <a:r>
              <a:rPr lang="en-US" sz="2000" dirty="0"/>
              <a:t> </a:t>
            </a:r>
            <a:r>
              <a:rPr lang="en-US" sz="2000" dirty="0" smtClean="0"/>
              <a:t>B</a:t>
            </a:r>
            <a:endParaRPr lang="en-US" sz="2000" baseline="-25000" dirty="0"/>
          </a:p>
        </p:txBody>
      </p:sp>
      <p:cxnSp>
        <p:nvCxnSpPr>
          <p:cNvPr id="20" name="Straight Arrow Connector 19"/>
          <p:cNvCxnSpPr/>
          <p:nvPr/>
        </p:nvCxnSpPr>
        <p:spPr>
          <a:xfrm flipH="1">
            <a:off x="2591904" y="3765953"/>
            <a:ext cx="4036424" cy="0"/>
          </a:xfrm>
          <a:prstGeom prst="straightConnector1">
            <a:avLst/>
          </a:prstGeom>
          <a:ln w="28575">
            <a:solidFill>
              <a:srgbClr val="000000"/>
            </a:solidFill>
            <a:tailEnd type="arrow"/>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2932055" y="3626907"/>
            <a:ext cx="2629475" cy="317369"/>
          </a:xfrm>
          <a:prstGeom prst="rect">
            <a:avLst/>
          </a:prstGeom>
          <a:ln>
            <a:solidFill>
              <a:srgbClr val="0E3755"/>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2000" b="1" dirty="0" smtClean="0">
                <a:solidFill>
                  <a:srgbClr val="0E3755"/>
                </a:solidFill>
              </a:rPr>
              <a:t>K</a:t>
            </a:r>
            <a:r>
              <a:rPr lang="en-US" sz="2000" b="1" baseline="-25000" dirty="0" smtClean="0">
                <a:solidFill>
                  <a:srgbClr val="0E3755"/>
                </a:solidFill>
              </a:rPr>
              <a:t>A,KDC</a:t>
            </a:r>
            <a:r>
              <a:rPr lang="en-US" sz="2000" b="1" dirty="0" smtClean="0">
                <a:solidFill>
                  <a:srgbClr val="0E3755"/>
                </a:solidFill>
              </a:rPr>
              <a:t>(K</a:t>
            </a:r>
            <a:r>
              <a:rPr lang="en-US" sz="2000" b="1" baseline="-25000" dirty="0" smtClean="0">
                <a:solidFill>
                  <a:srgbClr val="0E3755"/>
                </a:solidFill>
              </a:rPr>
              <a:t>A,B</a:t>
            </a:r>
            <a:r>
              <a:rPr lang="en-US" sz="2000" b="1" dirty="0" smtClean="0">
                <a:solidFill>
                  <a:srgbClr val="0E3755"/>
                </a:solidFill>
              </a:rPr>
              <a:t>)</a:t>
            </a:r>
            <a:r>
              <a:rPr lang="en-US" sz="2000" dirty="0" smtClean="0">
                <a:solidFill>
                  <a:srgbClr val="0E3755"/>
                </a:solidFill>
              </a:rPr>
              <a:t> </a:t>
            </a:r>
            <a:r>
              <a:rPr lang="en-US" sz="2000" dirty="0" smtClean="0"/>
              <a:t>, </a:t>
            </a:r>
            <a:r>
              <a:rPr lang="en-US" sz="2000" b="1" dirty="0" smtClean="0">
                <a:solidFill>
                  <a:schemeClr val="accent6"/>
                </a:solidFill>
              </a:rPr>
              <a:t>K</a:t>
            </a:r>
            <a:r>
              <a:rPr lang="en-US" sz="2000" b="1" baseline="-25000" dirty="0" smtClean="0">
                <a:solidFill>
                  <a:schemeClr val="accent6"/>
                </a:solidFill>
              </a:rPr>
              <a:t>B,KDC</a:t>
            </a:r>
            <a:r>
              <a:rPr lang="en-US" sz="2000" b="1" dirty="0" smtClean="0">
                <a:solidFill>
                  <a:schemeClr val="accent6"/>
                </a:solidFill>
              </a:rPr>
              <a:t>(K</a:t>
            </a:r>
            <a:r>
              <a:rPr lang="en-US" sz="2000" b="1" baseline="-25000" dirty="0" smtClean="0">
                <a:solidFill>
                  <a:schemeClr val="accent6"/>
                </a:solidFill>
              </a:rPr>
              <a:t>A,B</a:t>
            </a:r>
            <a:r>
              <a:rPr lang="en-US" sz="2000" b="1" dirty="0" smtClean="0">
                <a:solidFill>
                  <a:schemeClr val="accent6"/>
                </a:solidFill>
              </a:rPr>
              <a:t>)</a:t>
            </a:r>
            <a:endParaRPr lang="en-US" sz="2000" b="1" baseline="-25000" dirty="0">
              <a:solidFill>
                <a:schemeClr val="accent6"/>
              </a:solidFill>
            </a:endParaRPr>
          </a:p>
        </p:txBody>
      </p:sp>
      <p:cxnSp>
        <p:nvCxnSpPr>
          <p:cNvPr id="22" name="Straight Arrow Connector 21"/>
          <p:cNvCxnSpPr/>
          <p:nvPr/>
        </p:nvCxnSpPr>
        <p:spPr>
          <a:xfrm>
            <a:off x="2591904" y="4354548"/>
            <a:ext cx="5694682" cy="0"/>
          </a:xfrm>
          <a:prstGeom prst="straightConnector1">
            <a:avLst/>
          </a:prstGeom>
          <a:ln w="28575">
            <a:solidFill>
              <a:srgbClr val="000000"/>
            </a:solidFill>
            <a:tailEnd type="arrow"/>
          </a:ln>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a:off x="2820504" y="4202148"/>
            <a:ext cx="3018934" cy="304800"/>
          </a:xfrm>
          <a:prstGeom prst="rect">
            <a:avLst/>
          </a:prstGeom>
          <a:ln>
            <a:solidFill>
              <a:srgbClr val="0E3755"/>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2000" dirty="0" smtClean="0">
                <a:solidFill>
                  <a:srgbClr val="000000"/>
                </a:solidFill>
              </a:rPr>
              <a:t>A, </a:t>
            </a:r>
            <a:r>
              <a:rPr lang="en-US" sz="2000" dirty="0">
                <a:solidFill>
                  <a:schemeClr val="accent6"/>
                </a:solidFill>
              </a:rPr>
              <a:t>K</a:t>
            </a:r>
            <a:r>
              <a:rPr lang="en-US" sz="2000" baseline="-25000" dirty="0">
                <a:solidFill>
                  <a:schemeClr val="accent6"/>
                </a:solidFill>
              </a:rPr>
              <a:t>B,KDC</a:t>
            </a:r>
            <a:r>
              <a:rPr lang="en-US" sz="2000" dirty="0">
                <a:solidFill>
                  <a:schemeClr val="accent6"/>
                </a:solidFill>
              </a:rPr>
              <a:t>(K</a:t>
            </a:r>
            <a:r>
              <a:rPr lang="en-US" sz="2000" baseline="-25000" dirty="0">
                <a:solidFill>
                  <a:schemeClr val="accent6"/>
                </a:solidFill>
              </a:rPr>
              <a:t>A,B</a:t>
            </a:r>
            <a:r>
              <a:rPr lang="en-US" sz="2000" dirty="0" smtClean="0">
                <a:solidFill>
                  <a:schemeClr val="accent6"/>
                </a:solidFill>
              </a:rPr>
              <a:t>)</a:t>
            </a:r>
            <a:r>
              <a:rPr lang="en-US" sz="2000" dirty="0" smtClean="0">
                <a:solidFill>
                  <a:srgbClr val="000000"/>
                </a:solidFill>
              </a:rPr>
              <a:t> </a:t>
            </a:r>
            <a:endParaRPr lang="en-US" sz="2000" baseline="-25000" dirty="0"/>
          </a:p>
        </p:txBody>
      </p:sp>
      <p:sp>
        <p:nvSpPr>
          <p:cNvPr id="24" name="Rectangle 23"/>
          <p:cNvSpPr/>
          <p:nvPr/>
        </p:nvSpPr>
        <p:spPr>
          <a:xfrm>
            <a:off x="8286586" y="3122779"/>
            <a:ext cx="457200" cy="1633774"/>
          </a:xfrm>
          <a:prstGeom prst="rect">
            <a:avLst/>
          </a:prstGeom>
        </p:spPr>
        <p:style>
          <a:lnRef idx="0">
            <a:schemeClr val="accent6"/>
          </a:lnRef>
          <a:fillRef idx="3">
            <a:schemeClr val="accent6"/>
          </a:fillRef>
          <a:effectRef idx="3">
            <a:schemeClr val="accent6"/>
          </a:effectRef>
          <a:fontRef idx="minor">
            <a:schemeClr val="lt1"/>
          </a:fontRef>
        </p:style>
        <p:txBody>
          <a:bodyPr vert="vert270" rtlCol="0" anchor="ctr"/>
          <a:lstStyle/>
          <a:p>
            <a:pPr algn="ctr"/>
            <a:r>
              <a:rPr lang="en-US" sz="2400" dirty="0" smtClean="0"/>
              <a:t>Bob</a:t>
            </a:r>
            <a:endParaRPr lang="en-US" sz="2400" dirty="0"/>
          </a:p>
        </p:txBody>
      </p:sp>
      <p:sp>
        <p:nvSpPr>
          <p:cNvPr id="25" name="Rectangle 24"/>
          <p:cNvSpPr/>
          <p:nvPr/>
        </p:nvSpPr>
        <p:spPr>
          <a:xfrm>
            <a:off x="4291616" y="3537354"/>
            <a:ext cx="1272226" cy="540470"/>
          </a:xfrm>
          <a:prstGeom prst="rect">
            <a:avLst/>
          </a:prstGeom>
          <a:solidFill>
            <a:schemeClr val="accent6">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Arrow Connector 25"/>
          <p:cNvCxnSpPr>
            <a:stCxn id="25" idx="0"/>
          </p:cNvCxnSpPr>
          <p:nvPr/>
        </p:nvCxnSpPr>
        <p:spPr>
          <a:xfrm flipV="1">
            <a:off x="4927729" y="3122779"/>
            <a:ext cx="207979" cy="41457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4719932" y="2661114"/>
            <a:ext cx="1058529" cy="461665"/>
          </a:xfrm>
          <a:prstGeom prst="rect">
            <a:avLst/>
          </a:prstGeom>
          <a:noFill/>
          <a:ln>
            <a:solidFill>
              <a:schemeClr val="tx1"/>
            </a:solidFill>
            <a:prstDash val="dash"/>
          </a:ln>
        </p:spPr>
        <p:txBody>
          <a:bodyPr wrap="square" rtlCol="0">
            <a:spAutoFit/>
          </a:bodyPr>
          <a:lstStyle/>
          <a:p>
            <a:r>
              <a:rPr lang="en-US" sz="2400" dirty="0" smtClean="0"/>
              <a:t>Ticket</a:t>
            </a:r>
            <a:endParaRPr lang="en-US" sz="2400" dirty="0"/>
          </a:p>
        </p:txBody>
      </p:sp>
    </p:spTree>
    <p:extLst>
      <p:ext uri="{BB962C8B-B14F-4D97-AF65-F5344CB8AC3E}">
        <p14:creationId xmlns:p14="http://schemas.microsoft.com/office/powerpoint/2010/main" val="2470512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xit" presetSubtype="4" fill="hold" grpId="1" nodeType="clickEffect">
                                  <p:stCondLst>
                                    <p:cond delay="0"/>
                                  </p:stCondLst>
                                  <p:childTnLst>
                                    <p:animEffect transition="out" filter="wipe(down)">
                                      <p:cBhvr>
                                        <p:cTn id="26" dur="500"/>
                                        <p:tgtEl>
                                          <p:spTgt spid="25"/>
                                        </p:tgtEl>
                                      </p:cBhvr>
                                    </p:animEffect>
                                    <p:set>
                                      <p:cBhvr>
                                        <p:cTn id="27" dur="1" fill="hold">
                                          <p:stCondLst>
                                            <p:cond delay="499"/>
                                          </p:stCondLst>
                                        </p:cTn>
                                        <p:tgtEl>
                                          <p:spTgt spid="25"/>
                                        </p:tgtEl>
                                        <p:attrNameLst>
                                          <p:attrName>style.visibility</p:attrName>
                                        </p:attrNameLst>
                                      </p:cBhvr>
                                      <p:to>
                                        <p:strVal val="hidden"/>
                                      </p:to>
                                    </p:set>
                                  </p:childTnLst>
                                </p:cTn>
                              </p:par>
                              <p:par>
                                <p:cTn id="28" presetID="22" presetClass="exit" presetSubtype="4" fill="hold" nodeType="withEffect">
                                  <p:stCondLst>
                                    <p:cond delay="0"/>
                                  </p:stCondLst>
                                  <p:childTnLst>
                                    <p:animEffect transition="out" filter="wipe(down)">
                                      <p:cBhvr>
                                        <p:cTn id="29" dur="500"/>
                                        <p:tgtEl>
                                          <p:spTgt spid="26"/>
                                        </p:tgtEl>
                                      </p:cBhvr>
                                    </p:animEffect>
                                    <p:set>
                                      <p:cBhvr>
                                        <p:cTn id="30" dur="1" fill="hold">
                                          <p:stCondLst>
                                            <p:cond delay="499"/>
                                          </p:stCondLst>
                                        </p:cTn>
                                        <p:tgtEl>
                                          <p:spTgt spid="26"/>
                                        </p:tgtEl>
                                        <p:attrNameLst>
                                          <p:attrName>style.visibility</p:attrName>
                                        </p:attrNameLst>
                                      </p:cBhvr>
                                      <p:to>
                                        <p:strVal val="hidden"/>
                                      </p:to>
                                    </p:set>
                                  </p:childTnLst>
                                </p:cTn>
                              </p:par>
                              <p:par>
                                <p:cTn id="31" presetID="22" presetClass="exit" presetSubtype="4" fill="hold" grpId="1" nodeType="withEffect">
                                  <p:stCondLst>
                                    <p:cond delay="0"/>
                                  </p:stCondLst>
                                  <p:childTnLst>
                                    <p:animEffect transition="out" filter="wipe(down)">
                                      <p:cBhvr>
                                        <p:cTn id="32" dur="500"/>
                                        <p:tgtEl>
                                          <p:spTgt spid="27"/>
                                        </p:tgtEl>
                                      </p:cBhvr>
                                    </p:animEffect>
                                    <p:set>
                                      <p:cBhvr>
                                        <p:cTn id="33" dur="1" fill="hold">
                                          <p:stCondLst>
                                            <p:cond delay="499"/>
                                          </p:stCondLst>
                                        </p:cTn>
                                        <p:tgtEl>
                                          <p:spTgt spid="27"/>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22"/>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1" grpId="0" animBg="1"/>
      <p:bldP spid="23" grpId="0" animBg="1"/>
      <p:bldP spid="25" grpId="0" animBg="1"/>
      <p:bldP spid="25" grpId="1" animBg="1"/>
      <p:bldP spid="27" grpId="0" animBg="1"/>
      <p:bldP spid="27" grpId="1"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Needham-Schroeder Authentication Protocol</a:t>
            </a:r>
          </a:p>
        </p:txBody>
      </p:sp>
      <p:sp>
        <p:nvSpPr>
          <p:cNvPr id="4" name="Content Placeholder 2"/>
          <p:cNvSpPr>
            <a:spLocks noGrp="1"/>
          </p:cNvSpPr>
          <p:nvPr>
            <p:ph idx="1"/>
          </p:nvPr>
        </p:nvSpPr>
        <p:spPr/>
        <p:txBody>
          <a:bodyPr/>
          <a:lstStyle/>
          <a:p>
            <a:r>
              <a:rPr lang="en-US" sz="2400" dirty="0" smtClean="0"/>
              <a:t>A multi-way challenge response protocol</a:t>
            </a:r>
          </a:p>
          <a:p>
            <a:r>
              <a:rPr lang="en-US" dirty="0"/>
              <a:t>Protocol is a variant of a well-known example of an authentication protocol using a KDC, known as the Needham-Schroeder authentication protocol</a:t>
            </a:r>
            <a:r>
              <a:rPr lang="en-US" dirty="0" smtClean="0"/>
              <a:t>.</a:t>
            </a:r>
            <a:endParaRPr lang="en-US" dirty="0"/>
          </a:p>
        </p:txBody>
      </p:sp>
      <p:sp>
        <p:nvSpPr>
          <p:cNvPr id="5" name="Rectangle 4"/>
          <p:cNvSpPr/>
          <p:nvPr/>
        </p:nvSpPr>
        <p:spPr>
          <a:xfrm>
            <a:off x="338658" y="3636013"/>
            <a:ext cx="457200" cy="2496942"/>
          </a:xfrm>
          <a:prstGeom prst="rect">
            <a:avLst/>
          </a:prstGeom>
        </p:spPr>
        <p:style>
          <a:lnRef idx="0">
            <a:schemeClr val="accent6"/>
          </a:lnRef>
          <a:fillRef idx="3">
            <a:schemeClr val="accent6"/>
          </a:fillRef>
          <a:effectRef idx="3">
            <a:schemeClr val="accent6"/>
          </a:effectRef>
          <a:fontRef idx="minor">
            <a:schemeClr val="lt1"/>
          </a:fontRef>
        </p:style>
        <p:txBody>
          <a:bodyPr vert="vert270" rtlCol="0" anchor="ctr"/>
          <a:lstStyle/>
          <a:p>
            <a:pPr algn="ctr"/>
            <a:r>
              <a:rPr lang="en-US" sz="2400" dirty="0" smtClean="0"/>
              <a:t>Alice</a:t>
            </a:r>
            <a:endParaRPr lang="en-US" sz="2400" dirty="0"/>
          </a:p>
        </p:txBody>
      </p:sp>
      <p:sp>
        <p:nvSpPr>
          <p:cNvPr id="6" name="Rectangle 5"/>
          <p:cNvSpPr/>
          <p:nvPr/>
        </p:nvSpPr>
        <p:spPr>
          <a:xfrm>
            <a:off x="5959277" y="3636013"/>
            <a:ext cx="457200" cy="838200"/>
          </a:xfrm>
          <a:prstGeom prst="rect">
            <a:avLst/>
          </a:prstGeom>
          <a:solidFill>
            <a:srgbClr val="0E3755"/>
          </a:solidFill>
        </p:spPr>
        <p:style>
          <a:lnRef idx="0">
            <a:schemeClr val="accent6"/>
          </a:lnRef>
          <a:fillRef idx="3">
            <a:schemeClr val="accent6"/>
          </a:fillRef>
          <a:effectRef idx="3">
            <a:schemeClr val="accent6"/>
          </a:effectRef>
          <a:fontRef idx="minor">
            <a:schemeClr val="lt1"/>
          </a:fontRef>
        </p:style>
        <p:txBody>
          <a:bodyPr vert="vert270" rtlCol="0" anchor="ctr"/>
          <a:lstStyle/>
          <a:p>
            <a:pPr algn="ctr"/>
            <a:r>
              <a:rPr lang="en-US" b="1" dirty="0" smtClean="0"/>
              <a:t>KDC</a:t>
            </a:r>
            <a:endParaRPr lang="en-US" b="1" dirty="0"/>
          </a:p>
        </p:txBody>
      </p:sp>
      <p:cxnSp>
        <p:nvCxnSpPr>
          <p:cNvPr id="7" name="Straight Arrow Connector 6"/>
          <p:cNvCxnSpPr/>
          <p:nvPr/>
        </p:nvCxnSpPr>
        <p:spPr>
          <a:xfrm>
            <a:off x="795858" y="3914889"/>
            <a:ext cx="5163419" cy="0"/>
          </a:xfrm>
          <a:prstGeom prst="straightConnector1">
            <a:avLst/>
          </a:prstGeom>
          <a:ln w="28575">
            <a:solidFill>
              <a:srgbClr val="000000"/>
            </a:solidFill>
            <a:tailEnd type="arrow"/>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1599101" y="3762489"/>
            <a:ext cx="1225091" cy="304800"/>
          </a:xfrm>
          <a:prstGeom prst="rect">
            <a:avLst/>
          </a:prstGeom>
          <a:ln>
            <a:solidFill>
              <a:srgbClr val="0E3755"/>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1600" b="1" dirty="0" smtClean="0">
                <a:solidFill>
                  <a:srgbClr val="0E3755"/>
                </a:solidFill>
              </a:rPr>
              <a:t>R</a:t>
            </a:r>
            <a:r>
              <a:rPr lang="en-US" sz="1600" b="1" baseline="-25000" dirty="0" smtClean="0">
                <a:solidFill>
                  <a:srgbClr val="0E3755"/>
                </a:solidFill>
              </a:rPr>
              <a:t>A1</a:t>
            </a:r>
            <a:r>
              <a:rPr lang="en-US" sz="1600" b="1" dirty="0" smtClean="0"/>
              <a:t> ,</a:t>
            </a:r>
            <a:r>
              <a:rPr lang="en-US" sz="1600" b="1" dirty="0"/>
              <a:t> </a:t>
            </a:r>
            <a:r>
              <a:rPr lang="en-US" sz="1600" b="1" dirty="0" smtClean="0"/>
              <a:t>A,</a:t>
            </a:r>
            <a:r>
              <a:rPr lang="en-US" sz="1600" b="1" dirty="0"/>
              <a:t> </a:t>
            </a:r>
            <a:r>
              <a:rPr lang="en-US" sz="1600" b="1" dirty="0" smtClean="0"/>
              <a:t>B</a:t>
            </a:r>
            <a:endParaRPr lang="en-US" sz="1600" b="1" baseline="-25000" dirty="0"/>
          </a:p>
        </p:txBody>
      </p:sp>
      <p:cxnSp>
        <p:nvCxnSpPr>
          <p:cNvPr id="9" name="Straight Arrow Connector 8"/>
          <p:cNvCxnSpPr/>
          <p:nvPr/>
        </p:nvCxnSpPr>
        <p:spPr>
          <a:xfrm flipH="1">
            <a:off x="795858" y="4295889"/>
            <a:ext cx="5163419" cy="0"/>
          </a:xfrm>
          <a:prstGeom prst="straightConnector1">
            <a:avLst/>
          </a:prstGeom>
          <a:ln w="28575">
            <a:solidFill>
              <a:srgbClr val="000000"/>
            </a:solidFill>
            <a:tailEnd type="arrow"/>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1317475" y="4156844"/>
            <a:ext cx="3745583" cy="304800"/>
          </a:xfrm>
          <a:prstGeom prst="rect">
            <a:avLst/>
          </a:prstGeom>
          <a:ln>
            <a:solidFill>
              <a:srgbClr val="0E3755"/>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1600" b="1" dirty="0" smtClean="0"/>
              <a:t>K</a:t>
            </a:r>
            <a:r>
              <a:rPr lang="en-US" sz="1600" b="1" baseline="-25000" dirty="0" smtClean="0"/>
              <a:t>A,KDC</a:t>
            </a:r>
            <a:r>
              <a:rPr lang="en-US" sz="1600" b="1" dirty="0" smtClean="0"/>
              <a:t>(</a:t>
            </a:r>
            <a:r>
              <a:rPr lang="en-US" sz="1600" b="1" dirty="0" smtClean="0">
                <a:solidFill>
                  <a:srgbClr val="0E3755"/>
                </a:solidFill>
              </a:rPr>
              <a:t>R</a:t>
            </a:r>
            <a:r>
              <a:rPr lang="en-US" sz="1600" b="1" baseline="-25000" dirty="0" smtClean="0">
                <a:solidFill>
                  <a:srgbClr val="0E3755"/>
                </a:solidFill>
              </a:rPr>
              <a:t>A1</a:t>
            </a:r>
            <a:r>
              <a:rPr lang="en-US" sz="1600" b="1" dirty="0" smtClean="0"/>
              <a:t> </a:t>
            </a:r>
            <a:r>
              <a:rPr lang="en-US" sz="1600" b="1" dirty="0"/>
              <a:t>, </a:t>
            </a:r>
            <a:r>
              <a:rPr lang="en-US" sz="1600" b="1" dirty="0" smtClean="0"/>
              <a:t>B, K</a:t>
            </a:r>
            <a:r>
              <a:rPr lang="en-US" sz="1600" b="1" baseline="-25000" dirty="0" smtClean="0"/>
              <a:t>A,B</a:t>
            </a:r>
            <a:r>
              <a:rPr lang="en-US" sz="1600" b="1" dirty="0"/>
              <a:t> , </a:t>
            </a:r>
            <a:r>
              <a:rPr lang="en-US" sz="1600" b="1" dirty="0" smtClean="0">
                <a:solidFill>
                  <a:schemeClr val="accent6"/>
                </a:solidFill>
              </a:rPr>
              <a:t>K</a:t>
            </a:r>
            <a:r>
              <a:rPr lang="en-US" sz="1600" b="1" baseline="-25000" dirty="0" smtClean="0">
                <a:solidFill>
                  <a:schemeClr val="accent6"/>
                </a:solidFill>
              </a:rPr>
              <a:t>B,KDC</a:t>
            </a:r>
            <a:r>
              <a:rPr lang="en-US" sz="1600" b="1" dirty="0" smtClean="0">
                <a:solidFill>
                  <a:schemeClr val="accent6"/>
                </a:solidFill>
              </a:rPr>
              <a:t>(A, K</a:t>
            </a:r>
            <a:r>
              <a:rPr lang="en-US" sz="1600" b="1" baseline="-25000" dirty="0" smtClean="0">
                <a:solidFill>
                  <a:schemeClr val="accent6"/>
                </a:solidFill>
              </a:rPr>
              <a:t>A,B</a:t>
            </a:r>
            <a:r>
              <a:rPr lang="en-US" sz="1600" b="1" dirty="0" smtClean="0">
                <a:solidFill>
                  <a:schemeClr val="accent6"/>
                </a:solidFill>
              </a:rPr>
              <a:t>) </a:t>
            </a:r>
            <a:r>
              <a:rPr lang="en-US" sz="1600" b="1" dirty="0" smtClean="0"/>
              <a:t>)</a:t>
            </a:r>
            <a:endParaRPr lang="en-US" sz="1600" b="1" baseline="-25000" dirty="0"/>
          </a:p>
        </p:txBody>
      </p:sp>
      <p:cxnSp>
        <p:nvCxnSpPr>
          <p:cNvPr id="11" name="Straight Arrow Connector 10"/>
          <p:cNvCxnSpPr/>
          <p:nvPr/>
        </p:nvCxnSpPr>
        <p:spPr>
          <a:xfrm>
            <a:off x="795858" y="4861122"/>
            <a:ext cx="6414452" cy="0"/>
          </a:xfrm>
          <a:prstGeom prst="straightConnector1">
            <a:avLst/>
          </a:prstGeom>
          <a:ln w="28575">
            <a:solidFill>
              <a:srgbClr val="000000"/>
            </a:solidFill>
            <a:tailEnd type="arrow"/>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1586924" y="4719924"/>
            <a:ext cx="3018934" cy="304800"/>
          </a:xfrm>
          <a:prstGeom prst="rect">
            <a:avLst/>
          </a:prstGeom>
          <a:ln>
            <a:solidFill>
              <a:srgbClr val="0E3755"/>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1600" b="1" dirty="0" smtClean="0"/>
              <a:t>K</a:t>
            </a:r>
            <a:r>
              <a:rPr lang="en-US" sz="1600" b="1" baseline="-25000" dirty="0" smtClean="0"/>
              <a:t>A,B</a:t>
            </a:r>
            <a:r>
              <a:rPr lang="en-US" sz="1600" b="1" dirty="0" smtClean="0">
                <a:solidFill>
                  <a:srgbClr val="000000"/>
                </a:solidFill>
              </a:rPr>
              <a:t>(</a:t>
            </a:r>
            <a:r>
              <a:rPr lang="en-US" sz="1600" b="1" dirty="0" smtClean="0">
                <a:solidFill>
                  <a:srgbClr val="0E3755"/>
                </a:solidFill>
              </a:rPr>
              <a:t>R</a:t>
            </a:r>
            <a:r>
              <a:rPr lang="en-US" sz="1600" b="1" baseline="-25000" dirty="0" smtClean="0">
                <a:solidFill>
                  <a:srgbClr val="0E3755"/>
                </a:solidFill>
              </a:rPr>
              <a:t>A2</a:t>
            </a:r>
            <a:r>
              <a:rPr lang="en-US" sz="1600" b="1" dirty="0" smtClean="0">
                <a:solidFill>
                  <a:srgbClr val="000000"/>
                </a:solidFill>
              </a:rPr>
              <a:t>), </a:t>
            </a:r>
            <a:r>
              <a:rPr lang="en-US" sz="1600" b="1" dirty="0" smtClean="0">
                <a:solidFill>
                  <a:srgbClr val="C00000"/>
                </a:solidFill>
              </a:rPr>
              <a:t>K</a:t>
            </a:r>
            <a:r>
              <a:rPr lang="en-US" sz="1600" b="1" baseline="-25000" dirty="0" smtClean="0">
                <a:solidFill>
                  <a:srgbClr val="C00000"/>
                </a:solidFill>
              </a:rPr>
              <a:t>B,KDC</a:t>
            </a:r>
            <a:r>
              <a:rPr lang="en-US" sz="1600" b="1" dirty="0" smtClean="0">
                <a:solidFill>
                  <a:srgbClr val="C00000"/>
                </a:solidFill>
              </a:rPr>
              <a:t>(A,K</a:t>
            </a:r>
            <a:r>
              <a:rPr lang="en-US" sz="1600" b="1" baseline="-25000" dirty="0" smtClean="0">
                <a:solidFill>
                  <a:srgbClr val="C00000"/>
                </a:solidFill>
              </a:rPr>
              <a:t>A,B</a:t>
            </a:r>
            <a:r>
              <a:rPr lang="en-US" sz="1600" b="1" dirty="0" smtClean="0">
                <a:solidFill>
                  <a:srgbClr val="C00000"/>
                </a:solidFill>
              </a:rPr>
              <a:t>)</a:t>
            </a:r>
            <a:r>
              <a:rPr lang="en-US" sz="1600" b="1" dirty="0" smtClean="0">
                <a:solidFill>
                  <a:srgbClr val="000000"/>
                </a:solidFill>
              </a:rPr>
              <a:t> </a:t>
            </a:r>
            <a:endParaRPr lang="en-US" sz="1600" b="1" baseline="-25000" dirty="0"/>
          </a:p>
        </p:txBody>
      </p:sp>
      <p:sp>
        <p:nvSpPr>
          <p:cNvPr id="13" name="Rectangle 12"/>
          <p:cNvSpPr/>
          <p:nvPr/>
        </p:nvSpPr>
        <p:spPr>
          <a:xfrm>
            <a:off x="7210310" y="3655277"/>
            <a:ext cx="457200" cy="2463538"/>
          </a:xfrm>
          <a:prstGeom prst="rect">
            <a:avLst/>
          </a:prstGeom>
        </p:spPr>
        <p:style>
          <a:lnRef idx="0">
            <a:schemeClr val="accent6"/>
          </a:lnRef>
          <a:fillRef idx="3">
            <a:schemeClr val="accent6"/>
          </a:fillRef>
          <a:effectRef idx="3">
            <a:schemeClr val="accent6"/>
          </a:effectRef>
          <a:fontRef idx="minor">
            <a:schemeClr val="lt1"/>
          </a:fontRef>
        </p:style>
        <p:txBody>
          <a:bodyPr vert="vert270" rtlCol="0" anchor="ctr"/>
          <a:lstStyle/>
          <a:p>
            <a:pPr algn="ctr"/>
            <a:r>
              <a:rPr lang="en-US" sz="2400" dirty="0" smtClean="0"/>
              <a:t>Bob</a:t>
            </a:r>
            <a:endParaRPr lang="en-US" sz="2400" dirty="0"/>
          </a:p>
        </p:txBody>
      </p:sp>
      <p:sp>
        <p:nvSpPr>
          <p:cNvPr id="14" name="Rectangle 13"/>
          <p:cNvSpPr/>
          <p:nvPr/>
        </p:nvSpPr>
        <p:spPr>
          <a:xfrm>
            <a:off x="3312502" y="4039009"/>
            <a:ext cx="1196026" cy="540470"/>
          </a:xfrm>
          <a:prstGeom prst="rect">
            <a:avLst/>
          </a:prstGeom>
          <a:solidFill>
            <a:schemeClr val="accent6">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p:cNvCxnSpPr>
            <a:stCxn id="14" idx="0"/>
          </p:cNvCxnSpPr>
          <p:nvPr/>
        </p:nvCxnSpPr>
        <p:spPr>
          <a:xfrm flipV="1">
            <a:off x="3910515" y="3624435"/>
            <a:ext cx="246079" cy="41457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3647910" y="3167689"/>
            <a:ext cx="966377" cy="461665"/>
          </a:xfrm>
          <a:prstGeom prst="rect">
            <a:avLst/>
          </a:prstGeom>
          <a:solidFill>
            <a:schemeClr val="accent4"/>
          </a:solidFill>
          <a:ln>
            <a:solidFill>
              <a:schemeClr val="tx1"/>
            </a:solidFill>
            <a:prstDash val="dash"/>
          </a:ln>
        </p:spPr>
        <p:txBody>
          <a:bodyPr wrap="square" rtlCol="0">
            <a:spAutoFit/>
          </a:bodyPr>
          <a:lstStyle/>
          <a:p>
            <a:r>
              <a:rPr lang="en-US" sz="2400" dirty="0" smtClean="0"/>
              <a:t>Ticket</a:t>
            </a:r>
            <a:endParaRPr lang="en-US" sz="2400" dirty="0"/>
          </a:p>
        </p:txBody>
      </p:sp>
      <p:sp>
        <p:nvSpPr>
          <p:cNvPr id="17" name="Rectangle 16"/>
          <p:cNvSpPr/>
          <p:nvPr/>
        </p:nvSpPr>
        <p:spPr>
          <a:xfrm>
            <a:off x="1805631" y="3652716"/>
            <a:ext cx="332761" cy="402398"/>
          </a:xfrm>
          <a:prstGeom prst="rect">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p:cNvCxnSpPr>
            <a:stCxn id="17" idx="0"/>
          </p:cNvCxnSpPr>
          <p:nvPr/>
        </p:nvCxnSpPr>
        <p:spPr>
          <a:xfrm flipH="1" flipV="1">
            <a:off x="1136009" y="2807329"/>
            <a:ext cx="836003" cy="84538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266049" y="2214360"/>
            <a:ext cx="2332528" cy="584775"/>
          </a:xfrm>
          <a:prstGeom prst="rect">
            <a:avLst/>
          </a:prstGeom>
          <a:noFill/>
          <a:ln>
            <a:solidFill>
              <a:schemeClr val="tx1"/>
            </a:solidFill>
            <a:prstDash val="dash"/>
          </a:ln>
        </p:spPr>
        <p:txBody>
          <a:bodyPr wrap="square" rtlCol="0">
            <a:spAutoFit/>
          </a:bodyPr>
          <a:lstStyle/>
          <a:p>
            <a:r>
              <a:rPr lang="en-US" sz="1600" dirty="0" smtClean="0">
                <a:solidFill>
                  <a:srgbClr val="0E3755"/>
                </a:solidFill>
              </a:rPr>
              <a:t>Nonce</a:t>
            </a:r>
            <a:r>
              <a:rPr lang="en-US" sz="1600" dirty="0" smtClean="0"/>
              <a:t>: A random number that is used only once</a:t>
            </a:r>
            <a:endParaRPr lang="en-US" sz="1600" dirty="0"/>
          </a:p>
        </p:txBody>
      </p:sp>
      <p:sp>
        <p:nvSpPr>
          <p:cNvPr id="20" name="Rectangle 19"/>
          <p:cNvSpPr/>
          <p:nvPr/>
        </p:nvSpPr>
        <p:spPr>
          <a:xfrm>
            <a:off x="2291897" y="4122091"/>
            <a:ext cx="332761" cy="402398"/>
          </a:xfrm>
          <a:prstGeom prst="rect">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1972618" y="2899095"/>
            <a:ext cx="1252097" cy="584775"/>
          </a:xfrm>
          <a:prstGeom prst="rect">
            <a:avLst/>
          </a:prstGeom>
          <a:noFill/>
          <a:ln>
            <a:solidFill>
              <a:schemeClr val="tx1"/>
            </a:solidFill>
            <a:prstDash val="dash"/>
          </a:ln>
        </p:spPr>
        <p:txBody>
          <a:bodyPr wrap="square" rtlCol="0">
            <a:spAutoFit/>
          </a:bodyPr>
          <a:lstStyle/>
          <a:p>
            <a:r>
              <a:rPr lang="en-US" sz="1600" dirty="0" smtClean="0"/>
              <a:t>Response to </a:t>
            </a:r>
            <a:r>
              <a:rPr lang="en-US" sz="1600" dirty="0" smtClean="0">
                <a:solidFill>
                  <a:srgbClr val="0E3755"/>
                </a:solidFill>
              </a:rPr>
              <a:t>Nonce </a:t>
            </a:r>
            <a:r>
              <a:rPr lang="en-US" sz="1600" dirty="0">
                <a:solidFill>
                  <a:srgbClr val="0E3755"/>
                </a:solidFill>
              </a:rPr>
              <a:t>R</a:t>
            </a:r>
            <a:r>
              <a:rPr lang="en-US" sz="1600" baseline="-25000" dirty="0">
                <a:solidFill>
                  <a:srgbClr val="0E3755"/>
                </a:solidFill>
              </a:rPr>
              <a:t>A1</a:t>
            </a:r>
            <a:r>
              <a:rPr lang="en-US" sz="1600" dirty="0" smtClean="0">
                <a:solidFill>
                  <a:srgbClr val="0E3755"/>
                </a:solidFill>
              </a:rPr>
              <a:t> </a:t>
            </a:r>
            <a:endParaRPr lang="en-US" sz="1600" dirty="0">
              <a:solidFill>
                <a:srgbClr val="0E3755"/>
              </a:solidFill>
            </a:endParaRPr>
          </a:p>
        </p:txBody>
      </p:sp>
      <p:cxnSp>
        <p:nvCxnSpPr>
          <p:cNvPr id="22" name="Straight Arrow Connector 21"/>
          <p:cNvCxnSpPr>
            <a:stCxn id="20" idx="0"/>
            <a:endCxn id="21" idx="2"/>
          </p:cNvCxnSpPr>
          <p:nvPr/>
        </p:nvCxnSpPr>
        <p:spPr>
          <a:xfrm flipV="1">
            <a:off x="2458278" y="3483870"/>
            <a:ext cx="140389" cy="6382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4682058" y="3637890"/>
            <a:ext cx="428134" cy="276999"/>
          </a:xfrm>
          <a:prstGeom prst="rect">
            <a:avLst/>
          </a:prstGeom>
          <a:noFill/>
          <a:ln>
            <a:solidFill>
              <a:schemeClr val="tx1"/>
            </a:solidFill>
          </a:ln>
        </p:spPr>
        <p:txBody>
          <a:bodyPr wrap="square" rtlCol="0">
            <a:spAutoFit/>
          </a:bodyPr>
          <a:lstStyle/>
          <a:p>
            <a:r>
              <a:rPr lang="en-US" sz="1200" dirty="0" smtClean="0"/>
              <a:t>M1</a:t>
            </a:r>
            <a:endParaRPr lang="en-US" sz="1200" dirty="0"/>
          </a:p>
        </p:txBody>
      </p:sp>
      <p:sp>
        <p:nvSpPr>
          <p:cNvPr id="25" name="TextBox 24"/>
          <p:cNvSpPr txBox="1"/>
          <p:nvPr/>
        </p:nvSpPr>
        <p:spPr>
          <a:xfrm>
            <a:off x="884628" y="4015338"/>
            <a:ext cx="428134" cy="276999"/>
          </a:xfrm>
          <a:prstGeom prst="rect">
            <a:avLst/>
          </a:prstGeom>
          <a:noFill/>
          <a:ln>
            <a:solidFill>
              <a:schemeClr val="tx1"/>
            </a:solidFill>
          </a:ln>
        </p:spPr>
        <p:txBody>
          <a:bodyPr wrap="square" rtlCol="0">
            <a:spAutoFit/>
          </a:bodyPr>
          <a:lstStyle/>
          <a:p>
            <a:r>
              <a:rPr lang="en-US" sz="1200" dirty="0" smtClean="0"/>
              <a:t>M2</a:t>
            </a:r>
            <a:endParaRPr lang="en-US" sz="1200" dirty="0"/>
          </a:p>
        </p:txBody>
      </p:sp>
      <p:sp>
        <p:nvSpPr>
          <p:cNvPr id="26" name="TextBox 25"/>
          <p:cNvSpPr txBox="1"/>
          <p:nvPr/>
        </p:nvSpPr>
        <p:spPr>
          <a:xfrm>
            <a:off x="5239811" y="4581425"/>
            <a:ext cx="428134" cy="276999"/>
          </a:xfrm>
          <a:prstGeom prst="rect">
            <a:avLst/>
          </a:prstGeom>
          <a:noFill/>
          <a:ln>
            <a:solidFill>
              <a:schemeClr val="tx1"/>
            </a:solidFill>
          </a:ln>
        </p:spPr>
        <p:txBody>
          <a:bodyPr wrap="square" rtlCol="0">
            <a:spAutoFit/>
          </a:bodyPr>
          <a:lstStyle/>
          <a:p>
            <a:r>
              <a:rPr lang="en-US" sz="1200" dirty="0" smtClean="0"/>
              <a:t>M3</a:t>
            </a:r>
            <a:endParaRPr lang="en-US" sz="1200" dirty="0"/>
          </a:p>
        </p:txBody>
      </p:sp>
      <p:cxnSp>
        <p:nvCxnSpPr>
          <p:cNvPr id="27" name="Straight Arrow Connector 26"/>
          <p:cNvCxnSpPr/>
          <p:nvPr/>
        </p:nvCxnSpPr>
        <p:spPr>
          <a:xfrm flipH="1">
            <a:off x="808428" y="5377615"/>
            <a:ext cx="6401882" cy="0"/>
          </a:xfrm>
          <a:prstGeom prst="straightConnector1">
            <a:avLst/>
          </a:prstGeom>
          <a:ln w="28575">
            <a:solidFill>
              <a:srgbClr val="000000"/>
            </a:solidFill>
            <a:tailEnd type="arrow"/>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1241275" y="5242122"/>
            <a:ext cx="3745583" cy="304800"/>
          </a:xfrm>
          <a:prstGeom prst="rect">
            <a:avLst/>
          </a:prstGeom>
          <a:ln>
            <a:solidFill>
              <a:srgbClr val="0E3755"/>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1600" b="1" dirty="0" smtClean="0"/>
              <a:t>K</a:t>
            </a:r>
            <a:r>
              <a:rPr lang="en-US" sz="1600" b="1" baseline="-25000" dirty="0" smtClean="0"/>
              <a:t>A,B</a:t>
            </a:r>
            <a:r>
              <a:rPr lang="en-US" sz="1600" b="1" dirty="0" smtClean="0"/>
              <a:t>(</a:t>
            </a:r>
            <a:r>
              <a:rPr lang="en-US" sz="1600" b="1" dirty="0" smtClean="0">
                <a:solidFill>
                  <a:srgbClr val="0E3755"/>
                </a:solidFill>
              </a:rPr>
              <a:t>R</a:t>
            </a:r>
            <a:r>
              <a:rPr lang="en-US" sz="1600" b="1" baseline="-25000" dirty="0" smtClean="0">
                <a:solidFill>
                  <a:srgbClr val="0E3755"/>
                </a:solidFill>
              </a:rPr>
              <a:t>A2</a:t>
            </a:r>
            <a:r>
              <a:rPr lang="en-US" sz="1600" b="1" dirty="0" smtClean="0"/>
              <a:t> -1, R</a:t>
            </a:r>
            <a:r>
              <a:rPr lang="en-US" sz="1600" b="1" baseline="-25000" dirty="0" smtClean="0"/>
              <a:t>B</a:t>
            </a:r>
            <a:r>
              <a:rPr lang="en-US" sz="1600" b="1" dirty="0" smtClean="0"/>
              <a:t>)</a:t>
            </a:r>
            <a:endParaRPr lang="en-US" sz="1600" b="1" baseline="-25000" dirty="0"/>
          </a:p>
        </p:txBody>
      </p:sp>
      <p:sp>
        <p:nvSpPr>
          <p:cNvPr id="29" name="TextBox 28"/>
          <p:cNvSpPr txBox="1"/>
          <p:nvPr/>
        </p:nvSpPr>
        <p:spPr>
          <a:xfrm>
            <a:off x="808428" y="5060275"/>
            <a:ext cx="428134" cy="276999"/>
          </a:xfrm>
          <a:prstGeom prst="rect">
            <a:avLst/>
          </a:prstGeom>
          <a:noFill/>
          <a:ln>
            <a:solidFill>
              <a:schemeClr val="tx1"/>
            </a:solidFill>
          </a:ln>
        </p:spPr>
        <p:txBody>
          <a:bodyPr wrap="square" rtlCol="0">
            <a:spAutoFit/>
          </a:bodyPr>
          <a:lstStyle/>
          <a:p>
            <a:r>
              <a:rPr lang="en-US" sz="1200" dirty="0" smtClean="0"/>
              <a:t>M4</a:t>
            </a:r>
            <a:endParaRPr lang="en-US" sz="1200" dirty="0"/>
          </a:p>
        </p:txBody>
      </p:sp>
      <p:cxnSp>
        <p:nvCxnSpPr>
          <p:cNvPr id="30" name="Straight Arrow Connector 29"/>
          <p:cNvCxnSpPr/>
          <p:nvPr/>
        </p:nvCxnSpPr>
        <p:spPr>
          <a:xfrm>
            <a:off x="808428" y="5882122"/>
            <a:ext cx="6417842" cy="0"/>
          </a:xfrm>
          <a:prstGeom prst="straightConnector1">
            <a:avLst/>
          </a:prstGeom>
          <a:ln w="28575">
            <a:solidFill>
              <a:srgbClr val="000000"/>
            </a:solidFill>
            <a:tailEnd type="arrow"/>
          </a:ln>
        </p:spPr>
        <p:style>
          <a:lnRef idx="1">
            <a:schemeClr val="accent1"/>
          </a:lnRef>
          <a:fillRef idx="0">
            <a:schemeClr val="accent1"/>
          </a:fillRef>
          <a:effectRef idx="0">
            <a:schemeClr val="accent1"/>
          </a:effectRef>
          <a:fontRef idx="minor">
            <a:schemeClr val="tx1"/>
          </a:fontRef>
        </p:style>
      </p:cxnSp>
      <p:sp>
        <p:nvSpPr>
          <p:cNvPr id="31" name="Rectangle 30"/>
          <p:cNvSpPr/>
          <p:nvPr/>
        </p:nvSpPr>
        <p:spPr>
          <a:xfrm>
            <a:off x="1584961" y="5740924"/>
            <a:ext cx="3018934" cy="304800"/>
          </a:xfrm>
          <a:prstGeom prst="rect">
            <a:avLst/>
          </a:prstGeom>
          <a:ln>
            <a:solidFill>
              <a:srgbClr val="0E3755"/>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1600" b="1" dirty="0" smtClean="0"/>
              <a:t>K</a:t>
            </a:r>
            <a:r>
              <a:rPr lang="en-US" sz="1600" b="1" baseline="-25000" dirty="0" smtClean="0"/>
              <a:t>A,B</a:t>
            </a:r>
            <a:r>
              <a:rPr lang="en-US" sz="1600" b="1" dirty="0" smtClean="0">
                <a:solidFill>
                  <a:srgbClr val="000000"/>
                </a:solidFill>
              </a:rPr>
              <a:t>(</a:t>
            </a:r>
            <a:r>
              <a:rPr lang="en-US" sz="1600" b="1" dirty="0" smtClean="0">
                <a:solidFill>
                  <a:srgbClr val="0E3755"/>
                </a:solidFill>
              </a:rPr>
              <a:t>R</a:t>
            </a:r>
            <a:r>
              <a:rPr lang="en-US" sz="1600" b="1" baseline="-25000" dirty="0" smtClean="0">
                <a:solidFill>
                  <a:srgbClr val="0E3755"/>
                </a:solidFill>
              </a:rPr>
              <a:t>B</a:t>
            </a:r>
            <a:r>
              <a:rPr lang="en-US" sz="1600" b="1" dirty="0" smtClean="0">
                <a:solidFill>
                  <a:srgbClr val="0000FF"/>
                </a:solidFill>
              </a:rPr>
              <a:t> </a:t>
            </a:r>
            <a:r>
              <a:rPr lang="en-US" sz="1600" b="1" dirty="0" smtClean="0">
                <a:solidFill>
                  <a:srgbClr val="000000"/>
                </a:solidFill>
              </a:rPr>
              <a:t>-1)</a:t>
            </a:r>
            <a:endParaRPr lang="en-US" sz="1600" b="1" baseline="-25000" dirty="0"/>
          </a:p>
        </p:txBody>
      </p:sp>
      <p:sp>
        <p:nvSpPr>
          <p:cNvPr id="32" name="TextBox 31"/>
          <p:cNvSpPr txBox="1"/>
          <p:nvPr/>
        </p:nvSpPr>
        <p:spPr>
          <a:xfrm>
            <a:off x="5237848" y="5602425"/>
            <a:ext cx="428134" cy="276999"/>
          </a:xfrm>
          <a:prstGeom prst="rect">
            <a:avLst/>
          </a:prstGeom>
          <a:noFill/>
          <a:ln>
            <a:solidFill>
              <a:schemeClr val="tx1"/>
            </a:solidFill>
          </a:ln>
        </p:spPr>
        <p:txBody>
          <a:bodyPr wrap="square" rtlCol="0">
            <a:spAutoFit/>
          </a:bodyPr>
          <a:lstStyle/>
          <a:p>
            <a:r>
              <a:rPr lang="en-US" sz="1200" dirty="0" smtClean="0"/>
              <a:t>M5</a:t>
            </a:r>
            <a:endParaRPr lang="en-US" sz="1200" dirty="0"/>
          </a:p>
        </p:txBody>
      </p:sp>
    </p:spTree>
    <p:extLst>
      <p:ext uri="{BB962C8B-B14F-4D97-AF65-F5344CB8AC3E}">
        <p14:creationId xmlns:p14="http://schemas.microsoft.com/office/powerpoint/2010/main" val="2749538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xit" presetSubtype="4" fill="hold" grpId="1" nodeType="clickEffect">
                                  <p:stCondLst>
                                    <p:cond delay="0"/>
                                  </p:stCondLst>
                                  <p:childTnLst>
                                    <p:animEffect transition="out" filter="wipe(down)">
                                      <p:cBhvr>
                                        <p:cTn id="30" dur="500"/>
                                        <p:tgtEl>
                                          <p:spTgt spid="17"/>
                                        </p:tgtEl>
                                      </p:cBhvr>
                                    </p:animEffect>
                                    <p:set>
                                      <p:cBhvr>
                                        <p:cTn id="31" dur="1" fill="hold">
                                          <p:stCondLst>
                                            <p:cond delay="499"/>
                                          </p:stCondLst>
                                        </p:cTn>
                                        <p:tgtEl>
                                          <p:spTgt spid="17"/>
                                        </p:tgtEl>
                                        <p:attrNameLst>
                                          <p:attrName>style.visibility</p:attrName>
                                        </p:attrNameLst>
                                      </p:cBhvr>
                                      <p:to>
                                        <p:strVal val="hidden"/>
                                      </p:to>
                                    </p:set>
                                  </p:childTnLst>
                                </p:cTn>
                              </p:par>
                              <p:par>
                                <p:cTn id="32" presetID="22" presetClass="exit" presetSubtype="4" fill="hold" nodeType="withEffect">
                                  <p:stCondLst>
                                    <p:cond delay="0"/>
                                  </p:stCondLst>
                                  <p:childTnLst>
                                    <p:animEffect transition="out" filter="wipe(down)">
                                      <p:cBhvr>
                                        <p:cTn id="33" dur="500"/>
                                        <p:tgtEl>
                                          <p:spTgt spid="18"/>
                                        </p:tgtEl>
                                      </p:cBhvr>
                                    </p:animEffect>
                                    <p:set>
                                      <p:cBhvr>
                                        <p:cTn id="34" dur="1" fill="hold">
                                          <p:stCondLst>
                                            <p:cond delay="499"/>
                                          </p:stCondLst>
                                        </p:cTn>
                                        <p:tgtEl>
                                          <p:spTgt spid="18"/>
                                        </p:tgtEl>
                                        <p:attrNameLst>
                                          <p:attrName>style.visibility</p:attrName>
                                        </p:attrNameLst>
                                      </p:cBhvr>
                                      <p:to>
                                        <p:strVal val="hidden"/>
                                      </p:to>
                                    </p:set>
                                  </p:childTnLst>
                                </p:cTn>
                              </p:par>
                              <p:par>
                                <p:cTn id="35" presetID="22" presetClass="exit" presetSubtype="4" fill="hold" grpId="1" nodeType="withEffect">
                                  <p:stCondLst>
                                    <p:cond delay="0"/>
                                  </p:stCondLst>
                                  <p:childTnLst>
                                    <p:animEffect transition="out" filter="wipe(down)">
                                      <p:cBhvr>
                                        <p:cTn id="36" dur="500"/>
                                        <p:tgtEl>
                                          <p:spTgt spid="19"/>
                                        </p:tgtEl>
                                      </p:cBhvr>
                                    </p:animEffect>
                                    <p:set>
                                      <p:cBhvr>
                                        <p:cTn id="37" dur="1" fill="hold">
                                          <p:stCondLst>
                                            <p:cond delay="499"/>
                                          </p:stCondLst>
                                        </p:cTn>
                                        <p:tgtEl>
                                          <p:spTgt spid="19"/>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25"/>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9"/>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20"/>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childTnLst>
                                </p:cTn>
                              </p:par>
                              <p:par>
                                <p:cTn id="52" presetID="1" presetClass="entr" presetSubtype="0" fill="hold" nodeType="withEffect">
                                  <p:stCondLst>
                                    <p:cond delay="0"/>
                                  </p:stCondLst>
                                  <p:childTnLst>
                                    <p:set>
                                      <p:cBhvr>
                                        <p:cTn id="53" dur="1" fill="hold">
                                          <p:stCondLst>
                                            <p:cond delay="0"/>
                                          </p:stCondLst>
                                        </p:cTn>
                                        <p:tgtEl>
                                          <p:spTgt spid="22"/>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22" presetClass="exit" presetSubtype="4" fill="hold" grpId="1" nodeType="clickEffect">
                                  <p:stCondLst>
                                    <p:cond delay="0"/>
                                  </p:stCondLst>
                                  <p:childTnLst>
                                    <p:animEffect transition="out" filter="wipe(down)">
                                      <p:cBhvr>
                                        <p:cTn id="57" dur="500"/>
                                        <p:tgtEl>
                                          <p:spTgt spid="20"/>
                                        </p:tgtEl>
                                      </p:cBhvr>
                                    </p:animEffect>
                                    <p:set>
                                      <p:cBhvr>
                                        <p:cTn id="58" dur="1" fill="hold">
                                          <p:stCondLst>
                                            <p:cond delay="499"/>
                                          </p:stCondLst>
                                        </p:cTn>
                                        <p:tgtEl>
                                          <p:spTgt spid="20"/>
                                        </p:tgtEl>
                                        <p:attrNameLst>
                                          <p:attrName>style.visibility</p:attrName>
                                        </p:attrNameLst>
                                      </p:cBhvr>
                                      <p:to>
                                        <p:strVal val="hidden"/>
                                      </p:to>
                                    </p:set>
                                  </p:childTnLst>
                                </p:cTn>
                              </p:par>
                              <p:par>
                                <p:cTn id="59" presetID="22" presetClass="exit" presetSubtype="4" fill="hold" grpId="1" nodeType="withEffect">
                                  <p:stCondLst>
                                    <p:cond delay="0"/>
                                  </p:stCondLst>
                                  <p:childTnLst>
                                    <p:animEffect transition="out" filter="wipe(down)">
                                      <p:cBhvr>
                                        <p:cTn id="60" dur="500"/>
                                        <p:tgtEl>
                                          <p:spTgt spid="21"/>
                                        </p:tgtEl>
                                      </p:cBhvr>
                                    </p:animEffect>
                                    <p:set>
                                      <p:cBhvr>
                                        <p:cTn id="61" dur="1" fill="hold">
                                          <p:stCondLst>
                                            <p:cond delay="499"/>
                                          </p:stCondLst>
                                        </p:cTn>
                                        <p:tgtEl>
                                          <p:spTgt spid="21"/>
                                        </p:tgtEl>
                                        <p:attrNameLst>
                                          <p:attrName>style.visibility</p:attrName>
                                        </p:attrNameLst>
                                      </p:cBhvr>
                                      <p:to>
                                        <p:strVal val="hidden"/>
                                      </p:to>
                                    </p:set>
                                  </p:childTnLst>
                                </p:cTn>
                              </p:par>
                              <p:par>
                                <p:cTn id="62" presetID="22" presetClass="exit" presetSubtype="4" fill="hold" nodeType="withEffect">
                                  <p:stCondLst>
                                    <p:cond delay="0"/>
                                  </p:stCondLst>
                                  <p:childTnLst>
                                    <p:animEffect transition="out" filter="wipe(down)">
                                      <p:cBhvr>
                                        <p:cTn id="63" dur="500"/>
                                        <p:tgtEl>
                                          <p:spTgt spid="22"/>
                                        </p:tgtEl>
                                      </p:cBhvr>
                                    </p:animEffect>
                                    <p:set>
                                      <p:cBhvr>
                                        <p:cTn id="64" dur="1" fill="hold">
                                          <p:stCondLst>
                                            <p:cond delay="499"/>
                                          </p:stCondLst>
                                        </p:cTn>
                                        <p:tgtEl>
                                          <p:spTgt spid="22"/>
                                        </p:tgtEl>
                                        <p:attrNameLst>
                                          <p:attrName>style.visibility</p:attrName>
                                        </p:attrNameLst>
                                      </p:cBhvr>
                                      <p:to>
                                        <p:strVal val="hidden"/>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4"/>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15"/>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6"/>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22" presetClass="exit" presetSubtype="4" fill="hold" grpId="1" nodeType="clickEffect">
                                  <p:stCondLst>
                                    <p:cond delay="0"/>
                                  </p:stCondLst>
                                  <p:childTnLst>
                                    <p:animEffect transition="out" filter="wipe(down)">
                                      <p:cBhvr>
                                        <p:cTn id="76" dur="500"/>
                                        <p:tgtEl>
                                          <p:spTgt spid="14"/>
                                        </p:tgtEl>
                                      </p:cBhvr>
                                    </p:animEffect>
                                    <p:set>
                                      <p:cBhvr>
                                        <p:cTn id="77" dur="1" fill="hold">
                                          <p:stCondLst>
                                            <p:cond delay="499"/>
                                          </p:stCondLst>
                                        </p:cTn>
                                        <p:tgtEl>
                                          <p:spTgt spid="14"/>
                                        </p:tgtEl>
                                        <p:attrNameLst>
                                          <p:attrName>style.visibility</p:attrName>
                                        </p:attrNameLst>
                                      </p:cBhvr>
                                      <p:to>
                                        <p:strVal val="hidden"/>
                                      </p:to>
                                    </p:set>
                                  </p:childTnLst>
                                </p:cTn>
                              </p:par>
                              <p:par>
                                <p:cTn id="78" presetID="22" presetClass="exit" presetSubtype="4" fill="hold" nodeType="withEffect">
                                  <p:stCondLst>
                                    <p:cond delay="0"/>
                                  </p:stCondLst>
                                  <p:childTnLst>
                                    <p:animEffect transition="out" filter="wipe(down)">
                                      <p:cBhvr>
                                        <p:cTn id="79" dur="500"/>
                                        <p:tgtEl>
                                          <p:spTgt spid="15"/>
                                        </p:tgtEl>
                                      </p:cBhvr>
                                    </p:animEffect>
                                    <p:set>
                                      <p:cBhvr>
                                        <p:cTn id="80" dur="1" fill="hold">
                                          <p:stCondLst>
                                            <p:cond delay="499"/>
                                          </p:stCondLst>
                                        </p:cTn>
                                        <p:tgtEl>
                                          <p:spTgt spid="15"/>
                                        </p:tgtEl>
                                        <p:attrNameLst>
                                          <p:attrName>style.visibility</p:attrName>
                                        </p:attrNameLst>
                                      </p:cBhvr>
                                      <p:to>
                                        <p:strVal val="hidden"/>
                                      </p:to>
                                    </p:set>
                                  </p:childTnLst>
                                </p:cTn>
                              </p:par>
                              <p:par>
                                <p:cTn id="81" presetID="22" presetClass="exit" presetSubtype="4" fill="hold" grpId="1" nodeType="withEffect">
                                  <p:stCondLst>
                                    <p:cond delay="0"/>
                                  </p:stCondLst>
                                  <p:childTnLst>
                                    <p:animEffect transition="out" filter="wipe(down)">
                                      <p:cBhvr>
                                        <p:cTn id="82" dur="500"/>
                                        <p:tgtEl>
                                          <p:spTgt spid="16"/>
                                        </p:tgtEl>
                                      </p:cBhvr>
                                    </p:animEffect>
                                    <p:set>
                                      <p:cBhvr>
                                        <p:cTn id="83" dur="1" fill="hold">
                                          <p:stCondLst>
                                            <p:cond delay="499"/>
                                          </p:stCondLst>
                                        </p:cTn>
                                        <p:tgtEl>
                                          <p:spTgt spid="16"/>
                                        </p:tgtEl>
                                        <p:attrNameLst>
                                          <p:attrName>style.visibility</p:attrName>
                                        </p:attrNameLst>
                                      </p:cBhvr>
                                      <p:to>
                                        <p:strVal val="hidden"/>
                                      </p:to>
                                    </p:se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26"/>
                                        </p:tgtEl>
                                        <p:attrNameLst>
                                          <p:attrName>style.visibility</p:attrName>
                                        </p:attrNameLst>
                                      </p:cBhvr>
                                      <p:to>
                                        <p:strVal val="visible"/>
                                      </p:to>
                                    </p:set>
                                  </p:childTnLst>
                                </p:cTn>
                              </p:par>
                              <p:par>
                                <p:cTn id="88" presetID="1" presetClass="entr" presetSubtype="0" fill="hold" grpId="0" nodeType="withEffect">
                                  <p:stCondLst>
                                    <p:cond delay="0"/>
                                  </p:stCondLst>
                                  <p:childTnLst>
                                    <p:set>
                                      <p:cBhvr>
                                        <p:cTn id="89" dur="1" fill="hold">
                                          <p:stCondLst>
                                            <p:cond delay="0"/>
                                          </p:stCondLst>
                                        </p:cTn>
                                        <p:tgtEl>
                                          <p:spTgt spid="12"/>
                                        </p:tgtEl>
                                        <p:attrNameLst>
                                          <p:attrName>style.visibility</p:attrName>
                                        </p:attrNameLst>
                                      </p:cBhvr>
                                      <p:to>
                                        <p:strVal val="visible"/>
                                      </p:to>
                                    </p:set>
                                  </p:childTnLst>
                                </p:cTn>
                              </p:par>
                              <p:par>
                                <p:cTn id="90" presetID="1" presetClass="entr" presetSubtype="0" fill="hold" nodeType="withEffect">
                                  <p:stCondLst>
                                    <p:cond delay="0"/>
                                  </p:stCondLst>
                                  <p:childTnLst>
                                    <p:set>
                                      <p:cBhvr>
                                        <p:cTn id="91" dur="1" fill="hold">
                                          <p:stCondLst>
                                            <p:cond delay="0"/>
                                          </p:stCondLst>
                                        </p:cTn>
                                        <p:tgtEl>
                                          <p:spTgt spid="11"/>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grpId="0" nodeType="clickEffect">
                                  <p:stCondLst>
                                    <p:cond delay="0"/>
                                  </p:stCondLst>
                                  <p:childTnLst>
                                    <p:set>
                                      <p:cBhvr>
                                        <p:cTn id="95" dur="1" fill="hold">
                                          <p:stCondLst>
                                            <p:cond delay="0"/>
                                          </p:stCondLst>
                                        </p:cTn>
                                        <p:tgtEl>
                                          <p:spTgt spid="28"/>
                                        </p:tgtEl>
                                        <p:attrNameLst>
                                          <p:attrName>style.visibility</p:attrName>
                                        </p:attrNameLst>
                                      </p:cBhvr>
                                      <p:to>
                                        <p:strVal val="visible"/>
                                      </p:to>
                                    </p:set>
                                  </p:childTnLst>
                                </p:cTn>
                              </p:par>
                              <p:par>
                                <p:cTn id="96" presetID="1" presetClass="entr" presetSubtype="0" fill="hold" grpId="0" nodeType="withEffect">
                                  <p:stCondLst>
                                    <p:cond delay="0"/>
                                  </p:stCondLst>
                                  <p:childTnLst>
                                    <p:set>
                                      <p:cBhvr>
                                        <p:cTn id="97" dur="1" fill="hold">
                                          <p:stCondLst>
                                            <p:cond delay="0"/>
                                          </p:stCondLst>
                                        </p:cTn>
                                        <p:tgtEl>
                                          <p:spTgt spid="29"/>
                                        </p:tgtEl>
                                        <p:attrNameLst>
                                          <p:attrName>style.visibility</p:attrName>
                                        </p:attrNameLst>
                                      </p:cBhvr>
                                      <p:to>
                                        <p:strVal val="visible"/>
                                      </p:to>
                                    </p:set>
                                  </p:childTnLst>
                                </p:cTn>
                              </p:par>
                              <p:par>
                                <p:cTn id="98" presetID="1" presetClass="entr" presetSubtype="0" fill="hold" nodeType="withEffect">
                                  <p:stCondLst>
                                    <p:cond delay="0"/>
                                  </p:stCondLst>
                                  <p:childTnLst>
                                    <p:set>
                                      <p:cBhvr>
                                        <p:cTn id="99" dur="1" fill="hold">
                                          <p:stCondLst>
                                            <p:cond delay="0"/>
                                          </p:stCondLst>
                                        </p:cTn>
                                        <p:tgtEl>
                                          <p:spTgt spid="27"/>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grpId="0" nodeType="clickEffect">
                                  <p:stCondLst>
                                    <p:cond delay="0"/>
                                  </p:stCondLst>
                                  <p:childTnLst>
                                    <p:set>
                                      <p:cBhvr>
                                        <p:cTn id="103" dur="1" fill="hold">
                                          <p:stCondLst>
                                            <p:cond delay="0"/>
                                          </p:stCondLst>
                                        </p:cTn>
                                        <p:tgtEl>
                                          <p:spTgt spid="32"/>
                                        </p:tgtEl>
                                        <p:attrNameLst>
                                          <p:attrName>style.visibility</p:attrName>
                                        </p:attrNameLst>
                                      </p:cBhvr>
                                      <p:to>
                                        <p:strVal val="visible"/>
                                      </p:to>
                                    </p:set>
                                  </p:childTnLst>
                                </p:cTn>
                              </p:par>
                              <p:par>
                                <p:cTn id="104" presetID="1" presetClass="entr" presetSubtype="0" fill="hold" grpId="0" nodeType="withEffect">
                                  <p:stCondLst>
                                    <p:cond delay="0"/>
                                  </p:stCondLst>
                                  <p:childTnLst>
                                    <p:set>
                                      <p:cBhvr>
                                        <p:cTn id="105" dur="1" fill="hold">
                                          <p:stCondLst>
                                            <p:cond delay="0"/>
                                          </p:stCondLst>
                                        </p:cTn>
                                        <p:tgtEl>
                                          <p:spTgt spid="31"/>
                                        </p:tgtEl>
                                        <p:attrNameLst>
                                          <p:attrName>style.visibility</p:attrName>
                                        </p:attrNameLst>
                                      </p:cBhvr>
                                      <p:to>
                                        <p:strVal val="visible"/>
                                      </p:to>
                                    </p:set>
                                  </p:childTnLst>
                                </p:cTn>
                              </p:par>
                              <p:par>
                                <p:cTn id="106" presetID="1" presetClass="entr" presetSubtype="0" fill="hold" nodeType="withEffect">
                                  <p:stCondLst>
                                    <p:cond delay="0"/>
                                  </p:stCondLst>
                                  <p:childTnLst>
                                    <p:set>
                                      <p:cBhvr>
                                        <p:cTn id="107"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10" grpId="0" animBg="1"/>
      <p:bldP spid="12" grpId="0" animBg="1"/>
      <p:bldP spid="13" grpId="0" animBg="1"/>
      <p:bldP spid="14" grpId="0" animBg="1"/>
      <p:bldP spid="14" grpId="1" animBg="1"/>
      <p:bldP spid="16" grpId="0" animBg="1"/>
      <p:bldP spid="16" grpId="1" animBg="1"/>
      <p:bldP spid="17" grpId="0" animBg="1"/>
      <p:bldP spid="17" grpId="1" animBg="1"/>
      <p:bldP spid="19" grpId="0" animBg="1"/>
      <p:bldP spid="19" grpId="1" animBg="1"/>
      <p:bldP spid="20" grpId="0" animBg="1"/>
      <p:bldP spid="20" grpId="1" animBg="1"/>
      <p:bldP spid="21" grpId="0" animBg="1"/>
      <p:bldP spid="21" grpId="1" animBg="1"/>
      <p:bldP spid="23" grpId="0" animBg="1"/>
      <p:bldP spid="25" grpId="0" animBg="1"/>
      <p:bldP spid="26" grpId="0" animBg="1"/>
      <p:bldP spid="28" grpId="0" animBg="1"/>
      <p:bldP spid="29" grpId="0" animBg="1"/>
      <p:bldP spid="31" grpId="0" animBg="1"/>
      <p:bldP spid="32"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Authentication Using Public-Key Cryptography</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dirty="0"/>
              <a:t>Mutual authentication in a public-key cryptosystem.</a:t>
            </a:r>
          </a:p>
          <a:p>
            <a:r>
              <a:rPr lang="en-US" dirty="0"/>
              <a:t>Note that the KDC is </a:t>
            </a:r>
            <a:r>
              <a:rPr lang="en-US" dirty="0" smtClean="0"/>
              <a:t>missing</a:t>
            </a:r>
            <a:endParaRPr lang="en-US" dirty="0"/>
          </a:p>
          <a:p>
            <a:r>
              <a:rPr lang="en-US" dirty="0"/>
              <a:t>But, this assumes that some mechanism exists to </a:t>
            </a:r>
            <a:r>
              <a:rPr lang="en-US" dirty="0" smtClean="0"/>
              <a:t>verify everyone’s </a:t>
            </a:r>
            <a:r>
              <a:rPr lang="en-US" dirty="0"/>
              <a:t>public key.</a:t>
            </a:r>
            <a:endParaRPr lang="en-US" dirty="0" smtClean="0"/>
          </a:p>
          <a:p>
            <a:r>
              <a:rPr lang="en-US" dirty="0" smtClean="0"/>
              <a:t>Recall</a:t>
            </a:r>
            <a:r>
              <a:rPr lang="en-US" dirty="0"/>
              <a:t>:</a:t>
            </a:r>
          </a:p>
          <a:p>
            <a:pPr lvl="1"/>
            <a:r>
              <a:rPr lang="en-US" sz="2400" dirty="0"/>
              <a:t>K</a:t>
            </a:r>
            <a:r>
              <a:rPr lang="en-US" sz="2400" baseline="50000" dirty="0"/>
              <a:t>+</a:t>
            </a:r>
            <a:r>
              <a:rPr lang="en-US" sz="2400" baseline="-25000" dirty="0"/>
              <a:t>N</a:t>
            </a:r>
            <a:r>
              <a:rPr lang="en-US" sz="2400" dirty="0"/>
              <a:t>: Public key of user N</a:t>
            </a:r>
          </a:p>
          <a:p>
            <a:pPr lvl="1"/>
            <a:r>
              <a:rPr lang="en-US" sz="2400" dirty="0"/>
              <a:t>K</a:t>
            </a:r>
            <a:r>
              <a:rPr lang="en-US" sz="2400" baseline="50000" dirty="0"/>
              <a:t>-</a:t>
            </a:r>
            <a:r>
              <a:rPr lang="en-US" sz="2400" baseline="-25000" dirty="0"/>
              <a:t>N</a:t>
            </a:r>
            <a:r>
              <a:rPr lang="en-US" sz="2400" dirty="0"/>
              <a:t>: Private key of user N</a:t>
            </a:r>
          </a:p>
        </p:txBody>
      </p:sp>
      <p:sp>
        <p:nvSpPr>
          <p:cNvPr id="4" name="Rectangle 3"/>
          <p:cNvSpPr/>
          <p:nvPr/>
        </p:nvSpPr>
        <p:spPr>
          <a:xfrm>
            <a:off x="3103960" y="4176584"/>
            <a:ext cx="457200" cy="1650476"/>
          </a:xfrm>
          <a:prstGeom prst="rect">
            <a:avLst/>
          </a:prstGeom>
        </p:spPr>
        <p:style>
          <a:lnRef idx="0">
            <a:schemeClr val="accent6"/>
          </a:lnRef>
          <a:fillRef idx="3">
            <a:schemeClr val="accent6"/>
          </a:fillRef>
          <a:effectRef idx="3">
            <a:schemeClr val="accent6"/>
          </a:effectRef>
          <a:fontRef idx="minor">
            <a:schemeClr val="lt1"/>
          </a:fontRef>
        </p:style>
        <p:txBody>
          <a:bodyPr vert="vert270" rtlCol="0" anchor="ctr"/>
          <a:lstStyle/>
          <a:p>
            <a:pPr algn="ctr"/>
            <a:r>
              <a:rPr lang="en-US" sz="2400" dirty="0" smtClean="0"/>
              <a:t>Alice</a:t>
            </a:r>
            <a:endParaRPr lang="en-US" sz="2400" dirty="0"/>
          </a:p>
        </p:txBody>
      </p:sp>
      <p:cxnSp>
        <p:nvCxnSpPr>
          <p:cNvPr id="5" name="Straight Arrow Connector 4"/>
          <p:cNvCxnSpPr/>
          <p:nvPr/>
        </p:nvCxnSpPr>
        <p:spPr>
          <a:xfrm>
            <a:off x="3561160" y="4455460"/>
            <a:ext cx="4247096" cy="0"/>
          </a:xfrm>
          <a:prstGeom prst="straightConnector1">
            <a:avLst/>
          </a:prstGeom>
          <a:ln w="28575">
            <a:solidFill>
              <a:srgbClr val="000000"/>
            </a:solidFill>
            <a:tailEnd type="arrow"/>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5144757" y="4303060"/>
            <a:ext cx="1212880" cy="422726"/>
          </a:xfrm>
          <a:prstGeom prst="rect">
            <a:avLst/>
          </a:prstGeom>
          <a:ln>
            <a:solidFill>
              <a:srgbClr val="0E3755"/>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2000" b="1" dirty="0" smtClean="0"/>
              <a:t>K</a:t>
            </a:r>
            <a:r>
              <a:rPr lang="en-US" sz="2000" b="1" baseline="50000" dirty="0" smtClean="0"/>
              <a:t>+</a:t>
            </a:r>
            <a:r>
              <a:rPr lang="en-US" sz="2000" b="1" baseline="-25000" dirty="0" smtClean="0"/>
              <a:t>B</a:t>
            </a:r>
            <a:r>
              <a:rPr lang="en-US" sz="2000" b="1" dirty="0" smtClean="0"/>
              <a:t>(A, R</a:t>
            </a:r>
            <a:r>
              <a:rPr lang="en-US" sz="2000" b="1" baseline="-25000" dirty="0" smtClean="0"/>
              <a:t>A</a:t>
            </a:r>
            <a:r>
              <a:rPr lang="en-US" sz="2000" b="1" dirty="0" smtClean="0"/>
              <a:t>)</a:t>
            </a:r>
            <a:endParaRPr lang="en-US" sz="2000" b="1" baseline="-25000" dirty="0"/>
          </a:p>
        </p:txBody>
      </p:sp>
      <p:cxnSp>
        <p:nvCxnSpPr>
          <p:cNvPr id="7" name="Straight Arrow Connector 6"/>
          <p:cNvCxnSpPr>
            <a:stCxn id="11" idx="1"/>
          </p:cNvCxnSpPr>
          <p:nvPr/>
        </p:nvCxnSpPr>
        <p:spPr>
          <a:xfrm flipH="1">
            <a:off x="3561160" y="5010173"/>
            <a:ext cx="4247096" cy="7057"/>
          </a:xfrm>
          <a:prstGeom prst="straightConnector1">
            <a:avLst/>
          </a:prstGeom>
          <a:ln w="28575">
            <a:solidFill>
              <a:srgbClr val="000000"/>
            </a:solidFill>
            <a:tailEnd type="arrow"/>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4800600" y="4878185"/>
            <a:ext cx="1797421" cy="422726"/>
          </a:xfrm>
          <a:prstGeom prst="rect">
            <a:avLst/>
          </a:prstGeom>
          <a:ln>
            <a:solidFill>
              <a:srgbClr val="0E3755"/>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2000" b="1" dirty="0" smtClean="0"/>
              <a:t>K</a:t>
            </a:r>
            <a:r>
              <a:rPr lang="en-US" sz="2000" b="1" baseline="50000" dirty="0" smtClean="0"/>
              <a:t>+</a:t>
            </a:r>
            <a:r>
              <a:rPr lang="en-US" sz="2000" b="1" baseline="-25000" dirty="0" smtClean="0"/>
              <a:t>A</a:t>
            </a:r>
            <a:r>
              <a:rPr lang="en-US" sz="2000" b="1" dirty="0" smtClean="0"/>
              <a:t>(R</a:t>
            </a:r>
            <a:r>
              <a:rPr lang="en-US" sz="2000" b="1" baseline="-25000" dirty="0" smtClean="0"/>
              <a:t>A</a:t>
            </a:r>
            <a:r>
              <a:rPr lang="en-US" sz="2000" b="1" dirty="0" smtClean="0"/>
              <a:t>, R</a:t>
            </a:r>
            <a:r>
              <a:rPr lang="en-US" sz="2000" b="1" baseline="-25000" dirty="0" smtClean="0"/>
              <a:t>B, </a:t>
            </a:r>
            <a:r>
              <a:rPr lang="en-US" sz="2000" b="1" dirty="0" smtClean="0"/>
              <a:t>K</a:t>
            </a:r>
            <a:r>
              <a:rPr lang="en-US" sz="2000" b="1" baseline="-25000" dirty="0" smtClean="0"/>
              <a:t>A,B</a:t>
            </a:r>
            <a:r>
              <a:rPr lang="en-US" sz="2000" b="1" dirty="0"/>
              <a:t> )</a:t>
            </a:r>
            <a:endParaRPr lang="en-US" sz="2000" b="1" baseline="-25000" dirty="0"/>
          </a:p>
        </p:txBody>
      </p:sp>
      <p:cxnSp>
        <p:nvCxnSpPr>
          <p:cNvPr id="9" name="Straight Arrow Connector 8"/>
          <p:cNvCxnSpPr/>
          <p:nvPr/>
        </p:nvCxnSpPr>
        <p:spPr>
          <a:xfrm>
            <a:off x="3561160" y="5563985"/>
            <a:ext cx="4247096" cy="0"/>
          </a:xfrm>
          <a:prstGeom prst="straightConnector1">
            <a:avLst/>
          </a:prstGeom>
          <a:ln w="28575">
            <a:solidFill>
              <a:srgbClr val="000000"/>
            </a:solidFill>
            <a:tailEnd type="arrow"/>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5308159" y="5411585"/>
            <a:ext cx="1049478" cy="422726"/>
          </a:xfrm>
          <a:prstGeom prst="rect">
            <a:avLst/>
          </a:prstGeom>
          <a:ln>
            <a:solidFill>
              <a:srgbClr val="0E3755"/>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2000" b="1" dirty="0" smtClean="0"/>
              <a:t>K</a:t>
            </a:r>
            <a:r>
              <a:rPr lang="en-US" sz="2000" b="1" baseline="-25000" dirty="0" smtClean="0"/>
              <a:t>A,B</a:t>
            </a:r>
            <a:r>
              <a:rPr lang="en-US" sz="2000" b="1" dirty="0" smtClean="0"/>
              <a:t> (R</a:t>
            </a:r>
            <a:r>
              <a:rPr lang="en-US" sz="2000" b="1" baseline="-25000" dirty="0" smtClean="0"/>
              <a:t>B</a:t>
            </a:r>
            <a:r>
              <a:rPr lang="en-US" sz="2000" b="1" dirty="0" smtClean="0"/>
              <a:t>)</a:t>
            </a:r>
            <a:endParaRPr lang="en-US" sz="2000" b="1" baseline="-25000" dirty="0"/>
          </a:p>
        </p:txBody>
      </p:sp>
      <p:sp>
        <p:nvSpPr>
          <p:cNvPr id="11" name="Rectangle 10"/>
          <p:cNvSpPr/>
          <p:nvPr/>
        </p:nvSpPr>
        <p:spPr>
          <a:xfrm>
            <a:off x="7808256" y="4193286"/>
            <a:ext cx="457200" cy="1633774"/>
          </a:xfrm>
          <a:prstGeom prst="rect">
            <a:avLst/>
          </a:prstGeom>
        </p:spPr>
        <p:style>
          <a:lnRef idx="0">
            <a:schemeClr val="accent6"/>
          </a:lnRef>
          <a:fillRef idx="3">
            <a:schemeClr val="accent6"/>
          </a:fillRef>
          <a:effectRef idx="3">
            <a:schemeClr val="accent6"/>
          </a:effectRef>
          <a:fontRef idx="minor">
            <a:schemeClr val="lt1"/>
          </a:fontRef>
        </p:style>
        <p:txBody>
          <a:bodyPr vert="vert270" rtlCol="0" anchor="ctr"/>
          <a:lstStyle/>
          <a:p>
            <a:pPr algn="ctr"/>
            <a:r>
              <a:rPr lang="en-US" sz="2400" dirty="0" smtClean="0"/>
              <a:t>Bob</a:t>
            </a:r>
            <a:endParaRPr lang="en-US" sz="2400" dirty="0"/>
          </a:p>
        </p:txBody>
      </p:sp>
    </p:spTree>
    <p:extLst>
      <p:ext uri="{BB962C8B-B14F-4D97-AF65-F5344CB8AC3E}">
        <p14:creationId xmlns:p14="http://schemas.microsoft.com/office/powerpoint/2010/main" val="3004325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P spid="10" grpId="0" animBg="1"/>
      <p:bldP spid="11"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Session Keys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dirty="0"/>
              <a:t>During the establishment of a secure channel, after </a:t>
            </a:r>
            <a:r>
              <a:rPr lang="en-US" dirty="0" smtClean="0"/>
              <a:t>the authentication </a:t>
            </a:r>
            <a:r>
              <a:rPr lang="en-US" dirty="0"/>
              <a:t>phase has completed, the communicating </a:t>
            </a:r>
            <a:r>
              <a:rPr lang="en-US" dirty="0" smtClean="0"/>
              <a:t>parties generally </a:t>
            </a:r>
            <a:r>
              <a:rPr lang="en-US" dirty="0"/>
              <a:t>use a unique shared session key for confidentiality.</a:t>
            </a:r>
          </a:p>
          <a:p>
            <a:r>
              <a:rPr lang="en-US" dirty="0" smtClean="0"/>
              <a:t>The </a:t>
            </a:r>
            <a:r>
              <a:rPr lang="en-US" dirty="0"/>
              <a:t>session key is safely discarded when the channel is </a:t>
            </a:r>
            <a:r>
              <a:rPr lang="en-US" dirty="0" smtClean="0"/>
              <a:t>no longer </a:t>
            </a:r>
            <a:r>
              <a:rPr lang="en-US" dirty="0"/>
              <a:t>used.</a:t>
            </a:r>
          </a:p>
          <a:p>
            <a:r>
              <a:rPr lang="en-US" dirty="0" smtClean="0"/>
              <a:t>Why </a:t>
            </a:r>
            <a:r>
              <a:rPr lang="en-US" dirty="0"/>
              <a:t>not using the same keys for confidentiality as those </a:t>
            </a:r>
            <a:r>
              <a:rPr lang="en-US" dirty="0" smtClean="0"/>
              <a:t>that are </a:t>
            </a:r>
            <a:r>
              <a:rPr lang="en-US" dirty="0"/>
              <a:t>used for setting up the secure channel?</a:t>
            </a:r>
          </a:p>
          <a:p>
            <a:pPr lvl="1">
              <a:buFont typeface="Wingdings" panose="05000000000000000000" pitchFamily="2" charset="2"/>
              <a:buChar char="§"/>
            </a:pPr>
            <a:r>
              <a:rPr lang="en-US" sz="2400" dirty="0"/>
              <a:t>Cryptographic keys are subject to “wear and tear” just like ordinary keys.</a:t>
            </a:r>
          </a:p>
          <a:p>
            <a:pPr lvl="1">
              <a:buFont typeface="Wingdings" panose="05000000000000000000" pitchFamily="2" charset="2"/>
              <a:buChar char="§"/>
            </a:pPr>
            <a:r>
              <a:rPr lang="en-US" sz="2400" dirty="0"/>
              <a:t>Protection against replay attacks</a:t>
            </a:r>
          </a:p>
          <a:p>
            <a:pPr lvl="1">
              <a:buFont typeface="Wingdings" panose="05000000000000000000" pitchFamily="2" charset="2"/>
              <a:buChar char="§"/>
            </a:pPr>
            <a:r>
              <a:rPr lang="en-US" sz="2400" dirty="0"/>
              <a:t>If a key is compromised, only a single session is affected</a:t>
            </a:r>
          </a:p>
        </p:txBody>
      </p:sp>
    </p:spTree>
    <p:extLst>
      <p:ext uri="{BB962C8B-B14F-4D97-AF65-F5344CB8AC3E}">
        <p14:creationId xmlns:p14="http://schemas.microsoft.com/office/powerpoint/2010/main" val="2012508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normAutofit/>
          </a:bodyPr>
          <a:lstStyle/>
          <a:p>
            <a:r>
              <a:rPr lang="en-US" dirty="0"/>
              <a:t>Message Integrity and Confidentiality</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dirty="0"/>
              <a:t>Encryption is used for providing Confidentiality</a:t>
            </a:r>
          </a:p>
          <a:p>
            <a:r>
              <a:rPr lang="en-US" dirty="0"/>
              <a:t>But, how to provide Message Integrity?</a:t>
            </a:r>
          </a:p>
          <a:p>
            <a:pPr lvl="1">
              <a:buFont typeface="Wingdings" panose="05000000000000000000" pitchFamily="2" charset="2"/>
              <a:buChar char="§"/>
            </a:pPr>
            <a:r>
              <a:rPr lang="en-US" sz="2400" dirty="0"/>
              <a:t>Encryption protects message modification by third party adversaries</a:t>
            </a:r>
          </a:p>
          <a:p>
            <a:pPr lvl="1">
              <a:buFont typeface="Wingdings" panose="05000000000000000000" pitchFamily="2" charset="2"/>
              <a:buChar char="§"/>
            </a:pPr>
            <a:r>
              <a:rPr lang="en-US" sz="2400" dirty="0"/>
              <a:t>How to protect modification at senders or receivers?</a:t>
            </a:r>
          </a:p>
        </p:txBody>
      </p:sp>
      <p:sp>
        <p:nvSpPr>
          <p:cNvPr id="34" name="Rectangle 33"/>
          <p:cNvSpPr/>
          <p:nvPr/>
        </p:nvSpPr>
        <p:spPr>
          <a:xfrm>
            <a:off x="1896035" y="5196308"/>
            <a:ext cx="1532965" cy="774185"/>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smtClean="0"/>
              <a:t>Alice</a:t>
            </a:r>
            <a:endParaRPr lang="en-US" sz="2400" b="1" dirty="0"/>
          </a:p>
        </p:txBody>
      </p:sp>
      <p:sp>
        <p:nvSpPr>
          <p:cNvPr id="35" name="Rectangle 34"/>
          <p:cNvSpPr/>
          <p:nvPr/>
        </p:nvSpPr>
        <p:spPr>
          <a:xfrm>
            <a:off x="8323722" y="5196307"/>
            <a:ext cx="1250583" cy="774185"/>
          </a:xfrm>
          <a:prstGeom prst="rect">
            <a:avLst/>
          </a:prstGeom>
          <a:solidFill>
            <a:srgbClr val="00B050"/>
          </a:solidFill>
          <a:ln>
            <a:solidFill>
              <a:srgbClr val="00B050"/>
            </a:solidFill>
          </a:ln>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smtClean="0"/>
              <a:t>Bob</a:t>
            </a:r>
            <a:endParaRPr lang="en-US" sz="2400" b="1" dirty="0"/>
          </a:p>
        </p:txBody>
      </p:sp>
      <p:pic>
        <p:nvPicPr>
          <p:cNvPr id="36" name="Picture 2" descr="C:\Users\vkolar\AppData\Local\Microsoft\Windows\Temporary Internet Files\Content.IE5\HRUY4RJ7\MC900432411[1].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02141" y="4022974"/>
            <a:ext cx="710717" cy="1091390"/>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3" descr="C:\Users\vkolar\AppData\Local\Microsoft\Windows\Temporary Internet Files\Content.IE5\HNBM0I5K\MC900360792[1].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72948" y="4022974"/>
            <a:ext cx="844550" cy="1091390"/>
          </a:xfrm>
          <a:prstGeom prst="rect">
            <a:avLst/>
          </a:prstGeom>
          <a:noFill/>
          <a:extLst>
            <a:ext uri="{909E8E84-426E-40DD-AFC4-6F175D3DCCD1}">
              <a14:hiddenFill xmlns:a14="http://schemas.microsoft.com/office/drawing/2010/main">
                <a:solidFill>
                  <a:srgbClr val="FFFFFF"/>
                </a:solidFill>
              </a14:hiddenFill>
            </a:ext>
          </a:extLst>
        </p:spPr>
      </p:pic>
      <p:cxnSp>
        <p:nvCxnSpPr>
          <p:cNvPr id="38" name="Straight Arrow Connector 37"/>
          <p:cNvCxnSpPr/>
          <p:nvPr/>
        </p:nvCxnSpPr>
        <p:spPr>
          <a:xfrm>
            <a:off x="3429000" y="5457600"/>
            <a:ext cx="4894723" cy="0"/>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9" name="Rectangle 38"/>
          <p:cNvSpPr/>
          <p:nvPr/>
        </p:nvSpPr>
        <p:spPr>
          <a:xfrm>
            <a:off x="4282267" y="4858116"/>
            <a:ext cx="3217537" cy="434302"/>
          </a:xfrm>
          <a:prstGeom prst="rect">
            <a:avLst/>
          </a:prstGeom>
          <a:solidFill>
            <a:srgbClr val="0E3755"/>
          </a:solidFill>
          <a:ln w="9525">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smtClean="0">
                <a:solidFill>
                  <a:schemeClr val="bg1"/>
                </a:solidFill>
              </a:rPr>
              <a:t>I will buy your horse for $200</a:t>
            </a:r>
            <a:endParaRPr lang="en-US" sz="2000" dirty="0">
              <a:solidFill>
                <a:schemeClr val="bg1"/>
              </a:solidFill>
            </a:endParaRPr>
          </a:p>
        </p:txBody>
      </p:sp>
      <p:cxnSp>
        <p:nvCxnSpPr>
          <p:cNvPr id="40" name="Straight Arrow Connector 39"/>
          <p:cNvCxnSpPr/>
          <p:nvPr/>
        </p:nvCxnSpPr>
        <p:spPr>
          <a:xfrm flipH="1">
            <a:off x="3429000" y="5747048"/>
            <a:ext cx="4894723" cy="0"/>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Rectangle 40"/>
          <p:cNvSpPr/>
          <p:nvPr/>
        </p:nvSpPr>
        <p:spPr>
          <a:xfrm>
            <a:off x="4527489" y="5982708"/>
            <a:ext cx="2545663" cy="363824"/>
          </a:xfrm>
          <a:prstGeom prst="rect">
            <a:avLst/>
          </a:prstGeom>
          <a:solidFill>
            <a:schemeClr val="tx1"/>
          </a:solidFill>
          <a:ln w="952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smtClean="0">
                <a:solidFill>
                  <a:schemeClr val="bg1"/>
                </a:solidFill>
              </a:rPr>
              <a:t>OK. Deal. $200</a:t>
            </a:r>
            <a:endParaRPr lang="en-US" sz="2000" dirty="0">
              <a:solidFill>
                <a:schemeClr val="bg1"/>
              </a:solidFill>
            </a:endParaRPr>
          </a:p>
        </p:txBody>
      </p:sp>
      <p:sp>
        <p:nvSpPr>
          <p:cNvPr id="42" name="Rectangle 41"/>
          <p:cNvSpPr/>
          <p:nvPr/>
        </p:nvSpPr>
        <p:spPr>
          <a:xfrm>
            <a:off x="3644153" y="4858116"/>
            <a:ext cx="608764" cy="441291"/>
          </a:xfrm>
          <a:prstGeom prst="rect">
            <a:avLst/>
          </a:prstGeom>
          <a:solidFill>
            <a:srgbClr val="0E3755"/>
          </a:solidFill>
          <a:ln w="9525">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smtClean="0">
                <a:solidFill>
                  <a:schemeClr val="bg1"/>
                </a:solidFill>
              </a:rPr>
              <a:t>M1</a:t>
            </a:r>
            <a:endParaRPr lang="en-US" sz="2000" dirty="0">
              <a:solidFill>
                <a:schemeClr val="bg1"/>
              </a:solidFill>
            </a:endParaRPr>
          </a:p>
        </p:txBody>
      </p:sp>
      <p:sp>
        <p:nvSpPr>
          <p:cNvPr id="43" name="Rectangle 42"/>
          <p:cNvSpPr/>
          <p:nvPr/>
        </p:nvSpPr>
        <p:spPr>
          <a:xfrm>
            <a:off x="3953435" y="5982706"/>
            <a:ext cx="547161" cy="363825"/>
          </a:xfrm>
          <a:prstGeom prst="rect">
            <a:avLst/>
          </a:prstGeom>
          <a:solidFill>
            <a:schemeClr val="tx1"/>
          </a:solidFill>
          <a:ln w="952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smtClean="0">
                <a:solidFill>
                  <a:schemeClr val="bg1"/>
                </a:solidFill>
              </a:rPr>
              <a:t>M2</a:t>
            </a:r>
            <a:endParaRPr lang="en-US" sz="2000" dirty="0">
              <a:solidFill>
                <a:schemeClr val="bg1"/>
              </a:solidFill>
            </a:endParaRPr>
          </a:p>
        </p:txBody>
      </p:sp>
      <p:sp>
        <p:nvSpPr>
          <p:cNvPr id="44" name="Cloud Callout 43"/>
          <p:cNvSpPr/>
          <p:nvPr/>
        </p:nvSpPr>
        <p:spPr>
          <a:xfrm>
            <a:off x="131181" y="3025588"/>
            <a:ext cx="2659648" cy="1543081"/>
          </a:xfrm>
          <a:prstGeom prst="cloudCallout">
            <a:avLst>
              <a:gd name="adj1" fmla="val 69503"/>
              <a:gd name="adj2" fmla="val 1301"/>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bg1"/>
                </a:solidFill>
              </a:rPr>
              <a:t>What if Bob says that he had asked for $500 in M2?</a:t>
            </a:r>
            <a:endParaRPr lang="en-US" sz="2000" dirty="0">
              <a:solidFill>
                <a:schemeClr val="bg1"/>
              </a:solidFill>
            </a:endParaRPr>
          </a:p>
        </p:txBody>
      </p:sp>
      <p:sp>
        <p:nvSpPr>
          <p:cNvPr id="45" name="Cloud Callout 44"/>
          <p:cNvSpPr/>
          <p:nvPr/>
        </p:nvSpPr>
        <p:spPr>
          <a:xfrm>
            <a:off x="9238122" y="2420471"/>
            <a:ext cx="2280587" cy="1843398"/>
          </a:xfrm>
          <a:prstGeom prst="cloudCallout">
            <a:avLst>
              <a:gd name="adj1" fmla="val -56360"/>
              <a:gd name="adj2" fmla="val 41345"/>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bg1"/>
                </a:solidFill>
              </a:rPr>
              <a:t>What if Alice denies that  she sent M1?</a:t>
            </a:r>
            <a:endParaRPr lang="en-US" sz="2000" dirty="0">
              <a:solidFill>
                <a:schemeClr val="bg1"/>
              </a:solidFill>
            </a:endParaRPr>
          </a:p>
        </p:txBody>
      </p:sp>
      <p:sp>
        <p:nvSpPr>
          <p:cNvPr id="46" name="Rectangle 45"/>
          <p:cNvSpPr/>
          <p:nvPr/>
        </p:nvSpPr>
        <p:spPr>
          <a:xfrm>
            <a:off x="3795717" y="3691385"/>
            <a:ext cx="4353201" cy="877284"/>
          </a:xfrm>
          <a:prstGeom prst="rect">
            <a:avLst/>
          </a:prstGeom>
          <a:ln w="12700">
            <a:prstDash val="sysDash"/>
          </a:ln>
        </p:spPr>
        <p:style>
          <a:lnRef idx="2">
            <a:schemeClr val="dk1"/>
          </a:lnRef>
          <a:fillRef idx="1">
            <a:schemeClr val="lt1"/>
          </a:fillRef>
          <a:effectRef idx="0">
            <a:schemeClr val="dk1"/>
          </a:effectRef>
          <a:fontRef idx="minor">
            <a:schemeClr val="dk1"/>
          </a:fontRef>
        </p:style>
        <p:txBody>
          <a:bodyPr rtlCol="0" anchor="ctr"/>
          <a:lstStyle/>
          <a:p>
            <a:pPr algn="ctr"/>
            <a:r>
              <a:rPr lang="en-US" sz="2400" b="1" dirty="0" smtClean="0"/>
              <a:t>Both parties have to keep SIGNED versions of the messages</a:t>
            </a:r>
            <a:endParaRPr lang="en-US" sz="2400" b="1" dirty="0"/>
          </a:p>
        </p:txBody>
      </p:sp>
    </p:spTree>
    <p:extLst>
      <p:ext uri="{BB962C8B-B14F-4D97-AF65-F5344CB8AC3E}">
        <p14:creationId xmlns:p14="http://schemas.microsoft.com/office/powerpoint/2010/main" val="3227405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P spid="39" grpId="0" animBg="1"/>
      <p:bldP spid="41" grpId="0" animBg="1"/>
      <p:bldP spid="42" grpId="0" animBg="1"/>
      <p:bldP spid="43" grpId="0" animBg="1"/>
      <p:bldP spid="44" grpId="0" animBg="1"/>
      <p:bldP spid="45" grpId="0" animBg="1"/>
      <p:bldP spid="46"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normAutofit/>
          </a:bodyPr>
          <a:lstStyle/>
          <a:p>
            <a:r>
              <a:rPr lang="en-US" dirty="0"/>
              <a:t>Message Integrity and Confidentiality</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dirty="0"/>
              <a:t>Besides authentication, a secure channel should also provide </a:t>
            </a:r>
            <a:r>
              <a:rPr lang="en-US" dirty="0" smtClean="0"/>
              <a:t>guarantees for </a:t>
            </a:r>
            <a:r>
              <a:rPr lang="en-US" dirty="0"/>
              <a:t>message integrity and confidentiality</a:t>
            </a:r>
          </a:p>
          <a:p>
            <a:r>
              <a:rPr lang="en-US" dirty="0" smtClean="0"/>
              <a:t>Confidentiality </a:t>
            </a:r>
            <a:r>
              <a:rPr lang="en-US" dirty="0"/>
              <a:t>is easily established by simply encrypting a </a:t>
            </a:r>
            <a:r>
              <a:rPr lang="en-US" dirty="0" smtClean="0"/>
              <a:t>message before </a:t>
            </a:r>
            <a:r>
              <a:rPr lang="en-US" dirty="0"/>
              <a:t>sending it.</a:t>
            </a:r>
          </a:p>
          <a:p>
            <a:r>
              <a:rPr lang="en-US" dirty="0" smtClean="0"/>
              <a:t>Protecting </a:t>
            </a:r>
            <a:r>
              <a:rPr lang="en-US" dirty="0"/>
              <a:t>a message against modifications is somewhat </a:t>
            </a:r>
            <a:r>
              <a:rPr lang="en-US" dirty="0" smtClean="0"/>
              <a:t>more complicated</a:t>
            </a:r>
            <a:endParaRPr lang="en-US" dirty="0"/>
          </a:p>
          <a:p>
            <a:r>
              <a:rPr lang="en-US" dirty="0" smtClean="0"/>
              <a:t>Digital </a:t>
            </a:r>
            <a:r>
              <a:rPr lang="en-US" dirty="0"/>
              <a:t>Signatures:</a:t>
            </a:r>
          </a:p>
          <a:p>
            <a:pPr lvl="1">
              <a:buFont typeface="Wingdings" panose="05000000000000000000" pitchFamily="2" charset="2"/>
              <a:buChar char="§"/>
            </a:pPr>
            <a:r>
              <a:rPr lang="en-US" sz="2400" dirty="0"/>
              <a:t>Digitally sign a message in such a way that the signature is uniquely tied to its content</a:t>
            </a:r>
          </a:p>
          <a:p>
            <a:pPr lvl="1">
              <a:buFont typeface="Wingdings" panose="05000000000000000000" pitchFamily="2" charset="2"/>
              <a:buChar char="§"/>
            </a:pPr>
            <a:r>
              <a:rPr lang="en-US" sz="2400" dirty="0"/>
              <a:t>Several ways to place digital signatures:</a:t>
            </a:r>
          </a:p>
          <a:p>
            <a:pPr marL="1250950" lvl="1" indent="-349250">
              <a:buFont typeface="Wingdings" panose="05000000000000000000" pitchFamily="2" charset="2"/>
              <a:buChar char="ü"/>
            </a:pPr>
            <a:r>
              <a:rPr lang="en-US" sz="2400" dirty="0"/>
              <a:t>Use a public-key cryptosystem such as RSA</a:t>
            </a:r>
          </a:p>
          <a:p>
            <a:pPr marL="1250950" lvl="1" indent="-349250">
              <a:buFont typeface="Wingdings" panose="05000000000000000000" pitchFamily="2" charset="2"/>
              <a:buChar char="ü"/>
            </a:pPr>
            <a:r>
              <a:rPr lang="en-US" sz="2400" dirty="0"/>
              <a:t>Use a message digest</a:t>
            </a:r>
          </a:p>
        </p:txBody>
      </p:sp>
    </p:spTree>
    <p:extLst>
      <p:ext uri="{BB962C8B-B14F-4D97-AF65-F5344CB8AC3E}">
        <p14:creationId xmlns:p14="http://schemas.microsoft.com/office/powerpoint/2010/main" val="2195863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Digital Signatures: Basic Idea</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endParaRPr lang="en-US" dirty="0" smtClean="0"/>
          </a:p>
          <a:p>
            <a:pPr>
              <a:lnSpc>
                <a:spcPct val="100000"/>
              </a:lnSpc>
            </a:pPr>
            <a:endParaRPr lang="en-US" dirty="0"/>
          </a:p>
          <a:p>
            <a:pPr>
              <a:lnSpc>
                <a:spcPct val="100000"/>
              </a:lnSpc>
            </a:pPr>
            <a:endParaRPr lang="en-US" dirty="0" smtClean="0"/>
          </a:p>
          <a:p>
            <a:pPr>
              <a:lnSpc>
                <a:spcPct val="100000"/>
              </a:lnSpc>
            </a:pPr>
            <a:endParaRPr lang="en-US" dirty="0"/>
          </a:p>
          <a:p>
            <a:pPr>
              <a:lnSpc>
                <a:spcPct val="100000"/>
              </a:lnSpc>
            </a:pPr>
            <a:endParaRPr lang="en-US" dirty="0" smtClean="0"/>
          </a:p>
          <a:p>
            <a:pPr>
              <a:lnSpc>
                <a:spcPct val="100000"/>
              </a:lnSpc>
            </a:pPr>
            <a:r>
              <a:rPr lang="en-US" dirty="0" smtClean="0"/>
              <a:t>Given</a:t>
            </a:r>
            <a:r>
              <a:rPr lang="en-US" dirty="0"/>
              <a:t>: </a:t>
            </a:r>
            <a:endParaRPr lang="en-US" dirty="0" smtClean="0"/>
          </a:p>
          <a:p>
            <a:pPr lvl="1">
              <a:buFont typeface="Wingdings" panose="05000000000000000000" pitchFamily="2" charset="2"/>
              <a:buChar char="§"/>
            </a:pPr>
            <a:r>
              <a:rPr lang="en-US" sz="2400" dirty="0"/>
              <a:t>Everybody knows Bob’s public key</a:t>
            </a:r>
          </a:p>
          <a:p>
            <a:pPr lvl="1">
              <a:buFont typeface="Wingdings" panose="05000000000000000000" pitchFamily="2" charset="2"/>
              <a:buChar char="§"/>
            </a:pPr>
            <a:r>
              <a:rPr lang="en-US" sz="2400" dirty="0"/>
              <a:t>Only Bob knows the corresponding private key</a:t>
            </a:r>
          </a:p>
          <a:p>
            <a:pPr>
              <a:lnSpc>
                <a:spcPct val="100000"/>
              </a:lnSpc>
            </a:pPr>
            <a:r>
              <a:rPr lang="en-US" dirty="0"/>
              <a:t>Goal: Bob sends a “digitally signed” message</a:t>
            </a:r>
          </a:p>
          <a:p>
            <a:pPr marL="914400" lvl="1" indent="-457200">
              <a:buFont typeface="+mj-lt"/>
              <a:buAutoNum type="arabicPeriod"/>
            </a:pPr>
            <a:r>
              <a:rPr lang="en-US" sz="2400" dirty="0"/>
              <a:t>To compute a signature, must know the private key</a:t>
            </a:r>
          </a:p>
          <a:p>
            <a:pPr marL="914400" lvl="1" indent="-457200">
              <a:buFont typeface="+mj-lt"/>
              <a:buAutoNum type="arabicPeriod"/>
            </a:pPr>
            <a:r>
              <a:rPr lang="en-US" sz="2400" dirty="0"/>
              <a:t>To verify a signature, only the public key is needed</a:t>
            </a:r>
          </a:p>
        </p:txBody>
      </p:sp>
      <p:grpSp>
        <p:nvGrpSpPr>
          <p:cNvPr id="50" name="Group 49"/>
          <p:cNvGrpSpPr/>
          <p:nvPr/>
        </p:nvGrpSpPr>
        <p:grpSpPr>
          <a:xfrm>
            <a:off x="1555845" y="1231995"/>
            <a:ext cx="8534400" cy="2019300"/>
            <a:chOff x="1555845" y="1231995"/>
            <a:chExt cx="8534400" cy="2019300"/>
          </a:xfrm>
        </p:grpSpPr>
        <p:pic>
          <p:nvPicPr>
            <p:cNvPr id="4" name="Picture 3" descr="PE03749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54483" y="1870170"/>
              <a:ext cx="715962"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descr="PE03749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7926483" y="1870170"/>
              <a:ext cx="715962"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descr="j013903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5823045" y="1231995"/>
              <a:ext cx="690563"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Line 6"/>
            <p:cNvSpPr>
              <a:spLocks noChangeShapeType="1"/>
            </p:cNvSpPr>
            <p:nvPr/>
          </p:nvSpPr>
          <p:spPr bwMode="auto">
            <a:xfrm flipH="1">
              <a:off x="4299045" y="2479770"/>
              <a:ext cx="3352800" cy="0"/>
            </a:xfrm>
            <a:prstGeom prst="line">
              <a:avLst/>
            </a:prstGeom>
            <a:noFill/>
            <a:ln w="28575">
              <a:solidFill>
                <a:schemeClr val="tx1"/>
              </a:solidFill>
              <a:prstDash val="dash"/>
              <a:round/>
              <a:headEnd type="none" w="lg" len="lg"/>
              <a:tailEnd type="stealth" w="lg" len="lg"/>
            </a:ln>
            <a:extLst>
              <a:ext uri="{909E8E84-426E-40DD-AFC4-6F175D3DCCD1}">
                <a14:hiddenFill xmlns:a14="http://schemas.microsoft.com/office/drawing/2010/main">
                  <a:noFill/>
                </a14:hiddenFill>
              </a:ext>
            </a:extLst>
          </p:spPr>
          <p:txBody>
            <a:bodyPr/>
            <a:lstStyle>
              <a:defPPr>
                <a:defRPr lang="en-US"/>
              </a:defPPr>
              <a:lvl1pPr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1pPr>
              <a:lvl2pPr marL="4572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2pPr>
              <a:lvl3pPr marL="9144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3pPr>
              <a:lvl4pPr marL="13716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4pPr>
              <a:lvl5pPr marL="18288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5pPr>
              <a:lvl6pPr marL="2286000" algn="l" defTabSz="914400" rtl="0" eaLnBrk="1" latinLnBrk="0" hangingPunct="1">
                <a:defRPr sz="2400" kern="1200">
                  <a:solidFill>
                    <a:schemeClr val="bg2"/>
                  </a:solidFill>
                  <a:latin typeface="Tahoma" panose="020B0604030504040204" pitchFamily="34" charset="0"/>
                  <a:ea typeface="+mn-ea"/>
                  <a:cs typeface="+mn-cs"/>
                </a:defRPr>
              </a:lvl6pPr>
              <a:lvl7pPr marL="2743200" algn="l" defTabSz="914400" rtl="0" eaLnBrk="1" latinLnBrk="0" hangingPunct="1">
                <a:defRPr sz="2400" kern="1200">
                  <a:solidFill>
                    <a:schemeClr val="bg2"/>
                  </a:solidFill>
                  <a:latin typeface="Tahoma" panose="020B0604030504040204" pitchFamily="34" charset="0"/>
                  <a:ea typeface="+mn-ea"/>
                  <a:cs typeface="+mn-cs"/>
                </a:defRPr>
              </a:lvl7pPr>
              <a:lvl8pPr marL="3200400" algn="l" defTabSz="914400" rtl="0" eaLnBrk="1" latinLnBrk="0" hangingPunct="1">
                <a:defRPr sz="2400" kern="1200">
                  <a:solidFill>
                    <a:schemeClr val="bg2"/>
                  </a:solidFill>
                  <a:latin typeface="Tahoma" panose="020B0604030504040204" pitchFamily="34" charset="0"/>
                  <a:ea typeface="+mn-ea"/>
                  <a:cs typeface="+mn-cs"/>
                </a:defRPr>
              </a:lvl8pPr>
              <a:lvl9pPr marL="3657600" algn="l" defTabSz="914400" rtl="0" eaLnBrk="1" latinLnBrk="0" hangingPunct="1">
                <a:defRPr sz="2400" kern="1200">
                  <a:solidFill>
                    <a:schemeClr val="bg2"/>
                  </a:solidFill>
                  <a:latin typeface="Tahoma" panose="020B0604030504040204" pitchFamily="34" charset="0"/>
                  <a:ea typeface="+mn-ea"/>
                  <a:cs typeface="+mn-cs"/>
                </a:defRPr>
              </a:lvl9pPr>
            </a:lstStyle>
            <a:p>
              <a:endParaRPr lang="en-IN"/>
            </a:p>
          </p:txBody>
        </p:sp>
        <p:sp>
          <p:nvSpPr>
            <p:cNvPr id="8" name="Text Box 7"/>
            <p:cNvSpPr txBox="1">
              <a:spLocks noChangeArrowheads="1"/>
            </p:cNvSpPr>
            <p:nvPr/>
          </p:nvSpPr>
          <p:spPr bwMode="auto">
            <a:xfrm>
              <a:off x="5599208" y="1900333"/>
              <a:ext cx="37623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defPPr>
                <a:defRPr lang="en-US"/>
              </a:defPPr>
              <a:lvl1pPr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1pPr>
              <a:lvl2pPr marL="4572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2pPr>
              <a:lvl3pPr marL="9144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3pPr>
              <a:lvl4pPr marL="13716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4pPr>
              <a:lvl5pPr marL="18288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5pPr>
              <a:lvl6pPr marL="2286000" algn="l" defTabSz="914400" rtl="0" eaLnBrk="1" latinLnBrk="0" hangingPunct="1">
                <a:defRPr sz="2400" kern="1200">
                  <a:solidFill>
                    <a:schemeClr val="bg2"/>
                  </a:solidFill>
                  <a:latin typeface="Tahoma" panose="020B0604030504040204" pitchFamily="34" charset="0"/>
                  <a:ea typeface="+mn-ea"/>
                  <a:cs typeface="+mn-cs"/>
                </a:defRPr>
              </a:lvl6pPr>
              <a:lvl7pPr marL="2743200" algn="l" defTabSz="914400" rtl="0" eaLnBrk="1" latinLnBrk="0" hangingPunct="1">
                <a:defRPr sz="2400" kern="1200">
                  <a:solidFill>
                    <a:schemeClr val="bg2"/>
                  </a:solidFill>
                  <a:latin typeface="Tahoma" panose="020B0604030504040204" pitchFamily="34" charset="0"/>
                  <a:ea typeface="+mn-ea"/>
                  <a:cs typeface="+mn-cs"/>
                </a:defRPr>
              </a:lvl7pPr>
              <a:lvl8pPr marL="3200400" algn="l" defTabSz="914400" rtl="0" eaLnBrk="1" latinLnBrk="0" hangingPunct="1">
                <a:defRPr sz="2400" kern="1200">
                  <a:solidFill>
                    <a:schemeClr val="bg2"/>
                  </a:solidFill>
                  <a:latin typeface="Tahoma" panose="020B0604030504040204" pitchFamily="34" charset="0"/>
                  <a:ea typeface="+mn-ea"/>
                  <a:cs typeface="+mn-cs"/>
                </a:defRPr>
              </a:lvl8pPr>
              <a:lvl9pPr marL="3657600" algn="l" defTabSz="914400" rtl="0" eaLnBrk="1" latinLnBrk="0" hangingPunct="1">
                <a:defRPr sz="2400" kern="1200">
                  <a:solidFill>
                    <a:schemeClr val="bg2"/>
                  </a:solidFill>
                  <a:latin typeface="Tahoma" panose="020B0604030504040204" pitchFamily="34" charset="0"/>
                  <a:ea typeface="+mn-ea"/>
                  <a:cs typeface="+mn-cs"/>
                </a:defRPr>
              </a:lvl9pPr>
            </a:lstStyle>
            <a:p>
              <a:pPr>
                <a:buFontTx/>
                <a:buNone/>
              </a:pPr>
              <a:r>
                <a:rPr lang="en-US" altLang="en-US" sz="3200">
                  <a:solidFill>
                    <a:schemeClr val="tx1"/>
                  </a:solidFill>
                </a:rPr>
                <a:t>?</a:t>
              </a:r>
            </a:p>
          </p:txBody>
        </p:sp>
        <p:grpSp>
          <p:nvGrpSpPr>
            <p:cNvPr id="9" name="Group 8"/>
            <p:cNvGrpSpPr>
              <a:grpSpLocks noChangeAspect="1"/>
            </p:cNvGrpSpPr>
            <p:nvPr/>
          </p:nvGrpSpPr>
          <p:grpSpPr bwMode="auto">
            <a:xfrm>
              <a:off x="2498820" y="2708370"/>
              <a:ext cx="657225" cy="322263"/>
              <a:chOff x="1410" y="2496"/>
              <a:chExt cx="414" cy="203"/>
            </a:xfrm>
          </p:grpSpPr>
          <p:sp>
            <p:nvSpPr>
              <p:cNvPr id="34" name="AutoShape 9"/>
              <p:cNvSpPr>
                <a:spLocks noChangeAspect="1" noChangeArrowheads="1" noTextEdit="1"/>
              </p:cNvSpPr>
              <p:nvPr/>
            </p:nvSpPr>
            <p:spPr bwMode="auto">
              <a:xfrm>
                <a:off x="1410" y="2496"/>
                <a:ext cx="414"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1pPr>
                <a:lvl2pPr marL="4572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2pPr>
                <a:lvl3pPr marL="9144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3pPr>
                <a:lvl4pPr marL="13716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4pPr>
                <a:lvl5pPr marL="18288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5pPr>
                <a:lvl6pPr marL="2286000" algn="l" defTabSz="914400" rtl="0" eaLnBrk="1" latinLnBrk="0" hangingPunct="1">
                  <a:defRPr sz="2400" kern="1200">
                    <a:solidFill>
                      <a:schemeClr val="bg2"/>
                    </a:solidFill>
                    <a:latin typeface="Tahoma" panose="020B0604030504040204" pitchFamily="34" charset="0"/>
                    <a:ea typeface="+mn-ea"/>
                    <a:cs typeface="+mn-cs"/>
                  </a:defRPr>
                </a:lvl6pPr>
                <a:lvl7pPr marL="2743200" algn="l" defTabSz="914400" rtl="0" eaLnBrk="1" latinLnBrk="0" hangingPunct="1">
                  <a:defRPr sz="2400" kern="1200">
                    <a:solidFill>
                      <a:schemeClr val="bg2"/>
                    </a:solidFill>
                    <a:latin typeface="Tahoma" panose="020B0604030504040204" pitchFamily="34" charset="0"/>
                    <a:ea typeface="+mn-ea"/>
                    <a:cs typeface="+mn-cs"/>
                  </a:defRPr>
                </a:lvl7pPr>
                <a:lvl8pPr marL="3200400" algn="l" defTabSz="914400" rtl="0" eaLnBrk="1" latinLnBrk="0" hangingPunct="1">
                  <a:defRPr sz="2400" kern="1200">
                    <a:solidFill>
                      <a:schemeClr val="bg2"/>
                    </a:solidFill>
                    <a:latin typeface="Tahoma" panose="020B0604030504040204" pitchFamily="34" charset="0"/>
                    <a:ea typeface="+mn-ea"/>
                    <a:cs typeface="+mn-cs"/>
                  </a:defRPr>
                </a:lvl8pPr>
                <a:lvl9pPr marL="3657600" algn="l" defTabSz="914400" rtl="0" eaLnBrk="1" latinLnBrk="0" hangingPunct="1">
                  <a:defRPr sz="2400" kern="1200">
                    <a:solidFill>
                      <a:schemeClr val="bg2"/>
                    </a:solidFill>
                    <a:latin typeface="Tahoma" panose="020B0604030504040204" pitchFamily="34" charset="0"/>
                    <a:ea typeface="+mn-ea"/>
                    <a:cs typeface="+mn-cs"/>
                  </a:defRPr>
                </a:lvl9pPr>
              </a:lstStyle>
              <a:p>
                <a:endParaRPr lang="en-IN"/>
              </a:p>
            </p:txBody>
          </p:sp>
          <p:sp>
            <p:nvSpPr>
              <p:cNvPr id="35" name="Freeform 34"/>
              <p:cNvSpPr>
                <a:spLocks/>
              </p:cNvSpPr>
              <p:nvPr/>
            </p:nvSpPr>
            <p:spPr bwMode="auto">
              <a:xfrm>
                <a:off x="1723" y="2615"/>
                <a:ext cx="72" cy="75"/>
              </a:xfrm>
              <a:custGeom>
                <a:avLst/>
                <a:gdLst>
                  <a:gd name="T0" fmla="*/ 0 w 579"/>
                  <a:gd name="T1" fmla="*/ 0 h 605"/>
                  <a:gd name="T2" fmla="*/ 0 w 579"/>
                  <a:gd name="T3" fmla="*/ 0 h 605"/>
                  <a:gd name="T4" fmla="*/ 0 w 579"/>
                  <a:gd name="T5" fmla="*/ 0 h 605"/>
                  <a:gd name="T6" fmla="*/ 0 w 579"/>
                  <a:gd name="T7" fmla="*/ 0 h 605"/>
                  <a:gd name="T8" fmla="*/ 0 w 579"/>
                  <a:gd name="T9" fmla="*/ 0 h 605"/>
                  <a:gd name="T10" fmla="*/ 0 w 579"/>
                  <a:gd name="T11" fmla="*/ 0 h 605"/>
                  <a:gd name="T12" fmla="*/ 0 w 579"/>
                  <a:gd name="T13" fmla="*/ 0 h 605"/>
                  <a:gd name="T14" fmla="*/ 0 w 579"/>
                  <a:gd name="T15" fmla="*/ 0 h 605"/>
                  <a:gd name="T16" fmla="*/ 0 60000 65536"/>
                  <a:gd name="T17" fmla="*/ 0 60000 65536"/>
                  <a:gd name="T18" fmla="*/ 0 60000 65536"/>
                  <a:gd name="T19" fmla="*/ 0 60000 65536"/>
                  <a:gd name="T20" fmla="*/ 0 60000 65536"/>
                  <a:gd name="T21" fmla="*/ 0 60000 65536"/>
                  <a:gd name="T22" fmla="*/ 0 60000 65536"/>
                  <a:gd name="T23" fmla="*/ 0 60000 65536"/>
                  <a:gd name="T24" fmla="*/ 0 w 579"/>
                  <a:gd name="T25" fmla="*/ 0 h 605"/>
                  <a:gd name="T26" fmla="*/ 579 w 579"/>
                  <a:gd name="T27" fmla="*/ 605 h 60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9" h="605">
                    <a:moveTo>
                      <a:pt x="136" y="12"/>
                    </a:moveTo>
                    <a:lnTo>
                      <a:pt x="136" y="309"/>
                    </a:lnTo>
                    <a:lnTo>
                      <a:pt x="0" y="314"/>
                    </a:lnTo>
                    <a:lnTo>
                      <a:pt x="12" y="605"/>
                    </a:lnTo>
                    <a:lnTo>
                      <a:pt x="567" y="599"/>
                    </a:lnTo>
                    <a:lnTo>
                      <a:pt x="579" y="0"/>
                    </a:lnTo>
                    <a:lnTo>
                      <a:pt x="136" y="12"/>
                    </a:lnTo>
                    <a:close/>
                  </a:path>
                </a:pathLst>
              </a:custGeom>
              <a:solidFill>
                <a:srgbClr val="FFCC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1pPr>
                <a:lvl2pPr marL="4572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2pPr>
                <a:lvl3pPr marL="9144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3pPr>
                <a:lvl4pPr marL="13716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4pPr>
                <a:lvl5pPr marL="18288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5pPr>
                <a:lvl6pPr marL="2286000" algn="l" defTabSz="914400" rtl="0" eaLnBrk="1" latinLnBrk="0" hangingPunct="1">
                  <a:defRPr sz="2400" kern="1200">
                    <a:solidFill>
                      <a:schemeClr val="bg2"/>
                    </a:solidFill>
                    <a:latin typeface="Tahoma" panose="020B0604030504040204" pitchFamily="34" charset="0"/>
                    <a:ea typeface="+mn-ea"/>
                    <a:cs typeface="+mn-cs"/>
                  </a:defRPr>
                </a:lvl6pPr>
                <a:lvl7pPr marL="2743200" algn="l" defTabSz="914400" rtl="0" eaLnBrk="1" latinLnBrk="0" hangingPunct="1">
                  <a:defRPr sz="2400" kern="1200">
                    <a:solidFill>
                      <a:schemeClr val="bg2"/>
                    </a:solidFill>
                    <a:latin typeface="Tahoma" panose="020B0604030504040204" pitchFamily="34" charset="0"/>
                    <a:ea typeface="+mn-ea"/>
                    <a:cs typeface="+mn-cs"/>
                  </a:defRPr>
                </a:lvl7pPr>
                <a:lvl8pPr marL="3200400" algn="l" defTabSz="914400" rtl="0" eaLnBrk="1" latinLnBrk="0" hangingPunct="1">
                  <a:defRPr sz="2400" kern="1200">
                    <a:solidFill>
                      <a:schemeClr val="bg2"/>
                    </a:solidFill>
                    <a:latin typeface="Tahoma" panose="020B0604030504040204" pitchFamily="34" charset="0"/>
                    <a:ea typeface="+mn-ea"/>
                    <a:cs typeface="+mn-cs"/>
                  </a:defRPr>
                </a:lvl8pPr>
                <a:lvl9pPr marL="3657600" algn="l" defTabSz="914400" rtl="0" eaLnBrk="1" latinLnBrk="0" hangingPunct="1">
                  <a:defRPr sz="2400" kern="1200">
                    <a:solidFill>
                      <a:schemeClr val="bg2"/>
                    </a:solidFill>
                    <a:latin typeface="Tahoma" panose="020B0604030504040204" pitchFamily="34" charset="0"/>
                    <a:ea typeface="+mn-ea"/>
                    <a:cs typeface="+mn-cs"/>
                  </a:defRPr>
                </a:lvl9pPr>
              </a:lstStyle>
              <a:p>
                <a:endParaRPr lang="en-IN"/>
              </a:p>
            </p:txBody>
          </p:sp>
          <p:sp>
            <p:nvSpPr>
              <p:cNvPr id="36" name="Freeform 35"/>
              <p:cNvSpPr>
                <a:spLocks/>
              </p:cNvSpPr>
              <p:nvPr/>
            </p:nvSpPr>
            <p:spPr bwMode="auto">
              <a:xfrm>
                <a:off x="1739" y="2618"/>
                <a:ext cx="54" cy="30"/>
              </a:xfrm>
              <a:custGeom>
                <a:avLst/>
                <a:gdLst>
                  <a:gd name="T0" fmla="*/ 0 w 437"/>
                  <a:gd name="T1" fmla="*/ 0 h 243"/>
                  <a:gd name="T2" fmla="*/ 0 w 437"/>
                  <a:gd name="T3" fmla="*/ 0 h 243"/>
                  <a:gd name="T4" fmla="*/ 0 w 437"/>
                  <a:gd name="T5" fmla="*/ 0 h 243"/>
                  <a:gd name="T6" fmla="*/ 0 w 437"/>
                  <a:gd name="T7" fmla="*/ 0 h 243"/>
                  <a:gd name="T8" fmla="*/ 0 w 437"/>
                  <a:gd name="T9" fmla="*/ 0 h 243"/>
                  <a:gd name="T10" fmla="*/ 0 w 437"/>
                  <a:gd name="T11" fmla="*/ 0 h 243"/>
                  <a:gd name="T12" fmla="*/ 0 60000 65536"/>
                  <a:gd name="T13" fmla="*/ 0 60000 65536"/>
                  <a:gd name="T14" fmla="*/ 0 60000 65536"/>
                  <a:gd name="T15" fmla="*/ 0 60000 65536"/>
                  <a:gd name="T16" fmla="*/ 0 60000 65536"/>
                  <a:gd name="T17" fmla="*/ 0 60000 65536"/>
                  <a:gd name="T18" fmla="*/ 0 w 437"/>
                  <a:gd name="T19" fmla="*/ 0 h 243"/>
                  <a:gd name="T20" fmla="*/ 437 w 437"/>
                  <a:gd name="T21" fmla="*/ 243 h 243"/>
                </a:gdLst>
                <a:ahLst/>
                <a:cxnLst>
                  <a:cxn ang="T12">
                    <a:pos x="T0" y="T1"/>
                  </a:cxn>
                  <a:cxn ang="T13">
                    <a:pos x="T2" y="T3"/>
                  </a:cxn>
                  <a:cxn ang="T14">
                    <a:pos x="T4" y="T5"/>
                  </a:cxn>
                  <a:cxn ang="T15">
                    <a:pos x="T6" y="T7"/>
                  </a:cxn>
                  <a:cxn ang="T16">
                    <a:pos x="T8" y="T9"/>
                  </a:cxn>
                  <a:cxn ang="T17">
                    <a:pos x="T10" y="T11"/>
                  </a:cxn>
                </a:cxnLst>
                <a:rect l="T18" t="T19" r="T20" b="T21"/>
                <a:pathLst>
                  <a:path w="437" h="243">
                    <a:moveTo>
                      <a:pt x="0" y="18"/>
                    </a:moveTo>
                    <a:lnTo>
                      <a:pt x="35" y="243"/>
                    </a:lnTo>
                    <a:lnTo>
                      <a:pt x="437" y="243"/>
                    </a:lnTo>
                    <a:lnTo>
                      <a:pt x="396" y="0"/>
                    </a:lnTo>
                    <a:lnTo>
                      <a:pt x="0" y="18"/>
                    </a:lnTo>
                    <a:close/>
                  </a:path>
                </a:pathLst>
              </a:custGeom>
              <a:solidFill>
                <a:srgbClr val="FF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1pPr>
                <a:lvl2pPr marL="4572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2pPr>
                <a:lvl3pPr marL="9144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3pPr>
                <a:lvl4pPr marL="13716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4pPr>
                <a:lvl5pPr marL="18288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5pPr>
                <a:lvl6pPr marL="2286000" algn="l" defTabSz="914400" rtl="0" eaLnBrk="1" latinLnBrk="0" hangingPunct="1">
                  <a:defRPr sz="2400" kern="1200">
                    <a:solidFill>
                      <a:schemeClr val="bg2"/>
                    </a:solidFill>
                    <a:latin typeface="Tahoma" panose="020B0604030504040204" pitchFamily="34" charset="0"/>
                    <a:ea typeface="+mn-ea"/>
                    <a:cs typeface="+mn-cs"/>
                  </a:defRPr>
                </a:lvl6pPr>
                <a:lvl7pPr marL="2743200" algn="l" defTabSz="914400" rtl="0" eaLnBrk="1" latinLnBrk="0" hangingPunct="1">
                  <a:defRPr sz="2400" kern="1200">
                    <a:solidFill>
                      <a:schemeClr val="bg2"/>
                    </a:solidFill>
                    <a:latin typeface="Tahoma" panose="020B0604030504040204" pitchFamily="34" charset="0"/>
                    <a:ea typeface="+mn-ea"/>
                    <a:cs typeface="+mn-cs"/>
                  </a:defRPr>
                </a:lvl7pPr>
                <a:lvl8pPr marL="3200400" algn="l" defTabSz="914400" rtl="0" eaLnBrk="1" latinLnBrk="0" hangingPunct="1">
                  <a:defRPr sz="2400" kern="1200">
                    <a:solidFill>
                      <a:schemeClr val="bg2"/>
                    </a:solidFill>
                    <a:latin typeface="Tahoma" panose="020B0604030504040204" pitchFamily="34" charset="0"/>
                    <a:ea typeface="+mn-ea"/>
                    <a:cs typeface="+mn-cs"/>
                  </a:defRPr>
                </a:lvl8pPr>
                <a:lvl9pPr marL="3657600" algn="l" defTabSz="914400" rtl="0" eaLnBrk="1" latinLnBrk="0" hangingPunct="1">
                  <a:defRPr sz="2400" kern="1200">
                    <a:solidFill>
                      <a:schemeClr val="bg2"/>
                    </a:solidFill>
                    <a:latin typeface="Tahoma" panose="020B0604030504040204" pitchFamily="34" charset="0"/>
                    <a:ea typeface="+mn-ea"/>
                    <a:cs typeface="+mn-cs"/>
                  </a:defRPr>
                </a:lvl9pPr>
              </a:lstStyle>
              <a:p>
                <a:endParaRPr lang="en-IN"/>
              </a:p>
            </p:txBody>
          </p:sp>
          <p:sp>
            <p:nvSpPr>
              <p:cNvPr id="37" name="Freeform 36"/>
              <p:cNvSpPr>
                <a:spLocks/>
              </p:cNvSpPr>
              <p:nvPr/>
            </p:nvSpPr>
            <p:spPr bwMode="auto">
              <a:xfrm>
                <a:off x="1724" y="2669"/>
                <a:ext cx="72" cy="17"/>
              </a:xfrm>
              <a:custGeom>
                <a:avLst/>
                <a:gdLst>
                  <a:gd name="T0" fmla="*/ 0 w 573"/>
                  <a:gd name="T1" fmla="*/ 0 h 136"/>
                  <a:gd name="T2" fmla="*/ 0 w 573"/>
                  <a:gd name="T3" fmla="*/ 0 h 136"/>
                  <a:gd name="T4" fmla="*/ 0 w 573"/>
                  <a:gd name="T5" fmla="*/ 0 h 136"/>
                  <a:gd name="T6" fmla="*/ 0 w 573"/>
                  <a:gd name="T7" fmla="*/ 0 h 136"/>
                  <a:gd name="T8" fmla="*/ 0 w 573"/>
                  <a:gd name="T9" fmla="*/ 0 h 136"/>
                  <a:gd name="T10" fmla="*/ 0 w 573"/>
                  <a:gd name="T11" fmla="*/ 0 h 136"/>
                  <a:gd name="T12" fmla="*/ 0 60000 65536"/>
                  <a:gd name="T13" fmla="*/ 0 60000 65536"/>
                  <a:gd name="T14" fmla="*/ 0 60000 65536"/>
                  <a:gd name="T15" fmla="*/ 0 60000 65536"/>
                  <a:gd name="T16" fmla="*/ 0 60000 65536"/>
                  <a:gd name="T17" fmla="*/ 0 60000 65536"/>
                  <a:gd name="T18" fmla="*/ 0 w 573"/>
                  <a:gd name="T19" fmla="*/ 0 h 136"/>
                  <a:gd name="T20" fmla="*/ 573 w 573"/>
                  <a:gd name="T21" fmla="*/ 136 h 136"/>
                </a:gdLst>
                <a:ahLst/>
                <a:cxnLst>
                  <a:cxn ang="T12">
                    <a:pos x="T0" y="T1"/>
                  </a:cxn>
                  <a:cxn ang="T13">
                    <a:pos x="T2" y="T3"/>
                  </a:cxn>
                  <a:cxn ang="T14">
                    <a:pos x="T4" y="T5"/>
                  </a:cxn>
                  <a:cxn ang="T15">
                    <a:pos x="T6" y="T7"/>
                  </a:cxn>
                  <a:cxn ang="T16">
                    <a:pos x="T8" y="T9"/>
                  </a:cxn>
                  <a:cxn ang="T17">
                    <a:pos x="T10" y="T11"/>
                  </a:cxn>
                </a:cxnLst>
                <a:rect l="T18" t="T19" r="T20" b="T21"/>
                <a:pathLst>
                  <a:path w="573" h="136">
                    <a:moveTo>
                      <a:pt x="24" y="0"/>
                    </a:moveTo>
                    <a:lnTo>
                      <a:pt x="573" y="0"/>
                    </a:lnTo>
                    <a:lnTo>
                      <a:pt x="555" y="136"/>
                    </a:lnTo>
                    <a:lnTo>
                      <a:pt x="0" y="119"/>
                    </a:lnTo>
                    <a:lnTo>
                      <a:pt x="24" y="0"/>
                    </a:lnTo>
                    <a:close/>
                  </a:path>
                </a:pathLst>
              </a:custGeom>
              <a:solidFill>
                <a:srgbClr val="FF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1pPr>
                <a:lvl2pPr marL="4572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2pPr>
                <a:lvl3pPr marL="9144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3pPr>
                <a:lvl4pPr marL="13716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4pPr>
                <a:lvl5pPr marL="18288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5pPr>
                <a:lvl6pPr marL="2286000" algn="l" defTabSz="914400" rtl="0" eaLnBrk="1" latinLnBrk="0" hangingPunct="1">
                  <a:defRPr sz="2400" kern="1200">
                    <a:solidFill>
                      <a:schemeClr val="bg2"/>
                    </a:solidFill>
                    <a:latin typeface="Tahoma" panose="020B0604030504040204" pitchFamily="34" charset="0"/>
                    <a:ea typeface="+mn-ea"/>
                    <a:cs typeface="+mn-cs"/>
                  </a:defRPr>
                </a:lvl6pPr>
                <a:lvl7pPr marL="2743200" algn="l" defTabSz="914400" rtl="0" eaLnBrk="1" latinLnBrk="0" hangingPunct="1">
                  <a:defRPr sz="2400" kern="1200">
                    <a:solidFill>
                      <a:schemeClr val="bg2"/>
                    </a:solidFill>
                    <a:latin typeface="Tahoma" panose="020B0604030504040204" pitchFamily="34" charset="0"/>
                    <a:ea typeface="+mn-ea"/>
                    <a:cs typeface="+mn-cs"/>
                  </a:defRPr>
                </a:lvl7pPr>
                <a:lvl8pPr marL="3200400" algn="l" defTabSz="914400" rtl="0" eaLnBrk="1" latinLnBrk="0" hangingPunct="1">
                  <a:defRPr sz="2400" kern="1200">
                    <a:solidFill>
                      <a:schemeClr val="bg2"/>
                    </a:solidFill>
                    <a:latin typeface="Tahoma" panose="020B0604030504040204" pitchFamily="34" charset="0"/>
                    <a:ea typeface="+mn-ea"/>
                    <a:cs typeface="+mn-cs"/>
                  </a:defRPr>
                </a:lvl8pPr>
                <a:lvl9pPr marL="3657600" algn="l" defTabSz="914400" rtl="0" eaLnBrk="1" latinLnBrk="0" hangingPunct="1">
                  <a:defRPr sz="2400" kern="1200">
                    <a:solidFill>
                      <a:schemeClr val="bg2"/>
                    </a:solidFill>
                    <a:latin typeface="Tahoma" panose="020B0604030504040204" pitchFamily="34" charset="0"/>
                    <a:ea typeface="+mn-ea"/>
                    <a:cs typeface="+mn-cs"/>
                  </a:defRPr>
                </a:lvl9pPr>
              </a:lstStyle>
              <a:p>
                <a:endParaRPr lang="en-IN"/>
              </a:p>
            </p:txBody>
          </p:sp>
          <p:sp>
            <p:nvSpPr>
              <p:cNvPr id="38" name="Freeform 37"/>
              <p:cNvSpPr>
                <a:spLocks/>
              </p:cNvSpPr>
              <p:nvPr/>
            </p:nvSpPr>
            <p:spPr bwMode="auto">
              <a:xfrm>
                <a:off x="1446" y="2508"/>
                <a:ext cx="67" cy="40"/>
              </a:xfrm>
              <a:custGeom>
                <a:avLst/>
                <a:gdLst>
                  <a:gd name="T0" fmla="*/ 0 w 537"/>
                  <a:gd name="T1" fmla="*/ 0 h 326"/>
                  <a:gd name="T2" fmla="*/ 0 w 537"/>
                  <a:gd name="T3" fmla="*/ 0 h 326"/>
                  <a:gd name="T4" fmla="*/ 0 w 537"/>
                  <a:gd name="T5" fmla="*/ 0 h 326"/>
                  <a:gd name="T6" fmla="*/ 0 w 537"/>
                  <a:gd name="T7" fmla="*/ 0 h 326"/>
                  <a:gd name="T8" fmla="*/ 0 w 537"/>
                  <a:gd name="T9" fmla="*/ 0 h 326"/>
                  <a:gd name="T10" fmla="*/ 0 w 537"/>
                  <a:gd name="T11" fmla="*/ 0 h 326"/>
                  <a:gd name="T12" fmla="*/ 0 60000 65536"/>
                  <a:gd name="T13" fmla="*/ 0 60000 65536"/>
                  <a:gd name="T14" fmla="*/ 0 60000 65536"/>
                  <a:gd name="T15" fmla="*/ 0 60000 65536"/>
                  <a:gd name="T16" fmla="*/ 0 60000 65536"/>
                  <a:gd name="T17" fmla="*/ 0 60000 65536"/>
                  <a:gd name="T18" fmla="*/ 0 w 537"/>
                  <a:gd name="T19" fmla="*/ 0 h 326"/>
                  <a:gd name="T20" fmla="*/ 537 w 537"/>
                  <a:gd name="T21" fmla="*/ 326 h 326"/>
                </a:gdLst>
                <a:ahLst/>
                <a:cxnLst>
                  <a:cxn ang="T12">
                    <a:pos x="T0" y="T1"/>
                  </a:cxn>
                  <a:cxn ang="T13">
                    <a:pos x="T2" y="T3"/>
                  </a:cxn>
                  <a:cxn ang="T14">
                    <a:pos x="T4" y="T5"/>
                  </a:cxn>
                  <a:cxn ang="T15">
                    <a:pos x="T6" y="T7"/>
                  </a:cxn>
                  <a:cxn ang="T16">
                    <a:pos x="T8" y="T9"/>
                  </a:cxn>
                  <a:cxn ang="T17">
                    <a:pos x="T10" y="T11"/>
                  </a:cxn>
                </a:cxnLst>
                <a:rect l="T18" t="T19" r="T20" b="T21"/>
                <a:pathLst>
                  <a:path w="537" h="326">
                    <a:moveTo>
                      <a:pt x="0" y="0"/>
                    </a:moveTo>
                    <a:lnTo>
                      <a:pt x="0" y="326"/>
                    </a:lnTo>
                    <a:lnTo>
                      <a:pt x="537" y="296"/>
                    </a:lnTo>
                    <a:lnTo>
                      <a:pt x="501" y="30"/>
                    </a:lnTo>
                    <a:lnTo>
                      <a:pt x="0" y="0"/>
                    </a:lnTo>
                    <a:close/>
                  </a:path>
                </a:pathLst>
              </a:custGeom>
              <a:solidFill>
                <a:srgbClr val="FFCC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1pPr>
                <a:lvl2pPr marL="4572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2pPr>
                <a:lvl3pPr marL="9144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3pPr>
                <a:lvl4pPr marL="13716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4pPr>
                <a:lvl5pPr marL="18288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5pPr>
                <a:lvl6pPr marL="2286000" algn="l" defTabSz="914400" rtl="0" eaLnBrk="1" latinLnBrk="0" hangingPunct="1">
                  <a:defRPr sz="2400" kern="1200">
                    <a:solidFill>
                      <a:schemeClr val="bg2"/>
                    </a:solidFill>
                    <a:latin typeface="Tahoma" panose="020B0604030504040204" pitchFamily="34" charset="0"/>
                    <a:ea typeface="+mn-ea"/>
                    <a:cs typeface="+mn-cs"/>
                  </a:defRPr>
                </a:lvl6pPr>
                <a:lvl7pPr marL="2743200" algn="l" defTabSz="914400" rtl="0" eaLnBrk="1" latinLnBrk="0" hangingPunct="1">
                  <a:defRPr sz="2400" kern="1200">
                    <a:solidFill>
                      <a:schemeClr val="bg2"/>
                    </a:solidFill>
                    <a:latin typeface="Tahoma" panose="020B0604030504040204" pitchFamily="34" charset="0"/>
                    <a:ea typeface="+mn-ea"/>
                    <a:cs typeface="+mn-cs"/>
                  </a:defRPr>
                </a:lvl7pPr>
                <a:lvl8pPr marL="3200400" algn="l" defTabSz="914400" rtl="0" eaLnBrk="1" latinLnBrk="0" hangingPunct="1">
                  <a:defRPr sz="2400" kern="1200">
                    <a:solidFill>
                      <a:schemeClr val="bg2"/>
                    </a:solidFill>
                    <a:latin typeface="Tahoma" panose="020B0604030504040204" pitchFamily="34" charset="0"/>
                    <a:ea typeface="+mn-ea"/>
                    <a:cs typeface="+mn-cs"/>
                  </a:defRPr>
                </a:lvl8pPr>
                <a:lvl9pPr marL="3657600" algn="l" defTabSz="914400" rtl="0" eaLnBrk="1" latinLnBrk="0" hangingPunct="1">
                  <a:defRPr sz="2400" kern="1200">
                    <a:solidFill>
                      <a:schemeClr val="bg2"/>
                    </a:solidFill>
                    <a:latin typeface="Tahoma" panose="020B0604030504040204" pitchFamily="34" charset="0"/>
                    <a:ea typeface="+mn-ea"/>
                    <a:cs typeface="+mn-cs"/>
                  </a:defRPr>
                </a:lvl9pPr>
              </a:lstStyle>
              <a:p>
                <a:endParaRPr lang="en-IN"/>
              </a:p>
            </p:txBody>
          </p:sp>
          <p:sp>
            <p:nvSpPr>
              <p:cNvPr id="39" name="Freeform 38"/>
              <p:cNvSpPr>
                <a:spLocks/>
              </p:cNvSpPr>
              <p:nvPr/>
            </p:nvSpPr>
            <p:spPr bwMode="auto">
              <a:xfrm>
                <a:off x="1418" y="2505"/>
                <a:ext cx="378" cy="181"/>
              </a:xfrm>
              <a:custGeom>
                <a:avLst/>
                <a:gdLst>
                  <a:gd name="T0" fmla="*/ 0 w 3031"/>
                  <a:gd name="T1" fmla="*/ 0 h 1448"/>
                  <a:gd name="T2" fmla="*/ 0 w 3031"/>
                  <a:gd name="T3" fmla="*/ 0 h 1448"/>
                  <a:gd name="T4" fmla="*/ 0 w 3031"/>
                  <a:gd name="T5" fmla="*/ 0 h 1448"/>
                  <a:gd name="T6" fmla="*/ 0 w 3031"/>
                  <a:gd name="T7" fmla="*/ 0 h 1448"/>
                  <a:gd name="T8" fmla="*/ 0 w 3031"/>
                  <a:gd name="T9" fmla="*/ 0 h 1448"/>
                  <a:gd name="T10" fmla="*/ 0 w 3031"/>
                  <a:gd name="T11" fmla="*/ 0 h 1448"/>
                  <a:gd name="T12" fmla="*/ 0 w 3031"/>
                  <a:gd name="T13" fmla="*/ 0 h 1448"/>
                  <a:gd name="T14" fmla="*/ 0 w 3031"/>
                  <a:gd name="T15" fmla="*/ 0 h 1448"/>
                  <a:gd name="T16" fmla="*/ 0 w 3031"/>
                  <a:gd name="T17" fmla="*/ 0 h 1448"/>
                  <a:gd name="T18" fmla="*/ 0 w 3031"/>
                  <a:gd name="T19" fmla="*/ 0 h 1448"/>
                  <a:gd name="T20" fmla="*/ 0 w 3031"/>
                  <a:gd name="T21" fmla="*/ 0 h 1448"/>
                  <a:gd name="T22" fmla="*/ 0 w 3031"/>
                  <a:gd name="T23" fmla="*/ 0 h 1448"/>
                  <a:gd name="T24" fmla="*/ 0 w 3031"/>
                  <a:gd name="T25" fmla="*/ 0 h 1448"/>
                  <a:gd name="T26" fmla="*/ 0 w 3031"/>
                  <a:gd name="T27" fmla="*/ 0 h 1448"/>
                  <a:gd name="T28" fmla="*/ 0 w 3031"/>
                  <a:gd name="T29" fmla="*/ 0 h 144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031"/>
                  <a:gd name="T46" fmla="*/ 0 h 1448"/>
                  <a:gd name="T47" fmla="*/ 3031 w 3031"/>
                  <a:gd name="T48" fmla="*/ 1448 h 144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031" h="1448">
                    <a:moveTo>
                      <a:pt x="24" y="0"/>
                    </a:moveTo>
                    <a:lnTo>
                      <a:pt x="0" y="1424"/>
                    </a:lnTo>
                    <a:lnTo>
                      <a:pt x="845" y="1448"/>
                    </a:lnTo>
                    <a:lnTo>
                      <a:pt x="868" y="897"/>
                    </a:lnTo>
                    <a:lnTo>
                      <a:pt x="3013" y="873"/>
                    </a:lnTo>
                    <a:lnTo>
                      <a:pt x="3031" y="594"/>
                    </a:lnTo>
                    <a:lnTo>
                      <a:pt x="863" y="582"/>
                    </a:lnTo>
                    <a:lnTo>
                      <a:pt x="851" y="7"/>
                    </a:lnTo>
                    <a:lnTo>
                      <a:pt x="597" y="19"/>
                    </a:lnTo>
                    <a:lnTo>
                      <a:pt x="574" y="1175"/>
                    </a:lnTo>
                    <a:lnTo>
                      <a:pt x="308" y="1170"/>
                    </a:lnTo>
                    <a:lnTo>
                      <a:pt x="296" y="286"/>
                    </a:lnTo>
                    <a:lnTo>
                      <a:pt x="284" y="12"/>
                    </a:lnTo>
                    <a:lnTo>
                      <a:pt x="24" y="0"/>
                    </a:lnTo>
                    <a:close/>
                  </a:path>
                </a:pathLst>
              </a:custGeom>
              <a:solidFill>
                <a:srgbClr val="FFCC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1pPr>
                <a:lvl2pPr marL="4572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2pPr>
                <a:lvl3pPr marL="9144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3pPr>
                <a:lvl4pPr marL="13716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4pPr>
                <a:lvl5pPr marL="18288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5pPr>
                <a:lvl6pPr marL="2286000" algn="l" defTabSz="914400" rtl="0" eaLnBrk="1" latinLnBrk="0" hangingPunct="1">
                  <a:defRPr sz="2400" kern="1200">
                    <a:solidFill>
                      <a:schemeClr val="bg2"/>
                    </a:solidFill>
                    <a:latin typeface="Tahoma" panose="020B0604030504040204" pitchFamily="34" charset="0"/>
                    <a:ea typeface="+mn-ea"/>
                    <a:cs typeface="+mn-cs"/>
                  </a:defRPr>
                </a:lvl6pPr>
                <a:lvl7pPr marL="2743200" algn="l" defTabSz="914400" rtl="0" eaLnBrk="1" latinLnBrk="0" hangingPunct="1">
                  <a:defRPr sz="2400" kern="1200">
                    <a:solidFill>
                      <a:schemeClr val="bg2"/>
                    </a:solidFill>
                    <a:latin typeface="Tahoma" panose="020B0604030504040204" pitchFamily="34" charset="0"/>
                    <a:ea typeface="+mn-ea"/>
                    <a:cs typeface="+mn-cs"/>
                  </a:defRPr>
                </a:lvl7pPr>
                <a:lvl8pPr marL="3200400" algn="l" defTabSz="914400" rtl="0" eaLnBrk="1" latinLnBrk="0" hangingPunct="1">
                  <a:defRPr sz="2400" kern="1200">
                    <a:solidFill>
                      <a:schemeClr val="bg2"/>
                    </a:solidFill>
                    <a:latin typeface="Tahoma" panose="020B0604030504040204" pitchFamily="34" charset="0"/>
                    <a:ea typeface="+mn-ea"/>
                    <a:cs typeface="+mn-cs"/>
                  </a:defRPr>
                </a:lvl8pPr>
                <a:lvl9pPr marL="3657600" algn="l" defTabSz="914400" rtl="0" eaLnBrk="1" latinLnBrk="0" hangingPunct="1">
                  <a:defRPr sz="2400" kern="1200">
                    <a:solidFill>
                      <a:schemeClr val="bg2"/>
                    </a:solidFill>
                    <a:latin typeface="Tahoma" panose="020B0604030504040204" pitchFamily="34" charset="0"/>
                    <a:ea typeface="+mn-ea"/>
                    <a:cs typeface="+mn-cs"/>
                  </a:defRPr>
                </a:lvl9pPr>
              </a:lstStyle>
              <a:p>
                <a:endParaRPr lang="en-IN"/>
              </a:p>
            </p:txBody>
          </p:sp>
          <p:sp>
            <p:nvSpPr>
              <p:cNvPr id="40" name="Freeform 39"/>
              <p:cNvSpPr>
                <a:spLocks/>
              </p:cNvSpPr>
              <p:nvPr/>
            </p:nvSpPr>
            <p:spPr bwMode="auto">
              <a:xfrm>
                <a:off x="1506" y="2510"/>
                <a:ext cx="19" cy="79"/>
              </a:xfrm>
              <a:custGeom>
                <a:avLst/>
                <a:gdLst>
                  <a:gd name="T0" fmla="*/ 0 w 154"/>
                  <a:gd name="T1" fmla="*/ 0 h 634"/>
                  <a:gd name="T2" fmla="*/ 0 w 154"/>
                  <a:gd name="T3" fmla="*/ 0 h 634"/>
                  <a:gd name="T4" fmla="*/ 0 w 154"/>
                  <a:gd name="T5" fmla="*/ 0 h 634"/>
                  <a:gd name="T6" fmla="*/ 0 w 154"/>
                  <a:gd name="T7" fmla="*/ 0 h 634"/>
                  <a:gd name="T8" fmla="*/ 0 w 154"/>
                  <a:gd name="T9" fmla="*/ 0 h 634"/>
                  <a:gd name="T10" fmla="*/ 0 w 154"/>
                  <a:gd name="T11" fmla="*/ 0 h 634"/>
                  <a:gd name="T12" fmla="*/ 0 w 154"/>
                  <a:gd name="T13" fmla="*/ 0 h 634"/>
                  <a:gd name="T14" fmla="*/ 0 60000 65536"/>
                  <a:gd name="T15" fmla="*/ 0 60000 65536"/>
                  <a:gd name="T16" fmla="*/ 0 60000 65536"/>
                  <a:gd name="T17" fmla="*/ 0 60000 65536"/>
                  <a:gd name="T18" fmla="*/ 0 60000 65536"/>
                  <a:gd name="T19" fmla="*/ 0 60000 65536"/>
                  <a:gd name="T20" fmla="*/ 0 60000 65536"/>
                  <a:gd name="T21" fmla="*/ 0 w 154"/>
                  <a:gd name="T22" fmla="*/ 0 h 634"/>
                  <a:gd name="T23" fmla="*/ 154 w 154"/>
                  <a:gd name="T24" fmla="*/ 634 h 63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4" h="634">
                    <a:moveTo>
                      <a:pt x="88" y="47"/>
                    </a:moveTo>
                    <a:lnTo>
                      <a:pt x="0" y="124"/>
                    </a:lnTo>
                    <a:lnTo>
                      <a:pt x="6" y="634"/>
                    </a:lnTo>
                    <a:lnTo>
                      <a:pt x="154" y="623"/>
                    </a:lnTo>
                    <a:lnTo>
                      <a:pt x="148" y="0"/>
                    </a:lnTo>
                    <a:lnTo>
                      <a:pt x="88" y="47"/>
                    </a:lnTo>
                    <a:close/>
                  </a:path>
                </a:pathLst>
              </a:custGeom>
              <a:solidFill>
                <a:srgbClr val="FF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1pPr>
                <a:lvl2pPr marL="4572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2pPr>
                <a:lvl3pPr marL="9144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3pPr>
                <a:lvl4pPr marL="13716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4pPr>
                <a:lvl5pPr marL="18288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5pPr>
                <a:lvl6pPr marL="2286000" algn="l" defTabSz="914400" rtl="0" eaLnBrk="1" latinLnBrk="0" hangingPunct="1">
                  <a:defRPr sz="2400" kern="1200">
                    <a:solidFill>
                      <a:schemeClr val="bg2"/>
                    </a:solidFill>
                    <a:latin typeface="Tahoma" panose="020B0604030504040204" pitchFamily="34" charset="0"/>
                    <a:ea typeface="+mn-ea"/>
                    <a:cs typeface="+mn-cs"/>
                  </a:defRPr>
                </a:lvl6pPr>
                <a:lvl7pPr marL="2743200" algn="l" defTabSz="914400" rtl="0" eaLnBrk="1" latinLnBrk="0" hangingPunct="1">
                  <a:defRPr sz="2400" kern="1200">
                    <a:solidFill>
                      <a:schemeClr val="bg2"/>
                    </a:solidFill>
                    <a:latin typeface="Tahoma" panose="020B0604030504040204" pitchFamily="34" charset="0"/>
                    <a:ea typeface="+mn-ea"/>
                    <a:cs typeface="+mn-cs"/>
                  </a:defRPr>
                </a:lvl7pPr>
                <a:lvl8pPr marL="3200400" algn="l" defTabSz="914400" rtl="0" eaLnBrk="1" latinLnBrk="0" hangingPunct="1">
                  <a:defRPr sz="2400" kern="1200">
                    <a:solidFill>
                      <a:schemeClr val="bg2"/>
                    </a:solidFill>
                    <a:latin typeface="Tahoma" panose="020B0604030504040204" pitchFamily="34" charset="0"/>
                    <a:ea typeface="+mn-ea"/>
                    <a:cs typeface="+mn-cs"/>
                  </a:defRPr>
                </a:lvl8pPr>
                <a:lvl9pPr marL="3657600" algn="l" defTabSz="914400" rtl="0" eaLnBrk="1" latinLnBrk="0" hangingPunct="1">
                  <a:defRPr sz="2400" kern="1200">
                    <a:solidFill>
                      <a:schemeClr val="bg2"/>
                    </a:solidFill>
                    <a:latin typeface="Tahoma" panose="020B0604030504040204" pitchFamily="34" charset="0"/>
                    <a:ea typeface="+mn-ea"/>
                    <a:cs typeface="+mn-cs"/>
                  </a:defRPr>
                </a:lvl9pPr>
              </a:lstStyle>
              <a:p>
                <a:endParaRPr lang="en-IN"/>
              </a:p>
            </p:txBody>
          </p:sp>
          <p:sp>
            <p:nvSpPr>
              <p:cNvPr id="41" name="Freeform 40"/>
              <p:cNvSpPr>
                <a:spLocks/>
              </p:cNvSpPr>
              <p:nvPr/>
            </p:nvSpPr>
            <p:spPr bwMode="auto">
              <a:xfrm>
                <a:off x="1436" y="2526"/>
                <a:ext cx="71" cy="143"/>
              </a:xfrm>
              <a:custGeom>
                <a:avLst/>
                <a:gdLst>
                  <a:gd name="T0" fmla="*/ 0 w 567"/>
                  <a:gd name="T1" fmla="*/ 0 h 1151"/>
                  <a:gd name="T2" fmla="*/ 0 w 567"/>
                  <a:gd name="T3" fmla="*/ 0 h 1151"/>
                  <a:gd name="T4" fmla="*/ 0 w 567"/>
                  <a:gd name="T5" fmla="*/ 0 h 1151"/>
                  <a:gd name="T6" fmla="*/ 0 w 567"/>
                  <a:gd name="T7" fmla="*/ 0 h 1151"/>
                  <a:gd name="T8" fmla="*/ 0 w 567"/>
                  <a:gd name="T9" fmla="*/ 0 h 1151"/>
                  <a:gd name="T10" fmla="*/ 0 w 567"/>
                  <a:gd name="T11" fmla="*/ 0 h 1151"/>
                  <a:gd name="T12" fmla="*/ 0 w 567"/>
                  <a:gd name="T13" fmla="*/ 0 h 1151"/>
                  <a:gd name="T14" fmla="*/ 0 w 567"/>
                  <a:gd name="T15" fmla="*/ 0 h 1151"/>
                  <a:gd name="T16" fmla="*/ 0 60000 65536"/>
                  <a:gd name="T17" fmla="*/ 0 60000 65536"/>
                  <a:gd name="T18" fmla="*/ 0 60000 65536"/>
                  <a:gd name="T19" fmla="*/ 0 60000 65536"/>
                  <a:gd name="T20" fmla="*/ 0 60000 65536"/>
                  <a:gd name="T21" fmla="*/ 0 60000 65536"/>
                  <a:gd name="T22" fmla="*/ 0 60000 65536"/>
                  <a:gd name="T23" fmla="*/ 0 60000 65536"/>
                  <a:gd name="T24" fmla="*/ 0 w 567"/>
                  <a:gd name="T25" fmla="*/ 0 h 1151"/>
                  <a:gd name="T26" fmla="*/ 567 w 567"/>
                  <a:gd name="T27" fmla="*/ 1151 h 115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67" h="1151">
                    <a:moveTo>
                      <a:pt x="0" y="18"/>
                    </a:moveTo>
                    <a:lnTo>
                      <a:pt x="0" y="1151"/>
                    </a:lnTo>
                    <a:lnTo>
                      <a:pt x="89" y="1074"/>
                    </a:lnTo>
                    <a:lnTo>
                      <a:pt x="124" y="118"/>
                    </a:lnTo>
                    <a:lnTo>
                      <a:pt x="490" y="101"/>
                    </a:lnTo>
                    <a:lnTo>
                      <a:pt x="567" y="0"/>
                    </a:lnTo>
                    <a:lnTo>
                      <a:pt x="0" y="18"/>
                    </a:lnTo>
                    <a:close/>
                  </a:path>
                </a:pathLst>
              </a:custGeom>
              <a:solidFill>
                <a:srgbClr val="FF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1pPr>
                <a:lvl2pPr marL="4572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2pPr>
                <a:lvl3pPr marL="9144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3pPr>
                <a:lvl4pPr marL="13716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4pPr>
                <a:lvl5pPr marL="18288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5pPr>
                <a:lvl6pPr marL="2286000" algn="l" defTabSz="914400" rtl="0" eaLnBrk="1" latinLnBrk="0" hangingPunct="1">
                  <a:defRPr sz="2400" kern="1200">
                    <a:solidFill>
                      <a:schemeClr val="bg2"/>
                    </a:solidFill>
                    <a:latin typeface="Tahoma" panose="020B0604030504040204" pitchFamily="34" charset="0"/>
                    <a:ea typeface="+mn-ea"/>
                    <a:cs typeface="+mn-cs"/>
                  </a:defRPr>
                </a:lvl6pPr>
                <a:lvl7pPr marL="2743200" algn="l" defTabSz="914400" rtl="0" eaLnBrk="1" latinLnBrk="0" hangingPunct="1">
                  <a:defRPr sz="2400" kern="1200">
                    <a:solidFill>
                      <a:schemeClr val="bg2"/>
                    </a:solidFill>
                    <a:latin typeface="Tahoma" panose="020B0604030504040204" pitchFamily="34" charset="0"/>
                    <a:ea typeface="+mn-ea"/>
                    <a:cs typeface="+mn-cs"/>
                  </a:defRPr>
                </a:lvl7pPr>
                <a:lvl8pPr marL="3200400" algn="l" defTabSz="914400" rtl="0" eaLnBrk="1" latinLnBrk="0" hangingPunct="1">
                  <a:defRPr sz="2400" kern="1200">
                    <a:solidFill>
                      <a:schemeClr val="bg2"/>
                    </a:solidFill>
                    <a:latin typeface="Tahoma" panose="020B0604030504040204" pitchFamily="34" charset="0"/>
                    <a:ea typeface="+mn-ea"/>
                    <a:cs typeface="+mn-cs"/>
                  </a:defRPr>
                </a:lvl8pPr>
                <a:lvl9pPr marL="3657600" algn="l" defTabSz="914400" rtl="0" eaLnBrk="1" latinLnBrk="0" hangingPunct="1">
                  <a:defRPr sz="2400" kern="1200">
                    <a:solidFill>
                      <a:schemeClr val="bg2"/>
                    </a:solidFill>
                    <a:latin typeface="Tahoma" panose="020B0604030504040204" pitchFamily="34" charset="0"/>
                    <a:ea typeface="+mn-ea"/>
                    <a:cs typeface="+mn-cs"/>
                  </a:defRPr>
                </a:lvl9pPr>
              </a:lstStyle>
              <a:p>
                <a:endParaRPr lang="en-IN"/>
              </a:p>
            </p:txBody>
          </p:sp>
          <p:sp>
            <p:nvSpPr>
              <p:cNvPr id="42" name="Freeform 41"/>
              <p:cNvSpPr>
                <a:spLocks/>
              </p:cNvSpPr>
              <p:nvPr/>
            </p:nvSpPr>
            <p:spPr bwMode="auto">
              <a:xfrm>
                <a:off x="1422" y="2598"/>
                <a:ext cx="373" cy="85"/>
              </a:xfrm>
              <a:custGeom>
                <a:avLst/>
                <a:gdLst>
                  <a:gd name="T0" fmla="*/ 0 w 2983"/>
                  <a:gd name="T1" fmla="*/ 0 h 682"/>
                  <a:gd name="T2" fmla="*/ 0 w 2983"/>
                  <a:gd name="T3" fmla="*/ 0 h 682"/>
                  <a:gd name="T4" fmla="*/ 0 w 2983"/>
                  <a:gd name="T5" fmla="*/ 0 h 682"/>
                  <a:gd name="T6" fmla="*/ 0 w 2983"/>
                  <a:gd name="T7" fmla="*/ 0 h 682"/>
                  <a:gd name="T8" fmla="*/ 0 w 2983"/>
                  <a:gd name="T9" fmla="*/ 0 h 682"/>
                  <a:gd name="T10" fmla="*/ 0 w 2983"/>
                  <a:gd name="T11" fmla="*/ 0 h 682"/>
                  <a:gd name="T12" fmla="*/ 0 w 2983"/>
                  <a:gd name="T13" fmla="*/ 0 h 682"/>
                  <a:gd name="T14" fmla="*/ 0 w 2983"/>
                  <a:gd name="T15" fmla="*/ 0 h 682"/>
                  <a:gd name="T16" fmla="*/ 0 w 2983"/>
                  <a:gd name="T17" fmla="*/ 0 h 682"/>
                  <a:gd name="T18" fmla="*/ 0 w 2983"/>
                  <a:gd name="T19" fmla="*/ 0 h 68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983"/>
                  <a:gd name="T31" fmla="*/ 0 h 682"/>
                  <a:gd name="T32" fmla="*/ 2983 w 2983"/>
                  <a:gd name="T33" fmla="*/ 682 h 68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983" h="682">
                    <a:moveTo>
                      <a:pt x="690" y="0"/>
                    </a:moveTo>
                    <a:lnTo>
                      <a:pt x="690" y="570"/>
                    </a:lnTo>
                    <a:lnTo>
                      <a:pt x="123" y="564"/>
                    </a:lnTo>
                    <a:lnTo>
                      <a:pt x="0" y="665"/>
                    </a:lnTo>
                    <a:lnTo>
                      <a:pt x="821" y="682"/>
                    </a:lnTo>
                    <a:lnTo>
                      <a:pt x="844" y="137"/>
                    </a:lnTo>
                    <a:lnTo>
                      <a:pt x="2948" y="137"/>
                    </a:lnTo>
                    <a:lnTo>
                      <a:pt x="2983" y="0"/>
                    </a:lnTo>
                    <a:lnTo>
                      <a:pt x="690" y="0"/>
                    </a:lnTo>
                    <a:close/>
                  </a:path>
                </a:pathLst>
              </a:custGeom>
              <a:solidFill>
                <a:srgbClr val="FF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1pPr>
                <a:lvl2pPr marL="4572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2pPr>
                <a:lvl3pPr marL="9144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3pPr>
                <a:lvl4pPr marL="13716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4pPr>
                <a:lvl5pPr marL="18288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5pPr>
                <a:lvl6pPr marL="2286000" algn="l" defTabSz="914400" rtl="0" eaLnBrk="1" latinLnBrk="0" hangingPunct="1">
                  <a:defRPr sz="2400" kern="1200">
                    <a:solidFill>
                      <a:schemeClr val="bg2"/>
                    </a:solidFill>
                    <a:latin typeface="Tahoma" panose="020B0604030504040204" pitchFamily="34" charset="0"/>
                    <a:ea typeface="+mn-ea"/>
                    <a:cs typeface="+mn-cs"/>
                  </a:defRPr>
                </a:lvl6pPr>
                <a:lvl7pPr marL="2743200" algn="l" defTabSz="914400" rtl="0" eaLnBrk="1" latinLnBrk="0" hangingPunct="1">
                  <a:defRPr sz="2400" kern="1200">
                    <a:solidFill>
                      <a:schemeClr val="bg2"/>
                    </a:solidFill>
                    <a:latin typeface="Tahoma" panose="020B0604030504040204" pitchFamily="34" charset="0"/>
                    <a:ea typeface="+mn-ea"/>
                    <a:cs typeface="+mn-cs"/>
                  </a:defRPr>
                </a:lvl7pPr>
                <a:lvl8pPr marL="3200400" algn="l" defTabSz="914400" rtl="0" eaLnBrk="1" latinLnBrk="0" hangingPunct="1">
                  <a:defRPr sz="2400" kern="1200">
                    <a:solidFill>
                      <a:schemeClr val="bg2"/>
                    </a:solidFill>
                    <a:latin typeface="Tahoma" panose="020B0604030504040204" pitchFamily="34" charset="0"/>
                    <a:ea typeface="+mn-ea"/>
                    <a:cs typeface="+mn-cs"/>
                  </a:defRPr>
                </a:lvl8pPr>
                <a:lvl9pPr marL="3657600" algn="l" defTabSz="914400" rtl="0" eaLnBrk="1" latinLnBrk="0" hangingPunct="1">
                  <a:defRPr sz="2400" kern="1200">
                    <a:solidFill>
                      <a:schemeClr val="bg2"/>
                    </a:solidFill>
                    <a:latin typeface="Tahoma" panose="020B0604030504040204" pitchFamily="34" charset="0"/>
                    <a:ea typeface="+mn-ea"/>
                    <a:cs typeface="+mn-cs"/>
                  </a:defRPr>
                </a:lvl9pPr>
              </a:lstStyle>
              <a:p>
                <a:endParaRPr lang="en-IN"/>
              </a:p>
            </p:txBody>
          </p:sp>
          <p:sp>
            <p:nvSpPr>
              <p:cNvPr id="43" name="Freeform 42"/>
              <p:cNvSpPr>
                <a:spLocks/>
              </p:cNvSpPr>
              <p:nvPr/>
            </p:nvSpPr>
            <p:spPr bwMode="auto">
              <a:xfrm>
                <a:off x="1517" y="2571"/>
                <a:ext cx="304" cy="89"/>
              </a:xfrm>
              <a:custGeom>
                <a:avLst/>
                <a:gdLst>
                  <a:gd name="T0" fmla="*/ 0 w 2432"/>
                  <a:gd name="T1" fmla="*/ 0 h 719"/>
                  <a:gd name="T2" fmla="*/ 0 w 2432"/>
                  <a:gd name="T3" fmla="*/ 0 h 719"/>
                  <a:gd name="T4" fmla="*/ 0 w 2432"/>
                  <a:gd name="T5" fmla="*/ 0 h 719"/>
                  <a:gd name="T6" fmla="*/ 0 w 2432"/>
                  <a:gd name="T7" fmla="*/ 0 h 719"/>
                  <a:gd name="T8" fmla="*/ 0 w 2432"/>
                  <a:gd name="T9" fmla="*/ 0 h 719"/>
                  <a:gd name="T10" fmla="*/ 0 w 2432"/>
                  <a:gd name="T11" fmla="*/ 0 h 719"/>
                  <a:gd name="T12" fmla="*/ 0 w 2432"/>
                  <a:gd name="T13" fmla="*/ 0 h 719"/>
                  <a:gd name="T14" fmla="*/ 0 w 2432"/>
                  <a:gd name="T15" fmla="*/ 0 h 719"/>
                  <a:gd name="T16" fmla="*/ 0 w 2432"/>
                  <a:gd name="T17" fmla="*/ 0 h 719"/>
                  <a:gd name="T18" fmla="*/ 0 w 2432"/>
                  <a:gd name="T19" fmla="*/ 0 h 719"/>
                  <a:gd name="T20" fmla="*/ 0 w 2432"/>
                  <a:gd name="T21" fmla="*/ 0 h 719"/>
                  <a:gd name="T22" fmla="*/ 0 w 2432"/>
                  <a:gd name="T23" fmla="*/ 0 h 719"/>
                  <a:gd name="T24" fmla="*/ 0 w 2432"/>
                  <a:gd name="T25" fmla="*/ 0 h 719"/>
                  <a:gd name="T26" fmla="*/ 0 w 2432"/>
                  <a:gd name="T27" fmla="*/ 0 h 719"/>
                  <a:gd name="T28" fmla="*/ 0 w 2432"/>
                  <a:gd name="T29" fmla="*/ 0 h 719"/>
                  <a:gd name="T30" fmla="*/ 0 w 2432"/>
                  <a:gd name="T31" fmla="*/ 0 h 71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432"/>
                  <a:gd name="T49" fmla="*/ 0 h 719"/>
                  <a:gd name="T50" fmla="*/ 2432 w 2432"/>
                  <a:gd name="T51" fmla="*/ 719 h 71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432" h="719">
                    <a:moveTo>
                      <a:pt x="0" y="0"/>
                    </a:moveTo>
                    <a:lnTo>
                      <a:pt x="2288" y="0"/>
                    </a:lnTo>
                    <a:lnTo>
                      <a:pt x="2432" y="215"/>
                    </a:lnTo>
                    <a:lnTo>
                      <a:pt x="2288" y="431"/>
                    </a:lnTo>
                    <a:lnTo>
                      <a:pt x="2288" y="719"/>
                    </a:lnTo>
                    <a:lnTo>
                      <a:pt x="1717" y="719"/>
                    </a:lnTo>
                    <a:lnTo>
                      <a:pt x="1717" y="575"/>
                    </a:lnTo>
                    <a:lnTo>
                      <a:pt x="2145" y="575"/>
                    </a:lnTo>
                    <a:lnTo>
                      <a:pt x="2145" y="431"/>
                    </a:lnTo>
                    <a:lnTo>
                      <a:pt x="1860" y="431"/>
                    </a:lnTo>
                    <a:lnTo>
                      <a:pt x="1860" y="288"/>
                    </a:lnTo>
                    <a:lnTo>
                      <a:pt x="2145" y="288"/>
                    </a:lnTo>
                    <a:lnTo>
                      <a:pt x="2145" y="144"/>
                    </a:lnTo>
                    <a:lnTo>
                      <a:pt x="0" y="14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1pPr>
                <a:lvl2pPr marL="4572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2pPr>
                <a:lvl3pPr marL="9144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3pPr>
                <a:lvl4pPr marL="13716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4pPr>
                <a:lvl5pPr marL="18288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5pPr>
                <a:lvl6pPr marL="2286000" algn="l" defTabSz="914400" rtl="0" eaLnBrk="1" latinLnBrk="0" hangingPunct="1">
                  <a:defRPr sz="2400" kern="1200">
                    <a:solidFill>
                      <a:schemeClr val="bg2"/>
                    </a:solidFill>
                    <a:latin typeface="Tahoma" panose="020B0604030504040204" pitchFamily="34" charset="0"/>
                    <a:ea typeface="+mn-ea"/>
                    <a:cs typeface="+mn-cs"/>
                  </a:defRPr>
                </a:lvl6pPr>
                <a:lvl7pPr marL="2743200" algn="l" defTabSz="914400" rtl="0" eaLnBrk="1" latinLnBrk="0" hangingPunct="1">
                  <a:defRPr sz="2400" kern="1200">
                    <a:solidFill>
                      <a:schemeClr val="bg2"/>
                    </a:solidFill>
                    <a:latin typeface="Tahoma" panose="020B0604030504040204" pitchFamily="34" charset="0"/>
                    <a:ea typeface="+mn-ea"/>
                    <a:cs typeface="+mn-cs"/>
                  </a:defRPr>
                </a:lvl7pPr>
                <a:lvl8pPr marL="3200400" algn="l" defTabSz="914400" rtl="0" eaLnBrk="1" latinLnBrk="0" hangingPunct="1">
                  <a:defRPr sz="2400" kern="1200">
                    <a:solidFill>
                      <a:schemeClr val="bg2"/>
                    </a:solidFill>
                    <a:latin typeface="Tahoma" panose="020B0604030504040204" pitchFamily="34" charset="0"/>
                    <a:ea typeface="+mn-ea"/>
                    <a:cs typeface="+mn-cs"/>
                  </a:defRPr>
                </a:lvl8pPr>
                <a:lvl9pPr marL="3657600" algn="l" defTabSz="914400" rtl="0" eaLnBrk="1" latinLnBrk="0" hangingPunct="1">
                  <a:defRPr sz="2400" kern="1200">
                    <a:solidFill>
                      <a:schemeClr val="bg2"/>
                    </a:solidFill>
                    <a:latin typeface="Tahoma" panose="020B0604030504040204" pitchFamily="34" charset="0"/>
                    <a:ea typeface="+mn-ea"/>
                    <a:cs typeface="+mn-cs"/>
                  </a:defRPr>
                </a:lvl9pPr>
              </a:lstStyle>
              <a:p>
                <a:endParaRPr lang="en-IN"/>
              </a:p>
            </p:txBody>
          </p:sp>
          <p:sp>
            <p:nvSpPr>
              <p:cNvPr id="44" name="Freeform 43"/>
              <p:cNvSpPr>
                <a:spLocks/>
              </p:cNvSpPr>
              <p:nvPr/>
            </p:nvSpPr>
            <p:spPr bwMode="auto">
              <a:xfrm>
                <a:off x="1517" y="2606"/>
                <a:ext cx="215" cy="18"/>
              </a:xfrm>
              <a:custGeom>
                <a:avLst/>
                <a:gdLst>
                  <a:gd name="T0" fmla="*/ 0 w 1717"/>
                  <a:gd name="T1" fmla="*/ 0 h 143"/>
                  <a:gd name="T2" fmla="*/ 0 w 1717"/>
                  <a:gd name="T3" fmla="*/ 0 h 143"/>
                  <a:gd name="T4" fmla="*/ 0 w 1717"/>
                  <a:gd name="T5" fmla="*/ 0 h 143"/>
                  <a:gd name="T6" fmla="*/ 0 w 1717"/>
                  <a:gd name="T7" fmla="*/ 0 h 143"/>
                  <a:gd name="T8" fmla="*/ 0 w 1717"/>
                  <a:gd name="T9" fmla="*/ 0 h 143"/>
                  <a:gd name="T10" fmla="*/ 0 w 1717"/>
                  <a:gd name="T11" fmla="*/ 0 h 143"/>
                  <a:gd name="T12" fmla="*/ 0 w 1717"/>
                  <a:gd name="T13" fmla="*/ 0 h 143"/>
                  <a:gd name="T14" fmla="*/ 0 60000 65536"/>
                  <a:gd name="T15" fmla="*/ 0 60000 65536"/>
                  <a:gd name="T16" fmla="*/ 0 60000 65536"/>
                  <a:gd name="T17" fmla="*/ 0 60000 65536"/>
                  <a:gd name="T18" fmla="*/ 0 60000 65536"/>
                  <a:gd name="T19" fmla="*/ 0 60000 65536"/>
                  <a:gd name="T20" fmla="*/ 0 60000 65536"/>
                  <a:gd name="T21" fmla="*/ 0 w 1717"/>
                  <a:gd name="T22" fmla="*/ 0 h 143"/>
                  <a:gd name="T23" fmla="*/ 1717 w 1717"/>
                  <a:gd name="T24" fmla="*/ 143 h 14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17" h="143">
                    <a:moveTo>
                      <a:pt x="143" y="0"/>
                    </a:moveTo>
                    <a:lnTo>
                      <a:pt x="1717" y="0"/>
                    </a:lnTo>
                    <a:lnTo>
                      <a:pt x="1717" y="143"/>
                    </a:lnTo>
                    <a:lnTo>
                      <a:pt x="107" y="143"/>
                    </a:lnTo>
                    <a:lnTo>
                      <a:pt x="0" y="0"/>
                    </a:lnTo>
                    <a:lnTo>
                      <a:pt x="14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1pPr>
                <a:lvl2pPr marL="4572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2pPr>
                <a:lvl3pPr marL="9144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3pPr>
                <a:lvl4pPr marL="13716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4pPr>
                <a:lvl5pPr marL="18288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5pPr>
                <a:lvl6pPr marL="2286000" algn="l" defTabSz="914400" rtl="0" eaLnBrk="1" latinLnBrk="0" hangingPunct="1">
                  <a:defRPr sz="2400" kern="1200">
                    <a:solidFill>
                      <a:schemeClr val="bg2"/>
                    </a:solidFill>
                    <a:latin typeface="Tahoma" panose="020B0604030504040204" pitchFamily="34" charset="0"/>
                    <a:ea typeface="+mn-ea"/>
                    <a:cs typeface="+mn-cs"/>
                  </a:defRPr>
                </a:lvl6pPr>
                <a:lvl7pPr marL="2743200" algn="l" defTabSz="914400" rtl="0" eaLnBrk="1" latinLnBrk="0" hangingPunct="1">
                  <a:defRPr sz="2400" kern="1200">
                    <a:solidFill>
                      <a:schemeClr val="bg2"/>
                    </a:solidFill>
                    <a:latin typeface="Tahoma" panose="020B0604030504040204" pitchFamily="34" charset="0"/>
                    <a:ea typeface="+mn-ea"/>
                    <a:cs typeface="+mn-cs"/>
                  </a:defRPr>
                </a:lvl7pPr>
                <a:lvl8pPr marL="3200400" algn="l" defTabSz="914400" rtl="0" eaLnBrk="1" latinLnBrk="0" hangingPunct="1">
                  <a:defRPr sz="2400" kern="1200">
                    <a:solidFill>
                      <a:schemeClr val="bg2"/>
                    </a:solidFill>
                    <a:latin typeface="Tahoma" panose="020B0604030504040204" pitchFamily="34" charset="0"/>
                    <a:ea typeface="+mn-ea"/>
                    <a:cs typeface="+mn-cs"/>
                  </a:defRPr>
                </a:lvl8pPr>
                <a:lvl9pPr marL="3657600" algn="l" defTabSz="914400" rtl="0" eaLnBrk="1" latinLnBrk="0" hangingPunct="1">
                  <a:defRPr sz="2400" kern="1200">
                    <a:solidFill>
                      <a:schemeClr val="bg2"/>
                    </a:solidFill>
                    <a:latin typeface="Tahoma" panose="020B0604030504040204" pitchFamily="34" charset="0"/>
                    <a:ea typeface="+mn-ea"/>
                    <a:cs typeface="+mn-cs"/>
                  </a:defRPr>
                </a:lvl9pPr>
              </a:lstStyle>
              <a:p>
                <a:endParaRPr lang="en-IN"/>
              </a:p>
            </p:txBody>
          </p:sp>
          <p:sp>
            <p:nvSpPr>
              <p:cNvPr id="45" name="Freeform 44"/>
              <p:cNvSpPr>
                <a:spLocks/>
              </p:cNvSpPr>
              <p:nvPr/>
            </p:nvSpPr>
            <p:spPr bwMode="auto">
              <a:xfrm>
                <a:off x="1410" y="2499"/>
                <a:ext cx="125" cy="197"/>
              </a:xfrm>
              <a:custGeom>
                <a:avLst/>
                <a:gdLst>
                  <a:gd name="T0" fmla="*/ 0 w 1001"/>
                  <a:gd name="T1" fmla="*/ 0 h 1580"/>
                  <a:gd name="T2" fmla="*/ 0 w 1001"/>
                  <a:gd name="T3" fmla="*/ 0 h 1580"/>
                  <a:gd name="T4" fmla="*/ 0 w 1001"/>
                  <a:gd name="T5" fmla="*/ 0 h 1580"/>
                  <a:gd name="T6" fmla="*/ 0 w 1001"/>
                  <a:gd name="T7" fmla="*/ 0 h 1580"/>
                  <a:gd name="T8" fmla="*/ 0 w 1001"/>
                  <a:gd name="T9" fmla="*/ 0 h 1580"/>
                  <a:gd name="T10" fmla="*/ 0 w 1001"/>
                  <a:gd name="T11" fmla="*/ 0 h 1580"/>
                  <a:gd name="T12" fmla="*/ 0 w 1001"/>
                  <a:gd name="T13" fmla="*/ 0 h 1580"/>
                  <a:gd name="T14" fmla="*/ 0 w 1001"/>
                  <a:gd name="T15" fmla="*/ 0 h 1580"/>
                  <a:gd name="T16" fmla="*/ 0 w 1001"/>
                  <a:gd name="T17" fmla="*/ 0 h 1580"/>
                  <a:gd name="T18" fmla="*/ 0 w 1001"/>
                  <a:gd name="T19" fmla="*/ 0 h 1580"/>
                  <a:gd name="T20" fmla="*/ 0 w 1001"/>
                  <a:gd name="T21" fmla="*/ 0 h 1580"/>
                  <a:gd name="T22" fmla="*/ 0 w 1001"/>
                  <a:gd name="T23" fmla="*/ 0 h 158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01"/>
                  <a:gd name="T37" fmla="*/ 0 h 1580"/>
                  <a:gd name="T38" fmla="*/ 1001 w 1001"/>
                  <a:gd name="T39" fmla="*/ 1580 h 158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01" h="1580">
                    <a:moveTo>
                      <a:pt x="0" y="0"/>
                    </a:moveTo>
                    <a:lnTo>
                      <a:pt x="0" y="1580"/>
                    </a:lnTo>
                    <a:lnTo>
                      <a:pt x="1001" y="1580"/>
                    </a:lnTo>
                    <a:lnTo>
                      <a:pt x="1001" y="862"/>
                    </a:lnTo>
                    <a:lnTo>
                      <a:pt x="858" y="862"/>
                    </a:lnTo>
                    <a:lnTo>
                      <a:pt x="858" y="1436"/>
                    </a:lnTo>
                    <a:lnTo>
                      <a:pt x="143" y="1436"/>
                    </a:lnTo>
                    <a:lnTo>
                      <a:pt x="143" y="143"/>
                    </a:lnTo>
                    <a:lnTo>
                      <a:pt x="1001" y="143"/>
                    </a:lnTo>
                    <a:lnTo>
                      <a:pt x="1001"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1pPr>
                <a:lvl2pPr marL="4572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2pPr>
                <a:lvl3pPr marL="9144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3pPr>
                <a:lvl4pPr marL="13716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4pPr>
                <a:lvl5pPr marL="18288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5pPr>
                <a:lvl6pPr marL="2286000" algn="l" defTabSz="914400" rtl="0" eaLnBrk="1" latinLnBrk="0" hangingPunct="1">
                  <a:defRPr sz="2400" kern="1200">
                    <a:solidFill>
                      <a:schemeClr val="bg2"/>
                    </a:solidFill>
                    <a:latin typeface="Tahoma" panose="020B0604030504040204" pitchFamily="34" charset="0"/>
                    <a:ea typeface="+mn-ea"/>
                    <a:cs typeface="+mn-cs"/>
                  </a:defRPr>
                </a:lvl6pPr>
                <a:lvl7pPr marL="2743200" algn="l" defTabSz="914400" rtl="0" eaLnBrk="1" latinLnBrk="0" hangingPunct="1">
                  <a:defRPr sz="2400" kern="1200">
                    <a:solidFill>
                      <a:schemeClr val="bg2"/>
                    </a:solidFill>
                    <a:latin typeface="Tahoma" panose="020B0604030504040204" pitchFamily="34" charset="0"/>
                    <a:ea typeface="+mn-ea"/>
                    <a:cs typeface="+mn-cs"/>
                  </a:defRPr>
                </a:lvl7pPr>
                <a:lvl8pPr marL="3200400" algn="l" defTabSz="914400" rtl="0" eaLnBrk="1" latinLnBrk="0" hangingPunct="1">
                  <a:defRPr sz="2400" kern="1200">
                    <a:solidFill>
                      <a:schemeClr val="bg2"/>
                    </a:solidFill>
                    <a:latin typeface="Tahoma" panose="020B0604030504040204" pitchFamily="34" charset="0"/>
                    <a:ea typeface="+mn-ea"/>
                    <a:cs typeface="+mn-cs"/>
                  </a:defRPr>
                </a:lvl8pPr>
                <a:lvl9pPr marL="3657600" algn="l" defTabSz="914400" rtl="0" eaLnBrk="1" latinLnBrk="0" hangingPunct="1">
                  <a:defRPr sz="2400" kern="1200">
                    <a:solidFill>
                      <a:schemeClr val="bg2"/>
                    </a:solidFill>
                    <a:latin typeface="Tahoma" panose="020B0604030504040204" pitchFamily="34" charset="0"/>
                    <a:ea typeface="+mn-ea"/>
                    <a:cs typeface="+mn-cs"/>
                  </a:defRPr>
                </a:lvl9pPr>
              </a:lstStyle>
              <a:p>
                <a:endParaRPr lang="en-IN"/>
              </a:p>
            </p:txBody>
          </p:sp>
          <p:sp>
            <p:nvSpPr>
              <p:cNvPr id="46" name="Freeform 45"/>
              <p:cNvSpPr>
                <a:spLocks/>
              </p:cNvSpPr>
              <p:nvPr/>
            </p:nvSpPr>
            <p:spPr bwMode="auto">
              <a:xfrm>
                <a:off x="1446" y="2535"/>
                <a:ext cx="53" cy="125"/>
              </a:xfrm>
              <a:custGeom>
                <a:avLst/>
                <a:gdLst>
                  <a:gd name="T0" fmla="*/ 0 w 428"/>
                  <a:gd name="T1" fmla="*/ 0 h 1007"/>
                  <a:gd name="T2" fmla="*/ 0 w 428"/>
                  <a:gd name="T3" fmla="*/ 0 h 1007"/>
                  <a:gd name="T4" fmla="*/ 0 w 428"/>
                  <a:gd name="T5" fmla="*/ 0 h 1007"/>
                  <a:gd name="T6" fmla="*/ 0 w 428"/>
                  <a:gd name="T7" fmla="*/ 0 h 1007"/>
                  <a:gd name="T8" fmla="*/ 0 w 428"/>
                  <a:gd name="T9" fmla="*/ 0 h 1007"/>
                  <a:gd name="T10" fmla="*/ 0 w 428"/>
                  <a:gd name="T11" fmla="*/ 0 h 1007"/>
                  <a:gd name="T12" fmla="*/ 0 w 428"/>
                  <a:gd name="T13" fmla="*/ 0 h 1007"/>
                  <a:gd name="T14" fmla="*/ 0 w 428"/>
                  <a:gd name="T15" fmla="*/ 0 h 1007"/>
                  <a:gd name="T16" fmla="*/ 0 w 428"/>
                  <a:gd name="T17" fmla="*/ 0 h 1007"/>
                  <a:gd name="T18" fmla="*/ 0 w 428"/>
                  <a:gd name="T19" fmla="*/ 0 h 100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28"/>
                  <a:gd name="T31" fmla="*/ 0 h 1007"/>
                  <a:gd name="T32" fmla="*/ 428 w 428"/>
                  <a:gd name="T33" fmla="*/ 1007 h 100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28" h="1007">
                    <a:moveTo>
                      <a:pt x="0" y="0"/>
                    </a:moveTo>
                    <a:lnTo>
                      <a:pt x="0" y="1007"/>
                    </a:lnTo>
                    <a:lnTo>
                      <a:pt x="428" y="1007"/>
                    </a:lnTo>
                    <a:lnTo>
                      <a:pt x="428" y="0"/>
                    </a:lnTo>
                    <a:lnTo>
                      <a:pt x="285" y="0"/>
                    </a:lnTo>
                    <a:lnTo>
                      <a:pt x="285" y="863"/>
                    </a:lnTo>
                    <a:lnTo>
                      <a:pt x="143" y="863"/>
                    </a:lnTo>
                    <a:lnTo>
                      <a:pt x="143"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1pPr>
                <a:lvl2pPr marL="4572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2pPr>
                <a:lvl3pPr marL="9144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3pPr>
                <a:lvl4pPr marL="13716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4pPr>
                <a:lvl5pPr marL="18288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5pPr>
                <a:lvl6pPr marL="2286000" algn="l" defTabSz="914400" rtl="0" eaLnBrk="1" latinLnBrk="0" hangingPunct="1">
                  <a:defRPr sz="2400" kern="1200">
                    <a:solidFill>
                      <a:schemeClr val="bg2"/>
                    </a:solidFill>
                    <a:latin typeface="Tahoma" panose="020B0604030504040204" pitchFamily="34" charset="0"/>
                    <a:ea typeface="+mn-ea"/>
                    <a:cs typeface="+mn-cs"/>
                  </a:defRPr>
                </a:lvl6pPr>
                <a:lvl7pPr marL="2743200" algn="l" defTabSz="914400" rtl="0" eaLnBrk="1" latinLnBrk="0" hangingPunct="1">
                  <a:defRPr sz="2400" kern="1200">
                    <a:solidFill>
                      <a:schemeClr val="bg2"/>
                    </a:solidFill>
                    <a:latin typeface="Tahoma" panose="020B0604030504040204" pitchFamily="34" charset="0"/>
                    <a:ea typeface="+mn-ea"/>
                    <a:cs typeface="+mn-cs"/>
                  </a:defRPr>
                </a:lvl7pPr>
                <a:lvl8pPr marL="3200400" algn="l" defTabSz="914400" rtl="0" eaLnBrk="1" latinLnBrk="0" hangingPunct="1">
                  <a:defRPr sz="2400" kern="1200">
                    <a:solidFill>
                      <a:schemeClr val="bg2"/>
                    </a:solidFill>
                    <a:latin typeface="Tahoma" panose="020B0604030504040204" pitchFamily="34" charset="0"/>
                    <a:ea typeface="+mn-ea"/>
                    <a:cs typeface="+mn-cs"/>
                  </a:defRPr>
                </a:lvl8pPr>
                <a:lvl9pPr marL="3657600" algn="l" defTabSz="914400" rtl="0" eaLnBrk="1" latinLnBrk="0" hangingPunct="1">
                  <a:defRPr sz="2400" kern="1200">
                    <a:solidFill>
                      <a:schemeClr val="bg2"/>
                    </a:solidFill>
                    <a:latin typeface="Tahoma" panose="020B0604030504040204" pitchFamily="34" charset="0"/>
                    <a:ea typeface="+mn-ea"/>
                    <a:cs typeface="+mn-cs"/>
                  </a:defRPr>
                </a:lvl9pPr>
              </a:lstStyle>
              <a:p>
                <a:endParaRPr lang="en-IN"/>
              </a:p>
            </p:txBody>
          </p:sp>
          <p:sp>
            <p:nvSpPr>
              <p:cNvPr id="47" name="Freeform 46"/>
              <p:cNvSpPr>
                <a:spLocks/>
              </p:cNvSpPr>
              <p:nvPr/>
            </p:nvSpPr>
            <p:spPr bwMode="auto">
              <a:xfrm>
                <a:off x="1446" y="2535"/>
                <a:ext cx="53" cy="18"/>
              </a:xfrm>
              <a:custGeom>
                <a:avLst/>
                <a:gdLst>
                  <a:gd name="T0" fmla="*/ 0 w 428"/>
                  <a:gd name="T1" fmla="*/ 0 h 145"/>
                  <a:gd name="T2" fmla="*/ 0 w 428"/>
                  <a:gd name="T3" fmla="*/ 0 h 145"/>
                  <a:gd name="T4" fmla="*/ 0 w 428"/>
                  <a:gd name="T5" fmla="*/ 0 h 145"/>
                  <a:gd name="T6" fmla="*/ 0 w 428"/>
                  <a:gd name="T7" fmla="*/ 0 h 145"/>
                  <a:gd name="T8" fmla="*/ 0 w 428"/>
                  <a:gd name="T9" fmla="*/ 0 h 145"/>
                  <a:gd name="T10" fmla="*/ 0 w 428"/>
                  <a:gd name="T11" fmla="*/ 0 h 145"/>
                  <a:gd name="T12" fmla="*/ 0 60000 65536"/>
                  <a:gd name="T13" fmla="*/ 0 60000 65536"/>
                  <a:gd name="T14" fmla="*/ 0 60000 65536"/>
                  <a:gd name="T15" fmla="*/ 0 60000 65536"/>
                  <a:gd name="T16" fmla="*/ 0 60000 65536"/>
                  <a:gd name="T17" fmla="*/ 0 60000 65536"/>
                  <a:gd name="T18" fmla="*/ 0 w 428"/>
                  <a:gd name="T19" fmla="*/ 0 h 145"/>
                  <a:gd name="T20" fmla="*/ 428 w 428"/>
                  <a:gd name="T21" fmla="*/ 145 h 145"/>
                </a:gdLst>
                <a:ahLst/>
                <a:cxnLst>
                  <a:cxn ang="T12">
                    <a:pos x="T0" y="T1"/>
                  </a:cxn>
                  <a:cxn ang="T13">
                    <a:pos x="T2" y="T3"/>
                  </a:cxn>
                  <a:cxn ang="T14">
                    <a:pos x="T4" y="T5"/>
                  </a:cxn>
                  <a:cxn ang="T15">
                    <a:pos x="T6" y="T7"/>
                  </a:cxn>
                  <a:cxn ang="T16">
                    <a:pos x="T8" y="T9"/>
                  </a:cxn>
                  <a:cxn ang="T17">
                    <a:pos x="T10" y="T11"/>
                  </a:cxn>
                </a:cxnLst>
                <a:rect l="T18" t="T19" r="T20" b="T21"/>
                <a:pathLst>
                  <a:path w="428" h="145">
                    <a:moveTo>
                      <a:pt x="0" y="145"/>
                    </a:moveTo>
                    <a:lnTo>
                      <a:pt x="428" y="145"/>
                    </a:lnTo>
                    <a:lnTo>
                      <a:pt x="428" y="0"/>
                    </a:lnTo>
                    <a:lnTo>
                      <a:pt x="0" y="0"/>
                    </a:lnTo>
                    <a:lnTo>
                      <a:pt x="0" y="14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1pPr>
                <a:lvl2pPr marL="4572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2pPr>
                <a:lvl3pPr marL="9144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3pPr>
                <a:lvl4pPr marL="13716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4pPr>
                <a:lvl5pPr marL="18288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5pPr>
                <a:lvl6pPr marL="2286000" algn="l" defTabSz="914400" rtl="0" eaLnBrk="1" latinLnBrk="0" hangingPunct="1">
                  <a:defRPr sz="2400" kern="1200">
                    <a:solidFill>
                      <a:schemeClr val="bg2"/>
                    </a:solidFill>
                    <a:latin typeface="Tahoma" panose="020B0604030504040204" pitchFamily="34" charset="0"/>
                    <a:ea typeface="+mn-ea"/>
                    <a:cs typeface="+mn-cs"/>
                  </a:defRPr>
                </a:lvl6pPr>
                <a:lvl7pPr marL="2743200" algn="l" defTabSz="914400" rtl="0" eaLnBrk="1" latinLnBrk="0" hangingPunct="1">
                  <a:defRPr sz="2400" kern="1200">
                    <a:solidFill>
                      <a:schemeClr val="bg2"/>
                    </a:solidFill>
                    <a:latin typeface="Tahoma" panose="020B0604030504040204" pitchFamily="34" charset="0"/>
                    <a:ea typeface="+mn-ea"/>
                    <a:cs typeface="+mn-cs"/>
                  </a:defRPr>
                </a:lvl7pPr>
                <a:lvl8pPr marL="3200400" algn="l" defTabSz="914400" rtl="0" eaLnBrk="1" latinLnBrk="0" hangingPunct="1">
                  <a:defRPr sz="2400" kern="1200">
                    <a:solidFill>
                      <a:schemeClr val="bg2"/>
                    </a:solidFill>
                    <a:latin typeface="Tahoma" panose="020B0604030504040204" pitchFamily="34" charset="0"/>
                    <a:ea typeface="+mn-ea"/>
                    <a:cs typeface="+mn-cs"/>
                  </a:defRPr>
                </a:lvl8pPr>
                <a:lvl9pPr marL="3657600" algn="l" defTabSz="914400" rtl="0" eaLnBrk="1" latinLnBrk="0" hangingPunct="1">
                  <a:defRPr sz="2400" kern="1200">
                    <a:solidFill>
                      <a:schemeClr val="bg2"/>
                    </a:solidFill>
                    <a:latin typeface="Tahoma" panose="020B0604030504040204" pitchFamily="34" charset="0"/>
                    <a:ea typeface="+mn-ea"/>
                    <a:cs typeface="+mn-cs"/>
                  </a:defRPr>
                </a:lvl9pPr>
              </a:lstStyle>
              <a:p>
                <a:endParaRPr lang="en-IN"/>
              </a:p>
            </p:txBody>
          </p:sp>
          <p:sp>
            <p:nvSpPr>
              <p:cNvPr id="48" name="Freeform 47"/>
              <p:cNvSpPr>
                <a:spLocks/>
              </p:cNvSpPr>
              <p:nvPr/>
            </p:nvSpPr>
            <p:spPr bwMode="auto">
              <a:xfrm>
                <a:off x="1517" y="2499"/>
                <a:ext cx="18" cy="90"/>
              </a:xfrm>
              <a:custGeom>
                <a:avLst/>
                <a:gdLst>
                  <a:gd name="T0" fmla="*/ 0 w 143"/>
                  <a:gd name="T1" fmla="*/ 0 h 718"/>
                  <a:gd name="T2" fmla="*/ 0 w 143"/>
                  <a:gd name="T3" fmla="*/ 0 h 718"/>
                  <a:gd name="T4" fmla="*/ 0 w 143"/>
                  <a:gd name="T5" fmla="*/ 0 h 718"/>
                  <a:gd name="T6" fmla="*/ 0 w 143"/>
                  <a:gd name="T7" fmla="*/ 0 h 718"/>
                  <a:gd name="T8" fmla="*/ 0 w 143"/>
                  <a:gd name="T9" fmla="*/ 0 h 718"/>
                  <a:gd name="T10" fmla="*/ 0 w 143"/>
                  <a:gd name="T11" fmla="*/ 0 h 718"/>
                  <a:gd name="T12" fmla="*/ 0 60000 65536"/>
                  <a:gd name="T13" fmla="*/ 0 60000 65536"/>
                  <a:gd name="T14" fmla="*/ 0 60000 65536"/>
                  <a:gd name="T15" fmla="*/ 0 60000 65536"/>
                  <a:gd name="T16" fmla="*/ 0 60000 65536"/>
                  <a:gd name="T17" fmla="*/ 0 60000 65536"/>
                  <a:gd name="T18" fmla="*/ 0 w 143"/>
                  <a:gd name="T19" fmla="*/ 0 h 718"/>
                  <a:gd name="T20" fmla="*/ 143 w 143"/>
                  <a:gd name="T21" fmla="*/ 718 h 718"/>
                </a:gdLst>
                <a:ahLst/>
                <a:cxnLst>
                  <a:cxn ang="T12">
                    <a:pos x="T0" y="T1"/>
                  </a:cxn>
                  <a:cxn ang="T13">
                    <a:pos x="T2" y="T3"/>
                  </a:cxn>
                  <a:cxn ang="T14">
                    <a:pos x="T4" y="T5"/>
                  </a:cxn>
                  <a:cxn ang="T15">
                    <a:pos x="T6" y="T7"/>
                  </a:cxn>
                  <a:cxn ang="T16">
                    <a:pos x="T8" y="T9"/>
                  </a:cxn>
                  <a:cxn ang="T17">
                    <a:pos x="T10" y="T11"/>
                  </a:cxn>
                </a:cxnLst>
                <a:rect l="T18" t="T19" r="T20" b="T21"/>
                <a:pathLst>
                  <a:path w="143" h="718">
                    <a:moveTo>
                      <a:pt x="0" y="0"/>
                    </a:moveTo>
                    <a:lnTo>
                      <a:pt x="0" y="718"/>
                    </a:lnTo>
                    <a:lnTo>
                      <a:pt x="143" y="718"/>
                    </a:lnTo>
                    <a:lnTo>
                      <a:pt x="143"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1pPr>
                <a:lvl2pPr marL="4572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2pPr>
                <a:lvl3pPr marL="9144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3pPr>
                <a:lvl4pPr marL="13716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4pPr>
                <a:lvl5pPr marL="18288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5pPr>
                <a:lvl6pPr marL="2286000" algn="l" defTabSz="914400" rtl="0" eaLnBrk="1" latinLnBrk="0" hangingPunct="1">
                  <a:defRPr sz="2400" kern="1200">
                    <a:solidFill>
                      <a:schemeClr val="bg2"/>
                    </a:solidFill>
                    <a:latin typeface="Tahoma" panose="020B0604030504040204" pitchFamily="34" charset="0"/>
                    <a:ea typeface="+mn-ea"/>
                    <a:cs typeface="+mn-cs"/>
                  </a:defRPr>
                </a:lvl6pPr>
                <a:lvl7pPr marL="2743200" algn="l" defTabSz="914400" rtl="0" eaLnBrk="1" latinLnBrk="0" hangingPunct="1">
                  <a:defRPr sz="2400" kern="1200">
                    <a:solidFill>
                      <a:schemeClr val="bg2"/>
                    </a:solidFill>
                    <a:latin typeface="Tahoma" panose="020B0604030504040204" pitchFamily="34" charset="0"/>
                    <a:ea typeface="+mn-ea"/>
                    <a:cs typeface="+mn-cs"/>
                  </a:defRPr>
                </a:lvl7pPr>
                <a:lvl8pPr marL="3200400" algn="l" defTabSz="914400" rtl="0" eaLnBrk="1" latinLnBrk="0" hangingPunct="1">
                  <a:defRPr sz="2400" kern="1200">
                    <a:solidFill>
                      <a:schemeClr val="bg2"/>
                    </a:solidFill>
                    <a:latin typeface="Tahoma" panose="020B0604030504040204" pitchFamily="34" charset="0"/>
                    <a:ea typeface="+mn-ea"/>
                    <a:cs typeface="+mn-cs"/>
                  </a:defRPr>
                </a:lvl8pPr>
                <a:lvl9pPr marL="3657600" algn="l" defTabSz="914400" rtl="0" eaLnBrk="1" latinLnBrk="0" hangingPunct="1">
                  <a:defRPr sz="2400" kern="1200">
                    <a:solidFill>
                      <a:schemeClr val="bg2"/>
                    </a:solidFill>
                    <a:latin typeface="Tahoma" panose="020B0604030504040204" pitchFamily="34" charset="0"/>
                    <a:ea typeface="+mn-ea"/>
                    <a:cs typeface="+mn-cs"/>
                  </a:defRPr>
                </a:lvl9pPr>
              </a:lstStyle>
              <a:p>
                <a:endParaRPr lang="en-IN"/>
              </a:p>
            </p:txBody>
          </p:sp>
          <p:sp>
            <p:nvSpPr>
              <p:cNvPr id="49" name="Freeform 48"/>
              <p:cNvSpPr>
                <a:spLocks/>
              </p:cNvSpPr>
              <p:nvPr/>
            </p:nvSpPr>
            <p:spPr bwMode="auto">
              <a:xfrm>
                <a:off x="1714" y="2606"/>
                <a:ext cx="89" cy="90"/>
              </a:xfrm>
              <a:custGeom>
                <a:avLst/>
                <a:gdLst>
                  <a:gd name="T0" fmla="*/ 0 w 714"/>
                  <a:gd name="T1" fmla="*/ 0 h 718"/>
                  <a:gd name="T2" fmla="*/ 0 w 714"/>
                  <a:gd name="T3" fmla="*/ 0 h 718"/>
                  <a:gd name="T4" fmla="*/ 0 w 714"/>
                  <a:gd name="T5" fmla="*/ 0 h 718"/>
                  <a:gd name="T6" fmla="*/ 0 w 714"/>
                  <a:gd name="T7" fmla="*/ 0 h 718"/>
                  <a:gd name="T8" fmla="*/ 0 w 714"/>
                  <a:gd name="T9" fmla="*/ 0 h 718"/>
                  <a:gd name="T10" fmla="*/ 0 w 714"/>
                  <a:gd name="T11" fmla="*/ 0 h 718"/>
                  <a:gd name="T12" fmla="*/ 0 w 714"/>
                  <a:gd name="T13" fmla="*/ 0 h 718"/>
                  <a:gd name="T14" fmla="*/ 0 w 714"/>
                  <a:gd name="T15" fmla="*/ 0 h 718"/>
                  <a:gd name="T16" fmla="*/ 0 w 714"/>
                  <a:gd name="T17" fmla="*/ 0 h 718"/>
                  <a:gd name="T18" fmla="*/ 0 w 714"/>
                  <a:gd name="T19" fmla="*/ 0 h 718"/>
                  <a:gd name="T20" fmla="*/ 0 w 714"/>
                  <a:gd name="T21" fmla="*/ 0 h 718"/>
                  <a:gd name="T22" fmla="*/ 0 w 714"/>
                  <a:gd name="T23" fmla="*/ 0 h 718"/>
                  <a:gd name="T24" fmla="*/ 0 w 714"/>
                  <a:gd name="T25" fmla="*/ 0 h 718"/>
                  <a:gd name="T26" fmla="*/ 0 w 714"/>
                  <a:gd name="T27" fmla="*/ 0 h 71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14"/>
                  <a:gd name="T43" fmla="*/ 0 h 718"/>
                  <a:gd name="T44" fmla="*/ 714 w 714"/>
                  <a:gd name="T45" fmla="*/ 718 h 71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14" h="718">
                    <a:moveTo>
                      <a:pt x="0" y="287"/>
                    </a:moveTo>
                    <a:lnTo>
                      <a:pt x="0" y="718"/>
                    </a:lnTo>
                    <a:lnTo>
                      <a:pt x="714" y="718"/>
                    </a:lnTo>
                    <a:lnTo>
                      <a:pt x="714" y="287"/>
                    </a:lnTo>
                    <a:lnTo>
                      <a:pt x="571" y="287"/>
                    </a:lnTo>
                    <a:lnTo>
                      <a:pt x="571" y="574"/>
                    </a:lnTo>
                    <a:lnTo>
                      <a:pt x="143" y="574"/>
                    </a:lnTo>
                    <a:lnTo>
                      <a:pt x="143" y="431"/>
                    </a:lnTo>
                    <a:lnTo>
                      <a:pt x="286" y="431"/>
                    </a:lnTo>
                    <a:lnTo>
                      <a:pt x="286" y="0"/>
                    </a:lnTo>
                    <a:lnTo>
                      <a:pt x="143" y="0"/>
                    </a:lnTo>
                    <a:lnTo>
                      <a:pt x="143" y="287"/>
                    </a:lnTo>
                    <a:lnTo>
                      <a:pt x="0" y="28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1pPr>
                <a:lvl2pPr marL="4572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2pPr>
                <a:lvl3pPr marL="9144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3pPr>
                <a:lvl4pPr marL="13716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4pPr>
                <a:lvl5pPr marL="18288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5pPr>
                <a:lvl6pPr marL="2286000" algn="l" defTabSz="914400" rtl="0" eaLnBrk="1" latinLnBrk="0" hangingPunct="1">
                  <a:defRPr sz="2400" kern="1200">
                    <a:solidFill>
                      <a:schemeClr val="bg2"/>
                    </a:solidFill>
                    <a:latin typeface="Tahoma" panose="020B0604030504040204" pitchFamily="34" charset="0"/>
                    <a:ea typeface="+mn-ea"/>
                    <a:cs typeface="+mn-cs"/>
                  </a:defRPr>
                </a:lvl6pPr>
                <a:lvl7pPr marL="2743200" algn="l" defTabSz="914400" rtl="0" eaLnBrk="1" latinLnBrk="0" hangingPunct="1">
                  <a:defRPr sz="2400" kern="1200">
                    <a:solidFill>
                      <a:schemeClr val="bg2"/>
                    </a:solidFill>
                    <a:latin typeface="Tahoma" panose="020B0604030504040204" pitchFamily="34" charset="0"/>
                    <a:ea typeface="+mn-ea"/>
                    <a:cs typeface="+mn-cs"/>
                  </a:defRPr>
                </a:lvl7pPr>
                <a:lvl8pPr marL="3200400" algn="l" defTabSz="914400" rtl="0" eaLnBrk="1" latinLnBrk="0" hangingPunct="1">
                  <a:defRPr sz="2400" kern="1200">
                    <a:solidFill>
                      <a:schemeClr val="bg2"/>
                    </a:solidFill>
                    <a:latin typeface="Tahoma" panose="020B0604030504040204" pitchFamily="34" charset="0"/>
                    <a:ea typeface="+mn-ea"/>
                    <a:cs typeface="+mn-cs"/>
                  </a:defRPr>
                </a:lvl8pPr>
                <a:lvl9pPr marL="3657600" algn="l" defTabSz="914400" rtl="0" eaLnBrk="1" latinLnBrk="0" hangingPunct="1">
                  <a:defRPr sz="2400" kern="1200">
                    <a:solidFill>
                      <a:schemeClr val="bg2"/>
                    </a:solidFill>
                    <a:latin typeface="Tahoma" panose="020B0604030504040204" pitchFamily="34" charset="0"/>
                    <a:ea typeface="+mn-ea"/>
                    <a:cs typeface="+mn-cs"/>
                  </a:defRPr>
                </a:lvl9pPr>
              </a:lstStyle>
              <a:p>
                <a:endParaRPr lang="en-IN"/>
              </a:p>
            </p:txBody>
          </p:sp>
        </p:grpSp>
        <p:sp>
          <p:nvSpPr>
            <p:cNvPr id="10" name="AutoShape 26"/>
            <p:cNvSpPr>
              <a:spLocks noChangeArrowheads="1"/>
            </p:cNvSpPr>
            <p:nvPr/>
          </p:nvSpPr>
          <p:spPr bwMode="auto">
            <a:xfrm>
              <a:off x="8871045" y="2184495"/>
              <a:ext cx="1219200" cy="331788"/>
            </a:xfrm>
            <a:prstGeom prst="wedgeRectCallout">
              <a:avLst>
                <a:gd name="adj1" fmla="val -23306"/>
                <a:gd name="adj2" fmla="val 106940"/>
              </a:avLst>
            </a:prstGeom>
            <a:noFill/>
            <a:ln w="19050">
              <a:solidFill>
                <a:srgbClr val="008000"/>
              </a:solidFill>
              <a:miter lim="800000"/>
              <a:headEnd/>
              <a:tailEnd/>
            </a:ln>
            <a:extLst>
              <a:ext uri="{909E8E84-426E-40DD-AFC4-6F175D3DCCD1}">
                <a14:hiddenFill xmlns:a14="http://schemas.microsoft.com/office/drawing/2010/main">
                  <a:solidFill>
                    <a:srgbClr val="FFFFFF"/>
                  </a:solidFill>
                </a14:hiddenFill>
              </a:ext>
            </a:extLst>
          </p:spPr>
          <p:txBody>
            <a:bodyPr/>
            <a:lstStyle>
              <a:defPPr>
                <a:defRPr lang="en-US"/>
              </a:defPPr>
              <a:lvl1pPr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1pPr>
              <a:lvl2pPr marL="4572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2pPr>
              <a:lvl3pPr marL="9144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3pPr>
              <a:lvl4pPr marL="13716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4pPr>
              <a:lvl5pPr marL="18288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5pPr>
              <a:lvl6pPr marL="2286000" algn="l" defTabSz="914400" rtl="0" eaLnBrk="1" latinLnBrk="0" hangingPunct="1">
                <a:defRPr sz="2400" kern="1200">
                  <a:solidFill>
                    <a:schemeClr val="bg2"/>
                  </a:solidFill>
                  <a:latin typeface="Tahoma" panose="020B0604030504040204" pitchFamily="34" charset="0"/>
                  <a:ea typeface="+mn-ea"/>
                  <a:cs typeface="+mn-cs"/>
                </a:defRPr>
              </a:lvl6pPr>
              <a:lvl7pPr marL="2743200" algn="l" defTabSz="914400" rtl="0" eaLnBrk="1" latinLnBrk="0" hangingPunct="1">
                <a:defRPr sz="2400" kern="1200">
                  <a:solidFill>
                    <a:schemeClr val="bg2"/>
                  </a:solidFill>
                  <a:latin typeface="Tahoma" panose="020B0604030504040204" pitchFamily="34" charset="0"/>
                  <a:ea typeface="+mn-ea"/>
                  <a:cs typeface="+mn-cs"/>
                </a:defRPr>
              </a:lvl7pPr>
              <a:lvl8pPr marL="3200400" algn="l" defTabSz="914400" rtl="0" eaLnBrk="1" latinLnBrk="0" hangingPunct="1">
                <a:defRPr sz="2400" kern="1200">
                  <a:solidFill>
                    <a:schemeClr val="bg2"/>
                  </a:solidFill>
                  <a:latin typeface="Tahoma" panose="020B0604030504040204" pitchFamily="34" charset="0"/>
                  <a:ea typeface="+mn-ea"/>
                  <a:cs typeface="+mn-cs"/>
                </a:defRPr>
              </a:lvl8pPr>
              <a:lvl9pPr marL="3657600" algn="l" defTabSz="914400" rtl="0" eaLnBrk="1" latinLnBrk="0" hangingPunct="1">
                <a:defRPr sz="2400" kern="1200">
                  <a:solidFill>
                    <a:schemeClr val="bg2"/>
                  </a:solidFill>
                  <a:latin typeface="Tahoma" panose="020B0604030504040204" pitchFamily="34" charset="0"/>
                  <a:ea typeface="+mn-ea"/>
                  <a:cs typeface="+mn-cs"/>
                </a:defRPr>
              </a:lvl9pPr>
            </a:lstStyle>
            <a:p>
              <a:pPr>
                <a:lnSpc>
                  <a:spcPct val="90000"/>
                </a:lnSpc>
                <a:buFontTx/>
                <a:buNone/>
              </a:pPr>
              <a:r>
                <a:rPr lang="en-US" altLang="en-US" sz="1600">
                  <a:solidFill>
                    <a:srgbClr val="008000"/>
                  </a:solidFill>
                </a:rPr>
                <a:t>private key</a:t>
              </a:r>
            </a:p>
          </p:txBody>
        </p:sp>
        <p:grpSp>
          <p:nvGrpSpPr>
            <p:cNvPr id="11" name="Group 10"/>
            <p:cNvGrpSpPr>
              <a:grpSpLocks noChangeAspect="1"/>
            </p:cNvGrpSpPr>
            <p:nvPr/>
          </p:nvGrpSpPr>
          <p:grpSpPr bwMode="auto">
            <a:xfrm>
              <a:off x="5165820" y="1481233"/>
              <a:ext cx="657225" cy="322262"/>
              <a:chOff x="1410" y="2496"/>
              <a:chExt cx="414" cy="203"/>
            </a:xfrm>
          </p:grpSpPr>
          <p:sp>
            <p:nvSpPr>
              <p:cNvPr id="18" name="AutoShape 29"/>
              <p:cNvSpPr>
                <a:spLocks noChangeAspect="1" noChangeArrowheads="1" noTextEdit="1"/>
              </p:cNvSpPr>
              <p:nvPr/>
            </p:nvSpPr>
            <p:spPr bwMode="auto">
              <a:xfrm>
                <a:off x="1410" y="2496"/>
                <a:ext cx="414"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1pPr>
                <a:lvl2pPr marL="4572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2pPr>
                <a:lvl3pPr marL="9144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3pPr>
                <a:lvl4pPr marL="13716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4pPr>
                <a:lvl5pPr marL="18288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5pPr>
                <a:lvl6pPr marL="2286000" algn="l" defTabSz="914400" rtl="0" eaLnBrk="1" latinLnBrk="0" hangingPunct="1">
                  <a:defRPr sz="2400" kern="1200">
                    <a:solidFill>
                      <a:schemeClr val="bg2"/>
                    </a:solidFill>
                    <a:latin typeface="Tahoma" panose="020B0604030504040204" pitchFamily="34" charset="0"/>
                    <a:ea typeface="+mn-ea"/>
                    <a:cs typeface="+mn-cs"/>
                  </a:defRPr>
                </a:lvl6pPr>
                <a:lvl7pPr marL="2743200" algn="l" defTabSz="914400" rtl="0" eaLnBrk="1" latinLnBrk="0" hangingPunct="1">
                  <a:defRPr sz="2400" kern="1200">
                    <a:solidFill>
                      <a:schemeClr val="bg2"/>
                    </a:solidFill>
                    <a:latin typeface="Tahoma" panose="020B0604030504040204" pitchFamily="34" charset="0"/>
                    <a:ea typeface="+mn-ea"/>
                    <a:cs typeface="+mn-cs"/>
                  </a:defRPr>
                </a:lvl7pPr>
                <a:lvl8pPr marL="3200400" algn="l" defTabSz="914400" rtl="0" eaLnBrk="1" latinLnBrk="0" hangingPunct="1">
                  <a:defRPr sz="2400" kern="1200">
                    <a:solidFill>
                      <a:schemeClr val="bg2"/>
                    </a:solidFill>
                    <a:latin typeface="Tahoma" panose="020B0604030504040204" pitchFamily="34" charset="0"/>
                    <a:ea typeface="+mn-ea"/>
                    <a:cs typeface="+mn-cs"/>
                  </a:defRPr>
                </a:lvl8pPr>
                <a:lvl9pPr marL="3657600" algn="l" defTabSz="914400" rtl="0" eaLnBrk="1" latinLnBrk="0" hangingPunct="1">
                  <a:defRPr sz="2400" kern="1200">
                    <a:solidFill>
                      <a:schemeClr val="bg2"/>
                    </a:solidFill>
                    <a:latin typeface="Tahoma" panose="020B0604030504040204" pitchFamily="34" charset="0"/>
                    <a:ea typeface="+mn-ea"/>
                    <a:cs typeface="+mn-cs"/>
                  </a:defRPr>
                </a:lvl9pPr>
              </a:lstStyle>
              <a:p>
                <a:endParaRPr lang="en-IN"/>
              </a:p>
            </p:txBody>
          </p:sp>
          <p:sp>
            <p:nvSpPr>
              <p:cNvPr id="19" name="Freeform 18"/>
              <p:cNvSpPr>
                <a:spLocks/>
              </p:cNvSpPr>
              <p:nvPr/>
            </p:nvSpPr>
            <p:spPr bwMode="auto">
              <a:xfrm>
                <a:off x="1723" y="2615"/>
                <a:ext cx="72" cy="75"/>
              </a:xfrm>
              <a:custGeom>
                <a:avLst/>
                <a:gdLst>
                  <a:gd name="T0" fmla="*/ 0 w 579"/>
                  <a:gd name="T1" fmla="*/ 0 h 605"/>
                  <a:gd name="T2" fmla="*/ 0 w 579"/>
                  <a:gd name="T3" fmla="*/ 0 h 605"/>
                  <a:gd name="T4" fmla="*/ 0 w 579"/>
                  <a:gd name="T5" fmla="*/ 0 h 605"/>
                  <a:gd name="T6" fmla="*/ 0 w 579"/>
                  <a:gd name="T7" fmla="*/ 0 h 605"/>
                  <a:gd name="T8" fmla="*/ 0 w 579"/>
                  <a:gd name="T9" fmla="*/ 0 h 605"/>
                  <a:gd name="T10" fmla="*/ 0 w 579"/>
                  <a:gd name="T11" fmla="*/ 0 h 605"/>
                  <a:gd name="T12" fmla="*/ 0 w 579"/>
                  <a:gd name="T13" fmla="*/ 0 h 605"/>
                  <a:gd name="T14" fmla="*/ 0 w 579"/>
                  <a:gd name="T15" fmla="*/ 0 h 605"/>
                  <a:gd name="T16" fmla="*/ 0 60000 65536"/>
                  <a:gd name="T17" fmla="*/ 0 60000 65536"/>
                  <a:gd name="T18" fmla="*/ 0 60000 65536"/>
                  <a:gd name="T19" fmla="*/ 0 60000 65536"/>
                  <a:gd name="T20" fmla="*/ 0 60000 65536"/>
                  <a:gd name="T21" fmla="*/ 0 60000 65536"/>
                  <a:gd name="T22" fmla="*/ 0 60000 65536"/>
                  <a:gd name="T23" fmla="*/ 0 60000 65536"/>
                  <a:gd name="T24" fmla="*/ 0 w 579"/>
                  <a:gd name="T25" fmla="*/ 0 h 605"/>
                  <a:gd name="T26" fmla="*/ 579 w 579"/>
                  <a:gd name="T27" fmla="*/ 605 h 60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9" h="605">
                    <a:moveTo>
                      <a:pt x="136" y="12"/>
                    </a:moveTo>
                    <a:lnTo>
                      <a:pt x="136" y="309"/>
                    </a:lnTo>
                    <a:lnTo>
                      <a:pt x="0" y="314"/>
                    </a:lnTo>
                    <a:lnTo>
                      <a:pt x="12" y="605"/>
                    </a:lnTo>
                    <a:lnTo>
                      <a:pt x="567" y="599"/>
                    </a:lnTo>
                    <a:lnTo>
                      <a:pt x="579" y="0"/>
                    </a:lnTo>
                    <a:lnTo>
                      <a:pt x="136" y="12"/>
                    </a:lnTo>
                    <a:close/>
                  </a:path>
                </a:pathLst>
              </a:custGeom>
              <a:solidFill>
                <a:srgbClr val="FFCC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1pPr>
                <a:lvl2pPr marL="4572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2pPr>
                <a:lvl3pPr marL="9144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3pPr>
                <a:lvl4pPr marL="13716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4pPr>
                <a:lvl5pPr marL="18288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5pPr>
                <a:lvl6pPr marL="2286000" algn="l" defTabSz="914400" rtl="0" eaLnBrk="1" latinLnBrk="0" hangingPunct="1">
                  <a:defRPr sz="2400" kern="1200">
                    <a:solidFill>
                      <a:schemeClr val="bg2"/>
                    </a:solidFill>
                    <a:latin typeface="Tahoma" panose="020B0604030504040204" pitchFamily="34" charset="0"/>
                    <a:ea typeface="+mn-ea"/>
                    <a:cs typeface="+mn-cs"/>
                  </a:defRPr>
                </a:lvl6pPr>
                <a:lvl7pPr marL="2743200" algn="l" defTabSz="914400" rtl="0" eaLnBrk="1" latinLnBrk="0" hangingPunct="1">
                  <a:defRPr sz="2400" kern="1200">
                    <a:solidFill>
                      <a:schemeClr val="bg2"/>
                    </a:solidFill>
                    <a:latin typeface="Tahoma" panose="020B0604030504040204" pitchFamily="34" charset="0"/>
                    <a:ea typeface="+mn-ea"/>
                    <a:cs typeface="+mn-cs"/>
                  </a:defRPr>
                </a:lvl7pPr>
                <a:lvl8pPr marL="3200400" algn="l" defTabSz="914400" rtl="0" eaLnBrk="1" latinLnBrk="0" hangingPunct="1">
                  <a:defRPr sz="2400" kern="1200">
                    <a:solidFill>
                      <a:schemeClr val="bg2"/>
                    </a:solidFill>
                    <a:latin typeface="Tahoma" panose="020B0604030504040204" pitchFamily="34" charset="0"/>
                    <a:ea typeface="+mn-ea"/>
                    <a:cs typeface="+mn-cs"/>
                  </a:defRPr>
                </a:lvl8pPr>
                <a:lvl9pPr marL="3657600" algn="l" defTabSz="914400" rtl="0" eaLnBrk="1" latinLnBrk="0" hangingPunct="1">
                  <a:defRPr sz="2400" kern="1200">
                    <a:solidFill>
                      <a:schemeClr val="bg2"/>
                    </a:solidFill>
                    <a:latin typeface="Tahoma" panose="020B0604030504040204" pitchFamily="34" charset="0"/>
                    <a:ea typeface="+mn-ea"/>
                    <a:cs typeface="+mn-cs"/>
                  </a:defRPr>
                </a:lvl9pPr>
              </a:lstStyle>
              <a:p>
                <a:endParaRPr lang="en-IN"/>
              </a:p>
            </p:txBody>
          </p:sp>
          <p:sp>
            <p:nvSpPr>
              <p:cNvPr id="20" name="Freeform 19"/>
              <p:cNvSpPr>
                <a:spLocks/>
              </p:cNvSpPr>
              <p:nvPr/>
            </p:nvSpPr>
            <p:spPr bwMode="auto">
              <a:xfrm>
                <a:off x="1739" y="2618"/>
                <a:ext cx="54" cy="30"/>
              </a:xfrm>
              <a:custGeom>
                <a:avLst/>
                <a:gdLst>
                  <a:gd name="T0" fmla="*/ 0 w 437"/>
                  <a:gd name="T1" fmla="*/ 0 h 243"/>
                  <a:gd name="T2" fmla="*/ 0 w 437"/>
                  <a:gd name="T3" fmla="*/ 0 h 243"/>
                  <a:gd name="T4" fmla="*/ 0 w 437"/>
                  <a:gd name="T5" fmla="*/ 0 h 243"/>
                  <a:gd name="T6" fmla="*/ 0 w 437"/>
                  <a:gd name="T7" fmla="*/ 0 h 243"/>
                  <a:gd name="T8" fmla="*/ 0 w 437"/>
                  <a:gd name="T9" fmla="*/ 0 h 243"/>
                  <a:gd name="T10" fmla="*/ 0 w 437"/>
                  <a:gd name="T11" fmla="*/ 0 h 243"/>
                  <a:gd name="T12" fmla="*/ 0 60000 65536"/>
                  <a:gd name="T13" fmla="*/ 0 60000 65536"/>
                  <a:gd name="T14" fmla="*/ 0 60000 65536"/>
                  <a:gd name="T15" fmla="*/ 0 60000 65536"/>
                  <a:gd name="T16" fmla="*/ 0 60000 65536"/>
                  <a:gd name="T17" fmla="*/ 0 60000 65536"/>
                  <a:gd name="T18" fmla="*/ 0 w 437"/>
                  <a:gd name="T19" fmla="*/ 0 h 243"/>
                  <a:gd name="T20" fmla="*/ 437 w 437"/>
                  <a:gd name="T21" fmla="*/ 243 h 243"/>
                </a:gdLst>
                <a:ahLst/>
                <a:cxnLst>
                  <a:cxn ang="T12">
                    <a:pos x="T0" y="T1"/>
                  </a:cxn>
                  <a:cxn ang="T13">
                    <a:pos x="T2" y="T3"/>
                  </a:cxn>
                  <a:cxn ang="T14">
                    <a:pos x="T4" y="T5"/>
                  </a:cxn>
                  <a:cxn ang="T15">
                    <a:pos x="T6" y="T7"/>
                  </a:cxn>
                  <a:cxn ang="T16">
                    <a:pos x="T8" y="T9"/>
                  </a:cxn>
                  <a:cxn ang="T17">
                    <a:pos x="T10" y="T11"/>
                  </a:cxn>
                </a:cxnLst>
                <a:rect l="T18" t="T19" r="T20" b="T21"/>
                <a:pathLst>
                  <a:path w="437" h="243">
                    <a:moveTo>
                      <a:pt x="0" y="18"/>
                    </a:moveTo>
                    <a:lnTo>
                      <a:pt x="35" y="243"/>
                    </a:lnTo>
                    <a:lnTo>
                      <a:pt x="437" y="243"/>
                    </a:lnTo>
                    <a:lnTo>
                      <a:pt x="396" y="0"/>
                    </a:lnTo>
                    <a:lnTo>
                      <a:pt x="0" y="18"/>
                    </a:lnTo>
                    <a:close/>
                  </a:path>
                </a:pathLst>
              </a:custGeom>
              <a:solidFill>
                <a:srgbClr val="FF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1pPr>
                <a:lvl2pPr marL="4572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2pPr>
                <a:lvl3pPr marL="9144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3pPr>
                <a:lvl4pPr marL="13716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4pPr>
                <a:lvl5pPr marL="18288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5pPr>
                <a:lvl6pPr marL="2286000" algn="l" defTabSz="914400" rtl="0" eaLnBrk="1" latinLnBrk="0" hangingPunct="1">
                  <a:defRPr sz="2400" kern="1200">
                    <a:solidFill>
                      <a:schemeClr val="bg2"/>
                    </a:solidFill>
                    <a:latin typeface="Tahoma" panose="020B0604030504040204" pitchFamily="34" charset="0"/>
                    <a:ea typeface="+mn-ea"/>
                    <a:cs typeface="+mn-cs"/>
                  </a:defRPr>
                </a:lvl6pPr>
                <a:lvl7pPr marL="2743200" algn="l" defTabSz="914400" rtl="0" eaLnBrk="1" latinLnBrk="0" hangingPunct="1">
                  <a:defRPr sz="2400" kern="1200">
                    <a:solidFill>
                      <a:schemeClr val="bg2"/>
                    </a:solidFill>
                    <a:latin typeface="Tahoma" panose="020B0604030504040204" pitchFamily="34" charset="0"/>
                    <a:ea typeface="+mn-ea"/>
                    <a:cs typeface="+mn-cs"/>
                  </a:defRPr>
                </a:lvl7pPr>
                <a:lvl8pPr marL="3200400" algn="l" defTabSz="914400" rtl="0" eaLnBrk="1" latinLnBrk="0" hangingPunct="1">
                  <a:defRPr sz="2400" kern="1200">
                    <a:solidFill>
                      <a:schemeClr val="bg2"/>
                    </a:solidFill>
                    <a:latin typeface="Tahoma" panose="020B0604030504040204" pitchFamily="34" charset="0"/>
                    <a:ea typeface="+mn-ea"/>
                    <a:cs typeface="+mn-cs"/>
                  </a:defRPr>
                </a:lvl8pPr>
                <a:lvl9pPr marL="3657600" algn="l" defTabSz="914400" rtl="0" eaLnBrk="1" latinLnBrk="0" hangingPunct="1">
                  <a:defRPr sz="2400" kern="1200">
                    <a:solidFill>
                      <a:schemeClr val="bg2"/>
                    </a:solidFill>
                    <a:latin typeface="Tahoma" panose="020B0604030504040204" pitchFamily="34" charset="0"/>
                    <a:ea typeface="+mn-ea"/>
                    <a:cs typeface="+mn-cs"/>
                  </a:defRPr>
                </a:lvl9pPr>
              </a:lstStyle>
              <a:p>
                <a:endParaRPr lang="en-IN"/>
              </a:p>
            </p:txBody>
          </p:sp>
          <p:sp>
            <p:nvSpPr>
              <p:cNvPr id="21" name="Freeform 20"/>
              <p:cNvSpPr>
                <a:spLocks/>
              </p:cNvSpPr>
              <p:nvPr/>
            </p:nvSpPr>
            <p:spPr bwMode="auto">
              <a:xfrm>
                <a:off x="1724" y="2669"/>
                <a:ext cx="72" cy="17"/>
              </a:xfrm>
              <a:custGeom>
                <a:avLst/>
                <a:gdLst>
                  <a:gd name="T0" fmla="*/ 0 w 573"/>
                  <a:gd name="T1" fmla="*/ 0 h 136"/>
                  <a:gd name="T2" fmla="*/ 0 w 573"/>
                  <a:gd name="T3" fmla="*/ 0 h 136"/>
                  <a:gd name="T4" fmla="*/ 0 w 573"/>
                  <a:gd name="T5" fmla="*/ 0 h 136"/>
                  <a:gd name="T6" fmla="*/ 0 w 573"/>
                  <a:gd name="T7" fmla="*/ 0 h 136"/>
                  <a:gd name="T8" fmla="*/ 0 w 573"/>
                  <a:gd name="T9" fmla="*/ 0 h 136"/>
                  <a:gd name="T10" fmla="*/ 0 w 573"/>
                  <a:gd name="T11" fmla="*/ 0 h 136"/>
                  <a:gd name="T12" fmla="*/ 0 60000 65536"/>
                  <a:gd name="T13" fmla="*/ 0 60000 65536"/>
                  <a:gd name="T14" fmla="*/ 0 60000 65536"/>
                  <a:gd name="T15" fmla="*/ 0 60000 65536"/>
                  <a:gd name="T16" fmla="*/ 0 60000 65536"/>
                  <a:gd name="T17" fmla="*/ 0 60000 65536"/>
                  <a:gd name="T18" fmla="*/ 0 w 573"/>
                  <a:gd name="T19" fmla="*/ 0 h 136"/>
                  <a:gd name="T20" fmla="*/ 573 w 573"/>
                  <a:gd name="T21" fmla="*/ 136 h 136"/>
                </a:gdLst>
                <a:ahLst/>
                <a:cxnLst>
                  <a:cxn ang="T12">
                    <a:pos x="T0" y="T1"/>
                  </a:cxn>
                  <a:cxn ang="T13">
                    <a:pos x="T2" y="T3"/>
                  </a:cxn>
                  <a:cxn ang="T14">
                    <a:pos x="T4" y="T5"/>
                  </a:cxn>
                  <a:cxn ang="T15">
                    <a:pos x="T6" y="T7"/>
                  </a:cxn>
                  <a:cxn ang="T16">
                    <a:pos x="T8" y="T9"/>
                  </a:cxn>
                  <a:cxn ang="T17">
                    <a:pos x="T10" y="T11"/>
                  </a:cxn>
                </a:cxnLst>
                <a:rect l="T18" t="T19" r="T20" b="T21"/>
                <a:pathLst>
                  <a:path w="573" h="136">
                    <a:moveTo>
                      <a:pt x="24" y="0"/>
                    </a:moveTo>
                    <a:lnTo>
                      <a:pt x="573" y="0"/>
                    </a:lnTo>
                    <a:lnTo>
                      <a:pt x="555" y="136"/>
                    </a:lnTo>
                    <a:lnTo>
                      <a:pt x="0" y="119"/>
                    </a:lnTo>
                    <a:lnTo>
                      <a:pt x="24" y="0"/>
                    </a:lnTo>
                    <a:close/>
                  </a:path>
                </a:pathLst>
              </a:custGeom>
              <a:solidFill>
                <a:srgbClr val="FF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1pPr>
                <a:lvl2pPr marL="4572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2pPr>
                <a:lvl3pPr marL="9144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3pPr>
                <a:lvl4pPr marL="13716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4pPr>
                <a:lvl5pPr marL="18288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5pPr>
                <a:lvl6pPr marL="2286000" algn="l" defTabSz="914400" rtl="0" eaLnBrk="1" latinLnBrk="0" hangingPunct="1">
                  <a:defRPr sz="2400" kern="1200">
                    <a:solidFill>
                      <a:schemeClr val="bg2"/>
                    </a:solidFill>
                    <a:latin typeface="Tahoma" panose="020B0604030504040204" pitchFamily="34" charset="0"/>
                    <a:ea typeface="+mn-ea"/>
                    <a:cs typeface="+mn-cs"/>
                  </a:defRPr>
                </a:lvl6pPr>
                <a:lvl7pPr marL="2743200" algn="l" defTabSz="914400" rtl="0" eaLnBrk="1" latinLnBrk="0" hangingPunct="1">
                  <a:defRPr sz="2400" kern="1200">
                    <a:solidFill>
                      <a:schemeClr val="bg2"/>
                    </a:solidFill>
                    <a:latin typeface="Tahoma" panose="020B0604030504040204" pitchFamily="34" charset="0"/>
                    <a:ea typeface="+mn-ea"/>
                    <a:cs typeface="+mn-cs"/>
                  </a:defRPr>
                </a:lvl7pPr>
                <a:lvl8pPr marL="3200400" algn="l" defTabSz="914400" rtl="0" eaLnBrk="1" latinLnBrk="0" hangingPunct="1">
                  <a:defRPr sz="2400" kern="1200">
                    <a:solidFill>
                      <a:schemeClr val="bg2"/>
                    </a:solidFill>
                    <a:latin typeface="Tahoma" panose="020B0604030504040204" pitchFamily="34" charset="0"/>
                    <a:ea typeface="+mn-ea"/>
                    <a:cs typeface="+mn-cs"/>
                  </a:defRPr>
                </a:lvl8pPr>
                <a:lvl9pPr marL="3657600" algn="l" defTabSz="914400" rtl="0" eaLnBrk="1" latinLnBrk="0" hangingPunct="1">
                  <a:defRPr sz="2400" kern="1200">
                    <a:solidFill>
                      <a:schemeClr val="bg2"/>
                    </a:solidFill>
                    <a:latin typeface="Tahoma" panose="020B0604030504040204" pitchFamily="34" charset="0"/>
                    <a:ea typeface="+mn-ea"/>
                    <a:cs typeface="+mn-cs"/>
                  </a:defRPr>
                </a:lvl9pPr>
              </a:lstStyle>
              <a:p>
                <a:endParaRPr lang="en-IN"/>
              </a:p>
            </p:txBody>
          </p:sp>
          <p:sp>
            <p:nvSpPr>
              <p:cNvPr id="22" name="Freeform 21"/>
              <p:cNvSpPr>
                <a:spLocks/>
              </p:cNvSpPr>
              <p:nvPr/>
            </p:nvSpPr>
            <p:spPr bwMode="auto">
              <a:xfrm>
                <a:off x="1446" y="2508"/>
                <a:ext cx="67" cy="40"/>
              </a:xfrm>
              <a:custGeom>
                <a:avLst/>
                <a:gdLst>
                  <a:gd name="T0" fmla="*/ 0 w 537"/>
                  <a:gd name="T1" fmla="*/ 0 h 326"/>
                  <a:gd name="T2" fmla="*/ 0 w 537"/>
                  <a:gd name="T3" fmla="*/ 0 h 326"/>
                  <a:gd name="T4" fmla="*/ 0 w 537"/>
                  <a:gd name="T5" fmla="*/ 0 h 326"/>
                  <a:gd name="T6" fmla="*/ 0 w 537"/>
                  <a:gd name="T7" fmla="*/ 0 h 326"/>
                  <a:gd name="T8" fmla="*/ 0 w 537"/>
                  <a:gd name="T9" fmla="*/ 0 h 326"/>
                  <a:gd name="T10" fmla="*/ 0 w 537"/>
                  <a:gd name="T11" fmla="*/ 0 h 326"/>
                  <a:gd name="T12" fmla="*/ 0 60000 65536"/>
                  <a:gd name="T13" fmla="*/ 0 60000 65536"/>
                  <a:gd name="T14" fmla="*/ 0 60000 65536"/>
                  <a:gd name="T15" fmla="*/ 0 60000 65536"/>
                  <a:gd name="T16" fmla="*/ 0 60000 65536"/>
                  <a:gd name="T17" fmla="*/ 0 60000 65536"/>
                  <a:gd name="T18" fmla="*/ 0 w 537"/>
                  <a:gd name="T19" fmla="*/ 0 h 326"/>
                  <a:gd name="T20" fmla="*/ 537 w 537"/>
                  <a:gd name="T21" fmla="*/ 326 h 326"/>
                </a:gdLst>
                <a:ahLst/>
                <a:cxnLst>
                  <a:cxn ang="T12">
                    <a:pos x="T0" y="T1"/>
                  </a:cxn>
                  <a:cxn ang="T13">
                    <a:pos x="T2" y="T3"/>
                  </a:cxn>
                  <a:cxn ang="T14">
                    <a:pos x="T4" y="T5"/>
                  </a:cxn>
                  <a:cxn ang="T15">
                    <a:pos x="T6" y="T7"/>
                  </a:cxn>
                  <a:cxn ang="T16">
                    <a:pos x="T8" y="T9"/>
                  </a:cxn>
                  <a:cxn ang="T17">
                    <a:pos x="T10" y="T11"/>
                  </a:cxn>
                </a:cxnLst>
                <a:rect l="T18" t="T19" r="T20" b="T21"/>
                <a:pathLst>
                  <a:path w="537" h="326">
                    <a:moveTo>
                      <a:pt x="0" y="0"/>
                    </a:moveTo>
                    <a:lnTo>
                      <a:pt x="0" y="326"/>
                    </a:lnTo>
                    <a:lnTo>
                      <a:pt x="537" y="296"/>
                    </a:lnTo>
                    <a:lnTo>
                      <a:pt x="501" y="30"/>
                    </a:lnTo>
                    <a:lnTo>
                      <a:pt x="0" y="0"/>
                    </a:lnTo>
                    <a:close/>
                  </a:path>
                </a:pathLst>
              </a:custGeom>
              <a:solidFill>
                <a:srgbClr val="FFCC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1pPr>
                <a:lvl2pPr marL="4572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2pPr>
                <a:lvl3pPr marL="9144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3pPr>
                <a:lvl4pPr marL="13716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4pPr>
                <a:lvl5pPr marL="18288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5pPr>
                <a:lvl6pPr marL="2286000" algn="l" defTabSz="914400" rtl="0" eaLnBrk="1" latinLnBrk="0" hangingPunct="1">
                  <a:defRPr sz="2400" kern="1200">
                    <a:solidFill>
                      <a:schemeClr val="bg2"/>
                    </a:solidFill>
                    <a:latin typeface="Tahoma" panose="020B0604030504040204" pitchFamily="34" charset="0"/>
                    <a:ea typeface="+mn-ea"/>
                    <a:cs typeface="+mn-cs"/>
                  </a:defRPr>
                </a:lvl6pPr>
                <a:lvl7pPr marL="2743200" algn="l" defTabSz="914400" rtl="0" eaLnBrk="1" latinLnBrk="0" hangingPunct="1">
                  <a:defRPr sz="2400" kern="1200">
                    <a:solidFill>
                      <a:schemeClr val="bg2"/>
                    </a:solidFill>
                    <a:latin typeface="Tahoma" panose="020B0604030504040204" pitchFamily="34" charset="0"/>
                    <a:ea typeface="+mn-ea"/>
                    <a:cs typeface="+mn-cs"/>
                  </a:defRPr>
                </a:lvl7pPr>
                <a:lvl8pPr marL="3200400" algn="l" defTabSz="914400" rtl="0" eaLnBrk="1" latinLnBrk="0" hangingPunct="1">
                  <a:defRPr sz="2400" kern="1200">
                    <a:solidFill>
                      <a:schemeClr val="bg2"/>
                    </a:solidFill>
                    <a:latin typeface="Tahoma" panose="020B0604030504040204" pitchFamily="34" charset="0"/>
                    <a:ea typeface="+mn-ea"/>
                    <a:cs typeface="+mn-cs"/>
                  </a:defRPr>
                </a:lvl8pPr>
                <a:lvl9pPr marL="3657600" algn="l" defTabSz="914400" rtl="0" eaLnBrk="1" latinLnBrk="0" hangingPunct="1">
                  <a:defRPr sz="2400" kern="1200">
                    <a:solidFill>
                      <a:schemeClr val="bg2"/>
                    </a:solidFill>
                    <a:latin typeface="Tahoma" panose="020B0604030504040204" pitchFamily="34" charset="0"/>
                    <a:ea typeface="+mn-ea"/>
                    <a:cs typeface="+mn-cs"/>
                  </a:defRPr>
                </a:lvl9pPr>
              </a:lstStyle>
              <a:p>
                <a:endParaRPr lang="en-IN"/>
              </a:p>
            </p:txBody>
          </p:sp>
          <p:sp>
            <p:nvSpPr>
              <p:cNvPr id="23" name="Freeform 22"/>
              <p:cNvSpPr>
                <a:spLocks/>
              </p:cNvSpPr>
              <p:nvPr/>
            </p:nvSpPr>
            <p:spPr bwMode="auto">
              <a:xfrm>
                <a:off x="1418" y="2505"/>
                <a:ext cx="378" cy="181"/>
              </a:xfrm>
              <a:custGeom>
                <a:avLst/>
                <a:gdLst>
                  <a:gd name="T0" fmla="*/ 0 w 3031"/>
                  <a:gd name="T1" fmla="*/ 0 h 1448"/>
                  <a:gd name="T2" fmla="*/ 0 w 3031"/>
                  <a:gd name="T3" fmla="*/ 0 h 1448"/>
                  <a:gd name="T4" fmla="*/ 0 w 3031"/>
                  <a:gd name="T5" fmla="*/ 0 h 1448"/>
                  <a:gd name="T6" fmla="*/ 0 w 3031"/>
                  <a:gd name="T7" fmla="*/ 0 h 1448"/>
                  <a:gd name="T8" fmla="*/ 0 w 3031"/>
                  <a:gd name="T9" fmla="*/ 0 h 1448"/>
                  <a:gd name="T10" fmla="*/ 0 w 3031"/>
                  <a:gd name="T11" fmla="*/ 0 h 1448"/>
                  <a:gd name="T12" fmla="*/ 0 w 3031"/>
                  <a:gd name="T13" fmla="*/ 0 h 1448"/>
                  <a:gd name="T14" fmla="*/ 0 w 3031"/>
                  <a:gd name="T15" fmla="*/ 0 h 1448"/>
                  <a:gd name="T16" fmla="*/ 0 w 3031"/>
                  <a:gd name="T17" fmla="*/ 0 h 1448"/>
                  <a:gd name="T18" fmla="*/ 0 w 3031"/>
                  <a:gd name="T19" fmla="*/ 0 h 1448"/>
                  <a:gd name="T20" fmla="*/ 0 w 3031"/>
                  <a:gd name="T21" fmla="*/ 0 h 1448"/>
                  <a:gd name="T22" fmla="*/ 0 w 3031"/>
                  <a:gd name="T23" fmla="*/ 0 h 1448"/>
                  <a:gd name="T24" fmla="*/ 0 w 3031"/>
                  <a:gd name="T25" fmla="*/ 0 h 1448"/>
                  <a:gd name="T26" fmla="*/ 0 w 3031"/>
                  <a:gd name="T27" fmla="*/ 0 h 1448"/>
                  <a:gd name="T28" fmla="*/ 0 w 3031"/>
                  <a:gd name="T29" fmla="*/ 0 h 144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031"/>
                  <a:gd name="T46" fmla="*/ 0 h 1448"/>
                  <a:gd name="T47" fmla="*/ 3031 w 3031"/>
                  <a:gd name="T48" fmla="*/ 1448 h 144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031" h="1448">
                    <a:moveTo>
                      <a:pt x="24" y="0"/>
                    </a:moveTo>
                    <a:lnTo>
                      <a:pt x="0" y="1424"/>
                    </a:lnTo>
                    <a:lnTo>
                      <a:pt x="845" y="1448"/>
                    </a:lnTo>
                    <a:lnTo>
                      <a:pt x="868" y="897"/>
                    </a:lnTo>
                    <a:lnTo>
                      <a:pt x="3013" y="873"/>
                    </a:lnTo>
                    <a:lnTo>
                      <a:pt x="3031" y="594"/>
                    </a:lnTo>
                    <a:lnTo>
                      <a:pt x="863" y="582"/>
                    </a:lnTo>
                    <a:lnTo>
                      <a:pt x="851" y="7"/>
                    </a:lnTo>
                    <a:lnTo>
                      <a:pt x="597" y="19"/>
                    </a:lnTo>
                    <a:lnTo>
                      <a:pt x="574" y="1175"/>
                    </a:lnTo>
                    <a:lnTo>
                      <a:pt x="308" y="1170"/>
                    </a:lnTo>
                    <a:lnTo>
                      <a:pt x="296" y="286"/>
                    </a:lnTo>
                    <a:lnTo>
                      <a:pt x="284" y="12"/>
                    </a:lnTo>
                    <a:lnTo>
                      <a:pt x="24" y="0"/>
                    </a:lnTo>
                    <a:close/>
                  </a:path>
                </a:pathLst>
              </a:custGeom>
              <a:solidFill>
                <a:srgbClr val="FFCC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1pPr>
                <a:lvl2pPr marL="4572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2pPr>
                <a:lvl3pPr marL="9144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3pPr>
                <a:lvl4pPr marL="13716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4pPr>
                <a:lvl5pPr marL="18288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5pPr>
                <a:lvl6pPr marL="2286000" algn="l" defTabSz="914400" rtl="0" eaLnBrk="1" latinLnBrk="0" hangingPunct="1">
                  <a:defRPr sz="2400" kern="1200">
                    <a:solidFill>
                      <a:schemeClr val="bg2"/>
                    </a:solidFill>
                    <a:latin typeface="Tahoma" panose="020B0604030504040204" pitchFamily="34" charset="0"/>
                    <a:ea typeface="+mn-ea"/>
                    <a:cs typeface="+mn-cs"/>
                  </a:defRPr>
                </a:lvl6pPr>
                <a:lvl7pPr marL="2743200" algn="l" defTabSz="914400" rtl="0" eaLnBrk="1" latinLnBrk="0" hangingPunct="1">
                  <a:defRPr sz="2400" kern="1200">
                    <a:solidFill>
                      <a:schemeClr val="bg2"/>
                    </a:solidFill>
                    <a:latin typeface="Tahoma" panose="020B0604030504040204" pitchFamily="34" charset="0"/>
                    <a:ea typeface="+mn-ea"/>
                    <a:cs typeface="+mn-cs"/>
                  </a:defRPr>
                </a:lvl7pPr>
                <a:lvl8pPr marL="3200400" algn="l" defTabSz="914400" rtl="0" eaLnBrk="1" latinLnBrk="0" hangingPunct="1">
                  <a:defRPr sz="2400" kern="1200">
                    <a:solidFill>
                      <a:schemeClr val="bg2"/>
                    </a:solidFill>
                    <a:latin typeface="Tahoma" panose="020B0604030504040204" pitchFamily="34" charset="0"/>
                    <a:ea typeface="+mn-ea"/>
                    <a:cs typeface="+mn-cs"/>
                  </a:defRPr>
                </a:lvl8pPr>
                <a:lvl9pPr marL="3657600" algn="l" defTabSz="914400" rtl="0" eaLnBrk="1" latinLnBrk="0" hangingPunct="1">
                  <a:defRPr sz="2400" kern="1200">
                    <a:solidFill>
                      <a:schemeClr val="bg2"/>
                    </a:solidFill>
                    <a:latin typeface="Tahoma" panose="020B0604030504040204" pitchFamily="34" charset="0"/>
                    <a:ea typeface="+mn-ea"/>
                    <a:cs typeface="+mn-cs"/>
                  </a:defRPr>
                </a:lvl9pPr>
              </a:lstStyle>
              <a:p>
                <a:endParaRPr lang="en-IN"/>
              </a:p>
            </p:txBody>
          </p:sp>
          <p:sp>
            <p:nvSpPr>
              <p:cNvPr id="24" name="Freeform 23"/>
              <p:cNvSpPr>
                <a:spLocks/>
              </p:cNvSpPr>
              <p:nvPr/>
            </p:nvSpPr>
            <p:spPr bwMode="auto">
              <a:xfrm>
                <a:off x="1506" y="2510"/>
                <a:ext cx="19" cy="79"/>
              </a:xfrm>
              <a:custGeom>
                <a:avLst/>
                <a:gdLst>
                  <a:gd name="T0" fmla="*/ 0 w 154"/>
                  <a:gd name="T1" fmla="*/ 0 h 634"/>
                  <a:gd name="T2" fmla="*/ 0 w 154"/>
                  <a:gd name="T3" fmla="*/ 0 h 634"/>
                  <a:gd name="T4" fmla="*/ 0 w 154"/>
                  <a:gd name="T5" fmla="*/ 0 h 634"/>
                  <a:gd name="T6" fmla="*/ 0 w 154"/>
                  <a:gd name="T7" fmla="*/ 0 h 634"/>
                  <a:gd name="T8" fmla="*/ 0 w 154"/>
                  <a:gd name="T9" fmla="*/ 0 h 634"/>
                  <a:gd name="T10" fmla="*/ 0 w 154"/>
                  <a:gd name="T11" fmla="*/ 0 h 634"/>
                  <a:gd name="T12" fmla="*/ 0 w 154"/>
                  <a:gd name="T13" fmla="*/ 0 h 634"/>
                  <a:gd name="T14" fmla="*/ 0 60000 65536"/>
                  <a:gd name="T15" fmla="*/ 0 60000 65536"/>
                  <a:gd name="T16" fmla="*/ 0 60000 65536"/>
                  <a:gd name="T17" fmla="*/ 0 60000 65536"/>
                  <a:gd name="T18" fmla="*/ 0 60000 65536"/>
                  <a:gd name="T19" fmla="*/ 0 60000 65536"/>
                  <a:gd name="T20" fmla="*/ 0 60000 65536"/>
                  <a:gd name="T21" fmla="*/ 0 w 154"/>
                  <a:gd name="T22" fmla="*/ 0 h 634"/>
                  <a:gd name="T23" fmla="*/ 154 w 154"/>
                  <a:gd name="T24" fmla="*/ 634 h 63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4" h="634">
                    <a:moveTo>
                      <a:pt x="88" y="47"/>
                    </a:moveTo>
                    <a:lnTo>
                      <a:pt x="0" y="124"/>
                    </a:lnTo>
                    <a:lnTo>
                      <a:pt x="6" y="634"/>
                    </a:lnTo>
                    <a:lnTo>
                      <a:pt x="154" y="623"/>
                    </a:lnTo>
                    <a:lnTo>
                      <a:pt x="148" y="0"/>
                    </a:lnTo>
                    <a:lnTo>
                      <a:pt x="88" y="47"/>
                    </a:lnTo>
                    <a:close/>
                  </a:path>
                </a:pathLst>
              </a:custGeom>
              <a:solidFill>
                <a:srgbClr val="FF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1pPr>
                <a:lvl2pPr marL="4572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2pPr>
                <a:lvl3pPr marL="9144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3pPr>
                <a:lvl4pPr marL="13716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4pPr>
                <a:lvl5pPr marL="18288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5pPr>
                <a:lvl6pPr marL="2286000" algn="l" defTabSz="914400" rtl="0" eaLnBrk="1" latinLnBrk="0" hangingPunct="1">
                  <a:defRPr sz="2400" kern="1200">
                    <a:solidFill>
                      <a:schemeClr val="bg2"/>
                    </a:solidFill>
                    <a:latin typeface="Tahoma" panose="020B0604030504040204" pitchFamily="34" charset="0"/>
                    <a:ea typeface="+mn-ea"/>
                    <a:cs typeface="+mn-cs"/>
                  </a:defRPr>
                </a:lvl6pPr>
                <a:lvl7pPr marL="2743200" algn="l" defTabSz="914400" rtl="0" eaLnBrk="1" latinLnBrk="0" hangingPunct="1">
                  <a:defRPr sz="2400" kern="1200">
                    <a:solidFill>
                      <a:schemeClr val="bg2"/>
                    </a:solidFill>
                    <a:latin typeface="Tahoma" panose="020B0604030504040204" pitchFamily="34" charset="0"/>
                    <a:ea typeface="+mn-ea"/>
                    <a:cs typeface="+mn-cs"/>
                  </a:defRPr>
                </a:lvl7pPr>
                <a:lvl8pPr marL="3200400" algn="l" defTabSz="914400" rtl="0" eaLnBrk="1" latinLnBrk="0" hangingPunct="1">
                  <a:defRPr sz="2400" kern="1200">
                    <a:solidFill>
                      <a:schemeClr val="bg2"/>
                    </a:solidFill>
                    <a:latin typeface="Tahoma" panose="020B0604030504040204" pitchFamily="34" charset="0"/>
                    <a:ea typeface="+mn-ea"/>
                    <a:cs typeface="+mn-cs"/>
                  </a:defRPr>
                </a:lvl8pPr>
                <a:lvl9pPr marL="3657600" algn="l" defTabSz="914400" rtl="0" eaLnBrk="1" latinLnBrk="0" hangingPunct="1">
                  <a:defRPr sz="2400" kern="1200">
                    <a:solidFill>
                      <a:schemeClr val="bg2"/>
                    </a:solidFill>
                    <a:latin typeface="Tahoma" panose="020B0604030504040204" pitchFamily="34" charset="0"/>
                    <a:ea typeface="+mn-ea"/>
                    <a:cs typeface="+mn-cs"/>
                  </a:defRPr>
                </a:lvl9pPr>
              </a:lstStyle>
              <a:p>
                <a:endParaRPr lang="en-IN"/>
              </a:p>
            </p:txBody>
          </p:sp>
          <p:sp>
            <p:nvSpPr>
              <p:cNvPr id="25" name="Freeform 24"/>
              <p:cNvSpPr>
                <a:spLocks/>
              </p:cNvSpPr>
              <p:nvPr/>
            </p:nvSpPr>
            <p:spPr bwMode="auto">
              <a:xfrm>
                <a:off x="1436" y="2526"/>
                <a:ext cx="71" cy="143"/>
              </a:xfrm>
              <a:custGeom>
                <a:avLst/>
                <a:gdLst>
                  <a:gd name="T0" fmla="*/ 0 w 567"/>
                  <a:gd name="T1" fmla="*/ 0 h 1151"/>
                  <a:gd name="T2" fmla="*/ 0 w 567"/>
                  <a:gd name="T3" fmla="*/ 0 h 1151"/>
                  <a:gd name="T4" fmla="*/ 0 w 567"/>
                  <a:gd name="T5" fmla="*/ 0 h 1151"/>
                  <a:gd name="T6" fmla="*/ 0 w 567"/>
                  <a:gd name="T7" fmla="*/ 0 h 1151"/>
                  <a:gd name="T8" fmla="*/ 0 w 567"/>
                  <a:gd name="T9" fmla="*/ 0 h 1151"/>
                  <a:gd name="T10" fmla="*/ 0 w 567"/>
                  <a:gd name="T11" fmla="*/ 0 h 1151"/>
                  <a:gd name="T12" fmla="*/ 0 w 567"/>
                  <a:gd name="T13" fmla="*/ 0 h 1151"/>
                  <a:gd name="T14" fmla="*/ 0 w 567"/>
                  <a:gd name="T15" fmla="*/ 0 h 1151"/>
                  <a:gd name="T16" fmla="*/ 0 60000 65536"/>
                  <a:gd name="T17" fmla="*/ 0 60000 65536"/>
                  <a:gd name="T18" fmla="*/ 0 60000 65536"/>
                  <a:gd name="T19" fmla="*/ 0 60000 65536"/>
                  <a:gd name="T20" fmla="*/ 0 60000 65536"/>
                  <a:gd name="T21" fmla="*/ 0 60000 65536"/>
                  <a:gd name="T22" fmla="*/ 0 60000 65536"/>
                  <a:gd name="T23" fmla="*/ 0 60000 65536"/>
                  <a:gd name="T24" fmla="*/ 0 w 567"/>
                  <a:gd name="T25" fmla="*/ 0 h 1151"/>
                  <a:gd name="T26" fmla="*/ 567 w 567"/>
                  <a:gd name="T27" fmla="*/ 1151 h 115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67" h="1151">
                    <a:moveTo>
                      <a:pt x="0" y="18"/>
                    </a:moveTo>
                    <a:lnTo>
                      <a:pt x="0" y="1151"/>
                    </a:lnTo>
                    <a:lnTo>
                      <a:pt x="89" y="1074"/>
                    </a:lnTo>
                    <a:lnTo>
                      <a:pt x="124" y="118"/>
                    </a:lnTo>
                    <a:lnTo>
                      <a:pt x="490" y="101"/>
                    </a:lnTo>
                    <a:lnTo>
                      <a:pt x="567" y="0"/>
                    </a:lnTo>
                    <a:lnTo>
                      <a:pt x="0" y="18"/>
                    </a:lnTo>
                    <a:close/>
                  </a:path>
                </a:pathLst>
              </a:custGeom>
              <a:solidFill>
                <a:srgbClr val="FF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1pPr>
                <a:lvl2pPr marL="4572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2pPr>
                <a:lvl3pPr marL="9144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3pPr>
                <a:lvl4pPr marL="13716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4pPr>
                <a:lvl5pPr marL="18288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5pPr>
                <a:lvl6pPr marL="2286000" algn="l" defTabSz="914400" rtl="0" eaLnBrk="1" latinLnBrk="0" hangingPunct="1">
                  <a:defRPr sz="2400" kern="1200">
                    <a:solidFill>
                      <a:schemeClr val="bg2"/>
                    </a:solidFill>
                    <a:latin typeface="Tahoma" panose="020B0604030504040204" pitchFamily="34" charset="0"/>
                    <a:ea typeface="+mn-ea"/>
                    <a:cs typeface="+mn-cs"/>
                  </a:defRPr>
                </a:lvl6pPr>
                <a:lvl7pPr marL="2743200" algn="l" defTabSz="914400" rtl="0" eaLnBrk="1" latinLnBrk="0" hangingPunct="1">
                  <a:defRPr sz="2400" kern="1200">
                    <a:solidFill>
                      <a:schemeClr val="bg2"/>
                    </a:solidFill>
                    <a:latin typeface="Tahoma" panose="020B0604030504040204" pitchFamily="34" charset="0"/>
                    <a:ea typeface="+mn-ea"/>
                    <a:cs typeface="+mn-cs"/>
                  </a:defRPr>
                </a:lvl7pPr>
                <a:lvl8pPr marL="3200400" algn="l" defTabSz="914400" rtl="0" eaLnBrk="1" latinLnBrk="0" hangingPunct="1">
                  <a:defRPr sz="2400" kern="1200">
                    <a:solidFill>
                      <a:schemeClr val="bg2"/>
                    </a:solidFill>
                    <a:latin typeface="Tahoma" panose="020B0604030504040204" pitchFamily="34" charset="0"/>
                    <a:ea typeface="+mn-ea"/>
                    <a:cs typeface="+mn-cs"/>
                  </a:defRPr>
                </a:lvl8pPr>
                <a:lvl9pPr marL="3657600" algn="l" defTabSz="914400" rtl="0" eaLnBrk="1" latinLnBrk="0" hangingPunct="1">
                  <a:defRPr sz="2400" kern="1200">
                    <a:solidFill>
                      <a:schemeClr val="bg2"/>
                    </a:solidFill>
                    <a:latin typeface="Tahoma" panose="020B0604030504040204" pitchFamily="34" charset="0"/>
                    <a:ea typeface="+mn-ea"/>
                    <a:cs typeface="+mn-cs"/>
                  </a:defRPr>
                </a:lvl9pPr>
              </a:lstStyle>
              <a:p>
                <a:endParaRPr lang="en-IN"/>
              </a:p>
            </p:txBody>
          </p:sp>
          <p:sp>
            <p:nvSpPr>
              <p:cNvPr id="26" name="Freeform 25"/>
              <p:cNvSpPr>
                <a:spLocks/>
              </p:cNvSpPr>
              <p:nvPr/>
            </p:nvSpPr>
            <p:spPr bwMode="auto">
              <a:xfrm>
                <a:off x="1422" y="2598"/>
                <a:ext cx="373" cy="85"/>
              </a:xfrm>
              <a:custGeom>
                <a:avLst/>
                <a:gdLst>
                  <a:gd name="T0" fmla="*/ 0 w 2983"/>
                  <a:gd name="T1" fmla="*/ 0 h 682"/>
                  <a:gd name="T2" fmla="*/ 0 w 2983"/>
                  <a:gd name="T3" fmla="*/ 0 h 682"/>
                  <a:gd name="T4" fmla="*/ 0 w 2983"/>
                  <a:gd name="T5" fmla="*/ 0 h 682"/>
                  <a:gd name="T6" fmla="*/ 0 w 2983"/>
                  <a:gd name="T7" fmla="*/ 0 h 682"/>
                  <a:gd name="T8" fmla="*/ 0 w 2983"/>
                  <a:gd name="T9" fmla="*/ 0 h 682"/>
                  <a:gd name="T10" fmla="*/ 0 w 2983"/>
                  <a:gd name="T11" fmla="*/ 0 h 682"/>
                  <a:gd name="T12" fmla="*/ 0 w 2983"/>
                  <a:gd name="T13" fmla="*/ 0 h 682"/>
                  <a:gd name="T14" fmla="*/ 0 w 2983"/>
                  <a:gd name="T15" fmla="*/ 0 h 682"/>
                  <a:gd name="T16" fmla="*/ 0 w 2983"/>
                  <a:gd name="T17" fmla="*/ 0 h 682"/>
                  <a:gd name="T18" fmla="*/ 0 w 2983"/>
                  <a:gd name="T19" fmla="*/ 0 h 68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983"/>
                  <a:gd name="T31" fmla="*/ 0 h 682"/>
                  <a:gd name="T32" fmla="*/ 2983 w 2983"/>
                  <a:gd name="T33" fmla="*/ 682 h 68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983" h="682">
                    <a:moveTo>
                      <a:pt x="690" y="0"/>
                    </a:moveTo>
                    <a:lnTo>
                      <a:pt x="690" y="570"/>
                    </a:lnTo>
                    <a:lnTo>
                      <a:pt x="123" y="564"/>
                    </a:lnTo>
                    <a:lnTo>
                      <a:pt x="0" y="665"/>
                    </a:lnTo>
                    <a:lnTo>
                      <a:pt x="821" y="682"/>
                    </a:lnTo>
                    <a:lnTo>
                      <a:pt x="844" y="137"/>
                    </a:lnTo>
                    <a:lnTo>
                      <a:pt x="2948" y="137"/>
                    </a:lnTo>
                    <a:lnTo>
                      <a:pt x="2983" y="0"/>
                    </a:lnTo>
                    <a:lnTo>
                      <a:pt x="690" y="0"/>
                    </a:lnTo>
                    <a:close/>
                  </a:path>
                </a:pathLst>
              </a:custGeom>
              <a:solidFill>
                <a:srgbClr val="FF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1pPr>
                <a:lvl2pPr marL="4572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2pPr>
                <a:lvl3pPr marL="9144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3pPr>
                <a:lvl4pPr marL="13716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4pPr>
                <a:lvl5pPr marL="18288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5pPr>
                <a:lvl6pPr marL="2286000" algn="l" defTabSz="914400" rtl="0" eaLnBrk="1" latinLnBrk="0" hangingPunct="1">
                  <a:defRPr sz="2400" kern="1200">
                    <a:solidFill>
                      <a:schemeClr val="bg2"/>
                    </a:solidFill>
                    <a:latin typeface="Tahoma" panose="020B0604030504040204" pitchFamily="34" charset="0"/>
                    <a:ea typeface="+mn-ea"/>
                    <a:cs typeface="+mn-cs"/>
                  </a:defRPr>
                </a:lvl6pPr>
                <a:lvl7pPr marL="2743200" algn="l" defTabSz="914400" rtl="0" eaLnBrk="1" latinLnBrk="0" hangingPunct="1">
                  <a:defRPr sz="2400" kern="1200">
                    <a:solidFill>
                      <a:schemeClr val="bg2"/>
                    </a:solidFill>
                    <a:latin typeface="Tahoma" panose="020B0604030504040204" pitchFamily="34" charset="0"/>
                    <a:ea typeface="+mn-ea"/>
                    <a:cs typeface="+mn-cs"/>
                  </a:defRPr>
                </a:lvl7pPr>
                <a:lvl8pPr marL="3200400" algn="l" defTabSz="914400" rtl="0" eaLnBrk="1" latinLnBrk="0" hangingPunct="1">
                  <a:defRPr sz="2400" kern="1200">
                    <a:solidFill>
                      <a:schemeClr val="bg2"/>
                    </a:solidFill>
                    <a:latin typeface="Tahoma" panose="020B0604030504040204" pitchFamily="34" charset="0"/>
                    <a:ea typeface="+mn-ea"/>
                    <a:cs typeface="+mn-cs"/>
                  </a:defRPr>
                </a:lvl8pPr>
                <a:lvl9pPr marL="3657600" algn="l" defTabSz="914400" rtl="0" eaLnBrk="1" latinLnBrk="0" hangingPunct="1">
                  <a:defRPr sz="2400" kern="1200">
                    <a:solidFill>
                      <a:schemeClr val="bg2"/>
                    </a:solidFill>
                    <a:latin typeface="Tahoma" panose="020B0604030504040204" pitchFamily="34" charset="0"/>
                    <a:ea typeface="+mn-ea"/>
                    <a:cs typeface="+mn-cs"/>
                  </a:defRPr>
                </a:lvl9pPr>
              </a:lstStyle>
              <a:p>
                <a:endParaRPr lang="en-IN"/>
              </a:p>
            </p:txBody>
          </p:sp>
          <p:sp>
            <p:nvSpPr>
              <p:cNvPr id="27" name="Freeform 26"/>
              <p:cNvSpPr>
                <a:spLocks/>
              </p:cNvSpPr>
              <p:nvPr/>
            </p:nvSpPr>
            <p:spPr bwMode="auto">
              <a:xfrm>
                <a:off x="1517" y="2571"/>
                <a:ext cx="304" cy="89"/>
              </a:xfrm>
              <a:custGeom>
                <a:avLst/>
                <a:gdLst>
                  <a:gd name="T0" fmla="*/ 0 w 2432"/>
                  <a:gd name="T1" fmla="*/ 0 h 719"/>
                  <a:gd name="T2" fmla="*/ 0 w 2432"/>
                  <a:gd name="T3" fmla="*/ 0 h 719"/>
                  <a:gd name="T4" fmla="*/ 0 w 2432"/>
                  <a:gd name="T5" fmla="*/ 0 h 719"/>
                  <a:gd name="T6" fmla="*/ 0 w 2432"/>
                  <a:gd name="T7" fmla="*/ 0 h 719"/>
                  <a:gd name="T8" fmla="*/ 0 w 2432"/>
                  <a:gd name="T9" fmla="*/ 0 h 719"/>
                  <a:gd name="T10" fmla="*/ 0 w 2432"/>
                  <a:gd name="T11" fmla="*/ 0 h 719"/>
                  <a:gd name="T12" fmla="*/ 0 w 2432"/>
                  <a:gd name="T13" fmla="*/ 0 h 719"/>
                  <a:gd name="T14" fmla="*/ 0 w 2432"/>
                  <a:gd name="T15" fmla="*/ 0 h 719"/>
                  <a:gd name="T16" fmla="*/ 0 w 2432"/>
                  <a:gd name="T17" fmla="*/ 0 h 719"/>
                  <a:gd name="T18" fmla="*/ 0 w 2432"/>
                  <a:gd name="T19" fmla="*/ 0 h 719"/>
                  <a:gd name="T20" fmla="*/ 0 w 2432"/>
                  <a:gd name="T21" fmla="*/ 0 h 719"/>
                  <a:gd name="T22" fmla="*/ 0 w 2432"/>
                  <a:gd name="T23" fmla="*/ 0 h 719"/>
                  <a:gd name="T24" fmla="*/ 0 w 2432"/>
                  <a:gd name="T25" fmla="*/ 0 h 719"/>
                  <a:gd name="T26" fmla="*/ 0 w 2432"/>
                  <a:gd name="T27" fmla="*/ 0 h 719"/>
                  <a:gd name="T28" fmla="*/ 0 w 2432"/>
                  <a:gd name="T29" fmla="*/ 0 h 719"/>
                  <a:gd name="T30" fmla="*/ 0 w 2432"/>
                  <a:gd name="T31" fmla="*/ 0 h 71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432"/>
                  <a:gd name="T49" fmla="*/ 0 h 719"/>
                  <a:gd name="T50" fmla="*/ 2432 w 2432"/>
                  <a:gd name="T51" fmla="*/ 719 h 71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432" h="719">
                    <a:moveTo>
                      <a:pt x="0" y="0"/>
                    </a:moveTo>
                    <a:lnTo>
                      <a:pt x="2288" y="0"/>
                    </a:lnTo>
                    <a:lnTo>
                      <a:pt x="2432" y="215"/>
                    </a:lnTo>
                    <a:lnTo>
                      <a:pt x="2288" y="431"/>
                    </a:lnTo>
                    <a:lnTo>
                      <a:pt x="2288" y="719"/>
                    </a:lnTo>
                    <a:lnTo>
                      <a:pt x="1717" y="719"/>
                    </a:lnTo>
                    <a:lnTo>
                      <a:pt x="1717" y="575"/>
                    </a:lnTo>
                    <a:lnTo>
                      <a:pt x="2145" y="575"/>
                    </a:lnTo>
                    <a:lnTo>
                      <a:pt x="2145" y="431"/>
                    </a:lnTo>
                    <a:lnTo>
                      <a:pt x="1860" y="431"/>
                    </a:lnTo>
                    <a:lnTo>
                      <a:pt x="1860" y="288"/>
                    </a:lnTo>
                    <a:lnTo>
                      <a:pt x="2145" y="288"/>
                    </a:lnTo>
                    <a:lnTo>
                      <a:pt x="2145" y="144"/>
                    </a:lnTo>
                    <a:lnTo>
                      <a:pt x="0" y="14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1pPr>
                <a:lvl2pPr marL="4572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2pPr>
                <a:lvl3pPr marL="9144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3pPr>
                <a:lvl4pPr marL="13716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4pPr>
                <a:lvl5pPr marL="18288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5pPr>
                <a:lvl6pPr marL="2286000" algn="l" defTabSz="914400" rtl="0" eaLnBrk="1" latinLnBrk="0" hangingPunct="1">
                  <a:defRPr sz="2400" kern="1200">
                    <a:solidFill>
                      <a:schemeClr val="bg2"/>
                    </a:solidFill>
                    <a:latin typeface="Tahoma" panose="020B0604030504040204" pitchFamily="34" charset="0"/>
                    <a:ea typeface="+mn-ea"/>
                    <a:cs typeface="+mn-cs"/>
                  </a:defRPr>
                </a:lvl6pPr>
                <a:lvl7pPr marL="2743200" algn="l" defTabSz="914400" rtl="0" eaLnBrk="1" latinLnBrk="0" hangingPunct="1">
                  <a:defRPr sz="2400" kern="1200">
                    <a:solidFill>
                      <a:schemeClr val="bg2"/>
                    </a:solidFill>
                    <a:latin typeface="Tahoma" panose="020B0604030504040204" pitchFamily="34" charset="0"/>
                    <a:ea typeface="+mn-ea"/>
                    <a:cs typeface="+mn-cs"/>
                  </a:defRPr>
                </a:lvl7pPr>
                <a:lvl8pPr marL="3200400" algn="l" defTabSz="914400" rtl="0" eaLnBrk="1" latinLnBrk="0" hangingPunct="1">
                  <a:defRPr sz="2400" kern="1200">
                    <a:solidFill>
                      <a:schemeClr val="bg2"/>
                    </a:solidFill>
                    <a:latin typeface="Tahoma" panose="020B0604030504040204" pitchFamily="34" charset="0"/>
                    <a:ea typeface="+mn-ea"/>
                    <a:cs typeface="+mn-cs"/>
                  </a:defRPr>
                </a:lvl8pPr>
                <a:lvl9pPr marL="3657600" algn="l" defTabSz="914400" rtl="0" eaLnBrk="1" latinLnBrk="0" hangingPunct="1">
                  <a:defRPr sz="2400" kern="1200">
                    <a:solidFill>
                      <a:schemeClr val="bg2"/>
                    </a:solidFill>
                    <a:latin typeface="Tahoma" panose="020B0604030504040204" pitchFamily="34" charset="0"/>
                    <a:ea typeface="+mn-ea"/>
                    <a:cs typeface="+mn-cs"/>
                  </a:defRPr>
                </a:lvl9pPr>
              </a:lstStyle>
              <a:p>
                <a:endParaRPr lang="en-IN"/>
              </a:p>
            </p:txBody>
          </p:sp>
          <p:sp>
            <p:nvSpPr>
              <p:cNvPr id="28" name="Freeform 27"/>
              <p:cNvSpPr>
                <a:spLocks/>
              </p:cNvSpPr>
              <p:nvPr/>
            </p:nvSpPr>
            <p:spPr bwMode="auto">
              <a:xfrm>
                <a:off x="1517" y="2606"/>
                <a:ext cx="215" cy="18"/>
              </a:xfrm>
              <a:custGeom>
                <a:avLst/>
                <a:gdLst>
                  <a:gd name="T0" fmla="*/ 0 w 1717"/>
                  <a:gd name="T1" fmla="*/ 0 h 143"/>
                  <a:gd name="T2" fmla="*/ 0 w 1717"/>
                  <a:gd name="T3" fmla="*/ 0 h 143"/>
                  <a:gd name="T4" fmla="*/ 0 w 1717"/>
                  <a:gd name="T5" fmla="*/ 0 h 143"/>
                  <a:gd name="T6" fmla="*/ 0 w 1717"/>
                  <a:gd name="T7" fmla="*/ 0 h 143"/>
                  <a:gd name="T8" fmla="*/ 0 w 1717"/>
                  <a:gd name="T9" fmla="*/ 0 h 143"/>
                  <a:gd name="T10" fmla="*/ 0 w 1717"/>
                  <a:gd name="T11" fmla="*/ 0 h 143"/>
                  <a:gd name="T12" fmla="*/ 0 w 1717"/>
                  <a:gd name="T13" fmla="*/ 0 h 143"/>
                  <a:gd name="T14" fmla="*/ 0 60000 65536"/>
                  <a:gd name="T15" fmla="*/ 0 60000 65536"/>
                  <a:gd name="T16" fmla="*/ 0 60000 65536"/>
                  <a:gd name="T17" fmla="*/ 0 60000 65536"/>
                  <a:gd name="T18" fmla="*/ 0 60000 65536"/>
                  <a:gd name="T19" fmla="*/ 0 60000 65536"/>
                  <a:gd name="T20" fmla="*/ 0 60000 65536"/>
                  <a:gd name="T21" fmla="*/ 0 w 1717"/>
                  <a:gd name="T22" fmla="*/ 0 h 143"/>
                  <a:gd name="T23" fmla="*/ 1717 w 1717"/>
                  <a:gd name="T24" fmla="*/ 143 h 14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17" h="143">
                    <a:moveTo>
                      <a:pt x="143" y="0"/>
                    </a:moveTo>
                    <a:lnTo>
                      <a:pt x="1717" y="0"/>
                    </a:lnTo>
                    <a:lnTo>
                      <a:pt x="1717" y="143"/>
                    </a:lnTo>
                    <a:lnTo>
                      <a:pt x="107" y="143"/>
                    </a:lnTo>
                    <a:lnTo>
                      <a:pt x="0" y="0"/>
                    </a:lnTo>
                    <a:lnTo>
                      <a:pt x="14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1pPr>
                <a:lvl2pPr marL="4572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2pPr>
                <a:lvl3pPr marL="9144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3pPr>
                <a:lvl4pPr marL="13716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4pPr>
                <a:lvl5pPr marL="18288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5pPr>
                <a:lvl6pPr marL="2286000" algn="l" defTabSz="914400" rtl="0" eaLnBrk="1" latinLnBrk="0" hangingPunct="1">
                  <a:defRPr sz="2400" kern="1200">
                    <a:solidFill>
                      <a:schemeClr val="bg2"/>
                    </a:solidFill>
                    <a:latin typeface="Tahoma" panose="020B0604030504040204" pitchFamily="34" charset="0"/>
                    <a:ea typeface="+mn-ea"/>
                    <a:cs typeface="+mn-cs"/>
                  </a:defRPr>
                </a:lvl6pPr>
                <a:lvl7pPr marL="2743200" algn="l" defTabSz="914400" rtl="0" eaLnBrk="1" latinLnBrk="0" hangingPunct="1">
                  <a:defRPr sz="2400" kern="1200">
                    <a:solidFill>
                      <a:schemeClr val="bg2"/>
                    </a:solidFill>
                    <a:latin typeface="Tahoma" panose="020B0604030504040204" pitchFamily="34" charset="0"/>
                    <a:ea typeface="+mn-ea"/>
                    <a:cs typeface="+mn-cs"/>
                  </a:defRPr>
                </a:lvl7pPr>
                <a:lvl8pPr marL="3200400" algn="l" defTabSz="914400" rtl="0" eaLnBrk="1" latinLnBrk="0" hangingPunct="1">
                  <a:defRPr sz="2400" kern="1200">
                    <a:solidFill>
                      <a:schemeClr val="bg2"/>
                    </a:solidFill>
                    <a:latin typeface="Tahoma" panose="020B0604030504040204" pitchFamily="34" charset="0"/>
                    <a:ea typeface="+mn-ea"/>
                    <a:cs typeface="+mn-cs"/>
                  </a:defRPr>
                </a:lvl8pPr>
                <a:lvl9pPr marL="3657600" algn="l" defTabSz="914400" rtl="0" eaLnBrk="1" latinLnBrk="0" hangingPunct="1">
                  <a:defRPr sz="2400" kern="1200">
                    <a:solidFill>
                      <a:schemeClr val="bg2"/>
                    </a:solidFill>
                    <a:latin typeface="Tahoma" panose="020B0604030504040204" pitchFamily="34" charset="0"/>
                    <a:ea typeface="+mn-ea"/>
                    <a:cs typeface="+mn-cs"/>
                  </a:defRPr>
                </a:lvl9pPr>
              </a:lstStyle>
              <a:p>
                <a:endParaRPr lang="en-IN"/>
              </a:p>
            </p:txBody>
          </p:sp>
          <p:sp>
            <p:nvSpPr>
              <p:cNvPr id="29" name="Freeform 28"/>
              <p:cNvSpPr>
                <a:spLocks/>
              </p:cNvSpPr>
              <p:nvPr/>
            </p:nvSpPr>
            <p:spPr bwMode="auto">
              <a:xfrm>
                <a:off x="1410" y="2499"/>
                <a:ext cx="125" cy="197"/>
              </a:xfrm>
              <a:custGeom>
                <a:avLst/>
                <a:gdLst>
                  <a:gd name="T0" fmla="*/ 0 w 1001"/>
                  <a:gd name="T1" fmla="*/ 0 h 1580"/>
                  <a:gd name="T2" fmla="*/ 0 w 1001"/>
                  <a:gd name="T3" fmla="*/ 0 h 1580"/>
                  <a:gd name="T4" fmla="*/ 0 w 1001"/>
                  <a:gd name="T5" fmla="*/ 0 h 1580"/>
                  <a:gd name="T6" fmla="*/ 0 w 1001"/>
                  <a:gd name="T7" fmla="*/ 0 h 1580"/>
                  <a:gd name="T8" fmla="*/ 0 w 1001"/>
                  <a:gd name="T9" fmla="*/ 0 h 1580"/>
                  <a:gd name="T10" fmla="*/ 0 w 1001"/>
                  <a:gd name="T11" fmla="*/ 0 h 1580"/>
                  <a:gd name="T12" fmla="*/ 0 w 1001"/>
                  <a:gd name="T13" fmla="*/ 0 h 1580"/>
                  <a:gd name="T14" fmla="*/ 0 w 1001"/>
                  <a:gd name="T15" fmla="*/ 0 h 1580"/>
                  <a:gd name="T16" fmla="*/ 0 w 1001"/>
                  <a:gd name="T17" fmla="*/ 0 h 1580"/>
                  <a:gd name="T18" fmla="*/ 0 w 1001"/>
                  <a:gd name="T19" fmla="*/ 0 h 1580"/>
                  <a:gd name="T20" fmla="*/ 0 w 1001"/>
                  <a:gd name="T21" fmla="*/ 0 h 1580"/>
                  <a:gd name="T22" fmla="*/ 0 w 1001"/>
                  <a:gd name="T23" fmla="*/ 0 h 158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01"/>
                  <a:gd name="T37" fmla="*/ 0 h 1580"/>
                  <a:gd name="T38" fmla="*/ 1001 w 1001"/>
                  <a:gd name="T39" fmla="*/ 1580 h 158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01" h="1580">
                    <a:moveTo>
                      <a:pt x="0" y="0"/>
                    </a:moveTo>
                    <a:lnTo>
                      <a:pt x="0" y="1580"/>
                    </a:lnTo>
                    <a:lnTo>
                      <a:pt x="1001" y="1580"/>
                    </a:lnTo>
                    <a:lnTo>
                      <a:pt x="1001" y="862"/>
                    </a:lnTo>
                    <a:lnTo>
                      <a:pt x="858" y="862"/>
                    </a:lnTo>
                    <a:lnTo>
                      <a:pt x="858" y="1436"/>
                    </a:lnTo>
                    <a:lnTo>
                      <a:pt x="143" y="1436"/>
                    </a:lnTo>
                    <a:lnTo>
                      <a:pt x="143" y="143"/>
                    </a:lnTo>
                    <a:lnTo>
                      <a:pt x="1001" y="143"/>
                    </a:lnTo>
                    <a:lnTo>
                      <a:pt x="1001"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1pPr>
                <a:lvl2pPr marL="4572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2pPr>
                <a:lvl3pPr marL="9144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3pPr>
                <a:lvl4pPr marL="13716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4pPr>
                <a:lvl5pPr marL="18288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5pPr>
                <a:lvl6pPr marL="2286000" algn="l" defTabSz="914400" rtl="0" eaLnBrk="1" latinLnBrk="0" hangingPunct="1">
                  <a:defRPr sz="2400" kern="1200">
                    <a:solidFill>
                      <a:schemeClr val="bg2"/>
                    </a:solidFill>
                    <a:latin typeface="Tahoma" panose="020B0604030504040204" pitchFamily="34" charset="0"/>
                    <a:ea typeface="+mn-ea"/>
                    <a:cs typeface="+mn-cs"/>
                  </a:defRPr>
                </a:lvl6pPr>
                <a:lvl7pPr marL="2743200" algn="l" defTabSz="914400" rtl="0" eaLnBrk="1" latinLnBrk="0" hangingPunct="1">
                  <a:defRPr sz="2400" kern="1200">
                    <a:solidFill>
                      <a:schemeClr val="bg2"/>
                    </a:solidFill>
                    <a:latin typeface="Tahoma" panose="020B0604030504040204" pitchFamily="34" charset="0"/>
                    <a:ea typeface="+mn-ea"/>
                    <a:cs typeface="+mn-cs"/>
                  </a:defRPr>
                </a:lvl7pPr>
                <a:lvl8pPr marL="3200400" algn="l" defTabSz="914400" rtl="0" eaLnBrk="1" latinLnBrk="0" hangingPunct="1">
                  <a:defRPr sz="2400" kern="1200">
                    <a:solidFill>
                      <a:schemeClr val="bg2"/>
                    </a:solidFill>
                    <a:latin typeface="Tahoma" panose="020B0604030504040204" pitchFamily="34" charset="0"/>
                    <a:ea typeface="+mn-ea"/>
                    <a:cs typeface="+mn-cs"/>
                  </a:defRPr>
                </a:lvl8pPr>
                <a:lvl9pPr marL="3657600" algn="l" defTabSz="914400" rtl="0" eaLnBrk="1" latinLnBrk="0" hangingPunct="1">
                  <a:defRPr sz="2400" kern="1200">
                    <a:solidFill>
                      <a:schemeClr val="bg2"/>
                    </a:solidFill>
                    <a:latin typeface="Tahoma" panose="020B0604030504040204" pitchFamily="34" charset="0"/>
                    <a:ea typeface="+mn-ea"/>
                    <a:cs typeface="+mn-cs"/>
                  </a:defRPr>
                </a:lvl9pPr>
              </a:lstStyle>
              <a:p>
                <a:endParaRPr lang="en-IN"/>
              </a:p>
            </p:txBody>
          </p:sp>
          <p:sp>
            <p:nvSpPr>
              <p:cNvPr id="30" name="Freeform 29"/>
              <p:cNvSpPr>
                <a:spLocks/>
              </p:cNvSpPr>
              <p:nvPr/>
            </p:nvSpPr>
            <p:spPr bwMode="auto">
              <a:xfrm>
                <a:off x="1446" y="2535"/>
                <a:ext cx="53" cy="125"/>
              </a:xfrm>
              <a:custGeom>
                <a:avLst/>
                <a:gdLst>
                  <a:gd name="T0" fmla="*/ 0 w 428"/>
                  <a:gd name="T1" fmla="*/ 0 h 1007"/>
                  <a:gd name="T2" fmla="*/ 0 w 428"/>
                  <a:gd name="T3" fmla="*/ 0 h 1007"/>
                  <a:gd name="T4" fmla="*/ 0 w 428"/>
                  <a:gd name="T5" fmla="*/ 0 h 1007"/>
                  <a:gd name="T6" fmla="*/ 0 w 428"/>
                  <a:gd name="T7" fmla="*/ 0 h 1007"/>
                  <a:gd name="T8" fmla="*/ 0 w 428"/>
                  <a:gd name="T9" fmla="*/ 0 h 1007"/>
                  <a:gd name="T10" fmla="*/ 0 w 428"/>
                  <a:gd name="T11" fmla="*/ 0 h 1007"/>
                  <a:gd name="T12" fmla="*/ 0 w 428"/>
                  <a:gd name="T13" fmla="*/ 0 h 1007"/>
                  <a:gd name="T14" fmla="*/ 0 w 428"/>
                  <a:gd name="T15" fmla="*/ 0 h 1007"/>
                  <a:gd name="T16" fmla="*/ 0 w 428"/>
                  <a:gd name="T17" fmla="*/ 0 h 1007"/>
                  <a:gd name="T18" fmla="*/ 0 w 428"/>
                  <a:gd name="T19" fmla="*/ 0 h 100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28"/>
                  <a:gd name="T31" fmla="*/ 0 h 1007"/>
                  <a:gd name="T32" fmla="*/ 428 w 428"/>
                  <a:gd name="T33" fmla="*/ 1007 h 100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28" h="1007">
                    <a:moveTo>
                      <a:pt x="0" y="0"/>
                    </a:moveTo>
                    <a:lnTo>
                      <a:pt x="0" y="1007"/>
                    </a:lnTo>
                    <a:lnTo>
                      <a:pt x="428" y="1007"/>
                    </a:lnTo>
                    <a:lnTo>
                      <a:pt x="428" y="0"/>
                    </a:lnTo>
                    <a:lnTo>
                      <a:pt x="285" y="0"/>
                    </a:lnTo>
                    <a:lnTo>
                      <a:pt x="285" y="863"/>
                    </a:lnTo>
                    <a:lnTo>
                      <a:pt x="143" y="863"/>
                    </a:lnTo>
                    <a:lnTo>
                      <a:pt x="143"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1pPr>
                <a:lvl2pPr marL="4572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2pPr>
                <a:lvl3pPr marL="9144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3pPr>
                <a:lvl4pPr marL="13716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4pPr>
                <a:lvl5pPr marL="18288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5pPr>
                <a:lvl6pPr marL="2286000" algn="l" defTabSz="914400" rtl="0" eaLnBrk="1" latinLnBrk="0" hangingPunct="1">
                  <a:defRPr sz="2400" kern="1200">
                    <a:solidFill>
                      <a:schemeClr val="bg2"/>
                    </a:solidFill>
                    <a:latin typeface="Tahoma" panose="020B0604030504040204" pitchFamily="34" charset="0"/>
                    <a:ea typeface="+mn-ea"/>
                    <a:cs typeface="+mn-cs"/>
                  </a:defRPr>
                </a:lvl6pPr>
                <a:lvl7pPr marL="2743200" algn="l" defTabSz="914400" rtl="0" eaLnBrk="1" latinLnBrk="0" hangingPunct="1">
                  <a:defRPr sz="2400" kern="1200">
                    <a:solidFill>
                      <a:schemeClr val="bg2"/>
                    </a:solidFill>
                    <a:latin typeface="Tahoma" panose="020B0604030504040204" pitchFamily="34" charset="0"/>
                    <a:ea typeface="+mn-ea"/>
                    <a:cs typeface="+mn-cs"/>
                  </a:defRPr>
                </a:lvl7pPr>
                <a:lvl8pPr marL="3200400" algn="l" defTabSz="914400" rtl="0" eaLnBrk="1" latinLnBrk="0" hangingPunct="1">
                  <a:defRPr sz="2400" kern="1200">
                    <a:solidFill>
                      <a:schemeClr val="bg2"/>
                    </a:solidFill>
                    <a:latin typeface="Tahoma" panose="020B0604030504040204" pitchFamily="34" charset="0"/>
                    <a:ea typeface="+mn-ea"/>
                    <a:cs typeface="+mn-cs"/>
                  </a:defRPr>
                </a:lvl8pPr>
                <a:lvl9pPr marL="3657600" algn="l" defTabSz="914400" rtl="0" eaLnBrk="1" latinLnBrk="0" hangingPunct="1">
                  <a:defRPr sz="2400" kern="1200">
                    <a:solidFill>
                      <a:schemeClr val="bg2"/>
                    </a:solidFill>
                    <a:latin typeface="Tahoma" panose="020B0604030504040204" pitchFamily="34" charset="0"/>
                    <a:ea typeface="+mn-ea"/>
                    <a:cs typeface="+mn-cs"/>
                  </a:defRPr>
                </a:lvl9pPr>
              </a:lstStyle>
              <a:p>
                <a:endParaRPr lang="en-IN"/>
              </a:p>
            </p:txBody>
          </p:sp>
          <p:sp>
            <p:nvSpPr>
              <p:cNvPr id="31" name="Freeform 30"/>
              <p:cNvSpPr>
                <a:spLocks/>
              </p:cNvSpPr>
              <p:nvPr/>
            </p:nvSpPr>
            <p:spPr bwMode="auto">
              <a:xfrm>
                <a:off x="1446" y="2535"/>
                <a:ext cx="53" cy="18"/>
              </a:xfrm>
              <a:custGeom>
                <a:avLst/>
                <a:gdLst>
                  <a:gd name="T0" fmla="*/ 0 w 428"/>
                  <a:gd name="T1" fmla="*/ 0 h 145"/>
                  <a:gd name="T2" fmla="*/ 0 w 428"/>
                  <a:gd name="T3" fmla="*/ 0 h 145"/>
                  <a:gd name="T4" fmla="*/ 0 w 428"/>
                  <a:gd name="T5" fmla="*/ 0 h 145"/>
                  <a:gd name="T6" fmla="*/ 0 w 428"/>
                  <a:gd name="T7" fmla="*/ 0 h 145"/>
                  <a:gd name="T8" fmla="*/ 0 w 428"/>
                  <a:gd name="T9" fmla="*/ 0 h 145"/>
                  <a:gd name="T10" fmla="*/ 0 w 428"/>
                  <a:gd name="T11" fmla="*/ 0 h 145"/>
                  <a:gd name="T12" fmla="*/ 0 60000 65536"/>
                  <a:gd name="T13" fmla="*/ 0 60000 65536"/>
                  <a:gd name="T14" fmla="*/ 0 60000 65536"/>
                  <a:gd name="T15" fmla="*/ 0 60000 65536"/>
                  <a:gd name="T16" fmla="*/ 0 60000 65536"/>
                  <a:gd name="T17" fmla="*/ 0 60000 65536"/>
                  <a:gd name="T18" fmla="*/ 0 w 428"/>
                  <a:gd name="T19" fmla="*/ 0 h 145"/>
                  <a:gd name="T20" fmla="*/ 428 w 428"/>
                  <a:gd name="T21" fmla="*/ 145 h 145"/>
                </a:gdLst>
                <a:ahLst/>
                <a:cxnLst>
                  <a:cxn ang="T12">
                    <a:pos x="T0" y="T1"/>
                  </a:cxn>
                  <a:cxn ang="T13">
                    <a:pos x="T2" y="T3"/>
                  </a:cxn>
                  <a:cxn ang="T14">
                    <a:pos x="T4" y="T5"/>
                  </a:cxn>
                  <a:cxn ang="T15">
                    <a:pos x="T6" y="T7"/>
                  </a:cxn>
                  <a:cxn ang="T16">
                    <a:pos x="T8" y="T9"/>
                  </a:cxn>
                  <a:cxn ang="T17">
                    <a:pos x="T10" y="T11"/>
                  </a:cxn>
                </a:cxnLst>
                <a:rect l="T18" t="T19" r="T20" b="T21"/>
                <a:pathLst>
                  <a:path w="428" h="145">
                    <a:moveTo>
                      <a:pt x="0" y="145"/>
                    </a:moveTo>
                    <a:lnTo>
                      <a:pt x="428" y="145"/>
                    </a:lnTo>
                    <a:lnTo>
                      <a:pt x="428" y="0"/>
                    </a:lnTo>
                    <a:lnTo>
                      <a:pt x="0" y="0"/>
                    </a:lnTo>
                    <a:lnTo>
                      <a:pt x="0" y="14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1pPr>
                <a:lvl2pPr marL="4572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2pPr>
                <a:lvl3pPr marL="9144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3pPr>
                <a:lvl4pPr marL="13716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4pPr>
                <a:lvl5pPr marL="18288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5pPr>
                <a:lvl6pPr marL="2286000" algn="l" defTabSz="914400" rtl="0" eaLnBrk="1" latinLnBrk="0" hangingPunct="1">
                  <a:defRPr sz="2400" kern="1200">
                    <a:solidFill>
                      <a:schemeClr val="bg2"/>
                    </a:solidFill>
                    <a:latin typeface="Tahoma" panose="020B0604030504040204" pitchFamily="34" charset="0"/>
                    <a:ea typeface="+mn-ea"/>
                    <a:cs typeface="+mn-cs"/>
                  </a:defRPr>
                </a:lvl6pPr>
                <a:lvl7pPr marL="2743200" algn="l" defTabSz="914400" rtl="0" eaLnBrk="1" latinLnBrk="0" hangingPunct="1">
                  <a:defRPr sz="2400" kern="1200">
                    <a:solidFill>
                      <a:schemeClr val="bg2"/>
                    </a:solidFill>
                    <a:latin typeface="Tahoma" panose="020B0604030504040204" pitchFamily="34" charset="0"/>
                    <a:ea typeface="+mn-ea"/>
                    <a:cs typeface="+mn-cs"/>
                  </a:defRPr>
                </a:lvl7pPr>
                <a:lvl8pPr marL="3200400" algn="l" defTabSz="914400" rtl="0" eaLnBrk="1" latinLnBrk="0" hangingPunct="1">
                  <a:defRPr sz="2400" kern="1200">
                    <a:solidFill>
                      <a:schemeClr val="bg2"/>
                    </a:solidFill>
                    <a:latin typeface="Tahoma" panose="020B0604030504040204" pitchFamily="34" charset="0"/>
                    <a:ea typeface="+mn-ea"/>
                    <a:cs typeface="+mn-cs"/>
                  </a:defRPr>
                </a:lvl8pPr>
                <a:lvl9pPr marL="3657600" algn="l" defTabSz="914400" rtl="0" eaLnBrk="1" latinLnBrk="0" hangingPunct="1">
                  <a:defRPr sz="2400" kern="1200">
                    <a:solidFill>
                      <a:schemeClr val="bg2"/>
                    </a:solidFill>
                    <a:latin typeface="Tahoma" panose="020B0604030504040204" pitchFamily="34" charset="0"/>
                    <a:ea typeface="+mn-ea"/>
                    <a:cs typeface="+mn-cs"/>
                  </a:defRPr>
                </a:lvl9pPr>
              </a:lstStyle>
              <a:p>
                <a:endParaRPr lang="en-IN"/>
              </a:p>
            </p:txBody>
          </p:sp>
          <p:sp>
            <p:nvSpPr>
              <p:cNvPr id="32" name="Freeform 31"/>
              <p:cNvSpPr>
                <a:spLocks/>
              </p:cNvSpPr>
              <p:nvPr/>
            </p:nvSpPr>
            <p:spPr bwMode="auto">
              <a:xfrm>
                <a:off x="1517" y="2499"/>
                <a:ext cx="18" cy="90"/>
              </a:xfrm>
              <a:custGeom>
                <a:avLst/>
                <a:gdLst>
                  <a:gd name="T0" fmla="*/ 0 w 143"/>
                  <a:gd name="T1" fmla="*/ 0 h 718"/>
                  <a:gd name="T2" fmla="*/ 0 w 143"/>
                  <a:gd name="T3" fmla="*/ 0 h 718"/>
                  <a:gd name="T4" fmla="*/ 0 w 143"/>
                  <a:gd name="T5" fmla="*/ 0 h 718"/>
                  <a:gd name="T6" fmla="*/ 0 w 143"/>
                  <a:gd name="T7" fmla="*/ 0 h 718"/>
                  <a:gd name="T8" fmla="*/ 0 w 143"/>
                  <a:gd name="T9" fmla="*/ 0 h 718"/>
                  <a:gd name="T10" fmla="*/ 0 w 143"/>
                  <a:gd name="T11" fmla="*/ 0 h 718"/>
                  <a:gd name="T12" fmla="*/ 0 60000 65536"/>
                  <a:gd name="T13" fmla="*/ 0 60000 65536"/>
                  <a:gd name="T14" fmla="*/ 0 60000 65536"/>
                  <a:gd name="T15" fmla="*/ 0 60000 65536"/>
                  <a:gd name="T16" fmla="*/ 0 60000 65536"/>
                  <a:gd name="T17" fmla="*/ 0 60000 65536"/>
                  <a:gd name="T18" fmla="*/ 0 w 143"/>
                  <a:gd name="T19" fmla="*/ 0 h 718"/>
                  <a:gd name="T20" fmla="*/ 143 w 143"/>
                  <a:gd name="T21" fmla="*/ 718 h 718"/>
                </a:gdLst>
                <a:ahLst/>
                <a:cxnLst>
                  <a:cxn ang="T12">
                    <a:pos x="T0" y="T1"/>
                  </a:cxn>
                  <a:cxn ang="T13">
                    <a:pos x="T2" y="T3"/>
                  </a:cxn>
                  <a:cxn ang="T14">
                    <a:pos x="T4" y="T5"/>
                  </a:cxn>
                  <a:cxn ang="T15">
                    <a:pos x="T6" y="T7"/>
                  </a:cxn>
                  <a:cxn ang="T16">
                    <a:pos x="T8" y="T9"/>
                  </a:cxn>
                  <a:cxn ang="T17">
                    <a:pos x="T10" y="T11"/>
                  </a:cxn>
                </a:cxnLst>
                <a:rect l="T18" t="T19" r="T20" b="T21"/>
                <a:pathLst>
                  <a:path w="143" h="718">
                    <a:moveTo>
                      <a:pt x="0" y="0"/>
                    </a:moveTo>
                    <a:lnTo>
                      <a:pt x="0" y="718"/>
                    </a:lnTo>
                    <a:lnTo>
                      <a:pt x="143" y="718"/>
                    </a:lnTo>
                    <a:lnTo>
                      <a:pt x="143"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1pPr>
                <a:lvl2pPr marL="4572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2pPr>
                <a:lvl3pPr marL="9144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3pPr>
                <a:lvl4pPr marL="13716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4pPr>
                <a:lvl5pPr marL="18288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5pPr>
                <a:lvl6pPr marL="2286000" algn="l" defTabSz="914400" rtl="0" eaLnBrk="1" latinLnBrk="0" hangingPunct="1">
                  <a:defRPr sz="2400" kern="1200">
                    <a:solidFill>
                      <a:schemeClr val="bg2"/>
                    </a:solidFill>
                    <a:latin typeface="Tahoma" panose="020B0604030504040204" pitchFamily="34" charset="0"/>
                    <a:ea typeface="+mn-ea"/>
                    <a:cs typeface="+mn-cs"/>
                  </a:defRPr>
                </a:lvl6pPr>
                <a:lvl7pPr marL="2743200" algn="l" defTabSz="914400" rtl="0" eaLnBrk="1" latinLnBrk="0" hangingPunct="1">
                  <a:defRPr sz="2400" kern="1200">
                    <a:solidFill>
                      <a:schemeClr val="bg2"/>
                    </a:solidFill>
                    <a:latin typeface="Tahoma" panose="020B0604030504040204" pitchFamily="34" charset="0"/>
                    <a:ea typeface="+mn-ea"/>
                    <a:cs typeface="+mn-cs"/>
                  </a:defRPr>
                </a:lvl7pPr>
                <a:lvl8pPr marL="3200400" algn="l" defTabSz="914400" rtl="0" eaLnBrk="1" latinLnBrk="0" hangingPunct="1">
                  <a:defRPr sz="2400" kern="1200">
                    <a:solidFill>
                      <a:schemeClr val="bg2"/>
                    </a:solidFill>
                    <a:latin typeface="Tahoma" panose="020B0604030504040204" pitchFamily="34" charset="0"/>
                    <a:ea typeface="+mn-ea"/>
                    <a:cs typeface="+mn-cs"/>
                  </a:defRPr>
                </a:lvl8pPr>
                <a:lvl9pPr marL="3657600" algn="l" defTabSz="914400" rtl="0" eaLnBrk="1" latinLnBrk="0" hangingPunct="1">
                  <a:defRPr sz="2400" kern="1200">
                    <a:solidFill>
                      <a:schemeClr val="bg2"/>
                    </a:solidFill>
                    <a:latin typeface="Tahoma" panose="020B0604030504040204" pitchFamily="34" charset="0"/>
                    <a:ea typeface="+mn-ea"/>
                    <a:cs typeface="+mn-cs"/>
                  </a:defRPr>
                </a:lvl9pPr>
              </a:lstStyle>
              <a:p>
                <a:endParaRPr lang="en-IN"/>
              </a:p>
            </p:txBody>
          </p:sp>
          <p:sp>
            <p:nvSpPr>
              <p:cNvPr id="33" name="Freeform 32"/>
              <p:cNvSpPr>
                <a:spLocks/>
              </p:cNvSpPr>
              <p:nvPr/>
            </p:nvSpPr>
            <p:spPr bwMode="auto">
              <a:xfrm>
                <a:off x="1714" y="2606"/>
                <a:ext cx="89" cy="90"/>
              </a:xfrm>
              <a:custGeom>
                <a:avLst/>
                <a:gdLst>
                  <a:gd name="T0" fmla="*/ 0 w 714"/>
                  <a:gd name="T1" fmla="*/ 0 h 718"/>
                  <a:gd name="T2" fmla="*/ 0 w 714"/>
                  <a:gd name="T3" fmla="*/ 0 h 718"/>
                  <a:gd name="T4" fmla="*/ 0 w 714"/>
                  <a:gd name="T5" fmla="*/ 0 h 718"/>
                  <a:gd name="T6" fmla="*/ 0 w 714"/>
                  <a:gd name="T7" fmla="*/ 0 h 718"/>
                  <a:gd name="T8" fmla="*/ 0 w 714"/>
                  <a:gd name="T9" fmla="*/ 0 h 718"/>
                  <a:gd name="T10" fmla="*/ 0 w 714"/>
                  <a:gd name="T11" fmla="*/ 0 h 718"/>
                  <a:gd name="T12" fmla="*/ 0 w 714"/>
                  <a:gd name="T13" fmla="*/ 0 h 718"/>
                  <a:gd name="T14" fmla="*/ 0 w 714"/>
                  <a:gd name="T15" fmla="*/ 0 h 718"/>
                  <a:gd name="T16" fmla="*/ 0 w 714"/>
                  <a:gd name="T17" fmla="*/ 0 h 718"/>
                  <a:gd name="T18" fmla="*/ 0 w 714"/>
                  <a:gd name="T19" fmla="*/ 0 h 718"/>
                  <a:gd name="T20" fmla="*/ 0 w 714"/>
                  <a:gd name="T21" fmla="*/ 0 h 718"/>
                  <a:gd name="T22" fmla="*/ 0 w 714"/>
                  <a:gd name="T23" fmla="*/ 0 h 718"/>
                  <a:gd name="T24" fmla="*/ 0 w 714"/>
                  <a:gd name="T25" fmla="*/ 0 h 718"/>
                  <a:gd name="T26" fmla="*/ 0 w 714"/>
                  <a:gd name="T27" fmla="*/ 0 h 71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14"/>
                  <a:gd name="T43" fmla="*/ 0 h 718"/>
                  <a:gd name="T44" fmla="*/ 714 w 714"/>
                  <a:gd name="T45" fmla="*/ 718 h 71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14" h="718">
                    <a:moveTo>
                      <a:pt x="0" y="287"/>
                    </a:moveTo>
                    <a:lnTo>
                      <a:pt x="0" y="718"/>
                    </a:lnTo>
                    <a:lnTo>
                      <a:pt x="714" y="718"/>
                    </a:lnTo>
                    <a:lnTo>
                      <a:pt x="714" y="287"/>
                    </a:lnTo>
                    <a:lnTo>
                      <a:pt x="571" y="287"/>
                    </a:lnTo>
                    <a:lnTo>
                      <a:pt x="571" y="574"/>
                    </a:lnTo>
                    <a:lnTo>
                      <a:pt x="143" y="574"/>
                    </a:lnTo>
                    <a:lnTo>
                      <a:pt x="143" y="431"/>
                    </a:lnTo>
                    <a:lnTo>
                      <a:pt x="286" y="431"/>
                    </a:lnTo>
                    <a:lnTo>
                      <a:pt x="286" y="0"/>
                    </a:lnTo>
                    <a:lnTo>
                      <a:pt x="143" y="0"/>
                    </a:lnTo>
                    <a:lnTo>
                      <a:pt x="143" y="287"/>
                    </a:lnTo>
                    <a:lnTo>
                      <a:pt x="0" y="28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1pPr>
                <a:lvl2pPr marL="4572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2pPr>
                <a:lvl3pPr marL="9144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3pPr>
                <a:lvl4pPr marL="13716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4pPr>
                <a:lvl5pPr marL="18288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5pPr>
                <a:lvl6pPr marL="2286000" algn="l" defTabSz="914400" rtl="0" eaLnBrk="1" latinLnBrk="0" hangingPunct="1">
                  <a:defRPr sz="2400" kern="1200">
                    <a:solidFill>
                      <a:schemeClr val="bg2"/>
                    </a:solidFill>
                    <a:latin typeface="Tahoma" panose="020B0604030504040204" pitchFamily="34" charset="0"/>
                    <a:ea typeface="+mn-ea"/>
                    <a:cs typeface="+mn-cs"/>
                  </a:defRPr>
                </a:lvl6pPr>
                <a:lvl7pPr marL="2743200" algn="l" defTabSz="914400" rtl="0" eaLnBrk="1" latinLnBrk="0" hangingPunct="1">
                  <a:defRPr sz="2400" kern="1200">
                    <a:solidFill>
                      <a:schemeClr val="bg2"/>
                    </a:solidFill>
                    <a:latin typeface="Tahoma" panose="020B0604030504040204" pitchFamily="34" charset="0"/>
                    <a:ea typeface="+mn-ea"/>
                    <a:cs typeface="+mn-cs"/>
                  </a:defRPr>
                </a:lvl7pPr>
                <a:lvl8pPr marL="3200400" algn="l" defTabSz="914400" rtl="0" eaLnBrk="1" latinLnBrk="0" hangingPunct="1">
                  <a:defRPr sz="2400" kern="1200">
                    <a:solidFill>
                      <a:schemeClr val="bg2"/>
                    </a:solidFill>
                    <a:latin typeface="Tahoma" panose="020B0604030504040204" pitchFamily="34" charset="0"/>
                    <a:ea typeface="+mn-ea"/>
                    <a:cs typeface="+mn-cs"/>
                  </a:defRPr>
                </a:lvl8pPr>
                <a:lvl9pPr marL="3657600" algn="l" defTabSz="914400" rtl="0" eaLnBrk="1" latinLnBrk="0" hangingPunct="1">
                  <a:defRPr sz="2400" kern="1200">
                    <a:solidFill>
                      <a:schemeClr val="bg2"/>
                    </a:solidFill>
                    <a:latin typeface="Tahoma" panose="020B0604030504040204" pitchFamily="34" charset="0"/>
                    <a:ea typeface="+mn-ea"/>
                    <a:cs typeface="+mn-cs"/>
                  </a:defRPr>
                </a:lvl9pPr>
              </a:lstStyle>
              <a:p>
                <a:endParaRPr lang="en-IN"/>
              </a:p>
            </p:txBody>
          </p:sp>
        </p:grpSp>
        <p:pic>
          <p:nvPicPr>
            <p:cNvPr id="12" name="Picture 11" descr="BS00740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794845" y="2641695"/>
              <a:ext cx="725488"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AutoShape 46"/>
            <p:cNvSpPr>
              <a:spLocks noChangeArrowheads="1"/>
            </p:cNvSpPr>
            <p:nvPr/>
          </p:nvSpPr>
          <p:spPr bwMode="auto">
            <a:xfrm>
              <a:off x="3841845" y="1243108"/>
              <a:ext cx="1143000" cy="331787"/>
            </a:xfrm>
            <a:prstGeom prst="wedgeRectCallout">
              <a:avLst>
                <a:gd name="adj1" fmla="val 58472"/>
                <a:gd name="adj2" fmla="val 95454"/>
              </a:avLst>
            </a:prstGeom>
            <a:noFill/>
            <a:ln w="19050">
              <a:solidFill>
                <a:srgbClr val="FFCC00"/>
              </a:solidFill>
              <a:miter lim="800000"/>
              <a:headEnd/>
              <a:tailEnd/>
            </a:ln>
            <a:extLst>
              <a:ext uri="{909E8E84-426E-40DD-AFC4-6F175D3DCCD1}">
                <a14:hiddenFill xmlns:a14="http://schemas.microsoft.com/office/drawing/2010/main">
                  <a:solidFill>
                    <a:srgbClr val="FFFFFF"/>
                  </a:solidFill>
                </a14:hiddenFill>
              </a:ext>
            </a:extLst>
          </p:spPr>
          <p:txBody>
            <a:bodyPr/>
            <a:lstStyle>
              <a:defPPr>
                <a:defRPr lang="en-US"/>
              </a:defPPr>
              <a:lvl1pPr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1pPr>
              <a:lvl2pPr marL="4572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2pPr>
              <a:lvl3pPr marL="9144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3pPr>
              <a:lvl4pPr marL="13716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4pPr>
              <a:lvl5pPr marL="18288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5pPr>
              <a:lvl6pPr marL="2286000" algn="l" defTabSz="914400" rtl="0" eaLnBrk="1" latinLnBrk="0" hangingPunct="1">
                <a:defRPr sz="2400" kern="1200">
                  <a:solidFill>
                    <a:schemeClr val="bg2"/>
                  </a:solidFill>
                  <a:latin typeface="Tahoma" panose="020B0604030504040204" pitchFamily="34" charset="0"/>
                  <a:ea typeface="+mn-ea"/>
                  <a:cs typeface="+mn-cs"/>
                </a:defRPr>
              </a:lvl6pPr>
              <a:lvl7pPr marL="2743200" algn="l" defTabSz="914400" rtl="0" eaLnBrk="1" latinLnBrk="0" hangingPunct="1">
                <a:defRPr sz="2400" kern="1200">
                  <a:solidFill>
                    <a:schemeClr val="bg2"/>
                  </a:solidFill>
                  <a:latin typeface="Tahoma" panose="020B0604030504040204" pitchFamily="34" charset="0"/>
                  <a:ea typeface="+mn-ea"/>
                  <a:cs typeface="+mn-cs"/>
                </a:defRPr>
              </a:lvl7pPr>
              <a:lvl8pPr marL="3200400" algn="l" defTabSz="914400" rtl="0" eaLnBrk="1" latinLnBrk="0" hangingPunct="1">
                <a:defRPr sz="2400" kern="1200">
                  <a:solidFill>
                    <a:schemeClr val="bg2"/>
                  </a:solidFill>
                  <a:latin typeface="Tahoma" panose="020B0604030504040204" pitchFamily="34" charset="0"/>
                  <a:ea typeface="+mn-ea"/>
                  <a:cs typeface="+mn-cs"/>
                </a:defRPr>
              </a:lvl8pPr>
              <a:lvl9pPr marL="3657600" algn="l" defTabSz="914400" rtl="0" eaLnBrk="1" latinLnBrk="0" hangingPunct="1">
                <a:defRPr sz="2400" kern="1200">
                  <a:solidFill>
                    <a:schemeClr val="bg2"/>
                  </a:solidFill>
                  <a:latin typeface="Tahoma" panose="020B0604030504040204" pitchFamily="34" charset="0"/>
                  <a:ea typeface="+mn-ea"/>
                  <a:cs typeface="+mn-cs"/>
                </a:defRPr>
              </a:lvl9pPr>
            </a:lstStyle>
            <a:p>
              <a:pPr>
                <a:lnSpc>
                  <a:spcPct val="90000"/>
                </a:lnSpc>
                <a:buFontTx/>
                <a:buNone/>
              </a:pPr>
              <a:r>
                <a:rPr lang="en-US" altLang="en-US" sz="1600">
                  <a:solidFill>
                    <a:schemeClr val="tx1"/>
                  </a:solidFill>
                </a:rPr>
                <a:t>public key</a:t>
              </a:r>
            </a:p>
          </p:txBody>
        </p:sp>
        <p:sp>
          <p:nvSpPr>
            <p:cNvPr id="14" name="AutoShape 47"/>
            <p:cNvSpPr>
              <a:spLocks noChangeArrowheads="1"/>
            </p:cNvSpPr>
            <p:nvPr/>
          </p:nvSpPr>
          <p:spPr bwMode="auto">
            <a:xfrm>
              <a:off x="1555845" y="2157508"/>
              <a:ext cx="1143000" cy="331787"/>
            </a:xfrm>
            <a:prstGeom prst="wedgeRectCallout">
              <a:avLst>
                <a:gd name="adj1" fmla="val 58472"/>
                <a:gd name="adj2" fmla="val 95454"/>
              </a:avLst>
            </a:prstGeom>
            <a:noFill/>
            <a:ln w="19050">
              <a:solidFill>
                <a:srgbClr val="FFCC00"/>
              </a:solidFill>
              <a:miter lim="800000"/>
              <a:headEnd/>
              <a:tailEnd/>
            </a:ln>
            <a:extLst>
              <a:ext uri="{909E8E84-426E-40DD-AFC4-6F175D3DCCD1}">
                <a14:hiddenFill xmlns:a14="http://schemas.microsoft.com/office/drawing/2010/main">
                  <a:solidFill>
                    <a:srgbClr val="FFFFFF"/>
                  </a:solidFill>
                </a14:hiddenFill>
              </a:ext>
            </a:extLst>
          </p:spPr>
          <p:txBody>
            <a:bodyPr/>
            <a:lstStyle>
              <a:defPPr>
                <a:defRPr lang="en-US"/>
              </a:defPPr>
              <a:lvl1pPr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1pPr>
              <a:lvl2pPr marL="4572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2pPr>
              <a:lvl3pPr marL="9144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3pPr>
              <a:lvl4pPr marL="13716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4pPr>
              <a:lvl5pPr marL="18288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5pPr>
              <a:lvl6pPr marL="2286000" algn="l" defTabSz="914400" rtl="0" eaLnBrk="1" latinLnBrk="0" hangingPunct="1">
                <a:defRPr sz="2400" kern="1200">
                  <a:solidFill>
                    <a:schemeClr val="bg2"/>
                  </a:solidFill>
                  <a:latin typeface="Tahoma" panose="020B0604030504040204" pitchFamily="34" charset="0"/>
                  <a:ea typeface="+mn-ea"/>
                  <a:cs typeface="+mn-cs"/>
                </a:defRPr>
              </a:lvl6pPr>
              <a:lvl7pPr marL="2743200" algn="l" defTabSz="914400" rtl="0" eaLnBrk="1" latinLnBrk="0" hangingPunct="1">
                <a:defRPr sz="2400" kern="1200">
                  <a:solidFill>
                    <a:schemeClr val="bg2"/>
                  </a:solidFill>
                  <a:latin typeface="Tahoma" panose="020B0604030504040204" pitchFamily="34" charset="0"/>
                  <a:ea typeface="+mn-ea"/>
                  <a:cs typeface="+mn-cs"/>
                </a:defRPr>
              </a:lvl7pPr>
              <a:lvl8pPr marL="3200400" algn="l" defTabSz="914400" rtl="0" eaLnBrk="1" latinLnBrk="0" hangingPunct="1">
                <a:defRPr sz="2400" kern="1200">
                  <a:solidFill>
                    <a:schemeClr val="bg2"/>
                  </a:solidFill>
                  <a:latin typeface="Tahoma" panose="020B0604030504040204" pitchFamily="34" charset="0"/>
                  <a:ea typeface="+mn-ea"/>
                  <a:cs typeface="+mn-cs"/>
                </a:defRPr>
              </a:lvl8pPr>
              <a:lvl9pPr marL="3657600" algn="l" defTabSz="914400" rtl="0" eaLnBrk="1" latinLnBrk="0" hangingPunct="1">
                <a:defRPr sz="2400" kern="1200">
                  <a:solidFill>
                    <a:schemeClr val="bg2"/>
                  </a:solidFill>
                  <a:latin typeface="Tahoma" panose="020B0604030504040204" pitchFamily="34" charset="0"/>
                  <a:ea typeface="+mn-ea"/>
                  <a:cs typeface="+mn-cs"/>
                </a:defRPr>
              </a:lvl9pPr>
            </a:lstStyle>
            <a:p>
              <a:pPr>
                <a:lnSpc>
                  <a:spcPct val="90000"/>
                </a:lnSpc>
                <a:buFontTx/>
                <a:buNone/>
              </a:pPr>
              <a:r>
                <a:rPr lang="en-US" altLang="en-US" sz="1600" dirty="0">
                  <a:solidFill>
                    <a:schemeClr val="tx1"/>
                  </a:solidFill>
                </a:rPr>
                <a:t>public key</a:t>
              </a:r>
            </a:p>
          </p:txBody>
        </p:sp>
        <p:sp>
          <p:nvSpPr>
            <p:cNvPr id="15" name="Text Box 48"/>
            <p:cNvSpPr txBox="1">
              <a:spLocks noChangeArrowheads="1"/>
            </p:cNvSpPr>
            <p:nvPr/>
          </p:nvSpPr>
          <p:spPr bwMode="auto">
            <a:xfrm>
              <a:off x="3232245" y="2854420"/>
              <a:ext cx="704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defPPr>
                <a:defRPr lang="en-US"/>
              </a:defPPr>
              <a:lvl1pPr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1pPr>
              <a:lvl2pPr marL="4572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2pPr>
              <a:lvl3pPr marL="9144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3pPr>
              <a:lvl4pPr marL="13716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4pPr>
              <a:lvl5pPr marL="18288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5pPr>
              <a:lvl6pPr marL="2286000" algn="l" defTabSz="914400" rtl="0" eaLnBrk="1" latinLnBrk="0" hangingPunct="1">
                <a:defRPr sz="2400" kern="1200">
                  <a:solidFill>
                    <a:schemeClr val="bg2"/>
                  </a:solidFill>
                  <a:latin typeface="Tahoma" panose="020B0604030504040204" pitchFamily="34" charset="0"/>
                  <a:ea typeface="+mn-ea"/>
                  <a:cs typeface="+mn-cs"/>
                </a:defRPr>
              </a:lvl6pPr>
              <a:lvl7pPr marL="2743200" algn="l" defTabSz="914400" rtl="0" eaLnBrk="1" latinLnBrk="0" hangingPunct="1">
                <a:defRPr sz="2400" kern="1200">
                  <a:solidFill>
                    <a:schemeClr val="bg2"/>
                  </a:solidFill>
                  <a:latin typeface="Tahoma" panose="020B0604030504040204" pitchFamily="34" charset="0"/>
                  <a:ea typeface="+mn-ea"/>
                  <a:cs typeface="+mn-cs"/>
                </a:defRPr>
              </a:lvl7pPr>
              <a:lvl8pPr marL="3200400" algn="l" defTabSz="914400" rtl="0" eaLnBrk="1" latinLnBrk="0" hangingPunct="1">
                <a:defRPr sz="2400" kern="1200">
                  <a:solidFill>
                    <a:schemeClr val="bg2"/>
                  </a:solidFill>
                  <a:latin typeface="Tahoma" panose="020B0604030504040204" pitchFamily="34" charset="0"/>
                  <a:ea typeface="+mn-ea"/>
                  <a:cs typeface="+mn-cs"/>
                </a:defRPr>
              </a:lvl8pPr>
              <a:lvl9pPr marL="3657600" algn="l" defTabSz="914400" rtl="0" eaLnBrk="1" latinLnBrk="0" hangingPunct="1">
                <a:defRPr sz="2400" kern="1200">
                  <a:solidFill>
                    <a:schemeClr val="bg2"/>
                  </a:solidFill>
                  <a:latin typeface="Tahoma" panose="020B0604030504040204" pitchFamily="34" charset="0"/>
                  <a:ea typeface="+mn-ea"/>
                  <a:cs typeface="+mn-cs"/>
                </a:defRPr>
              </a:lvl9pPr>
            </a:lstStyle>
            <a:p>
              <a:pPr>
                <a:buFontTx/>
                <a:buNone/>
              </a:pPr>
              <a:r>
                <a:rPr lang="en-US" altLang="en-US" sz="2000">
                  <a:solidFill>
                    <a:schemeClr val="tx1"/>
                  </a:solidFill>
                </a:rPr>
                <a:t>Alice</a:t>
              </a:r>
            </a:p>
          </p:txBody>
        </p:sp>
        <p:sp>
          <p:nvSpPr>
            <p:cNvPr id="16" name="Text Box 49"/>
            <p:cNvSpPr txBox="1">
              <a:spLocks noChangeArrowheads="1"/>
            </p:cNvSpPr>
            <p:nvPr/>
          </p:nvSpPr>
          <p:spPr bwMode="auto">
            <a:xfrm>
              <a:off x="8032845" y="2854420"/>
              <a:ext cx="6111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defPPr>
                <a:defRPr lang="en-US"/>
              </a:defPPr>
              <a:lvl1pPr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1pPr>
              <a:lvl2pPr marL="4572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2pPr>
              <a:lvl3pPr marL="9144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3pPr>
              <a:lvl4pPr marL="13716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4pPr>
              <a:lvl5pPr marL="1828800" algn="l" rtl="0" eaLnBrk="0" fontAlgn="base" hangingPunct="0">
                <a:spcBef>
                  <a:spcPct val="20000"/>
                </a:spcBef>
                <a:spcAft>
                  <a:spcPct val="0"/>
                </a:spcAft>
                <a:buClr>
                  <a:schemeClr val="accent2"/>
                </a:buClr>
                <a:buChar char="•"/>
                <a:defRPr sz="2400" kern="1200">
                  <a:solidFill>
                    <a:schemeClr val="bg2"/>
                  </a:solidFill>
                  <a:latin typeface="Tahoma" panose="020B0604030504040204" pitchFamily="34" charset="0"/>
                  <a:ea typeface="+mn-ea"/>
                  <a:cs typeface="+mn-cs"/>
                </a:defRPr>
              </a:lvl5pPr>
              <a:lvl6pPr marL="2286000" algn="l" defTabSz="914400" rtl="0" eaLnBrk="1" latinLnBrk="0" hangingPunct="1">
                <a:defRPr sz="2400" kern="1200">
                  <a:solidFill>
                    <a:schemeClr val="bg2"/>
                  </a:solidFill>
                  <a:latin typeface="Tahoma" panose="020B0604030504040204" pitchFamily="34" charset="0"/>
                  <a:ea typeface="+mn-ea"/>
                  <a:cs typeface="+mn-cs"/>
                </a:defRPr>
              </a:lvl6pPr>
              <a:lvl7pPr marL="2743200" algn="l" defTabSz="914400" rtl="0" eaLnBrk="1" latinLnBrk="0" hangingPunct="1">
                <a:defRPr sz="2400" kern="1200">
                  <a:solidFill>
                    <a:schemeClr val="bg2"/>
                  </a:solidFill>
                  <a:latin typeface="Tahoma" panose="020B0604030504040204" pitchFamily="34" charset="0"/>
                  <a:ea typeface="+mn-ea"/>
                  <a:cs typeface="+mn-cs"/>
                </a:defRPr>
              </a:lvl7pPr>
              <a:lvl8pPr marL="3200400" algn="l" defTabSz="914400" rtl="0" eaLnBrk="1" latinLnBrk="0" hangingPunct="1">
                <a:defRPr sz="2400" kern="1200">
                  <a:solidFill>
                    <a:schemeClr val="bg2"/>
                  </a:solidFill>
                  <a:latin typeface="Tahoma" panose="020B0604030504040204" pitchFamily="34" charset="0"/>
                  <a:ea typeface="+mn-ea"/>
                  <a:cs typeface="+mn-cs"/>
                </a:defRPr>
              </a:lvl8pPr>
              <a:lvl9pPr marL="3657600" algn="l" defTabSz="914400" rtl="0" eaLnBrk="1" latinLnBrk="0" hangingPunct="1">
                <a:defRPr sz="2400" kern="1200">
                  <a:solidFill>
                    <a:schemeClr val="bg2"/>
                  </a:solidFill>
                  <a:latin typeface="Tahoma" panose="020B0604030504040204" pitchFamily="34" charset="0"/>
                  <a:ea typeface="+mn-ea"/>
                  <a:cs typeface="+mn-cs"/>
                </a:defRPr>
              </a:lvl9pPr>
            </a:lstStyle>
            <a:p>
              <a:pPr>
                <a:buFontTx/>
                <a:buNone/>
              </a:pPr>
              <a:r>
                <a:rPr lang="en-US" altLang="en-US" sz="2000">
                  <a:solidFill>
                    <a:schemeClr val="tx1"/>
                  </a:solidFill>
                </a:rPr>
                <a:t>Bob</a:t>
              </a:r>
            </a:p>
          </p:txBody>
        </p:sp>
        <p:pic>
          <p:nvPicPr>
            <p:cNvPr id="17" name="Picture 16" descr="MCj02339240000[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864445" y="1955895"/>
              <a:ext cx="1168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759264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Digital Signatures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dirty="0"/>
              <a:t>Digital signatures are the public-key primitives of message authentication. </a:t>
            </a:r>
          </a:p>
          <a:p>
            <a:pPr>
              <a:lnSpc>
                <a:spcPct val="100000"/>
              </a:lnSpc>
            </a:pPr>
            <a:r>
              <a:rPr lang="en-US" dirty="0"/>
              <a:t>In the physical world, it is common to use handwritten signatures on handwritten or typed messages. </a:t>
            </a:r>
          </a:p>
          <a:p>
            <a:pPr>
              <a:lnSpc>
                <a:spcPct val="100000"/>
              </a:lnSpc>
            </a:pPr>
            <a:r>
              <a:rPr lang="en-US" dirty="0"/>
              <a:t>They are used to bind signatory to the message.</a:t>
            </a:r>
          </a:p>
          <a:p>
            <a:pPr>
              <a:lnSpc>
                <a:spcPct val="100000"/>
              </a:lnSpc>
            </a:pPr>
            <a:r>
              <a:rPr lang="en-US" dirty="0"/>
              <a:t>Digital signature is a technique that binds a person/entity to the digital data. </a:t>
            </a:r>
          </a:p>
          <a:p>
            <a:pPr>
              <a:lnSpc>
                <a:spcPct val="100000"/>
              </a:lnSpc>
            </a:pPr>
            <a:r>
              <a:rPr lang="en-US" dirty="0"/>
              <a:t>This binding can be independently verified by receiver as well as any third party.</a:t>
            </a:r>
          </a:p>
          <a:p>
            <a:pPr>
              <a:lnSpc>
                <a:spcPct val="100000"/>
              </a:lnSpc>
            </a:pPr>
            <a:r>
              <a:rPr lang="en-US" dirty="0"/>
              <a:t>Digital signature is a cryptographic value that is calculated from the data and a secret key known only by the signer</a:t>
            </a:r>
            <a:r>
              <a:rPr lang="en-US" dirty="0" smtClean="0"/>
              <a:t>.</a:t>
            </a:r>
            <a:endParaRPr lang="en-US" dirty="0"/>
          </a:p>
        </p:txBody>
      </p:sp>
    </p:spTree>
    <p:extLst>
      <p:ext uri="{BB962C8B-B14F-4D97-AF65-F5344CB8AC3E}">
        <p14:creationId xmlns:p14="http://schemas.microsoft.com/office/powerpoint/2010/main" val="551245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Digital Signatures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dirty="0"/>
              <a:t>The sender and the receiver will keep digitally signed copies of the messages</a:t>
            </a:r>
          </a:p>
          <a:p>
            <a:pPr>
              <a:lnSpc>
                <a:spcPct val="100000"/>
              </a:lnSpc>
            </a:pPr>
            <a:r>
              <a:rPr lang="en-US" dirty="0" smtClean="0"/>
              <a:t>One </a:t>
            </a:r>
            <a:r>
              <a:rPr lang="en-US" dirty="0"/>
              <a:t>way of creating digital signatures is by using RSA</a:t>
            </a:r>
          </a:p>
        </p:txBody>
      </p:sp>
      <p:sp>
        <p:nvSpPr>
          <p:cNvPr id="4" name="Rectangle 3"/>
          <p:cNvSpPr/>
          <p:nvPr/>
        </p:nvSpPr>
        <p:spPr>
          <a:xfrm>
            <a:off x="1492623" y="2675965"/>
            <a:ext cx="3276600" cy="1676400"/>
          </a:xfrm>
          <a:prstGeom prst="rect">
            <a:avLst/>
          </a:prstGeom>
          <a:solidFill>
            <a:schemeClr val="accent6">
              <a:lumMod val="40000"/>
              <a:lumOff val="60000"/>
            </a:schemeClr>
          </a:solidFill>
        </p:spPr>
        <p:style>
          <a:lnRef idx="0">
            <a:schemeClr val="accent6"/>
          </a:lnRef>
          <a:fillRef idx="3">
            <a:schemeClr val="accent6"/>
          </a:fillRef>
          <a:effectRef idx="3">
            <a:schemeClr val="accent6"/>
          </a:effectRef>
          <a:fontRef idx="minor">
            <a:schemeClr val="lt1"/>
          </a:fontRef>
        </p:style>
        <p:txBody>
          <a:bodyPr rtlCol="0" anchor="b"/>
          <a:lstStyle/>
          <a:p>
            <a:r>
              <a:rPr lang="en-US" sz="2000" b="1" dirty="0" smtClean="0">
                <a:solidFill>
                  <a:schemeClr val="tx1"/>
                </a:solidFill>
              </a:rPr>
              <a:t>Alice’s Computer</a:t>
            </a:r>
            <a:endParaRPr lang="en-US" sz="2000" b="1" dirty="0">
              <a:solidFill>
                <a:schemeClr val="tx1"/>
              </a:solidFill>
            </a:endParaRPr>
          </a:p>
        </p:txBody>
      </p:sp>
      <p:sp>
        <p:nvSpPr>
          <p:cNvPr id="5" name="Rectangle 4"/>
          <p:cNvSpPr/>
          <p:nvPr/>
        </p:nvSpPr>
        <p:spPr>
          <a:xfrm>
            <a:off x="6064623" y="2675965"/>
            <a:ext cx="3276600" cy="1676400"/>
          </a:xfrm>
          <a:prstGeom prst="rect">
            <a:avLst/>
          </a:prstGeom>
          <a:solidFill>
            <a:srgbClr val="00B050"/>
          </a:solidFill>
          <a:ln>
            <a:solidFill>
              <a:srgbClr val="00B050"/>
            </a:solidFill>
          </a:ln>
        </p:spPr>
        <p:style>
          <a:lnRef idx="0">
            <a:schemeClr val="accent6"/>
          </a:lnRef>
          <a:fillRef idx="3">
            <a:schemeClr val="accent6"/>
          </a:fillRef>
          <a:effectRef idx="3">
            <a:schemeClr val="accent6"/>
          </a:effectRef>
          <a:fontRef idx="minor">
            <a:schemeClr val="lt1"/>
          </a:fontRef>
        </p:style>
        <p:txBody>
          <a:bodyPr rtlCol="0" anchor="b"/>
          <a:lstStyle/>
          <a:p>
            <a:pPr algn="r"/>
            <a:r>
              <a:rPr lang="en-US" b="1" dirty="0" smtClean="0">
                <a:solidFill>
                  <a:schemeClr val="bg1"/>
                </a:solidFill>
              </a:rPr>
              <a:t>Bob’s Computer</a:t>
            </a:r>
            <a:endParaRPr lang="en-US" b="1" dirty="0">
              <a:solidFill>
                <a:schemeClr val="bg1"/>
              </a:solidFill>
            </a:endParaRPr>
          </a:p>
        </p:txBody>
      </p:sp>
      <p:sp>
        <p:nvSpPr>
          <p:cNvPr id="6" name="Rectangle 5"/>
          <p:cNvSpPr/>
          <p:nvPr/>
        </p:nvSpPr>
        <p:spPr>
          <a:xfrm>
            <a:off x="2152596" y="3273585"/>
            <a:ext cx="446599" cy="421261"/>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b="1" dirty="0" smtClean="0"/>
              <a:t>K</a:t>
            </a:r>
            <a:r>
              <a:rPr lang="en-US" sz="1600" b="1" baseline="50000" dirty="0" smtClean="0"/>
              <a:t>-</a:t>
            </a:r>
            <a:r>
              <a:rPr lang="en-US" sz="1600" b="1" baseline="-25000" dirty="0" smtClean="0"/>
              <a:t>A</a:t>
            </a:r>
            <a:endParaRPr lang="en-US" sz="1600" b="1" baseline="-25000" dirty="0"/>
          </a:p>
        </p:txBody>
      </p:sp>
      <p:sp>
        <p:nvSpPr>
          <p:cNvPr id="7" name="Rectangle 6"/>
          <p:cNvSpPr/>
          <p:nvPr/>
        </p:nvSpPr>
        <p:spPr>
          <a:xfrm>
            <a:off x="4007223" y="3399473"/>
            <a:ext cx="457200" cy="3048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b="1" dirty="0" smtClean="0"/>
              <a:t>K</a:t>
            </a:r>
            <a:r>
              <a:rPr lang="en-US" sz="1600" b="1" baseline="50000" dirty="0" smtClean="0"/>
              <a:t>+</a:t>
            </a:r>
            <a:r>
              <a:rPr lang="en-US" sz="1600" b="1" baseline="-25000" dirty="0" smtClean="0"/>
              <a:t>B</a:t>
            </a:r>
            <a:endParaRPr lang="en-US" sz="1600" b="1" baseline="-25000" dirty="0"/>
          </a:p>
        </p:txBody>
      </p:sp>
      <p:sp>
        <p:nvSpPr>
          <p:cNvPr id="8" name="Rectangle 7"/>
          <p:cNvSpPr/>
          <p:nvPr/>
        </p:nvSpPr>
        <p:spPr>
          <a:xfrm>
            <a:off x="6217023" y="3390046"/>
            <a:ext cx="476250" cy="32542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b="1" dirty="0" smtClean="0"/>
              <a:t>K</a:t>
            </a:r>
            <a:r>
              <a:rPr lang="en-US" sz="1600" b="1" baseline="50000" dirty="0" smtClean="0"/>
              <a:t>-</a:t>
            </a:r>
            <a:r>
              <a:rPr lang="en-US" sz="1600" b="1" baseline="-25000" dirty="0" smtClean="0"/>
              <a:t>B</a:t>
            </a:r>
            <a:endParaRPr lang="en-US" sz="1600" b="1" baseline="-25000" dirty="0"/>
          </a:p>
        </p:txBody>
      </p:sp>
      <p:cxnSp>
        <p:nvCxnSpPr>
          <p:cNvPr id="9" name="Straight Arrow Connector 8"/>
          <p:cNvCxnSpPr>
            <a:stCxn id="6" idx="3"/>
          </p:cNvCxnSpPr>
          <p:nvPr/>
        </p:nvCxnSpPr>
        <p:spPr>
          <a:xfrm>
            <a:off x="2599195" y="3484216"/>
            <a:ext cx="422373" cy="0"/>
          </a:xfrm>
          <a:prstGeom prst="straightConnector1">
            <a:avLst/>
          </a:prstGeom>
          <a:ln w="28575">
            <a:solidFill>
              <a:srgbClr val="00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7" idx="3"/>
            <a:endCxn id="24" idx="1"/>
          </p:cNvCxnSpPr>
          <p:nvPr/>
        </p:nvCxnSpPr>
        <p:spPr>
          <a:xfrm flipV="1">
            <a:off x="4464423" y="3547109"/>
            <a:ext cx="669925" cy="4764"/>
          </a:xfrm>
          <a:prstGeom prst="straightConnector1">
            <a:avLst/>
          </a:prstGeom>
          <a:ln w="28575">
            <a:solidFill>
              <a:srgbClr val="000000"/>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8" idx="3"/>
          </p:cNvCxnSpPr>
          <p:nvPr/>
        </p:nvCxnSpPr>
        <p:spPr>
          <a:xfrm flipV="1">
            <a:off x="6693273" y="3552265"/>
            <a:ext cx="933450" cy="491"/>
          </a:xfrm>
          <a:prstGeom prst="straightConnector1">
            <a:avLst/>
          </a:prstGeom>
          <a:ln w="28575">
            <a:solidFill>
              <a:srgbClr val="000000"/>
            </a:solidFill>
            <a:tailEnd type="arrow"/>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4649817" y="4558068"/>
            <a:ext cx="1600200" cy="50837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smtClean="0"/>
              <a:t>K</a:t>
            </a:r>
            <a:r>
              <a:rPr lang="en-US" sz="2000" baseline="50000" dirty="0" smtClean="0"/>
              <a:t>+</a:t>
            </a:r>
            <a:r>
              <a:rPr lang="en-US" sz="2000" baseline="-25000" dirty="0" smtClean="0"/>
              <a:t>B</a:t>
            </a:r>
            <a:r>
              <a:rPr lang="en-US" sz="2000" dirty="0" smtClean="0"/>
              <a:t>(m, K</a:t>
            </a:r>
            <a:r>
              <a:rPr lang="en-US" sz="2000" baseline="50000" dirty="0" smtClean="0"/>
              <a:t>-</a:t>
            </a:r>
            <a:r>
              <a:rPr lang="en-US" sz="2000" baseline="-25000" dirty="0" smtClean="0"/>
              <a:t>A</a:t>
            </a:r>
            <a:r>
              <a:rPr lang="en-US" sz="2000" dirty="0" smtClean="0"/>
              <a:t>(m))</a:t>
            </a:r>
            <a:endParaRPr lang="en-US" sz="2000" dirty="0"/>
          </a:p>
        </p:txBody>
      </p:sp>
      <p:sp>
        <p:nvSpPr>
          <p:cNvPr id="13" name="Rectangle 12"/>
          <p:cNvSpPr/>
          <p:nvPr/>
        </p:nvSpPr>
        <p:spPr>
          <a:xfrm>
            <a:off x="2920837" y="3038111"/>
            <a:ext cx="705386" cy="10668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p:cNvCxnSpPr/>
          <p:nvPr/>
        </p:nvCxnSpPr>
        <p:spPr>
          <a:xfrm flipH="1">
            <a:off x="2444370" y="4118222"/>
            <a:ext cx="873549" cy="66247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1608985" y="4798469"/>
            <a:ext cx="1613959" cy="707886"/>
          </a:xfrm>
          <a:prstGeom prst="rect">
            <a:avLst/>
          </a:prstGeom>
          <a:noFill/>
          <a:ln>
            <a:solidFill>
              <a:schemeClr val="tx1"/>
            </a:solidFill>
            <a:prstDash val="dash"/>
          </a:ln>
        </p:spPr>
        <p:txBody>
          <a:bodyPr wrap="square" rtlCol="0">
            <a:spAutoFit/>
          </a:bodyPr>
          <a:lstStyle/>
          <a:p>
            <a:r>
              <a:rPr lang="en-US" sz="2000" dirty="0" smtClean="0"/>
              <a:t>Dig. Signed message of A</a:t>
            </a:r>
            <a:endParaRPr lang="en-US" sz="2000" dirty="0"/>
          </a:p>
        </p:txBody>
      </p:sp>
      <p:cxnSp>
        <p:nvCxnSpPr>
          <p:cNvPr id="16" name="Straight Arrow Connector 15"/>
          <p:cNvCxnSpPr/>
          <p:nvPr/>
        </p:nvCxnSpPr>
        <p:spPr>
          <a:xfrm flipV="1">
            <a:off x="7014914" y="3037573"/>
            <a:ext cx="0" cy="538601"/>
          </a:xfrm>
          <a:prstGeom prst="straightConnector1">
            <a:avLst/>
          </a:prstGeom>
          <a:ln w="28575">
            <a:solidFill>
              <a:srgbClr val="0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endCxn id="27" idx="1"/>
          </p:cNvCxnSpPr>
          <p:nvPr/>
        </p:nvCxnSpPr>
        <p:spPr>
          <a:xfrm>
            <a:off x="7014914" y="3040730"/>
            <a:ext cx="1642100" cy="0"/>
          </a:xfrm>
          <a:prstGeom prst="straightConnector1">
            <a:avLst/>
          </a:prstGeom>
          <a:ln w="28575">
            <a:solidFill>
              <a:srgbClr val="000000"/>
            </a:solidFill>
            <a:tailEnd type="arrow"/>
          </a:ln>
        </p:spPr>
        <p:style>
          <a:lnRef idx="1">
            <a:schemeClr val="accent1"/>
          </a:lnRef>
          <a:fillRef idx="0">
            <a:schemeClr val="accent1"/>
          </a:fillRef>
          <a:effectRef idx="0">
            <a:schemeClr val="accent1"/>
          </a:effectRef>
          <a:fontRef idx="minor">
            <a:schemeClr val="tx1"/>
          </a:fontRef>
        </p:style>
      </p:cxnSp>
      <p:sp>
        <p:nvSpPr>
          <p:cNvPr id="18" name="Document"/>
          <p:cNvSpPr>
            <a:spLocks noEditPoints="1" noChangeArrowheads="1"/>
          </p:cNvSpPr>
          <p:nvPr/>
        </p:nvSpPr>
        <p:spPr bwMode="auto">
          <a:xfrm>
            <a:off x="1545461" y="2752165"/>
            <a:ext cx="404362" cy="506101"/>
          </a:xfrm>
          <a:custGeom>
            <a:avLst/>
            <a:gdLst>
              <a:gd name="T0" fmla="*/ 10757 w 21600"/>
              <a:gd name="T1" fmla="*/ 21632 h 21600"/>
              <a:gd name="T2" fmla="*/ 85 w 21600"/>
              <a:gd name="T3" fmla="*/ 10849 h 21600"/>
              <a:gd name="T4" fmla="*/ 10757 w 21600"/>
              <a:gd name="T5" fmla="*/ 81 h 21600"/>
              <a:gd name="T6" fmla="*/ 21706 w 21600"/>
              <a:gd name="T7" fmla="*/ 10652 h 21600"/>
              <a:gd name="T8" fmla="*/ 10757 w 21600"/>
              <a:gd name="T9" fmla="*/ 21632 h 21600"/>
              <a:gd name="T10" fmla="*/ 0 w 21600"/>
              <a:gd name="T11" fmla="*/ 0 h 21600"/>
              <a:gd name="T12" fmla="*/ 21600 w 21600"/>
              <a:gd name="T13" fmla="*/ 0 h 21600"/>
              <a:gd name="T14" fmla="*/ 21600 w 21600"/>
              <a:gd name="T15" fmla="*/ 21600 h 21600"/>
              <a:gd name="T16" fmla="*/ 977 w 21600"/>
              <a:gd name="T17" fmla="*/ 818 h 21600"/>
              <a:gd name="T18" fmla="*/ 20622 w 21600"/>
              <a:gd name="T19" fmla="*/ 16429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10757" y="21632"/>
                </a:moveTo>
                <a:lnTo>
                  <a:pt x="5187" y="21632"/>
                </a:lnTo>
                <a:lnTo>
                  <a:pt x="85" y="17509"/>
                </a:lnTo>
                <a:lnTo>
                  <a:pt x="85" y="10849"/>
                </a:lnTo>
                <a:lnTo>
                  <a:pt x="85" y="81"/>
                </a:lnTo>
                <a:lnTo>
                  <a:pt x="10757" y="81"/>
                </a:lnTo>
                <a:lnTo>
                  <a:pt x="21706" y="81"/>
                </a:lnTo>
                <a:lnTo>
                  <a:pt x="21706" y="10652"/>
                </a:lnTo>
                <a:lnTo>
                  <a:pt x="21706" y="21632"/>
                </a:lnTo>
                <a:lnTo>
                  <a:pt x="10757" y="21632"/>
                </a:lnTo>
                <a:close/>
              </a:path>
              <a:path w="21600" h="21600">
                <a:moveTo>
                  <a:pt x="85" y="17509"/>
                </a:moveTo>
                <a:lnTo>
                  <a:pt x="5187" y="17509"/>
                </a:lnTo>
                <a:lnTo>
                  <a:pt x="5187" y="21632"/>
                </a:lnTo>
                <a:lnTo>
                  <a:pt x="85" y="17509"/>
                </a:lnTo>
                <a:close/>
              </a:path>
            </a:pathLst>
          </a:custGeom>
          <a:solidFill>
            <a:srgbClr val="D8EBB3"/>
          </a:solidFill>
          <a:ln w="9525">
            <a:solidFill>
              <a:srgbClr val="000000"/>
            </a:solidFill>
            <a:miter lim="800000"/>
            <a:headEnd/>
            <a:tailEnd/>
          </a:ln>
          <a:effectLst>
            <a:outerShdw dist="107763" dir="2700000" algn="ctr" rotWithShape="0">
              <a:srgbClr val="808080"/>
            </a:outerShdw>
          </a:effectLst>
        </p:spPr>
        <p:txBody>
          <a:bodyPr vert="horz" wrap="square" lIns="91440" tIns="45720" rIns="91440" bIns="45720" numCol="1" anchor="t" anchorCtr="0" compatLnSpc="1">
            <a:prstTxWarp prst="textNoShape">
              <a:avLst/>
            </a:prstTxWarp>
          </a:bodyPr>
          <a:lstStyle/>
          <a:p>
            <a:r>
              <a:rPr lang="en-US" sz="2400" b="1" dirty="0" smtClean="0"/>
              <a:t>m</a:t>
            </a:r>
            <a:endParaRPr lang="en-US" sz="2400" b="1" dirty="0"/>
          </a:p>
        </p:txBody>
      </p:sp>
      <p:cxnSp>
        <p:nvCxnSpPr>
          <p:cNvPr id="19" name="Straight Arrow Connector 18"/>
          <p:cNvCxnSpPr/>
          <p:nvPr/>
        </p:nvCxnSpPr>
        <p:spPr>
          <a:xfrm>
            <a:off x="1951807" y="2904565"/>
            <a:ext cx="1271942" cy="0"/>
          </a:xfrm>
          <a:prstGeom prst="straightConnector1">
            <a:avLst/>
          </a:prstGeom>
          <a:ln w="28575">
            <a:solidFill>
              <a:srgbClr val="0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0" name="Document"/>
          <p:cNvSpPr>
            <a:spLocks noEditPoints="1" noChangeArrowheads="1"/>
          </p:cNvSpPr>
          <p:nvPr/>
        </p:nvSpPr>
        <p:spPr bwMode="auto">
          <a:xfrm>
            <a:off x="3021568" y="3280179"/>
            <a:ext cx="404362" cy="506101"/>
          </a:xfrm>
          <a:custGeom>
            <a:avLst/>
            <a:gdLst>
              <a:gd name="T0" fmla="*/ 10757 w 21600"/>
              <a:gd name="T1" fmla="*/ 21632 h 21600"/>
              <a:gd name="T2" fmla="*/ 85 w 21600"/>
              <a:gd name="T3" fmla="*/ 10849 h 21600"/>
              <a:gd name="T4" fmla="*/ 10757 w 21600"/>
              <a:gd name="T5" fmla="*/ 81 h 21600"/>
              <a:gd name="T6" fmla="*/ 21706 w 21600"/>
              <a:gd name="T7" fmla="*/ 10652 h 21600"/>
              <a:gd name="T8" fmla="*/ 10757 w 21600"/>
              <a:gd name="T9" fmla="*/ 21632 h 21600"/>
              <a:gd name="T10" fmla="*/ 0 w 21600"/>
              <a:gd name="T11" fmla="*/ 0 h 21600"/>
              <a:gd name="T12" fmla="*/ 21600 w 21600"/>
              <a:gd name="T13" fmla="*/ 0 h 21600"/>
              <a:gd name="T14" fmla="*/ 21600 w 21600"/>
              <a:gd name="T15" fmla="*/ 21600 h 21600"/>
              <a:gd name="T16" fmla="*/ 977 w 21600"/>
              <a:gd name="T17" fmla="*/ 818 h 21600"/>
              <a:gd name="T18" fmla="*/ 20622 w 21600"/>
              <a:gd name="T19" fmla="*/ 16429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10757" y="21632"/>
                </a:moveTo>
                <a:lnTo>
                  <a:pt x="5187" y="21632"/>
                </a:lnTo>
                <a:lnTo>
                  <a:pt x="85" y="17509"/>
                </a:lnTo>
                <a:lnTo>
                  <a:pt x="85" y="10849"/>
                </a:lnTo>
                <a:lnTo>
                  <a:pt x="85" y="81"/>
                </a:lnTo>
                <a:lnTo>
                  <a:pt x="10757" y="81"/>
                </a:lnTo>
                <a:lnTo>
                  <a:pt x="21706" y="81"/>
                </a:lnTo>
                <a:lnTo>
                  <a:pt x="21706" y="10652"/>
                </a:lnTo>
                <a:lnTo>
                  <a:pt x="21706" y="21632"/>
                </a:lnTo>
                <a:lnTo>
                  <a:pt x="10757" y="21632"/>
                </a:lnTo>
                <a:close/>
              </a:path>
              <a:path w="21600" h="21600">
                <a:moveTo>
                  <a:pt x="85" y="17509"/>
                </a:moveTo>
                <a:lnTo>
                  <a:pt x="5187" y="17509"/>
                </a:lnTo>
                <a:lnTo>
                  <a:pt x="5187" y="21632"/>
                </a:lnTo>
                <a:lnTo>
                  <a:pt x="85" y="17509"/>
                </a:lnTo>
                <a:close/>
              </a:path>
            </a:pathLst>
          </a:custGeom>
          <a:solidFill>
            <a:srgbClr val="D8EBB3"/>
          </a:solidFill>
          <a:ln w="9525">
            <a:solidFill>
              <a:srgbClr val="000000"/>
            </a:solidFill>
            <a:miter lim="800000"/>
            <a:headEnd/>
            <a:tailEnd/>
          </a:ln>
          <a:effectLst>
            <a:outerShdw dist="107763" dir="2700000" algn="ctr" rotWithShape="0">
              <a:srgbClr val="808080"/>
            </a:outerShdw>
          </a:effectLst>
        </p:spPr>
        <p:txBody>
          <a:bodyPr vert="horz" wrap="square" lIns="91440" tIns="45720" rIns="91440" bIns="45720" numCol="1" anchor="t" anchorCtr="0" compatLnSpc="1">
            <a:prstTxWarp prst="textNoShape">
              <a:avLst/>
            </a:prstTxWarp>
          </a:bodyPr>
          <a:lstStyle/>
          <a:p>
            <a:r>
              <a:rPr lang="en-US" sz="1400" dirty="0" smtClean="0"/>
              <a:t>m</a:t>
            </a:r>
            <a:endParaRPr lang="en-US" sz="1400" dirty="0"/>
          </a:p>
        </p:txBody>
      </p:sp>
      <p:cxnSp>
        <p:nvCxnSpPr>
          <p:cNvPr id="21" name="Straight Arrow Connector 20"/>
          <p:cNvCxnSpPr>
            <a:endCxn id="7" idx="1"/>
          </p:cNvCxnSpPr>
          <p:nvPr/>
        </p:nvCxnSpPr>
        <p:spPr>
          <a:xfrm flipV="1">
            <a:off x="3626223" y="3551873"/>
            <a:ext cx="381000" cy="11488"/>
          </a:xfrm>
          <a:prstGeom prst="straightConnector1">
            <a:avLst/>
          </a:prstGeom>
          <a:ln w="28575">
            <a:solidFill>
              <a:srgbClr val="000000"/>
            </a:solidFill>
            <a:tailEnd type="arrow"/>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2968730" y="3746043"/>
            <a:ext cx="609600" cy="219936"/>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200" b="1" dirty="0" smtClean="0"/>
              <a:t>K</a:t>
            </a:r>
            <a:r>
              <a:rPr lang="en-US" sz="1200" b="1" baseline="50000" dirty="0" smtClean="0"/>
              <a:t>-</a:t>
            </a:r>
            <a:r>
              <a:rPr lang="en-US" sz="1200" b="1" baseline="-25000" dirty="0" smtClean="0"/>
              <a:t>A</a:t>
            </a:r>
            <a:r>
              <a:rPr lang="en-US" sz="1200" b="1" dirty="0" smtClean="0"/>
              <a:t>(m)</a:t>
            </a:r>
            <a:endParaRPr lang="en-US" sz="1200" b="1" dirty="0"/>
          </a:p>
        </p:txBody>
      </p:sp>
      <p:cxnSp>
        <p:nvCxnSpPr>
          <p:cNvPr id="23" name="Straight Arrow Connector 22"/>
          <p:cNvCxnSpPr>
            <a:stCxn id="24" idx="2"/>
            <a:endCxn id="12" idx="0"/>
          </p:cNvCxnSpPr>
          <p:nvPr/>
        </p:nvCxnSpPr>
        <p:spPr>
          <a:xfrm flipH="1">
            <a:off x="5449917" y="3909852"/>
            <a:ext cx="1137" cy="64821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24" name="Picture 3"/>
          <p:cNvPicPr>
            <a:picLocks noChangeAspect="1" noChangeArrowheads="1"/>
          </p:cNvPicPr>
          <p:nvPr/>
        </p:nvPicPr>
        <p:blipFill>
          <a:blip r:embed="rId2" cstate="print">
            <a:extLst>
              <a:ext uri="{BEBA8EAE-BF5A-486C-A8C5-ECC9F3942E4B}">
                <a14:imgProps xmlns:a14="http://schemas.microsoft.com/office/drawing/2010/main">
                  <a14:imgLayer r:embed="rId3">
                    <a14:imgEffect>
                      <a14:artisticBlur radius="6"/>
                    </a14:imgEffect>
                  </a14:imgLayer>
                </a14:imgProps>
              </a:ext>
              <a:ext uri="{28A0092B-C50C-407E-A947-70E740481C1C}">
                <a14:useLocalDpi xmlns:a14="http://schemas.microsoft.com/office/drawing/2010/main" val="0"/>
              </a:ext>
            </a:extLst>
          </a:blip>
          <a:srcRect/>
          <a:stretch>
            <a:fillRect/>
          </a:stretch>
        </p:blipFill>
        <p:spPr bwMode="auto">
          <a:xfrm>
            <a:off x="5134348" y="3184365"/>
            <a:ext cx="633412" cy="72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 name="Document"/>
          <p:cNvSpPr>
            <a:spLocks noEditPoints="1" noChangeArrowheads="1"/>
          </p:cNvSpPr>
          <p:nvPr/>
        </p:nvSpPr>
        <p:spPr bwMode="auto">
          <a:xfrm>
            <a:off x="7626723" y="3268281"/>
            <a:ext cx="404362" cy="506101"/>
          </a:xfrm>
          <a:custGeom>
            <a:avLst/>
            <a:gdLst>
              <a:gd name="T0" fmla="*/ 10757 w 21600"/>
              <a:gd name="T1" fmla="*/ 21632 h 21600"/>
              <a:gd name="T2" fmla="*/ 85 w 21600"/>
              <a:gd name="T3" fmla="*/ 10849 h 21600"/>
              <a:gd name="T4" fmla="*/ 10757 w 21600"/>
              <a:gd name="T5" fmla="*/ 81 h 21600"/>
              <a:gd name="T6" fmla="*/ 21706 w 21600"/>
              <a:gd name="T7" fmla="*/ 10652 h 21600"/>
              <a:gd name="T8" fmla="*/ 10757 w 21600"/>
              <a:gd name="T9" fmla="*/ 21632 h 21600"/>
              <a:gd name="T10" fmla="*/ 0 w 21600"/>
              <a:gd name="T11" fmla="*/ 0 h 21600"/>
              <a:gd name="T12" fmla="*/ 21600 w 21600"/>
              <a:gd name="T13" fmla="*/ 0 h 21600"/>
              <a:gd name="T14" fmla="*/ 21600 w 21600"/>
              <a:gd name="T15" fmla="*/ 21600 h 21600"/>
              <a:gd name="T16" fmla="*/ 977 w 21600"/>
              <a:gd name="T17" fmla="*/ 818 h 21600"/>
              <a:gd name="T18" fmla="*/ 20622 w 21600"/>
              <a:gd name="T19" fmla="*/ 16429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10757" y="21632"/>
                </a:moveTo>
                <a:lnTo>
                  <a:pt x="5187" y="21632"/>
                </a:lnTo>
                <a:lnTo>
                  <a:pt x="85" y="17509"/>
                </a:lnTo>
                <a:lnTo>
                  <a:pt x="85" y="10849"/>
                </a:lnTo>
                <a:lnTo>
                  <a:pt x="85" y="81"/>
                </a:lnTo>
                <a:lnTo>
                  <a:pt x="10757" y="81"/>
                </a:lnTo>
                <a:lnTo>
                  <a:pt x="21706" y="81"/>
                </a:lnTo>
                <a:lnTo>
                  <a:pt x="21706" y="10652"/>
                </a:lnTo>
                <a:lnTo>
                  <a:pt x="21706" y="21632"/>
                </a:lnTo>
                <a:lnTo>
                  <a:pt x="10757" y="21632"/>
                </a:lnTo>
                <a:close/>
              </a:path>
              <a:path w="21600" h="21600">
                <a:moveTo>
                  <a:pt x="85" y="17509"/>
                </a:moveTo>
                <a:lnTo>
                  <a:pt x="5187" y="17509"/>
                </a:lnTo>
                <a:lnTo>
                  <a:pt x="5187" y="21632"/>
                </a:lnTo>
                <a:lnTo>
                  <a:pt x="85" y="17509"/>
                </a:lnTo>
                <a:close/>
              </a:path>
            </a:pathLst>
          </a:custGeom>
          <a:solidFill>
            <a:srgbClr val="D8EBB3"/>
          </a:solidFill>
          <a:ln w="9525">
            <a:solidFill>
              <a:srgbClr val="000000"/>
            </a:solidFill>
            <a:miter lim="800000"/>
            <a:headEnd/>
            <a:tailEnd/>
          </a:ln>
          <a:effectLst>
            <a:outerShdw dist="107763" dir="2700000" algn="ctr" rotWithShape="0">
              <a:srgbClr val="808080"/>
            </a:outerShdw>
          </a:effectLst>
        </p:spPr>
        <p:txBody>
          <a:bodyPr vert="horz" wrap="square" lIns="91440" tIns="45720" rIns="91440" bIns="45720" numCol="1" anchor="t" anchorCtr="0" compatLnSpc="1">
            <a:prstTxWarp prst="textNoShape">
              <a:avLst/>
            </a:prstTxWarp>
          </a:bodyPr>
          <a:lstStyle/>
          <a:p>
            <a:r>
              <a:rPr lang="en-US" sz="1400" dirty="0" smtClean="0"/>
              <a:t>m</a:t>
            </a:r>
            <a:endParaRPr lang="en-US" sz="1400" dirty="0"/>
          </a:p>
        </p:txBody>
      </p:sp>
      <p:sp>
        <p:nvSpPr>
          <p:cNvPr id="26" name="Rectangle 25"/>
          <p:cNvSpPr/>
          <p:nvPr/>
        </p:nvSpPr>
        <p:spPr>
          <a:xfrm>
            <a:off x="7573885" y="3734145"/>
            <a:ext cx="609600" cy="219936"/>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200" b="1" dirty="0" smtClean="0"/>
              <a:t>K</a:t>
            </a:r>
            <a:r>
              <a:rPr lang="en-US" sz="1200" b="1" baseline="50000" dirty="0" smtClean="0"/>
              <a:t>-</a:t>
            </a:r>
            <a:r>
              <a:rPr lang="en-US" sz="1200" b="1" baseline="-25000" dirty="0" smtClean="0"/>
              <a:t>A</a:t>
            </a:r>
            <a:r>
              <a:rPr lang="en-US" sz="1200" b="1" dirty="0" smtClean="0"/>
              <a:t>(m)</a:t>
            </a:r>
            <a:endParaRPr lang="en-US" sz="1200" b="1" dirty="0"/>
          </a:p>
        </p:txBody>
      </p:sp>
      <p:sp>
        <p:nvSpPr>
          <p:cNvPr id="27" name="Document"/>
          <p:cNvSpPr>
            <a:spLocks noEditPoints="1" noChangeArrowheads="1"/>
          </p:cNvSpPr>
          <p:nvPr/>
        </p:nvSpPr>
        <p:spPr bwMode="auto">
          <a:xfrm>
            <a:off x="8655423" y="2786531"/>
            <a:ext cx="404362" cy="506101"/>
          </a:xfrm>
          <a:custGeom>
            <a:avLst/>
            <a:gdLst>
              <a:gd name="T0" fmla="*/ 10757 w 21600"/>
              <a:gd name="T1" fmla="*/ 21632 h 21600"/>
              <a:gd name="T2" fmla="*/ 85 w 21600"/>
              <a:gd name="T3" fmla="*/ 10849 h 21600"/>
              <a:gd name="T4" fmla="*/ 10757 w 21600"/>
              <a:gd name="T5" fmla="*/ 81 h 21600"/>
              <a:gd name="T6" fmla="*/ 21706 w 21600"/>
              <a:gd name="T7" fmla="*/ 10652 h 21600"/>
              <a:gd name="T8" fmla="*/ 10757 w 21600"/>
              <a:gd name="T9" fmla="*/ 21632 h 21600"/>
              <a:gd name="T10" fmla="*/ 0 w 21600"/>
              <a:gd name="T11" fmla="*/ 0 h 21600"/>
              <a:gd name="T12" fmla="*/ 21600 w 21600"/>
              <a:gd name="T13" fmla="*/ 0 h 21600"/>
              <a:gd name="T14" fmla="*/ 21600 w 21600"/>
              <a:gd name="T15" fmla="*/ 21600 h 21600"/>
              <a:gd name="T16" fmla="*/ 977 w 21600"/>
              <a:gd name="T17" fmla="*/ 818 h 21600"/>
              <a:gd name="T18" fmla="*/ 20622 w 21600"/>
              <a:gd name="T19" fmla="*/ 16429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10757" y="21632"/>
                </a:moveTo>
                <a:lnTo>
                  <a:pt x="5187" y="21632"/>
                </a:lnTo>
                <a:lnTo>
                  <a:pt x="85" y="17509"/>
                </a:lnTo>
                <a:lnTo>
                  <a:pt x="85" y="10849"/>
                </a:lnTo>
                <a:lnTo>
                  <a:pt x="85" y="81"/>
                </a:lnTo>
                <a:lnTo>
                  <a:pt x="10757" y="81"/>
                </a:lnTo>
                <a:lnTo>
                  <a:pt x="21706" y="81"/>
                </a:lnTo>
                <a:lnTo>
                  <a:pt x="21706" y="10652"/>
                </a:lnTo>
                <a:lnTo>
                  <a:pt x="21706" y="21632"/>
                </a:lnTo>
                <a:lnTo>
                  <a:pt x="10757" y="21632"/>
                </a:lnTo>
                <a:close/>
              </a:path>
              <a:path w="21600" h="21600">
                <a:moveTo>
                  <a:pt x="85" y="17509"/>
                </a:moveTo>
                <a:lnTo>
                  <a:pt x="5187" y="17509"/>
                </a:lnTo>
                <a:lnTo>
                  <a:pt x="5187" y="21632"/>
                </a:lnTo>
                <a:lnTo>
                  <a:pt x="85" y="17509"/>
                </a:lnTo>
                <a:close/>
              </a:path>
            </a:pathLst>
          </a:custGeom>
          <a:solidFill>
            <a:srgbClr val="D8EBB3"/>
          </a:solidFill>
          <a:ln w="9525">
            <a:solidFill>
              <a:srgbClr val="000000"/>
            </a:solidFill>
            <a:miter lim="800000"/>
            <a:headEnd/>
            <a:tailEnd/>
          </a:ln>
          <a:effectLst>
            <a:outerShdw dist="107763" dir="2700000" algn="ctr" rotWithShape="0">
              <a:srgbClr val="808080"/>
            </a:outerShdw>
          </a:effectLst>
        </p:spPr>
        <p:txBody>
          <a:bodyPr vert="horz" wrap="square" lIns="91440" tIns="45720" rIns="91440" bIns="45720" numCol="1" anchor="t" anchorCtr="0" compatLnSpc="1">
            <a:prstTxWarp prst="textNoShape">
              <a:avLst/>
            </a:prstTxWarp>
          </a:bodyPr>
          <a:lstStyle/>
          <a:p>
            <a:r>
              <a:rPr lang="en-US" sz="2400" b="1" dirty="0" smtClean="0"/>
              <a:t>m</a:t>
            </a:r>
            <a:endParaRPr lang="en-US" sz="2400" b="1" dirty="0"/>
          </a:p>
        </p:txBody>
      </p:sp>
      <p:sp>
        <p:nvSpPr>
          <p:cNvPr id="28" name="Rectangle 27"/>
          <p:cNvSpPr/>
          <p:nvPr/>
        </p:nvSpPr>
        <p:spPr>
          <a:xfrm>
            <a:off x="7545675" y="3153322"/>
            <a:ext cx="705386" cy="899644"/>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Arrow Connector 28"/>
          <p:cNvCxnSpPr>
            <a:stCxn id="28" idx="2"/>
            <a:endCxn id="30" idx="0"/>
          </p:cNvCxnSpPr>
          <p:nvPr/>
        </p:nvCxnSpPr>
        <p:spPr>
          <a:xfrm>
            <a:off x="7898368" y="4052966"/>
            <a:ext cx="174285" cy="76526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6693273" y="4818229"/>
            <a:ext cx="2758760" cy="707886"/>
          </a:xfrm>
          <a:prstGeom prst="rect">
            <a:avLst/>
          </a:prstGeom>
          <a:noFill/>
          <a:ln>
            <a:solidFill>
              <a:schemeClr val="tx1"/>
            </a:solidFill>
            <a:prstDash val="dash"/>
          </a:ln>
        </p:spPr>
        <p:txBody>
          <a:bodyPr wrap="square" rtlCol="0">
            <a:spAutoFit/>
          </a:bodyPr>
          <a:lstStyle/>
          <a:p>
            <a:r>
              <a:rPr lang="en-US" sz="2000" dirty="0" smtClean="0"/>
              <a:t>Bob saves the digitally signed message from A</a:t>
            </a:r>
            <a:endParaRPr lang="en-US" sz="2000" dirty="0"/>
          </a:p>
        </p:txBody>
      </p:sp>
      <p:cxnSp>
        <p:nvCxnSpPr>
          <p:cNvPr id="31" name="Straight Arrow Connector 30"/>
          <p:cNvCxnSpPr>
            <a:endCxn id="20" idx="2"/>
          </p:cNvCxnSpPr>
          <p:nvPr/>
        </p:nvCxnSpPr>
        <p:spPr>
          <a:xfrm>
            <a:off x="3222944" y="2904565"/>
            <a:ext cx="0" cy="377512"/>
          </a:xfrm>
          <a:prstGeom prst="straightConnector1">
            <a:avLst/>
          </a:prstGeom>
          <a:ln w="28575">
            <a:solidFill>
              <a:srgbClr val="000000"/>
            </a:solidFill>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endCxn id="6" idx="1"/>
          </p:cNvCxnSpPr>
          <p:nvPr/>
        </p:nvCxnSpPr>
        <p:spPr>
          <a:xfrm>
            <a:off x="1747642" y="3484216"/>
            <a:ext cx="404954" cy="0"/>
          </a:xfrm>
          <a:prstGeom prst="straightConnector1">
            <a:avLst/>
          </a:prstGeom>
          <a:ln w="28575">
            <a:solidFill>
              <a:srgbClr val="000000"/>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18" idx="0"/>
          </p:cNvCxnSpPr>
          <p:nvPr/>
        </p:nvCxnSpPr>
        <p:spPr>
          <a:xfrm>
            <a:off x="1746837" y="3259016"/>
            <a:ext cx="0" cy="225199"/>
          </a:xfrm>
          <a:prstGeom prst="straightConnector1">
            <a:avLst/>
          </a:prstGeom>
          <a:ln w="28575">
            <a:solidFill>
              <a:srgbClr val="0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24" idx="3"/>
            <a:endCxn id="8" idx="1"/>
          </p:cNvCxnSpPr>
          <p:nvPr/>
        </p:nvCxnSpPr>
        <p:spPr>
          <a:xfrm>
            <a:off x="5767760" y="3547109"/>
            <a:ext cx="449263" cy="5647"/>
          </a:xfrm>
          <a:prstGeom prst="straightConnector1">
            <a:avLst/>
          </a:prstGeom>
          <a:ln w="28575">
            <a:solidFill>
              <a:srgbClr val="00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4773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7"/>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0"/>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4"/>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2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4"/>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6"/>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5"/>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1"/>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8"/>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8"/>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29"/>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30"/>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16"/>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17"/>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12" grpId="0" animBg="1"/>
      <p:bldP spid="13" grpId="0" animBg="1"/>
      <p:bldP spid="15" grpId="0" animBg="1"/>
      <p:bldP spid="18" grpId="0" animBg="1"/>
      <p:bldP spid="20" grpId="0" animBg="1"/>
      <p:bldP spid="22" grpId="0" animBg="1"/>
      <p:bldP spid="25" grpId="0" animBg="1"/>
      <p:bldP spid="26" grpId="0" animBg="1"/>
      <p:bldP spid="27" grpId="0" animBg="1"/>
      <p:bldP spid="28" grpId="0" animBg="1"/>
      <p:bldP spid="30"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Issues with Naïve Digital Signatures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dirty="0"/>
              <a:t>The validity of the digitally signed message holds as long as A’s private key remains a secret</a:t>
            </a:r>
          </a:p>
          <a:p>
            <a:pPr lvl="1">
              <a:buFont typeface="Wingdings" panose="05000000000000000000" pitchFamily="2" charset="2"/>
              <a:buChar char="§"/>
            </a:pPr>
            <a:r>
              <a:rPr lang="en-US" sz="2400" dirty="0"/>
              <a:t>‘A’ can claim that her private key was </a:t>
            </a:r>
            <a:r>
              <a:rPr lang="en-US" sz="2400" dirty="0" smtClean="0"/>
              <a:t>stolen</a:t>
            </a:r>
            <a:endParaRPr lang="en-US" sz="2400" dirty="0"/>
          </a:p>
          <a:p>
            <a:r>
              <a:rPr lang="en-US" dirty="0"/>
              <a:t>If ‘A’ changes her private key, the signed message becomes invalid</a:t>
            </a:r>
          </a:p>
          <a:p>
            <a:pPr lvl="1">
              <a:buFont typeface="Wingdings" panose="05000000000000000000" pitchFamily="2" charset="2"/>
              <a:buChar char="§"/>
            </a:pPr>
            <a:r>
              <a:rPr lang="en-US" sz="2400" dirty="0"/>
              <a:t>A centralized authority can keep track of when keys are </a:t>
            </a:r>
            <a:r>
              <a:rPr lang="en-US" sz="2400" dirty="0" smtClean="0"/>
              <a:t>changed</a:t>
            </a:r>
            <a:endParaRPr lang="en-US" sz="2400" dirty="0"/>
          </a:p>
          <a:p>
            <a:r>
              <a:rPr lang="en-US" dirty="0"/>
              <a:t>Encrypting the entire message with private key is costly</a:t>
            </a:r>
          </a:p>
          <a:p>
            <a:pPr lvl="1">
              <a:buFont typeface="Wingdings" panose="05000000000000000000" pitchFamily="2" charset="2"/>
              <a:buChar char="§"/>
            </a:pPr>
            <a:r>
              <a:rPr lang="en-US" sz="2400" dirty="0"/>
              <a:t>RSA is slower, and encryption of long data is not preferred</a:t>
            </a:r>
          </a:p>
          <a:p>
            <a:pPr lvl="1">
              <a:buFont typeface="Wingdings" panose="05000000000000000000" pitchFamily="2" charset="2"/>
              <a:buChar char="§"/>
            </a:pPr>
            <a:r>
              <a:rPr lang="en-US" sz="2400" dirty="0"/>
              <a:t>Any ideas on how to improve?</a:t>
            </a:r>
          </a:p>
        </p:txBody>
      </p:sp>
    </p:spTree>
    <p:extLst>
      <p:ext uri="{BB962C8B-B14F-4D97-AF65-F5344CB8AC3E}">
        <p14:creationId xmlns:p14="http://schemas.microsoft.com/office/powerpoint/2010/main" val="3896160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Digital Signature with Message Digest</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dirty="0"/>
              <a:t>Instead of attaching the encrypted message, attach the message digest</a:t>
            </a:r>
          </a:p>
          <a:p>
            <a:pPr>
              <a:lnSpc>
                <a:spcPct val="100000"/>
              </a:lnSpc>
            </a:pPr>
            <a:endParaRPr lang="en-US" sz="2400" dirty="0"/>
          </a:p>
        </p:txBody>
      </p:sp>
      <p:sp>
        <p:nvSpPr>
          <p:cNvPr id="4" name="Rectangle 3"/>
          <p:cNvSpPr/>
          <p:nvPr/>
        </p:nvSpPr>
        <p:spPr>
          <a:xfrm>
            <a:off x="717179" y="2088776"/>
            <a:ext cx="3333946" cy="1676400"/>
          </a:xfrm>
          <a:prstGeom prst="rect">
            <a:avLst/>
          </a:prstGeom>
          <a:solidFill>
            <a:schemeClr val="accent6">
              <a:lumMod val="40000"/>
              <a:lumOff val="60000"/>
            </a:schemeClr>
          </a:solidFill>
        </p:spPr>
        <p:style>
          <a:lnRef idx="0">
            <a:schemeClr val="accent6"/>
          </a:lnRef>
          <a:fillRef idx="3">
            <a:schemeClr val="accent6"/>
          </a:fillRef>
          <a:effectRef idx="3">
            <a:schemeClr val="accent6"/>
          </a:effectRef>
          <a:fontRef idx="minor">
            <a:schemeClr val="lt1"/>
          </a:fontRef>
        </p:style>
        <p:txBody>
          <a:bodyPr rtlCol="0" anchor="b"/>
          <a:lstStyle/>
          <a:p>
            <a:r>
              <a:rPr lang="en-US" sz="1400" dirty="0" smtClean="0">
                <a:solidFill>
                  <a:schemeClr val="tx1"/>
                </a:solidFill>
              </a:rPr>
              <a:t>Alice’s Computer</a:t>
            </a:r>
            <a:endParaRPr lang="en-US" sz="1400" dirty="0">
              <a:solidFill>
                <a:schemeClr val="tx1"/>
              </a:solidFill>
            </a:endParaRPr>
          </a:p>
        </p:txBody>
      </p:sp>
      <p:sp>
        <p:nvSpPr>
          <p:cNvPr id="5" name="Rectangle 4"/>
          <p:cNvSpPr/>
          <p:nvPr/>
        </p:nvSpPr>
        <p:spPr>
          <a:xfrm>
            <a:off x="5903259" y="2088776"/>
            <a:ext cx="3276600" cy="1676400"/>
          </a:xfrm>
          <a:prstGeom prst="rect">
            <a:avLst/>
          </a:prstGeom>
          <a:solidFill>
            <a:srgbClr val="00B050"/>
          </a:solidFill>
          <a:ln>
            <a:solidFill>
              <a:srgbClr val="00B050"/>
            </a:solidFill>
          </a:ln>
        </p:spPr>
        <p:style>
          <a:lnRef idx="0">
            <a:schemeClr val="accent6"/>
          </a:lnRef>
          <a:fillRef idx="3">
            <a:schemeClr val="accent6"/>
          </a:fillRef>
          <a:effectRef idx="3">
            <a:schemeClr val="accent6"/>
          </a:effectRef>
          <a:fontRef idx="minor">
            <a:schemeClr val="lt1"/>
          </a:fontRef>
        </p:style>
        <p:txBody>
          <a:bodyPr rtlCol="0" anchor="b"/>
          <a:lstStyle/>
          <a:p>
            <a:pPr algn="r"/>
            <a:r>
              <a:rPr lang="en-US" sz="1400" dirty="0" smtClean="0">
                <a:solidFill>
                  <a:schemeClr val="tx1"/>
                </a:solidFill>
              </a:rPr>
              <a:t>Bob’s Computer</a:t>
            </a:r>
            <a:endParaRPr lang="en-US" sz="1400" dirty="0">
              <a:solidFill>
                <a:schemeClr val="tx1"/>
              </a:solidFill>
            </a:endParaRPr>
          </a:p>
        </p:txBody>
      </p:sp>
      <p:sp>
        <p:nvSpPr>
          <p:cNvPr id="6" name="Rectangle 5"/>
          <p:cNvSpPr/>
          <p:nvPr/>
        </p:nvSpPr>
        <p:spPr>
          <a:xfrm>
            <a:off x="2175778" y="2856988"/>
            <a:ext cx="431661" cy="421261"/>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b="1" dirty="0" smtClean="0"/>
              <a:t>K</a:t>
            </a:r>
            <a:r>
              <a:rPr lang="en-US" sz="1400" b="1" baseline="50000" dirty="0" smtClean="0"/>
              <a:t>-</a:t>
            </a:r>
            <a:r>
              <a:rPr lang="en-US" sz="1400" b="1" baseline="-25000" dirty="0" smtClean="0"/>
              <a:t>A</a:t>
            </a:r>
            <a:endParaRPr lang="en-US" sz="1400" b="1" baseline="-25000" dirty="0"/>
          </a:p>
        </p:txBody>
      </p:sp>
      <p:sp>
        <p:nvSpPr>
          <p:cNvPr id="7" name="Rectangle 6"/>
          <p:cNvSpPr/>
          <p:nvPr/>
        </p:nvSpPr>
        <p:spPr>
          <a:xfrm>
            <a:off x="3513012" y="2812480"/>
            <a:ext cx="457200" cy="3048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b="1" dirty="0" smtClean="0"/>
              <a:t>K</a:t>
            </a:r>
            <a:r>
              <a:rPr lang="en-US" sz="1400" b="1" baseline="50000" dirty="0" smtClean="0"/>
              <a:t>+</a:t>
            </a:r>
            <a:r>
              <a:rPr lang="en-US" sz="1400" b="1" baseline="-25000" dirty="0" smtClean="0"/>
              <a:t>B</a:t>
            </a:r>
            <a:endParaRPr lang="en-US" sz="1400" b="1" baseline="-25000" dirty="0"/>
          </a:p>
        </p:txBody>
      </p:sp>
      <p:sp>
        <p:nvSpPr>
          <p:cNvPr id="8" name="Rectangle 7"/>
          <p:cNvSpPr/>
          <p:nvPr/>
        </p:nvSpPr>
        <p:spPr>
          <a:xfrm>
            <a:off x="6055659" y="2802857"/>
            <a:ext cx="476250" cy="32542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b="1" dirty="0" smtClean="0"/>
              <a:t>K</a:t>
            </a:r>
            <a:r>
              <a:rPr lang="en-US" sz="1400" b="1" baseline="50000" dirty="0" smtClean="0"/>
              <a:t>-</a:t>
            </a:r>
            <a:r>
              <a:rPr lang="en-US" sz="1400" b="1" baseline="-25000" dirty="0" smtClean="0"/>
              <a:t>B</a:t>
            </a:r>
            <a:endParaRPr lang="en-US" sz="1400" b="1" baseline="-25000" dirty="0"/>
          </a:p>
        </p:txBody>
      </p:sp>
      <p:cxnSp>
        <p:nvCxnSpPr>
          <p:cNvPr id="9" name="Straight Arrow Connector 8"/>
          <p:cNvCxnSpPr>
            <a:stCxn id="6" idx="3"/>
          </p:cNvCxnSpPr>
          <p:nvPr/>
        </p:nvCxnSpPr>
        <p:spPr>
          <a:xfrm>
            <a:off x="2607439" y="3067619"/>
            <a:ext cx="437311" cy="0"/>
          </a:xfrm>
          <a:prstGeom prst="straightConnector1">
            <a:avLst/>
          </a:prstGeom>
          <a:ln w="28575">
            <a:solidFill>
              <a:srgbClr val="00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7" idx="3"/>
          </p:cNvCxnSpPr>
          <p:nvPr/>
        </p:nvCxnSpPr>
        <p:spPr>
          <a:xfrm>
            <a:off x="3970212" y="2964880"/>
            <a:ext cx="951412" cy="0"/>
          </a:xfrm>
          <a:prstGeom prst="straightConnector1">
            <a:avLst/>
          </a:prstGeom>
          <a:ln w="28575">
            <a:solidFill>
              <a:srgbClr val="000000"/>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8" idx="3"/>
          </p:cNvCxnSpPr>
          <p:nvPr/>
        </p:nvCxnSpPr>
        <p:spPr>
          <a:xfrm flipV="1">
            <a:off x="6531909" y="2965076"/>
            <a:ext cx="933450" cy="491"/>
          </a:xfrm>
          <a:prstGeom prst="straightConnector1">
            <a:avLst/>
          </a:prstGeom>
          <a:ln w="28575">
            <a:solidFill>
              <a:srgbClr val="000000"/>
            </a:solidFill>
            <a:tailEnd type="arrow"/>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4051126" y="3970878"/>
            <a:ext cx="1983740" cy="66544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smtClean="0"/>
              <a:t>K</a:t>
            </a:r>
            <a:r>
              <a:rPr lang="en-US" sz="2000" b="1" baseline="50000" dirty="0" smtClean="0"/>
              <a:t>+</a:t>
            </a:r>
            <a:r>
              <a:rPr lang="en-US" sz="2000" b="1" baseline="-25000" dirty="0" smtClean="0"/>
              <a:t>B</a:t>
            </a:r>
            <a:r>
              <a:rPr lang="en-US" sz="2000" b="1" dirty="0" smtClean="0"/>
              <a:t>(m, K</a:t>
            </a:r>
            <a:r>
              <a:rPr lang="en-US" sz="2000" b="1" baseline="50000" dirty="0" smtClean="0"/>
              <a:t>-</a:t>
            </a:r>
            <a:r>
              <a:rPr lang="en-US" sz="2000" b="1" baseline="-25000" dirty="0" smtClean="0"/>
              <a:t>A</a:t>
            </a:r>
            <a:r>
              <a:rPr lang="en-US" sz="2000" b="1" dirty="0" smtClean="0"/>
              <a:t>(H(m)))</a:t>
            </a:r>
            <a:endParaRPr lang="en-US" sz="2000" b="1" dirty="0"/>
          </a:p>
        </p:txBody>
      </p:sp>
      <p:cxnSp>
        <p:nvCxnSpPr>
          <p:cNvPr id="13" name="Straight Arrow Connector 12"/>
          <p:cNvCxnSpPr/>
          <p:nvPr/>
        </p:nvCxnSpPr>
        <p:spPr>
          <a:xfrm flipV="1">
            <a:off x="6853550" y="2419175"/>
            <a:ext cx="0" cy="569811"/>
          </a:xfrm>
          <a:prstGeom prst="straightConnector1">
            <a:avLst/>
          </a:prstGeom>
          <a:ln w="28575">
            <a:solidFill>
              <a:srgbClr val="0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endCxn id="21" idx="1"/>
          </p:cNvCxnSpPr>
          <p:nvPr/>
        </p:nvCxnSpPr>
        <p:spPr>
          <a:xfrm>
            <a:off x="6853550" y="2418026"/>
            <a:ext cx="1489700" cy="1149"/>
          </a:xfrm>
          <a:prstGeom prst="straightConnector1">
            <a:avLst/>
          </a:prstGeom>
          <a:ln w="28575">
            <a:solidFill>
              <a:srgbClr val="000000"/>
            </a:solidFill>
            <a:tailEnd type="arrow"/>
          </a:ln>
        </p:spPr>
        <p:style>
          <a:lnRef idx="1">
            <a:schemeClr val="accent1"/>
          </a:lnRef>
          <a:fillRef idx="0">
            <a:schemeClr val="accent1"/>
          </a:fillRef>
          <a:effectRef idx="0">
            <a:schemeClr val="accent1"/>
          </a:effectRef>
          <a:fontRef idx="minor">
            <a:schemeClr val="tx1"/>
          </a:fontRef>
        </p:style>
      </p:cxnSp>
      <p:sp>
        <p:nvSpPr>
          <p:cNvPr id="15" name="Document"/>
          <p:cNvSpPr>
            <a:spLocks noEditPoints="1" noChangeArrowheads="1"/>
          </p:cNvSpPr>
          <p:nvPr/>
        </p:nvSpPr>
        <p:spPr bwMode="auto">
          <a:xfrm>
            <a:off x="846217" y="2164976"/>
            <a:ext cx="404362" cy="506101"/>
          </a:xfrm>
          <a:custGeom>
            <a:avLst/>
            <a:gdLst>
              <a:gd name="T0" fmla="*/ 10757 w 21600"/>
              <a:gd name="T1" fmla="*/ 21632 h 21600"/>
              <a:gd name="T2" fmla="*/ 85 w 21600"/>
              <a:gd name="T3" fmla="*/ 10849 h 21600"/>
              <a:gd name="T4" fmla="*/ 10757 w 21600"/>
              <a:gd name="T5" fmla="*/ 81 h 21600"/>
              <a:gd name="T6" fmla="*/ 21706 w 21600"/>
              <a:gd name="T7" fmla="*/ 10652 h 21600"/>
              <a:gd name="T8" fmla="*/ 10757 w 21600"/>
              <a:gd name="T9" fmla="*/ 21632 h 21600"/>
              <a:gd name="T10" fmla="*/ 0 w 21600"/>
              <a:gd name="T11" fmla="*/ 0 h 21600"/>
              <a:gd name="T12" fmla="*/ 21600 w 21600"/>
              <a:gd name="T13" fmla="*/ 0 h 21600"/>
              <a:gd name="T14" fmla="*/ 21600 w 21600"/>
              <a:gd name="T15" fmla="*/ 21600 h 21600"/>
              <a:gd name="T16" fmla="*/ 977 w 21600"/>
              <a:gd name="T17" fmla="*/ 818 h 21600"/>
              <a:gd name="T18" fmla="*/ 20622 w 21600"/>
              <a:gd name="T19" fmla="*/ 16429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10757" y="21632"/>
                </a:moveTo>
                <a:lnTo>
                  <a:pt x="5187" y="21632"/>
                </a:lnTo>
                <a:lnTo>
                  <a:pt x="85" y="17509"/>
                </a:lnTo>
                <a:lnTo>
                  <a:pt x="85" y="10849"/>
                </a:lnTo>
                <a:lnTo>
                  <a:pt x="85" y="81"/>
                </a:lnTo>
                <a:lnTo>
                  <a:pt x="10757" y="81"/>
                </a:lnTo>
                <a:lnTo>
                  <a:pt x="21706" y="81"/>
                </a:lnTo>
                <a:lnTo>
                  <a:pt x="21706" y="10652"/>
                </a:lnTo>
                <a:lnTo>
                  <a:pt x="21706" y="21632"/>
                </a:lnTo>
                <a:lnTo>
                  <a:pt x="10757" y="21632"/>
                </a:lnTo>
                <a:close/>
              </a:path>
              <a:path w="21600" h="21600">
                <a:moveTo>
                  <a:pt x="85" y="17509"/>
                </a:moveTo>
                <a:lnTo>
                  <a:pt x="5187" y="17509"/>
                </a:lnTo>
                <a:lnTo>
                  <a:pt x="5187" y="21632"/>
                </a:lnTo>
                <a:lnTo>
                  <a:pt x="85" y="17509"/>
                </a:lnTo>
                <a:close/>
              </a:path>
            </a:pathLst>
          </a:custGeom>
          <a:solidFill>
            <a:srgbClr val="D8EBB3"/>
          </a:solidFill>
          <a:ln w="9525">
            <a:solidFill>
              <a:srgbClr val="000000"/>
            </a:solidFill>
            <a:miter lim="800000"/>
            <a:headEnd/>
            <a:tailEnd/>
          </a:ln>
          <a:effectLst>
            <a:outerShdw dist="107763" dir="2700000" algn="ctr" rotWithShape="0">
              <a:srgbClr val="808080"/>
            </a:outerShdw>
          </a:effectLst>
        </p:spPr>
        <p:txBody>
          <a:bodyPr vert="horz" wrap="square" lIns="91440" tIns="45720" rIns="91440" bIns="45720" numCol="1" anchor="t" anchorCtr="0" compatLnSpc="1">
            <a:prstTxWarp prst="textNoShape">
              <a:avLst/>
            </a:prstTxWarp>
          </a:bodyPr>
          <a:lstStyle/>
          <a:p>
            <a:r>
              <a:rPr lang="en-US" sz="2400" b="1" dirty="0" smtClean="0"/>
              <a:t>m</a:t>
            </a:r>
            <a:endParaRPr lang="en-US" sz="2400" b="1" dirty="0"/>
          </a:p>
        </p:txBody>
      </p:sp>
      <p:cxnSp>
        <p:nvCxnSpPr>
          <p:cNvPr id="16" name="Straight Arrow Connector 15"/>
          <p:cNvCxnSpPr/>
          <p:nvPr/>
        </p:nvCxnSpPr>
        <p:spPr>
          <a:xfrm>
            <a:off x="1252563" y="2317376"/>
            <a:ext cx="1792187" cy="0"/>
          </a:xfrm>
          <a:prstGeom prst="straightConnector1">
            <a:avLst/>
          </a:prstGeom>
          <a:ln w="28575">
            <a:solidFill>
              <a:srgbClr val="0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7" name="Document"/>
          <p:cNvSpPr>
            <a:spLocks noEditPoints="1" noChangeArrowheads="1"/>
          </p:cNvSpPr>
          <p:nvPr/>
        </p:nvSpPr>
        <p:spPr bwMode="auto">
          <a:xfrm>
            <a:off x="2827418" y="2692990"/>
            <a:ext cx="404362" cy="506101"/>
          </a:xfrm>
          <a:custGeom>
            <a:avLst/>
            <a:gdLst>
              <a:gd name="T0" fmla="*/ 10757 w 21600"/>
              <a:gd name="T1" fmla="*/ 21632 h 21600"/>
              <a:gd name="T2" fmla="*/ 85 w 21600"/>
              <a:gd name="T3" fmla="*/ 10849 h 21600"/>
              <a:gd name="T4" fmla="*/ 10757 w 21600"/>
              <a:gd name="T5" fmla="*/ 81 h 21600"/>
              <a:gd name="T6" fmla="*/ 21706 w 21600"/>
              <a:gd name="T7" fmla="*/ 10652 h 21600"/>
              <a:gd name="T8" fmla="*/ 10757 w 21600"/>
              <a:gd name="T9" fmla="*/ 21632 h 21600"/>
              <a:gd name="T10" fmla="*/ 0 w 21600"/>
              <a:gd name="T11" fmla="*/ 0 h 21600"/>
              <a:gd name="T12" fmla="*/ 21600 w 21600"/>
              <a:gd name="T13" fmla="*/ 0 h 21600"/>
              <a:gd name="T14" fmla="*/ 21600 w 21600"/>
              <a:gd name="T15" fmla="*/ 21600 h 21600"/>
              <a:gd name="T16" fmla="*/ 977 w 21600"/>
              <a:gd name="T17" fmla="*/ 818 h 21600"/>
              <a:gd name="T18" fmla="*/ 20622 w 21600"/>
              <a:gd name="T19" fmla="*/ 16429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10757" y="21632"/>
                </a:moveTo>
                <a:lnTo>
                  <a:pt x="5187" y="21632"/>
                </a:lnTo>
                <a:lnTo>
                  <a:pt x="85" y="17509"/>
                </a:lnTo>
                <a:lnTo>
                  <a:pt x="85" y="10849"/>
                </a:lnTo>
                <a:lnTo>
                  <a:pt x="85" y="81"/>
                </a:lnTo>
                <a:lnTo>
                  <a:pt x="10757" y="81"/>
                </a:lnTo>
                <a:lnTo>
                  <a:pt x="21706" y="81"/>
                </a:lnTo>
                <a:lnTo>
                  <a:pt x="21706" y="10652"/>
                </a:lnTo>
                <a:lnTo>
                  <a:pt x="21706" y="21632"/>
                </a:lnTo>
                <a:lnTo>
                  <a:pt x="10757" y="21632"/>
                </a:lnTo>
                <a:close/>
              </a:path>
              <a:path w="21600" h="21600">
                <a:moveTo>
                  <a:pt x="85" y="17509"/>
                </a:moveTo>
                <a:lnTo>
                  <a:pt x="5187" y="17509"/>
                </a:lnTo>
                <a:lnTo>
                  <a:pt x="5187" y="21632"/>
                </a:lnTo>
                <a:lnTo>
                  <a:pt x="85" y="17509"/>
                </a:lnTo>
                <a:close/>
              </a:path>
            </a:pathLst>
          </a:custGeom>
          <a:solidFill>
            <a:srgbClr val="D8EBB3"/>
          </a:solidFill>
          <a:ln w="9525">
            <a:solidFill>
              <a:srgbClr val="000000"/>
            </a:solidFill>
            <a:miter lim="800000"/>
            <a:headEnd/>
            <a:tailEnd/>
          </a:ln>
          <a:effectLst>
            <a:outerShdw dist="107763" dir="2700000" algn="ctr" rotWithShape="0">
              <a:srgbClr val="808080"/>
            </a:outerShdw>
          </a:effectLst>
        </p:spPr>
        <p:txBody>
          <a:bodyPr vert="horz" wrap="square" lIns="91440" tIns="45720" rIns="91440" bIns="45720" numCol="1" anchor="t" anchorCtr="0" compatLnSpc="1">
            <a:prstTxWarp prst="textNoShape">
              <a:avLst/>
            </a:prstTxWarp>
          </a:bodyPr>
          <a:lstStyle/>
          <a:p>
            <a:r>
              <a:rPr lang="en-US" sz="1400" dirty="0" smtClean="0"/>
              <a:t>m</a:t>
            </a:r>
            <a:endParaRPr lang="en-US" sz="1400" dirty="0"/>
          </a:p>
        </p:txBody>
      </p:sp>
      <p:cxnSp>
        <p:nvCxnSpPr>
          <p:cNvPr id="18" name="Straight Arrow Connector 17"/>
          <p:cNvCxnSpPr>
            <a:endCxn id="7" idx="1"/>
          </p:cNvCxnSpPr>
          <p:nvPr/>
        </p:nvCxnSpPr>
        <p:spPr>
          <a:xfrm>
            <a:off x="3231779" y="2956141"/>
            <a:ext cx="281233" cy="8739"/>
          </a:xfrm>
          <a:prstGeom prst="straightConnector1">
            <a:avLst/>
          </a:prstGeom>
          <a:ln w="28575">
            <a:solidFill>
              <a:srgbClr val="000000"/>
            </a:solidFill>
            <a:tailEnd type="arrow"/>
          </a:ln>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a:off x="2622179" y="3169910"/>
            <a:ext cx="771793" cy="214266"/>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00" dirty="0" smtClean="0"/>
              <a:t>K</a:t>
            </a:r>
            <a:r>
              <a:rPr lang="en-US" sz="1000" baseline="50000" dirty="0" smtClean="0"/>
              <a:t>-</a:t>
            </a:r>
            <a:r>
              <a:rPr lang="en-US" sz="1000" baseline="-25000" dirty="0" smtClean="0"/>
              <a:t>A</a:t>
            </a:r>
            <a:r>
              <a:rPr lang="en-US" sz="1000" dirty="0" smtClean="0"/>
              <a:t>(H(m))</a:t>
            </a:r>
            <a:endParaRPr lang="en-US" sz="1000" dirty="0"/>
          </a:p>
        </p:txBody>
      </p:sp>
      <p:cxnSp>
        <p:nvCxnSpPr>
          <p:cNvPr id="20" name="Straight Arrow Connector 19"/>
          <p:cNvCxnSpPr>
            <a:endCxn id="12" idx="0"/>
          </p:cNvCxnSpPr>
          <p:nvPr/>
        </p:nvCxnSpPr>
        <p:spPr>
          <a:xfrm flipH="1">
            <a:off x="5042996" y="3322663"/>
            <a:ext cx="192908" cy="6482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1" name="Document"/>
          <p:cNvSpPr>
            <a:spLocks noEditPoints="1" noChangeArrowheads="1"/>
          </p:cNvSpPr>
          <p:nvPr/>
        </p:nvSpPr>
        <p:spPr bwMode="auto">
          <a:xfrm>
            <a:off x="8341659" y="2164976"/>
            <a:ext cx="404362" cy="506101"/>
          </a:xfrm>
          <a:custGeom>
            <a:avLst/>
            <a:gdLst>
              <a:gd name="T0" fmla="*/ 10757 w 21600"/>
              <a:gd name="T1" fmla="*/ 21632 h 21600"/>
              <a:gd name="T2" fmla="*/ 85 w 21600"/>
              <a:gd name="T3" fmla="*/ 10849 h 21600"/>
              <a:gd name="T4" fmla="*/ 10757 w 21600"/>
              <a:gd name="T5" fmla="*/ 81 h 21600"/>
              <a:gd name="T6" fmla="*/ 21706 w 21600"/>
              <a:gd name="T7" fmla="*/ 10652 h 21600"/>
              <a:gd name="T8" fmla="*/ 10757 w 21600"/>
              <a:gd name="T9" fmla="*/ 21632 h 21600"/>
              <a:gd name="T10" fmla="*/ 0 w 21600"/>
              <a:gd name="T11" fmla="*/ 0 h 21600"/>
              <a:gd name="T12" fmla="*/ 21600 w 21600"/>
              <a:gd name="T13" fmla="*/ 0 h 21600"/>
              <a:gd name="T14" fmla="*/ 21600 w 21600"/>
              <a:gd name="T15" fmla="*/ 21600 h 21600"/>
              <a:gd name="T16" fmla="*/ 977 w 21600"/>
              <a:gd name="T17" fmla="*/ 818 h 21600"/>
              <a:gd name="T18" fmla="*/ 20622 w 21600"/>
              <a:gd name="T19" fmla="*/ 16429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10757" y="21632"/>
                </a:moveTo>
                <a:lnTo>
                  <a:pt x="5187" y="21632"/>
                </a:lnTo>
                <a:lnTo>
                  <a:pt x="85" y="17509"/>
                </a:lnTo>
                <a:lnTo>
                  <a:pt x="85" y="10849"/>
                </a:lnTo>
                <a:lnTo>
                  <a:pt x="85" y="81"/>
                </a:lnTo>
                <a:lnTo>
                  <a:pt x="10757" y="81"/>
                </a:lnTo>
                <a:lnTo>
                  <a:pt x="21706" y="81"/>
                </a:lnTo>
                <a:lnTo>
                  <a:pt x="21706" y="10652"/>
                </a:lnTo>
                <a:lnTo>
                  <a:pt x="21706" y="21632"/>
                </a:lnTo>
                <a:lnTo>
                  <a:pt x="10757" y="21632"/>
                </a:lnTo>
                <a:close/>
              </a:path>
              <a:path w="21600" h="21600">
                <a:moveTo>
                  <a:pt x="85" y="17509"/>
                </a:moveTo>
                <a:lnTo>
                  <a:pt x="5187" y="17509"/>
                </a:lnTo>
                <a:lnTo>
                  <a:pt x="5187" y="21632"/>
                </a:lnTo>
                <a:lnTo>
                  <a:pt x="85" y="17509"/>
                </a:lnTo>
                <a:close/>
              </a:path>
            </a:pathLst>
          </a:custGeom>
          <a:solidFill>
            <a:srgbClr val="D8EBB3"/>
          </a:solidFill>
          <a:ln w="9525">
            <a:solidFill>
              <a:srgbClr val="000000"/>
            </a:solidFill>
            <a:miter lim="800000"/>
            <a:headEnd/>
            <a:tailEnd/>
          </a:ln>
          <a:effectLst>
            <a:outerShdw dist="107763" dir="2700000" algn="ctr" rotWithShape="0">
              <a:srgbClr val="808080"/>
            </a:outerShdw>
          </a:effectLst>
        </p:spPr>
        <p:txBody>
          <a:bodyPr vert="horz" wrap="square" lIns="91440" tIns="45720" rIns="91440" bIns="45720" numCol="1" anchor="t" anchorCtr="0" compatLnSpc="1">
            <a:prstTxWarp prst="textNoShape">
              <a:avLst/>
            </a:prstTxWarp>
          </a:bodyPr>
          <a:lstStyle/>
          <a:p>
            <a:r>
              <a:rPr lang="en-US" sz="2400" b="1" dirty="0" smtClean="0"/>
              <a:t>m</a:t>
            </a:r>
            <a:endParaRPr lang="en-US" sz="2400" b="1" dirty="0"/>
          </a:p>
        </p:txBody>
      </p:sp>
      <p:cxnSp>
        <p:nvCxnSpPr>
          <p:cNvPr id="22" name="Straight Arrow Connector 21"/>
          <p:cNvCxnSpPr>
            <a:endCxn id="17" idx="2"/>
          </p:cNvCxnSpPr>
          <p:nvPr/>
        </p:nvCxnSpPr>
        <p:spPr>
          <a:xfrm>
            <a:off x="3028794" y="2317376"/>
            <a:ext cx="0" cy="377512"/>
          </a:xfrm>
          <a:prstGeom prst="straightConnector1">
            <a:avLst/>
          </a:prstGeom>
          <a:ln w="28575">
            <a:solidFill>
              <a:srgbClr val="000000"/>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26" idx="3"/>
            <a:endCxn id="27" idx="1"/>
          </p:cNvCxnSpPr>
          <p:nvPr/>
        </p:nvCxnSpPr>
        <p:spPr>
          <a:xfrm flipV="1">
            <a:off x="1312836" y="3060667"/>
            <a:ext cx="227902" cy="740"/>
          </a:xfrm>
          <a:prstGeom prst="straightConnector1">
            <a:avLst/>
          </a:prstGeom>
          <a:ln w="28575">
            <a:solidFill>
              <a:srgbClr val="000000"/>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15" idx="0"/>
          </p:cNvCxnSpPr>
          <p:nvPr/>
        </p:nvCxnSpPr>
        <p:spPr>
          <a:xfrm>
            <a:off x="1047593" y="2671827"/>
            <a:ext cx="0" cy="225199"/>
          </a:xfrm>
          <a:prstGeom prst="straightConnector1">
            <a:avLst/>
          </a:prstGeom>
          <a:ln w="28575">
            <a:solidFill>
              <a:srgbClr val="0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endCxn id="8" idx="1"/>
          </p:cNvCxnSpPr>
          <p:nvPr/>
        </p:nvCxnSpPr>
        <p:spPr>
          <a:xfrm>
            <a:off x="5235903" y="2965567"/>
            <a:ext cx="819756" cy="0"/>
          </a:xfrm>
          <a:prstGeom prst="straightConnector1">
            <a:avLst/>
          </a:prstGeom>
          <a:ln w="28575">
            <a:solidFill>
              <a:srgbClr val="000000"/>
            </a:solidFill>
            <a:tailEnd type="arrow"/>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a:xfrm>
            <a:off x="793379" y="2850776"/>
            <a:ext cx="519457" cy="421261"/>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b="1" dirty="0" smtClean="0"/>
              <a:t>Hash</a:t>
            </a:r>
            <a:endParaRPr lang="en-US" sz="1200" b="1" baseline="-25000" dirty="0"/>
          </a:p>
        </p:txBody>
      </p:sp>
      <p:sp>
        <p:nvSpPr>
          <p:cNvPr id="27" name="Rectangle 26"/>
          <p:cNvSpPr/>
          <p:nvPr/>
        </p:nvSpPr>
        <p:spPr>
          <a:xfrm>
            <a:off x="1540738" y="2934141"/>
            <a:ext cx="471841" cy="253051"/>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00" dirty="0" smtClean="0"/>
              <a:t>H(m)</a:t>
            </a:r>
            <a:endParaRPr lang="en-US" sz="1000" dirty="0"/>
          </a:p>
        </p:txBody>
      </p:sp>
      <p:cxnSp>
        <p:nvCxnSpPr>
          <p:cNvPr id="28" name="Straight Arrow Connector 27"/>
          <p:cNvCxnSpPr>
            <a:stCxn id="27" idx="3"/>
            <a:endCxn id="6" idx="1"/>
          </p:cNvCxnSpPr>
          <p:nvPr/>
        </p:nvCxnSpPr>
        <p:spPr>
          <a:xfrm>
            <a:off x="2012579" y="3060667"/>
            <a:ext cx="163199" cy="6952"/>
          </a:xfrm>
          <a:prstGeom prst="straightConnector1">
            <a:avLst/>
          </a:prstGeom>
          <a:ln w="28575">
            <a:solidFill>
              <a:srgbClr val="000000"/>
            </a:solidFill>
            <a:tailEnd type="arrow"/>
          </a:ln>
        </p:spPr>
        <p:style>
          <a:lnRef idx="1">
            <a:schemeClr val="accent1"/>
          </a:lnRef>
          <a:fillRef idx="0">
            <a:schemeClr val="accent1"/>
          </a:fillRef>
          <a:effectRef idx="0">
            <a:schemeClr val="accent1"/>
          </a:effectRef>
          <a:fontRef idx="minor">
            <a:schemeClr val="tx1"/>
          </a:fontRef>
        </p:style>
      </p:cxnSp>
      <p:sp>
        <p:nvSpPr>
          <p:cNvPr id="29" name="Document"/>
          <p:cNvSpPr>
            <a:spLocks noEditPoints="1" noChangeArrowheads="1"/>
          </p:cNvSpPr>
          <p:nvPr/>
        </p:nvSpPr>
        <p:spPr bwMode="auto">
          <a:xfrm>
            <a:off x="7480098" y="2698376"/>
            <a:ext cx="404362" cy="506101"/>
          </a:xfrm>
          <a:custGeom>
            <a:avLst/>
            <a:gdLst>
              <a:gd name="T0" fmla="*/ 10757 w 21600"/>
              <a:gd name="T1" fmla="*/ 21632 h 21600"/>
              <a:gd name="T2" fmla="*/ 85 w 21600"/>
              <a:gd name="T3" fmla="*/ 10849 h 21600"/>
              <a:gd name="T4" fmla="*/ 10757 w 21600"/>
              <a:gd name="T5" fmla="*/ 81 h 21600"/>
              <a:gd name="T6" fmla="*/ 21706 w 21600"/>
              <a:gd name="T7" fmla="*/ 10652 h 21600"/>
              <a:gd name="T8" fmla="*/ 10757 w 21600"/>
              <a:gd name="T9" fmla="*/ 21632 h 21600"/>
              <a:gd name="T10" fmla="*/ 0 w 21600"/>
              <a:gd name="T11" fmla="*/ 0 h 21600"/>
              <a:gd name="T12" fmla="*/ 21600 w 21600"/>
              <a:gd name="T13" fmla="*/ 0 h 21600"/>
              <a:gd name="T14" fmla="*/ 21600 w 21600"/>
              <a:gd name="T15" fmla="*/ 21600 h 21600"/>
              <a:gd name="T16" fmla="*/ 977 w 21600"/>
              <a:gd name="T17" fmla="*/ 818 h 21600"/>
              <a:gd name="T18" fmla="*/ 20622 w 21600"/>
              <a:gd name="T19" fmla="*/ 16429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10757" y="21632"/>
                </a:moveTo>
                <a:lnTo>
                  <a:pt x="5187" y="21632"/>
                </a:lnTo>
                <a:lnTo>
                  <a:pt x="85" y="17509"/>
                </a:lnTo>
                <a:lnTo>
                  <a:pt x="85" y="10849"/>
                </a:lnTo>
                <a:lnTo>
                  <a:pt x="85" y="81"/>
                </a:lnTo>
                <a:lnTo>
                  <a:pt x="10757" y="81"/>
                </a:lnTo>
                <a:lnTo>
                  <a:pt x="21706" y="81"/>
                </a:lnTo>
                <a:lnTo>
                  <a:pt x="21706" y="10652"/>
                </a:lnTo>
                <a:lnTo>
                  <a:pt x="21706" y="21632"/>
                </a:lnTo>
                <a:lnTo>
                  <a:pt x="10757" y="21632"/>
                </a:lnTo>
                <a:close/>
              </a:path>
              <a:path w="21600" h="21600">
                <a:moveTo>
                  <a:pt x="85" y="17509"/>
                </a:moveTo>
                <a:lnTo>
                  <a:pt x="5187" y="17509"/>
                </a:lnTo>
                <a:lnTo>
                  <a:pt x="5187" y="21632"/>
                </a:lnTo>
                <a:lnTo>
                  <a:pt x="85" y="17509"/>
                </a:lnTo>
                <a:close/>
              </a:path>
            </a:pathLst>
          </a:custGeom>
          <a:solidFill>
            <a:srgbClr val="D8EBB3"/>
          </a:solidFill>
          <a:ln w="9525">
            <a:solidFill>
              <a:srgbClr val="000000"/>
            </a:solidFill>
            <a:miter lim="800000"/>
            <a:headEnd/>
            <a:tailEnd/>
          </a:ln>
          <a:effectLst>
            <a:outerShdw dist="107763" dir="2700000" algn="ctr" rotWithShape="0">
              <a:srgbClr val="808080"/>
            </a:outerShdw>
          </a:effectLst>
        </p:spPr>
        <p:txBody>
          <a:bodyPr vert="horz" wrap="square" lIns="91440" tIns="45720" rIns="91440" bIns="45720" numCol="1" anchor="t" anchorCtr="0" compatLnSpc="1">
            <a:prstTxWarp prst="textNoShape">
              <a:avLst/>
            </a:prstTxWarp>
          </a:bodyPr>
          <a:lstStyle/>
          <a:p>
            <a:r>
              <a:rPr lang="en-US" sz="1400" dirty="0" smtClean="0"/>
              <a:t>m</a:t>
            </a:r>
            <a:endParaRPr lang="en-US" sz="1400" dirty="0"/>
          </a:p>
        </p:txBody>
      </p:sp>
      <p:sp>
        <p:nvSpPr>
          <p:cNvPr id="30" name="Rectangle 29"/>
          <p:cNvSpPr/>
          <p:nvPr/>
        </p:nvSpPr>
        <p:spPr>
          <a:xfrm>
            <a:off x="7274859" y="3175296"/>
            <a:ext cx="771793" cy="214266"/>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00" dirty="0" smtClean="0"/>
              <a:t>K</a:t>
            </a:r>
            <a:r>
              <a:rPr lang="en-US" sz="1000" baseline="50000" dirty="0" smtClean="0"/>
              <a:t>-</a:t>
            </a:r>
            <a:r>
              <a:rPr lang="en-US" sz="1000" baseline="-25000" dirty="0" smtClean="0"/>
              <a:t>A</a:t>
            </a:r>
            <a:r>
              <a:rPr lang="en-US" sz="1000" dirty="0" smtClean="0"/>
              <a:t>(H(m))</a:t>
            </a:r>
            <a:endParaRPr lang="en-US" sz="1000" dirty="0"/>
          </a:p>
        </p:txBody>
      </p:sp>
      <p:pic>
        <p:nvPicPr>
          <p:cNvPr id="31" name="Picture 2"/>
          <p:cNvPicPr>
            <a:picLocks noChangeAspect="1" noChangeArrowheads="1"/>
          </p:cNvPicPr>
          <p:nvPr/>
        </p:nvPicPr>
        <p:blipFill>
          <a:blip r:embed="rId2" cstate="print">
            <a:extLst>
              <a:ext uri="{BEBA8EAE-BF5A-486C-A8C5-ECC9F3942E4B}">
                <a14:imgProps xmlns:a14="http://schemas.microsoft.com/office/drawing/2010/main">
                  <a14:imgLayer r:embed="rId3">
                    <a14:imgEffect>
                      <a14:artisticBlur radius="6"/>
                    </a14:imgEffect>
                  </a14:imgLayer>
                </a14:imgProps>
              </a:ext>
              <a:ext uri="{28A0092B-C50C-407E-A947-70E740481C1C}">
                <a14:useLocalDpi xmlns:a14="http://schemas.microsoft.com/office/drawing/2010/main" val="0"/>
              </a:ext>
            </a:extLst>
          </a:blip>
          <a:srcRect/>
          <a:stretch>
            <a:fillRect/>
          </a:stretch>
        </p:blipFill>
        <p:spPr bwMode="auto">
          <a:xfrm>
            <a:off x="4766796" y="2623066"/>
            <a:ext cx="792163" cy="731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2" name="Rectangle 31"/>
          <p:cNvSpPr/>
          <p:nvPr/>
        </p:nvSpPr>
        <p:spPr>
          <a:xfrm>
            <a:off x="7198659" y="2572823"/>
            <a:ext cx="914399" cy="899644"/>
          </a:xfrm>
          <a:prstGeom prst="rect">
            <a:avLst/>
          </a:prstGeom>
          <a:solidFill>
            <a:srgbClr val="FF00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3" name="Straight Arrow Connector 32"/>
          <p:cNvCxnSpPr>
            <a:stCxn id="32" idx="2"/>
            <a:endCxn id="34" idx="0"/>
          </p:cNvCxnSpPr>
          <p:nvPr/>
        </p:nvCxnSpPr>
        <p:spPr>
          <a:xfrm>
            <a:off x="7655859" y="3472467"/>
            <a:ext cx="228601" cy="6129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6552145" y="4085461"/>
            <a:ext cx="2664630" cy="707886"/>
          </a:xfrm>
          <a:prstGeom prst="rect">
            <a:avLst/>
          </a:prstGeom>
          <a:noFill/>
          <a:ln>
            <a:solidFill>
              <a:schemeClr val="tx1"/>
            </a:solidFill>
            <a:prstDash val="dash"/>
          </a:ln>
        </p:spPr>
        <p:txBody>
          <a:bodyPr wrap="square" rtlCol="0">
            <a:spAutoFit/>
          </a:bodyPr>
          <a:lstStyle/>
          <a:p>
            <a:r>
              <a:rPr lang="en-US" sz="2000" dirty="0" smtClean="0"/>
              <a:t>Bob saves the digitally signed message from A</a:t>
            </a:r>
            <a:endParaRPr lang="en-US" sz="2000" dirty="0"/>
          </a:p>
        </p:txBody>
      </p:sp>
      <p:sp>
        <p:nvSpPr>
          <p:cNvPr id="35" name="Rectangle 34"/>
          <p:cNvSpPr/>
          <p:nvPr/>
        </p:nvSpPr>
        <p:spPr>
          <a:xfrm>
            <a:off x="1093694" y="5155581"/>
            <a:ext cx="7924799" cy="738433"/>
          </a:xfrm>
          <a:prstGeom prst="rect">
            <a:avLst/>
          </a:prstGeom>
          <a:solidFill>
            <a:srgbClr val="0E3755"/>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smtClean="0">
                <a:solidFill>
                  <a:schemeClr val="bg1"/>
                </a:solidFill>
              </a:rPr>
              <a:t>Bob can verify the signature by comparing the hash of received message, and the hash attached in the digitally signed message</a:t>
            </a:r>
            <a:endParaRPr lang="en-US" sz="2400" dirty="0">
              <a:solidFill>
                <a:schemeClr val="bg1"/>
              </a:solidFill>
            </a:endParaRPr>
          </a:p>
        </p:txBody>
      </p:sp>
    </p:spTree>
    <p:extLst>
      <p:ext uri="{BB962C8B-B14F-4D97-AF65-F5344CB8AC3E}">
        <p14:creationId xmlns:p14="http://schemas.microsoft.com/office/powerpoint/2010/main" val="1172725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Secure Group Communication</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dirty="0"/>
              <a:t>Scenario: Client has to communicate with a group of replicated servers</a:t>
            </a:r>
          </a:p>
          <a:p>
            <a:pPr lvl="2"/>
            <a:r>
              <a:rPr lang="en-US" sz="2400" dirty="0"/>
              <a:t>Replication can be for fault-tolerance or performance improvement</a:t>
            </a:r>
          </a:p>
          <a:p>
            <a:pPr>
              <a:lnSpc>
                <a:spcPct val="100000"/>
              </a:lnSpc>
            </a:pPr>
            <a:r>
              <a:rPr lang="en-US" dirty="0"/>
              <a:t>Client expects that the response is secure</a:t>
            </a:r>
          </a:p>
          <a:p>
            <a:pPr>
              <a:lnSpc>
                <a:spcPct val="100000"/>
              </a:lnSpc>
            </a:pPr>
            <a:r>
              <a:rPr lang="en-US" dirty="0"/>
              <a:t>Naïve Solution:</a:t>
            </a:r>
          </a:p>
          <a:p>
            <a:pPr lvl="2"/>
            <a:r>
              <a:rPr lang="en-US" sz="2400" dirty="0"/>
              <a:t>Client collects the response from each server</a:t>
            </a:r>
          </a:p>
          <a:p>
            <a:pPr lvl="2"/>
            <a:r>
              <a:rPr lang="en-US" sz="2400" dirty="0"/>
              <a:t>Client authenticates every response</a:t>
            </a:r>
          </a:p>
          <a:p>
            <a:pPr lvl="2"/>
            <a:r>
              <a:rPr lang="en-US" sz="2400" dirty="0"/>
              <a:t>Client takes a majority </a:t>
            </a:r>
            <a:r>
              <a:rPr lang="en-US" sz="2400" dirty="0" smtClean="0"/>
              <a:t>vote</a:t>
            </a:r>
          </a:p>
          <a:p>
            <a:pPr marL="265113" lvl="2" indent="-265113">
              <a:lnSpc>
                <a:spcPct val="100000"/>
              </a:lnSpc>
              <a:spcBef>
                <a:spcPts val="1000"/>
              </a:spcBef>
              <a:buFont typeface="Webdings" panose="05030102010509060703" pitchFamily="18" charset="2"/>
              <a:buChar char=""/>
            </a:pPr>
            <a:r>
              <a:rPr lang="en-US" sz="2400" dirty="0"/>
              <a:t>Drawback of naïve approach</a:t>
            </a:r>
          </a:p>
          <a:p>
            <a:pPr lvl="2"/>
            <a:r>
              <a:rPr lang="en-US" sz="2400" dirty="0"/>
              <a:t>Replicated of servers should be transparent to the client</a:t>
            </a:r>
          </a:p>
          <a:p>
            <a:pPr lvl="2"/>
            <a:r>
              <a:rPr lang="en-US" sz="2400" dirty="0"/>
              <a:t>Reiter et al. proposed a transparent and secure group authentication protocol (Secure Group Authentication Protocol</a:t>
            </a:r>
            <a:r>
              <a:rPr lang="en-US" sz="2400" dirty="0" smtClean="0"/>
              <a:t>)</a:t>
            </a:r>
            <a:endParaRPr lang="en-US" sz="2400" dirty="0"/>
          </a:p>
        </p:txBody>
      </p:sp>
    </p:spTree>
    <p:extLst>
      <p:ext uri="{BB962C8B-B14F-4D97-AF65-F5344CB8AC3E}">
        <p14:creationId xmlns:p14="http://schemas.microsoft.com/office/powerpoint/2010/main" val="474491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Secure Group Authentication Protocol</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dirty="0"/>
              <a:t>Problem: Authenticate a group of replicated servers at the client in a transparent way</a:t>
            </a:r>
          </a:p>
          <a:p>
            <a:pPr>
              <a:lnSpc>
                <a:spcPct val="100000"/>
              </a:lnSpc>
            </a:pPr>
            <a:r>
              <a:rPr lang="en-US" dirty="0"/>
              <a:t>Main Idea: </a:t>
            </a:r>
          </a:p>
          <a:p>
            <a:pPr lvl="2"/>
            <a:r>
              <a:rPr lang="en-US" sz="2400" dirty="0"/>
              <a:t>Multiple servers share a secret</a:t>
            </a:r>
          </a:p>
          <a:p>
            <a:pPr lvl="2"/>
            <a:r>
              <a:rPr lang="en-US" sz="2400" dirty="0"/>
              <a:t>None of them know the entire secret</a:t>
            </a:r>
          </a:p>
          <a:p>
            <a:pPr lvl="2"/>
            <a:r>
              <a:rPr lang="en-US" sz="2400" dirty="0"/>
              <a:t>Secret can be revealed only if all/most of them cooperate</a:t>
            </a:r>
          </a:p>
          <a:p>
            <a:pPr>
              <a:lnSpc>
                <a:spcPct val="100000"/>
              </a:lnSpc>
            </a:pPr>
            <a:r>
              <a:rPr lang="en-US" dirty="0"/>
              <a:t>The approach is similar to k-fault tolerant systems</a:t>
            </a:r>
          </a:p>
          <a:p>
            <a:pPr lvl="2"/>
            <a:r>
              <a:rPr lang="en-US" sz="2400" dirty="0"/>
              <a:t>Tolerate intrusion (faults) of c servers out of N servers if c &lt;= N </a:t>
            </a:r>
          </a:p>
        </p:txBody>
      </p:sp>
    </p:spTree>
    <p:extLst>
      <p:ext uri="{BB962C8B-B14F-4D97-AF65-F5344CB8AC3E}">
        <p14:creationId xmlns:p14="http://schemas.microsoft.com/office/powerpoint/2010/main" val="4128558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Secure Replicated Servers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dirty="0"/>
              <a:t>Secure and Transparent Replicated </a:t>
            </a:r>
            <a:r>
              <a:rPr lang="en-US" dirty="0" smtClean="0"/>
              <a:t>Servers</a:t>
            </a:r>
          </a:p>
          <a:p>
            <a:pPr>
              <a:lnSpc>
                <a:spcPct val="100000"/>
              </a:lnSpc>
            </a:pPr>
            <a:r>
              <a:rPr lang="en-US" dirty="0"/>
              <a:t>Example</a:t>
            </a:r>
            <a:r>
              <a:rPr lang="en-US" dirty="0" smtClean="0"/>
              <a:t>:</a:t>
            </a:r>
          </a:p>
          <a:p>
            <a:pPr lvl="2"/>
            <a:r>
              <a:rPr lang="en-US" sz="2400" dirty="0"/>
              <a:t>Given a securely replicated group of servers</a:t>
            </a:r>
          </a:p>
          <a:p>
            <a:pPr lvl="2"/>
            <a:r>
              <a:rPr lang="en-US" sz="2400" dirty="0"/>
              <a:t>Each server accompanies its response with a digital signature.</a:t>
            </a:r>
          </a:p>
          <a:p>
            <a:pPr lvl="2"/>
            <a:r>
              <a:rPr lang="en-US" sz="2400" dirty="0"/>
              <a:t>If </a:t>
            </a:r>
            <a:r>
              <a:rPr lang="en-US" sz="2400" dirty="0" err="1"/>
              <a:t>ri</a:t>
            </a:r>
            <a:r>
              <a:rPr lang="en-US" sz="2400" dirty="0"/>
              <a:t> is the response from server Si, let md (</a:t>
            </a:r>
            <a:r>
              <a:rPr lang="en-US" sz="2400" dirty="0" err="1"/>
              <a:t>ri</a:t>
            </a:r>
            <a:r>
              <a:rPr lang="en-US" sz="2400" dirty="0"/>
              <a:t>) denote the message digest computed by server Si.</a:t>
            </a:r>
          </a:p>
          <a:p>
            <a:pPr lvl="2"/>
            <a:r>
              <a:rPr lang="en-US" sz="2400" dirty="0"/>
              <a:t>This digest is signed with server Si's private </a:t>
            </a:r>
            <a:r>
              <a:rPr lang="en-US" sz="2400" dirty="0" smtClean="0"/>
              <a:t>key </a:t>
            </a:r>
            <a:r>
              <a:rPr lang="en-US" sz="2400" b="1" dirty="0" smtClean="0"/>
              <a:t>k</a:t>
            </a:r>
            <a:r>
              <a:rPr lang="en-US" sz="2400" b="1" baseline="-25000" dirty="0" smtClean="0"/>
              <a:t>i</a:t>
            </a:r>
            <a:r>
              <a:rPr lang="en-US" sz="2400" b="1" baseline="30000" dirty="0" smtClean="0"/>
              <a:t>-</a:t>
            </a:r>
          </a:p>
          <a:p>
            <a:pPr marL="265113" lvl="2" indent="-265113">
              <a:lnSpc>
                <a:spcPct val="100000"/>
              </a:lnSpc>
              <a:spcBef>
                <a:spcPts val="1000"/>
              </a:spcBef>
              <a:buFont typeface="Webdings" panose="05030102010509060703" pitchFamily="18" charset="2"/>
              <a:buChar char=""/>
            </a:pPr>
            <a:r>
              <a:rPr lang="en-US" sz="2400" dirty="0"/>
              <a:t>Want to protect the client against at most c corrupted servers =&gt; the server group should be able to tolerate corruption by at most c servers, and still be capable of producing a response that the client can put its trust in</a:t>
            </a:r>
          </a:p>
          <a:p>
            <a:pPr lvl="2"/>
            <a:endParaRPr lang="en-US" sz="2400" dirty="0"/>
          </a:p>
        </p:txBody>
      </p:sp>
    </p:spTree>
    <p:extLst>
      <p:ext uri="{BB962C8B-B14F-4D97-AF65-F5344CB8AC3E}">
        <p14:creationId xmlns:p14="http://schemas.microsoft.com/office/powerpoint/2010/main" val="1404482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Secure Replicated Servers</a:t>
            </a:r>
          </a:p>
        </p:txBody>
      </p:sp>
      <p:sp>
        <p:nvSpPr>
          <p:cNvPr id="4" name="Rectangle 3"/>
          <p:cNvSpPr/>
          <p:nvPr/>
        </p:nvSpPr>
        <p:spPr>
          <a:xfrm>
            <a:off x="7872197" y="2896234"/>
            <a:ext cx="3276600" cy="2971800"/>
          </a:xfrm>
          <a:prstGeom prst="rect">
            <a:avLst/>
          </a:prstGeom>
          <a:solidFill>
            <a:schemeClr val="bg1">
              <a:lumMod val="95000"/>
            </a:schemeClr>
          </a:solidFill>
          <a:ln>
            <a:noFill/>
          </a:ln>
        </p:spPr>
        <p:style>
          <a:lnRef idx="1">
            <a:schemeClr val="accent2"/>
          </a:lnRef>
          <a:fillRef idx="2">
            <a:schemeClr val="accent2"/>
          </a:fillRef>
          <a:effectRef idx="1">
            <a:schemeClr val="accent2"/>
          </a:effectRef>
          <a:fontRef idx="minor">
            <a:schemeClr val="dk1"/>
          </a:fontRef>
        </p:style>
        <p:txBody>
          <a:bodyPr rtlCol="0" anchor="b"/>
          <a:lstStyle/>
          <a:p>
            <a:r>
              <a:rPr lang="en-US" sz="2400" b="1" dirty="0" smtClean="0">
                <a:solidFill>
                  <a:schemeClr val="accent6"/>
                </a:solidFill>
              </a:rPr>
              <a:t>Client</a:t>
            </a:r>
            <a:endParaRPr lang="en-US" b="1" dirty="0">
              <a:solidFill>
                <a:schemeClr val="accent6"/>
              </a:solidFill>
            </a:endParaRPr>
          </a:p>
        </p:txBody>
      </p:sp>
      <p:sp>
        <p:nvSpPr>
          <p:cNvPr id="5" name="Content Placeholder 2"/>
          <p:cNvSpPr txBox="1">
            <a:spLocks/>
          </p:cNvSpPr>
          <p:nvPr/>
        </p:nvSpPr>
        <p:spPr>
          <a:xfrm>
            <a:off x="-13822" y="854387"/>
            <a:ext cx="7626591" cy="572122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ebdings" panose="05030102010509060703"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For each client call:</a:t>
            </a:r>
          </a:p>
          <a:p>
            <a:pPr lvl="1">
              <a:buFont typeface="Wingdings" panose="05000000000000000000" pitchFamily="2" charset="2"/>
              <a:buChar char="§"/>
            </a:pPr>
            <a:r>
              <a:rPr lang="en-US" sz="2400" dirty="0" smtClean="0"/>
              <a:t>Each server S</a:t>
            </a:r>
            <a:r>
              <a:rPr lang="en-US" sz="2400" baseline="-25000" dirty="0" smtClean="0"/>
              <a:t>i</a:t>
            </a:r>
            <a:r>
              <a:rPr lang="en-US" sz="2400" dirty="0" smtClean="0"/>
              <a:t> returns the response (</a:t>
            </a:r>
            <a:r>
              <a:rPr lang="en-US" sz="2400" dirty="0" err="1" smtClean="0"/>
              <a:t>r</a:t>
            </a:r>
            <a:r>
              <a:rPr lang="en-US" sz="2400" baseline="-25000" dirty="0" err="1" smtClean="0"/>
              <a:t>i</a:t>
            </a:r>
            <a:r>
              <a:rPr lang="en-US" sz="2400" dirty="0" smtClean="0"/>
              <a:t>) </a:t>
            </a:r>
          </a:p>
          <a:p>
            <a:pPr lvl="1">
              <a:buFont typeface="Wingdings" panose="05000000000000000000" pitchFamily="2" charset="2"/>
              <a:buChar char="§"/>
            </a:pPr>
            <a:r>
              <a:rPr lang="en-US" sz="2400" dirty="0" smtClean="0"/>
              <a:t>In addition, it sends a signed message </a:t>
            </a:r>
            <a:br>
              <a:rPr lang="en-US" sz="2400" dirty="0" smtClean="0"/>
            </a:br>
            <a:r>
              <a:rPr lang="en-US" sz="2400" dirty="0" smtClean="0"/>
              <a:t>digest: sig(</a:t>
            </a:r>
            <a:r>
              <a:rPr lang="en-US" sz="2400" dirty="0" err="1" smtClean="0"/>
              <a:t>S</a:t>
            </a:r>
            <a:r>
              <a:rPr lang="en-US" sz="2400" baseline="-25000" dirty="0" err="1" smtClean="0"/>
              <a:t>i</a:t>
            </a:r>
            <a:r>
              <a:rPr lang="en-US" sz="2400" dirty="0" err="1" smtClean="0"/>
              <a:t>,r</a:t>
            </a:r>
            <a:r>
              <a:rPr lang="en-US" sz="2400" baseline="-25000" dirty="0" err="1" smtClean="0"/>
              <a:t>i</a:t>
            </a:r>
            <a:r>
              <a:rPr lang="en-US" sz="2400" dirty="0" smtClean="0"/>
              <a:t>) = K</a:t>
            </a:r>
            <a:r>
              <a:rPr lang="en-US" sz="2400" baseline="50000" dirty="0" smtClean="0"/>
              <a:t>-</a:t>
            </a:r>
            <a:r>
              <a:rPr lang="en-US" sz="2400" baseline="-25000" dirty="0" err="1" smtClean="0"/>
              <a:t>s</a:t>
            </a:r>
            <a:r>
              <a:rPr lang="en-US" sz="2400" baseline="-50000" dirty="0" err="1" smtClean="0"/>
              <a:t>i</a:t>
            </a:r>
            <a:r>
              <a:rPr lang="en-US" sz="2400" dirty="0" smtClean="0"/>
              <a:t>( md(</a:t>
            </a:r>
            <a:r>
              <a:rPr lang="en-US" sz="2400" dirty="0" err="1" smtClean="0"/>
              <a:t>r</a:t>
            </a:r>
            <a:r>
              <a:rPr lang="en-US" sz="2400" baseline="-25000" dirty="0" err="1" smtClean="0"/>
              <a:t>i</a:t>
            </a:r>
            <a:r>
              <a:rPr lang="en-US" sz="2400" dirty="0" smtClean="0"/>
              <a:t>) )</a:t>
            </a:r>
          </a:p>
          <a:p>
            <a:r>
              <a:rPr lang="en-US" dirty="0" smtClean="0"/>
              <a:t>For </a:t>
            </a:r>
            <a:r>
              <a:rPr lang="en-US" dirty="0"/>
              <a:t>each response, client computes </a:t>
            </a:r>
            <a:r>
              <a:rPr lang="en-US" dirty="0">
                <a:solidFill>
                  <a:schemeClr val="accent6"/>
                </a:solidFill>
              </a:rPr>
              <a:t>md</a:t>
            </a:r>
            <a:r>
              <a:rPr lang="en-US" baseline="-25000" dirty="0">
                <a:solidFill>
                  <a:schemeClr val="accent6"/>
                </a:solidFill>
              </a:rPr>
              <a:t>c </a:t>
            </a:r>
            <a:r>
              <a:rPr lang="en-US" dirty="0">
                <a:solidFill>
                  <a:schemeClr val="accent6"/>
                </a:solidFill>
              </a:rPr>
              <a:t>(</a:t>
            </a:r>
            <a:r>
              <a:rPr lang="en-US" dirty="0" err="1">
                <a:solidFill>
                  <a:schemeClr val="accent6"/>
                </a:solidFill>
              </a:rPr>
              <a:t>r</a:t>
            </a:r>
            <a:r>
              <a:rPr lang="en-US" baseline="-25000" dirty="0" err="1">
                <a:solidFill>
                  <a:schemeClr val="accent6"/>
                </a:solidFill>
              </a:rPr>
              <a:t>i</a:t>
            </a:r>
            <a:r>
              <a:rPr lang="en-US" dirty="0">
                <a:solidFill>
                  <a:schemeClr val="accent6"/>
                </a:solidFill>
              </a:rPr>
              <a:t>) = H(</a:t>
            </a:r>
            <a:r>
              <a:rPr lang="en-US" dirty="0" err="1">
                <a:solidFill>
                  <a:schemeClr val="accent6"/>
                </a:solidFill>
              </a:rPr>
              <a:t>r</a:t>
            </a:r>
            <a:r>
              <a:rPr lang="en-US" baseline="-25000" dirty="0" err="1">
                <a:solidFill>
                  <a:schemeClr val="accent6"/>
                </a:solidFill>
              </a:rPr>
              <a:t>i</a:t>
            </a:r>
            <a:r>
              <a:rPr lang="en-US" dirty="0">
                <a:solidFill>
                  <a:schemeClr val="accent6"/>
                </a:solidFill>
              </a:rPr>
              <a:t>)</a:t>
            </a:r>
          </a:p>
          <a:p>
            <a:r>
              <a:rPr lang="en-US" dirty="0" smtClean="0"/>
              <a:t>Hence, client has N triplets 	</a:t>
            </a:r>
            <a:r>
              <a:rPr lang="en-US" dirty="0" err="1" smtClean="0">
                <a:solidFill>
                  <a:schemeClr val="accent6"/>
                </a:solidFill>
              </a:rPr>
              <a:t>R</a:t>
            </a:r>
            <a:r>
              <a:rPr lang="en-US" baseline="-25000" dirty="0" err="1" smtClean="0">
                <a:solidFill>
                  <a:schemeClr val="accent6"/>
                </a:solidFill>
              </a:rPr>
              <a:t>i</a:t>
            </a:r>
            <a:r>
              <a:rPr lang="en-US" dirty="0" smtClean="0">
                <a:solidFill>
                  <a:schemeClr val="accent6"/>
                </a:solidFill>
              </a:rPr>
              <a:t> = </a:t>
            </a:r>
            <a:r>
              <a:rPr lang="en-US" b="1" dirty="0" smtClean="0">
                <a:solidFill>
                  <a:schemeClr val="accent6"/>
                </a:solidFill>
              </a:rPr>
              <a:t>&lt;</a:t>
            </a:r>
            <a:r>
              <a:rPr lang="en-US" dirty="0" smtClean="0">
                <a:solidFill>
                  <a:schemeClr val="accent6"/>
                </a:solidFill>
              </a:rPr>
              <a:t> </a:t>
            </a:r>
            <a:r>
              <a:rPr lang="en-US" dirty="0" err="1" smtClean="0">
                <a:solidFill>
                  <a:schemeClr val="accent6"/>
                </a:solidFill>
              </a:rPr>
              <a:t>r</a:t>
            </a:r>
            <a:r>
              <a:rPr lang="en-US" baseline="-25000" dirty="0" err="1" smtClean="0">
                <a:solidFill>
                  <a:schemeClr val="accent6"/>
                </a:solidFill>
              </a:rPr>
              <a:t>i</a:t>
            </a:r>
            <a:r>
              <a:rPr lang="en-US" baseline="-25000" dirty="0" smtClean="0">
                <a:solidFill>
                  <a:schemeClr val="accent6"/>
                </a:solidFill>
              </a:rPr>
              <a:t>,</a:t>
            </a:r>
            <a:r>
              <a:rPr lang="en-US" dirty="0" smtClean="0">
                <a:solidFill>
                  <a:schemeClr val="accent6"/>
                </a:solidFill>
              </a:rPr>
              <a:t> md</a:t>
            </a:r>
            <a:r>
              <a:rPr lang="en-US" baseline="-25000" dirty="0" smtClean="0">
                <a:solidFill>
                  <a:schemeClr val="accent6"/>
                </a:solidFill>
              </a:rPr>
              <a:t>c </a:t>
            </a:r>
            <a:r>
              <a:rPr lang="en-US" dirty="0" smtClean="0">
                <a:solidFill>
                  <a:schemeClr val="accent6"/>
                </a:solidFill>
              </a:rPr>
              <a:t>(</a:t>
            </a:r>
            <a:r>
              <a:rPr lang="en-US" dirty="0" err="1" smtClean="0">
                <a:solidFill>
                  <a:schemeClr val="accent6"/>
                </a:solidFill>
              </a:rPr>
              <a:t>r</a:t>
            </a:r>
            <a:r>
              <a:rPr lang="en-US" baseline="-25000" dirty="0" err="1" smtClean="0">
                <a:solidFill>
                  <a:schemeClr val="accent6"/>
                </a:solidFill>
              </a:rPr>
              <a:t>i</a:t>
            </a:r>
            <a:r>
              <a:rPr lang="en-US" dirty="0" smtClean="0">
                <a:solidFill>
                  <a:schemeClr val="accent6"/>
                </a:solidFill>
              </a:rPr>
              <a:t>), sig(</a:t>
            </a:r>
            <a:r>
              <a:rPr lang="en-US" dirty="0" err="1" smtClean="0">
                <a:solidFill>
                  <a:schemeClr val="accent6"/>
                </a:solidFill>
              </a:rPr>
              <a:t>S</a:t>
            </a:r>
            <a:r>
              <a:rPr lang="en-US" baseline="-25000" dirty="0" err="1" smtClean="0">
                <a:solidFill>
                  <a:schemeClr val="accent6"/>
                </a:solidFill>
              </a:rPr>
              <a:t>i</a:t>
            </a:r>
            <a:r>
              <a:rPr lang="en-US" dirty="0" err="1" smtClean="0">
                <a:solidFill>
                  <a:schemeClr val="accent6"/>
                </a:solidFill>
              </a:rPr>
              <a:t>,r</a:t>
            </a:r>
            <a:r>
              <a:rPr lang="en-US" baseline="-25000" dirty="0" err="1" smtClean="0">
                <a:solidFill>
                  <a:schemeClr val="accent6"/>
                </a:solidFill>
              </a:rPr>
              <a:t>i</a:t>
            </a:r>
            <a:r>
              <a:rPr lang="en-US" dirty="0" smtClean="0">
                <a:solidFill>
                  <a:schemeClr val="accent6"/>
                </a:solidFill>
              </a:rPr>
              <a:t>)</a:t>
            </a:r>
            <a:r>
              <a:rPr lang="en-US" b="1" dirty="0" smtClean="0">
                <a:solidFill>
                  <a:schemeClr val="accent6"/>
                </a:solidFill>
              </a:rPr>
              <a:t>&gt;</a:t>
            </a:r>
          </a:p>
          <a:p>
            <a:r>
              <a:rPr lang="en-US" dirty="0" smtClean="0"/>
              <a:t>Client takes c+1 combinations of triplets </a:t>
            </a:r>
          </a:p>
          <a:p>
            <a:r>
              <a:rPr lang="en-US" dirty="0" smtClean="0"/>
              <a:t>For each combination vector [R, R’ and R’’]</a:t>
            </a:r>
          </a:p>
          <a:p>
            <a:pPr lvl="1"/>
            <a:r>
              <a:rPr lang="en-US" sz="2400" dirty="0" smtClean="0"/>
              <a:t>Computes a create a single digest using</a:t>
            </a:r>
            <a:br>
              <a:rPr lang="en-US" sz="2400" dirty="0" smtClean="0"/>
            </a:br>
            <a:r>
              <a:rPr lang="en-US" sz="2400" dirty="0" smtClean="0"/>
              <a:t>a special decryption function D(V)</a:t>
            </a:r>
          </a:p>
          <a:p>
            <a:pPr marL="0" indent="0">
              <a:buFont typeface="Webdings" panose="05030102010509060703" pitchFamily="18" charset="2"/>
              <a:buNone/>
            </a:pPr>
            <a:r>
              <a:rPr lang="en-US" dirty="0" smtClean="0"/>
              <a:t>             d = D(V) = D(sig(</a:t>
            </a:r>
            <a:r>
              <a:rPr lang="en-US" dirty="0" err="1" smtClean="0"/>
              <a:t>S,r</a:t>
            </a:r>
            <a:r>
              <a:rPr lang="en-US" dirty="0" smtClean="0"/>
              <a:t>), sig(</a:t>
            </a:r>
            <a:r>
              <a:rPr lang="en-US" dirty="0" err="1" smtClean="0"/>
              <a:t>S’,r</a:t>
            </a:r>
            <a:r>
              <a:rPr lang="en-US" dirty="0" smtClean="0"/>
              <a:t>’),sig(</a:t>
            </a:r>
            <a:r>
              <a:rPr lang="en-US" dirty="0" err="1" smtClean="0"/>
              <a:t>S’’,r</a:t>
            </a:r>
            <a:r>
              <a:rPr lang="en-US" dirty="0" smtClean="0"/>
              <a:t>’’)</a:t>
            </a:r>
            <a:r>
              <a:rPr lang="en-US" b="1" dirty="0" smtClean="0"/>
              <a:t>)</a:t>
            </a:r>
          </a:p>
          <a:p>
            <a:pPr marL="0" indent="0">
              <a:buFont typeface="Webdings" panose="05030102010509060703" pitchFamily="18" charset="2"/>
              <a:buNone/>
            </a:pPr>
            <a:r>
              <a:rPr lang="en-US" dirty="0" smtClean="0"/>
              <a:t>	NOTE: d is a vector of responses</a:t>
            </a:r>
          </a:p>
          <a:p>
            <a:pPr lvl="1"/>
            <a:r>
              <a:rPr lang="en-US" sz="2400" dirty="0" smtClean="0"/>
              <a:t>If d[x] = respective md</a:t>
            </a:r>
            <a:r>
              <a:rPr lang="en-US" sz="2400" baseline="-25000" dirty="0" smtClean="0"/>
              <a:t>c </a:t>
            </a:r>
            <a:r>
              <a:rPr lang="en-US" sz="2400" dirty="0" smtClean="0"/>
              <a:t>(</a:t>
            </a:r>
            <a:r>
              <a:rPr lang="en-US" sz="2400" dirty="0" err="1" smtClean="0"/>
              <a:t>r</a:t>
            </a:r>
            <a:r>
              <a:rPr lang="en-US" sz="2400" baseline="-25000" dirty="0" err="1" smtClean="0"/>
              <a:t>i</a:t>
            </a:r>
            <a:r>
              <a:rPr lang="en-US" sz="2400" dirty="0" smtClean="0"/>
              <a:t>), then </a:t>
            </a:r>
            <a:r>
              <a:rPr lang="en-US" sz="2400" dirty="0" err="1" smtClean="0"/>
              <a:t>r</a:t>
            </a:r>
            <a:r>
              <a:rPr lang="en-US" sz="2400" baseline="-25000" dirty="0" err="1" smtClean="0"/>
              <a:t>i</a:t>
            </a:r>
            <a:r>
              <a:rPr lang="en-US" sz="2400" dirty="0" smtClean="0"/>
              <a:t> is correct</a:t>
            </a:r>
          </a:p>
        </p:txBody>
      </p:sp>
      <p:sp>
        <p:nvSpPr>
          <p:cNvPr id="6" name="Rectangle 5"/>
          <p:cNvSpPr/>
          <p:nvPr/>
        </p:nvSpPr>
        <p:spPr>
          <a:xfrm>
            <a:off x="8024597" y="1905634"/>
            <a:ext cx="457200" cy="381000"/>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t>S</a:t>
            </a:r>
            <a:r>
              <a:rPr lang="en-US" sz="2400" b="1" baseline="-25000" dirty="0" smtClean="0"/>
              <a:t>1</a:t>
            </a:r>
            <a:endParaRPr lang="en-US" sz="2400" b="1" baseline="-25000" dirty="0"/>
          </a:p>
        </p:txBody>
      </p:sp>
      <p:sp>
        <p:nvSpPr>
          <p:cNvPr id="7" name="Rectangle 6"/>
          <p:cNvSpPr/>
          <p:nvPr/>
        </p:nvSpPr>
        <p:spPr>
          <a:xfrm>
            <a:off x="8634197" y="1905634"/>
            <a:ext cx="457200" cy="381000"/>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t>S</a:t>
            </a:r>
            <a:r>
              <a:rPr lang="en-US" sz="2400" b="1" baseline="-25000" dirty="0"/>
              <a:t>2</a:t>
            </a:r>
          </a:p>
        </p:txBody>
      </p:sp>
      <p:sp>
        <p:nvSpPr>
          <p:cNvPr id="8" name="Rectangle 7"/>
          <p:cNvSpPr/>
          <p:nvPr/>
        </p:nvSpPr>
        <p:spPr>
          <a:xfrm>
            <a:off x="9243797" y="1905634"/>
            <a:ext cx="457200" cy="381000"/>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t>S</a:t>
            </a:r>
            <a:r>
              <a:rPr lang="en-US" sz="2400" b="1" baseline="-25000" dirty="0"/>
              <a:t>3</a:t>
            </a:r>
          </a:p>
        </p:txBody>
      </p:sp>
      <p:sp>
        <p:nvSpPr>
          <p:cNvPr id="9" name="Rectangle 8"/>
          <p:cNvSpPr/>
          <p:nvPr/>
        </p:nvSpPr>
        <p:spPr>
          <a:xfrm>
            <a:off x="9853397" y="1905634"/>
            <a:ext cx="457200" cy="381000"/>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t>S</a:t>
            </a:r>
            <a:r>
              <a:rPr lang="en-US" sz="2400" b="1" baseline="-25000" dirty="0"/>
              <a:t>4</a:t>
            </a:r>
          </a:p>
        </p:txBody>
      </p:sp>
      <p:sp>
        <p:nvSpPr>
          <p:cNvPr id="10" name="Rectangle 9"/>
          <p:cNvSpPr/>
          <p:nvPr/>
        </p:nvSpPr>
        <p:spPr>
          <a:xfrm>
            <a:off x="10462997" y="1905634"/>
            <a:ext cx="457200" cy="381000"/>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smtClean="0"/>
              <a:t>S</a:t>
            </a:r>
            <a:r>
              <a:rPr lang="en-US" sz="2400" b="1" baseline="-25000" dirty="0"/>
              <a:t>5</a:t>
            </a:r>
          </a:p>
        </p:txBody>
      </p:sp>
      <p:sp>
        <p:nvSpPr>
          <p:cNvPr id="11" name="Rectangle 10"/>
          <p:cNvSpPr/>
          <p:nvPr/>
        </p:nvSpPr>
        <p:spPr>
          <a:xfrm>
            <a:off x="8024597" y="1257934"/>
            <a:ext cx="2895600" cy="381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smtClean="0"/>
              <a:t>Parameters: N=5; c=2</a:t>
            </a:r>
            <a:endParaRPr lang="en-US" sz="2400" dirty="0"/>
          </a:p>
        </p:txBody>
      </p:sp>
      <p:cxnSp>
        <p:nvCxnSpPr>
          <p:cNvPr id="12" name="Straight Arrow Connector 11"/>
          <p:cNvCxnSpPr>
            <a:stCxn id="6" idx="2"/>
          </p:cNvCxnSpPr>
          <p:nvPr/>
        </p:nvCxnSpPr>
        <p:spPr>
          <a:xfrm>
            <a:off x="8253197" y="2286634"/>
            <a:ext cx="933450" cy="60960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7" idx="2"/>
          </p:cNvCxnSpPr>
          <p:nvPr/>
        </p:nvCxnSpPr>
        <p:spPr>
          <a:xfrm>
            <a:off x="8862797" y="2286634"/>
            <a:ext cx="533400" cy="60960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8" idx="2"/>
            <a:endCxn id="4" idx="0"/>
          </p:cNvCxnSpPr>
          <p:nvPr/>
        </p:nvCxnSpPr>
        <p:spPr>
          <a:xfrm>
            <a:off x="9472397" y="2286634"/>
            <a:ext cx="38100" cy="60960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9" idx="2"/>
          </p:cNvCxnSpPr>
          <p:nvPr/>
        </p:nvCxnSpPr>
        <p:spPr>
          <a:xfrm flipH="1">
            <a:off x="9662897" y="2286634"/>
            <a:ext cx="419100" cy="60960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10" idx="2"/>
          </p:cNvCxnSpPr>
          <p:nvPr/>
        </p:nvCxnSpPr>
        <p:spPr>
          <a:xfrm flipH="1">
            <a:off x="9872447" y="2286634"/>
            <a:ext cx="819150" cy="60960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7928050" y="2933942"/>
            <a:ext cx="706147" cy="246221"/>
          </a:xfrm>
          <a:prstGeom prst="rect">
            <a:avLst/>
          </a:prstGeom>
          <a:ln w="3175">
            <a:solidFill>
              <a:schemeClr val="tx1"/>
            </a:solidFill>
          </a:ln>
        </p:spPr>
        <p:txBody>
          <a:bodyPr wrap="square">
            <a:spAutoFit/>
          </a:bodyPr>
          <a:lstStyle/>
          <a:p>
            <a:pPr algn="ctr"/>
            <a:r>
              <a:rPr lang="en-US" sz="1000" dirty="0" smtClean="0"/>
              <a:t>sig(S</a:t>
            </a:r>
            <a:r>
              <a:rPr lang="en-US" sz="1000" baseline="-25000" dirty="0" smtClean="0"/>
              <a:t>1</a:t>
            </a:r>
            <a:r>
              <a:rPr lang="en-US" sz="1000" dirty="0" smtClean="0"/>
              <a:t>,r</a:t>
            </a:r>
            <a:r>
              <a:rPr lang="en-US" sz="1000" baseline="-25000" dirty="0"/>
              <a:t>1</a:t>
            </a:r>
            <a:r>
              <a:rPr lang="en-US" sz="1000" dirty="0" smtClean="0"/>
              <a:t>)</a:t>
            </a:r>
            <a:endParaRPr lang="en-US" sz="1000" dirty="0"/>
          </a:p>
        </p:txBody>
      </p:sp>
      <p:sp>
        <p:nvSpPr>
          <p:cNvPr id="18" name="Rectangle 17"/>
          <p:cNvSpPr/>
          <p:nvPr/>
        </p:nvSpPr>
        <p:spPr>
          <a:xfrm>
            <a:off x="7928049" y="3179708"/>
            <a:ext cx="706147" cy="246221"/>
          </a:xfrm>
          <a:prstGeom prst="rect">
            <a:avLst/>
          </a:prstGeom>
          <a:ln w="3175">
            <a:solidFill>
              <a:schemeClr val="tx1"/>
            </a:solidFill>
          </a:ln>
        </p:spPr>
        <p:txBody>
          <a:bodyPr wrap="square">
            <a:spAutoFit/>
          </a:bodyPr>
          <a:lstStyle/>
          <a:p>
            <a:pPr algn="ctr"/>
            <a:r>
              <a:rPr lang="en-US" sz="1000" dirty="0" smtClean="0"/>
              <a:t>sig(S</a:t>
            </a:r>
            <a:r>
              <a:rPr lang="en-US" sz="1000" baseline="-25000" dirty="0"/>
              <a:t>2</a:t>
            </a:r>
            <a:r>
              <a:rPr lang="en-US" sz="1000" dirty="0" smtClean="0"/>
              <a:t>,r</a:t>
            </a:r>
            <a:r>
              <a:rPr lang="en-US" sz="1000" baseline="-25000" dirty="0" smtClean="0"/>
              <a:t>2</a:t>
            </a:r>
            <a:r>
              <a:rPr lang="en-US" sz="1000" dirty="0" smtClean="0"/>
              <a:t>)</a:t>
            </a:r>
            <a:endParaRPr lang="en-US" sz="1000" dirty="0"/>
          </a:p>
        </p:txBody>
      </p:sp>
      <p:sp>
        <p:nvSpPr>
          <p:cNvPr id="19" name="Rectangle 18"/>
          <p:cNvSpPr/>
          <p:nvPr/>
        </p:nvSpPr>
        <p:spPr>
          <a:xfrm>
            <a:off x="7928050" y="3425929"/>
            <a:ext cx="706147" cy="246221"/>
          </a:xfrm>
          <a:prstGeom prst="rect">
            <a:avLst/>
          </a:prstGeom>
          <a:ln w="3175">
            <a:solidFill>
              <a:schemeClr val="tx1"/>
            </a:solidFill>
          </a:ln>
        </p:spPr>
        <p:txBody>
          <a:bodyPr wrap="square">
            <a:spAutoFit/>
          </a:bodyPr>
          <a:lstStyle/>
          <a:p>
            <a:pPr algn="ctr"/>
            <a:r>
              <a:rPr lang="en-US" sz="1000" dirty="0" smtClean="0"/>
              <a:t>sig(S</a:t>
            </a:r>
            <a:r>
              <a:rPr lang="en-US" sz="1000" baseline="-25000" dirty="0" smtClean="0"/>
              <a:t>3</a:t>
            </a:r>
            <a:r>
              <a:rPr lang="en-US" sz="1000" dirty="0" smtClean="0"/>
              <a:t>,r</a:t>
            </a:r>
            <a:r>
              <a:rPr lang="en-US" sz="1000" baseline="-25000" dirty="0" smtClean="0"/>
              <a:t>3</a:t>
            </a:r>
            <a:r>
              <a:rPr lang="en-US" sz="1000" dirty="0" smtClean="0"/>
              <a:t>)</a:t>
            </a:r>
            <a:endParaRPr lang="en-US" sz="1000" dirty="0"/>
          </a:p>
        </p:txBody>
      </p:sp>
      <p:sp>
        <p:nvSpPr>
          <p:cNvPr id="20" name="Rectangle 19"/>
          <p:cNvSpPr/>
          <p:nvPr/>
        </p:nvSpPr>
        <p:spPr>
          <a:xfrm>
            <a:off x="7928050" y="3672150"/>
            <a:ext cx="706147" cy="246221"/>
          </a:xfrm>
          <a:prstGeom prst="rect">
            <a:avLst/>
          </a:prstGeom>
          <a:ln w="3175">
            <a:solidFill>
              <a:schemeClr val="tx1"/>
            </a:solidFill>
          </a:ln>
        </p:spPr>
        <p:txBody>
          <a:bodyPr wrap="square">
            <a:spAutoFit/>
          </a:bodyPr>
          <a:lstStyle/>
          <a:p>
            <a:pPr algn="ctr"/>
            <a:r>
              <a:rPr lang="en-US" sz="1000" dirty="0" smtClean="0"/>
              <a:t>sig(S</a:t>
            </a:r>
            <a:r>
              <a:rPr lang="en-US" sz="1000" baseline="-25000" dirty="0" smtClean="0"/>
              <a:t>4</a:t>
            </a:r>
            <a:r>
              <a:rPr lang="en-US" sz="1000" dirty="0" smtClean="0"/>
              <a:t>,r</a:t>
            </a:r>
            <a:r>
              <a:rPr lang="en-US" sz="1000" baseline="-25000" dirty="0"/>
              <a:t>4</a:t>
            </a:r>
            <a:r>
              <a:rPr lang="en-US" sz="1000" dirty="0" smtClean="0"/>
              <a:t>)</a:t>
            </a:r>
            <a:endParaRPr lang="en-US" sz="1000" dirty="0"/>
          </a:p>
        </p:txBody>
      </p:sp>
      <p:sp>
        <p:nvSpPr>
          <p:cNvPr id="21" name="Rectangle 20"/>
          <p:cNvSpPr/>
          <p:nvPr/>
        </p:nvSpPr>
        <p:spPr>
          <a:xfrm>
            <a:off x="7928050" y="3918371"/>
            <a:ext cx="706147" cy="246221"/>
          </a:xfrm>
          <a:prstGeom prst="rect">
            <a:avLst/>
          </a:prstGeom>
          <a:ln w="3175">
            <a:solidFill>
              <a:schemeClr val="tx1"/>
            </a:solidFill>
          </a:ln>
        </p:spPr>
        <p:txBody>
          <a:bodyPr wrap="square">
            <a:spAutoFit/>
          </a:bodyPr>
          <a:lstStyle/>
          <a:p>
            <a:pPr algn="ctr"/>
            <a:r>
              <a:rPr lang="en-US" sz="1000" dirty="0" smtClean="0"/>
              <a:t>sig(S</a:t>
            </a:r>
            <a:r>
              <a:rPr lang="en-US" sz="1000" baseline="-25000" dirty="0" smtClean="0"/>
              <a:t>5</a:t>
            </a:r>
            <a:r>
              <a:rPr lang="en-US" sz="1000" dirty="0" smtClean="0"/>
              <a:t>,r</a:t>
            </a:r>
            <a:r>
              <a:rPr lang="en-US" sz="1000" baseline="-25000" dirty="0"/>
              <a:t>5</a:t>
            </a:r>
            <a:r>
              <a:rPr lang="en-US" sz="1000" dirty="0" smtClean="0"/>
              <a:t>)</a:t>
            </a:r>
            <a:endParaRPr lang="en-US" sz="1000" dirty="0"/>
          </a:p>
        </p:txBody>
      </p:sp>
      <p:sp>
        <p:nvSpPr>
          <p:cNvPr id="22" name="Rectangle 21"/>
          <p:cNvSpPr/>
          <p:nvPr/>
        </p:nvSpPr>
        <p:spPr>
          <a:xfrm>
            <a:off x="10786652" y="2926532"/>
            <a:ext cx="304800" cy="246221"/>
          </a:xfrm>
          <a:prstGeom prst="rect">
            <a:avLst/>
          </a:prstGeom>
          <a:ln w="3175">
            <a:solidFill>
              <a:schemeClr val="tx1"/>
            </a:solidFill>
          </a:ln>
        </p:spPr>
        <p:txBody>
          <a:bodyPr wrap="square">
            <a:spAutoFit/>
          </a:bodyPr>
          <a:lstStyle/>
          <a:p>
            <a:pPr algn="ctr"/>
            <a:r>
              <a:rPr lang="en-US" sz="1000" dirty="0" smtClean="0"/>
              <a:t>r</a:t>
            </a:r>
            <a:r>
              <a:rPr lang="en-US" sz="1000" baseline="-25000" dirty="0" smtClean="0"/>
              <a:t>1</a:t>
            </a:r>
            <a:endParaRPr lang="en-US" sz="1000" dirty="0"/>
          </a:p>
        </p:txBody>
      </p:sp>
      <p:sp>
        <p:nvSpPr>
          <p:cNvPr id="23" name="Rectangle 22"/>
          <p:cNvSpPr/>
          <p:nvPr/>
        </p:nvSpPr>
        <p:spPr>
          <a:xfrm>
            <a:off x="10786651" y="3172249"/>
            <a:ext cx="304800" cy="246221"/>
          </a:xfrm>
          <a:prstGeom prst="rect">
            <a:avLst/>
          </a:prstGeom>
          <a:ln w="3175">
            <a:solidFill>
              <a:schemeClr val="tx1"/>
            </a:solidFill>
          </a:ln>
        </p:spPr>
        <p:txBody>
          <a:bodyPr wrap="square">
            <a:spAutoFit/>
          </a:bodyPr>
          <a:lstStyle/>
          <a:p>
            <a:pPr algn="ctr"/>
            <a:r>
              <a:rPr lang="en-US" sz="1000" dirty="0" smtClean="0"/>
              <a:t>r</a:t>
            </a:r>
            <a:r>
              <a:rPr lang="en-US" sz="1000" baseline="-25000" dirty="0" smtClean="0"/>
              <a:t>2</a:t>
            </a:r>
            <a:endParaRPr lang="en-US" sz="1000" dirty="0"/>
          </a:p>
        </p:txBody>
      </p:sp>
      <p:sp>
        <p:nvSpPr>
          <p:cNvPr id="24" name="Rectangle 23"/>
          <p:cNvSpPr/>
          <p:nvPr/>
        </p:nvSpPr>
        <p:spPr>
          <a:xfrm>
            <a:off x="10786652" y="3418470"/>
            <a:ext cx="304800" cy="246221"/>
          </a:xfrm>
          <a:prstGeom prst="rect">
            <a:avLst/>
          </a:prstGeom>
          <a:ln w="3175">
            <a:solidFill>
              <a:schemeClr val="tx1"/>
            </a:solidFill>
          </a:ln>
        </p:spPr>
        <p:txBody>
          <a:bodyPr wrap="square">
            <a:spAutoFit/>
          </a:bodyPr>
          <a:lstStyle/>
          <a:p>
            <a:pPr algn="ctr"/>
            <a:r>
              <a:rPr lang="en-US" sz="1000" dirty="0" smtClean="0"/>
              <a:t>r</a:t>
            </a:r>
            <a:r>
              <a:rPr lang="en-US" sz="1000" baseline="-25000" dirty="0" smtClean="0"/>
              <a:t>3</a:t>
            </a:r>
            <a:endParaRPr lang="en-US" sz="1000" dirty="0"/>
          </a:p>
        </p:txBody>
      </p:sp>
      <p:sp>
        <p:nvSpPr>
          <p:cNvPr id="25" name="Rectangle 24"/>
          <p:cNvSpPr/>
          <p:nvPr/>
        </p:nvSpPr>
        <p:spPr>
          <a:xfrm>
            <a:off x="10786652" y="3664691"/>
            <a:ext cx="304800" cy="246221"/>
          </a:xfrm>
          <a:prstGeom prst="rect">
            <a:avLst/>
          </a:prstGeom>
          <a:ln w="3175">
            <a:solidFill>
              <a:schemeClr val="tx1"/>
            </a:solidFill>
          </a:ln>
        </p:spPr>
        <p:txBody>
          <a:bodyPr wrap="square">
            <a:spAutoFit/>
          </a:bodyPr>
          <a:lstStyle/>
          <a:p>
            <a:pPr algn="ctr"/>
            <a:r>
              <a:rPr lang="en-US" sz="1000" dirty="0" smtClean="0"/>
              <a:t>r</a:t>
            </a:r>
            <a:r>
              <a:rPr lang="en-US" sz="1000" baseline="-25000" dirty="0" smtClean="0"/>
              <a:t>4</a:t>
            </a:r>
            <a:endParaRPr lang="en-US" sz="1000" dirty="0"/>
          </a:p>
        </p:txBody>
      </p:sp>
      <p:sp>
        <p:nvSpPr>
          <p:cNvPr id="26" name="Rectangle 25"/>
          <p:cNvSpPr/>
          <p:nvPr/>
        </p:nvSpPr>
        <p:spPr>
          <a:xfrm>
            <a:off x="10786652" y="3910912"/>
            <a:ext cx="304800" cy="246221"/>
          </a:xfrm>
          <a:prstGeom prst="rect">
            <a:avLst/>
          </a:prstGeom>
          <a:ln w="3175">
            <a:solidFill>
              <a:schemeClr val="tx1"/>
            </a:solidFill>
          </a:ln>
        </p:spPr>
        <p:txBody>
          <a:bodyPr wrap="square">
            <a:spAutoFit/>
          </a:bodyPr>
          <a:lstStyle/>
          <a:p>
            <a:pPr algn="ctr"/>
            <a:r>
              <a:rPr lang="en-US" sz="1000" dirty="0" smtClean="0"/>
              <a:t>r</a:t>
            </a:r>
            <a:r>
              <a:rPr lang="en-US" sz="1000" baseline="-25000" dirty="0" smtClean="0"/>
              <a:t>5</a:t>
            </a:r>
            <a:endParaRPr lang="en-US" sz="1000" dirty="0"/>
          </a:p>
        </p:txBody>
      </p:sp>
      <p:cxnSp>
        <p:nvCxnSpPr>
          <p:cNvPr id="27" name="Straight Connector 26"/>
          <p:cNvCxnSpPr/>
          <p:nvPr/>
        </p:nvCxnSpPr>
        <p:spPr>
          <a:xfrm>
            <a:off x="8719922" y="2933942"/>
            <a:ext cx="0" cy="133389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7928050" y="4258407"/>
            <a:ext cx="79187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8176997" y="4344426"/>
            <a:ext cx="0" cy="190500"/>
          </a:xfrm>
          <a:prstGeom prst="line">
            <a:avLst/>
          </a:prstGeom>
          <a:ln w="127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8329397" y="4344426"/>
            <a:ext cx="0" cy="190500"/>
          </a:xfrm>
          <a:prstGeom prst="line">
            <a:avLst/>
          </a:prstGeom>
          <a:ln w="127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8481797" y="4344034"/>
            <a:ext cx="0" cy="190500"/>
          </a:xfrm>
          <a:prstGeom prst="line">
            <a:avLst/>
          </a:prstGeom>
          <a:ln w="127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2" name="Rectangle 31"/>
          <p:cNvSpPr/>
          <p:nvPr/>
        </p:nvSpPr>
        <p:spPr>
          <a:xfrm>
            <a:off x="7928051" y="4534926"/>
            <a:ext cx="791872" cy="418708"/>
          </a:xfrm>
          <a:prstGeom prst="rect">
            <a:avLst/>
          </a:prstGeom>
          <a:ln w="12700"/>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smtClean="0"/>
              <a:t>D(V)</a:t>
            </a:r>
            <a:endParaRPr lang="en-US" sz="2000" b="1" dirty="0"/>
          </a:p>
        </p:txBody>
      </p:sp>
      <p:sp>
        <p:nvSpPr>
          <p:cNvPr id="33" name="Rectangle 32"/>
          <p:cNvSpPr/>
          <p:nvPr/>
        </p:nvSpPr>
        <p:spPr>
          <a:xfrm>
            <a:off x="9891105" y="3384069"/>
            <a:ext cx="598018" cy="403732"/>
          </a:xfrm>
          <a:prstGeom prst="rect">
            <a:avLst/>
          </a:prstGeom>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600" b="1" dirty="0" smtClean="0">
                <a:solidFill>
                  <a:srgbClr val="0E3755"/>
                </a:solidFill>
              </a:rPr>
              <a:t>Hash</a:t>
            </a:r>
            <a:endParaRPr lang="en-US" sz="1600" b="1" dirty="0">
              <a:solidFill>
                <a:srgbClr val="0E3755"/>
              </a:solidFill>
            </a:endParaRPr>
          </a:p>
        </p:txBody>
      </p:sp>
      <p:sp>
        <p:nvSpPr>
          <p:cNvPr id="34" name="Rectangle 33"/>
          <p:cNvSpPr/>
          <p:nvPr/>
        </p:nvSpPr>
        <p:spPr>
          <a:xfrm>
            <a:off x="10386797" y="4483949"/>
            <a:ext cx="609600" cy="246221"/>
          </a:xfrm>
          <a:prstGeom prst="rect">
            <a:avLst/>
          </a:prstGeom>
          <a:ln w="3175">
            <a:solidFill>
              <a:schemeClr val="tx1"/>
            </a:solidFill>
          </a:ln>
        </p:spPr>
        <p:txBody>
          <a:bodyPr wrap="square">
            <a:spAutoFit/>
          </a:bodyPr>
          <a:lstStyle/>
          <a:p>
            <a:pPr algn="ctr"/>
            <a:r>
              <a:rPr lang="en-US" sz="1000" dirty="0" err="1" smtClean="0"/>
              <a:t>md</a:t>
            </a:r>
            <a:r>
              <a:rPr lang="en-US" sz="1000" baseline="-25000" dirty="0" err="1" smtClean="0"/>
              <a:t>c</a:t>
            </a:r>
            <a:r>
              <a:rPr lang="en-US" sz="1000" baseline="-25000" dirty="0" smtClean="0"/>
              <a:t> </a:t>
            </a:r>
            <a:r>
              <a:rPr lang="en-US" sz="1000" dirty="0" smtClean="0"/>
              <a:t>(r</a:t>
            </a:r>
            <a:r>
              <a:rPr lang="en-US" sz="1000" baseline="-25000" dirty="0" smtClean="0"/>
              <a:t>1</a:t>
            </a:r>
            <a:r>
              <a:rPr lang="en-US" sz="1000" dirty="0" smtClean="0"/>
              <a:t>)</a:t>
            </a:r>
            <a:endParaRPr lang="en-US" sz="1000" dirty="0"/>
          </a:p>
        </p:txBody>
      </p:sp>
      <p:sp>
        <p:nvSpPr>
          <p:cNvPr id="35" name="Rectangle 34"/>
          <p:cNvSpPr/>
          <p:nvPr/>
        </p:nvSpPr>
        <p:spPr>
          <a:xfrm>
            <a:off x="10389929" y="4730750"/>
            <a:ext cx="605682" cy="246221"/>
          </a:xfrm>
          <a:prstGeom prst="rect">
            <a:avLst/>
          </a:prstGeom>
          <a:ln w="3175">
            <a:solidFill>
              <a:schemeClr val="tx1"/>
            </a:solidFill>
          </a:ln>
        </p:spPr>
        <p:txBody>
          <a:bodyPr wrap="square">
            <a:spAutoFit/>
          </a:bodyPr>
          <a:lstStyle/>
          <a:p>
            <a:pPr algn="ctr"/>
            <a:r>
              <a:rPr lang="en-US" sz="1000" dirty="0" err="1" smtClean="0"/>
              <a:t>md</a:t>
            </a:r>
            <a:r>
              <a:rPr lang="en-US" sz="1000" baseline="-25000" dirty="0" err="1" smtClean="0"/>
              <a:t>c</a:t>
            </a:r>
            <a:r>
              <a:rPr lang="en-US" sz="1000" baseline="-25000" dirty="0" smtClean="0"/>
              <a:t> </a:t>
            </a:r>
            <a:r>
              <a:rPr lang="en-US" sz="1000" dirty="0" smtClean="0"/>
              <a:t>(r</a:t>
            </a:r>
            <a:r>
              <a:rPr lang="en-US" sz="1000" baseline="-25000" dirty="0"/>
              <a:t>2</a:t>
            </a:r>
            <a:r>
              <a:rPr lang="en-US" sz="1000" dirty="0" smtClean="0"/>
              <a:t>)</a:t>
            </a:r>
            <a:endParaRPr lang="en-US" sz="1000" dirty="0"/>
          </a:p>
        </p:txBody>
      </p:sp>
      <p:sp>
        <p:nvSpPr>
          <p:cNvPr id="36" name="Rectangle 35"/>
          <p:cNvSpPr/>
          <p:nvPr/>
        </p:nvSpPr>
        <p:spPr>
          <a:xfrm>
            <a:off x="10386011" y="4976971"/>
            <a:ext cx="609600" cy="246221"/>
          </a:xfrm>
          <a:prstGeom prst="rect">
            <a:avLst/>
          </a:prstGeom>
          <a:ln w="3175">
            <a:solidFill>
              <a:schemeClr val="tx1"/>
            </a:solidFill>
          </a:ln>
        </p:spPr>
        <p:txBody>
          <a:bodyPr wrap="square">
            <a:spAutoFit/>
          </a:bodyPr>
          <a:lstStyle/>
          <a:p>
            <a:pPr algn="ctr"/>
            <a:r>
              <a:rPr lang="en-US" sz="1000" dirty="0" err="1" smtClean="0"/>
              <a:t>md</a:t>
            </a:r>
            <a:r>
              <a:rPr lang="en-US" sz="1000" baseline="-25000" dirty="0" err="1" smtClean="0"/>
              <a:t>c</a:t>
            </a:r>
            <a:r>
              <a:rPr lang="en-US" sz="1000" baseline="-25000" dirty="0" smtClean="0"/>
              <a:t> </a:t>
            </a:r>
            <a:r>
              <a:rPr lang="en-US" sz="1000" dirty="0" smtClean="0"/>
              <a:t>(r</a:t>
            </a:r>
            <a:r>
              <a:rPr lang="en-US" sz="1000" baseline="-25000" dirty="0"/>
              <a:t>3</a:t>
            </a:r>
            <a:r>
              <a:rPr lang="en-US" sz="1000" dirty="0" smtClean="0"/>
              <a:t>)</a:t>
            </a:r>
            <a:endParaRPr lang="en-US" sz="1000" dirty="0"/>
          </a:p>
        </p:txBody>
      </p:sp>
      <p:sp>
        <p:nvSpPr>
          <p:cNvPr id="37" name="Rectangle 36"/>
          <p:cNvSpPr/>
          <p:nvPr/>
        </p:nvSpPr>
        <p:spPr>
          <a:xfrm>
            <a:off x="10389930" y="5223192"/>
            <a:ext cx="605681" cy="246221"/>
          </a:xfrm>
          <a:prstGeom prst="rect">
            <a:avLst/>
          </a:prstGeom>
          <a:ln w="3175">
            <a:solidFill>
              <a:schemeClr val="tx1"/>
            </a:solidFill>
          </a:ln>
        </p:spPr>
        <p:txBody>
          <a:bodyPr wrap="square">
            <a:spAutoFit/>
          </a:bodyPr>
          <a:lstStyle/>
          <a:p>
            <a:pPr algn="ctr"/>
            <a:r>
              <a:rPr lang="en-US" sz="1000" dirty="0" err="1" smtClean="0"/>
              <a:t>md</a:t>
            </a:r>
            <a:r>
              <a:rPr lang="en-US" sz="1000" baseline="-25000" dirty="0" err="1" smtClean="0"/>
              <a:t>c</a:t>
            </a:r>
            <a:r>
              <a:rPr lang="en-US" sz="1000" baseline="-25000" dirty="0" smtClean="0"/>
              <a:t> </a:t>
            </a:r>
            <a:r>
              <a:rPr lang="en-US" sz="1000" dirty="0" smtClean="0"/>
              <a:t>(r</a:t>
            </a:r>
            <a:r>
              <a:rPr lang="en-US" sz="1000" baseline="-25000" dirty="0"/>
              <a:t>4</a:t>
            </a:r>
            <a:r>
              <a:rPr lang="en-US" sz="1000" dirty="0" smtClean="0"/>
              <a:t>)</a:t>
            </a:r>
            <a:endParaRPr lang="en-US" sz="1000" dirty="0"/>
          </a:p>
        </p:txBody>
      </p:sp>
      <p:sp>
        <p:nvSpPr>
          <p:cNvPr id="38" name="Rectangle 37"/>
          <p:cNvSpPr/>
          <p:nvPr/>
        </p:nvSpPr>
        <p:spPr>
          <a:xfrm>
            <a:off x="10386797" y="5469413"/>
            <a:ext cx="609600" cy="246221"/>
          </a:xfrm>
          <a:prstGeom prst="rect">
            <a:avLst/>
          </a:prstGeom>
          <a:ln w="3175">
            <a:solidFill>
              <a:schemeClr val="tx1"/>
            </a:solidFill>
          </a:ln>
        </p:spPr>
        <p:txBody>
          <a:bodyPr wrap="square">
            <a:spAutoFit/>
          </a:bodyPr>
          <a:lstStyle/>
          <a:p>
            <a:pPr algn="ctr"/>
            <a:r>
              <a:rPr lang="en-US" sz="1000" dirty="0" err="1" smtClean="0"/>
              <a:t>md</a:t>
            </a:r>
            <a:r>
              <a:rPr lang="en-US" sz="1000" baseline="-25000" dirty="0" err="1" smtClean="0"/>
              <a:t>c</a:t>
            </a:r>
            <a:r>
              <a:rPr lang="en-US" sz="1000" baseline="-25000" dirty="0" smtClean="0"/>
              <a:t> </a:t>
            </a:r>
            <a:r>
              <a:rPr lang="en-US" sz="1000" dirty="0" smtClean="0"/>
              <a:t>(r</a:t>
            </a:r>
            <a:r>
              <a:rPr lang="en-US" sz="1000" baseline="-25000" dirty="0"/>
              <a:t>5</a:t>
            </a:r>
            <a:r>
              <a:rPr lang="en-US" sz="1000" dirty="0" smtClean="0"/>
              <a:t>)</a:t>
            </a:r>
            <a:endParaRPr lang="en-US" sz="1000" dirty="0"/>
          </a:p>
        </p:txBody>
      </p:sp>
      <p:cxnSp>
        <p:nvCxnSpPr>
          <p:cNvPr id="39" name="Straight Connector 38"/>
          <p:cNvCxnSpPr/>
          <p:nvPr/>
        </p:nvCxnSpPr>
        <p:spPr>
          <a:xfrm>
            <a:off x="8719923" y="4877101"/>
            <a:ext cx="219074" cy="0"/>
          </a:xfrm>
          <a:prstGeom prst="line">
            <a:avLst/>
          </a:prstGeom>
          <a:ln w="127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8719923" y="4620894"/>
            <a:ext cx="219074" cy="1"/>
          </a:xfrm>
          <a:prstGeom prst="line">
            <a:avLst/>
          </a:prstGeom>
          <a:ln w="127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a:stCxn id="32" idx="3"/>
          </p:cNvCxnSpPr>
          <p:nvPr/>
        </p:nvCxnSpPr>
        <p:spPr>
          <a:xfrm>
            <a:off x="8719923" y="4744280"/>
            <a:ext cx="219074" cy="0"/>
          </a:xfrm>
          <a:prstGeom prst="line">
            <a:avLst/>
          </a:prstGeom>
          <a:ln w="127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10215543" y="4420234"/>
            <a:ext cx="0" cy="1295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flipH="1">
            <a:off x="10005797" y="4600915"/>
            <a:ext cx="209746" cy="1517"/>
          </a:xfrm>
          <a:prstGeom prst="line">
            <a:avLst/>
          </a:prstGeom>
          <a:ln w="127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flipH="1">
            <a:off x="10005797" y="4877434"/>
            <a:ext cx="209746" cy="1517"/>
          </a:xfrm>
          <a:prstGeom prst="line">
            <a:avLst/>
          </a:prstGeom>
          <a:ln w="127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H="1">
            <a:off x="10005797" y="4743888"/>
            <a:ext cx="209746" cy="1517"/>
          </a:xfrm>
          <a:prstGeom prst="line">
            <a:avLst/>
          </a:prstGeom>
          <a:ln w="127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6" name="Rectangle 45"/>
          <p:cNvSpPr/>
          <p:nvPr/>
        </p:nvSpPr>
        <p:spPr>
          <a:xfrm>
            <a:off x="9114561" y="4545139"/>
            <a:ext cx="891236" cy="418708"/>
          </a:xfrm>
          <a:prstGeom prst="rect">
            <a:avLst/>
          </a:prstGeom>
          <a:ln w="12700"/>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b="1" dirty="0" smtClean="0"/>
              <a:t>d=md(r)</a:t>
            </a:r>
            <a:endParaRPr lang="en-US" sz="1600" b="1" dirty="0"/>
          </a:p>
        </p:txBody>
      </p:sp>
      <p:cxnSp>
        <p:nvCxnSpPr>
          <p:cNvPr id="47" name="Straight Arrow Connector 46"/>
          <p:cNvCxnSpPr>
            <a:stCxn id="46" idx="2"/>
            <a:endCxn id="48" idx="0"/>
          </p:cNvCxnSpPr>
          <p:nvPr/>
        </p:nvCxnSpPr>
        <p:spPr>
          <a:xfrm>
            <a:off x="9560179" y="4963847"/>
            <a:ext cx="0" cy="45417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8" name="Rectangle 47"/>
          <p:cNvSpPr/>
          <p:nvPr/>
        </p:nvSpPr>
        <p:spPr>
          <a:xfrm>
            <a:off x="9164243" y="5418020"/>
            <a:ext cx="791872" cy="297614"/>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600" b="1" dirty="0" smtClean="0"/>
              <a:t>r is OK</a:t>
            </a:r>
            <a:endParaRPr lang="en-US" sz="1600" b="1" dirty="0"/>
          </a:p>
        </p:txBody>
      </p:sp>
      <p:sp>
        <p:nvSpPr>
          <p:cNvPr id="49" name="TextBox 48"/>
          <p:cNvSpPr txBox="1"/>
          <p:nvPr/>
        </p:nvSpPr>
        <p:spPr>
          <a:xfrm>
            <a:off x="8938997" y="5080718"/>
            <a:ext cx="512189" cy="307777"/>
          </a:xfrm>
          <a:prstGeom prst="rect">
            <a:avLst/>
          </a:prstGeom>
          <a:solidFill>
            <a:srgbClr val="00B050"/>
          </a:solidFill>
        </p:spPr>
        <p:txBody>
          <a:bodyPr wrap="square" rtlCol="0">
            <a:spAutoFit/>
          </a:bodyPr>
          <a:lstStyle/>
          <a:p>
            <a:pPr algn="ctr"/>
            <a:r>
              <a:rPr lang="en-US" sz="1400" b="1" dirty="0" smtClean="0">
                <a:solidFill>
                  <a:schemeClr val="bg1"/>
                </a:solidFill>
              </a:rPr>
              <a:t>Yes</a:t>
            </a:r>
            <a:endParaRPr lang="en-US" sz="1400" b="1" dirty="0">
              <a:solidFill>
                <a:schemeClr val="bg1"/>
              </a:solidFill>
            </a:endParaRPr>
          </a:p>
        </p:txBody>
      </p:sp>
      <p:sp>
        <p:nvSpPr>
          <p:cNvPr id="50" name="TextBox 49"/>
          <p:cNvSpPr txBox="1"/>
          <p:nvPr/>
        </p:nvSpPr>
        <p:spPr>
          <a:xfrm>
            <a:off x="8979258" y="4041481"/>
            <a:ext cx="512189" cy="307777"/>
          </a:xfrm>
          <a:prstGeom prst="rect">
            <a:avLst/>
          </a:prstGeom>
          <a:solidFill>
            <a:srgbClr val="FF0000"/>
          </a:solidFill>
          <a:ln>
            <a:noFill/>
          </a:ln>
        </p:spPr>
        <p:txBody>
          <a:bodyPr wrap="square" rtlCol="0">
            <a:spAutoFit/>
          </a:bodyPr>
          <a:lstStyle/>
          <a:p>
            <a:pPr algn="ctr"/>
            <a:r>
              <a:rPr lang="en-US" sz="1400" b="1" dirty="0" smtClean="0">
                <a:solidFill>
                  <a:schemeClr val="bg1"/>
                </a:solidFill>
              </a:rPr>
              <a:t>No</a:t>
            </a:r>
            <a:endParaRPr lang="en-US" sz="1400" b="1" dirty="0">
              <a:solidFill>
                <a:schemeClr val="bg1"/>
              </a:solidFill>
            </a:endParaRPr>
          </a:p>
        </p:txBody>
      </p:sp>
      <p:cxnSp>
        <p:nvCxnSpPr>
          <p:cNvPr id="51" name="Straight Arrow Connector 50"/>
          <p:cNvCxnSpPr>
            <a:stCxn id="46" idx="0"/>
          </p:cNvCxnSpPr>
          <p:nvPr/>
        </p:nvCxnSpPr>
        <p:spPr>
          <a:xfrm flipV="1">
            <a:off x="9560179" y="3721526"/>
            <a:ext cx="0" cy="823613"/>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p:nvPr/>
        </p:nvCxnSpPr>
        <p:spPr>
          <a:xfrm flipH="1">
            <a:off x="8719923" y="3721526"/>
            <a:ext cx="840256"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8738972" y="3277596"/>
            <a:ext cx="1075126" cy="461665"/>
          </a:xfrm>
          <a:prstGeom prst="rect">
            <a:avLst/>
          </a:prstGeom>
          <a:noFill/>
        </p:spPr>
        <p:txBody>
          <a:bodyPr wrap="square" rtlCol="0">
            <a:spAutoFit/>
          </a:bodyPr>
          <a:lstStyle/>
          <a:p>
            <a:pPr algn="ctr"/>
            <a:r>
              <a:rPr lang="en-US" sz="1200" b="1" dirty="0" smtClean="0"/>
              <a:t>Select another combination</a:t>
            </a:r>
            <a:endParaRPr lang="en-US" sz="1200" b="1" dirty="0"/>
          </a:p>
        </p:txBody>
      </p:sp>
      <p:cxnSp>
        <p:nvCxnSpPr>
          <p:cNvPr id="54" name="Straight Connector 53"/>
          <p:cNvCxnSpPr/>
          <p:nvPr/>
        </p:nvCxnSpPr>
        <p:spPr>
          <a:xfrm>
            <a:off x="10215543" y="4420234"/>
            <a:ext cx="896354" cy="942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a:off x="10719878" y="2944153"/>
            <a:ext cx="0" cy="1295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a:off x="10719878" y="4219915"/>
            <a:ext cx="3629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a:off x="10500804" y="3724674"/>
            <a:ext cx="219074" cy="0"/>
          </a:xfrm>
          <a:prstGeom prst="line">
            <a:avLst/>
          </a:prstGeom>
          <a:ln w="1270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a:off x="10500804" y="3468467"/>
            <a:ext cx="219074" cy="1"/>
          </a:xfrm>
          <a:prstGeom prst="line">
            <a:avLst/>
          </a:prstGeom>
          <a:ln w="1270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a:off x="10500804" y="3591853"/>
            <a:ext cx="219074" cy="0"/>
          </a:xfrm>
          <a:prstGeom prst="line">
            <a:avLst/>
          </a:prstGeom>
          <a:ln w="1270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flipH="1">
            <a:off x="10303232" y="3787801"/>
            <a:ext cx="7365" cy="632433"/>
          </a:xfrm>
          <a:prstGeom prst="line">
            <a:avLst/>
          </a:prstGeom>
          <a:ln w="127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a:off x="10386797" y="3787801"/>
            <a:ext cx="0" cy="632433"/>
          </a:xfrm>
          <a:prstGeom prst="line">
            <a:avLst/>
          </a:prstGeom>
          <a:ln w="127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a:off x="10234397" y="3787409"/>
            <a:ext cx="0" cy="632825"/>
          </a:xfrm>
          <a:prstGeom prst="line">
            <a:avLst/>
          </a:prstGeom>
          <a:ln w="127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a:off x="10481852" y="3664690"/>
            <a:ext cx="219074" cy="1"/>
          </a:xfrm>
          <a:prstGeom prst="line">
            <a:avLst/>
          </a:prstGeom>
          <a:ln w="1270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a:off x="10491278" y="3524688"/>
            <a:ext cx="219074" cy="1"/>
          </a:xfrm>
          <a:prstGeom prst="line">
            <a:avLst/>
          </a:prstGeom>
          <a:ln w="1270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a:off x="10539197" y="3787801"/>
            <a:ext cx="0" cy="632433"/>
          </a:xfrm>
          <a:prstGeom prst="line">
            <a:avLst/>
          </a:prstGeom>
          <a:ln w="127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a:off x="10462997" y="3787801"/>
            <a:ext cx="0" cy="632433"/>
          </a:xfrm>
          <a:prstGeom prst="line">
            <a:avLst/>
          </a:prstGeom>
          <a:ln w="127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67" name="Rectangle 66"/>
          <p:cNvSpPr/>
          <p:nvPr/>
        </p:nvSpPr>
        <p:spPr>
          <a:xfrm>
            <a:off x="8716044" y="4308871"/>
            <a:ext cx="263214" cy="261610"/>
          </a:xfrm>
          <a:prstGeom prst="rect">
            <a:avLst/>
          </a:prstGeom>
        </p:spPr>
        <p:txBody>
          <a:bodyPr wrap="none">
            <a:spAutoFit/>
          </a:bodyPr>
          <a:lstStyle/>
          <a:p>
            <a:r>
              <a:rPr lang="en-US" sz="1100" dirty="0"/>
              <a:t>d</a:t>
            </a:r>
          </a:p>
        </p:txBody>
      </p:sp>
    </p:spTree>
    <p:extLst>
      <p:ext uri="{BB962C8B-B14F-4D97-AF65-F5344CB8AC3E}">
        <p14:creationId xmlns:p14="http://schemas.microsoft.com/office/powerpoint/2010/main" val="4051439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1" end="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7"/>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57"/>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58"/>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59"/>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63"/>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64"/>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62"/>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60"/>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61"/>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66"/>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65"/>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33"/>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42"/>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54"/>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34"/>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35"/>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36"/>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37"/>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38"/>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56"/>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55"/>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5">
                                            <p:txEl>
                                              <p:pRg st="4" end="4"/>
                                            </p:txEl>
                                          </p:spTgt>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28"/>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27"/>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29"/>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30"/>
                                        </p:tgtEl>
                                        <p:attrNameLst>
                                          <p:attrName>style.visibility</p:attrName>
                                        </p:attrNameLst>
                                      </p:cBhvr>
                                      <p:to>
                                        <p:strVal val="visible"/>
                                      </p:to>
                                    </p:set>
                                  </p:childTnLst>
                                </p:cTn>
                              </p:par>
                              <p:par>
                                <p:cTn id="121" presetID="1" presetClass="entr" presetSubtype="0" fill="hold" nodeType="withEffect">
                                  <p:stCondLst>
                                    <p:cond delay="0"/>
                                  </p:stCondLst>
                                  <p:childTnLst>
                                    <p:set>
                                      <p:cBhvr>
                                        <p:cTn id="122" dur="1" fill="hold">
                                          <p:stCondLst>
                                            <p:cond delay="0"/>
                                          </p:stCondLst>
                                        </p:cTn>
                                        <p:tgtEl>
                                          <p:spTgt spid="31"/>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5">
                                            <p:txEl>
                                              <p:pRg st="7" end="7"/>
                                            </p:txEl>
                                          </p:spTgt>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5">
                                            <p:txEl>
                                              <p:pRg st="8" end="8"/>
                                            </p:txEl>
                                          </p:spTgt>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32"/>
                                        </p:tgtEl>
                                        <p:attrNameLst>
                                          <p:attrName>style.visibility</p:attrName>
                                        </p:attrNameLst>
                                      </p:cBhvr>
                                      <p:to>
                                        <p:strVal val="visible"/>
                                      </p:to>
                                    </p:set>
                                  </p:childTnLst>
                                </p:cTn>
                              </p:par>
                              <p:par>
                                <p:cTn id="139" presetID="1" presetClass="entr" presetSubtype="0" fill="hold" nodeType="withEffect">
                                  <p:stCondLst>
                                    <p:cond delay="0"/>
                                  </p:stCondLst>
                                  <p:childTnLst>
                                    <p:set>
                                      <p:cBhvr>
                                        <p:cTn id="140" dur="1" fill="hold">
                                          <p:stCondLst>
                                            <p:cond delay="0"/>
                                          </p:stCondLst>
                                        </p:cTn>
                                        <p:tgtEl>
                                          <p:spTgt spid="40"/>
                                        </p:tgtEl>
                                        <p:attrNameLst>
                                          <p:attrName>style.visibility</p:attrName>
                                        </p:attrNameLst>
                                      </p:cBhvr>
                                      <p:to>
                                        <p:strVal val="visible"/>
                                      </p:to>
                                    </p:set>
                                  </p:childTnLst>
                                </p:cTn>
                              </p:par>
                              <p:par>
                                <p:cTn id="141" presetID="1" presetClass="entr" presetSubtype="0" fill="hold" nodeType="withEffect">
                                  <p:stCondLst>
                                    <p:cond delay="0"/>
                                  </p:stCondLst>
                                  <p:childTnLst>
                                    <p:set>
                                      <p:cBhvr>
                                        <p:cTn id="142" dur="1" fill="hold">
                                          <p:stCondLst>
                                            <p:cond delay="0"/>
                                          </p:stCondLst>
                                        </p:cTn>
                                        <p:tgtEl>
                                          <p:spTgt spid="41"/>
                                        </p:tgtEl>
                                        <p:attrNameLst>
                                          <p:attrName>style.visibility</p:attrName>
                                        </p:attrNameLst>
                                      </p:cBhvr>
                                      <p:to>
                                        <p:strVal val="visible"/>
                                      </p:to>
                                    </p:set>
                                  </p:childTnLst>
                                </p:cTn>
                              </p:par>
                              <p:par>
                                <p:cTn id="143" presetID="1" presetClass="entr" presetSubtype="0" fill="hold" nodeType="withEffect">
                                  <p:stCondLst>
                                    <p:cond delay="0"/>
                                  </p:stCondLst>
                                  <p:childTnLst>
                                    <p:set>
                                      <p:cBhvr>
                                        <p:cTn id="144" dur="1" fill="hold">
                                          <p:stCondLst>
                                            <p:cond delay="0"/>
                                          </p:stCondLst>
                                        </p:cTn>
                                        <p:tgtEl>
                                          <p:spTgt spid="39"/>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67"/>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0"/>
                                          </p:stCondLst>
                                        </p:cTn>
                                        <p:tgtEl>
                                          <p:spTgt spid="5">
                                            <p:txEl>
                                              <p:pRg st="10" end="10"/>
                                            </p:txEl>
                                          </p:spTgt>
                                        </p:tgtEl>
                                        <p:attrNameLst>
                                          <p:attrName>style.visibility</p:attrName>
                                        </p:attrNameLst>
                                      </p:cBhvr>
                                      <p:to>
                                        <p:strVal val="visible"/>
                                      </p:to>
                                    </p:set>
                                  </p:childTnLst>
                                </p:cTn>
                              </p:par>
                              <p:par>
                                <p:cTn id="151" presetID="1" presetClass="entr" presetSubtype="0" fill="hold" nodeType="withEffect">
                                  <p:stCondLst>
                                    <p:cond delay="0"/>
                                  </p:stCondLst>
                                  <p:childTnLst>
                                    <p:set>
                                      <p:cBhvr>
                                        <p:cTn id="152" dur="1" fill="hold">
                                          <p:stCondLst>
                                            <p:cond delay="0"/>
                                          </p:stCondLst>
                                        </p:cTn>
                                        <p:tgtEl>
                                          <p:spTgt spid="44"/>
                                        </p:tgtEl>
                                        <p:attrNameLst>
                                          <p:attrName>style.visibility</p:attrName>
                                        </p:attrNameLst>
                                      </p:cBhvr>
                                      <p:to>
                                        <p:strVal val="visible"/>
                                      </p:to>
                                    </p:set>
                                  </p:childTnLst>
                                </p:cTn>
                              </p:par>
                              <p:par>
                                <p:cTn id="153" presetID="1" presetClass="entr" presetSubtype="0" fill="hold" nodeType="withEffect">
                                  <p:stCondLst>
                                    <p:cond delay="0"/>
                                  </p:stCondLst>
                                  <p:childTnLst>
                                    <p:set>
                                      <p:cBhvr>
                                        <p:cTn id="154" dur="1" fill="hold">
                                          <p:stCondLst>
                                            <p:cond delay="0"/>
                                          </p:stCondLst>
                                        </p:cTn>
                                        <p:tgtEl>
                                          <p:spTgt spid="45"/>
                                        </p:tgtEl>
                                        <p:attrNameLst>
                                          <p:attrName>style.visibility</p:attrName>
                                        </p:attrNameLst>
                                      </p:cBhvr>
                                      <p:to>
                                        <p:strVal val="visible"/>
                                      </p:to>
                                    </p:set>
                                  </p:childTnLst>
                                </p:cTn>
                              </p:par>
                              <p:par>
                                <p:cTn id="155" presetID="1" presetClass="entr" presetSubtype="0" fill="hold" nodeType="withEffect">
                                  <p:stCondLst>
                                    <p:cond delay="0"/>
                                  </p:stCondLst>
                                  <p:childTnLst>
                                    <p:set>
                                      <p:cBhvr>
                                        <p:cTn id="156" dur="1" fill="hold">
                                          <p:stCondLst>
                                            <p:cond delay="0"/>
                                          </p:stCondLst>
                                        </p:cTn>
                                        <p:tgtEl>
                                          <p:spTgt spid="43"/>
                                        </p:tgtEl>
                                        <p:attrNameLst>
                                          <p:attrName>style.visibility</p:attrName>
                                        </p:attrNameLst>
                                      </p:cBhvr>
                                      <p:to>
                                        <p:strVal val="visible"/>
                                      </p:to>
                                    </p:set>
                                  </p:childTnLst>
                                </p:cTn>
                              </p:par>
                            </p:childTnLst>
                          </p:cTn>
                        </p:par>
                      </p:childTnLst>
                    </p:cTn>
                  </p:par>
                  <p:par>
                    <p:cTn id="157" fill="hold">
                      <p:stCondLst>
                        <p:cond delay="indefinite"/>
                      </p:stCondLst>
                      <p:childTnLst>
                        <p:par>
                          <p:cTn id="158" fill="hold">
                            <p:stCondLst>
                              <p:cond delay="0"/>
                            </p:stCondLst>
                            <p:childTnLst>
                              <p:par>
                                <p:cTn id="159" presetID="1" presetClass="entr" presetSubtype="0" fill="hold" grpId="0" nodeType="clickEffect">
                                  <p:stCondLst>
                                    <p:cond delay="0"/>
                                  </p:stCondLst>
                                  <p:childTnLst>
                                    <p:set>
                                      <p:cBhvr>
                                        <p:cTn id="160" dur="1" fill="hold">
                                          <p:stCondLst>
                                            <p:cond delay="0"/>
                                          </p:stCondLst>
                                        </p:cTn>
                                        <p:tgtEl>
                                          <p:spTgt spid="46"/>
                                        </p:tgtEl>
                                        <p:attrNameLst>
                                          <p:attrName>style.visibility</p:attrName>
                                        </p:attrNameLst>
                                      </p:cBhvr>
                                      <p:to>
                                        <p:strVal val="visible"/>
                                      </p:to>
                                    </p:set>
                                  </p:childTnLst>
                                </p:cTn>
                              </p:par>
                              <p:par>
                                <p:cTn id="161" presetID="1" presetClass="entr" presetSubtype="0" fill="hold" nodeType="withEffect">
                                  <p:stCondLst>
                                    <p:cond delay="0"/>
                                  </p:stCondLst>
                                  <p:childTnLst>
                                    <p:set>
                                      <p:cBhvr>
                                        <p:cTn id="162" dur="1" fill="hold">
                                          <p:stCondLst>
                                            <p:cond delay="0"/>
                                          </p:stCondLst>
                                        </p:cTn>
                                        <p:tgtEl>
                                          <p:spTgt spid="47"/>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48"/>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49"/>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grpId="0" nodeType="clickEffect">
                                  <p:stCondLst>
                                    <p:cond delay="0"/>
                                  </p:stCondLst>
                                  <p:childTnLst>
                                    <p:set>
                                      <p:cBhvr>
                                        <p:cTn id="170" dur="1" fill="hold">
                                          <p:stCondLst>
                                            <p:cond delay="0"/>
                                          </p:stCondLst>
                                        </p:cTn>
                                        <p:tgtEl>
                                          <p:spTgt spid="50"/>
                                        </p:tgtEl>
                                        <p:attrNameLst>
                                          <p:attrName>style.visibility</p:attrName>
                                        </p:attrNameLst>
                                      </p:cBhvr>
                                      <p:to>
                                        <p:strVal val="visible"/>
                                      </p:to>
                                    </p:set>
                                  </p:childTnLst>
                                </p:cTn>
                              </p:par>
                              <p:par>
                                <p:cTn id="171" presetID="1" presetClass="entr" presetSubtype="0" fill="hold" nodeType="withEffect">
                                  <p:stCondLst>
                                    <p:cond delay="0"/>
                                  </p:stCondLst>
                                  <p:childTnLst>
                                    <p:set>
                                      <p:cBhvr>
                                        <p:cTn id="172" dur="1" fill="hold">
                                          <p:stCondLst>
                                            <p:cond delay="0"/>
                                          </p:stCondLst>
                                        </p:cTn>
                                        <p:tgtEl>
                                          <p:spTgt spid="51"/>
                                        </p:tgtEl>
                                        <p:attrNameLst>
                                          <p:attrName>style.visibility</p:attrName>
                                        </p:attrNameLst>
                                      </p:cBhvr>
                                      <p:to>
                                        <p:strVal val="visible"/>
                                      </p:to>
                                    </p:set>
                                  </p:childTnLst>
                                </p:cTn>
                              </p:par>
                              <p:par>
                                <p:cTn id="173" presetID="1" presetClass="entr" presetSubtype="0" fill="hold" nodeType="withEffect">
                                  <p:stCondLst>
                                    <p:cond delay="0"/>
                                  </p:stCondLst>
                                  <p:childTnLst>
                                    <p:set>
                                      <p:cBhvr>
                                        <p:cTn id="174" dur="1" fill="hold">
                                          <p:stCondLst>
                                            <p:cond delay="0"/>
                                          </p:stCondLst>
                                        </p:cTn>
                                        <p:tgtEl>
                                          <p:spTgt spid="52"/>
                                        </p:tgtEl>
                                        <p:attrNameLst>
                                          <p:attrName>style.visibility</p:attrName>
                                        </p:attrNameLst>
                                      </p:cBhvr>
                                      <p:to>
                                        <p:strVal val="visible"/>
                                      </p:to>
                                    </p:set>
                                  </p:childTnLst>
                                </p:cTn>
                              </p:par>
                              <p:par>
                                <p:cTn id="175" presetID="1" presetClass="entr" presetSubtype="0" fill="hold" grpId="0" nodeType="withEffect">
                                  <p:stCondLst>
                                    <p:cond delay="0"/>
                                  </p:stCondLst>
                                  <p:childTnLst>
                                    <p:set>
                                      <p:cBhvr>
                                        <p:cTn id="176"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P spid="10" grpId="0" animBg="1"/>
      <p:bldP spid="11"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32" grpId="0" animBg="1"/>
      <p:bldP spid="33" grpId="0" animBg="1"/>
      <p:bldP spid="34" grpId="0" animBg="1"/>
      <p:bldP spid="35" grpId="0" animBg="1"/>
      <p:bldP spid="36" grpId="0" animBg="1"/>
      <p:bldP spid="37" grpId="0" animBg="1"/>
      <p:bldP spid="38" grpId="0" animBg="1"/>
      <p:bldP spid="46" grpId="0" animBg="1"/>
      <p:bldP spid="48" grpId="0" animBg="1"/>
      <p:bldP spid="49" grpId="0" animBg="1"/>
      <p:bldP spid="50" grpId="0" animBg="1"/>
      <p:bldP spid="53" grpId="0"/>
      <p:bldP spid="67"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smtClean="0"/>
              <a:t>Authentication in Kerberos</a:t>
            </a:r>
            <a:endParaRPr lang="en-US" dirty="0"/>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dirty="0"/>
              <a:t>Network authentication protocol.</a:t>
            </a:r>
          </a:p>
          <a:p>
            <a:pPr>
              <a:lnSpc>
                <a:spcPct val="100000"/>
              </a:lnSpc>
            </a:pPr>
            <a:r>
              <a:rPr lang="en-US" dirty="0" smtClean="0"/>
              <a:t>Developed </a:t>
            </a:r>
            <a:r>
              <a:rPr lang="en-US" dirty="0"/>
              <a:t>at MIT in the mid 1980s.</a:t>
            </a:r>
          </a:p>
          <a:p>
            <a:pPr>
              <a:lnSpc>
                <a:spcPct val="100000"/>
              </a:lnSpc>
            </a:pPr>
            <a:r>
              <a:rPr lang="en-US" dirty="0" smtClean="0"/>
              <a:t>A </a:t>
            </a:r>
            <a:r>
              <a:rPr lang="en-US" dirty="0"/>
              <a:t>secret key based service for providing authentication in open networks.</a:t>
            </a:r>
          </a:p>
          <a:p>
            <a:pPr>
              <a:lnSpc>
                <a:spcPct val="100000"/>
              </a:lnSpc>
            </a:pPr>
            <a:r>
              <a:rPr lang="en-US" dirty="0" smtClean="0"/>
              <a:t>Provides </a:t>
            </a:r>
            <a:r>
              <a:rPr lang="en-US" dirty="0"/>
              <a:t>strong authentication for client-server  applications</a:t>
            </a:r>
            <a:r>
              <a:rPr lang="en-US" dirty="0" smtClean="0"/>
              <a:t>.</a:t>
            </a:r>
          </a:p>
          <a:p>
            <a:pPr>
              <a:lnSpc>
                <a:spcPct val="100000"/>
              </a:lnSpc>
            </a:pPr>
            <a:r>
              <a:rPr lang="en-US" dirty="0"/>
              <a:t>There are four parties involved in the Kerberos protocol</a:t>
            </a:r>
            <a:r>
              <a:rPr lang="en-US" dirty="0" smtClean="0"/>
              <a:t>:</a:t>
            </a:r>
          </a:p>
          <a:p>
            <a:pPr lvl="2"/>
            <a:r>
              <a:rPr lang="en-US" sz="2400" dirty="0">
                <a:solidFill>
                  <a:schemeClr val="accent6"/>
                </a:solidFill>
              </a:rPr>
              <a:t>User</a:t>
            </a:r>
            <a:r>
              <a:rPr lang="en-US" sz="2400" dirty="0"/>
              <a:t> – Alice who uses the client workstation</a:t>
            </a:r>
          </a:p>
          <a:p>
            <a:pPr lvl="2"/>
            <a:r>
              <a:rPr lang="en-US" sz="2400" dirty="0">
                <a:solidFill>
                  <a:schemeClr val="accent6"/>
                </a:solidFill>
              </a:rPr>
              <a:t>Real Server </a:t>
            </a:r>
            <a:r>
              <a:rPr lang="en-US" sz="2400" dirty="0"/>
              <a:t>- The server (Bob) provides services for the user (Alice).</a:t>
            </a:r>
          </a:p>
          <a:p>
            <a:pPr lvl="2"/>
            <a:r>
              <a:rPr lang="en-US" sz="2400" dirty="0">
                <a:solidFill>
                  <a:schemeClr val="accent6"/>
                </a:solidFill>
              </a:rPr>
              <a:t>Authentication Server (AS) </a:t>
            </a:r>
            <a:r>
              <a:rPr lang="en-US" sz="2400" dirty="0"/>
              <a:t>– It is he KDC in the Kerberos protocol. Each user registers with the AS and is granted a user identity and a password. The AS verifies the user, issues a session key to be used between Alice and TGS and sends a ticket to TGS.</a:t>
            </a:r>
          </a:p>
          <a:p>
            <a:pPr lvl="2"/>
            <a:r>
              <a:rPr lang="en-US" sz="2400" dirty="0">
                <a:solidFill>
                  <a:schemeClr val="accent6"/>
                </a:solidFill>
              </a:rPr>
              <a:t>Ticket Granting Server (TGS) </a:t>
            </a:r>
            <a:r>
              <a:rPr lang="en-US" sz="2400" dirty="0"/>
              <a:t>– Issues a ticket for the real server. It provides the session key(KAB) between Alice and Bob.</a:t>
            </a:r>
          </a:p>
        </p:txBody>
      </p:sp>
    </p:spTree>
    <p:extLst>
      <p:ext uri="{BB962C8B-B14F-4D97-AF65-F5344CB8AC3E}">
        <p14:creationId xmlns:p14="http://schemas.microsoft.com/office/powerpoint/2010/main" val="1501857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smtClean="0"/>
              <a:t>Authentication in Kerberos</a:t>
            </a:r>
            <a:endParaRPr lang="en-US" dirty="0"/>
          </a:p>
        </p:txBody>
      </p:sp>
      <p:sp>
        <p:nvSpPr>
          <p:cNvPr id="6" name="Content Placeholder 5"/>
          <p:cNvSpPr>
            <a:spLocks noGrp="1"/>
          </p:cNvSpPr>
          <p:nvPr>
            <p:ph idx="1"/>
          </p:nvPr>
        </p:nvSpPr>
        <p:spPr>
          <a:xfrm>
            <a:off x="131179" y="863444"/>
            <a:ext cx="11917385" cy="5590565"/>
          </a:xfrm>
        </p:spPr>
        <p:txBody>
          <a:bodyPr/>
          <a:lstStyle/>
          <a:p>
            <a:r>
              <a:rPr lang="en-US" dirty="0"/>
              <a:t>Step-1</a:t>
            </a:r>
            <a:r>
              <a:rPr lang="en-US" dirty="0" smtClean="0"/>
              <a:t>: User </a:t>
            </a:r>
            <a:r>
              <a:rPr lang="en-US" dirty="0"/>
              <a:t>logon and request services on host. Thus user request for ticket-granting-service.</a:t>
            </a:r>
          </a:p>
          <a:p>
            <a:r>
              <a:rPr lang="en-US" dirty="0"/>
              <a:t>Step-2</a:t>
            </a:r>
            <a:r>
              <a:rPr lang="en-US" dirty="0" smtClean="0"/>
              <a:t>: Authentication </a:t>
            </a:r>
            <a:r>
              <a:rPr lang="en-US" dirty="0"/>
              <a:t>Server verifies user’s access right using database and then gives ticket-granting-ticket and session key. Results are encrypted using Password of user.</a:t>
            </a:r>
          </a:p>
          <a:p>
            <a:r>
              <a:rPr lang="en-US" dirty="0"/>
              <a:t>Step-3</a:t>
            </a:r>
            <a:r>
              <a:rPr lang="en-US" dirty="0" smtClean="0"/>
              <a:t>: Decryption </a:t>
            </a:r>
            <a:r>
              <a:rPr lang="en-US" dirty="0"/>
              <a:t>of message is done using the password then send the ticket to Ticket Granting Server. The Ticket contain authenticators like user name and network address</a:t>
            </a:r>
            <a:r>
              <a:rPr lang="en-US" dirty="0" smtClean="0"/>
              <a:t>.</a:t>
            </a:r>
            <a:endParaRPr lang="en-IN" dirty="0"/>
          </a:p>
        </p:txBody>
      </p:sp>
      <p:sp>
        <p:nvSpPr>
          <p:cNvPr id="4" name="Rectangle 3"/>
          <p:cNvSpPr/>
          <p:nvPr/>
        </p:nvSpPr>
        <p:spPr>
          <a:xfrm>
            <a:off x="204720" y="3763176"/>
            <a:ext cx="1787857" cy="83138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chemeClr val="tx1"/>
                </a:solidFill>
              </a:rPr>
              <a:t>Client</a:t>
            </a:r>
            <a:endParaRPr lang="en-IN" sz="2400" b="1" dirty="0">
              <a:solidFill>
                <a:schemeClr val="tx1"/>
              </a:solidFill>
            </a:endParaRPr>
          </a:p>
        </p:txBody>
      </p:sp>
      <p:sp>
        <p:nvSpPr>
          <p:cNvPr id="9" name="Rectangle 8"/>
          <p:cNvSpPr/>
          <p:nvPr/>
        </p:nvSpPr>
        <p:spPr>
          <a:xfrm>
            <a:off x="4386481" y="5059529"/>
            <a:ext cx="1317077" cy="5966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chemeClr val="bg1"/>
                </a:solidFill>
              </a:rPr>
              <a:t>TGS</a:t>
            </a:r>
            <a:endParaRPr lang="en-IN" sz="2400" b="1" dirty="0">
              <a:solidFill>
                <a:schemeClr val="bg1"/>
              </a:solidFill>
            </a:endParaRPr>
          </a:p>
        </p:txBody>
      </p:sp>
      <p:cxnSp>
        <p:nvCxnSpPr>
          <p:cNvPr id="16" name="Straight Arrow Connector 15"/>
          <p:cNvCxnSpPr/>
          <p:nvPr/>
        </p:nvCxnSpPr>
        <p:spPr>
          <a:xfrm>
            <a:off x="1992576" y="4068034"/>
            <a:ext cx="2393905"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H="1" flipV="1">
            <a:off x="1992576" y="4367284"/>
            <a:ext cx="2393905" cy="1364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1992576" y="4528214"/>
            <a:ext cx="2393905" cy="65775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3020252" y="3682754"/>
            <a:ext cx="259307" cy="461665"/>
          </a:xfrm>
          <a:prstGeom prst="rect">
            <a:avLst/>
          </a:prstGeom>
          <a:noFill/>
        </p:spPr>
        <p:txBody>
          <a:bodyPr wrap="square" rtlCol="0">
            <a:spAutoFit/>
          </a:bodyPr>
          <a:lstStyle/>
          <a:p>
            <a:r>
              <a:rPr lang="en-IN" sz="2400" b="1" dirty="0" smtClean="0">
                <a:solidFill>
                  <a:schemeClr val="accent6"/>
                </a:solidFill>
              </a:rPr>
              <a:t>1</a:t>
            </a:r>
            <a:endParaRPr lang="en-IN" sz="2400" b="1" dirty="0">
              <a:solidFill>
                <a:schemeClr val="accent6"/>
              </a:solidFill>
            </a:endParaRPr>
          </a:p>
        </p:txBody>
      </p:sp>
      <p:sp>
        <p:nvSpPr>
          <p:cNvPr id="32" name="TextBox 31"/>
          <p:cNvSpPr txBox="1"/>
          <p:nvPr/>
        </p:nvSpPr>
        <p:spPr>
          <a:xfrm>
            <a:off x="3338156" y="4304113"/>
            <a:ext cx="259307" cy="461665"/>
          </a:xfrm>
          <a:prstGeom prst="rect">
            <a:avLst/>
          </a:prstGeom>
          <a:noFill/>
        </p:spPr>
        <p:txBody>
          <a:bodyPr wrap="square" rtlCol="0">
            <a:spAutoFit/>
          </a:bodyPr>
          <a:lstStyle/>
          <a:p>
            <a:r>
              <a:rPr lang="en-IN" sz="2400" b="1" dirty="0" smtClean="0">
                <a:solidFill>
                  <a:schemeClr val="accent6"/>
                </a:solidFill>
              </a:rPr>
              <a:t>2</a:t>
            </a:r>
            <a:endParaRPr lang="en-IN" sz="2400" b="1" dirty="0">
              <a:solidFill>
                <a:schemeClr val="accent6"/>
              </a:solidFill>
            </a:endParaRPr>
          </a:p>
        </p:txBody>
      </p:sp>
      <p:sp>
        <p:nvSpPr>
          <p:cNvPr id="33" name="TextBox 32"/>
          <p:cNvSpPr txBox="1"/>
          <p:nvPr/>
        </p:nvSpPr>
        <p:spPr>
          <a:xfrm>
            <a:off x="3545691" y="4626256"/>
            <a:ext cx="259307" cy="461665"/>
          </a:xfrm>
          <a:prstGeom prst="rect">
            <a:avLst/>
          </a:prstGeom>
          <a:noFill/>
        </p:spPr>
        <p:txBody>
          <a:bodyPr wrap="square" rtlCol="0">
            <a:spAutoFit/>
          </a:bodyPr>
          <a:lstStyle/>
          <a:p>
            <a:r>
              <a:rPr lang="en-IN" sz="2400" b="1" dirty="0" smtClean="0">
                <a:solidFill>
                  <a:schemeClr val="accent6"/>
                </a:solidFill>
              </a:rPr>
              <a:t>3</a:t>
            </a:r>
            <a:endParaRPr lang="en-IN" sz="2400" b="1" dirty="0">
              <a:solidFill>
                <a:schemeClr val="accent6"/>
              </a:solidFill>
            </a:endParaRPr>
          </a:p>
        </p:txBody>
      </p:sp>
      <p:grpSp>
        <p:nvGrpSpPr>
          <p:cNvPr id="38" name="Group 37"/>
          <p:cNvGrpSpPr/>
          <p:nvPr/>
        </p:nvGrpSpPr>
        <p:grpSpPr>
          <a:xfrm>
            <a:off x="3848671" y="3002507"/>
            <a:ext cx="5598540" cy="3315036"/>
            <a:chOff x="5076967" y="3002507"/>
            <a:chExt cx="5598540" cy="3315036"/>
          </a:xfrm>
        </p:grpSpPr>
        <p:sp>
          <p:nvSpPr>
            <p:cNvPr id="8" name="Rectangle 7"/>
            <p:cNvSpPr/>
            <p:nvPr/>
          </p:nvSpPr>
          <p:spPr>
            <a:xfrm>
              <a:off x="5614777" y="3931554"/>
              <a:ext cx="1317077" cy="5966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chemeClr val="bg1"/>
                  </a:solidFill>
                </a:rPr>
                <a:t>AS</a:t>
              </a:r>
              <a:endParaRPr lang="en-IN" sz="2400" b="1" dirty="0">
                <a:solidFill>
                  <a:schemeClr val="bg1"/>
                </a:solidFill>
              </a:endParaRPr>
            </a:p>
          </p:txBody>
        </p:sp>
        <p:sp>
          <p:nvSpPr>
            <p:cNvPr id="5" name="Oval 4"/>
            <p:cNvSpPr/>
            <p:nvPr/>
          </p:nvSpPr>
          <p:spPr>
            <a:xfrm>
              <a:off x="7729932" y="3794077"/>
              <a:ext cx="1992573" cy="871613"/>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t>Database</a:t>
              </a:r>
              <a:endParaRPr lang="en-IN" sz="2400" dirty="0"/>
            </a:p>
          </p:txBody>
        </p:sp>
        <p:sp>
          <p:nvSpPr>
            <p:cNvPr id="10" name="TextBox 9"/>
            <p:cNvSpPr txBox="1"/>
            <p:nvPr/>
          </p:nvSpPr>
          <p:spPr>
            <a:xfrm>
              <a:off x="7410731" y="3228789"/>
              <a:ext cx="1562738" cy="461665"/>
            </a:xfrm>
            <a:prstGeom prst="rect">
              <a:avLst/>
            </a:prstGeom>
            <a:solidFill>
              <a:srgbClr val="1D3064"/>
            </a:solidFill>
          </p:spPr>
          <p:txBody>
            <a:bodyPr wrap="square" rtlCol="0">
              <a:spAutoFit/>
            </a:bodyPr>
            <a:lstStyle/>
            <a:p>
              <a:r>
                <a:rPr lang="en-IN" sz="2400" dirty="0" smtClean="0">
                  <a:solidFill>
                    <a:schemeClr val="bg1"/>
                  </a:solidFill>
                </a:rPr>
                <a:t>Kerberos</a:t>
              </a:r>
              <a:endParaRPr lang="en-IN" sz="2400" dirty="0">
                <a:solidFill>
                  <a:schemeClr val="bg1"/>
                </a:solidFill>
              </a:endParaRPr>
            </a:p>
          </p:txBody>
        </p:sp>
        <p:sp>
          <p:nvSpPr>
            <p:cNvPr id="11" name="Rounded Rectangle 10"/>
            <p:cNvSpPr/>
            <p:nvPr/>
          </p:nvSpPr>
          <p:spPr>
            <a:xfrm>
              <a:off x="5076967" y="3002507"/>
              <a:ext cx="5598540" cy="3315036"/>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7" name="Straight Arrow Connector 36"/>
            <p:cNvCxnSpPr>
              <a:stCxn id="8" idx="3"/>
              <a:endCxn id="5" idx="2"/>
            </p:cNvCxnSpPr>
            <p:nvPr/>
          </p:nvCxnSpPr>
          <p:spPr>
            <a:xfrm>
              <a:off x="6931854" y="4229884"/>
              <a:ext cx="798078"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17607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par>
                                <p:cTn id="19" presetID="22" presetClass="entr" presetSubtype="8"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wipe(left)">
                                      <p:cBhvr>
                                        <p:cTn id="21" dur="500"/>
                                        <p:tgtEl>
                                          <p:spTgt spid="16"/>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6">
                                            <p:txEl>
                                              <p:pRg st="1" end="1"/>
                                            </p:txEl>
                                          </p:spTgt>
                                        </p:tgtEl>
                                        <p:attrNameLst>
                                          <p:attrName>style.visibility</p:attrName>
                                        </p:attrNameLst>
                                      </p:cBhvr>
                                      <p:to>
                                        <p:strVal val="visible"/>
                                      </p:to>
                                    </p:set>
                                  </p:childTnLst>
                                </p:cTn>
                              </p:par>
                              <p:par>
                                <p:cTn id="26" presetID="22" presetClass="entr" presetSubtype="2" fill="hold"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wipe(right)">
                                      <p:cBhvr>
                                        <p:cTn id="28" dur="500"/>
                                        <p:tgtEl>
                                          <p:spTgt spid="18"/>
                                        </p:tgtEl>
                                      </p:cBhvr>
                                    </p:animEffect>
                                  </p:childTnLst>
                                </p:cTn>
                              </p:par>
                              <p:par>
                                <p:cTn id="29" presetID="1" presetClass="entr" presetSubtype="0"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2" end="2"/>
                                            </p:txEl>
                                          </p:spTgt>
                                        </p:tgtEl>
                                        <p:attrNameLst>
                                          <p:attrName>style.visibility</p:attrName>
                                        </p:attrNameLst>
                                      </p:cBhvr>
                                      <p:to>
                                        <p:strVal val="visible"/>
                                      </p:to>
                                    </p:set>
                                  </p:childTnLst>
                                </p:cTn>
                              </p:par>
                              <p:par>
                                <p:cTn id="35" presetID="22" presetClass="entr" presetSubtype="1"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wipe(up)">
                                      <p:cBhvr>
                                        <p:cTn id="37" dur="500"/>
                                        <p:tgtEl>
                                          <p:spTgt spid="20"/>
                                        </p:tgtEl>
                                      </p:cBhvr>
                                    </p:animEffect>
                                  </p:childTnLst>
                                </p:cTn>
                              </p:par>
                              <p:par>
                                <p:cTn id="38" presetID="1"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childTnLst>
                                </p:cTn>
                              </p:par>
                              <p:par>
                                <p:cTn id="40" presetID="1" presetClass="entr" presetSubtype="0" fill="hold" grpId="0" nodeType="withEffect">
                                  <p:stCondLst>
                                    <p:cond delay="500"/>
                                  </p:stCondLst>
                                  <p:childTnLst>
                                    <p:set>
                                      <p:cBhvr>
                                        <p:cTn id="41"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animBg="1"/>
      <p:bldP spid="30" grpId="0"/>
      <p:bldP spid="32" grpId="0"/>
      <p:bldP spid="33"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smtClean="0"/>
              <a:t>Authentication in Kerberos</a:t>
            </a:r>
            <a:endParaRPr lang="en-US" dirty="0"/>
          </a:p>
        </p:txBody>
      </p:sp>
      <p:sp>
        <p:nvSpPr>
          <p:cNvPr id="6" name="Content Placeholder 5"/>
          <p:cNvSpPr>
            <a:spLocks noGrp="1"/>
          </p:cNvSpPr>
          <p:nvPr>
            <p:ph idx="1"/>
          </p:nvPr>
        </p:nvSpPr>
        <p:spPr>
          <a:xfrm>
            <a:off x="131179" y="863444"/>
            <a:ext cx="11917385" cy="5590565"/>
          </a:xfrm>
        </p:spPr>
        <p:txBody>
          <a:bodyPr/>
          <a:lstStyle/>
          <a:p>
            <a:r>
              <a:rPr lang="en-US" dirty="0" smtClean="0"/>
              <a:t>Step-4: Ticket </a:t>
            </a:r>
            <a:r>
              <a:rPr lang="en-US" dirty="0"/>
              <a:t>Granting Server decrypts the ticket send by User and authenticator verifies the request then creates the ticket for requesting services from the Server.</a:t>
            </a:r>
          </a:p>
          <a:p>
            <a:r>
              <a:rPr lang="en-US" dirty="0"/>
              <a:t>Step-5</a:t>
            </a:r>
            <a:r>
              <a:rPr lang="en-US" dirty="0" smtClean="0"/>
              <a:t>: User </a:t>
            </a:r>
            <a:r>
              <a:rPr lang="en-US" dirty="0"/>
              <a:t>send the Ticket and Authenticator to the Server.</a:t>
            </a:r>
          </a:p>
          <a:p>
            <a:r>
              <a:rPr lang="en-US" dirty="0"/>
              <a:t>Step-6</a:t>
            </a:r>
            <a:r>
              <a:rPr lang="en-US" dirty="0" smtClean="0"/>
              <a:t>: Server </a:t>
            </a:r>
            <a:r>
              <a:rPr lang="en-US" dirty="0"/>
              <a:t>verifies the Ticket and authenticators then generate the access to the service. After this User can access the services.</a:t>
            </a:r>
            <a:endParaRPr lang="en-IN" dirty="0"/>
          </a:p>
        </p:txBody>
      </p:sp>
      <p:sp>
        <p:nvSpPr>
          <p:cNvPr id="7" name="Rectangle 6"/>
          <p:cNvSpPr/>
          <p:nvPr/>
        </p:nvSpPr>
        <p:spPr>
          <a:xfrm>
            <a:off x="204719" y="5554396"/>
            <a:ext cx="1787857" cy="83138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chemeClr val="tx1"/>
                </a:solidFill>
              </a:rPr>
              <a:t>Server</a:t>
            </a:r>
            <a:endParaRPr lang="en-IN" sz="2400" b="1" dirty="0">
              <a:solidFill>
                <a:schemeClr val="tx1"/>
              </a:solidFill>
            </a:endParaRPr>
          </a:p>
        </p:txBody>
      </p:sp>
      <p:cxnSp>
        <p:nvCxnSpPr>
          <p:cNvPr id="12" name="Straight Arrow Connector 11"/>
          <p:cNvCxnSpPr/>
          <p:nvPr/>
        </p:nvCxnSpPr>
        <p:spPr>
          <a:xfrm flipH="1" flipV="1">
            <a:off x="1869746" y="4638788"/>
            <a:ext cx="2516735" cy="91560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1555847" y="4594563"/>
            <a:ext cx="0" cy="95983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V="1">
            <a:off x="709517" y="4597844"/>
            <a:ext cx="0" cy="91560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3080322" y="5092731"/>
            <a:ext cx="259307" cy="461665"/>
          </a:xfrm>
          <a:prstGeom prst="rect">
            <a:avLst/>
          </a:prstGeom>
          <a:noFill/>
        </p:spPr>
        <p:txBody>
          <a:bodyPr wrap="square" rtlCol="0">
            <a:spAutoFit/>
          </a:bodyPr>
          <a:lstStyle/>
          <a:p>
            <a:r>
              <a:rPr lang="en-IN" sz="2400" b="1" dirty="0" smtClean="0">
                <a:solidFill>
                  <a:schemeClr val="accent6"/>
                </a:solidFill>
              </a:rPr>
              <a:t>4</a:t>
            </a:r>
            <a:endParaRPr lang="en-IN" sz="2400" b="1" dirty="0">
              <a:solidFill>
                <a:schemeClr val="accent6"/>
              </a:solidFill>
            </a:endParaRPr>
          </a:p>
        </p:txBody>
      </p:sp>
      <p:sp>
        <p:nvSpPr>
          <p:cNvPr id="19" name="TextBox 18"/>
          <p:cNvSpPr txBox="1"/>
          <p:nvPr/>
        </p:nvSpPr>
        <p:spPr>
          <a:xfrm>
            <a:off x="1527294" y="4824815"/>
            <a:ext cx="259307" cy="461665"/>
          </a:xfrm>
          <a:prstGeom prst="rect">
            <a:avLst/>
          </a:prstGeom>
          <a:noFill/>
        </p:spPr>
        <p:txBody>
          <a:bodyPr wrap="square" rtlCol="0">
            <a:spAutoFit/>
          </a:bodyPr>
          <a:lstStyle/>
          <a:p>
            <a:r>
              <a:rPr lang="en-IN" sz="2400" b="1" dirty="0" smtClean="0">
                <a:solidFill>
                  <a:schemeClr val="accent6"/>
                </a:solidFill>
              </a:rPr>
              <a:t>5</a:t>
            </a:r>
            <a:endParaRPr lang="en-IN" sz="2400" b="1" dirty="0">
              <a:solidFill>
                <a:schemeClr val="accent6"/>
              </a:solidFill>
            </a:endParaRPr>
          </a:p>
        </p:txBody>
      </p:sp>
      <p:sp>
        <p:nvSpPr>
          <p:cNvPr id="20" name="TextBox 19"/>
          <p:cNvSpPr txBox="1"/>
          <p:nvPr/>
        </p:nvSpPr>
        <p:spPr>
          <a:xfrm>
            <a:off x="395619" y="4857088"/>
            <a:ext cx="259307" cy="461665"/>
          </a:xfrm>
          <a:prstGeom prst="rect">
            <a:avLst/>
          </a:prstGeom>
          <a:noFill/>
        </p:spPr>
        <p:txBody>
          <a:bodyPr wrap="square" rtlCol="0">
            <a:spAutoFit/>
          </a:bodyPr>
          <a:lstStyle/>
          <a:p>
            <a:r>
              <a:rPr lang="en-IN" sz="2400" b="1" dirty="0" smtClean="0">
                <a:solidFill>
                  <a:schemeClr val="accent6"/>
                </a:solidFill>
              </a:rPr>
              <a:t>6</a:t>
            </a:r>
            <a:endParaRPr lang="en-IN" sz="2400" b="1" dirty="0">
              <a:solidFill>
                <a:schemeClr val="accent6"/>
              </a:solidFill>
            </a:endParaRPr>
          </a:p>
        </p:txBody>
      </p:sp>
      <p:grpSp>
        <p:nvGrpSpPr>
          <p:cNvPr id="4" name="Group 3"/>
          <p:cNvGrpSpPr/>
          <p:nvPr/>
        </p:nvGrpSpPr>
        <p:grpSpPr>
          <a:xfrm>
            <a:off x="204720" y="3002507"/>
            <a:ext cx="9242491" cy="3315036"/>
            <a:chOff x="204720" y="3002507"/>
            <a:chExt cx="9242491" cy="3315036"/>
          </a:xfrm>
        </p:grpSpPr>
        <p:sp>
          <p:nvSpPr>
            <p:cNvPr id="5" name="Rectangle 4"/>
            <p:cNvSpPr/>
            <p:nvPr/>
          </p:nvSpPr>
          <p:spPr>
            <a:xfrm>
              <a:off x="204720" y="3763176"/>
              <a:ext cx="1787857" cy="83138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chemeClr val="tx1"/>
                  </a:solidFill>
                </a:rPr>
                <a:t>Client</a:t>
              </a:r>
              <a:endParaRPr lang="en-IN" sz="2400" b="1" dirty="0">
                <a:solidFill>
                  <a:schemeClr val="tx1"/>
                </a:solidFill>
              </a:endParaRPr>
            </a:p>
          </p:txBody>
        </p:sp>
        <p:cxnSp>
          <p:nvCxnSpPr>
            <p:cNvPr id="9" name="Straight Arrow Connector 8"/>
            <p:cNvCxnSpPr/>
            <p:nvPr/>
          </p:nvCxnSpPr>
          <p:spPr>
            <a:xfrm>
              <a:off x="1992576" y="4068034"/>
              <a:ext cx="2393905"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H="1" flipV="1">
              <a:off x="1992576" y="4367284"/>
              <a:ext cx="2393905" cy="1364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1992576" y="4528214"/>
              <a:ext cx="2393905" cy="65775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3020252" y="3682754"/>
              <a:ext cx="259307" cy="461665"/>
            </a:xfrm>
            <a:prstGeom prst="rect">
              <a:avLst/>
            </a:prstGeom>
            <a:noFill/>
          </p:spPr>
          <p:txBody>
            <a:bodyPr wrap="square" rtlCol="0">
              <a:spAutoFit/>
            </a:bodyPr>
            <a:lstStyle/>
            <a:p>
              <a:r>
                <a:rPr lang="en-IN" sz="2400" b="1" dirty="0" smtClean="0">
                  <a:solidFill>
                    <a:schemeClr val="accent6"/>
                  </a:solidFill>
                </a:rPr>
                <a:t>1</a:t>
              </a:r>
              <a:endParaRPr lang="en-IN" sz="2400" b="1" dirty="0">
                <a:solidFill>
                  <a:schemeClr val="accent6"/>
                </a:solidFill>
              </a:endParaRPr>
            </a:p>
          </p:txBody>
        </p:sp>
        <p:sp>
          <p:nvSpPr>
            <p:cNvPr id="16" name="TextBox 15"/>
            <p:cNvSpPr txBox="1"/>
            <p:nvPr/>
          </p:nvSpPr>
          <p:spPr>
            <a:xfrm>
              <a:off x="3338156" y="4304113"/>
              <a:ext cx="259307" cy="461665"/>
            </a:xfrm>
            <a:prstGeom prst="rect">
              <a:avLst/>
            </a:prstGeom>
            <a:noFill/>
          </p:spPr>
          <p:txBody>
            <a:bodyPr wrap="square" rtlCol="0">
              <a:spAutoFit/>
            </a:bodyPr>
            <a:lstStyle/>
            <a:p>
              <a:r>
                <a:rPr lang="en-IN" sz="2400" b="1" dirty="0" smtClean="0">
                  <a:solidFill>
                    <a:schemeClr val="accent6"/>
                  </a:solidFill>
                </a:rPr>
                <a:t>2</a:t>
              </a:r>
              <a:endParaRPr lang="en-IN" sz="2400" b="1" dirty="0">
                <a:solidFill>
                  <a:schemeClr val="accent6"/>
                </a:solidFill>
              </a:endParaRPr>
            </a:p>
          </p:txBody>
        </p:sp>
        <p:sp>
          <p:nvSpPr>
            <p:cNvPr id="17" name="TextBox 16"/>
            <p:cNvSpPr txBox="1"/>
            <p:nvPr/>
          </p:nvSpPr>
          <p:spPr>
            <a:xfrm>
              <a:off x="3545691" y="4626256"/>
              <a:ext cx="259307" cy="461665"/>
            </a:xfrm>
            <a:prstGeom prst="rect">
              <a:avLst/>
            </a:prstGeom>
            <a:noFill/>
          </p:spPr>
          <p:txBody>
            <a:bodyPr wrap="square" rtlCol="0">
              <a:spAutoFit/>
            </a:bodyPr>
            <a:lstStyle/>
            <a:p>
              <a:r>
                <a:rPr lang="en-IN" sz="2400" b="1" dirty="0" smtClean="0">
                  <a:solidFill>
                    <a:schemeClr val="accent6"/>
                  </a:solidFill>
                </a:rPr>
                <a:t>3</a:t>
              </a:r>
              <a:endParaRPr lang="en-IN" sz="2400" b="1" dirty="0">
                <a:solidFill>
                  <a:schemeClr val="accent6"/>
                </a:solidFill>
              </a:endParaRPr>
            </a:p>
          </p:txBody>
        </p:sp>
        <p:grpSp>
          <p:nvGrpSpPr>
            <p:cNvPr id="3" name="Group 2"/>
            <p:cNvGrpSpPr/>
            <p:nvPr/>
          </p:nvGrpSpPr>
          <p:grpSpPr>
            <a:xfrm>
              <a:off x="3848671" y="3002507"/>
              <a:ext cx="5598540" cy="3315036"/>
              <a:chOff x="3848671" y="3002507"/>
              <a:chExt cx="5598540" cy="3315036"/>
            </a:xfrm>
          </p:grpSpPr>
          <p:sp>
            <p:nvSpPr>
              <p:cNvPr id="8" name="Rectangle 7"/>
              <p:cNvSpPr/>
              <p:nvPr/>
            </p:nvSpPr>
            <p:spPr>
              <a:xfrm>
                <a:off x="4386481" y="5059529"/>
                <a:ext cx="1317077" cy="5966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chemeClr val="bg1"/>
                    </a:solidFill>
                  </a:rPr>
                  <a:t>TGS</a:t>
                </a:r>
                <a:endParaRPr lang="en-IN" sz="2400" b="1" dirty="0">
                  <a:solidFill>
                    <a:schemeClr val="bg1"/>
                  </a:solidFill>
                </a:endParaRPr>
              </a:p>
            </p:txBody>
          </p:sp>
          <p:grpSp>
            <p:nvGrpSpPr>
              <p:cNvPr id="21" name="Group 20"/>
              <p:cNvGrpSpPr/>
              <p:nvPr/>
            </p:nvGrpSpPr>
            <p:grpSpPr>
              <a:xfrm>
                <a:off x="3848671" y="3002507"/>
                <a:ext cx="5598540" cy="3315036"/>
                <a:chOff x="5076967" y="3002507"/>
                <a:chExt cx="5598540" cy="3315036"/>
              </a:xfrm>
            </p:grpSpPr>
            <p:sp>
              <p:nvSpPr>
                <p:cNvPr id="22" name="Rectangle 21"/>
                <p:cNvSpPr/>
                <p:nvPr/>
              </p:nvSpPr>
              <p:spPr>
                <a:xfrm>
                  <a:off x="5614777" y="3931554"/>
                  <a:ext cx="1317077" cy="5966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chemeClr val="bg1"/>
                      </a:solidFill>
                    </a:rPr>
                    <a:t>AS</a:t>
                  </a:r>
                  <a:endParaRPr lang="en-IN" sz="2400" b="1" dirty="0">
                    <a:solidFill>
                      <a:schemeClr val="bg1"/>
                    </a:solidFill>
                  </a:endParaRPr>
                </a:p>
              </p:txBody>
            </p:sp>
            <p:sp>
              <p:nvSpPr>
                <p:cNvPr id="23" name="Oval 22"/>
                <p:cNvSpPr/>
                <p:nvPr/>
              </p:nvSpPr>
              <p:spPr>
                <a:xfrm>
                  <a:off x="7729932" y="3794077"/>
                  <a:ext cx="1992573" cy="871613"/>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t>Database</a:t>
                  </a:r>
                  <a:endParaRPr lang="en-IN" sz="2400" dirty="0"/>
                </a:p>
              </p:txBody>
            </p:sp>
            <p:sp>
              <p:nvSpPr>
                <p:cNvPr id="24" name="TextBox 23"/>
                <p:cNvSpPr txBox="1"/>
                <p:nvPr/>
              </p:nvSpPr>
              <p:spPr>
                <a:xfrm>
                  <a:off x="7410731" y="3228789"/>
                  <a:ext cx="1562738" cy="461665"/>
                </a:xfrm>
                <a:prstGeom prst="rect">
                  <a:avLst/>
                </a:prstGeom>
                <a:solidFill>
                  <a:srgbClr val="1D3064"/>
                </a:solidFill>
              </p:spPr>
              <p:txBody>
                <a:bodyPr wrap="square" rtlCol="0">
                  <a:spAutoFit/>
                </a:bodyPr>
                <a:lstStyle/>
                <a:p>
                  <a:r>
                    <a:rPr lang="en-IN" sz="2400" dirty="0" smtClean="0">
                      <a:solidFill>
                        <a:schemeClr val="bg1"/>
                      </a:solidFill>
                    </a:rPr>
                    <a:t>Kerberos</a:t>
                  </a:r>
                  <a:endParaRPr lang="en-IN" sz="2400" dirty="0">
                    <a:solidFill>
                      <a:schemeClr val="bg1"/>
                    </a:solidFill>
                  </a:endParaRPr>
                </a:p>
              </p:txBody>
            </p:sp>
            <p:sp>
              <p:nvSpPr>
                <p:cNvPr id="25" name="Rounded Rectangle 24"/>
                <p:cNvSpPr/>
                <p:nvPr/>
              </p:nvSpPr>
              <p:spPr>
                <a:xfrm>
                  <a:off x="5076967" y="3002507"/>
                  <a:ext cx="5598540" cy="3315036"/>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6" name="Straight Arrow Connector 25"/>
                <p:cNvCxnSpPr>
                  <a:stCxn id="22" idx="3"/>
                  <a:endCxn id="23" idx="2"/>
                </p:cNvCxnSpPr>
                <p:nvPr/>
              </p:nvCxnSpPr>
              <p:spPr>
                <a:xfrm>
                  <a:off x="6931854" y="4229884"/>
                  <a:ext cx="798078"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grpSp>
    </p:spTree>
    <p:extLst>
      <p:ext uri="{BB962C8B-B14F-4D97-AF65-F5344CB8AC3E}">
        <p14:creationId xmlns:p14="http://schemas.microsoft.com/office/powerpoint/2010/main" val="3833445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22" presetClass="entr" presetSubtype="4" fill="hold"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wipe(down)">
                                      <p:cBhvr>
                                        <p:cTn id="9" dur="500"/>
                                        <p:tgtEl>
                                          <p:spTgt spid="12"/>
                                        </p:tgtEl>
                                      </p:cBhvr>
                                    </p:animEffect>
                                  </p:childTnLst>
                                </p:cTn>
                              </p:par>
                              <p:par>
                                <p:cTn id="10" presetID="1" presetClass="entr" presetSubtype="0" fill="hold" grpId="0" nodeType="withEffect">
                                  <p:stCondLst>
                                    <p:cond delay="0"/>
                                  </p:stCondLst>
                                  <p:childTnLst>
                                    <p:set>
                                      <p:cBhvr>
                                        <p:cTn id="11" dur="1" fill="hold">
                                          <p:stCondLst>
                                            <p:cond delay="0"/>
                                          </p:stCondLst>
                                        </p:cTn>
                                        <p:tgtEl>
                                          <p:spTgt spid="1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6">
                                            <p:txEl>
                                              <p:pRg st="1" end="1"/>
                                            </p:txEl>
                                          </p:spTgt>
                                        </p:tgtEl>
                                        <p:attrNameLst>
                                          <p:attrName>style.visibility</p:attrName>
                                        </p:attrNameLst>
                                      </p:cBhvr>
                                      <p:to>
                                        <p:strVal val="visible"/>
                                      </p:to>
                                    </p:set>
                                  </p:childTnLst>
                                </p:cTn>
                              </p:par>
                              <p:par>
                                <p:cTn id="16" presetID="22" presetClass="entr" presetSubtype="1"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up)">
                                      <p:cBhvr>
                                        <p:cTn id="18" dur="500"/>
                                        <p:tgtEl>
                                          <p:spTgt spid="13"/>
                                        </p:tgtEl>
                                      </p:cBhvr>
                                    </p:animEffec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50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2" end="2"/>
                                            </p:txEl>
                                          </p:spTgt>
                                        </p:tgtEl>
                                        <p:attrNameLst>
                                          <p:attrName>style.visibility</p:attrName>
                                        </p:attrNameLst>
                                      </p:cBhvr>
                                      <p:to>
                                        <p:strVal val="visible"/>
                                      </p:to>
                                    </p:set>
                                  </p:childTnLst>
                                </p:cTn>
                              </p:par>
                              <p:par>
                                <p:cTn id="27" presetID="22" presetClass="entr" presetSubtype="4"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wipe(down)">
                                      <p:cBhvr>
                                        <p:cTn id="29" dur="500"/>
                                        <p:tgtEl>
                                          <p:spTgt spid="14"/>
                                        </p:tgtEl>
                                      </p:cBhvr>
                                    </p:animEffect>
                                  </p:childTnLst>
                                </p:cTn>
                              </p:par>
                              <p:par>
                                <p:cTn id="30" presetID="1" presetClass="entr" presetSubtype="0" fill="hold" grpId="0" nodeType="withEffect">
                                  <p:stCondLst>
                                    <p:cond delay="0"/>
                                  </p:stCondLst>
                                  <p:childTnLst>
                                    <p:set>
                                      <p:cBhvr>
                                        <p:cTn id="31"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8" grpId="0"/>
      <p:bldP spid="19" grpId="0"/>
      <p:bldP spid="20"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smtClean="0"/>
              <a:t>Authentication in Kerberos</a:t>
            </a:r>
            <a:endParaRPr lang="en-US" dirty="0"/>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endParaRPr lang="en-US" sz="2400" dirty="0" smtClean="0"/>
          </a:p>
          <a:p>
            <a:pPr>
              <a:lnSpc>
                <a:spcPct val="100000"/>
              </a:lnSpc>
            </a:pPr>
            <a:endParaRPr lang="en-US" dirty="0"/>
          </a:p>
          <a:p>
            <a:pPr>
              <a:lnSpc>
                <a:spcPct val="100000"/>
              </a:lnSpc>
            </a:pPr>
            <a:endParaRPr lang="en-US" sz="2400" dirty="0" smtClean="0"/>
          </a:p>
          <a:p>
            <a:pPr>
              <a:lnSpc>
                <a:spcPct val="100000"/>
              </a:lnSpc>
            </a:pPr>
            <a:endParaRPr lang="en-US" dirty="0"/>
          </a:p>
          <a:p>
            <a:pPr>
              <a:lnSpc>
                <a:spcPct val="100000"/>
              </a:lnSpc>
            </a:pPr>
            <a:endParaRPr lang="en-US" sz="2400" dirty="0" smtClean="0"/>
          </a:p>
          <a:p>
            <a:pPr>
              <a:lnSpc>
                <a:spcPct val="100000"/>
              </a:lnSpc>
            </a:pPr>
            <a:endParaRPr lang="en-US" dirty="0"/>
          </a:p>
          <a:p>
            <a:pPr>
              <a:lnSpc>
                <a:spcPct val="100000"/>
              </a:lnSpc>
            </a:pPr>
            <a:r>
              <a:rPr lang="en-US" dirty="0" smtClean="0"/>
              <a:t>Message </a:t>
            </a:r>
            <a:r>
              <a:rPr lang="en-US" dirty="0"/>
              <a:t>1 </a:t>
            </a:r>
            <a:r>
              <a:rPr lang="en-US" dirty="0" smtClean="0"/>
              <a:t>- Alice </a:t>
            </a:r>
            <a:r>
              <a:rPr lang="en-US" dirty="0"/>
              <a:t>types in her login name at </a:t>
            </a:r>
            <a:r>
              <a:rPr lang="en-US" dirty="0" smtClean="0"/>
              <a:t>a workstation</a:t>
            </a:r>
            <a:r>
              <a:rPr lang="en-US" dirty="0"/>
              <a:t>.</a:t>
            </a:r>
          </a:p>
          <a:p>
            <a:pPr>
              <a:lnSpc>
                <a:spcPct val="100000"/>
              </a:lnSpc>
            </a:pPr>
            <a:r>
              <a:rPr lang="en-US" dirty="0"/>
              <a:t>Message 2 </a:t>
            </a:r>
            <a:r>
              <a:rPr lang="en-US" dirty="0" smtClean="0"/>
              <a:t>- contains </a:t>
            </a:r>
            <a:r>
              <a:rPr lang="en-US" dirty="0"/>
              <a:t>login name and is sent to the AS.</a:t>
            </a:r>
          </a:p>
          <a:p>
            <a:pPr>
              <a:lnSpc>
                <a:spcPct val="100000"/>
              </a:lnSpc>
            </a:pPr>
            <a:r>
              <a:rPr lang="en-US" dirty="0"/>
              <a:t>Message 3 </a:t>
            </a:r>
            <a:r>
              <a:rPr lang="en-US" dirty="0" smtClean="0"/>
              <a:t>- contains </a:t>
            </a:r>
            <a:r>
              <a:rPr lang="en-US" dirty="0"/>
              <a:t>the session key K</a:t>
            </a:r>
            <a:r>
              <a:rPr lang="en-US" baseline="-25000" dirty="0"/>
              <a:t>A,TGS</a:t>
            </a:r>
            <a:r>
              <a:rPr lang="en-US" dirty="0"/>
              <a:t> and the </a:t>
            </a:r>
            <a:r>
              <a:rPr lang="en-US" dirty="0" smtClean="0"/>
              <a:t>ticket K</a:t>
            </a:r>
            <a:r>
              <a:rPr lang="en-US" baseline="-25000" dirty="0" smtClean="0"/>
              <a:t>AS,TGS</a:t>
            </a:r>
            <a:r>
              <a:rPr lang="en-US" dirty="0" smtClean="0"/>
              <a:t>(A,K</a:t>
            </a:r>
            <a:r>
              <a:rPr lang="en-US" baseline="-25000" dirty="0" smtClean="0"/>
              <a:t>A,TGS</a:t>
            </a:r>
            <a:r>
              <a:rPr lang="en-US" dirty="0"/>
              <a:t>).</a:t>
            </a:r>
          </a:p>
          <a:p>
            <a:pPr lvl="2"/>
            <a:r>
              <a:rPr lang="en-US" sz="2400" dirty="0"/>
              <a:t>To ensure privacy, message 3 is encrypted with the secret key K</a:t>
            </a:r>
            <a:r>
              <a:rPr lang="en-US" sz="2400" baseline="-25000" dirty="0"/>
              <a:t>A,AS</a:t>
            </a:r>
            <a:r>
              <a:rPr lang="en-US" sz="2400" dirty="0"/>
              <a:t> shared between Alice and the AS.</a:t>
            </a:r>
          </a:p>
          <a:p>
            <a:pPr>
              <a:lnSpc>
                <a:spcPct val="100000"/>
              </a:lnSpc>
            </a:pPr>
            <a:r>
              <a:rPr lang="en-US" dirty="0"/>
              <a:t>Message 4 </a:t>
            </a:r>
            <a:r>
              <a:rPr lang="en-US" dirty="0" smtClean="0"/>
              <a:t>- workstation </a:t>
            </a:r>
            <a:r>
              <a:rPr lang="en-US" dirty="0"/>
              <a:t>prompts Alice for her password</a:t>
            </a:r>
          </a:p>
          <a:p>
            <a:pPr>
              <a:lnSpc>
                <a:spcPct val="100000"/>
              </a:lnSpc>
            </a:pPr>
            <a:endParaRPr lang="en-US" sz="2400" dirty="0" smtClean="0"/>
          </a:p>
          <a:p>
            <a:pPr>
              <a:lnSpc>
                <a:spcPct val="100000"/>
              </a:lnSpc>
            </a:pPr>
            <a:endParaRPr lang="en-US" dirty="0"/>
          </a:p>
          <a:p>
            <a:pPr>
              <a:lnSpc>
                <a:spcPct val="100000"/>
              </a:lnSpc>
            </a:pPr>
            <a:endParaRPr lang="en-US" sz="2400" dirty="0" smtClean="0"/>
          </a:p>
          <a:p>
            <a:pPr>
              <a:lnSpc>
                <a:spcPct val="100000"/>
              </a:lnSpc>
            </a:pPr>
            <a:endParaRPr lang="en-US" dirty="0"/>
          </a:p>
          <a:p>
            <a:pPr>
              <a:lnSpc>
                <a:spcPct val="100000"/>
              </a:lnSpc>
            </a:pPr>
            <a:endParaRPr lang="en-US" sz="2400" dirty="0"/>
          </a:p>
        </p:txBody>
      </p:sp>
      <p:sp>
        <p:nvSpPr>
          <p:cNvPr id="5" name="Rectangle 4"/>
          <p:cNvSpPr/>
          <p:nvPr/>
        </p:nvSpPr>
        <p:spPr>
          <a:xfrm>
            <a:off x="1064799" y="863444"/>
            <a:ext cx="457200" cy="2982415"/>
          </a:xfrm>
          <a:prstGeom prst="rect">
            <a:avLst/>
          </a:prstGeom>
        </p:spPr>
        <p:style>
          <a:lnRef idx="0">
            <a:schemeClr val="accent6"/>
          </a:lnRef>
          <a:fillRef idx="3">
            <a:schemeClr val="accent6"/>
          </a:fillRef>
          <a:effectRef idx="3">
            <a:schemeClr val="accent6"/>
          </a:effectRef>
          <a:fontRef idx="minor">
            <a:schemeClr val="lt1"/>
          </a:fontRef>
        </p:style>
        <p:txBody>
          <a:bodyPr vert="vert270" rtlCol="0" anchor="ctr"/>
          <a:lstStyle/>
          <a:p>
            <a:pPr algn="ctr"/>
            <a:r>
              <a:rPr lang="en-US" sz="2400" dirty="0" smtClean="0"/>
              <a:t>Alice</a:t>
            </a:r>
            <a:endParaRPr lang="en-US" sz="2400" dirty="0"/>
          </a:p>
        </p:txBody>
      </p:sp>
      <p:sp>
        <p:nvSpPr>
          <p:cNvPr id="13" name="Rectangle 12"/>
          <p:cNvSpPr/>
          <p:nvPr/>
        </p:nvSpPr>
        <p:spPr>
          <a:xfrm>
            <a:off x="3808208" y="863444"/>
            <a:ext cx="457200" cy="2982415"/>
          </a:xfrm>
          <a:prstGeom prst="rect">
            <a:avLst/>
          </a:prstGeom>
        </p:spPr>
        <p:style>
          <a:lnRef idx="0">
            <a:schemeClr val="accent6"/>
          </a:lnRef>
          <a:fillRef idx="3">
            <a:schemeClr val="accent6"/>
          </a:fillRef>
          <a:effectRef idx="3">
            <a:schemeClr val="accent6"/>
          </a:effectRef>
          <a:fontRef idx="minor">
            <a:schemeClr val="lt1"/>
          </a:fontRef>
        </p:style>
        <p:txBody>
          <a:bodyPr vert="vert270" rtlCol="0" anchor="ctr"/>
          <a:lstStyle/>
          <a:p>
            <a:pPr algn="ctr"/>
            <a:r>
              <a:rPr lang="en-US" sz="2400" dirty="0" smtClean="0"/>
              <a:t>Alice’s Workstation</a:t>
            </a:r>
            <a:endParaRPr lang="en-US" sz="2400" dirty="0"/>
          </a:p>
        </p:txBody>
      </p:sp>
      <p:sp>
        <p:nvSpPr>
          <p:cNvPr id="37" name="Rectangle 36"/>
          <p:cNvSpPr/>
          <p:nvPr/>
        </p:nvSpPr>
        <p:spPr>
          <a:xfrm>
            <a:off x="9231852" y="863444"/>
            <a:ext cx="457200" cy="1331259"/>
          </a:xfrm>
          <a:prstGeom prst="rect">
            <a:avLst/>
          </a:prstGeom>
        </p:spPr>
        <p:style>
          <a:lnRef idx="0">
            <a:schemeClr val="accent6"/>
          </a:lnRef>
          <a:fillRef idx="3">
            <a:schemeClr val="accent6"/>
          </a:fillRef>
          <a:effectRef idx="3">
            <a:schemeClr val="accent6"/>
          </a:effectRef>
          <a:fontRef idx="minor">
            <a:schemeClr val="lt1"/>
          </a:fontRef>
        </p:style>
        <p:txBody>
          <a:bodyPr vert="vert270" rtlCol="0" anchor="ctr"/>
          <a:lstStyle/>
          <a:p>
            <a:pPr algn="ctr"/>
            <a:r>
              <a:rPr lang="en-US" sz="2400" dirty="0" smtClean="0"/>
              <a:t>AS</a:t>
            </a:r>
            <a:endParaRPr lang="en-US" sz="2400" dirty="0"/>
          </a:p>
        </p:txBody>
      </p:sp>
      <p:grpSp>
        <p:nvGrpSpPr>
          <p:cNvPr id="59" name="Group 58"/>
          <p:cNvGrpSpPr/>
          <p:nvPr/>
        </p:nvGrpSpPr>
        <p:grpSpPr>
          <a:xfrm>
            <a:off x="1521999" y="728974"/>
            <a:ext cx="2286209" cy="506517"/>
            <a:chOff x="1521999" y="728974"/>
            <a:chExt cx="2286209" cy="506517"/>
          </a:xfrm>
        </p:grpSpPr>
        <p:cxnSp>
          <p:nvCxnSpPr>
            <p:cNvPr id="11" name="Straight Arrow Connector 10"/>
            <p:cNvCxnSpPr/>
            <p:nvPr/>
          </p:nvCxnSpPr>
          <p:spPr>
            <a:xfrm>
              <a:off x="1521999" y="1071889"/>
              <a:ext cx="2286209" cy="0"/>
            </a:xfrm>
            <a:prstGeom prst="straightConnector1">
              <a:avLst/>
            </a:prstGeom>
            <a:ln w="28575">
              <a:solidFill>
                <a:srgbClr val="000000"/>
              </a:solidFill>
              <a:tailEnd type="arrow"/>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2165149" y="876893"/>
              <a:ext cx="927673" cy="358598"/>
            </a:xfrm>
            <a:prstGeom prst="rect">
              <a:avLst/>
            </a:prstGeom>
            <a:ln>
              <a:solidFill>
                <a:srgbClr val="0E3755"/>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2400" dirty="0">
                  <a:solidFill>
                    <a:schemeClr val="tx1"/>
                  </a:solidFill>
                </a:rPr>
                <a:t>login</a:t>
              </a:r>
            </a:p>
          </p:txBody>
        </p:sp>
        <p:sp>
          <p:nvSpPr>
            <p:cNvPr id="50" name="TextBox 49"/>
            <p:cNvSpPr txBox="1"/>
            <p:nvPr/>
          </p:nvSpPr>
          <p:spPr>
            <a:xfrm>
              <a:off x="1811688" y="728974"/>
              <a:ext cx="294303" cy="369332"/>
            </a:xfrm>
            <a:prstGeom prst="rect">
              <a:avLst/>
            </a:prstGeom>
            <a:noFill/>
            <a:ln>
              <a:noFill/>
            </a:ln>
          </p:spPr>
          <p:txBody>
            <a:bodyPr wrap="square" rtlCol="0">
              <a:spAutoFit/>
            </a:bodyPr>
            <a:lstStyle/>
            <a:p>
              <a:r>
                <a:rPr lang="en-IN" b="1" dirty="0" smtClean="0">
                  <a:solidFill>
                    <a:schemeClr val="accent4"/>
                  </a:solidFill>
                </a:rPr>
                <a:t>1</a:t>
              </a:r>
              <a:endParaRPr lang="en-IN" b="1" dirty="0">
                <a:solidFill>
                  <a:schemeClr val="accent4"/>
                </a:solidFill>
              </a:endParaRPr>
            </a:p>
          </p:txBody>
        </p:sp>
      </p:grpSp>
      <p:grpSp>
        <p:nvGrpSpPr>
          <p:cNvPr id="60" name="Group 59"/>
          <p:cNvGrpSpPr/>
          <p:nvPr/>
        </p:nvGrpSpPr>
        <p:grpSpPr>
          <a:xfrm>
            <a:off x="4278855" y="855067"/>
            <a:ext cx="4952997" cy="570920"/>
            <a:chOff x="4278855" y="855067"/>
            <a:chExt cx="4952997" cy="570920"/>
          </a:xfrm>
        </p:grpSpPr>
        <p:cxnSp>
          <p:nvCxnSpPr>
            <p:cNvPr id="38" name="Straight Arrow Connector 37"/>
            <p:cNvCxnSpPr/>
            <p:nvPr/>
          </p:nvCxnSpPr>
          <p:spPr>
            <a:xfrm>
              <a:off x="4278855" y="1262385"/>
              <a:ext cx="4952997" cy="0"/>
            </a:xfrm>
            <a:prstGeom prst="straightConnector1">
              <a:avLst/>
            </a:prstGeom>
            <a:ln w="28575">
              <a:solidFill>
                <a:srgbClr val="000000"/>
              </a:solidFill>
              <a:tailEnd type="arrow"/>
            </a:ln>
          </p:spPr>
          <p:style>
            <a:lnRef idx="1">
              <a:schemeClr val="accent1"/>
            </a:lnRef>
            <a:fillRef idx="0">
              <a:schemeClr val="accent1"/>
            </a:fillRef>
            <a:effectRef idx="0">
              <a:schemeClr val="accent1"/>
            </a:effectRef>
            <a:fontRef idx="minor">
              <a:schemeClr val="tx1"/>
            </a:fontRef>
          </p:style>
        </p:cxnSp>
        <p:sp>
          <p:nvSpPr>
            <p:cNvPr id="39" name="Rectangle 38"/>
            <p:cNvSpPr/>
            <p:nvPr/>
          </p:nvSpPr>
          <p:spPr>
            <a:xfrm>
              <a:off x="6199470" y="1067389"/>
              <a:ext cx="927673" cy="358598"/>
            </a:xfrm>
            <a:prstGeom prst="rect">
              <a:avLst/>
            </a:prstGeom>
            <a:ln>
              <a:solidFill>
                <a:srgbClr val="0E3755"/>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2400" dirty="0">
                  <a:solidFill>
                    <a:schemeClr val="tx1"/>
                  </a:solidFill>
                </a:rPr>
                <a:t>A</a:t>
              </a:r>
            </a:p>
          </p:txBody>
        </p:sp>
        <p:sp>
          <p:nvSpPr>
            <p:cNvPr id="53" name="TextBox 52"/>
            <p:cNvSpPr txBox="1"/>
            <p:nvPr/>
          </p:nvSpPr>
          <p:spPr>
            <a:xfrm>
              <a:off x="5849975" y="855067"/>
              <a:ext cx="294303" cy="369332"/>
            </a:xfrm>
            <a:prstGeom prst="rect">
              <a:avLst/>
            </a:prstGeom>
            <a:noFill/>
            <a:ln>
              <a:noFill/>
            </a:ln>
          </p:spPr>
          <p:txBody>
            <a:bodyPr wrap="square" rtlCol="0">
              <a:spAutoFit/>
            </a:bodyPr>
            <a:lstStyle/>
            <a:p>
              <a:r>
                <a:rPr lang="en-IN" b="1" dirty="0" smtClean="0">
                  <a:solidFill>
                    <a:schemeClr val="accent4"/>
                  </a:solidFill>
                </a:rPr>
                <a:t>2</a:t>
              </a:r>
              <a:endParaRPr lang="en-IN" b="1" dirty="0">
                <a:solidFill>
                  <a:schemeClr val="accent4"/>
                </a:solidFill>
              </a:endParaRPr>
            </a:p>
          </p:txBody>
        </p:sp>
      </p:grpSp>
      <p:grpSp>
        <p:nvGrpSpPr>
          <p:cNvPr id="61" name="Group 60"/>
          <p:cNvGrpSpPr/>
          <p:nvPr/>
        </p:nvGrpSpPr>
        <p:grpSpPr>
          <a:xfrm>
            <a:off x="4294943" y="1393709"/>
            <a:ext cx="4936909" cy="612735"/>
            <a:chOff x="4294943" y="1393709"/>
            <a:chExt cx="4936909" cy="612735"/>
          </a:xfrm>
        </p:grpSpPr>
        <p:cxnSp>
          <p:nvCxnSpPr>
            <p:cNvPr id="41" name="Straight Arrow Connector 40"/>
            <p:cNvCxnSpPr/>
            <p:nvPr/>
          </p:nvCxnSpPr>
          <p:spPr>
            <a:xfrm>
              <a:off x="4294943" y="1773372"/>
              <a:ext cx="4936909" cy="0"/>
            </a:xfrm>
            <a:prstGeom prst="straightConnector1">
              <a:avLst/>
            </a:prstGeom>
            <a:ln w="28575">
              <a:solidFill>
                <a:srgbClr val="00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42" name="Rectangle 41"/>
            <p:cNvSpPr/>
            <p:nvPr/>
          </p:nvSpPr>
          <p:spPr>
            <a:xfrm>
              <a:off x="4746811" y="1578375"/>
              <a:ext cx="4020671" cy="428069"/>
            </a:xfrm>
            <a:prstGeom prst="rect">
              <a:avLst/>
            </a:prstGeom>
            <a:ln>
              <a:solidFill>
                <a:srgbClr val="0E3755"/>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2400" dirty="0" smtClean="0">
                  <a:solidFill>
                    <a:schemeClr val="tx1"/>
                  </a:solidFill>
                </a:rPr>
                <a:t>K</a:t>
              </a:r>
              <a:r>
                <a:rPr lang="en-US" sz="2400" baseline="-25000" dirty="0" smtClean="0">
                  <a:solidFill>
                    <a:schemeClr val="tx1"/>
                  </a:solidFill>
                </a:rPr>
                <a:t>A,AS</a:t>
              </a:r>
              <a:r>
                <a:rPr lang="en-US" sz="2400" dirty="0" smtClean="0">
                  <a:solidFill>
                    <a:schemeClr val="tx1"/>
                  </a:solidFill>
                </a:rPr>
                <a:t> (</a:t>
              </a:r>
              <a:r>
                <a:rPr lang="en-IN" sz="2400" dirty="0" smtClean="0">
                  <a:solidFill>
                    <a:schemeClr val="tx1"/>
                  </a:solidFill>
                </a:rPr>
                <a:t>K</a:t>
              </a:r>
              <a:r>
                <a:rPr lang="en-IN" sz="2400" baseline="-25000" dirty="0" smtClean="0">
                  <a:solidFill>
                    <a:schemeClr val="tx1"/>
                  </a:solidFill>
                </a:rPr>
                <a:t>A,TGS</a:t>
              </a:r>
              <a:r>
                <a:rPr lang="en-IN" sz="2400" dirty="0" smtClean="0">
                  <a:solidFill>
                    <a:schemeClr val="tx1"/>
                  </a:solidFill>
                </a:rPr>
                <a:t>, K</a:t>
              </a:r>
              <a:r>
                <a:rPr lang="en-IN" sz="2400" baseline="-25000" dirty="0" smtClean="0">
                  <a:solidFill>
                    <a:schemeClr val="tx1"/>
                  </a:solidFill>
                </a:rPr>
                <a:t>AS,TGS</a:t>
              </a:r>
              <a:r>
                <a:rPr lang="en-IN" sz="2400" dirty="0" smtClean="0">
                  <a:solidFill>
                    <a:schemeClr val="tx1"/>
                  </a:solidFill>
                </a:rPr>
                <a:t> (A, K</a:t>
              </a:r>
              <a:r>
                <a:rPr lang="en-IN" sz="2400" baseline="-25000" dirty="0" smtClean="0">
                  <a:solidFill>
                    <a:schemeClr val="tx1"/>
                  </a:solidFill>
                </a:rPr>
                <a:t>A, TGS</a:t>
              </a:r>
              <a:r>
                <a:rPr lang="en-IN" sz="2400" dirty="0" smtClean="0">
                  <a:solidFill>
                    <a:schemeClr val="tx1"/>
                  </a:solidFill>
                </a:rPr>
                <a:t>))</a:t>
              </a:r>
              <a:endParaRPr lang="en-US" sz="2400" dirty="0">
                <a:solidFill>
                  <a:schemeClr val="tx1"/>
                </a:solidFill>
              </a:endParaRPr>
            </a:p>
          </p:txBody>
        </p:sp>
        <p:sp>
          <p:nvSpPr>
            <p:cNvPr id="54" name="TextBox 53"/>
            <p:cNvSpPr txBox="1"/>
            <p:nvPr/>
          </p:nvSpPr>
          <p:spPr>
            <a:xfrm>
              <a:off x="4468854" y="1393709"/>
              <a:ext cx="294303" cy="369332"/>
            </a:xfrm>
            <a:prstGeom prst="rect">
              <a:avLst/>
            </a:prstGeom>
            <a:noFill/>
            <a:ln>
              <a:noFill/>
            </a:ln>
          </p:spPr>
          <p:txBody>
            <a:bodyPr wrap="square" rtlCol="0">
              <a:spAutoFit/>
            </a:bodyPr>
            <a:lstStyle/>
            <a:p>
              <a:r>
                <a:rPr lang="en-IN" b="1" dirty="0" smtClean="0">
                  <a:solidFill>
                    <a:schemeClr val="accent4"/>
                  </a:solidFill>
                </a:rPr>
                <a:t>3</a:t>
              </a:r>
              <a:endParaRPr lang="en-IN" b="1" dirty="0">
                <a:solidFill>
                  <a:schemeClr val="accent4"/>
                </a:solidFill>
              </a:endParaRPr>
            </a:p>
          </p:txBody>
        </p:sp>
      </p:grpSp>
      <p:grpSp>
        <p:nvGrpSpPr>
          <p:cNvPr id="65" name="Group 64"/>
          <p:cNvGrpSpPr/>
          <p:nvPr/>
        </p:nvGrpSpPr>
        <p:grpSpPr>
          <a:xfrm>
            <a:off x="1504329" y="1788162"/>
            <a:ext cx="2286209" cy="529247"/>
            <a:chOff x="1504329" y="1788162"/>
            <a:chExt cx="2286209" cy="529247"/>
          </a:xfrm>
        </p:grpSpPr>
        <p:cxnSp>
          <p:nvCxnSpPr>
            <p:cNvPr id="33" name="Straight Arrow Connector 32"/>
            <p:cNvCxnSpPr/>
            <p:nvPr/>
          </p:nvCxnSpPr>
          <p:spPr>
            <a:xfrm>
              <a:off x="1504329" y="2153807"/>
              <a:ext cx="2286209" cy="0"/>
            </a:xfrm>
            <a:prstGeom prst="straightConnector1">
              <a:avLst/>
            </a:prstGeom>
            <a:ln w="28575">
              <a:solidFill>
                <a:srgbClr val="00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34" name="Rectangle 33"/>
            <p:cNvSpPr/>
            <p:nvPr/>
          </p:nvSpPr>
          <p:spPr>
            <a:xfrm>
              <a:off x="1882588" y="1958811"/>
              <a:ext cx="1504537" cy="358598"/>
            </a:xfrm>
            <a:prstGeom prst="rect">
              <a:avLst/>
            </a:prstGeom>
            <a:ln>
              <a:solidFill>
                <a:srgbClr val="0E3755"/>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2400" dirty="0">
                  <a:solidFill>
                    <a:schemeClr val="tx1"/>
                  </a:solidFill>
                </a:rPr>
                <a:t>Password?</a:t>
              </a:r>
            </a:p>
          </p:txBody>
        </p:sp>
        <p:sp>
          <p:nvSpPr>
            <p:cNvPr id="55" name="TextBox 54"/>
            <p:cNvSpPr txBox="1"/>
            <p:nvPr/>
          </p:nvSpPr>
          <p:spPr>
            <a:xfrm>
              <a:off x="1638231" y="1788162"/>
              <a:ext cx="294303" cy="369332"/>
            </a:xfrm>
            <a:prstGeom prst="rect">
              <a:avLst/>
            </a:prstGeom>
            <a:noFill/>
            <a:ln>
              <a:noFill/>
            </a:ln>
          </p:spPr>
          <p:txBody>
            <a:bodyPr wrap="square" rtlCol="0">
              <a:spAutoFit/>
            </a:bodyPr>
            <a:lstStyle/>
            <a:p>
              <a:r>
                <a:rPr lang="en-IN" b="1" dirty="0" smtClean="0">
                  <a:solidFill>
                    <a:schemeClr val="accent4"/>
                  </a:solidFill>
                </a:rPr>
                <a:t>4</a:t>
              </a:r>
              <a:endParaRPr lang="en-IN" b="1" dirty="0">
                <a:solidFill>
                  <a:schemeClr val="accent4"/>
                </a:solidFill>
              </a:endParaRPr>
            </a:p>
          </p:txBody>
        </p:sp>
      </p:grpSp>
    </p:spTree>
    <p:extLst>
      <p:ext uri="{BB962C8B-B14F-4D97-AF65-F5344CB8AC3E}">
        <p14:creationId xmlns:p14="http://schemas.microsoft.com/office/powerpoint/2010/main" val="1187667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22" presetClass="entr" presetSubtype="8" fill="hold" nodeType="withEffect">
                                  <p:stCondLst>
                                    <p:cond delay="0"/>
                                  </p:stCondLst>
                                  <p:childTnLst>
                                    <p:set>
                                      <p:cBhvr>
                                        <p:cTn id="14" dur="1" fill="hold">
                                          <p:stCondLst>
                                            <p:cond delay="0"/>
                                          </p:stCondLst>
                                        </p:cTn>
                                        <p:tgtEl>
                                          <p:spTgt spid="59"/>
                                        </p:tgtEl>
                                        <p:attrNameLst>
                                          <p:attrName>style.visibility</p:attrName>
                                        </p:attrNameLst>
                                      </p:cBhvr>
                                      <p:to>
                                        <p:strVal val="visible"/>
                                      </p:to>
                                    </p:set>
                                    <p:animEffect transition="in" filter="wipe(left)">
                                      <p:cBhvr>
                                        <p:cTn id="15" dur="500"/>
                                        <p:tgtEl>
                                          <p:spTgt spid="59"/>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60"/>
                                        </p:tgtEl>
                                        <p:attrNameLst>
                                          <p:attrName>style.visibility</p:attrName>
                                        </p:attrNameLst>
                                      </p:cBhvr>
                                      <p:to>
                                        <p:strVal val="visible"/>
                                      </p:to>
                                    </p:set>
                                    <p:animEffect transition="in" filter="wipe(left)">
                                      <p:cBhvr>
                                        <p:cTn id="20" dur="500"/>
                                        <p:tgtEl>
                                          <p:spTgt spid="60"/>
                                        </p:tgtEl>
                                      </p:cBhvr>
                                    </p:animEffect>
                                  </p:childTnLst>
                                </p:cTn>
                              </p:par>
                              <p:par>
                                <p:cTn id="21" presetID="1" presetClass="entr" presetSubtype="0" fill="hold" grpId="0" nodeType="withEffect">
                                  <p:stCondLst>
                                    <p:cond delay="500"/>
                                  </p:stCondLst>
                                  <p:childTnLst>
                                    <p:set>
                                      <p:cBhvr>
                                        <p:cTn id="22" dur="1" fill="hold">
                                          <p:stCondLst>
                                            <p:cond delay="0"/>
                                          </p:stCondLst>
                                        </p:cTn>
                                        <p:tgtEl>
                                          <p:spTgt spid="3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22" presetClass="entr" presetSubtype="2" fill="hold" nodeType="withEffect">
                                  <p:stCondLst>
                                    <p:cond delay="0"/>
                                  </p:stCondLst>
                                  <p:childTnLst>
                                    <p:set>
                                      <p:cBhvr>
                                        <p:cTn id="32" dur="1" fill="hold">
                                          <p:stCondLst>
                                            <p:cond delay="0"/>
                                          </p:stCondLst>
                                        </p:cTn>
                                        <p:tgtEl>
                                          <p:spTgt spid="61"/>
                                        </p:tgtEl>
                                        <p:attrNameLst>
                                          <p:attrName>style.visibility</p:attrName>
                                        </p:attrNameLst>
                                      </p:cBhvr>
                                      <p:to>
                                        <p:strVal val="visible"/>
                                      </p:to>
                                    </p:set>
                                    <p:animEffect transition="in" filter="wipe(right)">
                                      <p:cBhvr>
                                        <p:cTn id="33" dur="500"/>
                                        <p:tgtEl>
                                          <p:spTgt spid="61"/>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3">
                                            <p:txEl>
                                              <p:pRg st="10" end="10"/>
                                            </p:txEl>
                                          </p:spTgt>
                                        </p:tgtEl>
                                        <p:attrNameLst>
                                          <p:attrName>style.visibility</p:attrName>
                                        </p:attrNameLst>
                                      </p:cBhvr>
                                      <p:to>
                                        <p:strVal val="visible"/>
                                      </p:to>
                                    </p:set>
                                  </p:childTnLst>
                                </p:cTn>
                              </p:par>
                              <p:par>
                                <p:cTn id="38" presetID="22" presetClass="entr" presetSubtype="2" fill="hold" nodeType="withEffect">
                                  <p:stCondLst>
                                    <p:cond delay="0"/>
                                  </p:stCondLst>
                                  <p:childTnLst>
                                    <p:set>
                                      <p:cBhvr>
                                        <p:cTn id="39" dur="1" fill="hold">
                                          <p:stCondLst>
                                            <p:cond delay="0"/>
                                          </p:stCondLst>
                                        </p:cTn>
                                        <p:tgtEl>
                                          <p:spTgt spid="65"/>
                                        </p:tgtEl>
                                        <p:attrNameLst>
                                          <p:attrName>style.visibility</p:attrName>
                                        </p:attrNameLst>
                                      </p:cBhvr>
                                      <p:to>
                                        <p:strVal val="visible"/>
                                      </p:to>
                                    </p:set>
                                    <p:animEffect transition="in" filter="wipe(right)">
                                      <p:cBhvr>
                                        <p:cTn id="40"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3" grpId="0" animBg="1"/>
      <p:bldP spid="37"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smtClean="0"/>
              <a:t>Authentication in Kerberos</a:t>
            </a:r>
            <a:endParaRPr lang="en-US" dirty="0"/>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endParaRPr lang="en-US" sz="2400" dirty="0" smtClean="0"/>
          </a:p>
          <a:p>
            <a:pPr>
              <a:lnSpc>
                <a:spcPct val="100000"/>
              </a:lnSpc>
            </a:pPr>
            <a:endParaRPr lang="en-US" dirty="0"/>
          </a:p>
          <a:p>
            <a:pPr>
              <a:lnSpc>
                <a:spcPct val="100000"/>
              </a:lnSpc>
            </a:pPr>
            <a:endParaRPr lang="en-US" sz="2400" dirty="0" smtClean="0"/>
          </a:p>
          <a:p>
            <a:pPr>
              <a:lnSpc>
                <a:spcPct val="100000"/>
              </a:lnSpc>
            </a:pPr>
            <a:endParaRPr lang="en-US" dirty="0"/>
          </a:p>
          <a:p>
            <a:pPr>
              <a:lnSpc>
                <a:spcPct val="100000"/>
              </a:lnSpc>
            </a:pPr>
            <a:endParaRPr lang="en-US" sz="2400" dirty="0" smtClean="0"/>
          </a:p>
          <a:p>
            <a:pPr>
              <a:lnSpc>
                <a:spcPct val="100000"/>
              </a:lnSpc>
            </a:pPr>
            <a:endParaRPr lang="en-US" dirty="0"/>
          </a:p>
          <a:p>
            <a:pPr>
              <a:lnSpc>
                <a:spcPct val="100000"/>
              </a:lnSpc>
            </a:pPr>
            <a:r>
              <a:rPr lang="en-US" dirty="0" smtClean="0"/>
              <a:t>Message </a:t>
            </a:r>
            <a:r>
              <a:rPr lang="en-US" dirty="0"/>
              <a:t>5 </a:t>
            </a:r>
            <a:r>
              <a:rPr lang="en-US" dirty="0" smtClean="0"/>
              <a:t>– PWD </a:t>
            </a:r>
            <a:r>
              <a:rPr lang="en-US" dirty="0"/>
              <a:t>returned to workstation which generates shared key </a:t>
            </a:r>
            <a:r>
              <a:rPr lang="en-US" dirty="0" smtClean="0"/>
              <a:t>K</a:t>
            </a:r>
            <a:r>
              <a:rPr lang="en-US" baseline="-25000" dirty="0" smtClean="0"/>
              <a:t>A,AS</a:t>
            </a:r>
            <a:r>
              <a:rPr lang="en-US" dirty="0" smtClean="0"/>
              <a:t> and </a:t>
            </a:r>
            <a:r>
              <a:rPr lang="en-US" dirty="0"/>
              <a:t>find session key K</a:t>
            </a:r>
            <a:r>
              <a:rPr lang="en-US" baseline="-25000" dirty="0"/>
              <a:t>A,TGS</a:t>
            </a:r>
            <a:r>
              <a:rPr lang="en-US" dirty="0"/>
              <a:t>.</a:t>
            </a:r>
          </a:p>
          <a:p>
            <a:pPr>
              <a:lnSpc>
                <a:spcPct val="100000"/>
              </a:lnSpc>
            </a:pPr>
            <a:r>
              <a:rPr lang="en-US" dirty="0"/>
              <a:t>Message 6 –</a:t>
            </a:r>
            <a:r>
              <a:rPr lang="en-US" dirty="0" smtClean="0"/>
              <a:t>to talk </a:t>
            </a:r>
            <a:r>
              <a:rPr lang="en-US" dirty="0"/>
              <a:t>to Bob, she requests the TGS to generate a session key for Bob.</a:t>
            </a:r>
          </a:p>
          <a:p>
            <a:pPr lvl="2"/>
            <a:r>
              <a:rPr lang="en-US" sz="2400" dirty="0"/>
              <a:t>The fact that Alice has the ticket K</a:t>
            </a:r>
            <a:r>
              <a:rPr lang="en-US" sz="2400" baseline="-25000" dirty="0"/>
              <a:t>AS,TGS</a:t>
            </a:r>
            <a:r>
              <a:rPr lang="en-US" sz="2400" dirty="0"/>
              <a:t>(A,K</a:t>
            </a:r>
            <a:r>
              <a:rPr lang="en-US" sz="2400" baseline="-25000" dirty="0"/>
              <a:t>A,TGS</a:t>
            </a:r>
            <a:r>
              <a:rPr lang="en-US" sz="2400" dirty="0"/>
              <a:t>) proves that she is Alice.</a:t>
            </a:r>
          </a:p>
          <a:p>
            <a:pPr lvl="2"/>
            <a:r>
              <a:rPr lang="en-US" sz="2400" dirty="0"/>
              <a:t>Message </a:t>
            </a:r>
            <a:r>
              <a:rPr lang="en-US" sz="2400" dirty="0" smtClean="0"/>
              <a:t>also contains </a:t>
            </a:r>
            <a:r>
              <a:rPr lang="en-US" sz="2400" dirty="0"/>
              <a:t>a timestamp, t, encrypted with the secret key shared between Alice and the TGS.</a:t>
            </a:r>
          </a:p>
          <a:p>
            <a:pPr>
              <a:lnSpc>
                <a:spcPct val="100000"/>
              </a:lnSpc>
            </a:pPr>
            <a:endParaRPr lang="en-US" dirty="0"/>
          </a:p>
          <a:p>
            <a:pPr>
              <a:lnSpc>
                <a:spcPct val="100000"/>
              </a:lnSpc>
            </a:pPr>
            <a:endParaRPr lang="en-US" sz="2400" dirty="0" smtClean="0"/>
          </a:p>
          <a:p>
            <a:pPr>
              <a:lnSpc>
                <a:spcPct val="100000"/>
              </a:lnSpc>
            </a:pPr>
            <a:endParaRPr lang="en-US" dirty="0"/>
          </a:p>
          <a:p>
            <a:pPr>
              <a:lnSpc>
                <a:spcPct val="100000"/>
              </a:lnSpc>
            </a:pPr>
            <a:endParaRPr lang="en-US" sz="2400" dirty="0"/>
          </a:p>
        </p:txBody>
      </p:sp>
      <p:sp>
        <p:nvSpPr>
          <p:cNvPr id="5" name="Rectangle 4"/>
          <p:cNvSpPr/>
          <p:nvPr/>
        </p:nvSpPr>
        <p:spPr>
          <a:xfrm>
            <a:off x="1064799" y="863444"/>
            <a:ext cx="457200" cy="2982415"/>
          </a:xfrm>
          <a:prstGeom prst="rect">
            <a:avLst/>
          </a:prstGeom>
        </p:spPr>
        <p:style>
          <a:lnRef idx="0">
            <a:schemeClr val="accent6"/>
          </a:lnRef>
          <a:fillRef idx="3">
            <a:schemeClr val="accent6"/>
          </a:fillRef>
          <a:effectRef idx="3">
            <a:schemeClr val="accent6"/>
          </a:effectRef>
          <a:fontRef idx="minor">
            <a:schemeClr val="lt1"/>
          </a:fontRef>
        </p:style>
        <p:txBody>
          <a:bodyPr vert="vert270" rtlCol="0" anchor="ctr"/>
          <a:lstStyle/>
          <a:p>
            <a:pPr algn="ctr"/>
            <a:r>
              <a:rPr lang="en-US" sz="2400" dirty="0" smtClean="0"/>
              <a:t>Alice</a:t>
            </a:r>
            <a:endParaRPr lang="en-US" sz="2400" dirty="0"/>
          </a:p>
        </p:txBody>
      </p:sp>
      <p:sp>
        <p:nvSpPr>
          <p:cNvPr id="13" name="Rectangle 12"/>
          <p:cNvSpPr/>
          <p:nvPr/>
        </p:nvSpPr>
        <p:spPr>
          <a:xfrm>
            <a:off x="3808208" y="863444"/>
            <a:ext cx="457200" cy="2982415"/>
          </a:xfrm>
          <a:prstGeom prst="rect">
            <a:avLst/>
          </a:prstGeom>
        </p:spPr>
        <p:style>
          <a:lnRef idx="0">
            <a:schemeClr val="accent6"/>
          </a:lnRef>
          <a:fillRef idx="3">
            <a:schemeClr val="accent6"/>
          </a:fillRef>
          <a:effectRef idx="3">
            <a:schemeClr val="accent6"/>
          </a:effectRef>
          <a:fontRef idx="minor">
            <a:schemeClr val="lt1"/>
          </a:fontRef>
        </p:style>
        <p:txBody>
          <a:bodyPr vert="vert270" rtlCol="0" anchor="ctr"/>
          <a:lstStyle/>
          <a:p>
            <a:pPr algn="ctr"/>
            <a:r>
              <a:rPr lang="en-US" sz="2400" dirty="0" smtClean="0"/>
              <a:t>Alice’s Workstation</a:t>
            </a:r>
            <a:endParaRPr lang="en-US" sz="2400" dirty="0"/>
          </a:p>
        </p:txBody>
      </p:sp>
      <p:sp>
        <p:nvSpPr>
          <p:cNvPr id="37" name="Rectangle 36"/>
          <p:cNvSpPr/>
          <p:nvPr/>
        </p:nvSpPr>
        <p:spPr>
          <a:xfrm>
            <a:off x="9231852" y="863444"/>
            <a:ext cx="457200" cy="1331259"/>
          </a:xfrm>
          <a:prstGeom prst="rect">
            <a:avLst/>
          </a:prstGeom>
        </p:spPr>
        <p:style>
          <a:lnRef idx="0">
            <a:schemeClr val="accent6"/>
          </a:lnRef>
          <a:fillRef idx="3">
            <a:schemeClr val="accent6"/>
          </a:fillRef>
          <a:effectRef idx="3">
            <a:schemeClr val="accent6"/>
          </a:effectRef>
          <a:fontRef idx="minor">
            <a:schemeClr val="lt1"/>
          </a:fontRef>
        </p:style>
        <p:txBody>
          <a:bodyPr vert="vert270" rtlCol="0" anchor="ctr"/>
          <a:lstStyle/>
          <a:p>
            <a:pPr algn="ctr"/>
            <a:r>
              <a:rPr lang="en-US" sz="2400" dirty="0" smtClean="0"/>
              <a:t>AS</a:t>
            </a:r>
            <a:endParaRPr lang="en-US" sz="2400" dirty="0"/>
          </a:p>
        </p:txBody>
      </p:sp>
      <p:sp>
        <p:nvSpPr>
          <p:cNvPr id="45" name="Rectangle 44"/>
          <p:cNvSpPr/>
          <p:nvPr/>
        </p:nvSpPr>
        <p:spPr>
          <a:xfrm>
            <a:off x="9231852" y="2418833"/>
            <a:ext cx="457200" cy="1427026"/>
          </a:xfrm>
          <a:prstGeom prst="rect">
            <a:avLst/>
          </a:prstGeom>
        </p:spPr>
        <p:style>
          <a:lnRef idx="0">
            <a:schemeClr val="accent6"/>
          </a:lnRef>
          <a:fillRef idx="3">
            <a:schemeClr val="accent6"/>
          </a:fillRef>
          <a:effectRef idx="3">
            <a:schemeClr val="accent6"/>
          </a:effectRef>
          <a:fontRef idx="minor">
            <a:schemeClr val="lt1"/>
          </a:fontRef>
        </p:style>
        <p:txBody>
          <a:bodyPr vert="vert270" rtlCol="0" anchor="ctr"/>
          <a:lstStyle/>
          <a:p>
            <a:pPr algn="ctr"/>
            <a:r>
              <a:rPr lang="en-US" sz="2400" dirty="0" smtClean="0"/>
              <a:t>TGS</a:t>
            </a:r>
            <a:endParaRPr lang="en-US" sz="2400" dirty="0"/>
          </a:p>
        </p:txBody>
      </p:sp>
      <p:grpSp>
        <p:nvGrpSpPr>
          <p:cNvPr id="59" name="Group 58"/>
          <p:cNvGrpSpPr/>
          <p:nvPr/>
        </p:nvGrpSpPr>
        <p:grpSpPr>
          <a:xfrm>
            <a:off x="1521999" y="728974"/>
            <a:ext cx="2286209" cy="506517"/>
            <a:chOff x="1521999" y="728974"/>
            <a:chExt cx="2286209" cy="506517"/>
          </a:xfrm>
        </p:grpSpPr>
        <p:cxnSp>
          <p:nvCxnSpPr>
            <p:cNvPr id="11" name="Straight Arrow Connector 10"/>
            <p:cNvCxnSpPr/>
            <p:nvPr/>
          </p:nvCxnSpPr>
          <p:spPr>
            <a:xfrm>
              <a:off x="1521999" y="1071889"/>
              <a:ext cx="2286209" cy="0"/>
            </a:xfrm>
            <a:prstGeom prst="straightConnector1">
              <a:avLst/>
            </a:prstGeom>
            <a:ln w="28575">
              <a:solidFill>
                <a:srgbClr val="000000"/>
              </a:solidFill>
              <a:tailEnd type="arrow"/>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2165149" y="876893"/>
              <a:ext cx="927673" cy="358598"/>
            </a:xfrm>
            <a:prstGeom prst="rect">
              <a:avLst/>
            </a:prstGeom>
            <a:ln>
              <a:solidFill>
                <a:srgbClr val="0E3755"/>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2400" dirty="0">
                  <a:solidFill>
                    <a:schemeClr val="tx1"/>
                  </a:solidFill>
                </a:rPr>
                <a:t>login</a:t>
              </a:r>
            </a:p>
          </p:txBody>
        </p:sp>
        <p:sp>
          <p:nvSpPr>
            <p:cNvPr id="50" name="TextBox 49"/>
            <p:cNvSpPr txBox="1"/>
            <p:nvPr/>
          </p:nvSpPr>
          <p:spPr>
            <a:xfrm>
              <a:off x="1811688" y="728974"/>
              <a:ext cx="294303" cy="369332"/>
            </a:xfrm>
            <a:prstGeom prst="rect">
              <a:avLst/>
            </a:prstGeom>
            <a:noFill/>
            <a:ln>
              <a:noFill/>
            </a:ln>
          </p:spPr>
          <p:txBody>
            <a:bodyPr wrap="square" rtlCol="0">
              <a:spAutoFit/>
            </a:bodyPr>
            <a:lstStyle/>
            <a:p>
              <a:r>
                <a:rPr lang="en-IN" b="1" dirty="0" smtClean="0">
                  <a:solidFill>
                    <a:schemeClr val="accent4"/>
                  </a:solidFill>
                </a:rPr>
                <a:t>1</a:t>
              </a:r>
              <a:endParaRPr lang="en-IN" b="1" dirty="0">
                <a:solidFill>
                  <a:schemeClr val="accent4"/>
                </a:solidFill>
              </a:endParaRPr>
            </a:p>
          </p:txBody>
        </p:sp>
      </p:grpSp>
      <p:grpSp>
        <p:nvGrpSpPr>
          <p:cNvPr id="60" name="Group 59"/>
          <p:cNvGrpSpPr/>
          <p:nvPr/>
        </p:nvGrpSpPr>
        <p:grpSpPr>
          <a:xfrm>
            <a:off x="4278855" y="855067"/>
            <a:ext cx="4952997" cy="570920"/>
            <a:chOff x="4278855" y="855067"/>
            <a:chExt cx="4952997" cy="570920"/>
          </a:xfrm>
        </p:grpSpPr>
        <p:cxnSp>
          <p:nvCxnSpPr>
            <p:cNvPr id="38" name="Straight Arrow Connector 37"/>
            <p:cNvCxnSpPr/>
            <p:nvPr/>
          </p:nvCxnSpPr>
          <p:spPr>
            <a:xfrm>
              <a:off x="4278855" y="1262385"/>
              <a:ext cx="4952997" cy="0"/>
            </a:xfrm>
            <a:prstGeom prst="straightConnector1">
              <a:avLst/>
            </a:prstGeom>
            <a:ln w="28575">
              <a:solidFill>
                <a:srgbClr val="000000"/>
              </a:solidFill>
              <a:tailEnd type="arrow"/>
            </a:ln>
          </p:spPr>
          <p:style>
            <a:lnRef idx="1">
              <a:schemeClr val="accent1"/>
            </a:lnRef>
            <a:fillRef idx="0">
              <a:schemeClr val="accent1"/>
            </a:fillRef>
            <a:effectRef idx="0">
              <a:schemeClr val="accent1"/>
            </a:effectRef>
            <a:fontRef idx="minor">
              <a:schemeClr val="tx1"/>
            </a:fontRef>
          </p:style>
        </p:cxnSp>
        <p:sp>
          <p:nvSpPr>
            <p:cNvPr id="39" name="Rectangle 38"/>
            <p:cNvSpPr/>
            <p:nvPr/>
          </p:nvSpPr>
          <p:spPr>
            <a:xfrm>
              <a:off x="6199470" y="1067389"/>
              <a:ext cx="927673" cy="358598"/>
            </a:xfrm>
            <a:prstGeom prst="rect">
              <a:avLst/>
            </a:prstGeom>
            <a:ln>
              <a:solidFill>
                <a:srgbClr val="0E3755"/>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2400" dirty="0">
                  <a:solidFill>
                    <a:schemeClr val="tx1"/>
                  </a:solidFill>
                </a:rPr>
                <a:t>A</a:t>
              </a:r>
            </a:p>
          </p:txBody>
        </p:sp>
        <p:sp>
          <p:nvSpPr>
            <p:cNvPr id="53" name="TextBox 52"/>
            <p:cNvSpPr txBox="1"/>
            <p:nvPr/>
          </p:nvSpPr>
          <p:spPr>
            <a:xfrm>
              <a:off x="5849975" y="855067"/>
              <a:ext cx="294303" cy="369332"/>
            </a:xfrm>
            <a:prstGeom prst="rect">
              <a:avLst/>
            </a:prstGeom>
            <a:noFill/>
            <a:ln>
              <a:noFill/>
            </a:ln>
          </p:spPr>
          <p:txBody>
            <a:bodyPr wrap="square" rtlCol="0">
              <a:spAutoFit/>
            </a:bodyPr>
            <a:lstStyle/>
            <a:p>
              <a:r>
                <a:rPr lang="en-IN" b="1" dirty="0" smtClean="0">
                  <a:solidFill>
                    <a:schemeClr val="accent4"/>
                  </a:solidFill>
                </a:rPr>
                <a:t>2</a:t>
              </a:r>
              <a:endParaRPr lang="en-IN" b="1" dirty="0">
                <a:solidFill>
                  <a:schemeClr val="accent4"/>
                </a:solidFill>
              </a:endParaRPr>
            </a:p>
          </p:txBody>
        </p:sp>
      </p:grpSp>
      <p:grpSp>
        <p:nvGrpSpPr>
          <p:cNvPr id="61" name="Group 60"/>
          <p:cNvGrpSpPr/>
          <p:nvPr/>
        </p:nvGrpSpPr>
        <p:grpSpPr>
          <a:xfrm>
            <a:off x="4294943" y="1393709"/>
            <a:ext cx="4936909" cy="612735"/>
            <a:chOff x="4294943" y="1393709"/>
            <a:chExt cx="4936909" cy="612735"/>
          </a:xfrm>
        </p:grpSpPr>
        <p:cxnSp>
          <p:nvCxnSpPr>
            <p:cNvPr id="41" name="Straight Arrow Connector 40"/>
            <p:cNvCxnSpPr/>
            <p:nvPr/>
          </p:nvCxnSpPr>
          <p:spPr>
            <a:xfrm>
              <a:off x="4294943" y="1773372"/>
              <a:ext cx="4936909" cy="0"/>
            </a:xfrm>
            <a:prstGeom prst="straightConnector1">
              <a:avLst/>
            </a:prstGeom>
            <a:ln w="28575">
              <a:solidFill>
                <a:srgbClr val="00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42" name="Rectangle 41"/>
            <p:cNvSpPr/>
            <p:nvPr/>
          </p:nvSpPr>
          <p:spPr>
            <a:xfrm>
              <a:off x="4746811" y="1578375"/>
              <a:ext cx="4020671" cy="428069"/>
            </a:xfrm>
            <a:prstGeom prst="rect">
              <a:avLst/>
            </a:prstGeom>
            <a:ln>
              <a:solidFill>
                <a:srgbClr val="0E3755"/>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2400" dirty="0" smtClean="0">
                  <a:solidFill>
                    <a:schemeClr val="tx1"/>
                  </a:solidFill>
                </a:rPr>
                <a:t>K</a:t>
              </a:r>
              <a:r>
                <a:rPr lang="en-US" sz="2400" baseline="-25000" dirty="0" smtClean="0">
                  <a:solidFill>
                    <a:schemeClr val="tx1"/>
                  </a:solidFill>
                </a:rPr>
                <a:t>A,AS</a:t>
              </a:r>
              <a:r>
                <a:rPr lang="en-US" sz="2400" dirty="0" smtClean="0">
                  <a:solidFill>
                    <a:schemeClr val="tx1"/>
                  </a:solidFill>
                </a:rPr>
                <a:t> (</a:t>
              </a:r>
              <a:r>
                <a:rPr lang="en-IN" sz="2400" dirty="0" smtClean="0">
                  <a:solidFill>
                    <a:schemeClr val="tx1"/>
                  </a:solidFill>
                </a:rPr>
                <a:t>K</a:t>
              </a:r>
              <a:r>
                <a:rPr lang="en-IN" sz="2400" baseline="-25000" dirty="0" smtClean="0">
                  <a:solidFill>
                    <a:schemeClr val="tx1"/>
                  </a:solidFill>
                </a:rPr>
                <a:t>A,TGS</a:t>
              </a:r>
              <a:r>
                <a:rPr lang="en-IN" sz="2400" dirty="0" smtClean="0">
                  <a:solidFill>
                    <a:schemeClr val="tx1"/>
                  </a:solidFill>
                </a:rPr>
                <a:t>, K</a:t>
              </a:r>
              <a:r>
                <a:rPr lang="en-IN" sz="2400" baseline="-25000" dirty="0" smtClean="0">
                  <a:solidFill>
                    <a:schemeClr val="tx1"/>
                  </a:solidFill>
                </a:rPr>
                <a:t>AS,TGS</a:t>
              </a:r>
              <a:r>
                <a:rPr lang="en-IN" sz="2400" dirty="0" smtClean="0">
                  <a:solidFill>
                    <a:schemeClr val="tx1"/>
                  </a:solidFill>
                </a:rPr>
                <a:t> (A, K</a:t>
              </a:r>
              <a:r>
                <a:rPr lang="en-IN" sz="2400" baseline="-25000" dirty="0" smtClean="0">
                  <a:solidFill>
                    <a:schemeClr val="tx1"/>
                  </a:solidFill>
                </a:rPr>
                <a:t>A, TGS</a:t>
              </a:r>
              <a:r>
                <a:rPr lang="en-IN" sz="2400" dirty="0" smtClean="0">
                  <a:solidFill>
                    <a:schemeClr val="tx1"/>
                  </a:solidFill>
                </a:rPr>
                <a:t>))</a:t>
              </a:r>
              <a:endParaRPr lang="en-US" sz="2400" dirty="0">
                <a:solidFill>
                  <a:schemeClr val="tx1"/>
                </a:solidFill>
              </a:endParaRPr>
            </a:p>
          </p:txBody>
        </p:sp>
        <p:sp>
          <p:nvSpPr>
            <p:cNvPr id="54" name="TextBox 53"/>
            <p:cNvSpPr txBox="1"/>
            <p:nvPr/>
          </p:nvSpPr>
          <p:spPr>
            <a:xfrm>
              <a:off x="4468854" y="1393709"/>
              <a:ext cx="294303" cy="369332"/>
            </a:xfrm>
            <a:prstGeom prst="rect">
              <a:avLst/>
            </a:prstGeom>
            <a:noFill/>
            <a:ln>
              <a:noFill/>
            </a:ln>
          </p:spPr>
          <p:txBody>
            <a:bodyPr wrap="square" rtlCol="0">
              <a:spAutoFit/>
            </a:bodyPr>
            <a:lstStyle/>
            <a:p>
              <a:r>
                <a:rPr lang="en-IN" b="1" dirty="0" smtClean="0">
                  <a:solidFill>
                    <a:schemeClr val="accent4"/>
                  </a:solidFill>
                </a:rPr>
                <a:t>3</a:t>
              </a:r>
              <a:endParaRPr lang="en-IN" b="1" dirty="0">
                <a:solidFill>
                  <a:schemeClr val="accent4"/>
                </a:solidFill>
              </a:endParaRPr>
            </a:p>
          </p:txBody>
        </p:sp>
      </p:grpSp>
      <p:grpSp>
        <p:nvGrpSpPr>
          <p:cNvPr id="65" name="Group 64"/>
          <p:cNvGrpSpPr/>
          <p:nvPr/>
        </p:nvGrpSpPr>
        <p:grpSpPr>
          <a:xfrm>
            <a:off x="1504329" y="1788162"/>
            <a:ext cx="2286209" cy="529247"/>
            <a:chOff x="1504329" y="1788162"/>
            <a:chExt cx="2286209" cy="529247"/>
          </a:xfrm>
        </p:grpSpPr>
        <p:cxnSp>
          <p:nvCxnSpPr>
            <p:cNvPr id="33" name="Straight Arrow Connector 32"/>
            <p:cNvCxnSpPr/>
            <p:nvPr/>
          </p:nvCxnSpPr>
          <p:spPr>
            <a:xfrm>
              <a:off x="1504329" y="2153807"/>
              <a:ext cx="2286209" cy="0"/>
            </a:xfrm>
            <a:prstGeom prst="straightConnector1">
              <a:avLst/>
            </a:prstGeom>
            <a:ln w="28575">
              <a:solidFill>
                <a:srgbClr val="00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34" name="Rectangle 33"/>
            <p:cNvSpPr/>
            <p:nvPr/>
          </p:nvSpPr>
          <p:spPr>
            <a:xfrm>
              <a:off x="1882588" y="1958811"/>
              <a:ext cx="1504537" cy="358598"/>
            </a:xfrm>
            <a:prstGeom prst="rect">
              <a:avLst/>
            </a:prstGeom>
            <a:ln>
              <a:solidFill>
                <a:srgbClr val="0E3755"/>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2400" dirty="0">
                  <a:solidFill>
                    <a:schemeClr val="tx1"/>
                  </a:solidFill>
                </a:rPr>
                <a:t>Password?</a:t>
              </a:r>
            </a:p>
          </p:txBody>
        </p:sp>
        <p:sp>
          <p:nvSpPr>
            <p:cNvPr id="55" name="TextBox 54"/>
            <p:cNvSpPr txBox="1"/>
            <p:nvPr/>
          </p:nvSpPr>
          <p:spPr>
            <a:xfrm>
              <a:off x="1638231" y="1788162"/>
              <a:ext cx="294303" cy="369332"/>
            </a:xfrm>
            <a:prstGeom prst="rect">
              <a:avLst/>
            </a:prstGeom>
            <a:noFill/>
            <a:ln>
              <a:noFill/>
            </a:ln>
          </p:spPr>
          <p:txBody>
            <a:bodyPr wrap="square" rtlCol="0">
              <a:spAutoFit/>
            </a:bodyPr>
            <a:lstStyle/>
            <a:p>
              <a:r>
                <a:rPr lang="en-IN" b="1" dirty="0" smtClean="0">
                  <a:solidFill>
                    <a:schemeClr val="accent4"/>
                  </a:solidFill>
                </a:rPr>
                <a:t>4</a:t>
              </a:r>
              <a:endParaRPr lang="en-IN" b="1" dirty="0">
                <a:solidFill>
                  <a:schemeClr val="accent4"/>
                </a:solidFill>
              </a:endParaRPr>
            </a:p>
          </p:txBody>
        </p:sp>
      </p:grpSp>
      <p:grpSp>
        <p:nvGrpSpPr>
          <p:cNvPr id="64" name="Group 63"/>
          <p:cNvGrpSpPr/>
          <p:nvPr/>
        </p:nvGrpSpPr>
        <p:grpSpPr>
          <a:xfrm>
            <a:off x="1521999" y="2342849"/>
            <a:ext cx="2286209" cy="529248"/>
            <a:chOff x="1521999" y="2342849"/>
            <a:chExt cx="2286209" cy="529248"/>
          </a:xfrm>
        </p:grpSpPr>
        <p:cxnSp>
          <p:nvCxnSpPr>
            <p:cNvPr id="35" name="Straight Arrow Connector 34"/>
            <p:cNvCxnSpPr/>
            <p:nvPr/>
          </p:nvCxnSpPr>
          <p:spPr>
            <a:xfrm>
              <a:off x="1521999" y="2708495"/>
              <a:ext cx="2286209" cy="0"/>
            </a:xfrm>
            <a:prstGeom prst="straightConnector1">
              <a:avLst/>
            </a:prstGeom>
            <a:ln w="28575">
              <a:solidFill>
                <a:srgbClr val="000000"/>
              </a:solidFill>
              <a:tailEnd type="arrow"/>
            </a:ln>
          </p:spPr>
          <p:style>
            <a:lnRef idx="1">
              <a:schemeClr val="accent1"/>
            </a:lnRef>
            <a:fillRef idx="0">
              <a:schemeClr val="accent1"/>
            </a:fillRef>
            <a:effectRef idx="0">
              <a:schemeClr val="accent1"/>
            </a:effectRef>
            <a:fontRef idx="minor">
              <a:schemeClr val="tx1"/>
            </a:fontRef>
          </p:style>
        </p:cxnSp>
        <p:sp>
          <p:nvSpPr>
            <p:cNvPr id="36" name="Rectangle 35"/>
            <p:cNvSpPr/>
            <p:nvPr/>
          </p:nvSpPr>
          <p:spPr>
            <a:xfrm>
              <a:off x="2165149" y="2513499"/>
              <a:ext cx="927673" cy="358598"/>
            </a:xfrm>
            <a:prstGeom prst="rect">
              <a:avLst/>
            </a:prstGeom>
            <a:ln>
              <a:solidFill>
                <a:srgbClr val="0E3755"/>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2400" dirty="0">
                  <a:solidFill>
                    <a:schemeClr val="tx1"/>
                  </a:solidFill>
                </a:rPr>
                <a:t>PWD</a:t>
              </a:r>
            </a:p>
          </p:txBody>
        </p:sp>
        <p:sp>
          <p:nvSpPr>
            <p:cNvPr id="56" name="TextBox 55"/>
            <p:cNvSpPr txBox="1"/>
            <p:nvPr/>
          </p:nvSpPr>
          <p:spPr>
            <a:xfrm>
              <a:off x="1780998" y="2342849"/>
              <a:ext cx="294303" cy="369332"/>
            </a:xfrm>
            <a:prstGeom prst="rect">
              <a:avLst/>
            </a:prstGeom>
            <a:noFill/>
            <a:ln>
              <a:noFill/>
            </a:ln>
          </p:spPr>
          <p:txBody>
            <a:bodyPr wrap="square" rtlCol="0">
              <a:spAutoFit/>
            </a:bodyPr>
            <a:lstStyle/>
            <a:p>
              <a:r>
                <a:rPr lang="en-IN" b="1" dirty="0" smtClean="0">
                  <a:solidFill>
                    <a:schemeClr val="accent4"/>
                  </a:solidFill>
                </a:rPr>
                <a:t>5</a:t>
              </a:r>
              <a:endParaRPr lang="en-IN" b="1" dirty="0">
                <a:solidFill>
                  <a:schemeClr val="accent4"/>
                </a:solidFill>
              </a:endParaRPr>
            </a:p>
          </p:txBody>
        </p:sp>
      </p:grpSp>
      <p:grpSp>
        <p:nvGrpSpPr>
          <p:cNvPr id="62" name="Group 61"/>
          <p:cNvGrpSpPr/>
          <p:nvPr/>
        </p:nvGrpSpPr>
        <p:grpSpPr>
          <a:xfrm>
            <a:off x="4294943" y="2469876"/>
            <a:ext cx="4936909" cy="648020"/>
            <a:chOff x="4294943" y="2469876"/>
            <a:chExt cx="4936909" cy="648020"/>
          </a:xfrm>
        </p:grpSpPr>
        <p:cxnSp>
          <p:nvCxnSpPr>
            <p:cNvPr id="46" name="Straight Arrow Connector 45"/>
            <p:cNvCxnSpPr/>
            <p:nvPr/>
          </p:nvCxnSpPr>
          <p:spPr>
            <a:xfrm>
              <a:off x="4294943" y="2884824"/>
              <a:ext cx="4936909" cy="0"/>
            </a:xfrm>
            <a:prstGeom prst="straightConnector1">
              <a:avLst/>
            </a:prstGeom>
            <a:ln w="28575">
              <a:solidFill>
                <a:srgbClr val="000000"/>
              </a:solidFill>
              <a:tailEnd type="arrow"/>
            </a:ln>
          </p:spPr>
          <p:style>
            <a:lnRef idx="1">
              <a:schemeClr val="accent1"/>
            </a:lnRef>
            <a:fillRef idx="0">
              <a:schemeClr val="accent1"/>
            </a:fillRef>
            <a:effectRef idx="0">
              <a:schemeClr val="accent1"/>
            </a:effectRef>
            <a:fontRef idx="minor">
              <a:schemeClr val="tx1"/>
            </a:fontRef>
          </p:style>
        </p:cxnSp>
        <p:sp>
          <p:nvSpPr>
            <p:cNvPr id="47" name="Rectangle 46"/>
            <p:cNvSpPr/>
            <p:nvPr/>
          </p:nvSpPr>
          <p:spPr>
            <a:xfrm>
              <a:off x="4686491" y="2689827"/>
              <a:ext cx="4080991" cy="428069"/>
            </a:xfrm>
            <a:prstGeom prst="rect">
              <a:avLst/>
            </a:prstGeom>
            <a:ln>
              <a:solidFill>
                <a:srgbClr val="0E3755"/>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2400" dirty="0" smtClean="0">
                  <a:solidFill>
                    <a:schemeClr val="tx1"/>
                  </a:solidFill>
                </a:rPr>
                <a:t>K</a:t>
              </a:r>
              <a:r>
                <a:rPr lang="en-US" sz="2400" baseline="-25000" dirty="0" smtClean="0">
                  <a:solidFill>
                    <a:schemeClr val="tx1"/>
                  </a:solidFill>
                </a:rPr>
                <a:t>AS,TGS</a:t>
              </a:r>
              <a:r>
                <a:rPr lang="en-US" sz="2400" dirty="0" smtClean="0">
                  <a:solidFill>
                    <a:schemeClr val="tx1"/>
                  </a:solidFill>
                </a:rPr>
                <a:t> (</a:t>
              </a:r>
              <a:r>
                <a:rPr lang="en-IN" sz="2400" dirty="0" smtClean="0">
                  <a:solidFill>
                    <a:schemeClr val="tx1"/>
                  </a:solidFill>
                </a:rPr>
                <a:t>A, K</a:t>
              </a:r>
              <a:r>
                <a:rPr lang="en-IN" sz="2400" baseline="-25000" dirty="0" smtClean="0">
                  <a:solidFill>
                    <a:schemeClr val="tx1"/>
                  </a:solidFill>
                </a:rPr>
                <a:t>A,TGS</a:t>
              </a:r>
              <a:r>
                <a:rPr lang="en-IN" sz="2400" dirty="0" smtClean="0">
                  <a:solidFill>
                    <a:schemeClr val="tx1"/>
                  </a:solidFill>
                </a:rPr>
                <a:t>), B, K</a:t>
              </a:r>
              <a:r>
                <a:rPr lang="en-IN" sz="2400" baseline="-25000" dirty="0" smtClean="0">
                  <a:solidFill>
                    <a:schemeClr val="tx1"/>
                  </a:solidFill>
                </a:rPr>
                <a:t>A, TGS</a:t>
              </a:r>
              <a:r>
                <a:rPr lang="en-IN" sz="2400" dirty="0" smtClean="0">
                  <a:solidFill>
                    <a:schemeClr val="tx1"/>
                  </a:solidFill>
                </a:rPr>
                <a:t>(t)</a:t>
              </a:r>
              <a:endParaRPr lang="en-US" sz="2400" dirty="0">
                <a:solidFill>
                  <a:schemeClr val="tx1"/>
                </a:solidFill>
              </a:endParaRPr>
            </a:p>
          </p:txBody>
        </p:sp>
        <p:sp>
          <p:nvSpPr>
            <p:cNvPr id="57" name="TextBox 56"/>
            <p:cNvSpPr txBox="1"/>
            <p:nvPr/>
          </p:nvSpPr>
          <p:spPr>
            <a:xfrm>
              <a:off x="4384235" y="2469876"/>
              <a:ext cx="294303" cy="369332"/>
            </a:xfrm>
            <a:prstGeom prst="rect">
              <a:avLst/>
            </a:prstGeom>
            <a:noFill/>
            <a:ln>
              <a:noFill/>
            </a:ln>
          </p:spPr>
          <p:txBody>
            <a:bodyPr wrap="square" rtlCol="0">
              <a:spAutoFit/>
            </a:bodyPr>
            <a:lstStyle/>
            <a:p>
              <a:r>
                <a:rPr lang="en-IN" b="1" dirty="0" smtClean="0">
                  <a:solidFill>
                    <a:schemeClr val="accent4"/>
                  </a:solidFill>
                </a:rPr>
                <a:t>6</a:t>
              </a:r>
              <a:endParaRPr lang="en-IN" b="1" dirty="0">
                <a:solidFill>
                  <a:schemeClr val="accent4"/>
                </a:solidFill>
              </a:endParaRPr>
            </a:p>
          </p:txBody>
        </p:sp>
      </p:grpSp>
      <p:grpSp>
        <p:nvGrpSpPr>
          <p:cNvPr id="63" name="Group 62"/>
          <p:cNvGrpSpPr/>
          <p:nvPr/>
        </p:nvGrpSpPr>
        <p:grpSpPr>
          <a:xfrm>
            <a:off x="4294943" y="3171202"/>
            <a:ext cx="4936909" cy="543583"/>
            <a:chOff x="4294943" y="3171202"/>
            <a:chExt cx="4936909" cy="543583"/>
          </a:xfrm>
        </p:grpSpPr>
        <p:cxnSp>
          <p:nvCxnSpPr>
            <p:cNvPr id="48" name="Straight Arrow Connector 47"/>
            <p:cNvCxnSpPr/>
            <p:nvPr/>
          </p:nvCxnSpPr>
          <p:spPr>
            <a:xfrm>
              <a:off x="4294943" y="3481713"/>
              <a:ext cx="4936909" cy="0"/>
            </a:xfrm>
            <a:prstGeom prst="straightConnector1">
              <a:avLst/>
            </a:prstGeom>
            <a:ln w="28575">
              <a:solidFill>
                <a:srgbClr val="00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49" name="Rectangle 48"/>
            <p:cNvSpPr/>
            <p:nvPr/>
          </p:nvSpPr>
          <p:spPr>
            <a:xfrm>
              <a:off x="4686491" y="3286716"/>
              <a:ext cx="4080991" cy="428069"/>
            </a:xfrm>
            <a:prstGeom prst="rect">
              <a:avLst/>
            </a:prstGeom>
            <a:ln>
              <a:solidFill>
                <a:srgbClr val="0E3755"/>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2400" dirty="0" smtClean="0">
                  <a:solidFill>
                    <a:schemeClr val="tx1"/>
                  </a:solidFill>
                </a:rPr>
                <a:t>K</a:t>
              </a:r>
              <a:r>
                <a:rPr lang="en-US" sz="2400" baseline="-25000" dirty="0" smtClean="0">
                  <a:solidFill>
                    <a:schemeClr val="tx1"/>
                  </a:solidFill>
                </a:rPr>
                <a:t>A,TGS</a:t>
              </a:r>
              <a:r>
                <a:rPr lang="en-US" sz="2400" dirty="0" smtClean="0">
                  <a:solidFill>
                    <a:schemeClr val="tx1"/>
                  </a:solidFill>
                </a:rPr>
                <a:t> (B</a:t>
              </a:r>
              <a:r>
                <a:rPr lang="en-IN" sz="2400" dirty="0" smtClean="0">
                  <a:solidFill>
                    <a:schemeClr val="tx1"/>
                  </a:solidFill>
                </a:rPr>
                <a:t>, K</a:t>
              </a:r>
              <a:r>
                <a:rPr lang="en-IN" sz="2400" baseline="-25000" dirty="0" smtClean="0">
                  <a:solidFill>
                    <a:schemeClr val="tx1"/>
                  </a:solidFill>
                </a:rPr>
                <a:t>A,B</a:t>
              </a:r>
              <a:r>
                <a:rPr lang="en-IN" sz="2400" dirty="0" smtClean="0">
                  <a:solidFill>
                    <a:schemeClr val="tx1"/>
                  </a:solidFill>
                </a:rPr>
                <a:t>), K</a:t>
              </a:r>
              <a:r>
                <a:rPr lang="en-IN" sz="2400" baseline="-25000" dirty="0" smtClean="0">
                  <a:solidFill>
                    <a:schemeClr val="tx1"/>
                  </a:solidFill>
                </a:rPr>
                <a:t>B,TGS</a:t>
              </a:r>
              <a:r>
                <a:rPr lang="en-IN" sz="2400" dirty="0" smtClean="0">
                  <a:solidFill>
                    <a:schemeClr val="tx1"/>
                  </a:solidFill>
                </a:rPr>
                <a:t>(A,K</a:t>
              </a:r>
              <a:r>
                <a:rPr lang="en-IN" sz="2400" baseline="-25000" dirty="0" smtClean="0">
                  <a:solidFill>
                    <a:schemeClr val="tx1"/>
                  </a:solidFill>
                </a:rPr>
                <a:t>A,B</a:t>
              </a:r>
              <a:r>
                <a:rPr lang="en-IN" sz="2400" dirty="0" smtClean="0">
                  <a:solidFill>
                    <a:schemeClr val="tx1"/>
                  </a:solidFill>
                </a:rPr>
                <a:t>)</a:t>
              </a:r>
              <a:endParaRPr lang="en-US" sz="2400" dirty="0">
                <a:solidFill>
                  <a:schemeClr val="tx1"/>
                </a:solidFill>
              </a:endParaRPr>
            </a:p>
          </p:txBody>
        </p:sp>
        <p:sp>
          <p:nvSpPr>
            <p:cNvPr id="58" name="TextBox 57"/>
            <p:cNvSpPr txBox="1"/>
            <p:nvPr/>
          </p:nvSpPr>
          <p:spPr>
            <a:xfrm>
              <a:off x="4376442" y="3171202"/>
              <a:ext cx="294303" cy="369332"/>
            </a:xfrm>
            <a:prstGeom prst="rect">
              <a:avLst/>
            </a:prstGeom>
            <a:noFill/>
            <a:ln>
              <a:noFill/>
            </a:ln>
          </p:spPr>
          <p:txBody>
            <a:bodyPr wrap="square" rtlCol="0">
              <a:spAutoFit/>
            </a:bodyPr>
            <a:lstStyle/>
            <a:p>
              <a:r>
                <a:rPr lang="en-IN" b="1" dirty="0" smtClean="0">
                  <a:solidFill>
                    <a:schemeClr val="accent4"/>
                  </a:solidFill>
                </a:rPr>
                <a:t>7</a:t>
              </a:r>
              <a:endParaRPr lang="en-IN" b="1" dirty="0">
                <a:solidFill>
                  <a:schemeClr val="accent4"/>
                </a:solidFill>
              </a:endParaRPr>
            </a:p>
          </p:txBody>
        </p:sp>
      </p:grpSp>
    </p:spTree>
    <p:extLst>
      <p:ext uri="{BB962C8B-B14F-4D97-AF65-F5344CB8AC3E}">
        <p14:creationId xmlns:p14="http://schemas.microsoft.com/office/powerpoint/2010/main" val="1923025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22" presetClass="entr" presetSubtype="8" fill="hold" nodeType="withEffect">
                                  <p:stCondLst>
                                    <p:cond delay="0"/>
                                  </p:stCondLst>
                                  <p:childTnLst>
                                    <p:set>
                                      <p:cBhvr>
                                        <p:cTn id="8" dur="1" fill="hold">
                                          <p:stCondLst>
                                            <p:cond delay="0"/>
                                          </p:stCondLst>
                                        </p:cTn>
                                        <p:tgtEl>
                                          <p:spTgt spid="64"/>
                                        </p:tgtEl>
                                        <p:attrNameLst>
                                          <p:attrName>style.visibility</p:attrName>
                                        </p:attrNameLst>
                                      </p:cBhvr>
                                      <p:to>
                                        <p:strVal val="visible"/>
                                      </p:to>
                                    </p:set>
                                    <p:animEffect transition="in" filter="wipe(left)">
                                      <p:cBhvr>
                                        <p:cTn id="9" dur="500"/>
                                        <p:tgtEl>
                                          <p:spTgt spid="64"/>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3">
                                            <p:txEl>
                                              <p:pRg st="7" end="7"/>
                                            </p:txEl>
                                          </p:spTgt>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3">
                                            <p:txEl>
                                              <p:pRg st="8" end="8"/>
                                            </p:txEl>
                                          </p:spTgt>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3">
                                            <p:txEl>
                                              <p:pRg st="9" end="9"/>
                                            </p:txEl>
                                          </p:spTgt>
                                        </p:tgtEl>
                                        <p:attrNameLst>
                                          <p:attrName>style.visibility</p:attrName>
                                        </p:attrNameLst>
                                      </p:cBhvr>
                                      <p:to>
                                        <p:strVal val="visible"/>
                                      </p:to>
                                    </p:set>
                                  </p:childTnLst>
                                </p:cTn>
                              </p:par>
                              <p:par>
                                <p:cTn id="18" presetID="22" presetClass="entr" presetSubtype="8" fill="hold" nodeType="withEffect">
                                  <p:stCondLst>
                                    <p:cond delay="0"/>
                                  </p:stCondLst>
                                  <p:childTnLst>
                                    <p:set>
                                      <p:cBhvr>
                                        <p:cTn id="19" dur="1" fill="hold">
                                          <p:stCondLst>
                                            <p:cond delay="0"/>
                                          </p:stCondLst>
                                        </p:cTn>
                                        <p:tgtEl>
                                          <p:spTgt spid="62"/>
                                        </p:tgtEl>
                                        <p:attrNameLst>
                                          <p:attrName>style.visibility</p:attrName>
                                        </p:attrNameLst>
                                      </p:cBhvr>
                                      <p:to>
                                        <p:strVal val="visible"/>
                                      </p:to>
                                    </p:set>
                                    <p:animEffect transition="in" filter="wipe(left)">
                                      <p:cBhvr>
                                        <p:cTn id="20" dur="500"/>
                                        <p:tgtEl>
                                          <p:spTgt spid="62"/>
                                        </p:tgtEl>
                                      </p:cBhvr>
                                    </p:animEffect>
                                  </p:childTnLst>
                                </p:cTn>
                              </p:par>
                              <p:par>
                                <p:cTn id="21" presetID="1" presetClass="entr" presetSubtype="0" fill="hold" grpId="0" nodeType="withEffect">
                                  <p:stCondLst>
                                    <p:cond delay="500"/>
                                  </p:stCondLst>
                                  <p:childTnLst>
                                    <p:set>
                                      <p:cBhvr>
                                        <p:cTn id="22" dur="1" fill="hold">
                                          <p:stCondLst>
                                            <p:cond delay="0"/>
                                          </p:stCondLst>
                                        </p:cTn>
                                        <p:tgtEl>
                                          <p:spTgt spid="4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63"/>
                                        </p:tgtEl>
                                        <p:attrNameLst>
                                          <p:attrName>style.visibility</p:attrName>
                                        </p:attrNameLst>
                                      </p:cBhvr>
                                      <p:to>
                                        <p:strVal val="visible"/>
                                      </p:to>
                                    </p:set>
                                    <p:animEffect transition="in" filter="wipe(right)">
                                      <p:cBhvr>
                                        <p:cTn id="27"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Setting up a secure channel in Kerberos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endParaRPr lang="en-US" sz="2400" dirty="0" smtClean="0"/>
          </a:p>
          <a:p>
            <a:pPr>
              <a:lnSpc>
                <a:spcPct val="100000"/>
              </a:lnSpc>
            </a:pPr>
            <a:endParaRPr lang="en-US" dirty="0"/>
          </a:p>
          <a:p>
            <a:pPr>
              <a:lnSpc>
                <a:spcPct val="100000"/>
              </a:lnSpc>
            </a:pPr>
            <a:endParaRPr lang="en-US" sz="2400" dirty="0" smtClean="0"/>
          </a:p>
          <a:p>
            <a:pPr>
              <a:lnSpc>
                <a:spcPct val="100000"/>
              </a:lnSpc>
            </a:pPr>
            <a:endParaRPr lang="en-US" dirty="0"/>
          </a:p>
          <a:p>
            <a:pPr marL="457200" indent="-457200">
              <a:lnSpc>
                <a:spcPct val="100000"/>
              </a:lnSpc>
              <a:buFont typeface="+mj-lt"/>
              <a:buAutoNum type="arabicPeriod"/>
            </a:pPr>
            <a:r>
              <a:rPr lang="en-US" dirty="0" smtClean="0"/>
              <a:t>Alice </a:t>
            </a:r>
            <a:r>
              <a:rPr lang="en-US" dirty="0"/>
              <a:t>sends to Bob a message </a:t>
            </a:r>
            <a:r>
              <a:rPr lang="en-US" dirty="0" smtClean="0"/>
              <a:t>containing the </a:t>
            </a:r>
            <a:r>
              <a:rPr lang="en-US" dirty="0"/>
              <a:t>ticket she got from the TGS, along with an encrypted timestamp.</a:t>
            </a:r>
          </a:p>
          <a:p>
            <a:pPr marL="457200" indent="-457200">
              <a:lnSpc>
                <a:spcPct val="100000"/>
              </a:lnSpc>
              <a:buFont typeface="+mj-lt"/>
              <a:buAutoNum type="arabicPeriod"/>
            </a:pPr>
            <a:r>
              <a:rPr lang="en-US" dirty="0" smtClean="0"/>
              <a:t>When </a:t>
            </a:r>
            <a:r>
              <a:rPr lang="en-US" dirty="0"/>
              <a:t>Bob decrypts the ticket, </a:t>
            </a:r>
            <a:r>
              <a:rPr lang="en-US" dirty="0" smtClean="0"/>
              <a:t>he notices </a:t>
            </a:r>
            <a:r>
              <a:rPr lang="en-US" dirty="0"/>
              <a:t>that Alice is talking to him, because only the TGS could </a:t>
            </a:r>
            <a:r>
              <a:rPr lang="en-US" dirty="0" smtClean="0"/>
              <a:t>have constructed </a:t>
            </a:r>
            <a:r>
              <a:rPr lang="en-US" dirty="0"/>
              <a:t>the ticket</a:t>
            </a:r>
          </a:p>
          <a:p>
            <a:pPr lvl="2"/>
            <a:r>
              <a:rPr lang="en-US" sz="2400" dirty="0"/>
              <a:t>He also finds the secret key K</a:t>
            </a:r>
            <a:r>
              <a:rPr lang="en-US" sz="2400" baseline="30000" dirty="0"/>
              <a:t>A,B</a:t>
            </a:r>
            <a:r>
              <a:rPr lang="en-US" sz="2400" dirty="0"/>
              <a:t>, allowing him to verify the timestamp.</a:t>
            </a:r>
          </a:p>
          <a:p>
            <a:pPr lvl="2"/>
            <a:r>
              <a:rPr lang="en-US" sz="2400" dirty="0"/>
              <a:t>At that point, Bob knows he is talking to Alice and not someone maliciously replaying message 1.</a:t>
            </a:r>
          </a:p>
          <a:p>
            <a:pPr lvl="2"/>
            <a:r>
              <a:rPr lang="en-US" sz="2400" dirty="0"/>
              <a:t>By responding with K</a:t>
            </a:r>
            <a:r>
              <a:rPr lang="en-US" sz="2400" baseline="30000" dirty="0"/>
              <a:t>A,B</a:t>
            </a:r>
            <a:r>
              <a:rPr lang="en-US" sz="2400" dirty="0"/>
              <a:t>(t + 1), Bob proves to Alice that he is indeed Bob</a:t>
            </a:r>
            <a:r>
              <a:rPr lang="en-US" sz="2400" dirty="0" smtClean="0"/>
              <a:t>.</a:t>
            </a:r>
            <a:endParaRPr lang="en-US" sz="2400" dirty="0"/>
          </a:p>
        </p:txBody>
      </p:sp>
      <p:sp>
        <p:nvSpPr>
          <p:cNvPr id="17" name="Rectangle 16"/>
          <p:cNvSpPr/>
          <p:nvPr/>
        </p:nvSpPr>
        <p:spPr>
          <a:xfrm>
            <a:off x="2528603" y="863444"/>
            <a:ext cx="457200" cy="1872343"/>
          </a:xfrm>
          <a:prstGeom prst="rect">
            <a:avLst/>
          </a:prstGeom>
        </p:spPr>
        <p:style>
          <a:lnRef idx="0">
            <a:schemeClr val="accent6"/>
          </a:lnRef>
          <a:fillRef idx="3">
            <a:schemeClr val="accent6"/>
          </a:fillRef>
          <a:effectRef idx="3">
            <a:schemeClr val="accent6"/>
          </a:effectRef>
          <a:fontRef idx="minor">
            <a:schemeClr val="lt1"/>
          </a:fontRef>
        </p:style>
        <p:txBody>
          <a:bodyPr vert="vert270" rtlCol="0" anchor="ctr"/>
          <a:lstStyle/>
          <a:p>
            <a:pPr algn="ctr"/>
            <a:r>
              <a:rPr lang="en-US" sz="2400" dirty="0" smtClean="0"/>
              <a:t>Alice</a:t>
            </a:r>
            <a:endParaRPr lang="en-US" sz="2400" dirty="0"/>
          </a:p>
        </p:txBody>
      </p:sp>
      <p:sp>
        <p:nvSpPr>
          <p:cNvPr id="23" name="Rectangle 22"/>
          <p:cNvSpPr/>
          <p:nvPr/>
        </p:nvSpPr>
        <p:spPr>
          <a:xfrm>
            <a:off x="7952247" y="863444"/>
            <a:ext cx="457200" cy="1872343"/>
          </a:xfrm>
          <a:prstGeom prst="rect">
            <a:avLst/>
          </a:prstGeom>
        </p:spPr>
        <p:style>
          <a:lnRef idx="0">
            <a:schemeClr val="accent6"/>
          </a:lnRef>
          <a:fillRef idx="3">
            <a:schemeClr val="accent6"/>
          </a:fillRef>
          <a:effectRef idx="3">
            <a:schemeClr val="accent6"/>
          </a:effectRef>
          <a:fontRef idx="minor">
            <a:schemeClr val="lt1"/>
          </a:fontRef>
        </p:style>
        <p:txBody>
          <a:bodyPr vert="vert270" rtlCol="0" anchor="ctr"/>
          <a:lstStyle/>
          <a:p>
            <a:pPr algn="ctr"/>
            <a:r>
              <a:rPr lang="en-US" sz="2400" dirty="0" smtClean="0"/>
              <a:t>bob</a:t>
            </a:r>
            <a:endParaRPr lang="en-US" sz="2400" dirty="0"/>
          </a:p>
        </p:txBody>
      </p:sp>
      <p:grpSp>
        <p:nvGrpSpPr>
          <p:cNvPr id="32" name="Group 31"/>
          <p:cNvGrpSpPr/>
          <p:nvPr/>
        </p:nvGrpSpPr>
        <p:grpSpPr>
          <a:xfrm>
            <a:off x="2985803" y="986324"/>
            <a:ext cx="5009731" cy="648020"/>
            <a:chOff x="2985803" y="986324"/>
            <a:chExt cx="5009731" cy="648020"/>
          </a:xfrm>
        </p:grpSpPr>
        <p:cxnSp>
          <p:nvCxnSpPr>
            <p:cNvPr id="24" name="Straight Arrow Connector 23"/>
            <p:cNvCxnSpPr/>
            <p:nvPr/>
          </p:nvCxnSpPr>
          <p:spPr>
            <a:xfrm>
              <a:off x="2985803" y="1401272"/>
              <a:ext cx="5009731" cy="0"/>
            </a:xfrm>
            <a:prstGeom prst="straightConnector1">
              <a:avLst/>
            </a:prstGeom>
            <a:ln w="28575">
              <a:solidFill>
                <a:srgbClr val="000000"/>
              </a:solidFill>
              <a:tailEnd type="arrow"/>
            </a:ln>
          </p:spPr>
          <p:style>
            <a:lnRef idx="1">
              <a:schemeClr val="accent1"/>
            </a:lnRef>
            <a:fillRef idx="0">
              <a:schemeClr val="accent1"/>
            </a:fillRef>
            <a:effectRef idx="0">
              <a:schemeClr val="accent1"/>
            </a:effectRef>
            <a:fontRef idx="minor">
              <a:schemeClr val="tx1"/>
            </a:fontRef>
          </p:style>
        </p:cxnSp>
        <p:sp>
          <p:nvSpPr>
            <p:cNvPr id="25" name="Rectangle 24"/>
            <p:cNvSpPr/>
            <p:nvPr/>
          </p:nvSpPr>
          <p:spPr>
            <a:xfrm>
              <a:off x="3450173" y="1206275"/>
              <a:ext cx="4080991" cy="428069"/>
            </a:xfrm>
            <a:prstGeom prst="rect">
              <a:avLst/>
            </a:prstGeom>
            <a:ln>
              <a:solidFill>
                <a:srgbClr val="0E3755"/>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2400" dirty="0" smtClean="0">
                  <a:solidFill>
                    <a:schemeClr val="tx1"/>
                  </a:solidFill>
                </a:rPr>
                <a:t>K</a:t>
              </a:r>
              <a:r>
                <a:rPr lang="en-US" sz="2400" baseline="-25000" dirty="0">
                  <a:solidFill>
                    <a:schemeClr val="tx1"/>
                  </a:solidFill>
                </a:rPr>
                <a:t>B</a:t>
              </a:r>
              <a:r>
                <a:rPr lang="en-US" sz="2400" baseline="-25000" dirty="0" smtClean="0">
                  <a:solidFill>
                    <a:schemeClr val="tx1"/>
                  </a:solidFill>
                </a:rPr>
                <a:t>,TGS</a:t>
              </a:r>
              <a:r>
                <a:rPr lang="en-US" sz="2400" dirty="0" smtClean="0">
                  <a:solidFill>
                    <a:schemeClr val="tx1"/>
                  </a:solidFill>
                </a:rPr>
                <a:t> (</a:t>
              </a:r>
              <a:r>
                <a:rPr lang="en-IN" sz="2400" dirty="0" smtClean="0">
                  <a:solidFill>
                    <a:schemeClr val="tx1"/>
                  </a:solidFill>
                </a:rPr>
                <a:t>A, K</a:t>
              </a:r>
              <a:r>
                <a:rPr lang="en-IN" sz="2400" baseline="-25000" dirty="0" smtClean="0">
                  <a:solidFill>
                    <a:schemeClr val="tx1"/>
                  </a:solidFill>
                </a:rPr>
                <a:t>A,B</a:t>
              </a:r>
              <a:r>
                <a:rPr lang="en-IN" sz="2400" dirty="0" smtClean="0">
                  <a:solidFill>
                    <a:schemeClr val="tx1"/>
                  </a:solidFill>
                </a:rPr>
                <a:t>), K</a:t>
              </a:r>
              <a:r>
                <a:rPr lang="en-IN" sz="2400" baseline="-25000" dirty="0" smtClean="0">
                  <a:solidFill>
                    <a:schemeClr val="tx1"/>
                  </a:solidFill>
                </a:rPr>
                <a:t>A,B</a:t>
              </a:r>
              <a:r>
                <a:rPr lang="en-IN" sz="2400" dirty="0" smtClean="0">
                  <a:solidFill>
                    <a:schemeClr val="tx1"/>
                  </a:solidFill>
                </a:rPr>
                <a:t>(t)</a:t>
              </a:r>
              <a:endParaRPr lang="en-US" sz="2400" dirty="0">
                <a:solidFill>
                  <a:schemeClr val="tx1"/>
                </a:solidFill>
              </a:endParaRPr>
            </a:p>
          </p:txBody>
        </p:sp>
        <p:sp>
          <p:nvSpPr>
            <p:cNvPr id="30" name="TextBox 29"/>
            <p:cNvSpPr txBox="1"/>
            <p:nvPr/>
          </p:nvSpPr>
          <p:spPr>
            <a:xfrm>
              <a:off x="3147917" y="986324"/>
              <a:ext cx="294303" cy="369332"/>
            </a:xfrm>
            <a:prstGeom prst="rect">
              <a:avLst/>
            </a:prstGeom>
            <a:noFill/>
            <a:ln>
              <a:noFill/>
            </a:ln>
          </p:spPr>
          <p:txBody>
            <a:bodyPr wrap="square" rtlCol="0">
              <a:spAutoFit/>
            </a:bodyPr>
            <a:lstStyle/>
            <a:p>
              <a:r>
                <a:rPr lang="en-IN" b="1" dirty="0" smtClean="0">
                  <a:solidFill>
                    <a:schemeClr val="accent4"/>
                  </a:solidFill>
                </a:rPr>
                <a:t>1</a:t>
              </a:r>
              <a:endParaRPr lang="en-IN" b="1" dirty="0">
                <a:solidFill>
                  <a:schemeClr val="accent4"/>
                </a:solidFill>
              </a:endParaRPr>
            </a:p>
          </p:txBody>
        </p:sp>
      </p:grpSp>
      <p:grpSp>
        <p:nvGrpSpPr>
          <p:cNvPr id="33" name="Group 32"/>
          <p:cNvGrpSpPr/>
          <p:nvPr/>
        </p:nvGrpSpPr>
        <p:grpSpPr>
          <a:xfrm>
            <a:off x="3023291" y="1851015"/>
            <a:ext cx="4936909" cy="570477"/>
            <a:chOff x="3023291" y="1851015"/>
            <a:chExt cx="4936909" cy="570477"/>
          </a:xfrm>
        </p:grpSpPr>
        <p:cxnSp>
          <p:nvCxnSpPr>
            <p:cNvPr id="26" name="Straight Arrow Connector 25"/>
            <p:cNvCxnSpPr/>
            <p:nvPr/>
          </p:nvCxnSpPr>
          <p:spPr>
            <a:xfrm>
              <a:off x="3023291" y="2188420"/>
              <a:ext cx="4936909" cy="0"/>
            </a:xfrm>
            <a:prstGeom prst="straightConnector1">
              <a:avLst/>
            </a:prstGeom>
            <a:ln w="28575">
              <a:solidFill>
                <a:srgbClr val="00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3414839" y="1993423"/>
              <a:ext cx="4080991" cy="428069"/>
            </a:xfrm>
            <a:prstGeom prst="rect">
              <a:avLst/>
            </a:prstGeom>
            <a:ln>
              <a:solidFill>
                <a:srgbClr val="0E3755"/>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2400" dirty="0" smtClean="0">
                  <a:solidFill>
                    <a:schemeClr val="tx1"/>
                  </a:solidFill>
                </a:rPr>
                <a:t>K</a:t>
              </a:r>
              <a:r>
                <a:rPr lang="en-US" sz="2400" baseline="-25000" dirty="0" smtClean="0">
                  <a:solidFill>
                    <a:schemeClr val="tx1"/>
                  </a:solidFill>
                </a:rPr>
                <a:t>A,B</a:t>
              </a:r>
              <a:r>
                <a:rPr lang="en-US" sz="2400" dirty="0" smtClean="0">
                  <a:solidFill>
                    <a:schemeClr val="tx1"/>
                  </a:solidFill>
                </a:rPr>
                <a:t> (t + 1</a:t>
              </a:r>
              <a:r>
                <a:rPr lang="en-IN" sz="2400" dirty="0" smtClean="0">
                  <a:solidFill>
                    <a:schemeClr val="tx1"/>
                  </a:solidFill>
                </a:rPr>
                <a:t>)</a:t>
              </a:r>
              <a:endParaRPr lang="en-US" sz="2400" dirty="0">
                <a:solidFill>
                  <a:schemeClr val="tx1"/>
                </a:solidFill>
              </a:endParaRPr>
            </a:p>
          </p:txBody>
        </p:sp>
        <p:sp>
          <p:nvSpPr>
            <p:cNvPr id="31" name="TextBox 30"/>
            <p:cNvSpPr txBox="1"/>
            <p:nvPr/>
          </p:nvSpPr>
          <p:spPr>
            <a:xfrm>
              <a:off x="3104790" y="1851015"/>
              <a:ext cx="294303" cy="369332"/>
            </a:xfrm>
            <a:prstGeom prst="rect">
              <a:avLst/>
            </a:prstGeom>
            <a:noFill/>
            <a:ln>
              <a:noFill/>
            </a:ln>
          </p:spPr>
          <p:txBody>
            <a:bodyPr wrap="square" rtlCol="0">
              <a:spAutoFit/>
            </a:bodyPr>
            <a:lstStyle/>
            <a:p>
              <a:r>
                <a:rPr lang="en-IN" b="1" dirty="0">
                  <a:solidFill>
                    <a:schemeClr val="accent4"/>
                  </a:solidFill>
                </a:rPr>
                <a:t>2</a:t>
              </a:r>
            </a:p>
          </p:txBody>
        </p:sp>
      </p:grpSp>
    </p:spTree>
    <p:extLst>
      <p:ext uri="{BB962C8B-B14F-4D97-AF65-F5344CB8AC3E}">
        <p14:creationId xmlns:p14="http://schemas.microsoft.com/office/powerpoint/2010/main" val="88839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22" presetClass="entr" presetSubtype="8" fill="hold" nodeType="with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wipe(left)">
                                      <p:cBhvr>
                                        <p:cTn id="15" dur="500"/>
                                        <p:tgtEl>
                                          <p:spTgt spid="32"/>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childTnLst>
                                </p:cTn>
                              </p:par>
                              <p:par>
                                <p:cTn id="20" presetID="22" presetClass="entr" presetSubtype="2" fill="hold" nodeType="with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wipe(right)">
                                      <p:cBhvr>
                                        <p:cTn id="22" dur="500"/>
                                        <p:tgtEl>
                                          <p:spTgt spid="33"/>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3"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Access Control</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dirty="0"/>
              <a:t>When a secure channel is set up between a client and a server, the client can issue requests to the server</a:t>
            </a:r>
            <a:r>
              <a:rPr lang="en-US" dirty="0" smtClean="0"/>
              <a:t>. </a:t>
            </a:r>
          </a:p>
          <a:p>
            <a:pPr>
              <a:lnSpc>
                <a:spcPct val="100000"/>
              </a:lnSpc>
            </a:pPr>
            <a:r>
              <a:rPr lang="en-US" dirty="0" smtClean="0"/>
              <a:t>A request can be carried out only if the client has sufficient access rights for that invocation.</a:t>
            </a:r>
          </a:p>
          <a:p>
            <a:pPr>
              <a:lnSpc>
                <a:spcPct val="100000"/>
              </a:lnSpc>
            </a:pPr>
            <a:r>
              <a:rPr lang="en-US" dirty="0" smtClean="0"/>
              <a:t>Access </a:t>
            </a:r>
            <a:r>
              <a:rPr lang="en-US" dirty="0"/>
              <a:t>Control (AC) verifies the access rights of a subject requesting an access to an </a:t>
            </a:r>
            <a:r>
              <a:rPr lang="en-US" dirty="0" smtClean="0"/>
              <a:t>object</a:t>
            </a:r>
          </a:p>
          <a:p>
            <a:pPr>
              <a:lnSpc>
                <a:spcPct val="100000"/>
              </a:lnSpc>
            </a:pPr>
            <a:endParaRPr lang="en-US" dirty="0"/>
          </a:p>
          <a:p>
            <a:pPr>
              <a:lnSpc>
                <a:spcPct val="100000"/>
              </a:lnSpc>
            </a:pPr>
            <a:endParaRPr lang="en-US" dirty="0" smtClean="0"/>
          </a:p>
          <a:p>
            <a:pPr>
              <a:lnSpc>
                <a:spcPct val="100000"/>
              </a:lnSpc>
            </a:pPr>
            <a:r>
              <a:rPr lang="en-US" dirty="0" smtClean="0"/>
              <a:t>A </a:t>
            </a:r>
            <a:r>
              <a:rPr lang="en-US" dirty="0"/>
              <a:t>General model for Access </a:t>
            </a:r>
            <a:r>
              <a:rPr lang="en-US" dirty="0" smtClean="0"/>
              <a:t>Control</a:t>
            </a:r>
          </a:p>
          <a:p>
            <a:pPr>
              <a:lnSpc>
                <a:spcPct val="100000"/>
              </a:lnSpc>
            </a:pPr>
            <a:endParaRPr lang="en-US" dirty="0"/>
          </a:p>
          <a:p>
            <a:pPr>
              <a:lnSpc>
                <a:spcPct val="100000"/>
              </a:lnSpc>
            </a:pPr>
            <a:endParaRPr lang="en-US" dirty="0" smtClean="0"/>
          </a:p>
          <a:p>
            <a:pPr>
              <a:lnSpc>
                <a:spcPct val="100000"/>
              </a:lnSpc>
            </a:pPr>
            <a:r>
              <a:rPr lang="en-US" dirty="0" smtClean="0"/>
              <a:t>How </a:t>
            </a:r>
            <a:r>
              <a:rPr lang="en-US" dirty="0"/>
              <a:t>is Access Control different from Authorization?</a:t>
            </a:r>
          </a:p>
          <a:p>
            <a:pPr lvl="2"/>
            <a:r>
              <a:rPr lang="en-US" sz="2400" dirty="0">
                <a:solidFill>
                  <a:schemeClr val="accent6"/>
                </a:solidFill>
              </a:rPr>
              <a:t>Authorization</a:t>
            </a:r>
            <a:r>
              <a:rPr lang="en-US" sz="2400" dirty="0"/>
              <a:t> = granting access rights</a:t>
            </a:r>
          </a:p>
          <a:p>
            <a:pPr lvl="2"/>
            <a:r>
              <a:rPr lang="en-US" sz="2400" dirty="0">
                <a:solidFill>
                  <a:schemeClr val="accent6"/>
                </a:solidFill>
              </a:rPr>
              <a:t>Access Control </a:t>
            </a:r>
            <a:r>
              <a:rPr lang="en-US" sz="2400" dirty="0"/>
              <a:t>= verifying access </a:t>
            </a:r>
            <a:r>
              <a:rPr lang="en-US" sz="2400" dirty="0" smtClean="0"/>
              <a:t>rights</a:t>
            </a:r>
            <a:endParaRPr lang="en-US" sz="2400" dirty="0">
              <a:solidFill>
                <a:srgbClr val="1D3064"/>
              </a:solidFill>
            </a:endParaRPr>
          </a:p>
        </p:txBody>
      </p:sp>
      <p:grpSp>
        <p:nvGrpSpPr>
          <p:cNvPr id="14" name="Group 13"/>
          <p:cNvGrpSpPr/>
          <p:nvPr/>
        </p:nvGrpSpPr>
        <p:grpSpPr>
          <a:xfrm>
            <a:off x="1671921" y="2721880"/>
            <a:ext cx="5472952" cy="699150"/>
            <a:chOff x="1788459" y="1440534"/>
            <a:chExt cx="5472952" cy="699150"/>
          </a:xfrm>
        </p:grpSpPr>
        <p:sp>
          <p:nvSpPr>
            <p:cNvPr id="4" name="Rectangle 3"/>
            <p:cNvSpPr/>
            <p:nvPr/>
          </p:nvSpPr>
          <p:spPr>
            <a:xfrm>
              <a:off x="1788459" y="1577788"/>
              <a:ext cx="1013012" cy="457200"/>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000" b="1" dirty="0" smtClean="0"/>
                <a:t>Subject</a:t>
              </a:r>
              <a:endParaRPr lang="en-US" sz="1400" b="1" dirty="0"/>
            </a:p>
          </p:txBody>
        </p:sp>
        <p:sp>
          <p:nvSpPr>
            <p:cNvPr id="5" name="Rectangle 4"/>
            <p:cNvSpPr/>
            <p:nvPr/>
          </p:nvSpPr>
          <p:spPr>
            <a:xfrm>
              <a:off x="6078070" y="1577788"/>
              <a:ext cx="1183341" cy="457200"/>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000" b="1" dirty="0" smtClean="0"/>
                <a:t>Object</a:t>
              </a:r>
              <a:endParaRPr lang="en-US" sz="2000" b="1" dirty="0"/>
            </a:p>
          </p:txBody>
        </p:sp>
        <p:cxnSp>
          <p:nvCxnSpPr>
            <p:cNvPr id="6" name="Straight Arrow Connector 5"/>
            <p:cNvCxnSpPr>
              <a:stCxn id="4" idx="3"/>
              <a:endCxn id="5" idx="1"/>
            </p:cNvCxnSpPr>
            <p:nvPr/>
          </p:nvCxnSpPr>
          <p:spPr>
            <a:xfrm>
              <a:off x="2801471" y="1806388"/>
              <a:ext cx="3276599" cy="0"/>
            </a:xfrm>
            <a:prstGeom prst="straightConnector1">
              <a:avLst/>
            </a:prstGeom>
            <a:ln w="19050">
              <a:solidFill>
                <a:srgbClr val="000000"/>
              </a:solidFill>
              <a:tailEnd type="arrow"/>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2962042" y="1440534"/>
              <a:ext cx="2344271" cy="400110"/>
            </a:xfrm>
            <a:prstGeom prst="rect">
              <a:avLst/>
            </a:prstGeom>
            <a:noFill/>
          </p:spPr>
          <p:txBody>
            <a:bodyPr wrap="square" rtlCol="0">
              <a:spAutoFit/>
            </a:bodyPr>
            <a:lstStyle/>
            <a:p>
              <a:pPr algn="ctr"/>
              <a:r>
                <a:rPr lang="en-US" sz="2000" dirty="0" smtClean="0"/>
                <a:t>Request an operation</a:t>
              </a:r>
              <a:endParaRPr lang="en-US" sz="2000" dirty="0"/>
            </a:p>
          </p:txBody>
        </p:sp>
        <p:pic>
          <p:nvPicPr>
            <p:cNvPr id="8" name="Picture 3" descr="C:\Users\vkolar\AppData\Local\Microsoft\Windows\Temporary Internet Files\Content.IE5\HNBM0I5K\MC900186176[1].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66884" y="1473092"/>
              <a:ext cx="611187" cy="66659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2" name="Group 21"/>
          <p:cNvGrpSpPr/>
          <p:nvPr/>
        </p:nvGrpSpPr>
        <p:grpSpPr>
          <a:xfrm>
            <a:off x="1671921" y="4095733"/>
            <a:ext cx="5957046" cy="917251"/>
            <a:chOff x="1456766" y="2877702"/>
            <a:chExt cx="5957046" cy="917251"/>
          </a:xfrm>
        </p:grpSpPr>
        <p:sp>
          <p:nvSpPr>
            <p:cNvPr id="15" name="Rectangle 14"/>
            <p:cNvSpPr/>
            <p:nvPr/>
          </p:nvSpPr>
          <p:spPr>
            <a:xfrm>
              <a:off x="1456766" y="3210996"/>
              <a:ext cx="1268506" cy="583957"/>
            </a:xfrm>
            <a:prstGeom prst="rect">
              <a:avLst/>
            </a:prstGeom>
            <a:solidFill>
              <a:schemeClr val="accent6"/>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000" b="1" dirty="0" smtClean="0"/>
                <a:t>Subject</a:t>
              </a:r>
              <a:endParaRPr lang="en-US" sz="2000" b="1" dirty="0"/>
            </a:p>
          </p:txBody>
        </p:sp>
        <p:sp>
          <p:nvSpPr>
            <p:cNvPr id="16" name="Rectangle 15"/>
            <p:cNvSpPr/>
            <p:nvPr/>
          </p:nvSpPr>
          <p:spPr>
            <a:xfrm>
              <a:off x="6001870" y="3210996"/>
              <a:ext cx="1411942" cy="583955"/>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000" b="1" dirty="0" smtClean="0"/>
                <a:t>Object</a:t>
              </a:r>
              <a:endParaRPr lang="en-US" sz="2000" b="1" dirty="0"/>
            </a:p>
          </p:txBody>
        </p:sp>
        <p:cxnSp>
          <p:nvCxnSpPr>
            <p:cNvPr id="17" name="Straight Arrow Connector 16"/>
            <p:cNvCxnSpPr>
              <a:stCxn id="15" idx="3"/>
              <a:endCxn id="21" idx="1"/>
            </p:cNvCxnSpPr>
            <p:nvPr/>
          </p:nvCxnSpPr>
          <p:spPr>
            <a:xfrm>
              <a:off x="2725272" y="3502975"/>
              <a:ext cx="1142999" cy="785"/>
            </a:xfrm>
            <a:prstGeom prst="straightConnector1">
              <a:avLst/>
            </a:prstGeom>
            <a:ln w="19050">
              <a:solidFill>
                <a:srgbClr val="000000"/>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2647484" y="2899524"/>
              <a:ext cx="1182687" cy="584775"/>
            </a:xfrm>
            <a:prstGeom prst="rect">
              <a:avLst/>
            </a:prstGeom>
            <a:noFill/>
          </p:spPr>
          <p:txBody>
            <a:bodyPr wrap="square" rtlCol="0">
              <a:spAutoFit/>
            </a:bodyPr>
            <a:lstStyle/>
            <a:p>
              <a:pPr algn="ctr"/>
              <a:r>
                <a:rPr lang="en-US" sz="1600" b="1" dirty="0" smtClean="0"/>
                <a:t>Request an </a:t>
              </a:r>
              <a:br>
                <a:rPr lang="en-US" sz="1600" b="1" dirty="0" smtClean="0"/>
              </a:br>
              <a:r>
                <a:rPr lang="en-US" sz="1600" b="1" dirty="0" smtClean="0"/>
                <a:t>operation</a:t>
              </a:r>
              <a:endParaRPr lang="en-US" sz="1600" b="1" dirty="0"/>
            </a:p>
          </p:txBody>
        </p:sp>
        <p:sp>
          <p:nvSpPr>
            <p:cNvPr id="19" name="TextBox 18"/>
            <p:cNvSpPr txBox="1"/>
            <p:nvPr/>
          </p:nvSpPr>
          <p:spPr>
            <a:xfrm>
              <a:off x="4895383" y="2877702"/>
              <a:ext cx="1106487" cy="584775"/>
            </a:xfrm>
            <a:prstGeom prst="rect">
              <a:avLst/>
            </a:prstGeom>
            <a:noFill/>
          </p:spPr>
          <p:txBody>
            <a:bodyPr wrap="square" rtlCol="0">
              <a:spAutoFit/>
            </a:bodyPr>
            <a:lstStyle/>
            <a:p>
              <a:pPr algn="ctr"/>
              <a:r>
                <a:rPr lang="en-US" sz="1600" b="1" dirty="0" smtClean="0"/>
                <a:t>Authorized request</a:t>
              </a:r>
              <a:endParaRPr lang="en-US" sz="1600" b="1" dirty="0"/>
            </a:p>
          </p:txBody>
        </p:sp>
        <p:cxnSp>
          <p:nvCxnSpPr>
            <p:cNvPr id="20" name="Straight Arrow Connector 19"/>
            <p:cNvCxnSpPr>
              <a:stCxn id="21" idx="3"/>
              <a:endCxn id="16" idx="1"/>
            </p:cNvCxnSpPr>
            <p:nvPr/>
          </p:nvCxnSpPr>
          <p:spPr>
            <a:xfrm flipV="1">
              <a:off x="5006788" y="3502974"/>
              <a:ext cx="995082" cy="786"/>
            </a:xfrm>
            <a:prstGeom prst="straightConnector1">
              <a:avLst/>
            </a:prstGeom>
            <a:ln w="19050">
              <a:solidFill>
                <a:srgbClr val="000000"/>
              </a:solidFill>
              <a:tailEnd type="arrow"/>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3868271" y="3212567"/>
              <a:ext cx="1138517" cy="582385"/>
            </a:xfrm>
            <a:prstGeom prst="rect">
              <a:avLst/>
            </a:prstGeom>
            <a:solidFill>
              <a:srgbClr val="0E3755"/>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b="1" dirty="0" smtClean="0"/>
                <a:t>Reference Monitor</a:t>
              </a:r>
              <a:endParaRPr lang="en-US" b="1" dirty="0"/>
            </a:p>
          </p:txBody>
        </p:sp>
      </p:grpSp>
    </p:spTree>
    <p:extLst>
      <p:ext uri="{BB962C8B-B14F-4D97-AF65-F5344CB8AC3E}">
        <p14:creationId xmlns:p14="http://schemas.microsoft.com/office/powerpoint/2010/main" val="1791556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left)">
                                      <p:cBhvr>
                                        <p:cTn id="19" dur="500"/>
                                        <p:tgtEl>
                                          <p:spTgt spid="14"/>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wipe(left)">
                                      <p:cBhvr>
                                        <p:cTn id="28" dur="500"/>
                                        <p:tgtEl>
                                          <p:spTgt spid="22"/>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Access Control</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dirty="0" smtClean="0">
                <a:solidFill>
                  <a:srgbClr val="1D3064"/>
                </a:solidFill>
              </a:rPr>
              <a:t>Many access control models:</a:t>
            </a:r>
          </a:p>
          <a:p>
            <a:pPr lvl="2"/>
            <a:r>
              <a:rPr lang="en-US" sz="2400" dirty="0" smtClean="0"/>
              <a:t>Access Control Matrix</a:t>
            </a:r>
          </a:p>
          <a:p>
            <a:pPr lvl="2"/>
            <a:r>
              <a:rPr lang="en-US" sz="2400" dirty="0" smtClean="0"/>
              <a:t>Access Control List (Capability List)</a:t>
            </a:r>
          </a:p>
          <a:p>
            <a:pPr lvl="2"/>
            <a:r>
              <a:rPr lang="en-US" sz="2400" dirty="0" smtClean="0"/>
              <a:t>Firewalls</a:t>
            </a:r>
          </a:p>
          <a:p>
            <a:pPr>
              <a:lnSpc>
                <a:spcPct val="100000"/>
              </a:lnSpc>
            </a:pPr>
            <a:endParaRPr lang="en-US" sz="2400" dirty="0">
              <a:solidFill>
                <a:srgbClr val="1D3064"/>
              </a:solidFill>
            </a:endParaRPr>
          </a:p>
        </p:txBody>
      </p:sp>
    </p:spTree>
    <p:extLst>
      <p:ext uri="{BB962C8B-B14F-4D97-AF65-F5344CB8AC3E}">
        <p14:creationId xmlns:p14="http://schemas.microsoft.com/office/powerpoint/2010/main" val="477022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normAutofit/>
          </a:bodyPr>
          <a:lstStyle/>
          <a:p>
            <a:r>
              <a:rPr lang="en-US" dirty="0"/>
              <a:t>Access Control Matrix</a:t>
            </a:r>
          </a:p>
        </p:txBody>
      </p:sp>
      <p:sp>
        <p:nvSpPr>
          <p:cNvPr id="9" name="Content Placeholder 8"/>
          <p:cNvSpPr>
            <a:spLocks noGrp="1"/>
          </p:cNvSpPr>
          <p:nvPr>
            <p:ph idx="1"/>
          </p:nvPr>
        </p:nvSpPr>
        <p:spPr>
          <a:xfrm>
            <a:off x="131181" y="863444"/>
            <a:ext cx="8548364" cy="5590565"/>
          </a:xfrm>
        </p:spPr>
        <p:txBody>
          <a:bodyPr/>
          <a:lstStyle/>
          <a:p>
            <a:r>
              <a:rPr lang="en-US" dirty="0"/>
              <a:t>A matrix M that keeps track of which operations can a subject invoke on an object</a:t>
            </a:r>
          </a:p>
          <a:p>
            <a:r>
              <a:rPr lang="en-US" dirty="0"/>
              <a:t>M [</a:t>
            </a:r>
            <a:r>
              <a:rPr lang="en-US" dirty="0" err="1"/>
              <a:t>s,o</a:t>
            </a:r>
            <a:r>
              <a:rPr lang="en-US" dirty="0"/>
              <a:t>] lists which operations subject s can perform on </a:t>
            </a:r>
            <a:r>
              <a:rPr lang="en-US" dirty="0" smtClean="0"/>
              <a:t>object </a:t>
            </a:r>
            <a:r>
              <a:rPr lang="en-US" dirty="0"/>
              <a:t>o</a:t>
            </a:r>
          </a:p>
          <a:p>
            <a:r>
              <a:rPr lang="en-US" dirty="0" smtClean="0"/>
              <a:t>The </a:t>
            </a:r>
            <a:r>
              <a:rPr lang="en-US" dirty="0"/>
              <a:t>reference monitor will look up AC </a:t>
            </a:r>
            <a:r>
              <a:rPr lang="en-US" dirty="0" smtClean="0"/>
              <a:t>Matrix before </a:t>
            </a:r>
            <a:r>
              <a:rPr lang="en-US" dirty="0"/>
              <a:t>authorizing the request</a:t>
            </a:r>
          </a:p>
          <a:p>
            <a:r>
              <a:rPr lang="en-US" dirty="0" smtClean="0"/>
              <a:t>Scalability </a:t>
            </a:r>
            <a:r>
              <a:rPr lang="en-US" dirty="0"/>
              <a:t>of AC Matrix</a:t>
            </a:r>
          </a:p>
          <a:p>
            <a:r>
              <a:rPr lang="en-US" dirty="0"/>
              <a:t>For a large DS with many users, most of the entries </a:t>
            </a:r>
            <a:r>
              <a:rPr lang="en-US" dirty="0" smtClean="0"/>
              <a:t>are </a:t>
            </a:r>
            <a:r>
              <a:rPr lang="en-US" dirty="0"/>
              <a:t>empty</a:t>
            </a:r>
          </a:p>
          <a:p>
            <a:r>
              <a:rPr lang="en-US" dirty="0" smtClean="0"/>
              <a:t>Two </a:t>
            </a:r>
            <a:r>
              <a:rPr lang="en-US" dirty="0"/>
              <a:t>implementations of AC Matrix:</a:t>
            </a:r>
          </a:p>
          <a:p>
            <a:pPr marL="1371600" lvl="2" indent="-457200">
              <a:buFont typeface="+mj-lt"/>
              <a:buAutoNum type="arabicPeriod"/>
            </a:pPr>
            <a:r>
              <a:rPr lang="en-US" sz="2400" dirty="0"/>
              <a:t>Access Control Lists</a:t>
            </a:r>
          </a:p>
          <a:p>
            <a:pPr marL="1371600" lvl="2" indent="-457200">
              <a:buFont typeface="+mj-lt"/>
              <a:buAutoNum type="arabicPeriod"/>
            </a:pPr>
            <a:r>
              <a:rPr lang="en-US" sz="2400" dirty="0"/>
              <a:t>Capabilities</a:t>
            </a:r>
          </a:p>
        </p:txBody>
      </p:sp>
      <p:graphicFrame>
        <p:nvGraphicFramePr>
          <p:cNvPr id="13" name="Table 12"/>
          <p:cNvGraphicFramePr>
            <a:graphicFrameLocks noGrp="1"/>
          </p:cNvGraphicFramePr>
          <p:nvPr>
            <p:extLst>
              <p:ext uri="{D42A27DB-BD31-4B8C-83A1-F6EECF244321}">
                <p14:modId xmlns:p14="http://schemas.microsoft.com/office/powerpoint/2010/main" val="896012653"/>
              </p:ext>
            </p:extLst>
          </p:nvPr>
        </p:nvGraphicFramePr>
        <p:xfrm>
          <a:off x="9574306" y="2245658"/>
          <a:ext cx="2191872" cy="2029611"/>
        </p:xfrm>
        <a:graphic>
          <a:graphicData uri="http://schemas.openxmlformats.org/drawingml/2006/table">
            <a:tbl>
              <a:tblPr bandRow="1">
                <a:tableStyleId>{775DCB02-9BB8-47FD-8907-85C794F793BA}</a:tableStyleId>
              </a:tblPr>
              <a:tblGrid>
                <a:gridCol w="547968"/>
                <a:gridCol w="547968"/>
                <a:gridCol w="547968"/>
                <a:gridCol w="547968"/>
              </a:tblGrid>
              <a:tr h="505515">
                <a:tc>
                  <a:txBody>
                    <a:bodyPr/>
                    <a:lstStyle/>
                    <a:p>
                      <a:endParaRPr lang="en-US" sz="1100" dirty="0"/>
                    </a:p>
                  </a:txBody>
                  <a:tcPr/>
                </a:tc>
                <a:tc>
                  <a:txBody>
                    <a:bodyPr/>
                    <a:lstStyle/>
                    <a:p>
                      <a:endParaRPr lang="en-US" sz="1100" dirty="0"/>
                    </a:p>
                  </a:txBody>
                  <a:tcPr/>
                </a:tc>
                <a:tc>
                  <a:txBody>
                    <a:bodyPr/>
                    <a:lstStyle/>
                    <a:p>
                      <a:endParaRPr lang="en-US" sz="1100" dirty="0"/>
                    </a:p>
                  </a:txBody>
                  <a:tcPr/>
                </a:tc>
                <a:tc>
                  <a:txBody>
                    <a:bodyPr/>
                    <a:lstStyle/>
                    <a:p>
                      <a:endParaRPr lang="en-US" sz="1100" dirty="0"/>
                    </a:p>
                  </a:txBody>
                  <a:tcPr/>
                </a:tc>
              </a:tr>
              <a:tr h="508032">
                <a:tc>
                  <a:txBody>
                    <a:bodyPr/>
                    <a:lstStyle/>
                    <a:p>
                      <a:endParaRPr lang="en-US" sz="1100" dirty="0"/>
                    </a:p>
                  </a:txBody>
                  <a:tcPr/>
                </a:tc>
                <a:tc>
                  <a:txBody>
                    <a:bodyPr/>
                    <a:lstStyle/>
                    <a:p>
                      <a:endParaRPr lang="en-US" sz="1100" dirty="0"/>
                    </a:p>
                  </a:txBody>
                  <a:tcPr/>
                </a:tc>
                <a:tc>
                  <a:txBody>
                    <a:bodyPr/>
                    <a:lstStyle/>
                    <a:p>
                      <a:endParaRPr lang="en-US" sz="1100" dirty="0"/>
                    </a:p>
                  </a:txBody>
                  <a:tcPr/>
                </a:tc>
                <a:tc>
                  <a:txBody>
                    <a:bodyPr/>
                    <a:lstStyle/>
                    <a:p>
                      <a:endParaRPr lang="en-US" sz="1100" dirty="0"/>
                    </a:p>
                  </a:txBody>
                  <a:tcPr/>
                </a:tc>
              </a:tr>
              <a:tr h="508032">
                <a:tc>
                  <a:txBody>
                    <a:bodyPr/>
                    <a:lstStyle/>
                    <a:p>
                      <a:endParaRPr lang="en-US" sz="1100" dirty="0"/>
                    </a:p>
                  </a:txBody>
                  <a:tcPr/>
                </a:tc>
                <a:tc>
                  <a:txBody>
                    <a:bodyPr/>
                    <a:lstStyle/>
                    <a:p>
                      <a:endParaRPr lang="en-US" sz="1100" dirty="0"/>
                    </a:p>
                  </a:txBody>
                  <a:tcPr/>
                </a:tc>
                <a:tc>
                  <a:txBody>
                    <a:bodyPr/>
                    <a:lstStyle/>
                    <a:p>
                      <a:endParaRPr lang="en-US" sz="1100" dirty="0"/>
                    </a:p>
                  </a:txBody>
                  <a:tcPr/>
                </a:tc>
                <a:tc>
                  <a:txBody>
                    <a:bodyPr/>
                    <a:lstStyle/>
                    <a:p>
                      <a:endParaRPr lang="en-US" sz="1100" dirty="0"/>
                    </a:p>
                  </a:txBody>
                  <a:tcPr/>
                </a:tc>
              </a:tr>
              <a:tr h="508032">
                <a:tc>
                  <a:txBody>
                    <a:bodyPr/>
                    <a:lstStyle/>
                    <a:p>
                      <a:endParaRPr lang="en-US" sz="1100" dirty="0"/>
                    </a:p>
                  </a:txBody>
                  <a:tcPr/>
                </a:tc>
                <a:tc>
                  <a:txBody>
                    <a:bodyPr/>
                    <a:lstStyle/>
                    <a:p>
                      <a:endParaRPr lang="en-US" sz="1100"/>
                    </a:p>
                  </a:txBody>
                  <a:tcPr/>
                </a:tc>
                <a:tc>
                  <a:txBody>
                    <a:bodyPr/>
                    <a:lstStyle/>
                    <a:p>
                      <a:endParaRPr lang="en-US" sz="1100" dirty="0"/>
                    </a:p>
                  </a:txBody>
                  <a:tcPr/>
                </a:tc>
                <a:tc>
                  <a:txBody>
                    <a:bodyPr/>
                    <a:lstStyle/>
                    <a:p>
                      <a:endParaRPr lang="en-US" sz="1100" dirty="0"/>
                    </a:p>
                  </a:txBody>
                  <a:tcPr/>
                </a:tc>
              </a:tr>
            </a:tbl>
          </a:graphicData>
        </a:graphic>
      </p:graphicFrame>
      <p:sp>
        <p:nvSpPr>
          <p:cNvPr id="14" name="Rectangle 13"/>
          <p:cNvSpPr/>
          <p:nvPr/>
        </p:nvSpPr>
        <p:spPr>
          <a:xfrm>
            <a:off x="9032266" y="2245657"/>
            <a:ext cx="427901" cy="43739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smtClean="0">
                <a:solidFill>
                  <a:srgbClr val="0E3755"/>
                </a:solidFill>
              </a:rPr>
              <a:t>S1</a:t>
            </a:r>
            <a:endParaRPr lang="en-US" b="1" dirty="0">
              <a:solidFill>
                <a:srgbClr val="0E3755"/>
              </a:solidFill>
            </a:endParaRPr>
          </a:p>
        </p:txBody>
      </p:sp>
      <p:sp>
        <p:nvSpPr>
          <p:cNvPr id="15" name="Rectangle 14"/>
          <p:cNvSpPr/>
          <p:nvPr/>
        </p:nvSpPr>
        <p:spPr>
          <a:xfrm>
            <a:off x="9032265" y="2816285"/>
            <a:ext cx="427901" cy="34681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smtClean="0">
                <a:solidFill>
                  <a:srgbClr val="0E3755"/>
                </a:solidFill>
              </a:rPr>
              <a:t>S2</a:t>
            </a:r>
            <a:endParaRPr lang="en-US" b="1" dirty="0">
              <a:solidFill>
                <a:srgbClr val="0E3755"/>
              </a:solidFill>
            </a:endParaRPr>
          </a:p>
        </p:txBody>
      </p:sp>
      <p:sp>
        <p:nvSpPr>
          <p:cNvPr id="16" name="Rectangle 15"/>
          <p:cNvSpPr/>
          <p:nvPr/>
        </p:nvSpPr>
        <p:spPr>
          <a:xfrm>
            <a:off x="8955466" y="3730653"/>
            <a:ext cx="447928" cy="424532"/>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err="1" smtClean="0">
                <a:solidFill>
                  <a:srgbClr val="0E3755"/>
                </a:solidFill>
              </a:rPr>
              <a:t>Sn</a:t>
            </a:r>
            <a:endParaRPr lang="en-US" b="1" dirty="0">
              <a:solidFill>
                <a:srgbClr val="0E3755"/>
              </a:solidFill>
            </a:endParaRPr>
          </a:p>
        </p:txBody>
      </p:sp>
      <p:sp>
        <p:nvSpPr>
          <p:cNvPr id="17" name="Rectangle 16"/>
          <p:cNvSpPr/>
          <p:nvPr/>
        </p:nvSpPr>
        <p:spPr>
          <a:xfrm>
            <a:off x="11135020" y="1815394"/>
            <a:ext cx="631158" cy="238813"/>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smtClean="0">
                <a:solidFill>
                  <a:schemeClr val="tx1"/>
                </a:solidFill>
              </a:rPr>
              <a:t>Om</a:t>
            </a:r>
            <a:endParaRPr lang="en-US" b="1" dirty="0">
              <a:solidFill>
                <a:schemeClr val="tx1"/>
              </a:solidFill>
            </a:endParaRPr>
          </a:p>
        </p:txBody>
      </p:sp>
      <p:sp>
        <p:nvSpPr>
          <p:cNvPr id="18" name="Rectangle 17"/>
          <p:cNvSpPr/>
          <p:nvPr/>
        </p:nvSpPr>
        <p:spPr>
          <a:xfrm>
            <a:off x="9517156" y="1833425"/>
            <a:ext cx="647700" cy="220782"/>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chemeClr val="tx1"/>
                </a:solidFill>
              </a:rPr>
              <a:t>O</a:t>
            </a:r>
            <a:r>
              <a:rPr lang="en-US" b="1" dirty="0" smtClean="0">
                <a:solidFill>
                  <a:schemeClr val="tx1"/>
                </a:solidFill>
              </a:rPr>
              <a:t>1</a:t>
            </a:r>
            <a:endParaRPr lang="en-US" b="1" dirty="0">
              <a:solidFill>
                <a:schemeClr val="tx1"/>
              </a:solidFill>
            </a:endParaRPr>
          </a:p>
        </p:txBody>
      </p:sp>
      <p:graphicFrame>
        <p:nvGraphicFramePr>
          <p:cNvPr id="19" name="Table 18"/>
          <p:cNvGraphicFramePr>
            <a:graphicFrameLocks noGrp="1"/>
          </p:cNvGraphicFramePr>
          <p:nvPr>
            <p:extLst>
              <p:ext uri="{D42A27DB-BD31-4B8C-83A1-F6EECF244321}">
                <p14:modId xmlns:p14="http://schemas.microsoft.com/office/powerpoint/2010/main" val="1051460287"/>
              </p:ext>
            </p:extLst>
          </p:nvPr>
        </p:nvGraphicFramePr>
        <p:xfrm>
          <a:off x="9820436" y="4497200"/>
          <a:ext cx="1449186" cy="792480"/>
        </p:xfrm>
        <a:graphic>
          <a:graphicData uri="http://schemas.openxmlformats.org/drawingml/2006/table">
            <a:tbl>
              <a:tblPr firstRow="1" bandRow="1">
                <a:tableStyleId>{93296810-A885-4BE3-A3E7-6D5BEEA58F35}</a:tableStyleId>
              </a:tblPr>
              <a:tblGrid>
                <a:gridCol w="483062"/>
                <a:gridCol w="483062"/>
                <a:gridCol w="483062"/>
              </a:tblGrid>
              <a:tr h="294315">
                <a:tc>
                  <a:txBody>
                    <a:bodyPr/>
                    <a:lstStyle/>
                    <a:p>
                      <a:r>
                        <a:rPr lang="en-US" sz="2000" dirty="0" smtClean="0"/>
                        <a:t>R</a:t>
                      </a:r>
                      <a:endParaRPr lang="en-US" sz="2000" dirty="0"/>
                    </a:p>
                  </a:txBody>
                  <a:tcPr>
                    <a:lnL w="38100" cap="flat" cmpd="sng" algn="ctr">
                      <a:noFill/>
                      <a:prstDash val="solid"/>
                      <a:round/>
                      <a:headEnd type="none" w="med" len="med"/>
                      <a:tailEnd type="none" w="med" len="med"/>
                    </a:lnL>
                    <a:lnR w="12700" cmpd="sng">
                      <a:noFill/>
                    </a:lnR>
                    <a:lnT w="381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tcPr>
                </a:tc>
                <a:tc>
                  <a:txBody>
                    <a:bodyPr/>
                    <a:lstStyle/>
                    <a:p>
                      <a:r>
                        <a:rPr lang="en-US" sz="2000" dirty="0" smtClean="0"/>
                        <a:t>W</a:t>
                      </a:r>
                      <a:endParaRPr lang="en-US" sz="2000" dirty="0"/>
                    </a:p>
                  </a:txBody>
                  <a:tcPr>
                    <a:lnL w="12700" cmpd="sng">
                      <a:noFill/>
                    </a:lnL>
                    <a:lnR w="12700" cmpd="sng">
                      <a:noFill/>
                    </a:lnR>
                    <a:lnT w="381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tcPr>
                </a:tc>
                <a:tc>
                  <a:txBody>
                    <a:bodyPr/>
                    <a:lstStyle/>
                    <a:p>
                      <a:r>
                        <a:rPr lang="en-US" sz="2000" dirty="0" smtClean="0"/>
                        <a:t>X</a:t>
                      </a:r>
                      <a:endParaRPr lang="en-US" sz="2000" dirty="0"/>
                    </a:p>
                  </a:txBody>
                  <a:tcPr>
                    <a:lnL w="12700" cmpd="sng">
                      <a:noFill/>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tcPr>
                </a:tc>
              </a:tr>
              <a:tr h="294315">
                <a:tc>
                  <a:txBody>
                    <a:bodyPr/>
                    <a:lstStyle/>
                    <a:p>
                      <a:r>
                        <a:rPr lang="en-US" sz="2000" dirty="0" smtClean="0"/>
                        <a:t>√</a:t>
                      </a:r>
                      <a:endParaRPr lang="en-US" sz="2000" dirty="0"/>
                    </a:p>
                  </a:txBody>
                  <a:tcPr>
                    <a:lnL w="38100" cap="flat" cmpd="sng" algn="ctr">
                      <a:noFill/>
                      <a:prstDash val="solid"/>
                      <a:round/>
                      <a:headEnd type="none" w="med" len="med"/>
                      <a:tailEnd type="none" w="med" len="med"/>
                    </a:lnL>
                    <a:lnR w="12700" cmpd="sng">
                      <a:noFill/>
                    </a:lnR>
                    <a:lnT w="38100" cmpd="sng">
                      <a:noFill/>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000" dirty="0" smtClean="0"/>
                        <a:t>x</a:t>
                      </a:r>
                      <a:endParaRPr lang="en-US" sz="2000" dirty="0"/>
                    </a:p>
                  </a:txBody>
                  <a:tcPr>
                    <a:lnL w="12700" cmpd="sng">
                      <a:noFill/>
                    </a:lnL>
                    <a:lnR w="12700" cmpd="sng">
                      <a:noFill/>
                    </a:lnR>
                    <a:lnT w="38100" cmpd="sng">
                      <a:noFill/>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000" dirty="0" smtClean="0"/>
                        <a:t>x</a:t>
                      </a:r>
                      <a:endParaRPr lang="en-US" sz="2000" dirty="0"/>
                    </a:p>
                  </a:txBody>
                  <a:tcPr>
                    <a:lnL w="12700" cmpd="sng">
                      <a:noFill/>
                    </a:lnL>
                    <a:lnR w="38100" cap="flat" cmpd="sng" algn="ctr">
                      <a:noFill/>
                      <a:prstDash val="solid"/>
                      <a:round/>
                      <a:headEnd type="none" w="med" len="med"/>
                      <a:tailEnd type="none" w="med" len="med"/>
                    </a:lnR>
                    <a:lnT w="38100" cmpd="sng">
                      <a:noFill/>
                    </a:lnT>
                    <a:lnB w="38100" cap="flat" cmpd="sng" algn="ctr">
                      <a:no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20" name="Rectangle 19"/>
          <p:cNvSpPr/>
          <p:nvPr/>
        </p:nvSpPr>
        <p:spPr>
          <a:xfrm>
            <a:off x="10126489" y="3260463"/>
            <a:ext cx="523581" cy="47019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21" name="Straight Connector 20"/>
          <p:cNvCxnSpPr/>
          <p:nvPr/>
        </p:nvCxnSpPr>
        <p:spPr>
          <a:xfrm flipH="1">
            <a:off x="9820436" y="3730653"/>
            <a:ext cx="344420" cy="73606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10638118" y="3730653"/>
            <a:ext cx="564135" cy="73606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10240790" y="1345141"/>
            <a:ext cx="1049403" cy="400110"/>
          </a:xfrm>
          <a:prstGeom prst="rect">
            <a:avLst/>
          </a:prstGeom>
          <a:noFill/>
        </p:spPr>
        <p:txBody>
          <a:bodyPr wrap="square" rtlCol="0">
            <a:spAutoFit/>
          </a:bodyPr>
          <a:lstStyle/>
          <a:p>
            <a:pPr algn="ctr"/>
            <a:r>
              <a:rPr lang="en-US" sz="2000" b="1" dirty="0" smtClean="0"/>
              <a:t>Objects</a:t>
            </a:r>
            <a:endParaRPr lang="en-US" sz="2000" b="1" dirty="0"/>
          </a:p>
        </p:txBody>
      </p:sp>
      <p:sp>
        <p:nvSpPr>
          <p:cNvPr id="24" name="TextBox 23"/>
          <p:cNvSpPr txBox="1"/>
          <p:nvPr/>
        </p:nvSpPr>
        <p:spPr>
          <a:xfrm>
            <a:off x="8464501" y="2740053"/>
            <a:ext cx="492443" cy="990600"/>
          </a:xfrm>
          <a:prstGeom prst="rect">
            <a:avLst/>
          </a:prstGeom>
          <a:noFill/>
        </p:spPr>
        <p:txBody>
          <a:bodyPr vert="vert270" wrap="square" rtlCol="0">
            <a:spAutoFit/>
          </a:bodyPr>
          <a:lstStyle/>
          <a:p>
            <a:pPr algn="ctr"/>
            <a:r>
              <a:rPr lang="en-US" sz="2000" b="1" dirty="0" smtClean="0">
                <a:solidFill>
                  <a:srgbClr val="0E3755"/>
                </a:solidFill>
              </a:rPr>
              <a:t>Subjects</a:t>
            </a:r>
            <a:endParaRPr lang="en-US" sz="2000" b="1" dirty="0">
              <a:solidFill>
                <a:srgbClr val="0E3755"/>
              </a:solidFill>
            </a:endParaRPr>
          </a:p>
        </p:txBody>
      </p:sp>
    </p:spTree>
    <p:extLst>
      <p:ext uri="{BB962C8B-B14F-4D97-AF65-F5344CB8AC3E}">
        <p14:creationId xmlns:p14="http://schemas.microsoft.com/office/powerpoint/2010/main" val="3567846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normAutofit/>
          </a:bodyPr>
          <a:lstStyle/>
          <a:p>
            <a:r>
              <a:rPr lang="en-US" dirty="0"/>
              <a:t>Access Control List and Capabilities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a:xfrm>
            <a:off x="131180" y="863444"/>
            <a:ext cx="7049549" cy="5590565"/>
          </a:xfrm>
        </p:spPr>
        <p:txBody>
          <a:bodyPr/>
          <a:lstStyle/>
          <a:p>
            <a:pPr marL="0" indent="0">
              <a:lnSpc>
                <a:spcPct val="100000"/>
              </a:lnSpc>
              <a:buNone/>
            </a:pPr>
            <a:r>
              <a:rPr lang="en-US" b="1" dirty="0">
                <a:solidFill>
                  <a:srgbClr val="1D3064"/>
                </a:solidFill>
              </a:rPr>
              <a:t>Access Control List </a:t>
            </a:r>
            <a:endParaRPr lang="en-US" b="1" dirty="0" smtClean="0">
              <a:solidFill>
                <a:srgbClr val="1D3064"/>
              </a:solidFill>
            </a:endParaRPr>
          </a:p>
          <a:p>
            <a:pPr>
              <a:lnSpc>
                <a:spcPct val="100000"/>
              </a:lnSpc>
            </a:pPr>
            <a:r>
              <a:rPr lang="en-US" dirty="0" smtClean="0"/>
              <a:t>AC </a:t>
            </a:r>
            <a:r>
              <a:rPr lang="en-US" dirty="0"/>
              <a:t>Matrix is stored as a list</a:t>
            </a:r>
          </a:p>
          <a:p>
            <a:pPr lvl="2"/>
            <a:r>
              <a:rPr lang="en-US" sz="2400" dirty="0"/>
              <a:t>Similar to how a graph of nodes and edges are stored as an adjacency </a:t>
            </a:r>
            <a:r>
              <a:rPr lang="en-US" sz="2400" dirty="0" smtClean="0"/>
              <a:t>list</a:t>
            </a:r>
          </a:p>
          <a:p>
            <a:pPr lvl="2"/>
            <a:endParaRPr lang="en-US" sz="2400" dirty="0"/>
          </a:p>
          <a:p>
            <a:pPr lvl="2"/>
            <a:endParaRPr lang="en-US" sz="2400" dirty="0" smtClean="0"/>
          </a:p>
          <a:p>
            <a:pPr marL="0" lvl="0" indent="0">
              <a:lnSpc>
                <a:spcPct val="100000"/>
              </a:lnSpc>
              <a:buClr>
                <a:srgbClr val="B84742"/>
              </a:buClr>
              <a:buNone/>
            </a:pPr>
            <a:r>
              <a:rPr lang="en-US" b="1" dirty="0" smtClean="0">
                <a:solidFill>
                  <a:srgbClr val="1D3064"/>
                </a:solidFill>
              </a:rPr>
              <a:t>Capabilities</a:t>
            </a:r>
            <a:endParaRPr lang="en-US" sz="2400" dirty="0" smtClean="0"/>
          </a:p>
          <a:p>
            <a:pPr marL="265113" lvl="2" indent="-265113">
              <a:lnSpc>
                <a:spcPct val="100000"/>
              </a:lnSpc>
              <a:spcBef>
                <a:spcPts val="1000"/>
              </a:spcBef>
              <a:buFont typeface="Webdings" panose="05030102010509060703" pitchFamily="18" charset="2"/>
              <a:buChar char=""/>
            </a:pPr>
            <a:r>
              <a:rPr lang="en-US" sz="2400" dirty="0"/>
              <a:t>AC Matrix can also be decomposed row-wise</a:t>
            </a:r>
          </a:p>
          <a:p>
            <a:pPr marL="265113" lvl="2" indent="-265113">
              <a:lnSpc>
                <a:spcPct val="100000"/>
              </a:lnSpc>
              <a:spcBef>
                <a:spcPts val="1000"/>
              </a:spcBef>
              <a:buFont typeface="Webdings" panose="05030102010509060703" pitchFamily="18" charset="2"/>
              <a:buChar char=""/>
            </a:pPr>
            <a:r>
              <a:rPr lang="en-US" sz="2400" dirty="0"/>
              <a:t>Capability for a user is a list of objects and the associated permissions for a given user</a:t>
            </a:r>
          </a:p>
          <a:p>
            <a:pPr marL="265113" lvl="2" indent="-265113">
              <a:lnSpc>
                <a:spcPct val="100000"/>
              </a:lnSpc>
              <a:spcBef>
                <a:spcPts val="1000"/>
              </a:spcBef>
              <a:buFont typeface="Webdings" panose="05030102010509060703" pitchFamily="18" charset="2"/>
              <a:buChar char=""/>
            </a:pPr>
            <a:r>
              <a:rPr lang="en-US" sz="2400" dirty="0"/>
              <a:t>The ‘capability’ object can be issued by Reference Monitor to a user, and can reside at the user side</a:t>
            </a:r>
          </a:p>
          <a:p>
            <a:pPr lvl="2"/>
            <a:r>
              <a:rPr lang="en-US" sz="2400" dirty="0"/>
              <a:t>It should be protected (digital signature</a:t>
            </a:r>
            <a:r>
              <a:rPr lang="en-US" sz="2400" dirty="0" smtClean="0"/>
              <a:t>)</a:t>
            </a:r>
            <a:endParaRPr lang="en-US" sz="2400" dirty="0"/>
          </a:p>
        </p:txBody>
      </p:sp>
      <p:sp>
        <p:nvSpPr>
          <p:cNvPr id="4" name="Rectangle 3"/>
          <p:cNvSpPr/>
          <p:nvPr/>
        </p:nvSpPr>
        <p:spPr>
          <a:xfrm>
            <a:off x="8206980" y="918884"/>
            <a:ext cx="685800" cy="315011"/>
          </a:xfrm>
          <a:prstGeom prst="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err="1" smtClean="0"/>
              <a:t>Obj</a:t>
            </a:r>
            <a:r>
              <a:rPr lang="en-US" dirty="0" smtClean="0"/>
              <a:t> 1</a:t>
            </a:r>
            <a:endParaRPr lang="en-US" dirty="0"/>
          </a:p>
        </p:txBody>
      </p:sp>
      <p:sp>
        <p:nvSpPr>
          <p:cNvPr id="5" name="Rectangle 4"/>
          <p:cNvSpPr/>
          <p:nvPr/>
        </p:nvSpPr>
        <p:spPr>
          <a:xfrm>
            <a:off x="8206980" y="1386295"/>
            <a:ext cx="685800" cy="315011"/>
          </a:xfrm>
          <a:prstGeom prst="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err="1" smtClean="0"/>
              <a:t>Obj</a:t>
            </a:r>
            <a:r>
              <a:rPr lang="en-US" dirty="0" smtClean="0"/>
              <a:t> 2</a:t>
            </a:r>
            <a:endParaRPr lang="en-US" dirty="0"/>
          </a:p>
        </p:txBody>
      </p:sp>
      <p:sp>
        <p:nvSpPr>
          <p:cNvPr id="6" name="Rectangle 5"/>
          <p:cNvSpPr/>
          <p:nvPr/>
        </p:nvSpPr>
        <p:spPr>
          <a:xfrm>
            <a:off x="8168880" y="2273598"/>
            <a:ext cx="723900" cy="331899"/>
          </a:xfrm>
          <a:prstGeom prst="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err="1" smtClean="0"/>
              <a:t>Obj</a:t>
            </a:r>
            <a:r>
              <a:rPr lang="en-US" dirty="0" smtClean="0"/>
              <a:t> m</a:t>
            </a:r>
            <a:endParaRPr lang="en-US" dirty="0"/>
          </a:p>
        </p:txBody>
      </p:sp>
      <p:sp>
        <p:nvSpPr>
          <p:cNvPr id="7" name="Rectangle 6"/>
          <p:cNvSpPr/>
          <p:nvPr/>
        </p:nvSpPr>
        <p:spPr>
          <a:xfrm>
            <a:off x="9186582" y="918884"/>
            <a:ext cx="533400" cy="315011"/>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1200" dirty="0" smtClean="0"/>
              <a:t>Sub 1</a:t>
            </a:r>
            <a:endParaRPr lang="en-US" sz="1200" dirty="0"/>
          </a:p>
        </p:txBody>
      </p:sp>
      <p:sp>
        <p:nvSpPr>
          <p:cNvPr id="8" name="Rectangle 7"/>
          <p:cNvSpPr/>
          <p:nvPr/>
        </p:nvSpPr>
        <p:spPr>
          <a:xfrm>
            <a:off x="10024782" y="918883"/>
            <a:ext cx="533400" cy="315011"/>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1200" dirty="0" smtClean="0"/>
              <a:t>Sub 5</a:t>
            </a:r>
            <a:endParaRPr lang="en-US" sz="1200" dirty="0"/>
          </a:p>
        </p:txBody>
      </p:sp>
      <p:sp>
        <p:nvSpPr>
          <p:cNvPr id="9" name="Rectangle 8"/>
          <p:cNvSpPr/>
          <p:nvPr/>
        </p:nvSpPr>
        <p:spPr>
          <a:xfrm>
            <a:off x="11282082" y="920453"/>
            <a:ext cx="533400" cy="315011"/>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1200" dirty="0" smtClean="0"/>
              <a:t>Sub x</a:t>
            </a:r>
            <a:endParaRPr lang="en-US" sz="1200" dirty="0"/>
          </a:p>
        </p:txBody>
      </p:sp>
      <p:sp>
        <p:nvSpPr>
          <p:cNvPr id="10" name="Rectangle 9"/>
          <p:cNvSpPr/>
          <p:nvPr/>
        </p:nvSpPr>
        <p:spPr>
          <a:xfrm>
            <a:off x="9186582" y="1386295"/>
            <a:ext cx="533400" cy="315011"/>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1200" dirty="0" smtClean="0"/>
              <a:t>Sub 3</a:t>
            </a:r>
            <a:endParaRPr lang="en-US" sz="1200" dirty="0"/>
          </a:p>
        </p:txBody>
      </p:sp>
      <p:sp>
        <p:nvSpPr>
          <p:cNvPr id="11" name="Rectangle 10"/>
          <p:cNvSpPr/>
          <p:nvPr/>
        </p:nvSpPr>
        <p:spPr>
          <a:xfrm>
            <a:off x="10024782" y="1400823"/>
            <a:ext cx="533400" cy="315011"/>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1200" dirty="0" smtClean="0"/>
              <a:t>Sub 5</a:t>
            </a:r>
            <a:endParaRPr lang="en-US" sz="1200" dirty="0"/>
          </a:p>
        </p:txBody>
      </p:sp>
      <p:sp>
        <p:nvSpPr>
          <p:cNvPr id="12" name="Rectangle 11"/>
          <p:cNvSpPr/>
          <p:nvPr/>
        </p:nvSpPr>
        <p:spPr>
          <a:xfrm>
            <a:off x="9186582" y="2290486"/>
            <a:ext cx="533400" cy="315011"/>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1200" dirty="0" smtClean="0"/>
              <a:t>Sub 5</a:t>
            </a:r>
            <a:endParaRPr lang="en-US" sz="1200" dirty="0"/>
          </a:p>
        </p:txBody>
      </p:sp>
      <p:cxnSp>
        <p:nvCxnSpPr>
          <p:cNvPr id="13" name="Straight Arrow Connector 12"/>
          <p:cNvCxnSpPr>
            <a:stCxn id="7" idx="3"/>
            <a:endCxn id="8" idx="1"/>
          </p:cNvCxnSpPr>
          <p:nvPr/>
        </p:nvCxnSpPr>
        <p:spPr>
          <a:xfrm flipV="1">
            <a:off x="9719982" y="1076389"/>
            <a:ext cx="304800" cy="1"/>
          </a:xfrm>
          <a:prstGeom prst="straightConnector1">
            <a:avLst/>
          </a:prstGeom>
          <a:ln w="19050">
            <a:solidFill>
              <a:schemeClr val="accent4"/>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8" idx="3"/>
            <a:endCxn id="9" idx="1"/>
          </p:cNvCxnSpPr>
          <p:nvPr/>
        </p:nvCxnSpPr>
        <p:spPr>
          <a:xfrm>
            <a:off x="10558182" y="1076389"/>
            <a:ext cx="723900" cy="1570"/>
          </a:xfrm>
          <a:prstGeom prst="straightConnector1">
            <a:avLst/>
          </a:prstGeom>
          <a:ln w="19050">
            <a:solidFill>
              <a:schemeClr val="accent4"/>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9719982" y="1558328"/>
            <a:ext cx="304800" cy="1"/>
          </a:xfrm>
          <a:prstGeom prst="straightConnector1">
            <a:avLst/>
          </a:prstGeom>
          <a:ln w="19050">
            <a:solidFill>
              <a:schemeClr val="accent4"/>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endCxn id="17" idx="1"/>
          </p:cNvCxnSpPr>
          <p:nvPr/>
        </p:nvCxnSpPr>
        <p:spPr>
          <a:xfrm flipV="1">
            <a:off x="9724499" y="2431103"/>
            <a:ext cx="1024183" cy="18456"/>
          </a:xfrm>
          <a:prstGeom prst="straightConnector1">
            <a:avLst/>
          </a:prstGeom>
          <a:ln w="19050">
            <a:solidFill>
              <a:schemeClr val="accent4"/>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10748682" y="2273597"/>
            <a:ext cx="533400" cy="315011"/>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1200" dirty="0" smtClean="0"/>
              <a:t>Sub n</a:t>
            </a:r>
            <a:endParaRPr lang="en-US" sz="1200" dirty="0"/>
          </a:p>
        </p:txBody>
      </p:sp>
      <p:cxnSp>
        <p:nvCxnSpPr>
          <p:cNvPr id="18" name="Straight Arrow Connector 17"/>
          <p:cNvCxnSpPr/>
          <p:nvPr/>
        </p:nvCxnSpPr>
        <p:spPr>
          <a:xfrm flipV="1">
            <a:off x="8892780" y="1083849"/>
            <a:ext cx="304800" cy="1"/>
          </a:xfrm>
          <a:prstGeom prst="straightConnector1">
            <a:avLst/>
          </a:prstGeom>
          <a:ln w="38100">
            <a:solidFill>
              <a:srgbClr val="000000"/>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5" idx="3"/>
            <a:endCxn id="10" idx="1"/>
          </p:cNvCxnSpPr>
          <p:nvPr/>
        </p:nvCxnSpPr>
        <p:spPr>
          <a:xfrm>
            <a:off x="8892780" y="1543801"/>
            <a:ext cx="293802" cy="0"/>
          </a:xfrm>
          <a:prstGeom prst="straightConnector1">
            <a:avLst/>
          </a:prstGeom>
          <a:ln w="38100">
            <a:solidFill>
              <a:srgbClr val="000000"/>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6" idx="3"/>
            <a:endCxn id="12" idx="1"/>
          </p:cNvCxnSpPr>
          <p:nvPr/>
        </p:nvCxnSpPr>
        <p:spPr>
          <a:xfrm>
            <a:off x="8892780" y="2439548"/>
            <a:ext cx="293802" cy="8444"/>
          </a:xfrm>
          <a:prstGeom prst="straightConnector1">
            <a:avLst/>
          </a:prstGeom>
          <a:ln w="38100">
            <a:solidFill>
              <a:srgbClr val="000000"/>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8549880" y="1843499"/>
            <a:ext cx="0" cy="304798"/>
          </a:xfrm>
          <a:prstGeom prst="straightConnector1">
            <a:avLst/>
          </a:prstGeom>
          <a:ln w="38100">
            <a:solidFill>
              <a:srgbClr val="00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9034182" y="1843499"/>
            <a:ext cx="0" cy="304798"/>
          </a:xfrm>
          <a:prstGeom prst="straightConnector1">
            <a:avLst/>
          </a:prstGeom>
          <a:ln w="38100">
            <a:solidFill>
              <a:srgbClr val="00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9567582" y="1843500"/>
            <a:ext cx="0" cy="304798"/>
          </a:xfrm>
          <a:prstGeom prst="straightConnector1">
            <a:avLst/>
          </a:prstGeom>
          <a:ln w="38100">
            <a:solidFill>
              <a:schemeClr val="accent4"/>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10024782" y="1843499"/>
            <a:ext cx="0" cy="304798"/>
          </a:xfrm>
          <a:prstGeom prst="straightConnector1">
            <a:avLst/>
          </a:prstGeom>
          <a:ln w="38100">
            <a:solidFill>
              <a:schemeClr val="accent4"/>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10481982" y="1843501"/>
            <a:ext cx="0" cy="304798"/>
          </a:xfrm>
          <a:prstGeom prst="straightConnector1">
            <a:avLst/>
          </a:prstGeom>
          <a:ln w="38100">
            <a:solidFill>
              <a:schemeClr val="accent4"/>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10920132" y="1843499"/>
            <a:ext cx="0" cy="304798"/>
          </a:xfrm>
          <a:prstGeom prst="straightConnector1">
            <a:avLst/>
          </a:prstGeom>
          <a:ln w="38100">
            <a:solidFill>
              <a:schemeClr val="accent4"/>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aphicFrame>
        <p:nvGraphicFramePr>
          <p:cNvPr id="27" name="Table 26"/>
          <p:cNvGraphicFramePr>
            <a:graphicFrameLocks noGrp="1"/>
          </p:cNvGraphicFramePr>
          <p:nvPr>
            <p:extLst>
              <p:ext uri="{D42A27DB-BD31-4B8C-83A1-F6EECF244321}">
                <p14:modId xmlns:p14="http://schemas.microsoft.com/office/powerpoint/2010/main" val="3017807141"/>
              </p:ext>
            </p:extLst>
          </p:nvPr>
        </p:nvGraphicFramePr>
        <p:xfrm>
          <a:off x="8615082" y="3062697"/>
          <a:ext cx="1143000" cy="502920"/>
        </p:xfrm>
        <a:graphic>
          <a:graphicData uri="http://schemas.openxmlformats.org/drawingml/2006/table">
            <a:tbl>
              <a:tblPr firstRow="1" bandRow="1">
                <a:tableStyleId>{93296810-A885-4BE3-A3E7-6D5BEEA58F35}</a:tableStyleId>
              </a:tblPr>
              <a:tblGrid>
                <a:gridCol w="381000"/>
                <a:gridCol w="381000"/>
                <a:gridCol w="381000"/>
              </a:tblGrid>
              <a:tr h="251460">
                <a:tc>
                  <a:txBody>
                    <a:bodyPr/>
                    <a:lstStyle/>
                    <a:p>
                      <a:r>
                        <a:rPr lang="en-US" sz="1050" dirty="0" smtClean="0"/>
                        <a:t>R</a:t>
                      </a:r>
                      <a:endParaRPr lang="en-US" sz="1050" dirty="0"/>
                    </a:p>
                  </a:txBody>
                  <a:tcPr>
                    <a:lnL w="38100" cap="flat" cmpd="sng" algn="ctr">
                      <a:noFill/>
                      <a:prstDash val="solid"/>
                      <a:round/>
                      <a:headEnd type="none" w="med" len="med"/>
                      <a:tailEnd type="none" w="med" len="med"/>
                    </a:lnL>
                    <a:lnR w="12700" cmpd="sng">
                      <a:noFill/>
                    </a:lnR>
                    <a:lnT w="381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tcPr>
                </a:tc>
                <a:tc>
                  <a:txBody>
                    <a:bodyPr/>
                    <a:lstStyle/>
                    <a:p>
                      <a:r>
                        <a:rPr lang="en-US" sz="1050" dirty="0" smtClean="0"/>
                        <a:t>W</a:t>
                      </a:r>
                      <a:endParaRPr lang="en-US" sz="1050" dirty="0"/>
                    </a:p>
                  </a:txBody>
                  <a:tcPr>
                    <a:lnL w="12700" cmpd="sng">
                      <a:noFill/>
                    </a:lnL>
                    <a:lnR w="12700" cmpd="sng">
                      <a:noFill/>
                    </a:lnR>
                    <a:lnT w="381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tcPr>
                </a:tc>
                <a:tc>
                  <a:txBody>
                    <a:bodyPr/>
                    <a:lstStyle/>
                    <a:p>
                      <a:r>
                        <a:rPr lang="en-US" sz="1050" dirty="0" smtClean="0"/>
                        <a:t>X</a:t>
                      </a:r>
                      <a:endParaRPr lang="en-US" sz="1050" dirty="0"/>
                    </a:p>
                  </a:txBody>
                  <a:tcPr>
                    <a:lnL w="12700" cmpd="sng">
                      <a:noFill/>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tcPr>
                </a:tc>
              </a:tr>
              <a:tr h="251460">
                <a:tc>
                  <a:txBody>
                    <a:bodyPr/>
                    <a:lstStyle/>
                    <a:p>
                      <a:r>
                        <a:rPr lang="en-US" sz="1050" dirty="0" smtClean="0"/>
                        <a:t>√</a:t>
                      </a:r>
                      <a:endParaRPr lang="en-US" sz="1050" dirty="0"/>
                    </a:p>
                  </a:txBody>
                  <a:tcPr>
                    <a:lnL w="38100" cap="flat" cmpd="sng" algn="ctr">
                      <a:noFill/>
                      <a:prstDash val="solid"/>
                      <a:round/>
                      <a:headEnd type="none" w="med" len="med"/>
                      <a:tailEnd type="none" w="med" len="med"/>
                    </a:lnL>
                    <a:lnR w="12700" cmpd="sng">
                      <a:noFill/>
                    </a:lnR>
                    <a:lnT w="38100" cmpd="sng">
                      <a:noFill/>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050" dirty="0" smtClean="0"/>
                        <a:t>x</a:t>
                      </a:r>
                      <a:endParaRPr lang="en-US" sz="1050" dirty="0"/>
                    </a:p>
                  </a:txBody>
                  <a:tcPr>
                    <a:lnL w="12700" cmpd="sng">
                      <a:noFill/>
                    </a:lnL>
                    <a:lnR w="12700" cmpd="sng">
                      <a:noFill/>
                    </a:lnR>
                    <a:lnT w="38100" cmpd="sng">
                      <a:noFill/>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050" dirty="0" smtClean="0"/>
                        <a:t>x</a:t>
                      </a:r>
                      <a:endParaRPr lang="en-US" sz="1050" dirty="0"/>
                    </a:p>
                  </a:txBody>
                  <a:tcPr>
                    <a:lnL w="12700" cmpd="sng">
                      <a:noFill/>
                    </a:lnL>
                    <a:lnR w="38100" cap="flat" cmpd="sng" algn="ctr">
                      <a:noFill/>
                      <a:prstDash val="solid"/>
                      <a:round/>
                      <a:headEnd type="none" w="med" len="med"/>
                      <a:tailEnd type="none" w="med" len="med"/>
                    </a:lnR>
                    <a:lnT w="38100" cmpd="sng">
                      <a:noFill/>
                    </a:lnT>
                    <a:lnB w="38100" cap="flat" cmpd="sng" algn="ctr">
                      <a:noFill/>
                      <a:prstDash val="solid"/>
                      <a:round/>
                      <a:headEnd type="none" w="med" len="med"/>
                      <a:tailEnd type="none" w="med" len="med"/>
                    </a:lnB>
                    <a:lnTlToBr w="12700" cmpd="sng">
                      <a:noFill/>
                      <a:prstDash val="solid"/>
                    </a:lnTlToBr>
                    <a:lnBlToTr w="12700" cmpd="sng">
                      <a:noFill/>
                      <a:prstDash val="solid"/>
                    </a:lnBlToTr>
                  </a:tcPr>
                </a:tc>
              </a:tr>
            </a:tbl>
          </a:graphicData>
        </a:graphic>
      </p:graphicFrame>
      <p:cxnSp>
        <p:nvCxnSpPr>
          <p:cNvPr id="28" name="Straight Connector 27"/>
          <p:cNvCxnSpPr/>
          <p:nvPr/>
        </p:nvCxnSpPr>
        <p:spPr>
          <a:xfrm flipH="1">
            <a:off x="8615083" y="2605497"/>
            <a:ext cx="571500" cy="4572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9719982" y="2605497"/>
            <a:ext cx="38100" cy="4572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Rectangle 30"/>
          <p:cNvSpPr/>
          <p:nvPr/>
        </p:nvSpPr>
        <p:spPr>
          <a:xfrm>
            <a:off x="7793277" y="4464424"/>
            <a:ext cx="824752" cy="335759"/>
          </a:xfrm>
          <a:prstGeom prst="rect">
            <a:avLst/>
          </a:prstGeom>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000" dirty="0" smtClean="0"/>
              <a:t>Sub 1</a:t>
            </a:r>
            <a:endParaRPr lang="en-US" sz="2000" dirty="0"/>
          </a:p>
        </p:txBody>
      </p:sp>
      <p:sp>
        <p:nvSpPr>
          <p:cNvPr id="32" name="Rectangle 31"/>
          <p:cNvSpPr/>
          <p:nvPr/>
        </p:nvSpPr>
        <p:spPr>
          <a:xfrm>
            <a:off x="8911830" y="4485173"/>
            <a:ext cx="571499" cy="315010"/>
          </a:xfrm>
          <a:prstGeom prst="rect">
            <a:avLst/>
          </a:prstGeom>
          <a:solidFill>
            <a:srgbClr val="1D3064"/>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400" b="1" dirty="0" err="1" smtClean="0"/>
              <a:t>Obj</a:t>
            </a:r>
            <a:r>
              <a:rPr lang="en-US" sz="1400" b="1" dirty="0" smtClean="0"/>
              <a:t> 1</a:t>
            </a:r>
            <a:endParaRPr lang="en-US" sz="1400" b="1" dirty="0"/>
          </a:p>
        </p:txBody>
      </p:sp>
      <p:sp>
        <p:nvSpPr>
          <p:cNvPr id="33" name="Rectangle 32"/>
          <p:cNvSpPr/>
          <p:nvPr/>
        </p:nvSpPr>
        <p:spPr>
          <a:xfrm>
            <a:off x="9750031" y="4485171"/>
            <a:ext cx="582706" cy="315012"/>
          </a:xfrm>
          <a:prstGeom prst="rect">
            <a:avLst/>
          </a:prstGeom>
          <a:solidFill>
            <a:srgbClr val="1D3064"/>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400" b="1" dirty="0" err="1" smtClean="0"/>
              <a:t>Obj</a:t>
            </a:r>
            <a:r>
              <a:rPr lang="en-US" sz="1400" b="1" dirty="0" smtClean="0"/>
              <a:t> 5</a:t>
            </a:r>
            <a:endParaRPr lang="en-US" sz="1400" b="1" dirty="0"/>
          </a:p>
        </p:txBody>
      </p:sp>
      <p:sp>
        <p:nvSpPr>
          <p:cNvPr id="34" name="Rectangle 33"/>
          <p:cNvSpPr/>
          <p:nvPr/>
        </p:nvSpPr>
        <p:spPr>
          <a:xfrm>
            <a:off x="11007330" y="4485171"/>
            <a:ext cx="582497" cy="316581"/>
          </a:xfrm>
          <a:prstGeom prst="rect">
            <a:avLst/>
          </a:prstGeom>
          <a:solidFill>
            <a:srgbClr val="1D3064"/>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400" b="1" dirty="0" err="1" smtClean="0"/>
              <a:t>Obj</a:t>
            </a:r>
            <a:r>
              <a:rPr lang="en-US" sz="1400" b="1" dirty="0" smtClean="0"/>
              <a:t> </a:t>
            </a:r>
            <a:r>
              <a:rPr lang="en-US" sz="1400" b="1" dirty="0"/>
              <a:t>y</a:t>
            </a:r>
          </a:p>
        </p:txBody>
      </p:sp>
      <p:cxnSp>
        <p:nvCxnSpPr>
          <p:cNvPr id="35" name="Straight Arrow Connector 34"/>
          <p:cNvCxnSpPr>
            <a:stCxn id="32" idx="3"/>
            <a:endCxn id="33" idx="1"/>
          </p:cNvCxnSpPr>
          <p:nvPr/>
        </p:nvCxnSpPr>
        <p:spPr>
          <a:xfrm flipV="1">
            <a:off x="9483329" y="4642677"/>
            <a:ext cx="266702" cy="1"/>
          </a:xfrm>
          <a:prstGeom prst="straightConnector1">
            <a:avLst/>
          </a:prstGeom>
          <a:ln>
            <a:tailEnd type="arrow"/>
          </a:ln>
        </p:spPr>
        <p:style>
          <a:lnRef idx="2">
            <a:schemeClr val="accent4">
              <a:shade val="50000"/>
            </a:schemeClr>
          </a:lnRef>
          <a:fillRef idx="1">
            <a:schemeClr val="accent4"/>
          </a:fillRef>
          <a:effectRef idx="0">
            <a:schemeClr val="accent4"/>
          </a:effectRef>
          <a:fontRef idx="minor">
            <a:schemeClr val="lt1"/>
          </a:fontRef>
        </p:style>
      </p:cxnSp>
      <p:cxnSp>
        <p:nvCxnSpPr>
          <p:cNvPr id="36" name="Straight Arrow Connector 35"/>
          <p:cNvCxnSpPr>
            <a:stCxn id="33" idx="3"/>
            <a:endCxn id="34" idx="1"/>
          </p:cNvCxnSpPr>
          <p:nvPr/>
        </p:nvCxnSpPr>
        <p:spPr>
          <a:xfrm>
            <a:off x="10332737" y="4642677"/>
            <a:ext cx="674593" cy="785"/>
          </a:xfrm>
          <a:prstGeom prst="straightConnector1">
            <a:avLst/>
          </a:prstGeom>
          <a:ln>
            <a:tailEnd type="arrow"/>
          </a:ln>
        </p:spPr>
        <p:style>
          <a:lnRef idx="2">
            <a:schemeClr val="accent4">
              <a:shade val="50000"/>
            </a:schemeClr>
          </a:lnRef>
          <a:fillRef idx="1">
            <a:schemeClr val="accent4"/>
          </a:fillRef>
          <a:effectRef idx="0">
            <a:schemeClr val="accent4"/>
          </a:effectRef>
          <a:fontRef idx="minor">
            <a:schemeClr val="lt1"/>
          </a:fontRef>
        </p:style>
      </p:cxnSp>
      <p:cxnSp>
        <p:nvCxnSpPr>
          <p:cNvPr id="37" name="Straight Arrow Connector 36"/>
          <p:cNvCxnSpPr/>
          <p:nvPr/>
        </p:nvCxnSpPr>
        <p:spPr>
          <a:xfrm flipV="1">
            <a:off x="8618029" y="4650137"/>
            <a:ext cx="304800" cy="1"/>
          </a:xfrm>
          <a:prstGeom prst="straightConnector1">
            <a:avLst/>
          </a:prstGeom>
          <a:ln w="38100">
            <a:solidFill>
              <a:srgbClr val="0000FF"/>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38" name="Table 37"/>
          <p:cNvGraphicFramePr>
            <a:graphicFrameLocks noGrp="1"/>
          </p:cNvGraphicFramePr>
          <p:nvPr>
            <p:extLst>
              <p:ext uri="{D42A27DB-BD31-4B8C-83A1-F6EECF244321}">
                <p14:modId xmlns:p14="http://schemas.microsoft.com/office/powerpoint/2010/main" val="4021747019"/>
              </p:ext>
            </p:extLst>
          </p:nvPr>
        </p:nvGraphicFramePr>
        <p:xfrm>
          <a:off x="10446829" y="5258952"/>
          <a:ext cx="1143000" cy="502920"/>
        </p:xfrm>
        <a:graphic>
          <a:graphicData uri="http://schemas.openxmlformats.org/drawingml/2006/table">
            <a:tbl>
              <a:tblPr firstRow="1" bandRow="1">
                <a:tableStyleId>{00A15C55-8517-42AA-B614-E9B94910E393}</a:tableStyleId>
              </a:tblPr>
              <a:tblGrid>
                <a:gridCol w="381000"/>
                <a:gridCol w="381000"/>
                <a:gridCol w="381000"/>
              </a:tblGrid>
              <a:tr h="251460">
                <a:tc>
                  <a:txBody>
                    <a:bodyPr/>
                    <a:lstStyle/>
                    <a:p>
                      <a:r>
                        <a:rPr lang="en-US" sz="1050" dirty="0" smtClean="0"/>
                        <a:t>R</a:t>
                      </a:r>
                      <a:endParaRPr lang="en-US" sz="1050" dirty="0"/>
                    </a:p>
                  </a:txBody>
                  <a:tcPr>
                    <a:solidFill>
                      <a:srgbClr val="1D3064"/>
                    </a:solidFill>
                  </a:tcPr>
                </a:tc>
                <a:tc>
                  <a:txBody>
                    <a:bodyPr/>
                    <a:lstStyle/>
                    <a:p>
                      <a:r>
                        <a:rPr lang="en-US" sz="1050" dirty="0" smtClean="0"/>
                        <a:t>W</a:t>
                      </a:r>
                      <a:endParaRPr lang="en-US" sz="1050" dirty="0"/>
                    </a:p>
                  </a:txBody>
                  <a:tcPr>
                    <a:solidFill>
                      <a:srgbClr val="1D3064"/>
                    </a:solidFill>
                  </a:tcPr>
                </a:tc>
                <a:tc>
                  <a:txBody>
                    <a:bodyPr/>
                    <a:lstStyle/>
                    <a:p>
                      <a:r>
                        <a:rPr lang="en-US" sz="1050" dirty="0" smtClean="0"/>
                        <a:t>X</a:t>
                      </a:r>
                      <a:endParaRPr lang="en-US" sz="1050" dirty="0"/>
                    </a:p>
                  </a:txBody>
                  <a:tcPr>
                    <a:solidFill>
                      <a:srgbClr val="1D3064"/>
                    </a:solidFill>
                  </a:tcPr>
                </a:tc>
              </a:tr>
              <a:tr h="251460">
                <a:tc>
                  <a:txBody>
                    <a:bodyPr/>
                    <a:lstStyle/>
                    <a:p>
                      <a:r>
                        <a:rPr lang="en-US" sz="1050" dirty="0" smtClean="0"/>
                        <a:t>√</a:t>
                      </a:r>
                      <a:endParaRPr lang="en-US" sz="1050" dirty="0"/>
                    </a:p>
                  </a:txBody>
                  <a:tcPr>
                    <a:solidFill>
                      <a:schemeClr val="bg1">
                        <a:lumMod val="95000"/>
                      </a:schemeClr>
                    </a:solidFill>
                  </a:tcPr>
                </a:tc>
                <a:tc>
                  <a:txBody>
                    <a:bodyPr/>
                    <a:lstStyle/>
                    <a:p>
                      <a:r>
                        <a:rPr lang="en-US" sz="1050" dirty="0" smtClean="0"/>
                        <a:t>x</a:t>
                      </a:r>
                      <a:endParaRPr lang="en-US" sz="1050" dirty="0"/>
                    </a:p>
                  </a:txBody>
                  <a:tcPr>
                    <a:solidFill>
                      <a:schemeClr val="bg1">
                        <a:lumMod val="95000"/>
                      </a:schemeClr>
                    </a:solidFill>
                  </a:tcPr>
                </a:tc>
                <a:tc>
                  <a:txBody>
                    <a:bodyPr/>
                    <a:lstStyle/>
                    <a:p>
                      <a:r>
                        <a:rPr lang="en-US" sz="1050" dirty="0" smtClean="0"/>
                        <a:t>x</a:t>
                      </a:r>
                      <a:endParaRPr lang="en-US" sz="1050" dirty="0"/>
                    </a:p>
                  </a:txBody>
                  <a:tcPr>
                    <a:solidFill>
                      <a:schemeClr val="bg1">
                        <a:lumMod val="95000"/>
                      </a:schemeClr>
                    </a:solidFill>
                  </a:tcPr>
                </a:tc>
              </a:tr>
            </a:tbl>
          </a:graphicData>
        </a:graphic>
      </p:graphicFrame>
      <p:cxnSp>
        <p:nvCxnSpPr>
          <p:cNvPr id="39" name="Straight Connector 38"/>
          <p:cNvCxnSpPr/>
          <p:nvPr/>
        </p:nvCxnSpPr>
        <p:spPr>
          <a:xfrm flipH="1">
            <a:off x="10446830" y="4801752"/>
            <a:ext cx="571500" cy="457200"/>
          </a:xfrm>
          <a:prstGeom prst="line">
            <a:avLst/>
          </a:prstGeom>
          <a:ln w="12700">
            <a:solidFill>
              <a:srgbClr val="1D3064"/>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11551729" y="4801752"/>
            <a:ext cx="38100" cy="457200"/>
          </a:xfrm>
          <a:prstGeom prst="line">
            <a:avLst/>
          </a:prstGeom>
          <a:ln w="12700">
            <a:solidFill>
              <a:srgbClr val="1D306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1658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6"/>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7"/>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8"/>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29"/>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3">
                                            <p:txEl>
                                              <p:pRg st="1" end="1"/>
                                            </p:txEl>
                                          </p:spTgt>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1"/>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32"/>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33"/>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34"/>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35"/>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36"/>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37"/>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38"/>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39"/>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40"/>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7" grpId="0" animBg="1"/>
      <p:bldP spid="31" grpId="0" animBg="1"/>
      <p:bldP spid="32" grpId="0" animBg="1"/>
      <p:bldP spid="33" grpId="0" animBg="1"/>
      <p:bldP spid="34"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normAutofit/>
          </a:bodyPr>
          <a:lstStyle/>
          <a:p>
            <a:r>
              <a:rPr lang="en-US" dirty="0"/>
              <a:t>Comparison of ACL and Capabilities</a:t>
            </a:r>
          </a:p>
        </p:txBody>
      </p:sp>
      <p:grpSp>
        <p:nvGrpSpPr>
          <p:cNvPr id="3" name="Group 2"/>
          <p:cNvGrpSpPr/>
          <p:nvPr/>
        </p:nvGrpSpPr>
        <p:grpSpPr>
          <a:xfrm>
            <a:off x="142655" y="2012519"/>
            <a:ext cx="5148921" cy="1917412"/>
            <a:chOff x="142655" y="2012519"/>
            <a:chExt cx="5148921" cy="1917412"/>
          </a:xfrm>
        </p:grpSpPr>
        <p:sp>
          <p:nvSpPr>
            <p:cNvPr id="4" name="Rectangle 3"/>
            <p:cNvSpPr/>
            <p:nvPr/>
          </p:nvSpPr>
          <p:spPr>
            <a:xfrm>
              <a:off x="142655" y="2012519"/>
              <a:ext cx="1685364" cy="1386434"/>
            </a:xfrm>
            <a:prstGeom prst="rect">
              <a:avLst/>
            </a:prstGeom>
            <a:ln>
              <a:solidFill>
                <a:schemeClr val="accent6"/>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smtClean="0"/>
                <a:t>Create Access Request to Object </a:t>
              </a:r>
              <a:r>
                <a:rPr lang="en-US" sz="2000" b="1" dirty="0" smtClean="0"/>
                <a:t>r</a:t>
              </a:r>
              <a:r>
                <a:rPr lang="en-US" sz="2000" dirty="0" smtClean="0"/>
                <a:t> as Subject-</a:t>
              </a:r>
              <a:r>
                <a:rPr lang="en-US" sz="2000" b="1" dirty="0" smtClean="0"/>
                <a:t>s</a:t>
              </a:r>
              <a:endParaRPr lang="en-US" sz="2000" b="1" dirty="0"/>
            </a:p>
          </p:txBody>
        </p:sp>
        <p:sp>
          <p:nvSpPr>
            <p:cNvPr id="5" name="Rectangle 4"/>
            <p:cNvSpPr/>
            <p:nvPr/>
          </p:nvSpPr>
          <p:spPr>
            <a:xfrm>
              <a:off x="2894819" y="2012519"/>
              <a:ext cx="2396757" cy="138643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200" dirty="0">
                <a:solidFill>
                  <a:schemeClr val="tx1"/>
                </a:solidFill>
              </a:endParaRPr>
            </a:p>
          </p:txBody>
        </p:sp>
        <p:sp>
          <p:nvSpPr>
            <p:cNvPr id="6" name="Rectangle 5"/>
            <p:cNvSpPr/>
            <p:nvPr/>
          </p:nvSpPr>
          <p:spPr>
            <a:xfrm>
              <a:off x="2978168" y="2200332"/>
              <a:ext cx="674170" cy="323652"/>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b="1" dirty="0" smtClean="0">
                  <a:solidFill>
                    <a:schemeClr val="tx1"/>
                  </a:solidFill>
                </a:rPr>
                <a:t>ACL</a:t>
              </a:r>
              <a:endParaRPr lang="en-US" b="1" dirty="0">
                <a:solidFill>
                  <a:schemeClr val="tx1"/>
                </a:solidFill>
              </a:endParaRPr>
            </a:p>
          </p:txBody>
        </p:sp>
        <p:sp>
          <p:nvSpPr>
            <p:cNvPr id="7" name="Rectangle 6"/>
            <p:cNvSpPr/>
            <p:nvPr/>
          </p:nvSpPr>
          <p:spPr>
            <a:xfrm>
              <a:off x="3975067" y="2200331"/>
              <a:ext cx="744071" cy="32365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b="1" dirty="0" err="1" smtClean="0">
                  <a:solidFill>
                    <a:schemeClr val="tx1"/>
                  </a:solidFill>
                </a:rPr>
                <a:t>Obj</a:t>
              </a:r>
              <a:r>
                <a:rPr lang="en-US" b="1" dirty="0" smtClean="0">
                  <a:solidFill>
                    <a:schemeClr val="tx1"/>
                  </a:solidFill>
                </a:rPr>
                <a:t>-r</a:t>
              </a:r>
              <a:endParaRPr lang="en-US" b="1" dirty="0">
                <a:solidFill>
                  <a:schemeClr val="tx1"/>
                </a:solidFill>
              </a:endParaRPr>
            </a:p>
          </p:txBody>
        </p:sp>
        <p:cxnSp>
          <p:nvCxnSpPr>
            <p:cNvPr id="8" name="Straight Arrow Connector 7"/>
            <p:cNvCxnSpPr>
              <a:stCxn id="6" idx="3"/>
              <a:endCxn id="7" idx="1"/>
            </p:cNvCxnSpPr>
            <p:nvPr/>
          </p:nvCxnSpPr>
          <p:spPr>
            <a:xfrm>
              <a:off x="3652338" y="2362158"/>
              <a:ext cx="322729" cy="0"/>
            </a:xfrm>
            <a:prstGeom prst="straightConnector1">
              <a:avLst/>
            </a:prstGeom>
            <a:ln w="127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894820" y="2740169"/>
              <a:ext cx="2277035" cy="646331"/>
            </a:xfrm>
            <a:prstGeom prst="rect">
              <a:avLst/>
            </a:prstGeom>
            <a:noFill/>
          </p:spPr>
          <p:txBody>
            <a:bodyPr wrap="square" rtlCol="0">
              <a:spAutoFit/>
            </a:bodyPr>
            <a:lstStyle/>
            <a:p>
              <a:r>
                <a:rPr lang="en-US" i="1" dirty="0" smtClean="0"/>
                <a:t>if (s in ACL &amp;&amp; r in ACL)  grant access;</a:t>
              </a:r>
              <a:endParaRPr lang="en-US" i="1" dirty="0"/>
            </a:p>
          </p:txBody>
        </p:sp>
        <p:sp>
          <p:nvSpPr>
            <p:cNvPr id="10" name="TextBox 9"/>
            <p:cNvSpPr txBox="1"/>
            <p:nvPr/>
          </p:nvSpPr>
          <p:spPr>
            <a:xfrm>
              <a:off x="626748" y="3560599"/>
              <a:ext cx="914400" cy="369332"/>
            </a:xfrm>
            <a:prstGeom prst="rect">
              <a:avLst/>
            </a:prstGeom>
            <a:solidFill>
              <a:schemeClr val="accent6"/>
            </a:solidFill>
            <a:ln>
              <a:noFill/>
            </a:ln>
          </p:spPr>
          <p:txBody>
            <a:bodyPr wrap="square" rtlCol="0">
              <a:spAutoFit/>
            </a:bodyPr>
            <a:lstStyle/>
            <a:p>
              <a:pPr algn="ctr"/>
              <a:r>
                <a:rPr lang="en-US" dirty="0" smtClean="0">
                  <a:solidFill>
                    <a:schemeClr val="bg1"/>
                  </a:solidFill>
                </a:rPr>
                <a:t>Client</a:t>
              </a:r>
              <a:endParaRPr lang="en-US" dirty="0">
                <a:solidFill>
                  <a:schemeClr val="bg1"/>
                </a:solidFill>
              </a:endParaRPr>
            </a:p>
          </p:txBody>
        </p:sp>
        <p:sp>
          <p:nvSpPr>
            <p:cNvPr id="11" name="TextBox 10"/>
            <p:cNvSpPr txBox="1"/>
            <p:nvPr/>
          </p:nvSpPr>
          <p:spPr>
            <a:xfrm>
              <a:off x="3138115" y="3558675"/>
              <a:ext cx="1208987" cy="369332"/>
            </a:xfrm>
            <a:prstGeom prst="rect">
              <a:avLst/>
            </a:prstGeom>
            <a:solidFill>
              <a:schemeClr val="tx1"/>
            </a:solidFill>
          </p:spPr>
          <p:txBody>
            <a:bodyPr wrap="square" rtlCol="0">
              <a:spAutoFit/>
            </a:bodyPr>
            <a:lstStyle/>
            <a:p>
              <a:pPr algn="ctr"/>
              <a:r>
                <a:rPr lang="en-US" dirty="0" smtClean="0">
                  <a:solidFill>
                    <a:schemeClr val="bg1"/>
                  </a:solidFill>
                </a:rPr>
                <a:t>Server</a:t>
              </a:r>
              <a:endParaRPr lang="en-US" dirty="0">
                <a:solidFill>
                  <a:schemeClr val="bg1"/>
                </a:solidFill>
              </a:endParaRPr>
            </a:p>
          </p:txBody>
        </p:sp>
        <p:cxnSp>
          <p:nvCxnSpPr>
            <p:cNvPr id="12" name="Straight Arrow Connector 11"/>
            <p:cNvCxnSpPr>
              <a:stCxn id="4" idx="3"/>
              <a:endCxn id="5" idx="1"/>
            </p:cNvCxnSpPr>
            <p:nvPr/>
          </p:nvCxnSpPr>
          <p:spPr>
            <a:xfrm>
              <a:off x="1828019" y="2705736"/>
              <a:ext cx="1066800" cy="0"/>
            </a:xfrm>
            <a:prstGeom prst="straightConnector1">
              <a:avLst/>
            </a:prstGeom>
            <a:ln w="19050">
              <a:tailEnd type="arrow"/>
            </a:ln>
          </p:spPr>
          <p:style>
            <a:lnRef idx="2">
              <a:schemeClr val="accent4">
                <a:shade val="50000"/>
              </a:schemeClr>
            </a:lnRef>
            <a:fillRef idx="1">
              <a:schemeClr val="accent4"/>
            </a:fillRef>
            <a:effectRef idx="0">
              <a:schemeClr val="accent4"/>
            </a:effectRef>
            <a:fontRef idx="minor">
              <a:schemeClr val="lt1"/>
            </a:fontRef>
          </p:style>
        </p:cxnSp>
        <p:sp>
          <p:nvSpPr>
            <p:cNvPr id="13" name="TextBox 12"/>
            <p:cNvSpPr txBox="1"/>
            <p:nvPr/>
          </p:nvSpPr>
          <p:spPr>
            <a:xfrm>
              <a:off x="2065504" y="2305626"/>
              <a:ext cx="615874" cy="400110"/>
            </a:xfrm>
            <a:prstGeom prst="rect">
              <a:avLst/>
            </a:prstGeom>
            <a:noFill/>
          </p:spPr>
          <p:txBody>
            <a:bodyPr wrap="none" rtlCol="0">
              <a:spAutoFit/>
            </a:bodyPr>
            <a:lstStyle/>
            <a:p>
              <a:r>
                <a:rPr lang="en-US" sz="2000" b="1" dirty="0" smtClean="0">
                  <a:solidFill>
                    <a:srgbClr val="1D3064"/>
                  </a:solidFill>
                </a:rPr>
                <a:t>(</a:t>
              </a:r>
              <a:r>
                <a:rPr lang="en-US" sz="2000" b="1" dirty="0" err="1" smtClean="0">
                  <a:solidFill>
                    <a:srgbClr val="1D3064"/>
                  </a:solidFill>
                </a:rPr>
                <a:t>s,r</a:t>
              </a:r>
              <a:r>
                <a:rPr lang="en-US" sz="2000" b="1" dirty="0" smtClean="0">
                  <a:solidFill>
                    <a:srgbClr val="1D3064"/>
                  </a:solidFill>
                </a:rPr>
                <a:t>)</a:t>
              </a:r>
              <a:endParaRPr lang="en-US" sz="2000" b="1" dirty="0">
                <a:solidFill>
                  <a:srgbClr val="1D3064"/>
                </a:solidFill>
              </a:endParaRPr>
            </a:p>
          </p:txBody>
        </p:sp>
      </p:grpSp>
      <p:grpSp>
        <p:nvGrpSpPr>
          <p:cNvPr id="14" name="Group 13"/>
          <p:cNvGrpSpPr/>
          <p:nvPr/>
        </p:nvGrpSpPr>
        <p:grpSpPr>
          <a:xfrm>
            <a:off x="6101491" y="1939009"/>
            <a:ext cx="5829797" cy="2313637"/>
            <a:chOff x="6101491" y="1939009"/>
            <a:chExt cx="5829797" cy="2313637"/>
          </a:xfrm>
        </p:grpSpPr>
        <p:sp>
          <p:nvSpPr>
            <p:cNvPr id="25" name="Rectangle 24"/>
            <p:cNvSpPr/>
            <p:nvPr/>
          </p:nvSpPr>
          <p:spPr>
            <a:xfrm>
              <a:off x="6101491" y="1952455"/>
              <a:ext cx="2304819" cy="1620950"/>
            </a:xfrm>
            <a:prstGeom prst="rect">
              <a:avLst/>
            </a:prstGeom>
            <a:ln>
              <a:solidFill>
                <a:schemeClr val="accent6"/>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smtClean="0"/>
                <a:t>Create Access Request to Object </a:t>
              </a:r>
              <a:r>
                <a:rPr lang="en-US" sz="2000" b="1" dirty="0" smtClean="0"/>
                <a:t>r</a:t>
              </a:r>
              <a:r>
                <a:rPr lang="en-US" sz="2000" dirty="0" smtClean="0"/>
                <a:t> as Subject-</a:t>
              </a:r>
              <a:r>
                <a:rPr lang="en-US" sz="2000" b="1" dirty="0" smtClean="0"/>
                <a:t>s</a:t>
              </a:r>
              <a:r>
                <a:rPr lang="en-US" sz="2000" dirty="0" smtClean="0"/>
                <a:t>. Pass capability </a:t>
              </a:r>
              <a:r>
                <a:rPr lang="en-US" sz="2000" b="1" dirty="0" smtClean="0"/>
                <a:t>C</a:t>
              </a:r>
              <a:endParaRPr lang="en-US" sz="2000" b="1" dirty="0"/>
            </a:p>
          </p:txBody>
        </p:sp>
        <p:sp>
          <p:nvSpPr>
            <p:cNvPr id="26" name="Rectangle 25"/>
            <p:cNvSpPr/>
            <p:nvPr/>
          </p:nvSpPr>
          <p:spPr>
            <a:xfrm>
              <a:off x="9587018" y="1939009"/>
              <a:ext cx="2344270" cy="16398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200" dirty="0"/>
            </a:p>
          </p:txBody>
        </p:sp>
        <p:sp>
          <p:nvSpPr>
            <p:cNvPr id="27" name="Rectangle 26"/>
            <p:cNvSpPr/>
            <p:nvPr/>
          </p:nvSpPr>
          <p:spPr>
            <a:xfrm>
              <a:off x="9882304" y="2200119"/>
              <a:ext cx="700136" cy="37326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b="1" dirty="0" err="1" smtClean="0">
                  <a:solidFill>
                    <a:schemeClr val="tx1"/>
                  </a:solidFill>
                </a:rPr>
                <a:t>Obj</a:t>
              </a:r>
              <a:r>
                <a:rPr lang="en-US" b="1" dirty="0" smtClean="0">
                  <a:solidFill>
                    <a:schemeClr val="tx1"/>
                  </a:solidFill>
                </a:rPr>
                <a:t>-r</a:t>
              </a:r>
              <a:endParaRPr lang="en-US" b="1" dirty="0">
                <a:solidFill>
                  <a:schemeClr val="tx1"/>
                </a:solidFill>
              </a:endParaRPr>
            </a:p>
          </p:txBody>
        </p:sp>
        <p:sp>
          <p:nvSpPr>
            <p:cNvPr id="28" name="TextBox 27"/>
            <p:cNvSpPr txBox="1"/>
            <p:nvPr/>
          </p:nvSpPr>
          <p:spPr>
            <a:xfrm>
              <a:off x="9637098" y="2904219"/>
              <a:ext cx="1984908" cy="646331"/>
            </a:xfrm>
            <a:prstGeom prst="rect">
              <a:avLst/>
            </a:prstGeom>
            <a:noFill/>
          </p:spPr>
          <p:txBody>
            <a:bodyPr wrap="square" rtlCol="0">
              <a:spAutoFit/>
            </a:bodyPr>
            <a:lstStyle/>
            <a:p>
              <a:r>
                <a:rPr lang="en-US" i="1" dirty="0" smtClean="0"/>
                <a:t>if (r in C)</a:t>
              </a:r>
            </a:p>
            <a:p>
              <a:r>
                <a:rPr lang="en-US" i="1" dirty="0" smtClean="0"/>
                <a:t>     grant access;</a:t>
              </a:r>
              <a:endParaRPr lang="en-US" i="1" dirty="0"/>
            </a:p>
          </p:txBody>
        </p:sp>
        <p:cxnSp>
          <p:nvCxnSpPr>
            <p:cNvPr id="31" name="Straight Arrow Connector 30"/>
            <p:cNvCxnSpPr>
              <a:stCxn id="25" idx="3"/>
              <a:endCxn id="26" idx="1"/>
            </p:cNvCxnSpPr>
            <p:nvPr/>
          </p:nvCxnSpPr>
          <p:spPr>
            <a:xfrm flipV="1">
              <a:off x="8406310" y="2758911"/>
              <a:ext cx="1180708" cy="4019"/>
            </a:xfrm>
            <a:prstGeom prst="straightConnector1">
              <a:avLst/>
            </a:prstGeom>
            <a:ln w="19050">
              <a:tailEnd type="arrow"/>
            </a:ln>
          </p:spPr>
          <p:style>
            <a:lnRef idx="2">
              <a:schemeClr val="accent4">
                <a:shade val="50000"/>
              </a:schemeClr>
            </a:lnRef>
            <a:fillRef idx="1">
              <a:schemeClr val="accent4"/>
            </a:fillRef>
            <a:effectRef idx="0">
              <a:schemeClr val="accent4"/>
            </a:effectRef>
            <a:fontRef idx="minor">
              <a:schemeClr val="lt1"/>
            </a:fontRef>
          </p:style>
        </p:cxnSp>
        <p:sp>
          <p:nvSpPr>
            <p:cNvPr id="32" name="TextBox 31"/>
            <p:cNvSpPr txBox="1"/>
            <p:nvPr/>
          </p:nvSpPr>
          <p:spPr>
            <a:xfrm>
              <a:off x="8456390" y="2325420"/>
              <a:ext cx="634097" cy="369332"/>
            </a:xfrm>
            <a:prstGeom prst="rect">
              <a:avLst/>
            </a:prstGeom>
            <a:noFill/>
          </p:spPr>
          <p:txBody>
            <a:bodyPr wrap="square" rtlCol="0">
              <a:spAutoFit/>
            </a:bodyPr>
            <a:lstStyle/>
            <a:p>
              <a:r>
                <a:rPr lang="en-US" b="1" dirty="0" smtClean="0">
                  <a:solidFill>
                    <a:srgbClr val="1D3064"/>
                  </a:solidFill>
                </a:rPr>
                <a:t>(</a:t>
              </a:r>
              <a:r>
                <a:rPr lang="en-US" b="1" dirty="0" err="1" smtClean="0">
                  <a:solidFill>
                    <a:srgbClr val="1D3064"/>
                  </a:solidFill>
                </a:rPr>
                <a:t>s,r</a:t>
              </a:r>
              <a:r>
                <a:rPr lang="en-US" b="1" dirty="0" smtClean="0">
                  <a:solidFill>
                    <a:srgbClr val="1D3064"/>
                  </a:solidFill>
                </a:rPr>
                <a:t>)</a:t>
              </a:r>
              <a:endParaRPr lang="en-US" b="1" dirty="0">
                <a:solidFill>
                  <a:srgbClr val="1D3064"/>
                </a:solidFill>
              </a:endParaRPr>
            </a:p>
          </p:txBody>
        </p:sp>
        <p:sp>
          <p:nvSpPr>
            <p:cNvPr id="33" name="TextBox 32"/>
            <p:cNvSpPr txBox="1"/>
            <p:nvPr/>
          </p:nvSpPr>
          <p:spPr>
            <a:xfrm>
              <a:off x="8984195" y="2336404"/>
              <a:ext cx="295286" cy="369332"/>
            </a:xfrm>
            <a:prstGeom prst="rect">
              <a:avLst/>
            </a:prstGeom>
            <a:noFill/>
            <a:ln w="9525">
              <a:solidFill>
                <a:schemeClr val="tx1"/>
              </a:solidFill>
            </a:ln>
          </p:spPr>
          <p:txBody>
            <a:bodyPr wrap="square" rtlCol="0">
              <a:spAutoFit/>
            </a:bodyPr>
            <a:lstStyle/>
            <a:p>
              <a:pPr algn="ctr"/>
              <a:r>
                <a:rPr lang="en-US" b="1" dirty="0">
                  <a:solidFill>
                    <a:srgbClr val="1D3064"/>
                  </a:solidFill>
                </a:rPr>
                <a:t>C</a:t>
              </a:r>
            </a:p>
          </p:txBody>
        </p:sp>
        <p:sp>
          <p:nvSpPr>
            <p:cNvPr id="41" name="TextBox 40"/>
            <p:cNvSpPr txBox="1"/>
            <p:nvPr/>
          </p:nvSpPr>
          <p:spPr>
            <a:xfrm>
              <a:off x="7075651" y="3883314"/>
              <a:ext cx="914400" cy="369332"/>
            </a:xfrm>
            <a:prstGeom prst="rect">
              <a:avLst/>
            </a:prstGeom>
            <a:solidFill>
              <a:schemeClr val="accent6"/>
            </a:solidFill>
            <a:ln>
              <a:noFill/>
            </a:ln>
          </p:spPr>
          <p:txBody>
            <a:bodyPr wrap="square" rtlCol="0">
              <a:spAutoFit/>
            </a:bodyPr>
            <a:lstStyle/>
            <a:p>
              <a:pPr algn="ctr"/>
              <a:r>
                <a:rPr lang="en-US" dirty="0" smtClean="0">
                  <a:solidFill>
                    <a:schemeClr val="bg1"/>
                  </a:solidFill>
                </a:rPr>
                <a:t>Client</a:t>
              </a:r>
              <a:endParaRPr lang="en-US" dirty="0">
                <a:solidFill>
                  <a:schemeClr val="bg1"/>
                </a:solidFill>
              </a:endParaRPr>
            </a:p>
          </p:txBody>
        </p:sp>
        <p:sp>
          <p:nvSpPr>
            <p:cNvPr id="42" name="TextBox 41"/>
            <p:cNvSpPr txBox="1"/>
            <p:nvPr/>
          </p:nvSpPr>
          <p:spPr>
            <a:xfrm>
              <a:off x="9587018" y="3881390"/>
              <a:ext cx="1208987" cy="369332"/>
            </a:xfrm>
            <a:prstGeom prst="rect">
              <a:avLst/>
            </a:prstGeom>
            <a:solidFill>
              <a:schemeClr val="tx1"/>
            </a:solidFill>
          </p:spPr>
          <p:txBody>
            <a:bodyPr wrap="square" rtlCol="0">
              <a:spAutoFit/>
            </a:bodyPr>
            <a:lstStyle/>
            <a:p>
              <a:pPr algn="ctr"/>
              <a:r>
                <a:rPr lang="en-US" dirty="0" smtClean="0">
                  <a:solidFill>
                    <a:schemeClr val="bg1"/>
                  </a:solidFill>
                </a:rPr>
                <a:t>Server</a:t>
              </a:r>
              <a:endParaRPr lang="en-US" dirty="0">
                <a:solidFill>
                  <a:schemeClr val="bg1"/>
                </a:solidFill>
              </a:endParaRPr>
            </a:p>
          </p:txBody>
        </p:sp>
      </p:grpSp>
      <p:sp>
        <p:nvSpPr>
          <p:cNvPr id="43" name="TextBox 42"/>
          <p:cNvSpPr txBox="1"/>
          <p:nvPr/>
        </p:nvSpPr>
        <p:spPr>
          <a:xfrm>
            <a:off x="511510" y="4433949"/>
            <a:ext cx="4207628" cy="424732"/>
          </a:xfrm>
          <a:prstGeom prst="rect">
            <a:avLst/>
          </a:prstGeom>
          <a:noFill/>
        </p:spPr>
        <p:txBody>
          <a:bodyPr wrap="square" rtlCol="0">
            <a:spAutoFit/>
          </a:bodyPr>
          <a:lstStyle/>
          <a:p>
            <a:pPr marL="631825" lvl="2" indent="-538163" algn="just">
              <a:lnSpc>
                <a:spcPct val="90000"/>
              </a:lnSpc>
              <a:spcBef>
                <a:spcPts val="500"/>
              </a:spcBef>
              <a:buClr>
                <a:schemeClr val="accent6"/>
              </a:buClr>
              <a:buFont typeface="Wingdings" panose="05000000000000000000" pitchFamily="2" charset="2"/>
              <a:buChar char="§"/>
            </a:pPr>
            <a:r>
              <a:rPr lang="en-US" sz="2400" dirty="0"/>
              <a:t>The server stores the ACL</a:t>
            </a:r>
          </a:p>
        </p:txBody>
      </p:sp>
      <p:sp>
        <p:nvSpPr>
          <p:cNvPr id="44" name="TextBox 43"/>
          <p:cNvSpPr txBox="1"/>
          <p:nvPr/>
        </p:nvSpPr>
        <p:spPr>
          <a:xfrm>
            <a:off x="6286430" y="4559286"/>
            <a:ext cx="4588185" cy="1153649"/>
          </a:xfrm>
          <a:prstGeom prst="rect">
            <a:avLst/>
          </a:prstGeom>
          <a:noFill/>
        </p:spPr>
        <p:txBody>
          <a:bodyPr wrap="square" rtlCol="0">
            <a:spAutoFit/>
          </a:bodyPr>
          <a:lstStyle/>
          <a:p>
            <a:pPr marL="631825" lvl="2" indent="-538163" algn="just">
              <a:lnSpc>
                <a:spcPct val="90000"/>
              </a:lnSpc>
              <a:spcBef>
                <a:spcPts val="500"/>
              </a:spcBef>
              <a:buClr>
                <a:schemeClr val="accent6"/>
              </a:buClr>
              <a:buFont typeface="Wingdings" panose="05000000000000000000" pitchFamily="2" charset="2"/>
              <a:buChar char="§"/>
            </a:pPr>
            <a:r>
              <a:rPr lang="en-US" sz="2400" dirty="0"/>
              <a:t>The server is not interested in whether it knows the client</a:t>
            </a:r>
          </a:p>
          <a:p>
            <a:pPr marL="631825" lvl="2" indent="-538163" algn="just">
              <a:lnSpc>
                <a:spcPct val="90000"/>
              </a:lnSpc>
              <a:spcBef>
                <a:spcPts val="500"/>
              </a:spcBef>
              <a:buClr>
                <a:schemeClr val="accent6"/>
              </a:buClr>
              <a:buFont typeface="Wingdings" panose="05000000000000000000" pitchFamily="2" charset="2"/>
              <a:buChar char="§"/>
            </a:pPr>
            <a:r>
              <a:rPr lang="en-US" sz="2400" dirty="0"/>
              <a:t>Server should check Capability</a:t>
            </a:r>
          </a:p>
        </p:txBody>
      </p:sp>
      <p:sp>
        <p:nvSpPr>
          <p:cNvPr id="45" name="TextBox 44"/>
          <p:cNvSpPr txBox="1"/>
          <p:nvPr/>
        </p:nvSpPr>
        <p:spPr>
          <a:xfrm>
            <a:off x="418655" y="985002"/>
            <a:ext cx="4664828" cy="461665"/>
          </a:xfrm>
          <a:prstGeom prst="rect">
            <a:avLst/>
          </a:prstGeom>
          <a:solidFill>
            <a:srgbClr val="1D3064"/>
          </a:solidFill>
        </p:spPr>
        <p:txBody>
          <a:bodyPr wrap="square" rtlCol="0">
            <a:spAutoFit/>
          </a:bodyPr>
          <a:lstStyle/>
          <a:p>
            <a:r>
              <a:rPr lang="en-IN" sz="2400" b="1" dirty="0">
                <a:solidFill>
                  <a:schemeClr val="bg1"/>
                </a:solidFill>
              </a:rPr>
              <a:t>Using an ACL (Access Control List </a:t>
            </a:r>
            <a:r>
              <a:rPr lang="en-IN" sz="2400" b="1" dirty="0" smtClean="0">
                <a:solidFill>
                  <a:schemeClr val="bg1"/>
                </a:solidFill>
              </a:rPr>
              <a:t>)</a:t>
            </a:r>
            <a:endParaRPr lang="en-IN" sz="2400" b="1" dirty="0">
              <a:solidFill>
                <a:schemeClr val="bg1"/>
              </a:solidFill>
            </a:endParaRPr>
          </a:p>
        </p:txBody>
      </p:sp>
      <p:sp>
        <p:nvSpPr>
          <p:cNvPr id="47" name="TextBox 46"/>
          <p:cNvSpPr txBox="1"/>
          <p:nvPr/>
        </p:nvSpPr>
        <p:spPr>
          <a:xfrm>
            <a:off x="6476318" y="966574"/>
            <a:ext cx="5015753" cy="461665"/>
          </a:xfrm>
          <a:prstGeom prst="rect">
            <a:avLst/>
          </a:prstGeom>
          <a:solidFill>
            <a:srgbClr val="1D3064"/>
          </a:solidFill>
        </p:spPr>
        <p:txBody>
          <a:bodyPr wrap="square" rtlCol="0">
            <a:spAutoFit/>
          </a:bodyPr>
          <a:lstStyle/>
          <a:p>
            <a:r>
              <a:rPr lang="en-IN" sz="2400" b="1" dirty="0">
                <a:solidFill>
                  <a:schemeClr val="bg1"/>
                </a:solidFill>
              </a:rPr>
              <a:t>Using Capabilities (</a:t>
            </a:r>
            <a:r>
              <a:rPr lang="en-IN" sz="2400" b="1" dirty="0" smtClean="0">
                <a:solidFill>
                  <a:schemeClr val="bg1"/>
                </a:solidFill>
              </a:rPr>
              <a:t>CL- Capability </a:t>
            </a:r>
            <a:r>
              <a:rPr lang="en-IN" sz="2400" b="1" dirty="0">
                <a:solidFill>
                  <a:schemeClr val="bg1"/>
                </a:solidFill>
              </a:rPr>
              <a:t>List</a:t>
            </a:r>
            <a:r>
              <a:rPr lang="en-IN" sz="2400" b="1" dirty="0" smtClean="0">
                <a:solidFill>
                  <a:schemeClr val="bg1"/>
                </a:solidFill>
              </a:rPr>
              <a:t>)</a:t>
            </a:r>
            <a:endParaRPr lang="en-IN" sz="2400" b="1" dirty="0">
              <a:solidFill>
                <a:schemeClr val="bg1"/>
              </a:solidFill>
            </a:endParaRPr>
          </a:p>
        </p:txBody>
      </p:sp>
      <p:cxnSp>
        <p:nvCxnSpPr>
          <p:cNvPr id="49" name="Straight Connector 48"/>
          <p:cNvCxnSpPr/>
          <p:nvPr/>
        </p:nvCxnSpPr>
        <p:spPr>
          <a:xfrm>
            <a:off x="5782235" y="985002"/>
            <a:ext cx="0" cy="52275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1822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4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49"/>
                                        </p:tgtEl>
                                        <p:attrNameLst>
                                          <p:attrName>style.visibility</p:attrName>
                                        </p:attrNameLst>
                                      </p:cBhvr>
                                      <p:to>
                                        <p:strVal val="visible"/>
                                      </p:to>
                                    </p:set>
                                    <p:animEffect transition="in" filter="wipe(down)">
                                      <p:cBhvr>
                                        <p:cTn id="20" dur="500"/>
                                        <p:tgtEl>
                                          <p:spTgt spid="49"/>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wipe(left)">
                                      <p:cBhvr>
                                        <p:cTn id="29" dur="500"/>
                                        <p:tgtEl>
                                          <p:spTgt spid="14"/>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4" grpId="0"/>
      <p:bldP spid="45" grpId="0" animBg="1"/>
      <p:bldP spid="47"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normAutofit/>
          </a:bodyPr>
          <a:lstStyle/>
          <a:p>
            <a:r>
              <a:rPr lang="en-US" dirty="0"/>
              <a:t>Protection Domains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a:xfrm>
            <a:off x="131181" y="863444"/>
            <a:ext cx="8905244" cy="5590565"/>
          </a:xfrm>
        </p:spPr>
        <p:txBody>
          <a:bodyPr/>
          <a:lstStyle/>
          <a:p>
            <a:pPr>
              <a:lnSpc>
                <a:spcPct val="100000"/>
              </a:lnSpc>
              <a:tabLst>
                <a:tab pos="8605838" algn="l"/>
              </a:tabLst>
            </a:pPr>
            <a:r>
              <a:rPr lang="en-US" dirty="0" smtClean="0"/>
              <a:t>Access </a:t>
            </a:r>
            <a:r>
              <a:rPr lang="en-US" dirty="0"/>
              <a:t>Control using ACL and Capabilities is still not scalable in very large </a:t>
            </a:r>
            <a:r>
              <a:rPr lang="en-US" dirty="0" smtClean="0"/>
              <a:t>DS</a:t>
            </a:r>
          </a:p>
          <a:p>
            <a:pPr>
              <a:lnSpc>
                <a:spcPct val="100000"/>
              </a:lnSpc>
            </a:pPr>
            <a:r>
              <a:rPr lang="en-US" dirty="0"/>
              <a:t>Reduce information by means of protection domains</a:t>
            </a:r>
          </a:p>
          <a:p>
            <a:pPr>
              <a:lnSpc>
                <a:spcPct val="100000"/>
              </a:lnSpc>
            </a:pPr>
            <a:r>
              <a:rPr lang="en-US" dirty="0" smtClean="0"/>
              <a:t>Organizing </a:t>
            </a:r>
            <a:r>
              <a:rPr lang="en-US" dirty="0"/>
              <a:t>Permissions: </a:t>
            </a:r>
          </a:p>
          <a:p>
            <a:pPr lvl="2"/>
            <a:r>
              <a:rPr lang="en-US" sz="2400" dirty="0"/>
              <a:t>Object permission is given to a protection domain (PD) </a:t>
            </a:r>
          </a:p>
          <a:p>
            <a:pPr lvl="2"/>
            <a:r>
              <a:rPr lang="en-US" sz="2400" dirty="0"/>
              <a:t>Each PD row consists of (object, permission) pair</a:t>
            </a:r>
          </a:p>
          <a:p>
            <a:pPr>
              <a:lnSpc>
                <a:spcPct val="100000"/>
              </a:lnSpc>
            </a:pPr>
            <a:r>
              <a:rPr lang="en-US" dirty="0" smtClean="0"/>
              <a:t>User </a:t>
            </a:r>
            <a:r>
              <a:rPr lang="en-US" dirty="0"/>
              <a:t>Management:</a:t>
            </a:r>
          </a:p>
          <a:p>
            <a:pPr lvl="2"/>
            <a:r>
              <a:rPr lang="en-US" sz="2400" dirty="0"/>
              <a:t>Group uses into a “protection domain”</a:t>
            </a:r>
          </a:p>
          <a:p>
            <a:pPr lvl="2"/>
            <a:r>
              <a:rPr lang="en-US" sz="2400" dirty="0"/>
              <a:t>Users belong to one or more protection </a:t>
            </a:r>
            <a:r>
              <a:rPr lang="en-US" sz="2400" dirty="0" smtClean="0"/>
              <a:t>domain </a:t>
            </a:r>
          </a:p>
          <a:p>
            <a:pPr lvl="2"/>
            <a:r>
              <a:rPr lang="en-US" sz="2400" dirty="0" smtClean="0"/>
              <a:t>E.g</a:t>
            </a:r>
            <a:r>
              <a:rPr lang="en-US" sz="2400" dirty="0"/>
              <a:t>., employees, admin, guests</a:t>
            </a:r>
          </a:p>
          <a:p>
            <a:pPr lvl="2"/>
            <a:r>
              <a:rPr lang="en-US" sz="2400" dirty="0"/>
              <a:t>Before granting the access, check permissions from user’s </a:t>
            </a:r>
            <a:r>
              <a:rPr lang="en-US" sz="2400" dirty="0" smtClean="0"/>
              <a:t>PDs</a:t>
            </a:r>
            <a:endParaRPr lang="en-US" sz="2400" dirty="0"/>
          </a:p>
        </p:txBody>
      </p:sp>
      <p:sp>
        <p:nvSpPr>
          <p:cNvPr id="19" name="Rectangle 18"/>
          <p:cNvSpPr/>
          <p:nvPr/>
        </p:nvSpPr>
        <p:spPr>
          <a:xfrm>
            <a:off x="10152530" y="1701789"/>
            <a:ext cx="494908" cy="1524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1050" dirty="0" smtClean="0">
                <a:solidFill>
                  <a:srgbClr val="0E3755"/>
                </a:solidFill>
              </a:rPr>
              <a:t>PD1</a:t>
            </a:r>
            <a:endParaRPr lang="en-US" sz="1050" dirty="0">
              <a:solidFill>
                <a:srgbClr val="0E3755"/>
              </a:solidFill>
            </a:endParaRPr>
          </a:p>
        </p:txBody>
      </p:sp>
      <p:sp>
        <p:nvSpPr>
          <p:cNvPr id="20" name="Rectangle 19"/>
          <p:cNvSpPr/>
          <p:nvPr/>
        </p:nvSpPr>
        <p:spPr>
          <a:xfrm>
            <a:off x="10152530" y="1930389"/>
            <a:ext cx="494908" cy="1524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1050" dirty="0" smtClean="0">
                <a:solidFill>
                  <a:srgbClr val="0E3755"/>
                </a:solidFill>
              </a:rPr>
              <a:t>PD2</a:t>
            </a:r>
            <a:endParaRPr lang="en-US" sz="1050" dirty="0">
              <a:solidFill>
                <a:srgbClr val="0E3755"/>
              </a:solidFill>
            </a:endParaRPr>
          </a:p>
        </p:txBody>
      </p:sp>
      <p:sp>
        <p:nvSpPr>
          <p:cNvPr id="21" name="Rectangle 20"/>
          <p:cNvSpPr/>
          <p:nvPr/>
        </p:nvSpPr>
        <p:spPr>
          <a:xfrm>
            <a:off x="10152530" y="2463789"/>
            <a:ext cx="494908" cy="1524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1050" dirty="0" err="1" smtClean="0">
                <a:solidFill>
                  <a:srgbClr val="0E3755"/>
                </a:solidFill>
              </a:rPr>
              <a:t>PDn</a:t>
            </a:r>
            <a:endParaRPr lang="en-US" sz="1050" dirty="0">
              <a:solidFill>
                <a:srgbClr val="0E3755"/>
              </a:solidFill>
            </a:endParaRPr>
          </a:p>
        </p:txBody>
      </p:sp>
      <p:graphicFrame>
        <p:nvGraphicFramePr>
          <p:cNvPr id="22" name="Table 21"/>
          <p:cNvGraphicFramePr>
            <a:graphicFrameLocks noGrp="1"/>
          </p:cNvGraphicFramePr>
          <p:nvPr>
            <p:extLst>
              <p:ext uri="{D42A27DB-BD31-4B8C-83A1-F6EECF244321}">
                <p14:modId xmlns:p14="http://schemas.microsoft.com/office/powerpoint/2010/main" val="2976130219"/>
              </p:ext>
            </p:extLst>
          </p:nvPr>
        </p:nvGraphicFramePr>
        <p:xfrm>
          <a:off x="10478541" y="3073389"/>
          <a:ext cx="1143000" cy="502920"/>
        </p:xfrm>
        <a:graphic>
          <a:graphicData uri="http://schemas.openxmlformats.org/drawingml/2006/table">
            <a:tbl>
              <a:tblPr firstRow="1" bandRow="1">
                <a:tableStyleId>{93296810-A885-4BE3-A3E7-6D5BEEA58F35}</a:tableStyleId>
              </a:tblPr>
              <a:tblGrid>
                <a:gridCol w="381000"/>
                <a:gridCol w="381000"/>
                <a:gridCol w="381000"/>
              </a:tblGrid>
              <a:tr h="251460">
                <a:tc>
                  <a:txBody>
                    <a:bodyPr/>
                    <a:lstStyle/>
                    <a:p>
                      <a:r>
                        <a:rPr lang="en-US" sz="1050" dirty="0" smtClean="0"/>
                        <a:t>R</a:t>
                      </a:r>
                      <a:endParaRPr lang="en-US" sz="1050" dirty="0"/>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r>
                        <a:rPr lang="en-US" sz="1050" dirty="0" smtClean="0"/>
                        <a:t>W</a:t>
                      </a:r>
                      <a:endParaRPr lang="en-US" sz="1050" dirty="0"/>
                    </a:p>
                  </a:txBody>
                  <a:tcPr>
                    <a:lnT w="38100" cap="flat" cmpd="sng" algn="ctr">
                      <a:solidFill>
                        <a:schemeClr val="tx1"/>
                      </a:solidFill>
                      <a:prstDash val="solid"/>
                      <a:round/>
                      <a:headEnd type="none" w="med" len="med"/>
                      <a:tailEnd type="none" w="med" len="med"/>
                    </a:lnT>
                  </a:tcPr>
                </a:tc>
                <a:tc>
                  <a:txBody>
                    <a:bodyPr/>
                    <a:lstStyle/>
                    <a:p>
                      <a:r>
                        <a:rPr lang="en-US" sz="1050" dirty="0" smtClean="0"/>
                        <a:t>X</a:t>
                      </a:r>
                      <a:endParaRPr lang="en-US" sz="1050" dirty="0"/>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r>
              <a:tr h="251460">
                <a:tc>
                  <a:txBody>
                    <a:bodyPr/>
                    <a:lstStyle/>
                    <a:p>
                      <a:r>
                        <a:rPr lang="en-US" sz="1050" dirty="0" smtClean="0"/>
                        <a:t>√</a:t>
                      </a:r>
                      <a:endParaRPr lang="en-US" sz="1050" dirty="0"/>
                    </a:p>
                  </a:txBody>
                  <a:tcPr>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r>
                        <a:rPr lang="en-US" sz="1050" dirty="0" smtClean="0"/>
                        <a:t>√</a:t>
                      </a:r>
                      <a:endParaRPr lang="en-US" sz="1050" dirty="0"/>
                    </a:p>
                  </a:txBody>
                  <a:tcPr>
                    <a:lnB w="38100" cap="flat" cmpd="sng" algn="ctr">
                      <a:solidFill>
                        <a:schemeClr val="tx1"/>
                      </a:solidFill>
                      <a:prstDash val="solid"/>
                      <a:round/>
                      <a:headEnd type="none" w="med" len="med"/>
                      <a:tailEnd type="none" w="med" len="med"/>
                    </a:lnB>
                  </a:tcPr>
                </a:tc>
                <a:tc>
                  <a:txBody>
                    <a:bodyPr/>
                    <a:lstStyle/>
                    <a:p>
                      <a:r>
                        <a:rPr lang="en-US" sz="1050" dirty="0" smtClean="0"/>
                        <a:t>√</a:t>
                      </a:r>
                      <a:endParaRPr lang="en-US" sz="1050" dirty="0"/>
                    </a:p>
                  </a:txBody>
                  <a:tcPr>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r>
            </a:tbl>
          </a:graphicData>
        </a:graphic>
      </p:graphicFrame>
      <p:graphicFrame>
        <p:nvGraphicFramePr>
          <p:cNvPr id="23" name="Table 22"/>
          <p:cNvGraphicFramePr>
            <a:graphicFrameLocks noGrp="1"/>
          </p:cNvGraphicFramePr>
          <p:nvPr>
            <p:extLst>
              <p:ext uri="{D42A27DB-BD31-4B8C-83A1-F6EECF244321}">
                <p14:modId xmlns:p14="http://schemas.microsoft.com/office/powerpoint/2010/main" val="1892246918"/>
              </p:ext>
            </p:extLst>
          </p:nvPr>
        </p:nvGraphicFramePr>
        <p:xfrm>
          <a:off x="10483646" y="4091492"/>
          <a:ext cx="1143000" cy="502920"/>
        </p:xfrm>
        <a:graphic>
          <a:graphicData uri="http://schemas.openxmlformats.org/drawingml/2006/table">
            <a:tbl>
              <a:tblPr firstRow="1" bandRow="1">
                <a:tableStyleId>{93296810-A885-4BE3-A3E7-6D5BEEA58F35}</a:tableStyleId>
              </a:tblPr>
              <a:tblGrid>
                <a:gridCol w="381000"/>
                <a:gridCol w="381000"/>
                <a:gridCol w="381000"/>
              </a:tblGrid>
              <a:tr h="251460">
                <a:tc>
                  <a:txBody>
                    <a:bodyPr/>
                    <a:lstStyle/>
                    <a:p>
                      <a:r>
                        <a:rPr lang="en-US" sz="1050" dirty="0" smtClean="0"/>
                        <a:t>R</a:t>
                      </a:r>
                      <a:endParaRPr lang="en-US" sz="1050" dirty="0"/>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r>
                        <a:rPr lang="en-US" sz="1050" dirty="0" smtClean="0"/>
                        <a:t>W</a:t>
                      </a:r>
                      <a:endParaRPr lang="en-US" sz="1050" dirty="0"/>
                    </a:p>
                  </a:txBody>
                  <a:tcPr>
                    <a:lnT w="38100" cap="flat" cmpd="sng" algn="ctr">
                      <a:solidFill>
                        <a:schemeClr val="tx1"/>
                      </a:solidFill>
                      <a:prstDash val="solid"/>
                      <a:round/>
                      <a:headEnd type="none" w="med" len="med"/>
                      <a:tailEnd type="none" w="med" len="med"/>
                    </a:lnT>
                  </a:tcPr>
                </a:tc>
                <a:tc>
                  <a:txBody>
                    <a:bodyPr/>
                    <a:lstStyle/>
                    <a:p>
                      <a:r>
                        <a:rPr lang="en-US" sz="1050" dirty="0" smtClean="0"/>
                        <a:t>X</a:t>
                      </a:r>
                      <a:endParaRPr lang="en-US" sz="1050" dirty="0"/>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r>
              <a:tr h="251460">
                <a:tc>
                  <a:txBody>
                    <a:bodyPr/>
                    <a:lstStyle/>
                    <a:p>
                      <a:r>
                        <a:rPr lang="en-US" sz="1050" dirty="0" smtClean="0"/>
                        <a:t>√</a:t>
                      </a:r>
                      <a:endParaRPr lang="en-US" sz="1050" dirty="0"/>
                    </a:p>
                  </a:txBody>
                  <a:tcPr>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r>
                        <a:rPr lang="en-US" sz="1050" dirty="0" smtClean="0"/>
                        <a:t>x</a:t>
                      </a:r>
                      <a:endParaRPr lang="en-US" sz="1050" dirty="0"/>
                    </a:p>
                  </a:txBody>
                  <a:tcPr>
                    <a:lnB w="38100" cap="flat" cmpd="sng" algn="ctr">
                      <a:solidFill>
                        <a:schemeClr val="tx1"/>
                      </a:solidFill>
                      <a:prstDash val="solid"/>
                      <a:round/>
                      <a:headEnd type="none" w="med" len="med"/>
                      <a:tailEnd type="none" w="med" len="med"/>
                    </a:lnB>
                  </a:tcPr>
                </a:tc>
                <a:tc>
                  <a:txBody>
                    <a:bodyPr/>
                    <a:lstStyle/>
                    <a:p>
                      <a:r>
                        <a:rPr lang="en-US" sz="1050" dirty="0" smtClean="0"/>
                        <a:t>√</a:t>
                      </a:r>
                      <a:endParaRPr lang="en-US" sz="1050" dirty="0"/>
                    </a:p>
                  </a:txBody>
                  <a:tcPr>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r>
            </a:tbl>
          </a:graphicData>
        </a:graphic>
      </p:graphicFrame>
      <p:graphicFrame>
        <p:nvGraphicFramePr>
          <p:cNvPr id="24" name="Table 23"/>
          <p:cNvGraphicFramePr>
            <a:graphicFrameLocks noGrp="1"/>
          </p:cNvGraphicFramePr>
          <p:nvPr>
            <p:extLst>
              <p:ext uri="{D42A27DB-BD31-4B8C-83A1-F6EECF244321}">
                <p14:modId xmlns:p14="http://schemas.microsoft.com/office/powerpoint/2010/main" val="3279997451"/>
              </p:ext>
            </p:extLst>
          </p:nvPr>
        </p:nvGraphicFramePr>
        <p:xfrm>
          <a:off x="10467936" y="5082092"/>
          <a:ext cx="1143000" cy="502920"/>
        </p:xfrm>
        <a:graphic>
          <a:graphicData uri="http://schemas.openxmlformats.org/drawingml/2006/table">
            <a:tbl>
              <a:tblPr firstRow="1" bandRow="1">
                <a:tableStyleId>{93296810-A885-4BE3-A3E7-6D5BEEA58F35}</a:tableStyleId>
              </a:tblPr>
              <a:tblGrid>
                <a:gridCol w="381000"/>
                <a:gridCol w="381000"/>
                <a:gridCol w="381000"/>
              </a:tblGrid>
              <a:tr h="251460">
                <a:tc>
                  <a:txBody>
                    <a:bodyPr/>
                    <a:lstStyle/>
                    <a:p>
                      <a:r>
                        <a:rPr lang="en-US" sz="1050" dirty="0" smtClean="0"/>
                        <a:t>R</a:t>
                      </a:r>
                      <a:endParaRPr lang="en-US" sz="1050" dirty="0"/>
                    </a:p>
                  </a:txBody>
                  <a:tcP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r>
                        <a:rPr lang="en-US" sz="1050" dirty="0" smtClean="0"/>
                        <a:t>W</a:t>
                      </a:r>
                      <a:endParaRPr lang="en-US" sz="1050" dirty="0"/>
                    </a:p>
                  </a:txBody>
                  <a:tcPr>
                    <a:lnT w="38100" cap="flat" cmpd="sng" algn="ctr">
                      <a:solidFill>
                        <a:schemeClr val="tx1"/>
                      </a:solidFill>
                      <a:prstDash val="solid"/>
                      <a:round/>
                      <a:headEnd type="none" w="med" len="med"/>
                      <a:tailEnd type="none" w="med" len="med"/>
                    </a:lnT>
                  </a:tcPr>
                </a:tc>
                <a:tc>
                  <a:txBody>
                    <a:bodyPr/>
                    <a:lstStyle/>
                    <a:p>
                      <a:r>
                        <a:rPr lang="en-US" sz="1050" dirty="0" smtClean="0"/>
                        <a:t>X</a:t>
                      </a:r>
                      <a:endParaRPr lang="en-US" sz="1050" dirty="0"/>
                    </a:p>
                  </a:txBody>
                  <a:tcP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r>
              <a:tr h="251460">
                <a:tc>
                  <a:txBody>
                    <a:bodyPr/>
                    <a:lstStyle/>
                    <a:p>
                      <a:r>
                        <a:rPr lang="en-US" sz="1050" dirty="0" smtClean="0"/>
                        <a:t>x</a:t>
                      </a:r>
                      <a:endParaRPr lang="en-US" sz="1050" dirty="0"/>
                    </a:p>
                  </a:txBody>
                  <a:tcPr>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r>
                        <a:rPr lang="en-US" sz="1050" dirty="0" smtClean="0"/>
                        <a:t>x</a:t>
                      </a:r>
                      <a:endParaRPr lang="en-US" sz="1050" dirty="0"/>
                    </a:p>
                  </a:txBody>
                  <a:tcPr>
                    <a:lnB w="38100" cap="flat" cmpd="sng" algn="ctr">
                      <a:solidFill>
                        <a:schemeClr val="tx1"/>
                      </a:solidFill>
                      <a:prstDash val="solid"/>
                      <a:round/>
                      <a:headEnd type="none" w="med" len="med"/>
                      <a:tailEnd type="none" w="med" len="med"/>
                    </a:lnB>
                  </a:tcPr>
                </a:tc>
                <a:tc>
                  <a:txBody>
                    <a:bodyPr/>
                    <a:lstStyle/>
                    <a:p>
                      <a:r>
                        <a:rPr lang="en-US" sz="1050" dirty="0" smtClean="0"/>
                        <a:t>x</a:t>
                      </a:r>
                      <a:endParaRPr lang="en-US" sz="1050" dirty="0"/>
                    </a:p>
                  </a:txBody>
                  <a:tcPr>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r>
            </a:tbl>
          </a:graphicData>
        </a:graphic>
      </p:graphicFrame>
      <p:sp>
        <p:nvSpPr>
          <p:cNvPr id="25" name="Rectangle 24"/>
          <p:cNvSpPr/>
          <p:nvPr/>
        </p:nvSpPr>
        <p:spPr>
          <a:xfrm>
            <a:off x="10457330" y="4777292"/>
            <a:ext cx="1153605" cy="286730"/>
          </a:xfrm>
          <a:prstGeom prst="rect">
            <a:avLst/>
          </a:prstGeom>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1100" dirty="0" smtClean="0"/>
              <a:t>PD: Guests</a:t>
            </a:r>
            <a:endParaRPr lang="en-US" sz="1100" dirty="0"/>
          </a:p>
        </p:txBody>
      </p:sp>
      <p:sp>
        <p:nvSpPr>
          <p:cNvPr id="26" name="Rectangle 25"/>
          <p:cNvSpPr/>
          <p:nvPr/>
        </p:nvSpPr>
        <p:spPr>
          <a:xfrm>
            <a:off x="10473041" y="3786692"/>
            <a:ext cx="1153605" cy="286730"/>
          </a:xfrm>
          <a:prstGeom prst="rect">
            <a:avLst/>
          </a:prstGeom>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1100" dirty="0" smtClean="0"/>
              <a:t>PD: Employees</a:t>
            </a:r>
            <a:endParaRPr lang="en-US" sz="1100" dirty="0"/>
          </a:p>
        </p:txBody>
      </p:sp>
      <p:sp>
        <p:nvSpPr>
          <p:cNvPr id="27" name="Rectangle 26"/>
          <p:cNvSpPr/>
          <p:nvPr/>
        </p:nvSpPr>
        <p:spPr>
          <a:xfrm>
            <a:off x="10467936" y="2768589"/>
            <a:ext cx="1153605" cy="286730"/>
          </a:xfrm>
          <a:prstGeom prst="rect">
            <a:avLst/>
          </a:prstGeom>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1100" dirty="0" smtClean="0"/>
              <a:t>PD: Admin</a:t>
            </a:r>
            <a:endParaRPr lang="en-US" sz="1100" dirty="0"/>
          </a:p>
        </p:txBody>
      </p:sp>
      <p:graphicFrame>
        <p:nvGraphicFramePr>
          <p:cNvPr id="28" name="Table 27"/>
          <p:cNvGraphicFramePr>
            <a:graphicFrameLocks noGrp="1"/>
          </p:cNvGraphicFramePr>
          <p:nvPr>
            <p:extLst>
              <p:ext uri="{D42A27DB-BD31-4B8C-83A1-F6EECF244321}">
                <p14:modId xmlns:p14="http://schemas.microsoft.com/office/powerpoint/2010/main" val="537039778"/>
              </p:ext>
            </p:extLst>
          </p:nvPr>
        </p:nvGraphicFramePr>
        <p:xfrm>
          <a:off x="10609730" y="1625589"/>
          <a:ext cx="833120" cy="1036320"/>
        </p:xfrm>
        <a:graphic>
          <a:graphicData uri="http://schemas.openxmlformats.org/drawingml/2006/table">
            <a:tbl>
              <a:tblPr bandRow="1">
                <a:tableStyleId>{775DCB02-9BB8-47FD-8907-85C794F793BA}</a:tableStyleId>
              </a:tblPr>
              <a:tblGrid>
                <a:gridCol w="208280"/>
                <a:gridCol w="208280"/>
                <a:gridCol w="208280"/>
                <a:gridCol w="208280"/>
              </a:tblGrid>
              <a:tr h="0">
                <a:tc>
                  <a:txBody>
                    <a:bodyPr/>
                    <a:lstStyle/>
                    <a:p>
                      <a:endParaRPr lang="en-US" sz="1100" dirty="0"/>
                    </a:p>
                  </a:txBody>
                  <a:tcPr/>
                </a:tc>
                <a:tc>
                  <a:txBody>
                    <a:bodyPr/>
                    <a:lstStyle/>
                    <a:p>
                      <a:endParaRPr lang="en-US" sz="1100" dirty="0"/>
                    </a:p>
                  </a:txBody>
                  <a:tcPr/>
                </a:tc>
                <a:tc>
                  <a:txBody>
                    <a:bodyPr/>
                    <a:lstStyle/>
                    <a:p>
                      <a:endParaRPr lang="en-US" sz="1100" dirty="0"/>
                    </a:p>
                  </a:txBody>
                  <a:tcPr/>
                </a:tc>
                <a:tc>
                  <a:txBody>
                    <a:bodyPr/>
                    <a:lstStyle/>
                    <a:p>
                      <a:endParaRPr lang="en-US" sz="1100" dirty="0"/>
                    </a:p>
                  </a:txBody>
                  <a:tcPr/>
                </a:tc>
              </a:tr>
              <a:tr h="0">
                <a:tc>
                  <a:txBody>
                    <a:bodyPr/>
                    <a:lstStyle/>
                    <a:p>
                      <a:endParaRPr lang="en-US" sz="1100" dirty="0"/>
                    </a:p>
                  </a:txBody>
                  <a:tcPr/>
                </a:tc>
                <a:tc>
                  <a:txBody>
                    <a:bodyPr/>
                    <a:lstStyle/>
                    <a:p>
                      <a:endParaRPr lang="en-US" sz="1100" dirty="0"/>
                    </a:p>
                  </a:txBody>
                  <a:tcPr/>
                </a:tc>
                <a:tc>
                  <a:txBody>
                    <a:bodyPr/>
                    <a:lstStyle/>
                    <a:p>
                      <a:endParaRPr lang="en-US" sz="1100"/>
                    </a:p>
                  </a:txBody>
                  <a:tcPr/>
                </a:tc>
                <a:tc>
                  <a:txBody>
                    <a:bodyPr/>
                    <a:lstStyle/>
                    <a:p>
                      <a:endParaRPr lang="en-US" sz="1100" dirty="0"/>
                    </a:p>
                  </a:txBody>
                  <a:tcPr/>
                </a:tc>
              </a:tr>
              <a:tr h="0">
                <a:tc>
                  <a:txBody>
                    <a:bodyPr/>
                    <a:lstStyle/>
                    <a:p>
                      <a:endParaRPr lang="en-US" sz="1100" dirty="0"/>
                    </a:p>
                  </a:txBody>
                  <a:tcPr/>
                </a:tc>
                <a:tc>
                  <a:txBody>
                    <a:bodyPr/>
                    <a:lstStyle/>
                    <a:p>
                      <a:endParaRPr lang="en-US" sz="1100" dirty="0"/>
                    </a:p>
                  </a:txBody>
                  <a:tcPr/>
                </a:tc>
                <a:tc>
                  <a:txBody>
                    <a:bodyPr/>
                    <a:lstStyle/>
                    <a:p>
                      <a:endParaRPr lang="en-US" sz="1100" dirty="0"/>
                    </a:p>
                  </a:txBody>
                  <a:tcPr/>
                </a:tc>
                <a:tc>
                  <a:txBody>
                    <a:bodyPr/>
                    <a:lstStyle/>
                    <a:p>
                      <a:endParaRPr lang="en-US" sz="1100" dirty="0"/>
                    </a:p>
                  </a:txBody>
                  <a:tcPr/>
                </a:tc>
              </a:tr>
              <a:tr h="0">
                <a:tc>
                  <a:txBody>
                    <a:bodyPr/>
                    <a:lstStyle/>
                    <a:p>
                      <a:endParaRPr lang="en-US" sz="1100" dirty="0"/>
                    </a:p>
                  </a:txBody>
                  <a:tcPr/>
                </a:tc>
                <a:tc>
                  <a:txBody>
                    <a:bodyPr/>
                    <a:lstStyle/>
                    <a:p>
                      <a:endParaRPr lang="en-US" sz="1100"/>
                    </a:p>
                  </a:txBody>
                  <a:tcPr/>
                </a:tc>
                <a:tc>
                  <a:txBody>
                    <a:bodyPr/>
                    <a:lstStyle/>
                    <a:p>
                      <a:endParaRPr lang="en-US" sz="1100" dirty="0"/>
                    </a:p>
                  </a:txBody>
                  <a:tcPr/>
                </a:tc>
                <a:tc>
                  <a:txBody>
                    <a:bodyPr/>
                    <a:lstStyle/>
                    <a:p>
                      <a:endParaRPr lang="en-US" sz="1100" dirty="0"/>
                    </a:p>
                  </a:txBody>
                  <a:tcPr/>
                </a:tc>
              </a:tr>
            </a:tbl>
          </a:graphicData>
        </a:graphic>
      </p:graphicFrame>
      <p:sp>
        <p:nvSpPr>
          <p:cNvPr id="29" name="Rectangle 28"/>
          <p:cNvSpPr/>
          <p:nvPr/>
        </p:nvSpPr>
        <p:spPr>
          <a:xfrm>
            <a:off x="11143130" y="1396989"/>
            <a:ext cx="457200" cy="2286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1050" dirty="0" smtClean="0">
                <a:solidFill>
                  <a:srgbClr val="00B050"/>
                </a:solidFill>
              </a:rPr>
              <a:t>Om</a:t>
            </a:r>
            <a:endParaRPr lang="en-US" sz="1050" dirty="0">
              <a:solidFill>
                <a:srgbClr val="00B050"/>
              </a:solidFill>
            </a:endParaRPr>
          </a:p>
        </p:txBody>
      </p:sp>
      <p:sp>
        <p:nvSpPr>
          <p:cNvPr id="30" name="Rectangle 29"/>
          <p:cNvSpPr/>
          <p:nvPr/>
        </p:nvSpPr>
        <p:spPr>
          <a:xfrm>
            <a:off x="10533530" y="1425270"/>
            <a:ext cx="381000" cy="1524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1050" dirty="0">
                <a:solidFill>
                  <a:srgbClr val="00B050"/>
                </a:solidFill>
              </a:rPr>
              <a:t>O</a:t>
            </a:r>
            <a:r>
              <a:rPr lang="en-US" sz="1050" dirty="0" smtClean="0">
                <a:solidFill>
                  <a:srgbClr val="00B050"/>
                </a:solidFill>
              </a:rPr>
              <a:t>1</a:t>
            </a:r>
            <a:endParaRPr lang="en-US" sz="1050" dirty="0">
              <a:solidFill>
                <a:srgbClr val="00B050"/>
              </a:solidFill>
            </a:endParaRPr>
          </a:p>
        </p:txBody>
      </p:sp>
      <p:sp>
        <p:nvSpPr>
          <p:cNvPr id="31" name="Rectangle 30"/>
          <p:cNvSpPr/>
          <p:nvPr/>
        </p:nvSpPr>
        <p:spPr>
          <a:xfrm>
            <a:off x="10810049" y="2148778"/>
            <a:ext cx="228600" cy="228600"/>
          </a:xfrm>
          <a:prstGeom prst="rect">
            <a:avLst/>
          </a:prstGeom>
          <a:solidFill>
            <a:srgbClr val="1D306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2" name="TextBox 31"/>
          <p:cNvSpPr txBox="1"/>
          <p:nvPr/>
        </p:nvSpPr>
        <p:spPr>
          <a:xfrm>
            <a:off x="10609730" y="1089212"/>
            <a:ext cx="838200" cy="307777"/>
          </a:xfrm>
          <a:prstGeom prst="rect">
            <a:avLst/>
          </a:prstGeom>
          <a:noFill/>
        </p:spPr>
        <p:txBody>
          <a:bodyPr wrap="square" rtlCol="0">
            <a:spAutoFit/>
          </a:bodyPr>
          <a:lstStyle/>
          <a:p>
            <a:pPr algn="ctr"/>
            <a:r>
              <a:rPr lang="en-US" sz="1400" dirty="0" smtClean="0">
                <a:solidFill>
                  <a:srgbClr val="00B050"/>
                </a:solidFill>
              </a:rPr>
              <a:t>Objects</a:t>
            </a:r>
            <a:endParaRPr lang="en-US" sz="1400" dirty="0">
              <a:solidFill>
                <a:srgbClr val="00B050"/>
              </a:solidFill>
            </a:endParaRPr>
          </a:p>
        </p:txBody>
      </p:sp>
      <p:sp>
        <p:nvSpPr>
          <p:cNvPr id="33" name="TextBox 32"/>
          <p:cNvSpPr txBox="1"/>
          <p:nvPr/>
        </p:nvSpPr>
        <p:spPr>
          <a:xfrm>
            <a:off x="9528166" y="1566828"/>
            <a:ext cx="738664" cy="1095081"/>
          </a:xfrm>
          <a:prstGeom prst="rect">
            <a:avLst/>
          </a:prstGeom>
          <a:noFill/>
        </p:spPr>
        <p:txBody>
          <a:bodyPr vert="vert270" wrap="square" rtlCol="0">
            <a:spAutoFit/>
          </a:bodyPr>
          <a:lstStyle/>
          <a:p>
            <a:pPr algn="ctr"/>
            <a:r>
              <a:rPr lang="en-US" dirty="0" smtClean="0">
                <a:solidFill>
                  <a:srgbClr val="0E3755"/>
                </a:solidFill>
              </a:rPr>
              <a:t>Protection Domains</a:t>
            </a:r>
            <a:endParaRPr lang="en-US" dirty="0">
              <a:solidFill>
                <a:srgbClr val="0E3755"/>
              </a:solidFill>
            </a:endParaRPr>
          </a:p>
        </p:txBody>
      </p:sp>
    </p:spTree>
    <p:extLst>
      <p:ext uri="{BB962C8B-B14F-4D97-AF65-F5344CB8AC3E}">
        <p14:creationId xmlns:p14="http://schemas.microsoft.com/office/powerpoint/2010/main" val="2740997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wipe(up)">
                                      <p:cBhvr>
                                        <p:cTn id="13" dur="500"/>
                                        <p:tgtEl>
                                          <p:spTgt spid="19"/>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wipe(up)">
                                      <p:cBhvr>
                                        <p:cTn id="16" dur="500"/>
                                        <p:tgtEl>
                                          <p:spTgt spid="20"/>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wipe(up)">
                                      <p:cBhvr>
                                        <p:cTn id="19" dur="500"/>
                                        <p:tgtEl>
                                          <p:spTgt spid="21"/>
                                        </p:tgtEl>
                                      </p:cBhvr>
                                    </p:animEffect>
                                  </p:childTnLst>
                                </p:cTn>
                              </p:par>
                              <p:par>
                                <p:cTn id="20" presetID="22" presetClass="entr" presetSubtype="1" fill="hold"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wipe(up)">
                                      <p:cBhvr>
                                        <p:cTn id="22" dur="500"/>
                                        <p:tgtEl>
                                          <p:spTgt spid="22"/>
                                        </p:tgtEl>
                                      </p:cBhvr>
                                    </p:animEffect>
                                  </p:childTnLst>
                                </p:cTn>
                              </p:par>
                              <p:par>
                                <p:cTn id="23" presetID="22" presetClass="entr" presetSubtype="1" fill="hold" nodeType="with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wipe(up)">
                                      <p:cBhvr>
                                        <p:cTn id="25" dur="500"/>
                                        <p:tgtEl>
                                          <p:spTgt spid="23"/>
                                        </p:tgtEl>
                                      </p:cBhvr>
                                    </p:animEffect>
                                  </p:childTnLst>
                                </p:cTn>
                              </p:par>
                              <p:par>
                                <p:cTn id="26" presetID="22" presetClass="entr" presetSubtype="1" fill="hold" nodeType="with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wipe(up)">
                                      <p:cBhvr>
                                        <p:cTn id="28" dur="500"/>
                                        <p:tgtEl>
                                          <p:spTgt spid="24"/>
                                        </p:tgtEl>
                                      </p:cBhvr>
                                    </p:animEffect>
                                  </p:childTnLst>
                                </p:cTn>
                              </p:par>
                              <p:par>
                                <p:cTn id="29" presetID="22" presetClass="entr" presetSubtype="1"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wipe(up)">
                                      <p:cBhvr>
                                        <p:cTn id="31" dur="500"/>
                                        <p:tgtEl>
                                          <p:spTgt spid="25"/>
                                        </p:tgtEl>
                                      </p:cBhvr>
                                    </p:animEffect>
                                  </p:childTnLst>
                                </p:cTn>
                              </p:par>
                              <p:par>
                                <p:cTn id="32" presetID="22" presetClass="entr" presetSubtype="1" fill="hold" grpId="0" nodeType="with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wipe(up)">
                                      <p:cBhvr>
                                        <p:cTn id="34" dur="500"/>
                                        <p:tgtEl>
                                          <p:spTgt spid="26"/>
                                        </p:tgtEl>
                                      </p:cBhvr>
                                    </p:animEffect>
                                  </p:childTnLst>
                                </p:cTn>
                              </p:par>
                              <p:par>
                                <p:cTn id="35" presetID="22" presetClass="entr" presetSubtype="1"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wipe(up)">
                                      <p:cBhvr>
                                        <p:cTn id="37" dur="500"/>
                                        <p:tgtEl>
                                          <p:spTgt spid="27"/>
                                        </p:tgtEl>
                                      </p:cBhvr>
                                    </p:animEffect>
                                  </p:childTnLst>
                                </p:cTn>
                              </p:par>
                              <p:par>
                                <p:cTn id="38" presetID="22" presetClass="entr" presetSubtype="1" fill="hold"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wipe(up)">
                                      <p:cBhvr>
                                        <p:cTn id="40" dur="500"/>
                                        <p:tgtEl>
                                          <p:spTgt spid="28"/>
                                        </p:tgtEl>
                                      </p:cBhvr>
                                    </p:animEffect>
                                  </p:childTnLst>
                                </p:cTn>
                              </p:par>
                              <p:par>
                                <p:cTn id="41" presetID="22" presetClass="entr" presetSubtype="1"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wipe(up)">
                                      <p:cBhvr>
                                        <p:cTn id="43" dur="500"/>
                                        <p:tgtEl>
                                          <p:spTgt spid="29"/>
                                        </p:tgtEl>
                                      </p:cBhvr>
                                    </p:animEffect>
                                  </p:childTnLst>
                                </p:cTn>
                              </p:par>
                              <p:par>
                                <p:cTn id="44" presetID="22" presetClass="entr" presetSubtype="1"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wipe(up)">
                                      <p:cBhvr>
                                        <p:cTn id="46" dur="500"/>
                                        <p:tgtEl>
                                          <p:spTgt spid="30"/>
                                        </p:tgtEl>
                                      </p:cBhvr>
                                    </p:animEffect>
                                  </p:childTnLst>
                                </p:cTn>
                              </p:par>
                              <p:par>
                                <p:cTn id="47" presetID="22" presetClass="entr" presetSubtype="1"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wipe(up)">
                                      <p:cBhvr>
                                        <p:cTn id="49" dur="500"/>
                                        <p:tgtEl>
                                          <p:spTgt spid="31"/>
                                        </p:tgtEl>
                                      </p:cBhvr>
                                    </p:animEffect>
                                  </p:childTnLst>
                                </p:cTn>
                              </p:par>
                              <p:par>
                                <p:cTn id="50" presetID="22" presetClass="entr" presetSubtype="1" fill="hold" grpId="0" nodeType="withEffect">
                                  <p:stCondLst>
                                    <p:cond delay="0"/>
                                  </p:stCondLst>
                                  <p:childTnLst>
                                    <p:set>
                                      <p:cBhvr>
                                        <p:cTn id="51" dur="1" fill="hold">
                                          <p:stCondLst>
                                            <p:cond delay="0"/>
                                          </p:stCondLst>
                                        </p:cTn>
                                        <p:tgtEl>
                                          <p:spTgt spid="32"/>
                                        </p:tgtEl>
                                        <p:attrNameLst>
                                          <p:attrName>style.visibility</p:attrName>
                                        </p:attrNameLst>
                                      </p:cBhvr>
                                      <p:to>
                                        <p:strVal val="visible"/>
                                      </p:to>
                                    </p:set>
                                    <p:animEffect transition="in" filter="wipe(up)">
                                      <p:cBhvr>
                                        <p:cTn id="52" dur="500"/>
                                        <p:tgtEl>
                                          <p:spTgt spid="32"/>
                                        </p:tgtEl>
                                      </p:cBhvr>
                                    </p:animEffect>
                                  </p:childTnLst>
                                </p:cTn>
                              </p:par>
                              <p:par>
                                <p:cTn id="53" presetID="22" presetClass="entr" presetSubtype="1" fill="hold" grpId="0" nodeType="withEffect">
                                  <p:stCondLst>
                                    <p:cond delay="0"/>
                                  </p:stCondLst>
                                  <p:childTnLst>
                                    <p:set>
                                      <p:cBhvr>
                                        <p:cTn id="54" dur="1" fill="hold">
                                          <p:stCondLst>
                                            <p:cond delay="0"/>
                                          </p:stCondLst>
                                        </p:cTn>
                                        <p:tgtEl>
                                          <p:spTgt spid="33"/>
                                        </p:tgtEl>
                                        <p:attrNameLst>
                                          <p:attrName>style.visibility</p:attrName>
                                        </p:attrNameLst>
                                      </p:cBhvr>
                                      <p:to>
                                        <p:strVal val="visible"/>
                                      </p:to>
                                    </p:set>
                                    <p:animEffect transition="in" filter="wipe(up)">
                                      <p:cBhvr>
                                        <p:cTn id="55" dur="500"/>
                                        <p:tgtEl>
                                          <p:spTgt spid="33"/>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3">
                                            <p:txEl>
                                              <p:pRg st="2" end="2"/>
                                            </p:txEl>
                                          </p:spTgt>
                                        </p:tgtEl>
                                        <p:attrNameLst>
                                          <p:attrName>style.visibility</p:attrName>
                                        </p:attrNameLst>
                                      </p:cBhvr>
                                      <p:to>
                                        <p:strVal val="visible"/>
                                      </p:to>
                                    </p:set>
                                  </p:childTnLst>
                                </p:cTn>
                              </p:par>
                              <p:par>
                                <p:cTn id="60" presetID="1" presetClass="entr" presetSubtype="0" fill="hold" nodeType="withEffect">
                                  <p:stCondLst>
                                    <p:cond delay="0"/>
                                  </p:stCondLst>
                                  <p:childTnLst>
                                    <p:set>
                                      <p:cBhvr>
                                        <p:cTn id="61" dur="1" fill="hold">
                                          <p:stCondLst>
                                            <p:cond delay="0"/>
                                          </p:stCondLst>
                                        </p:cTn>
                                        <p:tgtEl>
                                          <p:spTgt spid="3">
                                            <p:txEl>
                                              <p:pRg st="3" end="3"/>
                                            </p:txEl>
                                          </p:spTgt>
                                        </p:tgtEl>
                                        <p:attrNameLst>
                                          <p:attrName>style.visibility</p:attrName>
                                        </p:attrNameLst>
                                      </p:cBhvr>
                                      <p:to>
                                        <p:strVal val="visible"/>
                                      </p:to>
                                    </p:set>
                                  </p:childTnLst>
                                </p:cTn>
                              </p:par>
                              <p:par>
                                <p:cTn id="62" presetID="1" presetClass="entr" presetSubtype="0" fill="hold" nodeType="withEffect">
                                  <p:stCondLst>
                                    <p:cond delay="0"/>
                                  </p:stCondLst>
                                  <p:childTnLst>
                                    <p:set>
                                      <p:cBhvr>
                                        <p:cTn id="63"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nodeType="clickEffect">
                                  <p:stCondLst>
                                    <p:cond delay="0"/>
                                  </p:stCondLst>
                                  <p:childTnLst>
                                    <p:set>
                                      <p:cBhvr>
                                        <p:cTn id="67" dur="1" fill="hold">
                                          <p:stCondLst>
                                            <p:cond delay="0"/>
                                          </p:stCondLst>
                                        </p:cTn>
                                        <p:tgtEl>
                                          <p:spTgt spid="3">
                                            <p:txEl>
                                              <p:pRg st="5" end="5"/>
                                            </p:txEl>
                                          </p:spTgt>
                                        </p:tgtEl>
                                        <p:attrNameLst>
                                          <p:attrName>style.visibility</p:attrName>
                                        </p:attrNameLst>
                                      </p:cBhvr>
                                      <p:to>
                                        <p:strVal val="visible"/>
                                      </p:to>
                                    </p:set>
                                  </p:childTnLst>
                                </p:cTn>
                              </p:par>
                              <p:par>
                                <p:cTn id="68" presetID="1" presetClass="entr" presetSubtype="0" fill="hold" nodeType="withEffect">
                                  <p:stCondLst>
                                    <p:cond delay="0"/>
                                  </p:stCondLst>
                                  <p:childTnLst>
                                    <p:set>
                                      <p:cBhvr>
                                        <p:cTn id="69" dur="1" fill="hold">
                                          <p:stCondLst>
                                            <p:cond delay="0"/>
                                          </p:stCondLst>
                                        </p:cTn>
                                        <p:tgtEl>
                                          <p:spTgt spid="3">
                                            <p:txEl>
                                              <p:pRg st="6" end="6"/>
                                            </p:txEl>
                                          </p:spTgt>
                                        </p:tgtEl>
                                        <p:attrNameLst>
                                          <p:attrName>style.visibility</p:attrName>
                                        </p:attrNameLst>
                                      </p:cBhvr>
                                      <p:to>
                                        <p:strVal val="visible"/>
                                      </p:to>
                                    </p:set>
                                  </p:childTnLst>
                                </p:cTn>
                              </p:par>
                              <p:par>
                                <p:cTn id="70" presetID="1" presetClass="entr" presetSubtype="0" fill="hold" nodeType="withEffect">
                                  <p:stCondLst>
                                    <p:cond delay="0"/>
                                  </p:stCondLst>
                                  <p:childTnLst>
                                    <p:set>
                                      <p:cBhvr>
                                        <p:cTn id="71" dur="1" fill="hold">
                                          <p:stCondLst>
                                            <p:cond delay="0"/>
                                          </p:stCondLst>
                                        </p:cTn>
                                        <p:tgtEl>
                                          <p:spTgt spid="3">
                                            <p:txEl>
                                              <p:pRg st="7" end="7"/>
                                            </p:txEl>
                                          </p:spTgt>
                                        </p:tgtEl>
                                        <p:attrNameLst>
                                          <p:attrName>style.visibility</p:attrName>
                                        </p:attrNameLst>
                                      </p:cBhvr>
                                      <p:to>
                                        <p:strVal val="visible"/>
                                      </p:to>
                                    </p:set>
                                  </p:childTnLst>
                                </p:cTn>
                              </p:par>
                              <p:par>
                                <p:cTn id="72" presetID="1" presetClass="entr" presetSubtype="0" fill="hold" nodeType="withEffect">
                                  <p:stCondLst>
                                    <p:cond delay="0"/>
                                  </p:stCondLst>
                                  <p:childTnLst>
                                    <p:set>
                                      <p:cBhvr>
                                        <p:cTn id="73" dur="1" fill="hold">
                                          <p:stCondLst>
                                            <p:cond delay="0"/>
                                          </p:stCondLst>
                                        </p:cTn>
                                        <p:tgtEl>
                                          <p:spTgt spid="3">
                                            <p:txEl>
                                              <p:pRg st="8" end="8"/>
                                            </p:txEl>
                                          </p:spTgt>
                                        </p:tgtEl>
                                        <p:attrNameLst>
                                          <p:attrName>style.visibility</p:attrName>
                                        </p:attrNameLst>
                                      </p:cBhvr>
                                      <p:to>
                                        <p:strVal val="visible"/>
                                      </p:to>
                                    </p:set>
                                  </p:childTnLst>
                                </p:cTn>
                              </p:par>
                              <p:par>
                                <p:cTn id="74" presetID="1" presetClass="entr" presetSubtype="0" fill="hold" nodeType="withEffect">
                                  <p:stCondLst>
                                    <p:cond delay="0"/>
                                  </p:stCondLst>
                                  <p:childTnLst>
                                    <p:set>
                                      <p:cBhvr>
                                        <p:cTn id="75"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5" grpId="0" animBg="1"/>
      <p:bldP spid="26" grpId="0" animBg="1"/>
      <p:bldP spid="27" grpId="0" animBg="1"/>
      <p:bldP spid="29" grpId="0" animBg="1"/>
      <p:bldP spid="30" grpId="0" animBg="1"/>
      <p:bldP spid="31" grpId="0" animBg="1"/>
      <p:bldP spid="32" grpId="0"/>
      <p:bldP spid="33"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normAutofit/>
          </a:bodyPr>
          <a:lstStyle/>
          <a:p>
            <a:r>
              <a:rPr lang="en-US" dirty="0"/>
              <a:t>Controlling Outsider Attacks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dirty="0"/>
              <a:t>Above discussed schemes are good for preventing against small number of users who belong to a DS</a:t>
            </a:r>
          </a:p>
          <a:p>
            <a:pPr>
              <a:lnSpc>
                <a:spcPct val="100000"/>
              </a:lnSpc>
            </a:pPr>
            <a:r>
              <a:rPr lang="en-US" dirty="0" smtClean="0"/>
              <a:t>But</a:t>
            </a:r>
            <a:r>
              <a:rPr lang="en-US" dirty="0"/>
              <a:t>, what if any user on the Internet can access the resources of DS</a:t>
            </a:r>
          </a:p>
          <a:p>
            <a:pPr lvl="2"/>
            <a:r>
              <a:rPr lang="en-US" sz="2400" dirty="0"/>
              <a:t>Search engines, Sending mails, …</a:t>
            </a:r>
          </a:p>
          <a:p>
            <a:pPr>
              <a:lnSpc>
                <a:spcPct val="100000"/>
              </a:lnSpc>
            </a:pPr>
            <a:r>
              <a:rPr lang="en-US" dirty="0" smtClean="0"/>
              <a:t>Above </a:t>
            </a:r>
            <a:r>
              <a:rPr lang="en-US" dirty="0"/>
              <a:t>approaches are complicated, inefficient and time-consuming when a DS is exposed to the rest-of-the-world</a:t>
            </a:r>
          </a:p>
          <a:p>
            <a:pPr>
              <a:lnSpc>
                <a:spcPct val="100000"/>
              </a:lnSpc>
            </a:pPr>
            <a:r>
              <a:rPr lang="en-US" dirty="0" smtClean="0"/>
              <a:t>Two </a:t>
            </a:r>
            <a:r>
              <a:rPr lang="en-US" dirty="0"/>
              <a:t>coarse grained Access Control schemes</a:t>
            </a:r>
          </a:p>
          <a:p>
            <a:pPr lvl="2"/>
            <a:r>
              <a:rPr lang="en-US" sz="2400" dirty="0"/>
              <a:t>Firewall</a:t>
            </a:r>
          </a:p>
          <a:p>
            <a:pPr lvl="2"/>
            <a:r>
              <a:rPr lang="en-US" sz="2400" dirty="0"/>
              <a:t>Controlling Denial of Service (</a:t>
            </a:r>
            <a:r>
              <a:rPr lang="en-US" sz="2400" dirty="0" err="1"/>
              <a:t>DoS</a:t>
            </a:r>
            <a:r>
              <a:rPr lang="en-US" sz="2400" dirty="0"/>
              <a:t>) attacks</a:t>
            </a:r>
          </a:p>
        </p:txBody>
      </p:sp>
    </p:spTree>
    <p:extLst>
      <p:ext uri="{BB962C8B-B14F-4D97-AF65-F5344CB8AC3E}">
        <p14:creationId xmlns:p14="http://schemas.microsoft.com/office/powerpoint/2010/main" val="270477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normAutofit/>
          </a:bodyPr>
          <a:lstStyle/>
          <a:p>
            <a:r>
              <a:rPr lang="en-US" dirty="0"/>
              <a:t>Firewall</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dirty="0"/>
              <a:t>A firewall can be defined as a special type of network security device or a software program that monitors and filters incoming and outgoing network traffic based on a defined set of security </a:t>
            </a:r>
            <a:r>
              <a:rPr lang="en-US" dirty="0" smtClean="0"/>
              <a:t>rules.</a:t>
            </a:r>
          </a:p>
          <a:p>
            <a:pPr>
              <a:lnSpc>
                <a:spcPct val="100000"/>
              </a:lnSpc>
            </a:pPr>
            <a:r>
              <a:rPr lang="en-US" dirty="0" smtClean="0"/>
              <a:t>It </a:t>
            </a:r>
            <a:r>
              <a:rPr lang="en-US" dirty="0"/>
              <a:t>acts as a barrier between internal private networks and external sources (such as the public Internet</a:t>
            </a:r>
            <a:r>
              <a:rPr lang="en-US" dirty="0" smtClean="0"/>
              <a:t>).</a:t>
            </a:r>
          </a:p>
          <a:p>
            <a:pPr>
              <a:lnSpc>
                <a:spcPct val="100000"/>
              </a:lnSpc>
            </a:pPr>
            <a:r>
              <a:rPr lang="en-US" dirty="0"/>
              <a:t>The primary purpose of a firewall is to allow non-threatening traffic and prevent malicious or unwanted data traffic for protecting the computer from viruses and attacks.</a:t>
            </a:r>
            <a:endParaRPr lang="en-US" sz="2400" dirty="0"/>
          </a:p>
        </p:txBody>
      </p:sp>
      <p:pic>
        <p:nvPicPr>
          <p:cNvPr id="1026" name="Picture 2" descr="Firewall"/>
          <p:cNvPicPr>
            <a:picLocks noChangeAspect="1" noChangeArrowheads="1"/>
          </p:cNvPicPr>
          <p:nvPr/>
        </p:nvPicPr>
        <p:blipFill rotWithShape="1">
          <a:blip r:embed="rId2">
            <a:extLst>
              <a:ext uri="{28A0092B-C50C-407E-A947-70E740481C1C}">
                <a14:useLocalDpi xmlns:a14="http://schemas.microsoft.com/office/drawing/2010/main" val="0"/>
              </a:ext>
            </a:extLst>
          </a:blip>
          <a:srcRect t="9561" b="4393"/>
          <a:stretch/>
        </p:blipFill>
        <p:spPr bwMode="auto">
          <a:xfrm>
            <a:off x="1796116" y="3818964"/>
            <a:ext cx="6906746" cy="26221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5893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normAutofit/>
          </a:bodyPr>
          <a:lstStyle/>
          <a:p>
            <a:r>
              <a:rPr lang="en-US" dirty="0"/>
              <a:t>Firewall</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dirty="0"/>
              <a:t>A Firewall is a special kind reference monitor to control external access to any part of a distributed system</a:t>
            </a:r>
            <a:r>
              <a:rPr lang="en-US" dirty="0" smtClean="0"/>
              <a:t>.</a:t>
            </a:r>
          </a:p>
          <a:p>
            <a:pPr>
              <a:lnSpc>
                <a:spcPct val="100000"/>
              </a:lnSpc>
            </a:pPr>
            <a:r>
              <a:rPr lang="en-US" dirty="0" smtClean="0"/>
              <a:t>Firewall </a:t>
            </a:r>
            <a:r>
              <a:rPr lang="en-US" dirty="0"/>
              <a:t>provides access control by regulating the flow of network traffic to/from a LAN</a:t>
            </a:r>
          </a:p>
          <a:p>
            <a:pPr>
              <a:lnSpc>
                <a:spcPct val="100000"/>
              </a:lnSpc>
            </a:pPr>
            <a:r>
              <a:rPr lang="en-US" dirty="0" smtClean="0"/>
              <a:t>Firewall </a:t>
            </a:r>
            <a:r>
              <a:rPr lang="en-US" dirty="0"/>
              <a:t>disconnects any part of the DS from outside world</a:t>
            </a:r>
          </a:p>
          <a:p>
            <a:pPr lvl="2"/>
            <a:r>
              <a:rPr lang="en-US" sz="2400" dirty="0"/>
              <a:t>The internal LANs route packets through Packet Filtering Routers (PFR) and Application Gateway (AG)</a:t>
            </a:r>
          </a:p>
          <a:p>
            <a:pPr lvl="2"/>
            <a:r>
              <a:rPr lang="en-US" sz="2400" dirty="0"/>
              <a:t>Incoming/outgoing packet contents (e.g., </a:t>
            </a:r>
            <a:r>
              <a:rPr lang="en-US" sz="2400" dirty="0" err="1"/>
              <a:t>src</a:t>
            </a:r>
            <a:r>
              <a:rPr lang="en-US" sz="2400" dirty="0"/>
              <a:t>/</a:t>
            </a:r>
            <a:r>
              <a:rPr lang="en-US" sz="2400" dirty="0" err="1"/>
              <a:t>dest</a:t>
            </a:r>
            <a:r>
              <a:rPr lang="en-US" sz="2400" dirty="0"/>
              <a:t> IP) are examined by PFRs</a:t>
            </a:r>
          </a:p>
          <a:p>
            <a:pPr lvl="2"/>
            <a:r>
              <a:rPr lang="en-US" sz="2400" dirty="0"/>
              <a:t>PFRs selectively forward the incoming/outgoing packets to/from </a:t>
            </a:r>
            <a:r>
              <a:rPr lang="en-US" sz="2400" dirty="0" smtClean="0"/>
              <a:t>AG</a:t>
            </a:r>
            <a:endParaRPr lang="en-US" sz="2400" dirty="0"/>
          </a:p>
        </p:txBody>
      </p:sp>
      <p:grpSp>
        <p:nvGrpSpPr>
          <p:cNvPr id="4" name="Group 3"/>
          <p:cNvGrpSpPr/>
          <p:nvPr/>
        </p:nvGrpSpPr>
        <p:grpSpPr>
          <a:xfrm>
            <a:off x="393209" y="4280565"/>
            <a:ext cx="10273857" cy="2173444"/>
            <a:chOff x="393209" y="4280565"/>
            <a:chExt cx="10273857" cy="2173444"/>
          </a:xfrm>
        </p:grpSpPr>
        <p:sp>
          <p:nvSpPr>
            <p:cNvPr id="34" name="Rectangle 33"/>
            <p:cNvSpPr/>
            <p:nvPr/>
          </p:nvSpPr>
          <p:spPr>
            <a:xfrm>
              <a:off x="2394756" y="4280565"/>
              <a:ext cx="6318939" cy="2151529"/>
            </a:xfrm>
            <a:prstGeom prst="rect">
              <a:avLst/>
            </a:prstGeom>
            <a:solidFill>
              <a:schemeClr val="bg1">
                <a:lumMod val="95000"/>
              </a:schemeClr>
            </a:solidFill>
            <a:ln w="571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p:cNvSpPr/>
            <p:nvPr/>
          </p:nvSpPr>
          <p:spPr>
            <a:xfrm>
              <a:off x="4676458" y="5048299"/>
              <a:ext cx="1697448" cy="702688"/>
            </a:xfrm>
            <a:prstGeom prst="rect">
              <a:avLst/>
            </a:prstGeom>
            <a:ln>
              <a:no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000" b="1" dirty="0" smtClean="0"/>
                <a:t>Application Gateway</a:t>
              </a:r>
              <a:endParaRPr lang="en-US" sz="2000" b="1" dirty="0"/>
            </a:p>
          </p:txBody>
        </p:sp>
        <p:sp>
          <p:nvSpPr>
            <p:cNvPr id="36" name="Rectangle 35"/>
            <p:cNvSpPr/>
            <p:nvPr/>
          </p:nvSpPr>
          <p:spPr>
            <a:xfrm>
              <a:off x="2599395" y="5042176"/>
              <a:ext cx="1460946" cy="843949"/>
            </a:xfrm>
            <a:prstGeom prst="rect">
              <a:avLst/>
            </a:prstGeom>
            <a:solidFill>
              <a:srgbClr val="1D3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b="1" dirty="0" smtClean="0">
                  <a:solidFill>
                    <a:schemeClr val="bg1"/>
                  </a:solidFill>
                </a:rPr>
                <a:t>Packet Filtering Router</a:t>
              </a:r>
              <a:endParaRPr lang="en-US" sz="2000" b="1" dirty="0">
                <a:solidFill>
                  <a:schemeClr val="bg1"/>
                </a:solidFill>
              </a:endParaRPr>
            </a:p>
          </p:txBody>
        </p:sp>
        <p:sp>
          <p:nvSpPr>
            <p:cNvPr id="37" name="Rectangle 36"/>
            <p:cNvSpPr/>
            <p:nvPr/>
          </p:nvSpPr>
          <p:spPr>
            <a:xfrm>
              <a:off x="6911788" y="4988387"/>
              <a:ext cx="1376955" cy="843949"/>
            </a:xfrm>
            <a:prstGeom prst="rect">
              <a:avLst/>
            </a:prstGeom>
            <a:solidFill>
              <a:srgbClr val="1D3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b="1" dirty="0" smtClean="0">
                  <a:solidFill>
                    <a:schemeClr val="bg1"/>
                  </a:solidFill>
                </a:rPr>
                <a:t>Packet Filtering Router</a:t>
              </a:r>
              <a:endParaRPr lang="en-US" sz="2000" b="1" dirty="0">
                <a:solidFill>
                  <a:schemeClr val="bg1"/>
                </a:solidFill>
              </a:endParaRPr>
            </a:p>
          </p:txBody>
        </p:sp>
        <p:cxnSp>
          <p:nvCxnSpPr>
            <p:cNvPr id="38" name="Straight Connector 37"/>
            <p:cNvCxnSpPr/>
            <p:nvPr/>
          </p:nvCxnSpPr>
          <p:spPr>
            <a:xfrm>
              <a:off x="3630706" y="6099014"/>
              <a:ext cx="155985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4889721" y="5776796"/>
              <a:ext cx="0" cy="32719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7113241" y="5763349"/>
              <a:ext cx="0" cy="32719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5829038" y="6072120"/>
              <a:ext cx="148616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6131490" y="5744923"/>
              <a:ext cx="0" cy="32719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2850232" y="6084677"/>
              <a:ext cx="1826226" cy="369332"/>
            </a:xfrm>
            <a:prstGeom prst="rect">
              <a:avLst/>
            </a:prstGeom>
            <a:noFill/>
          </p:spPr>
          <p:txBody>
            <a:bodyPr wrap="square" rtlCol="0">
              <a:spAutoFit/>
            </a:bodyPr>
            <a:lstStyle/>
            <a:p>
              <a:pPr algn="ctr"/>
              <a:r>
                <a:rPr lang="en-US" b="1" dirty="0" smtClean="0"/>
                <a:t>Internal LAN</a:t>
              </a:r>
              <a:endParaRPr lang="en-US" b="1" dirty="0"/>
            </a:p>
          </p:txBody>
        </p:sp>
        <p:sp>
          <p:nvSpPr>
            <p:cNvPr id="45" name="TextBox 44"/>
            <p:cNvSpPr txBox="1"/>
            <p:nvPr/>
          </p:nvSpPr>
          <p:spPr>
            <a:xfrm>
              <a:off x="5719102" y="6071975"/>
              <a:ext cx="1795723" cy="369332"/>
            </a:xfrm>
            <a:prstGeom prst="rect">
              <a:avLst/>
            </a:prstGeom>
            <a:noFill/>
          </p:spPr>
          <p:txBody>
            <a:bodyPr wrap="square" rtlCol="0">
              <a:spAutoFit/>
            </a:bodyPr>
            <a:lstStyle/>
            <a:p>
              <a:pPr algn="ctr"/>
              <a:r>
                <a:rPr lang="en-US" b="1" dirty="0" smtClean="0"/>
                <a:t>External LAN</a:t>
              </a:r>
              <a:endParaRPr lang="en-US" b="1" dirty="0"/>
            </a:p>
          </p:txBody>
        </p:sp>
        <p:cxnSp>
          <p:nvCxnSpPr>
            <p:cNvPr id="46" name="Straight Connector 45"/>
            <p:cNvCxnSpPr/>
            <p:nvPr/>
          </p:nvCxnSpPr>
          <p:spPr>
            <a:xfrm>
              <a:off x="2040452" y="5250992"/>
              <a:ext cx="70860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2040452" y="5442277"/>
              <a:ext cx="70860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2010094" y="5631992"/>
              <a:ext cx="72684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393209" y="4956317"/>
              <a:ext cx="1635726" cy="1015663"/>
            </a:xfrm>
            <a:prstGeom prst="rect">
              <a:avLst/>
            </a:prstGeom>
            <a:noFill/>
          </p:spPr>
          <p:txBody>
            <a:bodyPr wrap="square" rtlCol="0">
              <a:spAutoFit/>
            </a:bodyPr>
            <a:lstStyle/>
            <a:p>
              <a:pPr algn="ctr"/>
              <a:r>
                <a:rPr lang="en-US" sz="2000" dirty="0" smtClean="0"/>
                <a:t>Connections to the internal network</a:t>
              </a:r>
              <a:endParaRPr lang="en-US" sz="2000" dirty="0"/>
            </a:p>
          </p:txBody>
        </p:sp>
        <p:cxnSp>
          <p:nvCxnSpPr>
            <p:cNvPr id="50" name="Straight Connector 49"/>
            <p:cNvCxnSpPr/>
            <p:nvPr/>
          </p:nvCxnSpPr>
          <p:spPr>
            <a:xfrm>
              <a:off x="8150761" y="5205278"/>
              <a:ext cx="78637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8150761" y="5396566"/>
              <a:ext cx="78637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a:off x="8141727" y="5586278"/>
              <a:ext cx="74226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9031340" y="4975386"/>
              <a:ext cx="1635726" cy="1015663"/>
            </a:xfrm>
            <a:prstGeom prst="rect">
              <a:avLst/>
            </a:prstGeom>
            <a:noFill/>
          </p:spPr>
          <p:txBody>
            <a:bodyPr wrap="square" rtlCol="0">
              <a:spAutoFit/>
            </a:bodyPr>
            <a:lstStyle/>
            <a:p>
              <a:pPr algn="ctr"/>
              <a:r>
                <a:rPr lang="en-US" sz="2000" dirty="0" smtClean="0"/>
                <a:t>Connections to the external network</a:t>
              </a:r>
              <a:endParaRPr lang="en-US" sz="2000" dirty="0"/>
            </a:p>
          </p:txBody>
        </p:sp>
        <p:cxnSp>
          <p:nvCxnSpPr>
            <p:cNvPr id="86" name="Straight Connector 85"/>
            <p:cNvCxnSpPr/>
            <p:nvPr/>
          </p:nvCxnSpPr>
          <p:spPr>
            <a:xfrm>
              <a:off x="3791702" y="5771817"/>
              <a:ext cx="0" cy="32719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42096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normAutofit/>
          </a:bodyPr>
          <a:lstStyle/>
          <a:p>
            <a:r>
              <a:rPr lang="en-US" dirty="0"/>
              <a:t>Denial of Service Attacks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dirty="0"/>
              <a:t>Denial of service (</a:t>
            </a:r>
            <a:r>
              <a:rPr lang="en-US" dirty="0" err="1"/>
              <a:t>DoS</a:t>
            </a:r>
            <a:r>
              <a:rPr lang="en-US" dirty="0"/>
              <a:t>) usually refers to an attack that attempts to make a computer resource unavailable to its intended users by flooding a network or server with requests and data. </a:t>
            </a:r>
            <a:endParaRPr lang="en-US" dirty="0" smtClean="0"/>
          </a:p>
          <a:p>
            <a:pPr>
              <a:lnSpc>
                <a:spcPct val="100000"/>
              </a:lnSpc>
            </a:pPr>
            <a:r>
              <a:rPr lang="en-US" dirty="0" smtClean="0"/>
              <a:t>It </a:t>
            </a:r>
            <a:r>
              <a:rPr lang="en-US" dirty="0"/>
              <a:t>can also simply refer to a resource, such as e-mail or a Web site, that is not functioning as usual. </a:t>
            </a:r>
            <a:endParaRPr lang="en-US" sz="2400" dirty="0"/>
          </a:p>
        </p:txBody>
      </p:sp>
      <p:pic>
        <p:nvPicPr>
          <p:cNvPr id="2050" name="Picture 2" descr="A schematic illustration of DoS and DDoS attacks | Download Scientific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6329" y="2312924"/>
            <a:ext cx="7896476" cy="42933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3378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normAutofit/>
          </a:bodyPr>
          <a:lstStyle/>
          <a:p>
            <a:r>
              <a:rPr lang="en-US" dirty="0"/>
              <a:t>Denial of Service Attacks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dirty="0"/>
              <a:t>Denial of Service (</a:t>
            </a:r>
            <a:r>
              <a:rPr lang="en-US" dirty="0" err="1"/>
              <a:t>DoS</a:t>
            </a:r>
            <a:r>
              <a:rPr lang="en-US" dirty="0"/>
              <a:t>) attacks maliciously prevents authorized processes from accessing the resources</a:t>
            </a:r>
          </a:p>
          <a:p>
            <a:pPr lvl="2"/>
            <a:r>
              <a:rPr lang="en-US" sz="2400" dirty="0"/>
              <a:t>Example: Flood a search server with TCP requests</a:t>
            </a:r>
          </a:p>
          <a:p>
            <a:pPr>
              <a:lnSpc>
                <a:spcPct val="100000"/>
              </a:lnSpc>
            </a:pPr>
            <a:r>
              <a:rPr lang="en-US" dirty="0" err="1" smtClean="0"/>
              <a:t>DoS</a:t>
            </a:r>
            <a:r>
              <a:rPr lang="en-US" dirty="0" smtClean="0"/>
              <a:t> </a:t>
            </a:r>
            <a:r>
              <a:rPr lang="en-US" dirty="0"/>
              <a:t>attacks from a single source can be easily prevented</a:t>
            </a:r>
          </a:p>
          <a:p>
            <a:pPr>
              <a:lnSpc>
                <a:spcPct val="100000"/>
              </a:lnSpc>
            </a:pPr>
            <a:r>
              <a:rPr lang="en-US" dirty="0" smtClean="0"/>
              <a:t>Triggering </a:t>
            </a:r>
            <a:r>
              <a:rPr lang="en-US" dirty="0" err="1"/>
              <a:t>DoS</a:t>
            </a:r>
            <a:r>
              <a:rPr lang="en-US" dirty="0"/>
              <a:t> attacks from multiple sources (Distributed </a:t>
            </a:r>
            <a:r>
              <a:rPr lang="en-US" dirty="0" err="1"/>
              <a:t>DoS</a:t>
            </a:r>
            <a:r>
              <a:rPr lang="en-US" dirty="0"/>
              <a:t> or DDoS) is hard to detect</a:t>
            </a:r>
          </a:p>
          <a:p>
            <a:pPr lvl="2"/>
            <a:r>
              <a:rPr lang="en-US" sz="2400" dirty="0"/>
              <a:t>Attackers hijack a large group of machines</a:t>
            </a:r>
          </a:p>
          <a:p>
            <a:pPr lvl="2"/>
            <a:r>
              <a:rPr lang="en-US" sz="2400" dirty="0"/>
              <a:t>DDoS is hard to </a:t>
            </a:r>
            <a:r>
              <a:rPr lang="en-US" sz="2400" dirty="0" smtClean="0"/>
              <a:t>detect</a:t>
            </a:r>
          </a:p>
          <a:p>
            <a:pPr marL="265113" lvl="2" indent="-265113">
              <a:lnSpc>
                <a:spcPct val="100000"/>
              </a:lnSpc>
              <a:spcBef>
                <a:spcPts val="1000"/>
              </a:spcBef>
              <a:buFont typeface="Webdings" panose="05030102010509060703" pitchFamily="18" charset="2"/>
              <a:buChar char=""/>
            </a:pPr>
            <a:r>
              <a:rPr lang="en-US" sz="2400" dirty="0"/>
              <a:t>Two Types of </a:t>
            </a:r>
            <a:r>
              <a:rPr lang="en-US" sz="2400" dirty="0" err="1"/>
              <a:t>DoS</a:t>
            </a:r>
            <a:r>
              <a:rPr lang="en-US" sz="2400" dirty="0"/>
              <a:t> Attacks</a:t>
            </a:r>
          </a:p>
        </p:txBody>
      </p:sp>
    </p:spTree>
    <p:extLst>
      <p:ext uri="{BB962C8B-B14F-4D97-AF65-F5344CB8AC3E}">
        <p14:creationId xmlns:p14="http://schemas.microsoft.com/office/powerpoint/2010/main" val="2674781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normAutofit/>
          </a:bodyPr>
          <a:lstStyle/>
          <a:p>
            <a:r>
              <a:rPr lang="en-US" dirty="0"/>
              <a:t>Denial of Service Attacks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marL="457200" indent="-457200">
              <a:lnSpc>
                <a:spcPct val="100000"/>
              </a:lnSpc>
              <a:buFont typeface="+mj-lt"/>
              <a:buAutoNum type="arabicPeriod"/>
            </a:pPr>
            <a:r>
              <a:rPr lang="en-US" dirty="0">
                <a:solidFill>
                  <a:schemeClr val="accent6"/>
                </a:solidFill>
              </a:rPr>
              <a:t>Bandwidth </a:t>
            </a:r>
            <a:r>
              <a:rPr lang="en-US" dirty="0" smtClean="0">
                <a:solidFill>
                  <a:schemeClr val="accent6"/>
                </a:solidFill>
              </a:rPr>
              <a:t>Depletion</a:t>
            </a:r>
            <a:r>
              <a:rPr lang="en-US" dirty="0" smtClean="0"/>
              <a:t>: </a:t>
            </a:r>
            <a:r>
              <a:rPr lang="en-US" sz="2400" dirty="0" smtClean="0"/>
              <a:t>Send </a:t>
            </a:r>
            <a:r>
              <a:rPr lang="en-US" sz="2400" dirty="0"/>
              <a:t>many messages to a server</a:t>
            </a:r>
          </a:p>
          <a:p>
            <a:pPr lvl="2"/>
            <a:r>
              <a:rPr lang="en-US" sz="2400" dirty="0"/>
              <a:t>Normal messages cannot reach the server</a:t>
            </a:r>
          </a:p>
          <a:p>
            <a:pPr marL="457200" indent="-457200">
              <a:lnSpc>
                <a:spcPct val="100000"/>
              </a:lnSpc>
              <a:buFont typeface="+mj-lt"/>
              <a:buAutoNum type="arabicPeriod"/>
            </a:pPr>
            <a:r>
              <a:rPr lang="en-US" dirty="0">
                <a:solidFill>
                  <a:schemeClr val="accent6"/>
                </a:solidFill>
              </a:rPr>
              <a:t>Resource </a:t>
            </a:r>
            <a:r>
              <a:rPr lang="en-US" dirty="0" smtClean="0">
                <a:solidFill>
                  <a:schemeClr val="accent6"/>
                </a:solidFill>
              </a:rPr>
              <a:t>Depletion : </a:t>
            </a:r>
            <a:r>
              <a:rPr lang="en-US" sz="2400" dirty="0" smtClean="0"/>
              <a:t>Trick </a:t>
            </a:r>
            <a:r>
              <a:rPr lang="en-US" sz="2400" dirty="0"/>
              <a:t>the server to allocate large amount of resources</a:t>
            </a:r>
          </a:p>
          <a:p>
            <a:pPr lvl="2"/>
            <a:r>
              <a:rPr lang="en-US" sz="2400" dirty="0"/>
              <a:t>Example: TCP SYN flooding</a:t>
            </a:r>
          </a:p>
          <a:p>
            <a:pPr lvl="2"/>
            <a:r>
              <a:rPr lang="en-US" sz="2400" dirty="0"/>
              <a:t>Initiate a lot of TCP connections on server (by sending </a:t>
            </a:r>
            <a:r>
              <a:rPr lang="en-US" sz="2400" dirty="0" smtClean="0"/>
              <a:t>TCP </a:t>
            </a:r>
            <a:r>
              <a:rPr lang="en-US" sz="2400" dirty="0"/>
              <a:t>SYN packets)</a:t>
            </a:r>
          </a:p>
          <a:p>
            <a:pPr lvl="2"/>
            <a:r>
              <a:rPr lang="en-US" sz="2400" dirty="0"/>
              <a:t>Do not close the connections</a:t>
            </a:r>
          </a:p>
          <a:p>
            <a:pPr lvl="2"/>
            <a:r>
              <a:rPr lang="en-US" sz="2400" dirty="0"/>
              <a:t>Each connection request blocks some memory for some time</a:t>
            </a:r>
          </a:p>
        </p:txBody>
      </p:sp>
    </p:spTree>
    <p:extLst>
      <p:ext uri="{BB962C8B-B14F-4D97-AF65-F5344CB8AC3E}">
        <p14:creationId xmlns:p14="http://schemas.microsoft.com/office/powerpoint/2010/main" val="2963476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normAutofit/>
          </a:bodyPr>
          <a:lstStyle/>
          <a:p>
            <a:r>
              <a:rPr lang="en-US" dirty="0"/>
              <a:t>Preventing </a:t>
            </a:r>
            <a:r>
              <a:rPr lang="en-US" dirty="0" err="1"/>
              <a:t>DoS</a:t>
            </a:r>
            <a:r>
              <a:rPr lang="en-US" dirty="0"/>
              <a:t> Attacks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marL="457200" indent="-457200">
              <a:lnSpc>
                <a:spcPct val="100000"/>
              </a:lnSpc>
              <a:buFont typeface="+mj-lt"/>
              <a:buAutoNum type="arabicPeriod"/>
            </a:pPr>
            <a:r>
              <a:rPr lang="en-US" dirty="0">
                <a:solidFill>
                  <a:schemeClr val="accent6"/>
                </a:solidFill>
              </a:rPr>
              <a:t>Monitor at ingress routers:</a:t>
            </a:r>
          </a:p>
          <a:p>
            <a:pPr lvl="2"/>
            <a:r>
              <a:rPr lang="en-US" sz="2400" dirty="0"/>
              <a:t>Monitor incoming traffic for large flow towards a destination</a:t>
            </a:r>
          </a:p>
          <a:p>
            <a:pPr lvl="2"/>
            <a:r>
              <a:rPr lang="en-US" sz="2400" dirty="0"/>
              <a:t>Drawback: Too late to detect since regular traffic is already blocked</a:t>
            </a:r>
          </a:p>
          <a:p>
            <a:pPr marL="457200" indent="-457200">
              <a:lnSpc>
                <a:spcPct val="100000"/>
              </a:lnSpc>
              <a:buFont typeface="+mj-lt"/>
              <a:buAutoNum type="arabicPeriod"/>
            </a:pPr>
            <a:r>
              <a:rPr lang="en-US" dirty="0">
                <a:solidFill>
                  <a:schemeClr val="accent6"/>
                </a:solidFill>
              </a:rPr>
              <a:t>Monitor at egress routers:</a:t>
            </a:r>
          </a:p>
          <a:p>
            <a:pPr lvl="2"/>
            <a:r>
              <a:rPr lang="en-US" sz="2400" dirty="0"/>
              <a:t>Monitor traffic when packets leave organization’s network</a:t>
            </a:r>
          </a:p>
          <a:p>
            <a:pPr lvl="2"/>
            <a:r>
              <a:rPr lang="en-US" sz="2400" dirty="0"/>
              <a:t>e.g., Drop packets whose source IP does not belong to the org’s network</a:t>
            </a:r>
          </a:p>
          <a:p>
            <a:pPr marL="457200" indent="-457200">
              <a:lnSpc>
                <a:spcPct val="100000"/>
              </a:lnSpc>
              <a:buFont typeface="+mj-lt"/>
              <a:buAutoNum type="arabicPeriod"/>
            </a:pPr>
            <a:r>
              <a:rPr lang="en-US" dirty="0">
                <a:solidFill>
                  <a:schemeClr val="accent6"/>
                </a:solidFill>
              </a:rPr>
              <a:t>Monitor at core internet routers:</a:t>
            </a:r>
          </a:p>
          <a:p>
            <a:pPr lvl="2"/>
            <a:r>
              <a:rPr lang="en-US" sz="2400" dirty="0"/>
              <a:t>Monitor at routers at the core of the Internet Service Providers (ISPs)</a:t>
            </a:r>
          </a:p>
          <a:p>
            <a:pPr lvl="2"/>
            <a:r>
              <a:rPr lang="en-US" sz="2400" dirty="0"/>
              <a:t>e.g., Drop packets when rate of traffic to a specific node is disproportionately larger than the rate of traffic from that node</a:t>
            </a:r>
          </a:p>
        </p:txBody>
      </p:sp>
    </p:spTree>
    <p:extLst>
      <p:ext uri="{BB962C8B-B14F-4D97-AF65-F5344CB8AC3E}">
        <p14:creationId xmlns:p14="http://schemas.microsoft.com/office/powerpoint/2010/main" val="2411422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normAutofit/>
          </a:bodyPr>
          <a:lstStyle/>
          <a:p>
            <a:r>
              <a:rPr lang="en-US" dirty="0"/>
              <a:t>Key Distribution </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sz="2400" dirty="0" smtClean="0"/>
              <a:t>Two types</a:t>
            </a:r>
          </a:p>
          <a:p>
            <a:pPr marL="1371600" lvl="2" indent="-457200">
              <a:buFont typeface="+mj-lt"/>
              <a:buAutoNum type="arabicPeriod"/>
            </a:pPr>
            <a:r>
              <a:rPr lang="en-US" sz="2400" dirty="0"/>
              <a:t>Secret-key distribution</a:t>
            </a:r>
          </a:p>
          <a:p>
            <a:pPr marL="1371600" lvl="2" indent="-457200">
              <a:buFont typeface="+mj-lt"/>
              <a:buAutoNum type="arabicPeriod"/>
            </a:pPr>
            <a:r>
              <a:rPr lang="en-US" sz="2400" dirty="0"/>
              <a:t>Public-key distribution </a:t>
            </a:r>
          </a:p>
        </p:txBody>
      </p:sp>
    </p:spTree>
    <p:extLst>
      <p:ext uri="{BB962C8B-B14F-4D97-AF65-F5344CB8AC3E}">
        <p14:creationId xmlns:p14="http://schemas.microsoft.com/office/powerpoint/2010/main" val="2620816919"/>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normAutofit/>
          </a:bodyPr>
          <a:lstStyle/>
          <a:p>
            <a:r>
              <a:rPr lang="en-US" dirty="0"/>
              <a:t>Securing Mobile Code</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dirty="0" smtClean="0"/>
              <a:t>Two </a:t>
            </a:r>
            <a:r>
              <a:rPr lang="en-US" dirty="0"/>
              <a:t>main issues:</a:t>
            </a:r>
          </a:p>
          <a:p>
            <a:pPr lvl="2"/>
            <a:r>
              <a:rPr lang="en-US" sz="2400" dirty="0"/>
              <a:t>Securing against malicious agents that attempt to damage a mobile agent environment.</a:t>
            </a:r>
          </a:p>
          <a:p>
            <a:pPr lvl="2"/>
            <a:r>
              <a:rPr lang="en-US" sz="2400" dirty="0"/>
              <a:t>Securing a mobile agent from a malicious environment that attempts to interfere with the working of the mobile agent</a:t>
            </a:r>
            <a:r>
              <a:rPr lang="en-US" sz="2400" dirty="0" smtClean="0"/>
              <a:t>.</a:t>
            </a:r>
          </a:p>
          <a:p>
            <a:pPr marL="265113" lvl="2" indent="-265113">
              <a:lnSpc>
                <a:spcPct val="100000"/>
              </a:lnSpc>
              <a:spcBef>
                <a:spcPts val="1000"/>
              </a:spcBef>
              <a:buFont typeface="Webdings" panose="05030102010509060703" pitchFamily="18" charset="2"/>
              <a:buChar char=""/>
            </a:pPr>
            <a:r>
              <a:rPr lang="en-US" sz="2400" dirty="0"/>
              <a:t>It has proved impossible to protect an agent against all types of attack.</a:t>
            </a:r>
          </a:p>
          <a:p>
            <a:pPr marL="265113" lvl="2" indent="-265113">
              <a:lnSpc>
                <a:spcPct val="100000"/>
              </a:lnSpc>
              <a:spcBef>
                <a:spcPts val="1000"/>
              </a:spcBef>
              <a:buFont typeface="Webdings" panose="05030102010509060703" pitchFamily="18" charset="2"/>
              <a:buChar char=""/>
            </a:pPr>
            <a:r>
              <a:rPr lang="en-US" sz="2400" dirty="0"/>
              <a:t>The emphasis is on being able to detect modifications (or tampering) to an agent.</a:t>
            </a:r>
          </a:p>
          <a:p>
            <a:pPr marL="265113" lvl="2" indent="-265113">
              <a:lnSpc>
                <a:spcPct val="100000"/>
              </a:lnSpc>
              <a:spcBef>
                <a:spcPts val="1000"/>
              </a:spcBef>
              <a:buFont typeface="Webdings" panose="05030102010509060703" pitchFamily="18" charset="2"/>
              <a:buChar char=""/>
            </a:pPr>
            <a:r>
              <a:rPr lang="en-US" sz="2400" dirty="0"/>
              <a:t>The Ajanta System uses public-key technologies to implement this idea:</a:t>
            </a:r>
          </a:p>
          <a:p>
            <a:pPr lvl="2"/>
            <a:r>
              <a:rPr lang="en-US" sz="2400" dirty="0"/>
              <a:t>Read-only state.</a:t>
            </a:r>
          </a:p>
          <a:p>
            <a:pPr lvl="2"/>
            <a:r>
              <a:rPr lang="en-US" sz="2400" dirty="0"/>
              <a:t>Append-only logs.</a:t>
            </a:r>
          </a:p>
          <a:p>
            <a:pPr lvl="2"/>
            <a:r>
              <a:rPr lang="en-US" sz="2400" dirty="0"/>
              <a:t>Selective Revealing</a:t>
            </a:r>
          </a:p>
        </p:txBody>
      </p:sp>
    </p:spTree>
    <p:extLst>
      <p:ext uri="{BB962C8B-B14F-4D97-AF65-F5344CB8AC3E}">
        <p14:creationId xmlns:p14="http://schemas.microsoft.com/office/powerpoint/2010/main" val="595047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normAutofit/>
          </a:bodyPr>
          <a:lstStyle/>
          <a:p>
            <a:r>
              <a:rPr lang="en-US" dirty="0"/>
              <a:t>Security Management</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a:xfrm>
            <a:off x="131180" y="863444"/>
            <a:ext cx="11944279" cy="5590565"/>
          </a:xfrm>
        </p:spPr>
        <p:txBody>
          <a:bodyPr/>
          <a:lstStyle/>
          <a:p>
            <a:pPr>
              <a:lnSpc>
                <a:spcPct val="100000"/>
              </a:lnSpc>
            </a:pPr>
            <a:r>
              <a:rPr lang="en-US" dirty="0"/>
              <a:t>Security is implemented using symmetric and asymmetric keys.</a:t>
            </a:r>
          </a:p>
          <a:p>
            <a:pPr>
              <a:lnSpc>
                <a:spcPct val="100000"/>
              </a:lnSpc>
            </a:pPr>
            <a:r>
              <a:rPr lang="en-US" dirty="0"/>
              <a:t>There are three main issues:</a:t>
            </a:r>
          </a:p>
          <a:p>
            <a:pPr marL="1371600" lvl="2" indent="-457200">
              <a:buFont typeface="+mj-lt"/>
              <a:buAutoNum type="arabicPeriod"/>
            </a:pPr>
            <a:r>
              <a:rPr lang="en-US" sz="2400" dirty="0"/>
              <a:t>How to manage cryptographic keys.</a:t>
            </a:r>
          </a:p>
          <a:p>
            <a:pPr marL="1371600" lvl="2" indent="-457200">
              <a:buFont typeface="+mj-lt"/>
              <a:buAutoNum type="arabicPeriod"/>
            </a:pPr>
            <a:r>
              <a:rPr lang="en-US" sz="2400" dirty="0"/>
              <a:t>How to manage securely a group of servers such that a malicious process is not added to the group.</a:t>
            </a:r>
          </a:p>
          <a:p>
            <a:pPr marL="1371600" lvl="2" indent="-457200">
              <a:buFont typeface="+mj-lt"/>
              <a:buAutoNum type="arabicPeriod"/>
            </a:pPr>
            <a:r>
              <a:rPr lang="en-US" sz="2400" dirty="0"/>
              <a:t>Authorization management by capabilities and attribute certificates.</a:t>
            </a:r>
          </a:p>
        </p:txBody>
      </p:sp>
    </p:spTree>
    <p:extLst>
      <p:ext uri="{BB962C8B-B14F-4D97-AF65-F5344CB8AC3E}">
        <p14:creationId xmlns:p14="http://schemas.microsoft.com/office/powerpoint/2010/main" val="2268147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normAutofit/>
          </a:bodyPr>
          <a:lstStyle/>
          <a:p>
            <a:r>
              <a:rPr lang="en-US" dirty="0"/>
              <a:t>Key Management</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a:xfrm>
            <a:off x="131180" y="863444"/>
            <a:ext cx="11944279" cy="5590565"/>
          </a:xfrm>
        </p:spPr>
        <p:txBody>
          <a:bodyPr/>
          <a:lstStyle/>
          <a:p>
            <a:pPr>
              <a:lnSpc>
                <a:spcPct val="100000"/>
              </a:lnSpc>
            </a:pPr>
            <a:r>
              <a:rPr lang="en-US" dirty="0" smtClean="0"/>
              <a:t>Examples </a:t>
            </a:r>
            <a:r>
              <a:rPr lang="en-US" dirty="0"/>
              <a:t>of key-generation that we studied:</a:t>
            </a:r>
          </a:p>
          <a:p>
            <a:pPr lvl="2"/>
            <a:r>
              <a:rPr lang="en-US" sz="2400" dirty="0"/>
              <a:t>Session </a:t>
            </a:r>
            <a:r>
              <a:rPr lang="en-US" sz="2400" dirty="0" smtClean="0"/>
              <a:t>key : Generated </a:t>
            </a:r>
            <a:r>
              <a:rPr lang="en-US" sz="2400" dirty="0"/>
              <a:t>and distributed by public-private key pair</a:t>
            </a:r>
          </a:p>
          <a:p>
            <a:pPr lvl="2"/>
            <a:r>
              <a:rPr lang="en-US" sz="2400" dirty="0"/>
              <a:t>Public-Private </a:t>
            </a:r>
            <a:r>
              <a:rPr lang="en-US" sz="2400" dirty="0" smtClean="0"/>
              <a:t>Key : Generated </a:t>
            </a:r>
            <a:r>
              <a:rPr lang="en-US" sz="2400" dirty="0"/>
              <a:t>by algorithms. How is it securely distributed?</a:t>
            </a:r>
          </a:p>
          <a:p>
            <a:pPr>
              <a:lnSpc>
                <a:spcPct val="100000"/>
              </a:lnSpc>
            </a:pPr>
            <a:r>
              <a:rPr lang="en-US" dirty="0" smtClean="0"/>
              <a:t>How </a:t>
            </a:r>
            <a:r>
              <a:rPr lang="en-US" dirty="0"/>
              <a:t>to boot-strap secure key generation and distribution in a DS?</a:t>
            </a:r>
          </a:p>
          <a:p>
            <a:pPr>
              <a:lnSpc>
                <a:spcPct val="100000"/>
              </a:lnSpc>
            </a:pPr>
            <a:r>
              <a:rPr lang="en-US" dirty="0" smtClean="0"/>
              <a:t>There </a:t>
            </a:r>
            <a:r>
              <a:rPr lang="en-US" dirty="0"/>
              <a:t>are two main approaches in key management:</a:t>
            </a:r>
          </a:p>
          <a:p>
            <a:pPr lvl="2"/>
            <a:r>
              <a:rPr lang="en-US" sz="2400" dirty="0" err="1"/>
              <a:t>Diffie</a:t>
            </a:r>
            <a:r>
              <a:rPr lang="en-US" sz="2400" dirty="0"/>
              <a:t>-Hellman Algorithm (For key generation over insecure channels)</a:t>
            </a:r>
          </a:p>
          <a:p>
            <a:pPr lvl="2"/>
            <a:r>
              <a:rPr lang="en-US" sz="2400" dirty="0"/>
              <a:t>Key distribution</a:t>
            </a:r>
          </a:p>
        </p:txBody>
      </p:sp>
    </p:spTree>
    <p:extLst>
      <p:ext uri="{BB962C8B-B14F-4D97-AF65-F5344CB8AC3E}">
        <p14:creationId xmlns:p14="http://schemas.microsoft.com/office/powerpoint/2010/main" val="166133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normAutofit/>
          </a:bodyPr>
          <a:lstStyle/>
          <a:p>
            <a:r>
              <a:rPr lang="en-US" dirty="0" err="1" smtClean="0"/>
              <a:t>Diffie</a:t>
            </a:r>
            <a:r>
              <a:rPr lang="en-US" dirty="0" smtClean="0"/>
              <a:t>-Hellman </a:t>
            </a:r>
            <a:r>
              <a:rPr lang="en-US" dirty="0"/>
              <a:t>Algorithm for Key Establishment</a:t>
            </a:r>
          </a:p>
        </p:txBody>
      </p:sp>
      <p:sp>
        <p:nvSpPr>
          <p:cNvPr id="11" name="Line 3"/>
          <p:cNvSpPr>
            <a:spLocks noChangeShapeType="1"/>
          </p:cNvSpPr>
          <p:nvPr/>
        </p:nvSpPr>
        <p:spPr bwMode="auto">
          <a:xfrm>
            <a:off x="6787777" y="2064314"/>
            <a:ext cx="0" cy="379374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latin typeface="+mj-lt"/>
            </a:endParaRPr>
          </a:p>
        </p:txBody>
      </p:sp>
      <p:sp>
        <p:nvSpPr>
          <p:cNvPr id="12" name="Line 4"/>
          <p:cNvSpPr>
            <a:spLocks noChangeShapeType="1"/>
          </p:cNvSpPr>
          <p:nvPr/>
        </p:nvSpPr>
        <p:spPr bwMode="auto">
          <a:xfrm flipH="1">
            <a:off x="3628652" y="2053203"/>
            <a:ext cx="3176" cy="38048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latin typeface="+mj-lt"/>
            </a:endParaRPr>
          </a:p>
        </p:txBody>
      </p:sp>
      <p:grpSp>
        <p:nvGrpSpPr>
          <p:cNvPr id="13" name="Group 5"/>
          <p:cNvGrpSpPr>
            <a:grpSpLocks/>
          </p:cNvGrpSpPr>
          <p:nvPr/>
        </p:nvGrpSpPr>
        <p:grpSpPr bwMode="auto">
          <a:xfrm>
            <a:off x="6329004" y="1007601"/>
            <a:ext cx="865189" cy="977902"/>
            <a:chOff x="4205" y="1320"/>
            <a:chExt cx="545" cy="616"/>
          </a:xfrm>
        </p:grpSpPr>
        <p:graphicFrame>
          <p:nvGraphicFramePr>
            <p:cNvPr id="14" name="Object 6"/>
            <p:cNvGraphicFramePr>
              <a:graphicFrameLocks noChangeAspect="1"/>
            </p:cNvGraphicFramePr>
            <p:nvPr>
              <p:extLst>
                <p:ext uri="{D42A27DB-BD31-4B8C-83A1-F6EECF244321}">
                  <p14:modId xmlns:p14="http://schemas.microsoft.com/office/powerpoint/2010/main" val="2061497723"/>
                </p:ext>
              </p:extLst>
            </p:nvPr>
          </p:nvGraphicFramePr>
          <p:xfrm>
            <a:off x="4205" y="1599"/>
            <a:ext cx="545" cy="337"/>
          </p:xfrm>
          <a:graphic>
            <a:graphicData uri="http://schemas.openxmlformats.org/presentationml/2006/ole">
              <mc:AlternateContent xmlns:mc="http://schemas.openxmlformats.org/markup-compatibility/2006">
                <mc:Choice xmlns:v="urn:schemas-microsoft-com:vml" Requires="v">
                  <p:oleObj spid="_x0000_s1112" name="Clip" r:id="rId3" imgW="2070720" imgH="1279800" progId="MS_ClipArt_Gallery.2">
                    <p:embed/>
                  </p:oleObj>
                </mc:Choice>
                <mc:Fallback>
                  <p:oleObj name="Clip" r:id="rId3" imgW="2070720" imgH="1279800" progId="MS_ClipArt_Gallery.2">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05" y="1599"/>
                          <a:ext cx="545" cy="337"/>
                        </a:xfrm>
                        <a:prstGeom prst="rect">
                          <a:avLst/>
                        </a:prstGeom>
                        <a:noFill/>
                        <a:ln>
                          <a:noFill/>
                        </a:ln>
                        <a:effectLst/>
                      </p:spPr>
                    </p:pic>
                  </p:oleObj>
                </mc:Fallback>
              </mc:AlternateContent>
            </a:graphicData>
          </a:graphic>
        </p:graphicFrame>
        <p:sp>
          <p:nvSpPr>
            <p:cNvPr id="15" name="Text Box 7"/>
            <p:cNvSpPr txBox="1">
              <a:spLocks noChangeArrowheads="1"/>
            </p:cNvSpPr>
            <p:nvPr/>
          </p:nvSpPr>
          <p:spPr bwMode="auto">
            <a:xfrm>
              <a:off x="4311" y="1320"/>
              <a:ext cx="41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2400" b="1" dirty="0">
                  <a:latin typeface="+mj-lt"/>
                </a:rPr>
                <a:t>Bob</a:t>
              </a:r>
            </a:p>
          </p:txBody>
        </p:sp>
      </p:grpSp>
      <p:grpSp>
        <p:nvGrpSpPr>
          <p:cNvPr id="16" name="Group 8"/>
          <p:cNvGrpSpPr>
            <a:grpSpLocks/>
          </p:cNvGrpSpPr>
          <p:nvPr/>
        </p:nvGrpSpPr>
        <p:grpSpPr bwMode="auto">
          <a:xfrm>
            <a:off x="3274644" y="1023476"/>
            <a:ext cx="811214" cy="1069977"/>
            <a:chOff x="1567" y="1360"/>
            <a:chExt cx="511" cy="674"/>
          </a:xfrm>
        </p:grpSpPr>
        <p:graphicFrame>
          <p:nvGraphicFramePr>
            <p:cNvPr id="17" name="Object 9"/>
            <p:cNvGraphicFramePr>
              <a:graphicFrameLocks noChangeAspect="1"/>
            </p:cNvGraphicFramePr>
            <p:nvPr/>
          </p:nvGraphicFramePr>
          <p:xfrm>
            <a:off x="1567" y="1645"/>
            <a:ext cx="444" cy="389"/>
          </p:xfrm>
          <a:graphic>
            <a:graphicData uri="http://schemas.openxmlformats.org/presentationml/2006/ole">
              <mc:AlternateContent xmlns:mc="http://schemas.openxmlformats.org/markup-compatibility/2006">
                <mc:Choice xmlns:v="urn:schemas-microsoft-com:vml" Requires="v">
                  <p:oleObj spid="_x0000_s1113" name="Clip" r:id="rId5" imgW="2166840" imgH="1899720" progId="MS_ClipArt_Gallery.2">
                    <p:embed/>
                  </p:oleObj>
                </mc:Choice>
                <mc:Fallback>
                  <p:oleObj name="Clip" r:id="rId5" imgW="2166840" imgH="1899720"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67" y="1645"/>
                          <a:ext cx="444" cy="389"/>
                        </a:xfrm>
                        <a:prstGeom prst="rect">
                          <a:avLst/>
                        </a:prstGeom>
                        <a:noFill/>
                        <a:ln>
                          <a:noFill/>
                        </a:ln>
                        <a:effectLst/>
                      </p:spPr>
                    </p:pic>
                  </p:oleObj>
                </mc:Fallback>
              </mc:AlternateContent>
            </a:graphicData>
          </a:graphic>
        </p:graphicFrame>
        <p:sp>
          <p:nvSpPr>
            <p:cNvPr id="18" name="Text Box 10"/>
            <p:cNvSpPr txBox="1">
              <a:spLocks noChangeArrowheads="1"/>
            </p:cNvSpPr>
            <p:nvPr/>
          </p:nvSpPr>
          <p:spPr bwMode="auto">
            <a:xfrm>
              <a:off x="1567" y="1360"/>
              <a:ext cx="51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2400" b="1" dirty="0">
                  <a:latin typeface="+mj-lt"/>
                </a:rPr>
                <a:t>Alice</a:t>
              </a:r>
            </a:p>
          </p:txBody>
        </p:sp>
      </p:grpSp>
      <p:sp>
        <p:nvSpPr>
          <p:cNvPr id="20" name="Rectangle 12"/>
          <p:cNvSpPr>
            <a:spLocks noChangeArrowheads="1"/>
          </p:cNvSpPr>
          <p:nvPr/>
        </p:nvSpPr>
        <p:spPr bwMode="auto">
          <a:xfrm>
            <a:off x="2205318" y="2579034"/>
            <a:ext cx="2519738" cy="73184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ltLang="en-US" sz="2400" dirty="0"/>
              <a:t>select random </a:t>
            </a:r>
            <a:r>
              <a:rPr lang="en-US" altLang="en-US" sz="2400" dirty="0" smtClean="0"/>
              <a:t>a</a:t>
            </a:r>
            <a:endParaRPr lang="en-US" altLang="en-US" sz="2400" dirty="0"/>
          </a:p>
          <a:p>
            <a:pPr eaLnBrk="0" hangingPunct="0"/>
            <a:r>
              <a:rPr lang="en-US" altLang="en-US" sz="2400" dirty="0"/>
              <a:t>compute </a:t>
            </a:r>
            <a:r>
              <a:rPr lang="en-US" altLang="en-US" sz="2400" dirty="0" err="1" smtClean="0"/>
              <a:t>g</a:t>
            </a:r>
            <a:r>
              <a:rPr lang="en-US" altLang="en-US" sz="2400" baseline="30000" dirty="0" err="1"/>
              <a:t>a</a:t>
            </a:r>
            <a:r>
              <a:rPr lang="en-US" altLang="en-US" sz="2400" dirty="0" smtClean="0"/>
              <a:t> </a:t>
            </a:r>
            <a:r>
              <a:rPr lang="en-US" altLang="en-US" sz="2400" dirty="0"/>
              <a:t>mod p</a:t>
            </a:r>
          </a:p>
        </p:txBody>
      </p:sp>
      <p:sp>
        <p:nvSpPr>
          <p:cNvPr id="23" name="Rectangle 15"/>
          <p:cNvSpPr>
            <a:spLocks noChangeArrowheads="1"/>
          </p:cNvSpPr>
          <p:nvPr/>
        </p:nvSpPr>
        <p:spPr bwMode="auto">
          <a:xfrm>
            <a:off x="5916707" y="4087637"/>
            <a:ext cx="2891117" cy="78263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ltLang="en-US" sz="2400" dirty="0"/>
              <a:t>select random </a:t>
            </a:r>
            <a:r>
              <a:rPr lang="en-US" altLang="en-US" sz="2400" dirty="0" smtClean="0"/>
              <a:t>b</a:t>
            </a:r>
            <a:endParaRPr lang="en-US" altLang="en-US" sz="2400" dirty="0"/>
          </a:p>
          <a:p>
            <a:pPr eaLnBrk="0" hangingPunct="0"/>
            <a:r>
              <a:rPr lang="en-US" altLang="en-US" sz="2400" dirty="0"/>
              <a:t>compute </a:t>
            </a:r>
            <a:r>
              <a:rPr lang="en-US" altLang="en-US" sz="2400" dirty="0" err="1" smtClean="0"/>
              <a:t>g</a:t>
            </a:r>
            <a:r>
              <a:rPr lang="en-US" altLang="en-US" sz="2400" baseline="30000" dirty="0" err="1"/>
              <a:t>b</a:t>
            </a:r>
            <a:r>
              <a:rPr lang="en-US" altLang="en-US" sz="2400" dirty="0" smtClean="0"/>
              <a:t> </a:t>
            </a:r>
            <a:r>
              <a:rPr lang="en-US" altLang="en-US" sz="2400" dirty="0"/>
              <a:t>mod p</a:t>
            </a:r>
          </a:p>
        </p:txBody>
      </p:sp>
      <p:grpSp>
        <p:nvGrpSpPr>
          <p:cNvPr id="25" name="Group 17"/>
          <p:cNvGrpSpPr>
            <a:grpSpLocks/>
          </p:cNvGrpSpPr>
          <p:nvPr/>
        </p:nvGrpSpPr>
        <p:grpSpPr bwMode="auto">
          <a:xfrm>
            <a:off x="3628652" y="3384090"/>
            <a:ext cx="3152775" cy="403226"/>
            <a:chOff x="1945" y="2363"/>
            <a:chExt cx="1986" cy="254"/>
          </a:xfrm>
        </p:grpSpPr>
        <p:sp>
          <p:nvSpPr>
            <p:cNvPr id="26" name="Line 18"/>
            <p:cNvSpPr>
              <a:spLocks noChangeShapeType="1"/>
            </p:cNvSpPr>
            <p:nvPr/>
          </p:nvSpPr>
          <p:spPr bwMode="auto">
            <a:xfrm>
              <a:off x="1945" y="2617"/>
              <a:ext cx="198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000">
                <a:latin typeface="+mj-lt"/>
              </a:endParaRPr>
            </a:p>
          </p:txBody>
        </p:sp>
        <p:sp>
          <p:nvSpPr>
            <p:cNvPr id="27" name="Text Box 19"/>
            <p:cNvSpPr txBox="1">
              <a:spLocks noChangeArrowheads="1"/>
            </p:cNvSpPr>
            <p:nvPr/>
          </p:nvSpPr>
          <p:spPr bwMode="auto">
            <a:xfrm>
              <a:off x="2649" y="2363"/>
              <a:ext cx="68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2000" dirty="0" err="1" smtClean="0">
                  <a:latin typeface="+mj-lt"/>
                </a:rPr>
                <a:t>g</a:t>
              </a:r>
              <a:r>
                <a:rPr lang="en-US" altLang="en-US" sz="2000" baseline="30000" dirty="0" err="1">
                  <a:latin typeface="+mj-lt"/>
                </a:rPr>
                <a:t>a</a:t>
              </a:r>
              <a:r>
                <a:rPr lang="en-US" altLang="en-US" sz="2000" dirty="0" smtClean="0">
                  <a:latin typeface="+mj-lt"/>
                </a:rPr>
                <a:t> </a:t>
              </a:r>
              <a:r>
                <a:rPr lang="en-US" altLang="en-US" sz="2000" dirty="0">
                  <a:latin typeface="+mj-lt"/>
                </a:rPr>
                <a:t>mod p</a:t>
              </a:r>
            </a:p>
          </p:txBody>
        </p:sp>
      </p:grpSp>
      <p:grpSp>
        <p:nvGrpSpPr>
          <p:cNvPr id="28" name="Group 20"/>
          <p:cNvGrpSpPr>
            <a:grpSpLocks/>
          </p:cNvGrpSpPr>
          <p:nvPr/>
        </p:nvGrpSpPr>
        <p:grpSpPr bwMode="auto">
          <a:xfrm>
            <a:off x="3628652" y="4860184"/>
            <a:ext cx="3152775" cy="400051"/>
            <a:chOff x="2090" y="2780"/>
            <a:chExt cx="1986" cy="252"/>
          </a:xfrm>
        </p:grpSpPr>
        <p:sp>
          <p:nvSpPr>
            <p:cNvPr id="29" name="Line 21"/>
            <p:cNvSpPr>
              <a:spLocks noChangeShapeType="1"/>
            </p:cNvSpPr>
            <p:nvPr/>
          </p:nvSpPr>
          <p:spPr bwMode="auto">
            <a:xfrm flipH="1">
              <a:off x="2090" y="3032"/>
              <a:ext cx="198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800">
                <a:latin typeface="+mj-lt"/>
              </a:endParaRPr>
            </a:p>
          </p:txBody>
        </p:sp>
        <p:sp>
          <p:nvSpPr>
            <p:cNvPr id="30" name="Text Box 22"/>
            <p:cNvSpPr txBox="1">
              <a:spLocks noChangeArrowheads="1"/>
            </p:cNvSpPr>
            <p:nvPr/>
          </p:nvSpPr>
          <p:spPr bwMode="auto">
            <a:xfrm>
              <a:off x="2810" y="2780"/>
              <a:ext cx="68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2000" dirty="0" err="1" smtClean="0">
                  <a:latin typeface="+mj-lt"/>
                </a:rPr>
                <a:t>g</a:t>
              </a:r>
              <a:r>
                <a:rPr lang="en-US" altLang="en-US" sz="2000" baseline="30000" dirty="0" err="1">
                  <a:latin typeface="+mj-lt"/>
                </a:rPr>
                <a:t>b</a:t>
              </a:r>
              <a:r>
                <a:rPr lang="en-US" altLang="en-US" sz="2000" dirty="0" smtClean="0">
                  <a:latin typeface="+mj-lt"/>
                </a:rPr>
                <a:t> </a:t>
              </a:r>
              <a:r>
                <a:rPr lang="en-US" altLang="en-US" sz="2000" dirty="0">
                  <a:latin typeface="+mj-lt"/>
                </a:rPr>
                <a:t>mod p</a:t>
              </a:r>
            </a:p>
          </p:txBody>
        </p:sp>
      </p:grpSp>
      <p:sp>
        <p:nvSpPr>
          <p:cNvPr id="32" name="Rectangle 24"/>
          <p:cNvSpPr>
            <a:spLocks noChangeArrowheads="1"/>
          </p:cNvSpPr>
          <p:nvPr/>
        </p:nvSpPr>
        <p:spPr bwMode="auto">
          <a:xfrm>
            <a:off x="1707776" y="5696692"/>
            <a:ext cx="3094041" cy="44291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ltLang="en-US" sz="2400" dirty="0"/>
              <a:t>compute k = (</a:t>
            </a:r>
            <a:r>
              <a:rPr lang="en-US" altLang="en-US" sz="2400" dirty="0" err="1" smtClean="0"/>
              <a:t>g</a:t>
            </a:r>
            <a:r>
              <a:rPr lang="en-US" altLang="en-US" sz="2400" baseline="30000" dirty="0" err="1" smtClean="0"/>
              <a:t>b</a:t>
            </a:r>
            <a:r>
              <a:rPr lang="en-US" altLang="en-US" sz="2400" dirty="0" smtClean="0"/>
              <a:t>)</a:t>
            </a:r>
            <a:r>
              <a:rPr lang="en-US" altLang="en-US" sz="2400" baseline="30000" dirty="0"/>
              <a:t>a</a:t>
            </a:r>
            <a:r>
              <a:rPr lang="en-US" altLang="en-US" sz="2400" dirty="0" smtClean="0"/>
              <a:t> </a:t>
            </a:r>
            <a:r>
              <a:rPr lang="en-US" altLang="en-US" sz="2400" dirty="0"/>
              <a:t>mod p</a:t>
            </a:r>
          </a:p>
        </p:txBody>
      </p:sp>
      <p:sp>
        <p:nvSpPr>
          <p:cNvPr id="35" name="Rectangle 27"/>
          <p:cNvSpPr>
            <a:spLocks noChangeArrowheads="1"/>
          </p:cNvSpPr>
          <p:nvPr/>
        </p:nvSpPr>
        <p:spPr bwMode="auto">
          <a:xfrm>
            <a:off x="5600328" y="5696691"/>
            <a:ext cx="3207496" cy="44291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ltLang="en-US" sz="2400" dirty="0"/>
              <a:t>compute k = (</a:t>
            </a:r>
            <a:r>
              <a:rPr lang="en-US" altLang="en-US" sz="2400" dirty="0" err="1" smtClean="0"/>
              <a:t>g</a:t>
            </a:r>
            <a:r>
              <a:rPr lang="en-US" altLang="en-US" sz="2400" baseline="30000" dirty="0" err="1" smtClean="0"/>
              <a:t>a</a:t>
            </a:r>
            <a:r>
              <a:rPr lang="en-US" altLang="en-US" sz="2400" dirty="0" smtClean="0"/>
              <a:t>)</a:t>
            </a:r>
            <a:r>
              <a:rPr lang="en-US" altLang="en-US" sz="2400" baseline="30000" dirty="0"/>
              <a:t>b</a:t>
            </a:r>
            <a:r>
              <a:rPr lang="en-US" altLang="en-US" sz="2400" dirty="0" smtClean="0"/>
              <a:t> </a:t>
            </a:r>
            <a:r>
              <a:rPr lang="en-US" altLang="en-US" sz="2400" dirty="0"/>
              <a:t>mod p</a:t>
            </a:r>
          </a:p>
        </p:txBody>
      </p:sp>
    </p:spTree>
    <p:extLst>
      <p:ext uri="{BB962C8B-B14F-4D97-AF65-F5344CB8AC3E}">
        <p14:creationId xmlns:p14="http://schemas.microsoft.com/office/powerpoint/2010/main" val="1144923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up)">
                                      <p:cBhvr>
                                        <p:cTn id="13" dur="500"/>
                                        <p:tgtEl>
                                          <p:spTgt spid="12"/>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up)">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wipe(left)">
                                      <p:cBhvr>
                                        <p:cTn id="25" dur="500"/>
                                        <p:tgtEl>
                                          <p:spTgt spid="25"/>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23"/>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2" presetClass="entr" presetSubtype="2" fill="hold" nodeType="click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wipe(right)">
                                      <p:cBhvr>
                                        <p:cTn id="34" dur="500"/>
                                        <p:tgtEl>
                                          <p:spTgt spid="28"/>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20" grpId="0" animBg="1"/>
      <p:bldP spid="23" grpId="0" animBg="1"/>
      <p:bldP spid="32" grpId="0" animBg="1"/>
      <p:bldP spid="35"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normAutofit/>
          </a:bodyPr>
          <a:lstStyle/>
          <a:p>
            <a:r>
              <a:rPr lang="en-US" dirty="0" err="1" smtClean="0"/>
              <a:t>Diffie</a:t>
            </a:r>
            <a:r>
              <a:rPr lang="en-US" dirty="0" smtClean="0"/>
              <a:t>-Hellman </a:t>
            </a:r>
            <a:r>
              <a:rPr lang="en-US" dirty="0"/>
              <a:t>Algorithm for Key Establishment</a:t>
            </a:r>
          </a:p>
        </p:txBody>
      </p:sp>
      <p:sp>
        <p:nvSpPr>
          <p:cNvPr id="4" name="Content Placeholder 3"/>
          <p:cNvSpPr>
            <a:spLocks noGrp="1"/>
          </p:cNvSpPr>
          <p:nvPr>
            <p:ph idx="1"/>
          </p:nvPr>
        </p:nvSpPr>
        <p:spPr/>
        <p:txBody>
          <a:bodyPr/>
          <a:lstStyle/>
          <a:p>
            <a:pPr lvl="0">
              <a:lnSpc>
                <a:spcPct val="100000"/>
              </a:lnSpc>
            </a:pPr>
            <a:r>
              <a:rPr lang="en-US" dirty="0"/>
              <a:t>Suppose Alice and Bob want to agree on a shared symmetric </a:t>
            </a:r>
            <a:r>
              <a:rPr lang="en-US" dirty="0" smtClean="0"/>
              <a:t>key.</a:t>
            </a:r>
          </a:p>
          <a:p>
            <a:pPr lvl="0">
              <a:lnSpc>
                <a:spcPct val="100000"/>
              </a:lnSpc>
            </a:pPr>
            <a:r>
              <a:rPr lang="en-US" dirty="0" smtClean="0"/>
              <a:t>Alice </a:t>
            </a:r>
            <a:r>
              <a:rPr lang="en-US" dirty="0"/>
              <a:t>and Bob, and everyone else, already know the values of </a:t>
            </a:r>
            <a:r>
              <a:rPr lang="en-US" dirty="0">
                <a:solidFill>
                  <a:schemeClr val="accent6"/>
                </a:solidFill>
              </a:rPr>
              <a:t>p and g</a:t>
            </a:r>
            <a:r>
              <a:rPr lang="en-US" dirty="0"/>
              <a:t>.</a:t>
            </a:r>
          </a:p>
          <a:p>
            <a:pPr marL="265113" lvl="2" indent="-265113">
              <a:lnSpc>
                <a:spcPct val="100000"/>
              </a:lnSpc>
              <a:spcBef>
                <a:spcPts val="1000"/>
              </a:spcBef>
              <a:buFont typeface="Webdings" panose="05030102010509060703" pitchFamily="18" charset="2"/>
              <a:buChar char=""/>
              <a:defRPr/>
            </a:pPr>
            <a:r>
              <a:rPr lang="en-US" sz="2400" dirty="0"/>
              <a:t>Alice generates a random </a:t>
            </a:r>
            <a:r>
              <a:rPr lang="en-US" sz="2400" dirty="0">
                <a:solidFill>
                  <a:schemeClr val="accent6"/>
                </a:solidFill>
              </a:rPr>
              <a:t>private value a </a:t>
            </a:r>
            <a:r>
              <a:rPr lang="en-US" sz="2400" dirty="0"/>
              <a:t>and Bob generates a random </a:t>
            </a:r>
            <a:r>
              <a:rPr lang="en-US" sz="2400" dirty="0">
                <a:solidFill>
                  <a:schemeClr val="accent6"/>
                </a:solidFill>
              </a:rPr>
              <a:t>private value b</a:t>
            </a:r>
            <a:r>
              <a:rPr lang="en-US" sz="2400" dirty="0"/>
              <a:t>. </a:t>
            </a:r>
          </a:p>
          <a:p>
            <a:pPr marL="265113" lvl="2" indent="-265113">
              <a:lnSpc>
                <a:spcPct val="100000"/>
              </a:lnSpc>
              <a:spcBef>
                <a:spcPts val="1000"/>
              </a:spcBef>
              <a:buFont typeface="Webdings" panose="05030102010509060703" pitchFamily="18" charset="2"/>
              <a:buChar char=""/>
              <a:defRPr/>
            </a:pPr>
            <a:r>
              <a:rPr lang="en-US" sz="2400" dirty="0"/>
              <a:t>Both a and b are drawn from the set of integers {1, ..., p−1}. </a:t>
            </a:r>
          </a:p>
          <a:p>
            <a:pPr marL="265113" lvl="2" indent="-265113">
              <a:lnSpc>
                <a:spcPct val="100000"/>
              </a:lnSpc>
              <a:spcBef>
                <a:spcPts val="1000"/>
              </a:spcBef>
              <a:buFont typeface="Webdings" panose="05030102010509060703" pitchFamily="18" charset="2"/>
              <a:buChar char=""/>
              <a:defRPr/>
            </a:pPr>
            <a:r>
              <a:rPr lang="en-US" sz="2400" dirty="0"/>
              <a:t>Alice and Bob derive their corresponding public values—the values they will send to each other unencrypted—as follows. </a:t>
            </a:r>
          </a:p>
          <a:p>
            <a:pPr marL="265113" lvl="2" indent="-265113">
              <a:lnSpc>
                <a:spcPct val="100000"/>
              </a:lnSpc>
              <a:spcBef>
                <a:spcPts val="1000"/>
              </a:spcBef>
              <a:buFont typeface="Webdings" panose="05030102010509060703" pitchFamily="18" charset="2"/>
              <a:buChar char=""/>
              <a:defRPr/>
            </a:pPr>
            <a:r>
              <a:rPr lang="en-US" sz="2400" dirty="0"/>
              <a:t>Alice’s public value is </a:t>
            </a:r>
            <a:r>
              <a:rPr lang="en-US" sz="2400" dirty="0" err="1">
                <a:solidFill>
                  <a:schemeClr val="accent6"/>
                </a:solidFill>
              </a:rPr>
              <a:t>g</a:t>
            </a:r>
            <a:r>
              <a:rPr lang="en-US" sz="2400" baseline="30000" dirty="0" err="1">
                <a:solidFill>
                  <a:schemeClr val="accent6"/>
                </a:solidFill>
              </a:rPr>
              <a:t>a</a:t>
            </a:r>
            <a:r>
              <a:rPr lang="en-US" sz="2400" dirty="0">
                <a:solidFill>
                  <a:schemeClr val="accent6"/>
                </a:solidFill>
              </a:rPr>
              <a:t> mod </a:t>
            </a:r>
            <a:r>
              <a:rPr lang="en-US" sz="2400" dirty="0" smtClean="0">
                <a:solidFill>
                  <a:schemeClr val="accent6"/>
                </a:solidFill>
              </a:rPr>
              <a:t>p </a:t>
            </a:r>
            <a:r>
              <a:rPr lang="en-US" sz="2400" dirty="0" smtClean="0"/>
              <a:t>and </a:t>
            </a:r>
            <a:r>
              <a:rPr lang="en-US" sz="2400" dirty="0"/>
              <a:t>Bob’s public value </a:t>
            </a:r>
            <a:r>
              <a:rPr lang="en-US" sz="2400" dirty="0" smtClean="0"/>
              <a:t>is </a:t>
            </a:r>
            <a:r>
              <a:rPr lang="en-US" sz="2400" dirty="0" err="1" smtClean="0">
                <a:solidFill>
                  <a:schemeClr val="accent6"/>
                </a:solidFill>
              </a:rPr>
              <a:t>g</a:t>
            </a:r>
            <a:r>
              <a:rPr lang="en-US" sz="2400" baseline="30000" dirty="0" err="1" smtClean="0">
                <a:solidFill>
                  <a:schemeClr val="accent6"/>
                </a:solidFill>
              </a:rPr>
              <a:t>b</a:t>
            </a:r>
            <a:r>
              <a:rPr lang="en-US" sz="2400" dirty="0" smtClean="0">
                <a:solidFill>
                  <a:schemeClr val="accent6"/>
                </a:solidFill>
              </a:rPr>
              <a:t> mod p</a:t>
            </a:r>
            <a:endParaRPr lang="en-US" sz="2400" dirty="0">
              <a:solidFill>
                <a:schemeClr val="accent6"/>
              </a:solidFill>
            </a:endParaRPr>
          </a:p>
          <a:p>
            <a:pPr marL="265113" lvl="2" indent="-265113">
              <a:lnSpc>
                <a:spcPct val="100000"/>
              </a:lnSpc>
              <a:spcBef>
                <a:spcPts val="1000"/>
              </a:spcBef>
              <a:buFont typeface="Webdings" panose="05030102010509060703" pitchFamily="18" charset="2"/>
              <a:buChar char=""/>
              <a:defRPr/>
            </a:pPr>
            <a:r>
              <a:rPr lang="en-US" sz="2400" dirty="0"/>
              <a:t>They then exchange their public </a:t>
            </a:r>
            <a:r>
              <a:rPr lang="en-US" sz="2400" dirty="0" smtClean="0"/>
              <a:t>values.</a:t>
            </a:r>
          </a:p>
          <a:p>
            <a:pPr marL="265113" lvl="2" indent="-265113">
              <a:lnSpc>
                <a:spcPct val="100000"/>
              </a:lnSpc>
              <a:spcBef>
                <a:spcPts val="1000"/>
              </a:spcBef>
              <a:buFont typeface="Webdings" panose="05030102010509060703" pitchFamily="18" charset="2"/>
              <a:buChar char=""/>
              <a:defRPr/>
            </a:pPr>
            <a:r>
              <a:rPr lang="en-US" sz="2400" dirty="0" smtClean="0"/>
              <a:t>Finally</a:t>
            </a:r>
            <a:r>
              <a:rPr lang="en-US" sz="2400" dirty="0"/>
              <a:t>, Alice </a:t>
            </a:r>
            <a:r>
              <a:rPr lang="en-US" sz="2400" dirty="0" smtClean="0"/>
              <a:t>computes </a:t>
            </a:r>
            <a:r>
              <a:rPr lang="da-DK" sz="2400" dirty="0" smtClean="0">
                <a:solidFill>
                  <a:schemeClr val="accent6"/>
                </a:solidFill>
              </a:rPr>
              <a:t>g</a:t>
            </a:r>
            <a:r>
              <a:rPr lang="da-DK" sz="2400" baseline="30000" dirty="0" smtClean="0">
                <a:solidFill>
                  <a:schemeClr val="accent6"/>
                </a:solidFill>
              </a:rPr>
              <a:t>ab</a:t>
            </a:r>
            <a:r>
              <a:rPr lang="da-DK" sz="2400" dirty="0" smtClean="0">
                <a:solidFill>
                  <a:schemeClr val="accent6"/>
                </a:solidFill>
              </a:rPr>
              <a:t> </a:t>
            </a:r>
            <a:r>
              <a:rPr lang="da-DK" sz="2400" dirty="0">
                <a:solidFill>
                  <a:schemeClr val="accent6"/>
                </a:solidFill>
              </a:rPr>
              <a:t>mod p = (g</a:t>
            </a:r>
            <a:r>
              <a:rPr lang="da-DK" sz="2400" baseline="30000" dirty="0">
                <a:solidFill>
                  <a:schemeClr val="accent6"/>
                </a:solidFill>
              </a:rPr>
              <a:t>b</a:t>
            </a:r>
            <a:r>
              <a:rPr lang="da-DK" sz="2400" dirty="0">
                <a:solidFill>
                  <a:schemeClr val="accent6"/>
                </a:solidFill>
              </a:rPr>
              <a:t> mod p)</a:t>
            </a:r>
            <a:r>
              <a:rPr lang="da-DK" sz="2400" baseline="30000" dirty="0">
                <a:solidFill>
                  <a:schemeClr val="accent6"/>
                </a:solidFill>
              </a:rPr>
              <a:t>a</a:t>
            </a:r>
            <a:r>
              <a:rPr lang="da-DK" sz="2400" dirty="0">
                <a:solidFill>
                  <a:schemeClr val="accent6"/>
                </a:solidFill>
              </a:rPr>
              <a:t> mod p</a:t>
            </a:r>
          </a:p>
          <a:p>
            <a:pPr marL="265113" lvl="2" indent="-265113">
              <a:lnSpc>
                <a:spcPct val="100000"/>
              </a:lnSpc>
              <a:spcBef>
                <a:spcPts val="1000"/>
              </a:spcBef>
              <a:buFont typeface="Webdings" panose="05030102010509060703" pitchFamily="18" charset="2"/>
              <a:buChar char=""/>
              <a:defRPr/>
            </a:pPr>
            <a:r>
              <a:rPr lang="en-US" sz="2400" dirty="0" smtClean="0"/>
              <a:t>Bob computes </a:t>
            </a:r>
            <a:r>
              <a:rPr lang="da-DK" sz="2400" dirty="0" smtClean="0"/>
              <a:t>g</a:t>
            </a:r>
            <a:r>
              <a:rPr lang="da-DK" sz="2400" baseline="30000" dirty="0" smtClean="0"/>
              <a:t>ba</a:t>
            </a:r>
            <a:r>
              <a:rPr lang="da-DK" sz="2400" dirty="0" smtClean="0"/>
              <a:t> </a:t>
            </a:r>
            <a:r>
              <a:rPr lang="da-DK" sz="2400" dirty="0"/>
              <a:t>mod </a:t>
            </a:r>
            <a:r>
              <a:rPr lang="da-DK" sz="2400" dirty="0">
                <a:solidFill>
                  <a:schemeClr val="accent6"/>
                </a:solidFill>
              </a:rPr>
              <a:t>p = (g</a:t>
            </a:r>
            <a:r>
              <a:rPr lang="da-DK" sz="2400" baseline="30000" dirty="0">
                <a:solidFill>
                  <a:schemeClr val="accent6"/>
                </a:solidFill>
              </a:rPr>
              <a:t>a</a:t>
            </a:r>
            <a:r>
              <a:rPr lang="da-DK" sz="2400" dirty="0">
                <a:solidFill>
                  <a:schemeClr val="accent6"/>
                </a:solidFill>
              </a:rPr>
              <a:t> mod p)</a:t>
            </a:r>
            <a:r>
              <a:rPr lang="da-DK" sz="2400" baseline="30000" dirty="0">
                <a:solidFill>
                  <a:schemeClr val="accent6"/>
                </a:solidFill>
              </a:rPr>
              <a:t>b</a:t>
            </a:r>
            <a:r>
              <a:rPr lang="da-DK" sz="2400" dirty="0">
                <a:solidFill>
                  <a:schemeClr val="accent6"/>
                </a:solidFill>
              </a:rPr>
              <a:t> mod p</a:t>
            </a:r>
            <a:r>
              <a:rPr lang="da-DK" sz="2400" dirty="0"/>
              <a:t>.</a:t>
            </a:r>
            <a:endParaRPr lang="en-US" sz="2400" dirty="0"/>
          </a:p>
        </p:txBody>
      </p:sp>
    </p:spTree>
    <p:extLst>
      <p:ext uri="{BB962C8B-B14F-4D97-AF65-F5344CB8AC3E}">
        <p14:creationId xmlns:p14="http://schemas.microsoft.com/office/powerpoint/2010/main" val="2078048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normAutofit/>
          </a:bodyPr>
          <a:lstStyle/>
          <a:p>
            <a:r>
              <a:rPr lang="en-US" dirty="0" err="1" smtClean="0"/>
              <a:t>Diffie</a:t>
            </a:r>
            <a:r>
              <a:rPr lang="en-US" dirty="0" smtClean="0"/>
              <a:t>-Hellman Algorithm- An example</a:t>
            </a:r>
            <a:endParaRPr lang="en-US" dirty="0"/>
          </a:p>
        </p:txBody>
      </p:sp>
      <p:sp>
        <p:nvSpPr>
          <p:cNvPr id="4" name="Content Placeholder 3"/>
          <p:cNvSpPr>
            <a:spLocks noGrp="1"/>
          </p:cNvSpPr>
          <p:nvPr>
            <p:ph idx="1"/>
          </p:nvPr>
        </p:nvSpPr>
        <p:spPr/>
        <p:txBody>
          <a:bodyPr/>
          <a:lstStyle/>
          <a:p>
            <a:pPr lvl="0">
              <a:lnSpc>
                <a:spcPct val="100000"/>
              </a:lnSpc>
            </a:pPr>
            <a:r>
              <a:rPr lang="en-US" b="1" dirty="0">
                <a:solidFill>
                  <a:srgbClr val="1D3064"/>
                </a:solidFill>
              </a:rPr>
              <a:t>Step 1 –Publicly shared </a:t>
            </a:r>
            <a:r>
              <a:rPr lang="en-US" b="1" dirty="0" smtClean="0">
                <a:solidFill>
                  <a:srgbClr val="1D3064"/>
                </a:solidFill>
              </a:rPr>
              <a:t>information</a:t>
            </a:r>
          </a:p>
          <a:p>
            <a:pPr lvl="2"/>
            <a:r>
              <a:rPr lang="en-US" sz="2400" dirty="0"/>
              <a:t>Alice &amp; Bob publicly agree to a number called the generator, or g, which has a primitive root relationship with p.</a:t>
            </a:r>
          </a:p>
          <a:p>
            <a:pPr lvl="2"/>
            <a:r>
              <a:rPr lang="en-US" sz="2400" dirty="0"/>
              <a:t>In our example we’ll assume</a:t>
            </a:r>
          </a:p>
          <a:p>
            <a:pPr lvl="2"/>
            <a:r>
              <a:rPr lang="en-US" sz="2400" dirty="0"/>
              <a:t>p = 17 </a:t>
            </a:r>
          </a:p>
          <a:p>
            <a:pPr lvl="2"/>
            <a:r>
              <a:rPr lang="en-US" sz="2400" dirty="0"/>
              <a:t>g = 3</a:t>
            </a:r>
          </a:p>
          <a:p>
            <a:pPr lvl="0">
              <a:lnSpc>
                <a:spcPct val="100000"/>
              </a:lnSpc>
            </a:pPr>
            <a:r>
              <a:rPr lang="en-US" b="1" dirty="0">
                <a:solidFill>
                  <a:srgbClr val="1D3064"/>
                </a:solidFill>
              </a:rPr>
              <a:t>Step 2 – Select a secret </a:t>
            </a:r>
            <a:r>
              <a:rPr lang="en-US" b="1" dirty="0" smtClean="0">
                <a:solidFill>
                  <a:srgbClr val="1D3064"/>
                </a:solidFill>
              </a:rPr>
              <a:t>key</a:t>
            </a:r>
          </a:p>
          <a:p>
            <a:pPr lvl="2"/>
            <a:r>
              <a:rPr lang="en-US" sz="2400" dirty="0"/>
              <a:t>Alice selects a secret key, which we will call a.</a:t>
            </a:r>
          </a:p>
          <a:p>
            <a:pPr lvl="2"/>
            <a:r>
              <a:rPr lang="en-US" sz="2400" dirty="0"/>
              <a:t>Bob selects a secret key, which we </a:t>
            </a:r>
            <a:r>
              <a:rPr lang="en-US" sz="2400" dirty="0" smtClean="0"/>
              <a:t>will call </a:t>
            </a:r>
            <a:r>
              <a:rPr lang="en-US" sz="2400" dirty="0"/>
              <a:t>b.</a:t>
            </a:r>
          </a:p>
          <a:p>
            <a:pPr lvl="2"/>
            <a:r>
              <a:rPr lang="en-US" sz="2400" dirty="0"/>
              <a:t>For our example assume</a:t>
            </a:r>
            <a:r>
              <a:rPr lang="en-US" sz="2400" dirty="0" smtClean="0"/>
              <a:t>: </a:t>
            </a:r>
            <a:r>
              <a:rPr lang="en-US" sz="2400" dirty="0" smtClean="0">
                <a:solidFill>
                  <a:schemeClr val="accent6"/>
                </a:solidFill>
              </a:rPr>
              <a:t>a </a:t>
            </a:r>
            <a:r>
              <a:rPr lang="en-US" sz="2400" dirty="0">
                <a:solidFill>
                  <a:schemeClr val="accent6"/>
                </a:solidFill>
              </a:rPr>
              <a:t>= </a:t>
            </a:r>
            <a:r>
              <a:rPr lang="en-US" sz="2400" dirty="0" smtClean="0">
                <a:solidFill>
                  <a:schemeClr val="accent6"/>
                </a:solidFill>
              </a:rPr>
              <a:t>54 and b = 24</a:t>
            </a:r>
            <a:endParaRPr lang="en-US" sz="2400" dirty="0">
              <a:solidFill>
                <a:schemeClr val="accent6"/>
              </a:solidFill>
            </a:endParaRPr>
          </a:p>
        </p:txBody>
      </p:sp>
    </p:spTree>
    <p:extLst>
      <p:ext uri="{BB962C8B-B14F-4D97-AF65-F5344CB8AC3E}">
        <p14:creationId xmlns:p14="http://schemas.microsoft.com/office/powerpoint/2010/main" val="3812886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normAutofit/>
          </a:bodyPr>
          <a:lstStyle/>
          <a:p>
            <a:r>
              <a:rPr lang="en-US" dirty="0" err="1"/>
              <a:t>Diffie</a:t>
            </a:r>
            <a:r>
              <a:rPr lang="en-US" dirty="0"/>
              <a:t>-Hellman Algorithm- An example</a:t>
            </a:r>
          </a:p>
        </p:txBody>
      </p:sp>
      <p:sp>
        <p:nvSpPr>
          <p:cNvPr id="4" name="Content Placeholder 3"/>
          <p:cNvSpPr>
            <a:spLocks noGrp="1"/>
          </p:cNvSpPr>
          <p:nvPr>
            <p:ph idx="1"/>
          </p:nvPr>
        </p:nvSpPr>
        <p:spPr/>
        <p:txBody>
          <a:bodyPr/>
          <a:lstStyle/>
          <a:p>
            <a:pPr lvl="0">
              <a:lnSpc>
                <a:spcPct val="100000"/>
              </a:lnSpc>
            </a:pPr>
            <a:r>
              <a:rPr lang="en-US" b="1" dirty="0">
                <a:solidFill>
                  <a:srgbClr val="1D3064"/>
                </a:solidFill>
              </a:rPr>
              <a:t>Step 3 – Combine secret keys with public </a:t>
            </a:r>
            <a:r>
              <a:rPr lang="en-US" b="1" dirty="0" smtClean="0">
                <a:solidFill>
                  <a:srgbClr val="1D3064"/>
                </a:solidFill>
              </a:rPr>
              <a:t>information</a:t>
            </a:r>
          </a:p>
          <a:p>
            <a:pPr lvl="2"/>
            <a:r>
              <a:rPr lang="en-US" sz="2400" dirty="0"/>
              <a:t>Alice combines her secret key of a with the public information to compute A.</a:t>
            </a:r>
          </a:p>
          <a:p>
            <a:pPr marL="1433513" lvl="2" indent="-273050">
              <a:buFont typeface="Arial" panose="020B0604020202020204" pitchFamily="34" charset="0"/>
              <a:buChar char="•"/>
            </a:pPr>
            <a:r>
              <a:rPr lang="en-US" sz="2400" dirty="0"/>
              <a:t>A = </a:t>
            </a:r>
            <a:r>
              <a:rPr lang="en-US" sz="2400" dirty="0" err="1"/>
              <a:t>g</a:t>
            </a:r>
            <a:r>
              <a:rPr lang="en-US" sz="2400" baseline="30000" dirty="0" err="1"/>
              <a:t>a</a:t>
            </a:r>
            <a:r>
              <a:rPr lang="en-US" sz="2400" dirty="0"/>
              <a:t> mod p</a:t>
            </a:r>
          </a:p>
          <a:p>
            <a:pPr marL="1433513" lvl="2" indent="-273050">
              <a:buFont typeface="Arial" panose="020B0604020202020204" pitchFamily="34" charset="0"/>
              <a:buChar char="•"/>
            </a:pPr>
            <a:r>
              <a:rPr lang="en-US" sz="2400" dirty="0"/>
              <a:t>A = 354 mod 17</a:t>
            </a:r>
          </a:p>
          <a:p>
            <a:pPr marL="1433513" lvl="2" indent="-273050">
              <a:buFont typeface="Arial" panose="020B0604020202020204" pitchFamily="34" charset="0"/>
              <a:buChar char="•"/>
            </a:pPr>
            <a:r>
              <a:rPr lang="en-US" sz="2400" dirty="0"/>
              <a:t>A = 15</a:t>
            </a:r>
          </a:p>
          <a:p>
            <a:pPr lvl="2"/>
            <a:r>
              <a:rPr lang="en-US" sz="2400" dirty="0"/>
              <a:t>Bob combines his secret key of b with the public information to compute B.</a:t>
            </a:r>
          </a:p>
          <a:p>
            <a:pPr marL="1433513" lvl="2" indent="-273050">
              <a:buFont typeface="Arial" panose="020B0604020202020204" pitchFamily="34" charset="0"/>
              <a:buChar char="•"/>
            </a:pPr>
            <a:r>
              <a:rPr lang="en-US" sz="2400" dirty="0"/>
              <a:t>B = </a:t>
            </a:r>
            <a:r>
              <a:rPr lang="en-US" sz="2400" dirty="0" err="1"/>
              <a:t>g</a:t>
            </a:r>
            <a:r>
              <a:rPr lang="en-US" sz="2400" baseline="30000" dirty="0" err="1"/>
              <a:t>b</a:t>
            </a:r>
            <a:r>
              <a:rPr lang="en-US" sz="2400" dirty="0"/>
              <a:t> mod p</a:t>
            </a:r>
          </a:p>
          <a:p>
            <a:pPr marL="1433513" lvl="2" indent="-273050">
              <a:buFont typeface="Arial" panose="020B0604020202020204" pitchFamily="34" charset="0"/>
              <a:buChar char="•"/>
            </a:pPr>
            <a:r>
              <a:rPr lang="en-US" sz="2400" dirty="0"/>
              <a:t>B = 354 mod 17</a:t>
            </a:r>
          </a:p>
          <a:p>
            <a:pPr marL="1433513" lvl="2" indent="-273050">
              <a:buFont typeface="Arial" panose="020B0604020202020204" pitchFamily="34" charset="0"/>
              <a:buChar char="•"/>
            </a:pPr>
            <a:r>
              <a:rPr lang="en-US" sz="2400" dirty="0"/>
              <a:t>B = </a:t>
            </a:r>
            <a:r>
              <a:rPr lang="en-US" sz="2400" dirty="0" smtClean="0"/>
              <a:t>16</a:t>
            </a:r>
          </a:p>
          <a:p>
            <a:pPr lvl="0">
              <a:lnSpc>
                <a:spcPct val="100000"/>
              </a:lnSpc>
            </a:pPr>
            <a:r>
              <a:rPr lang="en-US" b="1" dirty="0">
                <a:solidFill>
                  <a:srgbClr val="1D3064"/>
                </a:solidFill>
              </a:rPr>
              <a:t>Step 4 – Share combined values</a:t>
            </a:r>
          </a:p>
          <a:p>
            <a:pPr lvl="2"/>
            <a:r>
              <a:rPr lang="en-US" sz="2400" dirty="0"/>
              <a:t>Alice shares her combined value, A, with Bob. Bob shares his combined value, B, with Alice.</a:t>
            </a:r>
          </a:p>
          <a:p>
            <a:pPr lvl="2"/>
            <a:r>
              <a:rPr lang="en-US" sz="2400" dirty="0"/>
              <a:t>Sent to Bob =&gt; </a:t>
            </a:r>
            <a:r>
              <a:rPr lang="en-US" sz="2400" dirty="0">
                <a:solidFill>
                  <a:schemeClr val="accent6"/>
                </a:solidFill>
              </a:rPr>
              <a:t>A = 15</a:t>
            </a:r>
          </a:p>
          <a:p>
            <a:pPr lvl="2"/>
            <a:r>
              <a:rPr lang="en-US" sz="2400" dirty="0"/>
              <a:t>Sent to Alice =&gt; </a:t>
            </a:r>
            <a:r>
              <a:rPr lang="en-US" sz="2400" dirty="0">
                <a:solidFill>
                  <a:schemeClr val="accent6"/>
                </a:solidFill>
              </a:rPr>
              <a:t>B = </a:t>
            </a:r>
            <a:r>
              <a:rPr lang="en-US" sz="2400" dirty="0" smtClean="0">
                <a:solidFill>
                  <a:schemeClr val="accent6"/>
                </a:solidFill>
              </a:rPr>
              <a:t>16</a:t>
            </a:r>
            <a:endParaRPr lang="en-US" sz="2400" dirty="0">
              <a:solidFill>
                <a:schemeClr val="accent6"/>
              </a:solidFill>
            </a:endParaRPr>
          </a:p>
          <a:p>
            <a:pPr lvl="0">
              <a:lnSpc>
                <a:spcPct val="100000"/>
              </a:lnSpc>
            </a:pPr>
            <a:endParaRPr lang="en-US" dirty="0"/>
          </a:p>
        </p:txBody>
      </p:sp>
    </p:spTree>
    <p:extLst>
      <p:ext uri="{BB962C8B-B14F-4D97-AF65-F5344CB8AC3E}">
        <p14:creationId xmlns:p14="http://schemas.microsoft.com/office/powerpoint/2010/main" val="2978441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11" end="11"/>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normAutofit/>
          </a:bodyPr>
          <a:lstStyle/>
          <a:p>
            <a:r>
              <a:rPr lang="en-US" dirty="0" err="1"/>
              <a:t>Diffie</a:t>
            </a:r>
            <a:r>
              <a:rPr lang="en-US" dirty="0"/>
              <a:t>-Hellman Algorithm- An example</a:t>
            </a:r>
          </a:p>
        </p:txBody>
      </p:sp>
      <p:sp>
        <p:nvSpPr>
          <p:cNvPr id="4" name="Content Placeholder 3"/>
          <p:cNvSpPr>
            <a:spLocks noGrp="1"/>
          </p:cNvSpPr>
          <p:nvPr>
            <p:ph idx="1"/>
          </p:nvPr>
        </p:nvSpPr>
        <p:spPr/>
        <p:txBody>
          <a:bodyPr/>
          <a:lstStyle/>
          <a:p>
            <a:pPr lvl="0">
              <a:lnSpc>
                <a:spcPct val="100000"/>
              </a:lnSpc>
            </a:pPr>
            <a:r>
              <a:rPr lang="en-US" b="1" dirty="0" smtClean="0">
                <a:solidFill>
                  <a:srgbClr val="1D3064"/>
                </a:solidFill>
              </a:rPr>
              <a:t>Step </a:t>
            </a:r>
            <a:r>
              <a:rPr lang="en-US" b="1" dirty="0">
                <a:solidFill>
                  <a:srgbClr val="1D3064"/>
                </a:solidFill>
              </a:rPr>
              <a:t>5 – Compute Shared </a:t>
            </a:r>
            <a:r>
              <a:rPr lang="en-US" b="1" dirty="0" smtClean="0">
                <a:solidFill>
                  <a:srgbClr val="1D3064"/>
                </a:solidFill>
              </a:rPr>
              <a:t>Key</a:t>
            </a:r>
          </a:p>
          <a:p>
            <a:pPr lvl="2"/>
            <a:r>
              <a:rPr lang="en-US" sz="2400" dirty="0"/>
              <a:t>Alice computes the shared key.</a:t>
            </a:r>
          </a:p>
          <a:p>
            <a:pPr marL="1433513" lvl="2" indent="-273050">
              <a:buFont typeface="Arial" panose="020B0604020202020204" pitchFamily="34" charset="0"/>
              <a:buChar char="•"/>
            </a:pPr>
            <a:r>
              <a:rPr lang="en-US" sz="2400" dirty="0"/>
              <a:t>s = (B mod p)</a:t>
            </a:r>
            <a:r>
              <a:rPr lang="en-US" sz="2400" baseline="30000" dirty="0"/>
              <a:t>a</a:t>
            </a:r>
            <a:r>
              <a:rPr lang="en-US" sz="2400" dirty="0"/>
              <a:t> mod p</a:t>
            </a:r>
          </a:p>
          <a:p>
            <a:pPr marL="1433513" lvl="2" indent="-273050">
              <a:buFont typeface="Arial" panose="020B0604020202020204" pitchFamily="34" charset="0"/>
              <a:buChar char="•"/>
            </a:pPr>
            <a:r>
              <a:rPr lang="en-US" sz="2400" dirty="0"/>
              <a:t>s = </a:t>
            </a:r>
            <a:r>
              <a:rPr lang="en-US" sz="2400" dirty="0" err="1"/>
              <a:t>g</a:t>
            </a:r>
            <a:r>
              <a:rPr lang="en-US" sz="2400" baseline="30000" dirty="0" err="1"/>
              <a:t>b</a:t>
            </a:r>
            <a:r>
              <a:rPr lang="en-US" sz="2400" baseline="30000" dirty="0"/>
              <a:t>*a</a:t>
            </a:r>
            <a:r>
              <a:rPr lang="en-US" sz="2400" dirty="0"/>
              <a:t> mod p</a:t>
            </a:r>
          </a:p>
          <a:p>
            <a:pPr marL="1433513" lvl="2" indent="-273050">
              <a:buFont typeface="Arial" panose="020B0604020202020204" pitchFamily="34" charset="0"/>
              <a:buChar char="•"/>
            </a:pPr>
            <a:r>
              <a:rPr lang="en-US" sz="2400" dirty="0"/>
              <a:t>s = </a:t>
            </a:r>
            <a:r>
              <a:rPr lang="en-US" sz="2400" dirty="0" smtClean="0"/>
              <a:t>3</a:t>
            </a:r>
            <a:r>
              <a:rPr lang="en-US" sz="2400" baseline="30000" dirty="0" smtClean="0"/>
              <a:t>54*24</a:t>
            </a:r>
            <a:r>
              <a:rPr lang="en-US" sz="2400" dirty="0" smtClean="0"/>
              <a:t> </a:t>
            </a:r>
            <a:r>
              <a:rPr lang="en-US" sz="2400" dirty="0"/>
              <a:t>mod 17</a:t>
            </a:r>
          </a:p>
          <a:p>
            <a:pPr marL="1433513" lvl="2" indent="-273050">
              <a:buFont typeface="Arial" panose="020B0604020202020204" pitchFamily="34" charset="0"/>
              <a:buChar char="•"/>
            </a:pPr>
            <a:r>
              <a:rPr lang="en-US" sz="2400" b="1" dirty="0">
                <a:solidFill>
                  <a:schemeClr val="accent6"/>
                </a:solidFill>
              </a:rPr>
              <a:t>s = </a:t>
            </a:r>
            <a:r>
              <a:rPr lang="en-US" sz="2400" b="1" dirty="0" smtClean="0">
                <a:solidFill>
                  <a:schemeClr val="accent6"/>
                </a:solidFill>
              </a:rPr>
              <a:t>1</a:t>
            </a:r>
            <a:endParaRPr lang="en-US" sz="2400" b="1" dirty="0">
              <a:solidFill>
                <a:schemeClr val="accent6"/>
              </a:solidFill>
            </a:endParaRPr>
          </a:p>
          <a:p>
            <a:pPr lvl="2"/>
            <a:r>
              <a:rPr lang="en-US" sz="2400" dirty="0"/>
              <a:t>Bob computes the shared key.</a:t>
            </a:r>
          </a:p>
          <a:p>
            <a:pPr marL="1503363" lvl="2" indent="-342900">
              <a:buFont typeface="Arial" panose="020B0604020202020204" pitchFamily="34" charset="0"/>
              <a:buChar char="•"/>
            </a:pPr>
            <a:r>
              <a:rPr lang="en-US" sz="2400" dirty="0"/>
              <a:t>s = (A mod p)</a:t>
            </a:r>
            <a:r>
              <a:rPr lang="en-US" sz="2400" baseline="30000" dirty="0"/>
              <a:t>a</a:t>
            </a:r>
            <a:r>
              <a:rPr lang="en-US" sz="2400" dirty="0"/>
              <a:t> mod p</a:t>
            </a:r>
          </a:p>
          <a:p>
            <a:pPr marL="1503363" lvl="2" indent="-342900">
              <a:buFont typeface="Arial" panose="020B0604020202020204" pitchFamily="34" charset="0"/>
              <a:buChar char="•"/>
            </a:pPr>
            <a:r>
              <a:rPr lang="en-US" sz="2400" dirty="0"/>
              <a:t>s = </a:t>
            </a:r>
            <a:r>
              <a:rPr lang="en-US" sz="2400" dirty="0" err="1"/>
              <a:t>g</a:t>
            </a:r>
            <a:r>
              <a:rPr lang="en-US" sz="2400" baseline="30000" dirty="0" err="1"/>
              <a:t>a</a:t>
            </a:r>
            <a:r>
              <a:rPr lang="en-US" sz="2400" baseline="30000" dirty="0"/>
              <a:t>*b</a:t>
            </a:r>
            <a:r>
              <a:rPr lang="en-US" sz="2400" dirty="0"/>
              <a:t> mod p</a:t>
            </a:r>
          </a:p>
          <a:p>
            <a:pPr marL="1503363" lvl="2" indent="-342900">
              <a:buFont typeface="Arial" panose="020B0604020202020204" pitchFamily="34" charset="0"/>
              <a:buChar char="•"/>
            </a:pPr>
            <a:r>
              <a:rPr lang="en-US" sz="2400" dirty="0"/>
              <a:t>s = 3</a:t>
            </a:r>
            <a:r>
              <a:rPr lang="en-US" sz="2400" baseline="30000" dirty="0"/>
              <a:t>24*54</a:t>
            </a:r>
            <a:r>
              <a:rPr lang="en-US" sz="2400" dirty="0"/>
              <a:t> mod 17</a:t>
            </a:r>
          </a:p>
          <a:p>
            <a:pPr marL="1503363" lvl="2" indent="-342900">
              <a:buFont typeface="Arial" panose="020B0604020202020204" pitchFamily="34" charset="0"/>
              <a:buChar char="•"/>
            </a:pPr>
            <a:r>
              <a:rPr lang="en-US" sz="2400" b="1" dirty="0">
                <a:solidFill>
                  <a:schemeClr val="accent6"/>
                </a:solidFill>
              </a:rPr>
              <a:t>s = 1</a:t>
            </a:r>
          </a:p>
        </p:txBody>
      </p:sp>
    </p:spTree>
    <p:extLst>
      <p:ext uri="{BB962C8B-B14F-4D97-AF65-F5344CB8AC3E}">
        <p14:creationId xmlns:p14="http://schemas.microsoft.com/office/powerpoint/2010/main" val="3246750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9" end="9"/>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normAutofit/>
          </a:bodyPr>
          <a:lstStyle/>
          <a:p>
            <a:r>
              <a:rPr lang="en-US" dirty="0" err="1" smtClean="0"/>
              <a:t>Diffie</a:t>
            </a:r>
            <a:r>
              <a:rPr lang="en-US" dirty="0" smtClean="0"/>
              <a:t>-Hellman </a:t>
            </a:r>
            <a:r>
              <a:rPr lang="en-US" dirty="0"/>
              <a:t>Algorithm for Key Establishment</a:t>
            </a:r>
          </a:p>
        </p:txBody>
      </p:sp>
      <p:sp>
        <p:nvSpPr>
          <p:cNvPr id="5" name="Rectangle 4"/>
          <p:cNvSpPr/>
          <p:nvPr/>
        </p:nvSpPr>
        <p:spPr>
          <a:xfrm>
            <a:off x="2960705" y="2286752"/>
            <a:ext cx="457200" cy="1872343"/>
          </a:xfrm>
          <a:prstGeom prst="rect">
            <a:avLst/>
          </a:prstGeom>
          <a:solidFill>
            <a:srgbClr val="1D3064"/>
          </a:solidFill>
          <a:ln>
            <a:noFill/>
          </a:ln>
        </p:spPr>
        <p:style>
          <a:lnRef idx="0">
            <a:schemeClr val="accent6"/>
          </a:lnRef>
          <a:fillRef idx="3">
            <a:schemeClr val="accent6"/>
          </a:fillRef>
          <a:effectRef idx="3">
            <a:schemeClr val="accent6"/>
          </a:effectRef>
          <a:fontRef idx="minor">
            <a:schemeClr val="lt1"/>
          </a:fontRef>
        </p:style>
        <p:txBody>
          <a:bodyPr vert="vert270" rtlCol="0" anchor="ctr"/>
          <a:lstStyle/>
          <a:p>
            <a:pPr algn="ctr"/>
            <a:r>
              <a:rPr lang="en-US" sz="2400" dirty="0" smtClean="0"/>
              <a:t>Alice</a:t>
            </a:r>
            <a:endParaRPr lang="en-US" sz="2400" dirty="0"/>
          </a:p>
        </p:txBody>
      </p:sp>
      <p:sp>
        <p:nvSpPr>
          <p:cNvPr id="6" name="Rectangle 5"/>
          <p:cNvSpPr/>
          <p:nvPr/>
        </p:nvSpPr>
        <p:spPr>
          <a:xfrm>
            <a:off x="7262610" y="2286752"/>
            <a:ext cx="457200" cy="1872343"/>
          </a:xfrm>
          <a:prstGeom prst="rect">
            <a:avLst/>
          </a:prstGeom>
          <a:solidFill>
            <a:srgbClr val="1D3064"/>
          </a:solidFill>
          <a:ln>
            <a:noFill/>
          </a:ln>
        </p:spPr>
        <p:style>
          <a:lnRef idx="0">
            <a:schemeClr val="accent6"/>
          </a:lnRef>
          <a:fillRef idx="3">
            <a:schemeClr val="accent6"/>
          </a:fillRef>
          <a:effectRef idx="3">
            <a:schemeClr val="accent6"/>
          </a:effectRef>
          <a:fontRef idx="minor">
            <a:schemeClr val="lt1"/>
          </a:fontRef>
        </p:style>
        <p:txBody>
          <a:bodyPr vert="vert270" rtlCol="0" anchor="ctr"/>
          <a:lstStyle/>
          <a:p>
            <a:pPr algn="ctr"/>
            <a:r>
              <a:rPr lang="en-US" sz="2400" dirty="0" smtClean="0"/>
              <a:t>bob</a:t>
            </a:r>
            <a:endParaRPr lang="en-US" sz="2400" dirty="0"/>
          </a:p>
        </p:txBody>
      </p:sp>
      <p:grpSp>
        <p:nvGrpSpPr>
          <p:cNvPr id="7" name="Group 6"/>
          <p:cNvGrpSpPr/>
          <p:nvPr/>
        </p:nvGrpSpPr>
        <p:grpSpPr>
          <a:xfrm>
            <a:off x="3417905" y="2474285"/>
            <a:ext cx="3887992" cy="583367"/>
            <a:chOff x="4107542" y="1050977"/>
            <a:chExt cx="3887992" cy="583367"/>
          </a:xfrm>
        </p:grpSpPr>
        <p:cxnSp>
          <p:nvCxnSpPr>
            <p:cNvPr id="8" name="Straight Arrow Connector 7"/>
            <p:cNvCxnSpPr/>
            <p:nvPr/>
          </p:nvCxnSpPr>
          <p:spPr>
            <a:xfrm>
              <a:off x="4107542" y="1401272"/>
              <a:ext cx="3887992" cy="0"/>
            </a:xfrm>
            <a:prstGeom prst="straightConnector1">
              <a:avLst/>
            </a:prstGeom>
            <a:ln w="28575">
              <a:solidFill>
                <a:srgbClr val="000000"/>
              </a:solidFill>
              <a:tailEnd type="arrow"/>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4818742" y="1206275"/>
              <a:ext cx="2712422" cy="428069"/>
            </a:xfrm>
            <a:prstGeom prst="rect">
              <a:avLst/>
            </a:prstGeom>
            <a:ln>
              <a:solidFill>
                <a:srgbClr val="0E3755"/>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IN" sz="2400" dirty="0" smtClean="0">
                  <a:solidFill>
                    <a:schemeClr val="tx1"/>
                  </a:solidFill>
                </a:rPr>
                <a:t>N, g, </a:t>
              </a:r>
              <a:r>
                <a:rPr lang="en-IN" sz="2400" dirty="0" err="1" smtClean="0">
                  <a:solidFill>
                    <a:schemeClr val="tx1"/>
                  </a:solidFill>
                </a:rPr>
                <a:t>g</a:t>
              </a:r>
              <a:r>
                <a:rPr lang="en-IN" sz="2400" baseline="30000" dirty="0" err="1" smtClean="0">
                  <a:solidFill>
                    <a:schemeClr val="tx1"/>
                  </a:solidFill>
                </a:rPr>
                <a:t>a</a:t>
              </a:r>
              <a:r>
                <a:rPr lang="en-IN" sz="2400" dirty="0" smtClean="0">
                  <a:solidFill>
                    <a:schemeClr val="tx1"/>
                  </a:solidFill>
                </a:rPr>
                <a:t> mod n</a:t>
              </a:r>
              <a:endParaRPr lang="en-US" sz="2400" dirty="0">
                <a:solidFill>
                  <a:schemeClr val="tx1"/>
                </a:solidFill>
              </a:endParaRPr>
            </a:p>
          </p:txBody>
        </p:sp>
        <p:sp>
          <p:nvSpPr>
            <p:cNvPr id="10" name="TextBox 9"/>
            <p:cNvSpPr txBox="1"/>
            <p:nvPr/>
          </p:nvSpPr>
          <p:spPr>
            <a:xfrm>
              <a:off x="4429438" y="1050977"/>
              <a:ext cx="294303" cy="369332"/>
            </a:xfrm>
            <a:prstGeom prst="rect">
              <a:avLst/>
            </a:prstGeom>
            <a:noFill/>
            <a:ln>
              <a:noFill/>
            </a:ln>
          </p:spPr>
          <p:txBody>
            <a:bodyPr wrap="square" rtlCol="0">
              <a:spAutoFit/>
            </a:bodyPr>
            <a:lstStyle/>
            <a:p>
              <a:r>
                <a:rPr lang="en-IN" b="1" dirty="0" smtClean="0">
                  <a:solidFill>
                    <a:schemeClr val="accent4"/>
                  </a:solidFill>
                </a:rPr>
                <a:t>1</a:t>
              </a:r>
              <a:endParaRPr lang="en-IN" b="1" dirty="0">
                <a:solidFill>
                  <a:schemeClr val="accent4"/>
                </a:solidFill>
              </a:endParaRPr>
            </a:p>
          </p:txBody>
        </p:sp>
      </p:grpSp>
      <p:grpSp>
        <p:nvGrpSpPr>
          <p:cNvPr id="11" name="Group 10"/>
          <p:cNvGrpSpPr/>
          <p:nvPr/>
        </p:nvGrpSpPr>
        <p:grpSpPr>
          <a:xfrm>
            <a:off x="3417905" y="3213027"/>
            <a:ext cx="3852658" cy="631773"/>
            <a:chOff x="4107542" y="1789719"/>
            <a:chExt cx="3852658" cy="631773"/>
          </a:xfrm>
        </p:grpSpPr>
        <p:cxnSp>
          <p:nvCxnSpPr>
            <p:cNvPr id="12" name="Straight Arrow Connector 11"/>
            <p:cNvCxnSpPr/>
            <p:nvPr/>
          </p:nvCxnSpPr>
          <p:spPr>
            <a:xfrm>
              <a:off x="4107542" y="2188420"/>
              <a:ext cx="3852658" cy="0"/>
            </a:xfrm>
            <a:prstGeom prst="straightConnector1">
              <a:avLst/>
            </a:prstGeom>
            <a:ln w="28575">
              <a:solidFill>
                <a:srgbClr val="00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4818742" y="1993423"/>
              <a:ext cx="2677088" cy="428069"/>
            </a:xfrm>
            <a:prstGeom prst="rect">
              <a:avLst/>
            </a:prstGeom>
            <a:ln>
              <a:solidFill>
                <a:srgbClr val="0E3755"/>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IN" sz="2400" dirty="0" err="1" smtClean="0">
                  <a:solidFill>
                    <a:schemeClr val="tx1"/>
                  </a:solidFill>
                </a:rPr>
                <a:t>g</a:t>
              </a:r>
              <a:r>
                <a:rPr lang="en-IN" sz="2400" baseline="30000" dirty="0" err="1">
                  <a:solidFill>
                    <a:schemeClr val="tx1"/>
                  </a:solidFill>
                </a:rPr>
                <a:t>b</a:t>
              </a:r>
              <a:r>
                <a:rPr lang="en-IN" sz="2400" dirty="0" smtClean="0">
                  <a:solidFill>
                    <a:schemeClr val="tx1"/>
                  </a:solidFill>
                </a:rPr>
                <a:t> mod n</a:t>
              </a:r>
              <a:endParaRPr lang="en-US" sz="2400" dirty="0">
                <a:solidFill>
                  <a:schemeClr val="tx1"/>
                </a:solidFill>
              </a:endParaRPr>
            </a:p>
          </p:txBody>
        </p:sp>
        <p:sp>
          <p:nvSpPr>
            <p:cNvPr id="14" name="TextBox 13"/>
            <p:cNvSpPr txBox="1"/>
            <p:nvPr/>
          </p:nvSpPr>
          <p:spPr>
            <a:xfrm>
              <a:off x="4423561" y="1789719"/>
              <a:ext cx="294303" cy="369332"/>
            </a:xfrm>
            <a:prstGeom prst="rect">
              <a:avLst/>
            </a:prstGeom>
            <a:noFill/>
            <a:ln>
              <a:noFill/>
            </a:ln>
          </p:spPr>
          <p:txBody>
            <a:bodyPr wrap="square" rtlCol="0">
              <a:spAutoFit/>
            </a:bodyPr>
            <a:lstStyle/>
            <a:p>
              <a:r>
                <a:rPr lang="en-IN" b="1" dirty="0">
                  <a:solidFill>
                    <a:schemeClr val="accent4"/>
                  </a:solidFill>
                </a:rPr>
                <a:t>2</a:t>
              </a:r>
            </a:p>
          </p:txBody>
        </p:sp>
      </p:grpSp>
      <p:sp>
        <p:nvSpPr>
          <p:cNvPr id="16" name="TextBox 15"/>
          <p:cNvSpPr txBox="1"/>
          <p:nvPr/>
        </p:nvSpPr>
        <p:spPr>
          <a:xfrm>
            <a:off x="2807018" y="1382885"/>
            <a:ext cx="1074057" cy="830997"/>
          </a:xfrm>
          <a:prstGeom prst="rect">
            <a:avLst/>
          </a:prstGeom>
          <a:noFill/>
        </p:spPr>
        <p:txBody>
          <a:bodyPr wrap="square" rtlCol="0">
            <a:spAutoFit/>
          </a:bodyPr>
          <a:lstStyle/>
          <a:p>
            <a:r>
              <a:rPr lang="en-IN" sz="2400" dirty="0" smtClean="0"/>
              <a:t>Alice picks </a:t>
            </a:r>
            <a:r>
              <a:rPr lang="en-IN" sz="2400" b="1" dirty="0" smtClean="0"/>
              <a:t>a</a:t>
            </a:r>
            <a:endParaRPr lang="en-IN" sz="2400" b="1" dirty="0"/>
          </a:p>
        </p:txBody>
      </p:sp>
      <p:sp>
        <p:nvSpPr>
          <p:cNvPr id="17" name="TextBox 16"/>
          <p:cNvSpPr txBox="1"/>
          <p:nvPr/>
        </p:nvSpPr>
        <p:spPr>
          <a:xfrm>
            <a:off x="7076722" y="1371436"/>
            <a:ext cx="1123849" cy="830997"/>
          </a:xfrm>
          <a:prstGeom prst="rect">
            <a:avLst/>
          </a:prstGeom>
          <a:noFill/>
        </p:spPr>
        <p:txBody>
          <a:bodyPr wrap="square" rtlCol="0">
            <a:spAutoFit/>
          </a:bodyPr>
          <a:lstStyle/>
          <a:p>
            <a:r>
              <a:rPr lang="en-IN" sz="2400" dirty="0" smtClean="0"/>
              <a:t>Bob</a:t>
            </a:r>
          </a:p>
          <a:p>
            <a:r>
              <a:rPr lang="en-IN" sz="2400" dirty="0" smtClean="0"/>
              <a:t>picks </a:t>
            </a:r>
            <a:r>
              <a:rPr lang="en-IN" sz="2400" b="1" dirty="0" smtClean="0"/>
              <a:t>b</a:t>
            </a:r>
            <a:endParaRPr lang="en-IN" sz="2400" b="1" dirty="0"/>
          </a:p>
        </p:txBody>
      </p:sp>
      <p:sp>
        <p:nvSpPr>
          <p:cNvPr id="18" name="TextBox 17"/>
          <p:cNvSpPr txBox="1"/>
          <p:nvPr/>
        </p:nvSpPr>
        <p:spPr>
          <a:xfrm>
            <a:off x="362858" y="3451633"/>
            <a:ext cx="2149056" cy="1200329"/>
          </a:xfrm>
          <a:prstGeom prst="rect">
            <a:avLst/>
          </a:prstGeom>
          <a:noFill/>
          <a:ln>
            <a:solidFill>
              <a:srgbClr val="1D3064"/>
            </a:solidFill>
          </a:ln>
        </p:spPr>
        <p:txBody>
          <a:bodyPr wrap="square" rtlCol="0">
            <a:spAutoFit/>
          </a:bodyPr>
          <a:lstStyle/>
          <a:p>
            <a:r>
              <a:rPr lang="en-IN" sz="2400" dirty="0" smtClean="0"/>
              <a:t>Alice computes</a:t>
            </a:r>
          </a:p>
          <a:p>
            <a:r>
              <a:rPr lang="en-IN" sz="2400" dirty="0" smtClean="0"/>
              <a:t>(</a:t>
            </a:r>
            <a:r>
              <a:rPr lang="en-IN" sz="2400" dirty="0" err="1" smtClean="0"/>
              <a:t>g</a:t>
            </a:r>
            <a:r>
              <a:rPr lang="en-IN" sz="2400" baseline="30000" dirty="0" err="1" smtClean="0"/>
              <a:t>b</a:t>
            </a:r>
            <a:r>
              <a:rPr lang="en-IN" sz="2400" dirty="0" smtClean="0"/>
              <a:t> mod n)</a:t>
            </a:r>
            <a:r>
              <a:rPr lang="en-IN" sz="2400" baseline="30000" dirty="0" smtClean="0"/>
              <a:t>a</a:t>
            </a:r>
          </a:p>
          <a:p>
            <a:r>
              <a:rPr lang="en-IN" sz="2400" dirty="0" smtClean="0"/>
              <a:t>= </a:t>
            </a:r>
            <a:r>
              <a:rPr lang="en-IN" sz="2400" b="1" dirty="0" smtClean="0">
                <a:solidFill>
                  <a:schemeClr val="accent6"/>
                </a:solidFill>
              </a:rPr>
              <a:t>g</a:t>
            </a:r>
            <a:r>
              <a:rPr lang="en-IN" sz="2400" b="1" baseline="30000" dirty="0" smtClean="0">
                <a:solidFill>
                  <a:schemeClr val="accent6"/>
                </a:solidFill>
              </a:rPr>
              <a:t>ab</a:t>
            </a:r>
            <a:r>
              <a:rPr lang="en-IN" sz="2400" b="1" dirty="0" smtClean="0">
                <a:solidFill>
                  <a:schemeClr val="accent6"/>
                </a:solidFill>
              </a:rPr>
              <a:t> mod n</a:t>
            </a:r>
            <a:endParaRPr lang="en-IN" sz="2400" b="1" dirty="0">
              <a:solidFill>
                <a:schemeClr val="accent6"/>
              </a:solidFill>
            </a:endParaRPr>
          </a:p>
        </p:txBody>
      </p:sp>
      <p:sp>
        <p:nvSpPr>
          <p:cNvPr id="19" name="TextBox 18"/>
          <p:cNvSpPr txBox="1"/>
          <p:nvPr/>
        </p:nvSpPr>
        <p:spPr>
          <a:xfrm>
            <a:off x="8408456" y="3397693"/>
            <a:ext cx="2242442" cy="1200329"/>
          </a:xfrm>
          <a:prstGeom prst="rect">
            <a:avLst/>
          </a:prstGeom>
          <a:noFill/>
          <a:ln>
            <a:solidFill>
              <a:srgbClr val="1D3064"/>
            </a:solidFill>
          </a:ln>
        </p:spPr>
        <p:txBody>
          <a:bodyPr wrap="square" rtlCol="0">
            <a:spAutoFit/>
          </a:bodyPr>
          <a:lstStyle/>
          <a:p>
            <a:r>
              <a:rPr lang="en-IN" sz="2400" dirty="0" smtClean="0"/>
              <a:t>Bob computes</a:t>
            </a:r>
          </a:p>
          <a:p>
            <a:r>
              <a:rPr lang="en-IN" sz="2400" dirty="0" smtClean="0"/>
              <a:t>(</a:t>
            </a:r>
            <a:r>
              <a:rPr lang="en-IN" sz="2400" dirty="0" err="1" smtClean="0"/>
              <a:t>g</a:t>
            </a:r>
            <a:r>
              <a:rPr lang="en-IN" sz="2400" baseline="30000" dirty="0" err="1" smtClean="0"/>
              <a:t>a</a:t>
            </a:r>
            <a:r>
              <a:rPr lang="en-IN" sz="2400" dirty="0" smtClean="0"/>
              <a:t> mod n)</a:t>
            </a:r>
            <a:r>
              <a:rPr lang="en-IN" sz="2400" baseline="30000" dirty="0" smtClean="0"/>
              <a:t>b</a:t>
            </a:r>
          </a:p>
          <a:p>
            <a:r>
              <a:rPr lang="en-IN" sz="2400" dirty="0" smtClean="0"/>
              <a:t>= </a:t>
            </a:r>
            <a:r>
              <a:rPr lang="en-IN" sz="2400" b="1" dirty="0" smtClean="0">
                <a:solidFill>
                  <a:schemeClr val="accent6"/>
                </a:solidFill>
              </a:rPr>
              <a:t>g</a:t>
            </a:r>
            <a:r>
              <a:rPr lang="en-IN" sz="2400" b="1" baseline="30000" dirty="0" smtClean="0">
                <a:solidFill>
                  <a:schemeClr val="accent6"/>
                </a:solidFill>
              </a:rPr>
              <a:t>ab</a:t>
            </a:r>
            <a:r>
              <a:rPr lang="en-IN" sz="2400" b="1" dirty="0" smtClean="0">
                <a:solidFill>
                  <a:schemeClr val="accent6"/>
                </a:solidFill>
              </a:rPr>
              <a:t> mod n</a:t>
            </a:r>
            <a:endParaRPr lang="en-IN" sz="2400" b="1" dirty="0">
              <a:solidFill>
                <a:schemeClr val="accent6"/>
              </a:solidFill>
            </a:endParaRPr>
          </a:p>
        </p:txBody>
      </p:sp>
    </p:spTree>
    <p:extLst>
      <p:ext uri="{BB962C8B-B14F-4D97-AF65-F5344CB8AC3E}">
        <p14:creationId xmlns:p14="http://schemas.microsoft.com/office/powerpoint/2010/main" val="861004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2" fill="hold"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wipe(right)">
                                      <p:cBhvr>
                                        <p:cTn id="26" dur="5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6" grpId="0"/>
      <p:bldP spid="17" grpId="0"/>
      <p:bldP spid="18" grpId="0" animBg="1"/>
      <p:bldP spid="19" grpId="0" animBg="1"/>
    </p:bldLst>
  </p:timing>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16089</TotalTime>
  <Words>7021</Words>
  <Application>Microsoft Office PowerPoint</Application>
  <PresentationFormat>Widescreen</PresentationFormat>
  <Paragraphs>1250</Paragraphs>
  <Slides>99</Slides>
  <Notes>2</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1</vt:i4>
      </vt:variant>
      <vt:variant>
        <vt:lpstr>Slide Titles</vt:lpstr>
      </vt:variant>
      <vt:variant>
        <vt:i4>99</vt:i4>
      </vt:variant>
    </vt:vector>
  </HeadingPairs>
  <TitlesOfParts>
    <vt:vector size="113" baseType="lpstr">
      <vt:lpstr>ＭＳ Ｐゴシック</vt:lpstr>
      <vt:lpstr>Arial</vt:lpstr>
      <vt:lpstr>Calibri</vt:lpstr>
      <vt:lpstr>Cambria Math</vt:lpstr>
      <vt:lpstr>Roboto Condensed</vt:lpstr>
      <vt:lpstr>Roboto Condensed Light</vt:lpstr>
      <vt:lpstr>Segoe UI Black</vt:lpstr>
      <vt:lpstr>Tahoma</vt:lpstr>
      <vt:lpstr>Webdings</vt:lpstr>
      <vt:lpstr>Wingdings</vt:lpstr>
      <vt:lpstr>Wingdings 2</vt:lpstr>
      <vt:lpstr>Wingdings 3</vt:lpstr>
      <vt:lpstr>Office Theme</vt:lpstr>
      <vt:lpstr>Clip</vt:lpstr>
      <vt:lpstr>Unit-6  Security  </vt:lpstr>
      <vt:lpstr>PowerPoint Presentation</vt:lpstr>
      <vt:lpstr>Introduction to Security</vt:lpstr>
      <vt:lpstr>Introduction to Security</vt:lpstr>
      <vt:lpstr>Goals of Security</vt:lpstr>
      <vt:lpstr>Types of Security Threats </vt:lpstr>
      <vt:lpstr>Types of Security Threats</vt:lpstr>
      <vt:lpstr>Types of Security Threats</vt:lpstr>
      <vt:lpstr>Security Policy and Mechanisms</vt:lpstr>
      <vt:lpstr>Cryptography</vt:lpstr>
      <vt:lpstr>Cryptography</vt:lpstr>
      <vt:lpstr>Cryptographic systems</vt:lpstr>
      <vt:lpstr>Types of Cryptographic Systems</vt:lpstr>
      <vt:lpstr>Symmetric Cryptosystem</vt:lpstr>
      <vt:lpstr>Symmetric Cryptosystem</vt:lpstr>
      <vt:lpstr>Symmetric Cryptosystem</vt:lpstr>
      <vt:lpstr>Asymmetric Cryptography</vt:lpstr>
      <vt:lpstr>Asymmetric Cryptography</vt:lpstr>
      <vt:lpstr>Type of Attacks</vt:lpstr>
      <vt:lpstr>Passive Attack</vt:lpstr>
      <vt:lpstr>Active Attack</vt:lpstr>
      <vt:lpstr>Active Attack</vt:lpstr>
      <vt:lpstr>Active Attack</vt:lpstr>
      <vt:lpstr>Active Attack</vt:lpstr>
      <vt:lpstr>Design issues when considering security</vt:lpstr>
      <vt:lpstr>Design Issue: Focus of Control</vt:lpstr>
      <vt:lpstr>Design Issue: Layering of Security Mechanisms</vt:lpstr>
      <vt:lpstr>Trust and Security</vt:lpstr>
      <vt:lpstr>Trust and Security</vt:lpstr>
      <vt:lpstr>Distribution of Security Mechanisms</vt:lpstr>
      <vt:lpstr>Design Issue: Simplicity</vt:lpstr>
      <vt:lpstr>Cryptographic Hash Functions</vt:lpstr>
      <vt:lpstr>Properties of Cryptographic Hash Functions</vt:lpstr>
      <vt:lpstr>Encryption/Decryption Functions</vt:lpstr>
      <vt:lpstr>Protocols in Cryptosystems</vt:lpstr>
      <vt:lpstr>DES Protocol</vt:lpstr>
      <vt:lpstr>DES Encryption Algorithm</vt:lpstr>
      <vt:lpstr>RSA protocol</vt:lpstr>
      <vt:lpstr>RSA encryption algorithm</vt:lpstr>
      <vt:lpstr>RSA encryption algorithm</vt:lpstr>
      <vt:lpstr>RSA encryption algorithm- An Example</vt:lpstr>
      <vt:lpstr>RSA encryption algorithm- An Example</vt:lpstr>
      <vt:lpstr>RSA encryption algorithm- An Example</vt:lpstr>
      <vt:lpstr>RSA encryption algorithm- An Example</vt:lpstr>
      <vt:lpstr>RSA encryption algorithm- Overview</vt:lpstr>
      <vt:lpstr>RSA protocol</vt:lpstr>
      <vt:lpstr>RSA protocol for encryption- An Example</vt:lpstr>
      <vt:lpstr>RSA protocol for encryption- An Example</vt:lpstr>
      <vt:lpstr>Secure Channels</vt:lpstr>
      <vt:lpstr>Authentication</vt:lpstr>
      <vt:lpstr>Mutual Authentication Protocols</vt:lpstr>
      <vt:lpstr>Shared Secret Key based Authentication</vt:lpstr>
      <vt:lpstr>Optimization of the Authentication based on a shared secret key</vt:lpstr>
      <vt:lpstr>Authentication Using a Key Distribution Center (KDC)</vt:lpstr>
      <vt:lpstr>Authentication Using a Key Distribution Center</vt:lpstr>
      <vt:lpstr>Authentication Using a Key Distribution Center using Ticket</vt:lpstr>
      <vt:lpstr>Needham-Schroeder Authentication Protocol</vt:lpstr>
      <vt:lpstr>Authentication Using Public-Key Cryptography</vt:lpstr>
      <vt:lpstr>Session Keys</vt:lpstr>
      <vt:lpstr>Message Integrity and Confidentiality</vt:lpstr>
      <vt:lpstr>Message Integrity and Confidentiality</vt:lpstr>
      <vt:lpstr>Digital Signatures: Basic Idea</vt:lpstr>
      <vt:lpstr>Digital Signatures</vt:lpstr>
      <vt:lpstr>Digital Signatures</vt:lpstr>
      <vt:lpstr>Issues with Naïve Digital Signatures</vt:lpstr>
      <vt:lpstr>Digital Signature with Message Digest</vt:lpstr>
      <vt:lpstr>Secure Group Communication</vt:lpstr>
      <vt:lpstr>Secure Group Authentication Protocol</vt:lpstr>
      <vt:lpstr>Secure Replicated Servers</vt:lpstr>
      <vt:lpstr>Secure Replicated Servers</vt:lpstr>
      <vt:lpstr>Authentication in Kerberos</vt:lpstr>
      <vt:lpstr>Authentication in Kerberos</vt:lpstr>
      <vt:lpstr>Authentication in Kerberos</vt:lpstr>
      <vt:lpstr>Authentication in Kerberos</vt:lpstr>
      <vt:lpstr>Authentication in Kerberos</vt:lpstr>
      <vt:lpstr>Setting up a secure channel in Kerberos</vt:lpstr>
      <vt:lpstr>Access Control</vt:lpstr>
      <vt:lpstr>Access Control</vt:lpstr>
      <vt:lpstr>Access Control Matrix</vt:lpstr>
      <vt:lpstr>Access Control List and Capabilities</vt:lpstr>
      <vt:lpstr>Comparison of ACL and Capabilities</vt:lpstr>
      <vt:lpstr>Protection Domains</vt:lpstr>
      <vt:lpstr>Controlling Outsider Attacks</vt:lpstr>
      <vt:lpstr>Firewall</vt:lpstr>
      <vt:lpstr>Firewall</vt:lpstr>
      <vt:lpstr>Denial of Service Attacks</vt:lpstr>
      <vt:lpstr>Denial of Service Attacks</vt:lpstr>
      <vt:lpstr>Denial of Service Attacks</vt:lpstr>
      <vt:lpstr>Preventing DoS Attacks</vt:lpstr>
      <vt:lpstr>Key Distribution </vt:lpstr>
      <vt:lpstr>Securing Mobile Code</vt:lpstr>
      <vt:lpstr>Security Management</vt:lpstr>
      <vt:lpstr>Key Management</vt:lpstr>
      <vt:lpstr>Diffie-Hellman Algorithm for Key Establishment</vt:lpstr>
      <vt:lpstr>Diffie-Hellman Algorithm for Key Establishment</vt:lpstr>
      <vt:lpstr>Diffie-Hellman Algorithm- An example</vt:lpstr>
      <vt:lpstr>Diffie-Hellman Algorithm- An example</vt:lpstr>
      <vt:lpstr>Diffie-Hellman Algorithm- An example</vt:lpstr>
      <vt:lpstr>Diffie-Hellman Algorithm for Key Establishment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Umesh Thoriya</dc:creator>
  <cp:lastModifiedBy>umesh patel</cp:lastModifiedBy>
  <cp:revision>1453</cp:revision>
  <dcterms:created xsi:type="dcterms:W3CDTF">2020-05-01T05:09:15Z</dcterms:created>
  <dcterms:modified xsi:type="dcterms:W3CDTF">2021-10-01T19:06:53Z</dcterms:modified>
</cp:coreProperties>
</file>